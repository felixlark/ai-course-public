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27" r:id="rId3"/>
    <p:sldId id="263" r:id="rId4"/>
    <p:sldId id="260" r:id="rId5"/>
    <p:sldId id="261" r:id="rId6"/>
    <p:sldId id="262" r:id="rId7"/>
    <p:sldId id="264" r:id="rId8"/>
    <p:sldId id="265" r:id="rId9"/>
    <p:sldId id="328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330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9" r:id="rId28"/>
    <p:sldId id="294" r:id="rId29"/>
    <p:sldId id="304" r:id="rId30"/>
    <p:sldId id="311" r:id="rId31"/>
    <p:sldId id="297" r:id="rId32"/>
    <p:sldId id="305" r:id="rId33"/>
    <p:sldId id="301" r:id="rId34"/>
    <p:sldId id="275" r:id="rId35"/>
    <p:sldId id="307" r:id="rId36"/>
    <p:sldId id="309" r:id="rId37"/>
    <p:sldId id="310" r:id="rId38"/>
    <p:sldId id="312" r:id="rId39"/>
    <p:sldId id="313" r:id="rId40"/>
    <p:sldId id="314" r:id="rId41"/>
    <p:sldId id="315" r:id="rId42"/>
    <p:sldId id="316" r:id="rId43"/>
    <p:sldId id="317" r:id="rId44"/>
  </p:sldIdLst>
  <p:sldSz cx="9144000" cy="5143500" type="screen16x9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3" autoAdjust="0"/>
    <p:restoredTop sz="90634"/>
  </p:normalViewPr>
  <p:slideViewPr>
    <p:cSldViewPr snapToGrid="0">
      <p:cViewPr varScale="1">
        <p:scale>
          <a:sx n="146" d="100"/>
          <a:sy n="146" d="100"/>
        </p:scale>
        <p:origin x="95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28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jpeg"/><Relationship Id="rId5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3.png"/><Relationship Id="rId4" Type="http://schemas.openxmlformats.org/officeDocument/2006/relationships/image" Target="../media/image4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g"/><Relationship Id="rId3" Type="http://schemas.openxmlformats.org/officeDocument/2006/relationships/image" Target="../media/image56.png"/><Relationship Id="rId7" Type="http://schemas.openxmlformats.org/officeDocument/2006/relationships/image" Target="../media/image6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10" Type="http://schemas.openxmlformats.org/officeDocument/2006/relationships/image" Target="../media/image63.jpg"/><Relationship Id="rId4" Type="http://schemas.openxmlformats.org/officeDocument/2006/relationships/image" Target="../media/image57.png"/><Relationship Id="rId9" Type="http://schemas.openxmlformats.org/officeDocument/2006/relationships/image" Target="../media/image6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image" Target="../media/image64.jpe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3.png"/><Relationship Id="rId7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jpeg"/><Relationship Id="rId18" Type="http://schemas.openxmlformats.org/officeDocument/2006/relationships/image" Target="../media/image95.png"/><Relationship Id="rId3" Type="http://schemas.openxmlformats.org/officeDocument/2006/relationships/image" Target="../media/image13.pn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jpeg"/><Relationship Id="rId17" Type="http://schemas.openxmlformats.org/officeDocument/2006/relationships/image" Target="../media/image94.jpeg"/><Relationship Id="rId2" Type="http://schemas.openxmlformats.org/officeDocument/2006/relationships/image" Target="../media/image2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jpe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99.jpeg"/><Relationship Id="rId7" Type="http://schemas.openxmlformats.org/officeDocument/2006/relationships/image" Target="../media/image10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jpeg"/><Relationship Id="rId5" Type="http://schemas.openxmlformats.org/officeDocument/2006/relationships/image" Target="../media/image100.jpe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13" Type="http://schemas.openxmlformats.org/officeDocument/2006/relationships/image" Target="../media/image115.jpeg"/><Relationship Id="rId3" Type="http://schemas.openxmlformats.org/officeDocument/2006/relationships/image" Target="../media/image106.png"/><Relationship Id="rId7" Type="http://schemas.openxmlformats.org/officeDocument/2006/relationships/image" Target="../media/image109.jpeg"/><Relationship Id="rId12" Type="http://schemas.openxmlformats.org/officeDocument/2006/relationships/image" Target="../media/image1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jpeg"/><Relationship Id="rId11" Type="http://schemas.openxmlformats.org/officeDocument/2006/relationships/image" Target="../media/image113.jpeg"/><Relationship Id="rId5" Type="http://schemas.openxmlformats.org/officeDocument/2006/relationships/image" Target="../media/image107.jpeg"/><Relationship Id="rId10" Type="http://schemas.openxmlformats.org/officeDocument/2006/relationships/image" Target="../media/image112.jpeg"/><Relationship Id="rId4" Type="http://schemas.openxmlformats.org/officeDocument/2006/relationships/image" Target="../media/image13.png"/><Relationship Id="rId9" Type="http://schemas.openxmlformats.org/officeDocument/2006/relationships/image" Target="../media/image111.jpeg"/><Relationship Id="rId14" Type="http://schemas.openxmlformats.org/officeDocument/2006/relationships/image" Target="../media/image11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jpeg"/><Relationship Id="rId18" Type="http://schemas.openxmlformats.org/officeDocument/2006/relationships/image" Target="../media/image141.png"/><Relationship Id="rId3" Type="http://schemas.openxmlformats.org/officeDocument/2006/relationships/image" Target="../media/image31.png"/><Relationship Id="rId21" Type="http://schemas.openxmlformats.org/officeDocument/2006/relationships/image" Target="../media/image144.jpeg"/><Relationship Id="rId7" Type="http://schemas.openxmlformats.org/officeDocument/2006/relationships/image" Target="../media/image130.jpeg"/><Relationship Id="rId12" Type="http://schemas.openxmlformats.org/officeDocument/2006/relationships/image" Target="../media/image135.jpeg"/><Relationship Id="rId17" Type="http://schemas.openxmlformats.org/officeDocument/2006/relationships/image" Target="../media/image140.png"/><Relationship Id="rId25" Type="http://schemas.openxmlformats.org/officeDocument/2006/relationships/image" Target="../media/image148.jpeg"/><Relationship Id="rId2" Type="http://schemas.openxmlformats.org/officeDocument/2006/relationships/image" Target="../media/image2.png"/><Relationship Id="rId16" Type="http://schemas.openxmlformats.org/officeDocument/2006/relationships/image" Target="../media/image139.jpeg"/><Relationship Id="rId20" Type="http://schemas.openxmlformats.org/officeDocument/2006/relationships/image" Target="../media/image1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24" Type="http://schemas.openxmlformats.org/officeDocument/2006/relationships/image" Target="../media/image147.jpeg"/><Relationship Id="rId5" Type="http://schemas.openxmlformats.org/officeDocument/2006/relationships/image" Target="../media/image128.png"/><Relationship Id="rId15" Type="http://schemas.openxmlformats.org/officeDocument/2006/relationships/image" Target="../media/image138.jpeg"/><Relationship Id="rId23" Type="http://schemas.openxmlformats.org/officeDocument/2006/relationships/image" Target="../media/image146.jpeg"/><Relationship Id="rId10" Type="http://schemas.openxmlformats.org/officeDocument/2006/relationships/image" Target="../media/image133.jpeg"/><Relationship Id="rId19" Type="http://schemas.openxmlformats.org/officeDocument/2006/relationships/image" Target="../media/image142.jpe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5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1.png"/><Relationship Id="rId4" Type="http://schemas.openxmlformats.org/officeDocument/2006/relationships/image" Target="../media/image156.png"/><Relationship Id="rId9" Type="http://schemas.openxmlformats.org/officeDocument/2006/relationships/image" Target="../media/image1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0" Type="http://schemas.openxmlformats.org/officeDocument/2006/relationships/image" Target="../media/image184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9138578" cy="51435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451065" y="1201129"/>
            <a:ext cx="6857238" cy="1978315"/>
            <a:chOff x="0" y="0"/>
            <a:chExt cx="6857238" cy="1978315"/>
          </a:xfrm>
        </p:grpSpPr>
        <p:sp>
          <p:nvSpPr>
            <p:cNvPr id="4" name="rect"/>
            <p:cNvSpPr/>
            <p:nvPr/>
          </p:nvSpPr>
          <p:spPr>
            <a:xfrm>
              <a:off x="0" y="471587"/>
              <a:ext cx="6857238" cy="1506727"/>
            </a:xfrm>
            <a:prstGeom prst="rect">
              <a:avLst/>
            </a:prstGeom>
            <a:solidFill>
              <a:srgbClr val="004078">
                <a:alpha val="8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" name="textbox 3"/>
            <p:cNvSpPr/>
            <p:nvPr/>
          </p:nvSpPr>
          <p:spPr>
            <a:xfrm>
              <a:off x="82090" y="-12700"/>
              <a:ext cx="5800725" cy="152781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2000" spc="0" dirty="0" err="1">
                  <a:ln w="3175" cap="flat" cmpd="sng">
                    <a:solidFill>
                      <a:srgbClr val="40404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专题研究</a:t>
              </a:r>
              <a:r>
                <a:rPr lang="en-US" altLang="zh-CN" sz="2000" spc="0" dirty="0">
                  <a:ln w="3175" cap="flat" cmpd="sng">
                    <a:solidFill>
                      <a:srgbClr val="40404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/mini course</a:t>
              </a:r>
              <a:endParaRPr lang="en-US" altLang="en-US" sz="2000" dirty="0"/>
            </a:p>
            <a:p>
              <a:pPr marL="39370" algn="l" rtl="0" eaLnBrk="0">
                <a:lnSpc>
                  <a:spcPct val="97000"/>
                </a:lnSpc>
                <a:spcBef>
                  <a:spcPts val="1715"/>
                </a:spcBef>
              </a:pPr>
              <a:r>
                <a:rPr lang="en-US" sz="2000" spc="-10" dirty="0" err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ChatGPT是什么</a:t>
              </a:r>
              <a:r>
                <a:rPr lang="zh-CN" altLang="en-US" sz="20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？</a:t>
              </a:r>
              <a:endParaRPr lang="en-US" altLang="en-US" sz="2000" dirty="0"/>
            </a:p>
            <a:p>
              <a:pPr algn="l" rtl="0" eaLnBrk="0">
                <a:lnSpc>
                  <a:spcPct val="102000"/>
                </a:lnSpc>
              </a:pPr>
              <a:endParaRPr lang="en-US" altLang="en-US" sz="1100" dirty="0"/>
            </a:p>
            <a:p>
              <a:pPr algn="l" rtl="0" eaLnBrk="0">
                <a:lnSpc>
                  <a:spcPct val="8000"/>
                </a:lnSpc>
              </a:pPr>
              <a:endParaRPr lang="en-US" altLang="en-US" sz="100" dirty="0"/>
            </a:p>
            <a:p>
              <a:pPr marL="53975" algn="l" rtl="0" eaLnBrk="0">
                <a:lnSpc>
                  <a:spcPct val="94000"/>
                </a:lnSpc>
              </a:pPr>
              <a:r>
                <a:rPr lang="en-US" altLang="zh-CN" sz="3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1.1</a:t>
              </a:r>
              <a:r>
                <a:rPr lang="zh-CN" altLang="en-US" sz="3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36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江湖传闻</a:t>
              </a:r>
              <a:endParaRPr lang="zh-CN" altLang="en-US" sz="36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rect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015FC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3" name="textbox 1643"/>
          <p:cNvSpPr/>
          <p:nvPr/>
        </p:nvSpPr>
        <p:spPr>
          <a:xfrm>
            <a:off x="897045" y="1450711"/>
            <a:ext cx="7608569" cy="1932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zh-CN" altLang="en-US" sz="100" dirty="0"/>
          </a:p>
          <a:p>
            <a:pPr marL="12700" algn="l" rtl="0" eaLnBrk="0">
              <a:lnSpc>
                <a:spcPct val="67000"/>
              </a:lnSpc>
            </a:pPr>
            <a:r>
              <a:rPr lang="en-US" altLang="zh-CN" sz="8000" spc="10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8000" spc="8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altLang="en-US" sz="8000" dirty="0"/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en-US" altLang="zh-CN" sz="3600" spc="-20" dirty="0" err="1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拿到微软百亿投资</a:t>
            </a:r>
            <a:endParaRPr lang="en-US" altLang="zh-CN" sz="3600" spc="-20" dirty="0">
              <a:ln w="9525" cap="flat" cmpd="sng">
                <a:solidFill>
                  <a:srgbClr val="FFFFFF">
                    <a:alpha val="100000"/>
                  </a:srgbClr>
                </a:solidFill>
                <a:prstDash val="solid"/>
                <a:miter lim="0"/>
              </a:ln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en-US" altLang="zh-CN" sz="3600" spc="-20" dirty="0" err="1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</a:t>
            </a:r>
            <a:r>
              <a:rPr lang="en-US" altLang="zh-CN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天月活破亿</a:t>
            </a:r>
            <a:endParaRPr lang="zh-CN" altLang="en-US" sz="3600" dirty="0"/>
          </a:p>
        </p:txBody>
      </p:sp>
      <p:sp>
        <p:nvSpPr>
          <p:cNvPr id="1644" name="path"/>
          <p:cNvSpPr/>
          <p:nvPr/>
        </p:nvSpPr>
        <p:spPr>
          <a:xfrm>
            <a:off x="1293043" y="1589984"/>
            <a:ext cx="1290333" cy="1396729"/>
          </a:xfrm>
          <a:custGeom>
            <a:avLst/>
            <a:gdLst/>
            <a:ahLst/>
            <a:cxnLst/>
            <a:rect l="0" t="0" r="0" b="0"/>
            <a:pathLst>
              <a:path w="2032" h="2199">
                <a:moveTo>
                  <a:pt x="5" y="2194"/>
                </a:moveTo>
                <a:lnTo>
                  <a:pt x="2026" y="5"/>
                </a:lnTo>
              </a:path>
            </a:pathLst>
          </a:custGeom>
          <a:noFill/>
          <a:ln w="952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9" name="rect"/>
          <p:cNvSpPr/>
          <p:nvPr/>
        </p:nvSpPr>
        <p:spPr>
          <a:xfrm>
            <a:off x="1686877" y="4700778"/>
            <a:ext cx="9525" cy="179997"/>
          </a:xfrm>
          <a:prstGeom prst="rect">
            <a:avLst/>
          </a:prstGeom>
          <a:solidFill>
            <a:srgbClr val="004C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2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73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-12700" y="124277"/>
            <a:ext cx="8836659" cy="17887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1000"/>
              </a:lnSpc>
              <a:spcBef>
                <a:spcPts val="122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发布后用户数持续暴涨，市场影响力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迅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速提升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97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UBS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发布的研究报告显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示，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月份的月活跃用户数已达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亿，成为史上用户数增长最快的消费者应用</a:t>
            </a:r>
            <a:endParaRPr lang="en-US" altLang="en-US" sz="1200" dirty="0"/>
          </a:p>
          <a:p>
            <a:pPr marL="248285" algn="l" rtl="0" eaLnBrk="0">
              <a:lnSpc>
                <a:spcPct val="93000"/>
              </a:lnSpc>
              <a:spcBef>
                <a:spcPts val="67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相比之下，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TikTok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花了九个月的时间月活跃用户数才破亿，而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Instagram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则花费了两年半的时间，同时，根据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Similar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的披露信</a:t>
            </a:r>
            <a:r>
              <a:rPr sz="1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息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Spotify</a:t>
            </a:r>
            <a:endParaRPr lang="en-US" altLang="en-US" sz="1000" dirty="0"/>
          </a:p>
          <a:p>
            <a:pPr marL="412750" algn="l" rtl="0" eaLnBrk="0">
              <a:lnSpc>
                <a:spcPts val="1225"/>
              </a:lnSpc>
              <a:spcBef>
                <a:spcPts val="785"/>
              </a:spcBef>
            </a:pP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在四年半后仅积累了1亿月活</a:t>
            </a:r>
            <a:r>
              <a:rPr sz="10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跃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lang="en-US" altLang="en-US" sz="1000" dirty="0"/>
          </a:p>
          <a:p>
            <a:pPr algn="l" rtl="0" eaLnBrk="0">
              <a:lnSpc>
                <a:spcPct val="103000"/>
              </a:lnSpc>
            </a:pPr>
            <a:endParaRPr lang="en-US" altLang="en-US" sz="600" dirty="0"/>
          </a:p>
          <a:p>
            <a:pPr marL="251460" algn="l" rtl="0" eaLnBrk="0">
              <a:lnSpc>
                <a:spcPct val="97000"/>
              </a:lnSpc>
              <a:spcBef>
                <a:spcPts val="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Similar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的数据，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月份平均每天有超过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1300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万名独立访问者使用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，是去年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份的两倍多</a:t>
            </a:r>
            <a:endParaRPr lang="en-US" altLang="en-US" sz="1200" dirty="0"/>
          </a:p>
        </p:txBody>
      </p:sp>
      <p:pic>
        <p:nvPicPr>
          <p:cNvPr id="175" name="picture 1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746503"/>
            <a:ext cx="88239" cy="100584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5817" y="1236915"/>
            <a:ext cx="90927" cy="104204"/>
          </a:xfrm>
          <a:prstGeom prst="rect">
            <a:avLst/>
          </a:prstGeom>
        </p:spPr>
      </p:pic>
      <p:pic>
        <p:nvPicPr>
          <p:cNvPr id="177" name="picture 1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992123"/>
            <a:ext cx="88239" cy="100584"/>
          </a:xfrm>
          <a:prstGeom prst="rect">
            <a:avLst/>
          </a:prstGeom>
        </p:spPr>
      </p:pic>
      <p:sp>
        <p:nvSpPr>
          <p:cNvPr id="178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4615560" y="2208022"/>
            <a:ext cx="4286504" cy="2461488"/>
            <a:chOff x="0" y="0"/>
            <a:chExt cx="4286504" cy="2461488"/>
          </a:xfrm>
        </p:grpSpPr>
        <p:sp>
          <p:nvSpPr>
            <p:cNvPr id="179" name="path"/>
            <p:cNvSpPr/>
            <p:nvPr/>
          </p:nvSpPr>
          <p:spPr>
            <a:xfrm>
              <a:off x="9525" y="9525"/>
              <a:ext cx="4267454" cy="2442438"/>
            </a:xfrm>
            <a:custGeom>
              <a:avLst/>
              <a:gdLst/>
              <a:ahLst/>
              <a:cxnLst/>
              <a:rect l="0" t="0" r="0" b="0"/>
              <a:pathLst>
                <a:path w="6720" h="3846">
                  <a:moveTo>
                    <a:pt x="0" y="641"/>
                  </a:moveTo>
                  <a:cubicBezTo>
                    <a:pt x="0" y="287"/>
                    <a:pt x="287" y="0"/>
                    <a:pt x="641" y="0"/>
                  </a:cubicBezTo>
                  <a:cubicBezTo>
                    <a:pt x="641" y="0"/>
                    <a:pt x="641" y="0"/>
                    <a:pt x="641" y="0"/>
                  </a:cubicBezTo>
                  <a:lnTo>
                    <a:pt x="641" y="0"/>
                  </a:lnTo>
                  <a:lnTo>
                    <a:pt x="6079" y="0"/>
                  </a:lnTo>
                  <a:lnTo>
                    <a:pt x="6079" y="0"/>
                  </a:lnTo>
                  <a:cubicBezTo>
                    <a:pt x="6433" y="0"/>
                    <a:pt x="6720" y="287"/>
                    <a:pt x="6720" y="641"/>
                  </a:cubicBezTo>
                  <a:cubicBezTo>
                    <a:pt x="6720" y="641"/>
                    <a:pt x="6720" y="641"/>
                    <a:pt x="6720" y="641"/>
                  </a:cubicBezTo>
                  <a:lnTo>
                    <a:pt x="6720" y="641"/>
                  </a:lnTo>
                  <a:lnTo>
                    <a:pt x="6720" y="3205"/>
                  </a:lnTo>
                  <a:lnTo>
                    <a:pt x="6720" y="3205"/>
                  </a:lnTo>
                  <a:cubicBezTo>
                    <a:pt x="6720" y="3559"/>
                    <a:pt x="6433" y="3846"/>
                    <a:pt x="6079" y="3846"/>
                  </a:cubicBezTo>
                  <a:cubicBezTo>
                    <a:pt x="6079" y="3846"/>
                    <a:pt x="6079" y="3846"/>
                    <a:pt x="6079" y="3846"/>
                  </a:cubicBezTo>
                  <a:lnTo>
                    <a:pt x="6079" y="3846"/>
                  </a:lnTo>
                  <a:lnTo>
                    <a:pt x="641" y="3846"/>
                  </a:lnTo>
                  <a:lnTo>
                    <a:pt x="641" y="3846"/>
                  </a:lnTo>
                  <a:cubicBezTo>
                    <a:pt x="287" y="3846"/>
                    <a:pt x="0" y="3559"/>
                    <a:pt x="0" y="3205"/>
                  </a:cubicBezTo>
                  <a:cubicBezTo>
                    <a:pt x="0" y="3205"/>
                    <a:pt x="0" y="3205"/>
                    <a:pt x="0" y="3205"/>
                  </a:cubicBezTo>
                  <a:lnTo>
                    <a:pt x="0" y="6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"/>
            <p:cNvSpPr/>
            <p:nvPr/>
          </p:nvSpPr>
          <p:spPr>
            <a:xfrm>
              <a:off x="0" y="0"/>
              <a:ext cx="4286504" cy="2461488"/>
            </a:xfrm>
            <a:custGeom>
              <a:avLst/>
              <a:gdLst/>
              <a:ahLst/>
              <a:cxnLst/>
              <a:rect l="0" t="0" r="0" b="0"/>
              <a:pathLst>
                <a:path w="6750" h="3876">
                  <a:moveTo>
                    <a:pt x="15" y="656"/>
                  </a:moveTo>
                  <a:cubicBezTo>
                    <a:pt x="15" y="302"/>
                    <a:pt x="302" y="15"/>
                    <a:pt x="656" y="15"/>
                  </a:cubicBezTo>
                  <a:cubicBezTo>
                    <a:pt x="656" y="15"/>
                    <a:pt x="656" y="15"/>
                    <a:pt x="656" y="15"/>
                  </a:cubicBezTo>
                  <a:lnTo>
                    <a:pt x="656" y="15"/>
                  </a:lnTo>
                  <a:lnTo>
                    <a:pt x="6094" y="15"/>
                  </a:lnTo>
                  <a:lnTo>
                    <a:pt x="6094" y="15"/>
                  </a:lnTo>
                  <a:cubicBezTo>
                    <a:pt x="6448" y="15"/>
                    <a:pt x="6735" y="302"/>
                    <a:pt x="6735" y="656"/>
                  </a:cubicBezTo>
                  <a:cubicBezTo>
                    <a:pt x="6735" y="656"/>
                    <a:pt x="6735" y="656"/>
                    <a:pt x="6735" y="656"/>
                  </a:cubicBezTo>
                  <a:lnTo>
                    <a:pt x="6735" y="656"/>
                  </a:lnTo>
                  <a:lnTo>
                    <a:pt x="6735" y="3220"/>
                  </a:lnTo>
                  <a:lnTo>
                    <a:pt x="6735" y="3220"/>
                  </a:lnTo>
                  <a:cubicBezTo>
                    <a:pt x="6735" y="3574"/>
                    <a:pt x="6448" y="3861"/>
                    <a:pt x="6094" y="3861"/>
                  </a:cubicBezTo>
                  <a:cubicBezTo>
                    <a:pt x="6094" y="3861"/>
                    <a:pt x="6094" y="3861"/>
                    <a:pt x="6094" y="3861"/>
                  </a:cubicBezTo>
                  <a:lnTo>
                    <a:pt x="6094" y="3861"/>
                  </a:lnTo>
                  <a:lnTo>
                    <a:pt x="656" y="3861"/>
                  </a:lnTo>
                  <a:lnTo>
                    <a:pt x="656" y="3861"/>
                  </a:lnTo>
                  <a:cubicBezTo>
                    <a:pt x="302" y="3861"/>
                    <a:pt x="15" y="3574"/>
                    <a:pt x="15" y="3220"/>
                  </a:cubicBezTo>
                  <a:cubicBezTo>
                    <a:pt x="15" y="3220"/>
                    <a:pt x="15" y="3220"/>
                    <a:pt x="15" y="3220"/>
                  </a:cubicBezTo>
                  <a:lnTo>
                    <a:pt x="15" y="656"/>
                  </a:lnTo>
                  <a:close/>
                </a:path>
              </a:pathLst>
            </a:custGeom>
            <a:noFill/>
            <a:ln w="19050" cap="flat">
              <a:solidFill>
                <a:srgbClr val="E7E7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81" name="picture 18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9925" y="2237930"/>
            <a:ext cx="3690873" cy="2477516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843519" y="3266135"/>
            <a:ext cx="956576" cy="956576"/>
          </a:xfrm>
          <a:prstGeom prst="rect">
            <a:avLst/>
          </a:prstGeom>
        </p:spPr>
      </p:pic>
      <p:pic>
        <p:nvPicPr>
          <p:cNvPr id="185" name="picture 18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82919" y="2292235"/>
            <a:ext cx="1137894" cy="640067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4546792" y="4732877"/>
            <a:ext cx="4015104" cy="1885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资料来源：第一财经，国泰君安证</a:t>
            </a:r>
            <a:r>
              <a:rPr sz="800" spc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券研究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endParaRPr lang="en-US" altLang="en-US" sz="900" dirty="0"/>
          </a:p>
        </p:txBody>
      </p:sp>
      <p:pic>
        <p:nvPicPr>
          <p:cNvPr id="187" name="picture 18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96658" y="3484917"/>
            <a:ext cx="976439" cy="549249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603235" y="2273401"/>
            <a:ext cx="718553" cy="696620"/>
          </a:xfrm>
          <a:prstGeom prst="rect">
            <a:avLst/>
          </a:prstGeom>
        </p:spPr>
      </p:pic>
      <p:sp>
        <p:nvSpPr>
          <p:cNvPr id="189" name="textbox 189"/>
          <p:cNvSpPr/>
          <p:nvPr/>
        </p:nvSpPr>
        <p:spPr>
          <a:xfrm>
            <a:off x="4780178" y="2025294"/>
            <a:ext cx="4020184" cy="1581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 ：对比各大热门平台月活跃用户数破亿所需时长， C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hatGPT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的成长速度惊人</a:t>
            </a:r>
            <a:endParaRPr lang="en-US" altLang="en-US" sz="900" dirty="0"/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06923" y="2353106"/>
            <a:ext cx="802500" cy="555701"/>
          </a:xfrm>
          <a:prstGeom prst="rect">
            <a:avLst/>
          </a:prstGeom>
        </p:spPr>
      </p:pic>
      <p:pic>
        <p:nvPicPr>
          <p:cNvPr id="191" name="picture 19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30952" y="3442080"/>
            <a:ext cx="718553" cy="561124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972683" y="3442080"/>
            <a:ext cx="529107" cy="634923"/>
          </a:xfrm>
          <a:prstGeom prst="rect">
            <a:avLst/>
          </a:prstGeom>
        </p:spPr>
      </p:pic>
      <p:sp>
        <p:nvSpPr>
          <p:cNvPr id="193" name="textbox 193"/>
          <p:cNvSpPr/>
          <p:nvPr/>
        </p:nvSpPr>
        <p:spPr>
          <a:xfrm>
            <a:off x="979957" y="2049678"/>
            <a:ext cx="2661285" cy="160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图4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日活跃用户数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的增速远超Instagram</a:t>
            </a:r>
            <a:endParaRPr lang="en-US" altLang="en-US" sz="900" dirty="0"/>
          </a:p>
        </p:txBody>
      </p:sp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5868288" y="4115689"/>
          <a:ext cx="737235" cy="245744"/>
        </p:xfrm>
        <a:graphic>
          <a:graphicData uri="http://schemas.openxmlformats.org/drawingml/2006/table">
            <a:tbl>
              <a:tblPr/>
              <a:tblGrid>
                <a:gridCol w="73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400" dirty="0"/>
                    </a:p>
                    <a:p>
                      <a:pPr marL="172720" algn="l" rtl="0" eaLnBrk="0">
                        <a:lnSpc>
                          <a:spcPts val="1150"/>
                        </a:lnSpc>
                      </a:pPr>
                      <a:r>
                        <a:rPr sz="900" spc="8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54个</a:t>
                      </a:r>
                      <a:r>
                        <a:rPr sz="900" spc="5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5" name="table 195"/>
          <p:cNvGraphicFramePr>
            <a:graphicFrameLocks noGrp="1"/>
          </p:cNvGraphicFramePr>
          <p:nvPr/>
        </p:nvGraphicFramePr>
        <p:xfrm>
          <a:off x="4825873" y="4130065"/>
          <a:ext cx="737234" cy="245744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163830" algn="l" rtl="0" eaLnBrk="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900" spc="10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42个</a:t>
                      </a:r>
                      <a:r>
                        <a:rPr sz="900" spc="6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6" name="table 196"/>
          <p:cNvGraphicFramePr>
            <a:graphicFrameLocks noGrp="1"/>
          </p:cNvGraphicFramePr>
          <p:nvPr/>
        </p:nvGraphicFramePr>
        <p:xfrm>
          <a:off x="5100827" y="2967393"/>
          <a:ext cx="737234" cy="245745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208280" algn="l" rtl="0" eaLnBrk="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900" spc="9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2个</a:t>
                      </a:r>
                      <a:r>
                        <a:rPr sz="900" spc="6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7" name="table 197"/>
          <p:cNvGraphicFramePr>
            <a:graphicFrameLocks noGrp="1"/>
          </p:cNvGraphicFramePr>
          <p:nvPr/>
        </p:nvGraphicFramePr>
        <p:xfrm>
          <a:off x="6910705" y="4115689"/>
          <a:ext cx="737234" cy="245744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400" dirty="0"/>
                    </a:p>
                    <a:p>
                      <a:pPr marL="172720" algn="l" rtl="0" eaLnBrk="0">
                        <a:lnSpc>
                          <a:spcPts val="1150"/>
                        </a:lnSpc>
                      </a:pPr>
                      <a:r>
                        <a:rPr sz="900" spc="8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54个</a:t>
                      </a:r>
                      <a:r>
                        <a:rPr sz="900" spc="5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7952994" y="4115689"/>
          <a:ext cx="737234" cy="245744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400" dirty="0"/>
                    </a:p>
                    <a:p>
                      <a:pPr marL="167640" algn="l" rtl="0" eaLnBrk="0">
                        <a:lnSpc>
                          <a:spcPts val="1150"/>
                        </a:lnSpc>
                      </a:pPr>
                      <a:r>
                        <a:rPr sz="900" spc="9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90个</a:t>
                      </a:r>
                      <a:r>
                        <a:rPr sz="900" spc="7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9" name="table 199"/>
          <p:cNvGraphicFramePr>
            <a:graphicFrameLocks noGrp="1"/>
          </p:cNvGraphicFramePr>
          <p:nvPr/>
        </p:nvGraphicFramePr>
        <p:xfrm>
          <a:off x="6358508" y="2975140"/>
          <a:ext cx="737234" cy="245745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207010" algn="l" rtl="0" eaLnBrk="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900" spc="9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9个</a:t>
                      </a:r>
                      <a:r>
                        <a:rPr sz="900" spc="7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7616190" y="2975140"/>
          <a:ext cx="737234" cy="245745"/>
        </p:xfrm>
        <a:graphic>
          <a:graphicData uri="http://schemas.openxmlformats.org/drawingml/2006/table">
            <a:tbl>
              <a:tblPr/>
              <a:tblGrid>
                <a:gridCol w="73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400" dirty="0"/>
                    </a:p>
                    <a:p>
                      <a:pPr marL="172085" algn="l" rtl="0" eaLnBrk="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900" spc="8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30个</a:t>
                      </a:r>
                      <a:r>
                        <a:rPr sz="900" spc="60" dirty="0">
                          <a:solidFill>
                            <a:srgbClr val="00206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842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39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-12700" y="124277"/>
            <a:ext cx="8827134" cy="16325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lang="en-US" sz="1000" spc="0" dirty="0" err="1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</a:t>
            </a:r>
            <a:r>
              <a:rPr lang="en-US"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lang="zh-CN" altLang="en-US"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lang="zh-CN" altLang="en-US"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zh-CN" altLang="en-US" sz="1000" dirty="0"/>
          </a:p>
          <a:p>
            <a:pPr marL="12700" algn="l" rtl="0" eaLnBrk="0">
              <a:lnSpc>
                <a:spcPct val="80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在成立之初便备受资本瞩目，与微软合作加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速商业化进程</a:t>
            </a:r>
            <a:endParaRPr lang="en-US" altLang="en-US" sz="2000" dirty="0"/>
          </a:p>
          <a:p>
            <a:pPr marL="251460" algn="l" rtl="0" eaLnBrk="0">
              <a:lnSpc>
                <a:spcPct val="94000"/>
              </a:lnSpc>
              <a:spcBef>
                <a:spcPts val="146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是由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团队研发创造，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是由创业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家埃隆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马斯克、美国创业孵化器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Combinator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总裁阿尔特曼、全球在线</a:t>
            </a:r>
            <a:endParaRPr lang="en-US" altLang="en-US" sz="1200" dirty="0"/>
          </a:p>
          <a:p>
            <a:pPr marL="526415" indent="635" algn="l" rtl="0" eaLnBrk="0">
              <a:lnSpc>
                <a:spcPct val="149000"/>
              </a:lnSpc>
              <a:spcBef>
                <a:spcPts val="30"/>
              </a:spcBef>
            </a:pP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支付平台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PayPal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联合创始人彼得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蒂尔等人于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2015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年在旧金山创立的一家非盈利的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研究公司，拥有多位硅谷重量级人物的资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金支持，启动资金高达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亿美金；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的创立目标是与其它机构合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作进行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的相关研究，并开放研究成果以促进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技术的</a:t>
            </a:r>
            <a:endParaRPr lang="en-US" altLang="en-US" sz="1200" dirty="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42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" name="rect"/>
          <p:cNvSpPr/>
          <p:nvPr/>
        </p:nvSpPr>
        <p:spPr>
          <a:xfrm>
            <a:off x="539546" y="2295715"/>
            <a:ext cx="8280907" cy="909510"/>
          </a:xfrm>
          <a:prstGeom prst="rect">
            <a:avLst/>
          </a:prstGeom>
          <a:solidFill>
            <a:srgbClr val="7F7F7F">
              <a:alpha val="9803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9546" y="3545916"/>
            <a:ext cx="2093595" cy="1006258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2997961" y="2126932"/>
            <a:ext cx="1190815" cy="1458563"/>
            <a:chOff x="0" y="0"/>
            <a:chExt cx="1190815" cy="1458563"/>
          </a:xfrm>
        </p:grpSpPr>
        <p:grpSp>
          <p:nvGrpSpPr>
            <p:cNvPr id="14" name="group 14"/>
            <p:cNvGrpSpPr/>
            <p:nvPr/>
          </p:nvGrpSpPr>
          <p:grpSpPr>
            <a:xfrm rot="21600000">
              <a:off x="0" y="0"/>
              <a:ext cx="1190815" cy="1458563"/>
              <a:chOff x="0" y="0"/>
              <a:chExt cx="1190815" cy="1458563"/>
            </a:xfrm>
          </p:grpSpPr>
          <p:sp>
            <p:nvSpPr>
              <p:cNvPr id="45" name="path"/>
              <p:cNvSpPr/>
              <p:nvPr/>
            </p:nvSpPr>
            <p:spPr>
              <a:xfrm>
                <a:off x="987678" y="4762"/>
                <a:ext cx="198373" cy="164084"/>
              </a:xfrm>
              <a:custGeom>
                <a:avLst/>
                <a:gdLst/>
                <a:ahLst/>
                <a:cxnLst/>
                <a:rect l="0" t="0" r="0" b="0"/>
                <a:pathLst>
                  <a:path w="312" h="258">
                    <a:moveTo>
                      <a:pt x="0" y="258"/>
                    </a:moveTo>
                    <a:cubicBezTo>
                      <a:pt x="0" y="258"/>
                      <a:pt x="0" y="0"/>
                      <a:pt x="156" y="0"/>
                    </a:cubicBezTo>
                    <a:cubicBezTo>
                      <a:pt x="312" y="0"/>
                      <a:pt x="312" y="258"/>
                      <a:pt x="312" y="258"/>
                    </a:cubicBezTo>
                  </a:path>
                </a:pathLst>
              </a:custGeom>
              <a:solidFill>
                <a:srgbClr val="003D6D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path"/>
              <p:cNvSpPr/>
              <p:nvPr/>
            </p:nvSpPr>
            <p:spPr>
              <a:xfrm>
                <a:off x="982916" y="0"/>
                <a:ext cx="207898" cy="173609"/>
              </a:xfrm>
              <a:custGeom>
                <a:avLst/>
                <a:gdLst/>
                <a:ahLst/>
                <a:cxnLst/>
                <a:rect l="0" t="0" r="0" b="0"/>
                <a:pathLst>
                  <a:path w="327" h="273">
                    <a:moveTo>
                      <a:pt x="7" y="265"/>
                    </a:moveTo>
                    <a:cubicBezTo>
                      <a:pt x="7" y="265"/>
                      <a:pt x="7" y="7"/>
                      <a:pt x="163" y="7"/>
                    </a:cubicBezTo>
                    <a:cubicBezTo>
                      <a:pt x="319" y="7"/>
                      <a:pt x="319" y="265"/>
                      <a:pt x="319" y="265"/>
                    </a:cubicBezTo>
                  </a:path>
                </a:pathLst>
              </a:custGeom>
              <a:noFill/>
              <a:ln w="9525" cap="flat">
                <a:solidFill>
                  <a:srgbClr val="004E97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path"/>
              <p:cNvSpPr/>
              <p:nvPr/>
            </p:nvSpPr>
            <p:spPr>
              <a:xfrm>
                <a:off x="49529" y="4762"/>
                <a:ext cx="1037336" cy="1453800"/>
              </a:xfrm>
              <a:custGeom>
                <a:avLst/>
                <a:gdLst/>
                <a:ahLst/>
                <a:cxnLst/>
                <a:rect l="0" t="0" r="0" b="0"/>
                <a:pathLst>
                  <a:path w="1633" h="2289">
                    <a:moveTo>
                      <a:pt x="1633" y="0"/>
                    </a:moveTo>
                    <a:cubicBezTo>
                      <a:pt x="1555" y="0"/>
                      <a:pt x="1555" y="323"/>
                      <a:pt x="1555" y="323"/>
                    </a:cubicBezTo>
                    <a:cubicBezTo>
                      <a:pt x="1555" y="1783"/>
                      <a:pt x="1555" y="1783"/>
                      <a:pt x="1555" y="1783"/>
                    </a:cubicBezTo>
                    <a:cubicBezTo>
                      <a:pt x="1555" y="1834"/>
                      <a:pt x="1525" y="1884"/>
                      <a:pt x="1474" y="1915"/>
                    </a:cubicBezTo>
                    <a:cubicBezTo>
                      <a:pt x="889" y="2252"/>
                      <a:pt x="889" y="2252"/>
                      <a:pt x="889" y="2252"/>
                    </a:cubicBezTo>
                    <a:cubicBezTo>
                      <a:pt x="822" y="2291"/>
                      <a:pt x="733" y="2291"/>
                      <a:pt x="665" y="2252"/>
                    </a:cubicBezTo>
                    <a:cubicBezTo>
                      <a:pt x="81" y="1915"/>
                      <a:pt x="81" y="1915"/>
                      <a:pt x="81" y="1915"/>
                    </a:cubicBezTo>
                    <a:cubicBezTo>
                      <a:pt x="30" y="1884"/>
                      <a:pt x="0" y="1834"/>
                      <a:pt x="0" y="1783"/>
                    </a:cubicBezTo>
                    <a:cubicBezTo>
                      <a:pt x="0" y="323"/>
                      <a:pt x="0" y="323"/>
                      <a:pt x="0" y="323"/>
                    </a:cubicBezTo>
                    <a:cubicBezTo>
                      <a:pt x="0" y="323"/>
                      <a:pt x="0" y="0"/>
                      <a:pt x="156" y="0"/>
                    </a:cubicBezTo>
                  </a:path>
                </a:pathLst>
              </a:custGeom>
              <a:solidFill>
                <a:srgbClr val="000000">
                  <a:alpha val="10196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path"/>
              <p:cNvSpPr/>
              <p:nvPr/>
            </p:nvSpPr>
            <p:spPr>
              <a:xfrm>
                <a:off x="0" y="4762"/>
                <a:ext cx="1086866" cy="1412779"/>
              </a:xfrm>
              <a:custGeom>
                <a:avLst/>
                <a:gdLst/>
                <a:ahLst/>
                <a:cxnLst/>
                <a:rect l="0" t="0" r="0" b="0"/>
                <a:pathLst>
                  <a:path w="1711" h="2224">
                    <a:moveTo>
                      <a:pt x="156" y="0"/>
                    </a:moveTo>
                    <a:cubicBezTo>
                      <a:pt x="0" y="0"/>
                      <a:pt x="0" y="258"/>
                      <a:pt x="0" y="258"/>
                    </a:cubicBezTo>
                    <a:cubicBezTo>
                      <a:pt x="0" y="1718"/>
                      <a:pt x="0" y="1718"/>
                      <a:pt x="0" y="1718"/>
                    </a:cubicBezTo>
                    <a:cubicBezTo>
                      <a:pt x="0" y="1769"/>
                      <a:pt x="30" y="1819"/>
                      <a:pt x="84" y="1850"/>
                    </a:cubicBezTo>
                    <a:cubicBezTo>
                      <a:pt x="665" y="2187"/>
                      <a:pt x="665" y="2187"/>
                      <a:pt x="665" y="2187"/>
                    </a:cubicBezTo>
                    <a:cubicBezTo>
                      <a:pt x="733" y="2227"/>
                      <a:pt x="821" y="2227"/>
                      <a:pt x="889" y="2187"/>
                    </a:cubicBezTo>
                    <a:cubicBezTo>
                      <a:pt x="1473" y="1850"/>
                      <a:pt x="1473" y="1850"/>
                      <a:pt x="1473" y="1850"/>
                    </a:cubicBezTo>
                    <a:cubicBezTo>
                      <a:pt x="1524" y="1819"/>
                      <a:pt x="1555" y="1769"/>
                      <a:pt x="1555" y="1718"/>
                    </a:cubicBezTo>
                    <a:cubicBezTo>
                      <a:pt x="1555" y="258"/>
                      <a:pt x="1555" y="258"/>
                      <a:pt x="1555" y="258"/>
                    </a:cubicBezTo>
                    <a:cubicBezTo>
                      <a:pt x="1555" y="258"/>
                      <a:pt x="1555" y="0"/>
                      <a:pt x="1711" y="0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004E9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textbox 49"/>
            <p:cNvSpPr/>
            <p:nvPr/>
          </p:nvSpPr>
          <p:spPr>
            <a:xfrm>
              <a:off x="102158" y="459117"/>
              <a:ext cx="794384" cy="203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12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2019</a:t>
              </a:r>
              <a:r>
                <a:rPr sz="1200" spc="2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</a:t>
              </a: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3月</a:t>
              </a:r>
              <a:endParaRPr lang="en-US" altLang="en-US" sz="1200" dirty="0"/>
            </a:p>
          </p:txBody>
        </p:sp>
        <p:sp>
          <p:nvSpPr>
            <p:cNvPr id="50" name="path"/>
            <p:cNvSpPr/>
            <p:nvPr/>
          </p:nvSpPr>
          <p:spPr>
            <a:xfrm>
              <a:off x="372998" y="104584"/>
              <a:ext cx="241553" cy="290702"/>
            </a:xfrm>
            <a:custGeom>
              <a:avLst/>
              <a:gdLst/>
              <a:ahLst/>
              <a:cxnLst/>
              <a:rect l="0" t="0" r="0" b="0"/>
              <a:pathLst>
                <a:path w="380" h="457">
                  <a:moveTo>
                    <a:pt x="102" y="351"/>
                  </a:moveTo>
                  <a:cubicBezTo>
                    <a:pt x="108" y="373"/>
                    <a:pt x="108" y="373"/>
                    <a:pt x="108" y="373"/>
                  </a:cubicBezTo>
                  <a:cubicBezTo>
                    <a:pt x="132" y="381"/>
                    <a:pt x="159" y="387"/>
                    <a:pt x="190" y="387"/>
                  </a:cubicBezTo>
                  <a:cubicBezTo>
                    <a:pt x="220" y="387"/>
                    <a:pt x="247" y="381"/>
                    <a:pt x="275" y="373"/>
                  </a:cubicBezTo>
                  <a:cubicBezTo>
                    <a:pt x="278" y="351"/>
                    <a:pt x="278" y="351"/>
                    <a:pt x="278" y="351"/>
                  </a:cubicBezTo>
                  <a:cubicBezTo>
                    <a:pt x="251" y="359"/>
                    <a:pt x="220" y="365"/>
                    <a:pt x="190" y="365"/>
                  </a:cubicBezTo>
                  <a:cubicBezTo>
                    <a:pt x="159" y="365"/>
                    <a:pt x="129" y="359"/>
                    <a:pt x="102" y="351"/>
                  </a:cubicBezTo>
                  <a:moveTo>
                    <a:pt x="112" y="396"/>
                  </a:moveTo>
                  <a:cubicBezTo>
                    <a:pt x="115" y="418"/>
                    <a:pt x="115" y="418"/>
                    <a:pt x="115" y="418"/>
                  </a:cubicBezTo>
                  <a:cubicBezTo>
                    <a:pt x="115" y="418"/>
                    <a:pt x="122" y="427"/>
                    <a:pt x="142" y="432"/>
                  </a:cubicBezTo>
                  <a:cubicBezTo>
                    <a:pt x="142" y="446"/>
                    <a:pt x="142" y="446"/>
                    <a:pt x="142" y="446"/>
                  </a:cubicBezTo>
                  <a:cubicBezTo>
                    <a:pt x="142" y="446"/>
                    <a:pt x="152" y="457"/>
                    <a:pt x="190" y="457"/>
                  </a:cubicBezTo>
                  <a:cubicBezTo>
                    <a:pt x="227" y="457"/>
                    <a:pt x="237" y="446"/>
                    <a:pt x="237" y="446"/>
                  </a:cubicBezTo>
                  <a:cubicBezTo>
                    <a:pt x="241" y="432"/>
                    <a:pt x="241" y="432"/>
                    <a:pt x="241" y="432"/>
                  </a:cubicBezTo>
                  <a:cubicBezTo>
                    <a:pt x="261" y="427"/>
                    <a:pt x="268" y="418"/>
                    <a:pt x="268" y="418"/>
                  </a:cubicBezTo>
                  <a:cubicBezTo>
                    <a:pt x="271" y="396"/>
                    <a:pt x="271" y="396"/>
                    <a:pt x="271" y="396"/>
                  </a:cubicBezTo>
                  <a:cubicBezTo>
                    <a:pt x="247" y="401"/>
                    <a:pt x="220" y="407"/>
                    <a:pt x="190" y="407"/>
                  </a:cubicBezTo>
                  <a:cubicBezTo>
                    <a:pt x="163" y="407"/>
                    <a:pt x="136" y="401"/>
                    <a:pt x="112" y="396"/>
                  </a:cubicBezTo>
                  <a:moveTo>
                    <a:pt x="190" y="64"/>
                  </a:moveTo>
                  <a:cubicBezTo>
                    <a:pt x="197" y="64"/>
                    <a:pt x="200" y="61"/>
                    <a:pt x="200" y="56"/>
                  </a:cubicBezTo>
                  <a:cubicBezTo>
                    <a:pt x="200" y="53"/>
                    <a:pt x="197" y="47"/>
                    <a:pt x="190" y="47"/>
                  </a:cubicBezTo>
                  <a:cubicBezTo>
                    <a:pt x="118" y="47"/>
                    <a:pt x="57" y="98"/>
                    <a:pt x="57" y="157"/>
                  </a:cubicBezTo>
                  <a:cubicBezTo>
                    <a:pt x="57" y="162"/>
                    <a:pt x="64" y="165"/>
                    <a:pt x="67" y="165"/>
                  </a:cubicBezTo>
                  <a:cubicBezTo>
                    <a:pt x="74" y="165"/>
                    <a:pt x="78" y="162"/>
                    <a:pt x="78" y="157"/>
                  </a:cubicBezTo>
                  <a:cubicBezTo>
                    <a:pt x="78" y="106"/>
                    <a:pt x="129" y="64"/>
                    <a:pt x="190" y="64"/>
                  </a:cubicBezTo>
                  <a:moveTo>
                    <a:pt x="190" y="0"/>
                  </a:moveTo>
                  <a:cubicBezTo>
                    <a:pt x="85" y="0"/>
                    <a:pt x="0" y="70"/>
                    <a:pt x="0" y="157"/>
                  </a:cubicBezTo>
                  <a:cubicBezTo>
                    <a:pt x="0" y="213"/>
                    <a:pt x="37" y="263"/>
                    <a:pt x="91" y="292"/>
                  </a:cubicBezTo>
                  <a:cubicBezTo>
                    <a:pt x="98" y="331"/>
                    <a:pt x="98" y="331"/>
                    <a:pt x="98" y="331"/>
                  </a:cubicBezTo>
                  <a:cubicBezTo>
                    <a:pt x="125" y="340"/>
                    <a:pt x="156" y="345"/>
                    <a:pt x="190" y="345"/>
                  </a:cubicBezTo>
                  <a:cubicBezTo>
                    <a:pt x="224" y="345"/>
                    <a:pt x="254" y="340"/>
                    <a:pt x="282" y="331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342" y="263"/>
                    <a:pt x="380" y="213"/>
                    <a:pt x="380" y="157"/>
                  </a:cubicBezTo>
                  <a:cubicBezTo>
                    <a:pt x="380" y="70"/>
                    <a:pt x="295" y="0"/>
                    <a:pt x="190" y="0"/>
                  </a:cubicBezTo>
                  <a:moveTo>
                    <a:pt x="261" y="272"/>
                  </a:moveTo>
                  <a:cubicBezTo>
                    <a:pt x="254" y="308"/>
                    <a:pt x="254" y="308"/>
                    <a:pt x="254" y="308"/>
                  </a:cubicBezTo>
                  <a:cubicBezTo>
                    <a:pt x="254" y="308"/>
                    <a:pt x="237" y="317"/>
                    <a:pt x="190" y="317"/>
                  </a:cubicBezTo>
                  <a:cubicBezTo>
                    <a:pt x="142" y="317"/>
                    <a:pt x="125" y="308"/>
                    <a:pt x="125" y="308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71" y="252"/>
                    <a:pt x="34" y="207"/>
                    <a:pt x="34" y="157"/>
                  </a:cubicBezTo>
                  <a:cubicBezTo>
                    <a:pt x="34" y="87"/>
                    <a:pt x="105" y="28"/>
                    <a:pt x="190" y="28"/>
                  </a:cubicBezTo>
                  <a:cubicBezTo>
                    <a:pt x="278" y="28"/>
                    <a:pt x="346" y="87"/>
                    <a:pt x="346" y="157"/>
                  </a:cubicBezTo>
                  <a:cubicBezTo>
                    <a:pt x="346" y="207"/>
                    <a:pt x="312" y="252"/>
                    <a:pt x="261" y="272"/>
                  </a:cubicBezTo>
                  <a:moveTo>
                    <a:pt x="234" y="216"/>
                  </a:moveTo>
                  <a:cubicBezTo>
                    <a:pt x="190" y="151"/>
                    <a:pt x="190" y="151"/>
                    <a:pt x="190" y="151"/>
                  </a:cubicBezTo>
                  <a:cubicBezTo>
                    <a:pt x="149" y="216"/>
                    <a:pt x="149" y="216"/>
                    <a:pt x="149" y="216"/>
                  </a:cubicBezTo>
                  <a:cubicBezTo>
                    <a:pt x="132" y="185"/>
                    <a:pt x="132" y="185"/>
                    <a:pt x="132" y="185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46" y="269"/>
                    <a:pt x="146" y="269"/>
                    <a:pt x="146" y="269"/>
                  </a:cubicBezTo>
                  <a:cubicBezTo>
                    <a:pt x="190" y="202"/>
                    <a:pt x="190" y="202"/>
                    <a:pt x="190" y="202"/>
                  </a:cubicBezTo>
                  <a:cubicBezTo>
                    <a:pt x="234" y="269"/>
                    <a:pt x="234" y="269"/>
                    <a:pt x="234" y="269"/>
                  </a:cubicBezTo>
                  <a:cubicBezTo>
                    <a:pt x="278" y="193"/>
                    <a:pt x="278" y="193"/>
                    <a:pt x="278" y="193"/>
                  </a:cubicBezTo>
                  <a:cubicBezTo>
                    <a:pt x="251" y="185"/>
                    <a:pt x="251" y="185"/>
                    <a:pt x="251" y="185"/>
                  </a:cubicBezTo>
                  <a:lnTo>
                    <a:pt x="234" y="2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" name="path"/>
            <p:cNvSpPr/>
            <p:nvPr/>
          </p:nvSpPr>
          <p:spPr>
            <a:xfrm>
              <a:off x="437769" y="1263840"/>
              <a:ext cx="112140" cy="46354"/>
            </a:xfrm>
            <a:custGeom>
              <a:avLst/>
              <a:gdLst/>
              <a:ahLst/>
              <a:cxnLst/>
              <a:rect l="0" t="0" r="0" b="0"/>
              <a:pathLst>
                <a:path w="176" h="72">
                  <a:moveTo>
                    <a:pt x="88" y="72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3" y="22"/>
                    <a:pt x="0" y="13"/>
                    <a:pt x="6" y="8"/>
                  </a:cubicBezTo>
                  <a:cubicBezTo>
                    <a:pt x="10" y="2"/>
                    <a:pt x="20" y="0"/>
                    <a:pt x="30" y="5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149" y="5"/>
                    <a:pt x="149" y="5"/>
                    <a:pt x="149" y="5"/>
                  </a:cubicBezTo>
                  <a:cubicBezTo>
                    <a:pt x="156" y="0"/>
                    <a:pt x="166" y="2"/>
                    <a:pt x="173" y="8"/>
                  </a:cubicBezTo>
                  <a:cubicBezTo>
                    <a:pt x="176" y="13"/>
                    <a:pt x="176" y="22"/>
                    <a:pt x="166" y="27"/>
                  </a:cubicBezTo>
                  <a:lnTo>
                    <a:pt x="88" y="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4379213" y="2131694"/>
            <a:ext cx="1186053" cy="1453800"/>
            <a:chOff x="0" y="0"/>
            <a:chExt cx="1186053" cy="1453800"/>
          </a:xfrm>
        </p:grpSpPr>
        <p:grpSp>
          <p:nvGrpSpPr>
            <p:cNvPr id="18" name="group 18"/>
            <p:cNvGrpSpPr/>
            <p:nvPr/>
          </p:nvGrpSpPr>
          <p:grpSpPr>
            <a:xfrm rot="21600000">
              <a:off x="0" y="0"/>
              <a:ext cx="1186053" cy="1453800"/>
              <a:chOff x="0" y="0"/>
              <a:chExt cx="1186053" cy="1453800"/>
            </a:xfrm>
          </p:grpSpPr>
          <p:sp>
            <p:nvSpPr>
              <p:cNvPr id="52" name="path"/>
              <p:cNvSpPr/>
              <p:nvPr/>
            </p:nvSpPr>
            <p:spPr>
              <a:xfrm>
                <a:off x="987679" y="0"/>
                <a:ext cx="198374" cy="164084"/>
              </a:xfrm>
              <a:custGeom>
                <a:avLst/>
                <a:gdLst/>
                <a:ahLst/>
                <a:cxnLst/>
                <a:rect l="0" t="0" r="0" b="0"/>
                <a:pathLst>
                  <a:path w="312" h="258">
                    <a:moveTo>
                      <a:pt x="0" y="258"/>
                    </a:moveTo>
                    <a:cubicBezTo>
                      <a:pt x="0" y="258"/>
                      <a:pt x="0" y="0"/>
                      <a:pt x="156" y="0"/>
                    </a:cubicBezTo>
                    <a:cubicBezTo>
                      <a:pt x="312" y="0"/>
                      <a:pt x="312" y="258"/>
                      <a:pt x="312" y="258"/>
                    </a:cubicBezTo>
                  </a:path>
                </a:pathLst>
              </a:custGeom>
              <a:solidFill>
                <a:srgbClr val="0061B4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path"/>
              <p:cNvSpPr/>
              <p:nvPr/>
            </p:nvSpPr>
            <p:spPr>
              <a:xfrm>
                <a:off x="49530" y="0"/>
                <a:ext cx="1037335" cy="1453800"/>
              </a:xfrm>
              <a:custGeom>
                <a:avLst/>
                <a:gdLst/>
                <a:ahLst/>
                <a:cxnLst/>
                <a:rect l="0" t="0" r="0" b="0"/>
                <a:pathLst>
                  <a:path w="1633" h="2289">
                    <a:moveTo>
                      <a:pt x="1633" y="0"/>
                    </a:moveTo>
                    <a:cubicBezTo>
                      <a:pt x="1555" y="0"/>
                      <a:pt x="1555" y="323"/>
                      <a:pt x="1555" y="323"/>
                    </a:cubicBezTo>
                    <a:cubicBezTo>
                      <a:pt x="1555" y="1783"/>
                      <a:pt x="1555" y="1783"/>
                      <a:pt x="1555" y="1783"/>
                    </a:cubicBezTo>
                    <a:cubicBezTo>
                      <a:pt x="1555" y="1834"/>
                      <a:pt x="1524" y="1884"/>
                      <a:pt x="1470" y="1915"/>
                    </a:cubicBezTo>
                    <a:cubicBezTo>
                      <a:pt x="889" y="2252"/>
                      <a:pt x="889" y="2252"/>
                      <a:pt x="889" y="2252"/>
                    </a:cubicBezTo>
                    <a:cubicBezTo>
                      <a:pt x="821" y="2291"/>
                      <a:pt x="733" y="2291"/>
                      <a:pt x="665" y="2252"/>
                    </a:cubicBezTo>
                    <a:cubicBezTo>
                      <a:pt x="81" y="1915"/>
                      <a:pt x="81" y="1915"/>
                      <a:pt x="81" y="1915"/>
                    </a:cubicBezTo>
                    <a:cubicBezTo>
                      <a:pt x="30" y="1884"/>
                      <a:pt x="0" y="1834"/>
                      <a:pt x="0" y="1783"/>
                    </a:cubicBezTo>
                    <a:cubicBezTo>
                      <a:pt x="0" y="323"/>
                      <a:pt x="0" y="323"/>
                      <a:pt x="0" y="323"/>
                    </a:cubicBezTo>
                    <a:cubicBezTo>
                      <a:pt x="0" y="323"/>
                      <a:pt x="0" y="0"/>
                      <a:pt x="152" y="0"/>
                    </a:cubicBezTo>
                  </a:path>
                </a:pathLst>
              </a:custGeom>
              <a:solidFill>
                <a:srgbClr val="000000">
                  <a:alpha val="10196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path"/>
              <p:cNvSpPr/>
              <p:nvPr/>
            </p:nvSpPr>
            <p:spPr>
              <a:xfrm>
                <a:off x="0" y="0"/>
                <a:ext cx="1086866" cy="1412779"/>
              </a:xfrm>
              <a:custGeom>
                <a:avLst/>
                <a:gdLst/>
                <a:ahLst/>
                <a:cxnLst/>
                <a:rect l="0" t="0" r="0" b="0"/>
                <a:pathLst>
                  <a:path w="1711" h="2224">
                    <a:moveTo>
                      <a:pt x="156" y="0"/>
                    </a:moveTo>
                    <a:cubicBezTo>
                      <a:pt x="0" y="0"/>
                      <a:pt x="0" y="258"/>
                      <a:pt x="0" y="258"/>
                    </a:cubicBezTo>
                    <a:cubicBezTo>
                      <a:pt x="0" y="1718"/>
                      <a:pt x="0" y="1718"/>
                      <a:pt x="0" y="1718"/>
                    </a:cubicBezTo>
                    <a:cubicBezTo>
                      <a:pt x="0" y="1769"/>
                      <a:pt x="30" y="1819"/>
                      <a:pt x="81" y="1850"/>
                    </a:cubicBezTo>
                    <a:cubicBezTo>
                      <a:pt x="665" y="2187"/>
                      <a:pt x="665" y="2187"/>
                      <a:pt x="665" y="2187"/>
                    </a:cubicBezTo>
                    <a:cubicBezTo>
                      <a:pt x="733" y="2227"/>
                      <a:pt x="821" y="2227"/>
                      <a:pt x="889" y="2187"/>
                    </a:cubicBezTo>
                    <a:cubicBezTo>
                      <a:pt x="1473" y="1850"/>
                      <a:pt x="1473" y="1850"/>
                      <a:pt x="1473" y="1850"/>
                    </a:cubicBezTo>
                    <a:cubicBezTo>
                      <a:pt x="1524" y="1819"/>
                      <a:pt x="1555" y="1769"/>
                      <a:pt x="1555" y="1718"/>
                    </a:cubicBezTo>
                    <a:cubicBezTo>
                      <a:pt x="1555" y="258"/>
                      <a:pt x="1555" y="258"/>
                      <a:pt x="1555" y="258"/>
                    </a:cubicBezTo>
                    <a:cubicBezTo>
                      <a:pt x="1555" y="258"/>
                      <a:pt x="1555" y="0"/>
                      <a:pt x="1711" y="0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0081F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textbox 55"/>
            <p:cNvSpPr/>
            <p:nvPr/>
          </p:nvSpPr>
          <p:spPr>
            <a:xfrm>
              <a:off x="105587" y="454355"/>
              <a:ext cx="794384" cy="203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12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2019</a:t>
              </a:r>
              <a:r>
                <a:rPr sz="1200" spc="2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</a:t>
              </a: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7月</a:t>
              </a:r>
              <a:endParaRPr lang="en-US" altLang="en-US" sz="1200" dirty="0"/>
            </a:p>
          </p:txBody>
        </p:sp>
        <p:sp>
          <p:nvSpPr>
            <p:cNvPr id="56" name="path"/>
            <p:cNvSpPr/>
            <p:nvPr/>
          </p:nvSpPr>
          <p:spPr>
            <a:xfrm>
              <a:off x="334264" y="133730"/>
              <a:ext cx="319151" cy="223012"/>
            </a:xfrm>
            <a:custGeom>
              <a:avLst/>
              <a:gdLst/>
              <a:ahLst/>
              <a:cxnLst/>
              <a:rect l="0" t="0" r="0" b="0"/>
              <a:pathLst>
                <a:path w="502" h="351">
                  <a:moveTo>
                    <a:pt x="20" y="337"/>
                  </a:moveTo>
                  <a:cubicBezTo>
                    <a:pt x="20" y="345"/>
                    <a:pt x="30" y="351"/>
                    <a:pt x="40" y="351"/>
                  </a:cubicBezTo>
                  <a:cubicBezTo>
                    <a:pt x="132" y="351"/>
                    <a:pt x="132" y="351"/>
                    <a:pt x="132" y="351"/>
                  </a:cubicBezTo>
                  <a:cubicBezTo>
                    <a:pt x="132" y="191"/>
                    <a:pt x="132" y="191"/>
                    <a:pt x="132" y="191"/>
                  </a:cubicBezTo>
                  <a:cubicBezTo>
                    <a:pt x="20" y="283"/>
                    <a:pt x="20" y="283"/>
                    <a:pt x="20" y="283"/>
                  </a:cubicBezTo>
                  <a:lnTo>
                    <a:pt x="20" y="337"/>
                  </a:lnTo>
                  <a:close/>
                  <a:moveTo>
                    <a:pt x="176" y="227"/>
                  </a:moveTo>
                  <a:cubicBezTo>
                    <a:pt x="176" y="351"/>
                    <a:pt x="176" y="351"/>
                    <a:pt x="176" y="351"/>
                  </a:cubicBezTo>
                  <a:cubicBezTo>
                    <a:pt x="288" y="351"/>
                    <a:pt x="288" y="351"/>
                    <a:pt x="288" y="351"/>
                  </a:cubicBezTo>
                  <a:cubicBezTo>
                    <a:pt x="288" y="241"/>
                    <a:pt x="288" y="241"/>
                    <a:pt x="288" y="241"/>
                  </a:cubicBezTo>
                  <a:cubicBezTo>
                    <a:pt x="240" y="280"/>
                    <a:pt x="240" y="280"/>
                    <a:pt x="240" y="280"/>
                  </a:cubicBezTo>
                  <a:lnTo>
                    <a:pt x="176" y="227"/>
                  </a:lnTo>
                  <a:close/>
                  <a:moveTo>
                    <a:pt x="332" y="205"/>
                  </a:moveTo>
                  <a:cubicBezTo>
                    <a:pt x="332" y="351"/>
                    <a:pt x="332" y="351"/>
                    <a:pt x="332" y="351"/>
                  </a:cubicBezTo>
                  <a:cubicBezTo>
                    <a:pt x="427" y="351"/>
                    <a:pt x="427" y="351"/>
                    <a:pt x="427" y="351"/>
                  </a:cubicBezTo>
                  <a:cubicBezTo>
                    <a:pt x="437" y="351"/>
                    <a:pt x="444" y="345"/>
                    <a:pt x="444" y="337"/>
                  </a:cubicBezTo>
                  <a:cubicBezTo>
                    <a:pt x="444" y="191"/>
                    <a:pt x="444" y="191"/>
                    <a:pt x="444" y="191"/>
                  </a:cubicBezTo>
                  <a:cubicBezTo>
                    <a:pt x="444" y="112"/>
                    <a:pt x="444" y="112"/>
                    <a:pt x="444" y="112"/>
                  </a:cubicBezTo>
                  <a:cubicBezTo>
                    <a:pt x="349" y="191"/>
                    <a:pt x="349" y="191"/>
                    <a:pt x="349" y="191"/>
                  </a:cubicBezTo>
                  <a:lnTo>
                    <a:pt x="332" y="205"/>
                  </a:lnTo>
                  <a:close/>
                  <a:moveTo>
                    <a:pt x="400" y="5"/>
                  </a:moveTo>
                  <a:cubicBezTo>
                    <a:pt x="390" y="8"/>
                    <a:pt x="380" y="14"/>
                    <a:pt x="383" y="25"/>
                  </a:cubicBezTo>
                  <a:cubicBezTo>
                    <a:pt x="383" y="33"/>
                    <a:pt x="393" y="39"/>
                    <a:pt x="403" y="39"/>
                  </a:cubicBezTo>
                  <a:cubicBezTo>
                    <a:pt x="424" y="36"/>
                    <a:pt x="424" y="36"/>
                    <a:pt x="424" y="36"/>
                  </a:cubicBezTo>
                  <a:cubicBezTo>
                    <a:pt x="240" y="191"/>
                    <a:pt x="240" y="191"/>
                    <a:pt x="240" y="191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6" y="205"/>
                    <a:pt x="6" y="205"/>
                    <a:pt x="6" y="205"/>
                  </a:cubicBezTo>
                  <a:cubicBezTo>
                    <a:pt x="0" y="210"/>
                    <a:pt x="0" y="222"/>
                    <a:pt x="6" y="227"/>
                  </a:cubicBezTo>
                  <a:cubicBezTo>
                    <a:pt x="13" y="236"/>
                    <a:pt x="27" y="236"/>
                    <a:pt x="33" y="22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240" y="238"/>
                    <a:pt x="240" y="238"/>
                    <a:pt x="240" y="238"/>
                  </a:cubicBezTo>
                  <a:cubicBezTo>
                    <a:pt x="454" y="61"/>
                    <a:pt x="454" y="61"/>
                    <a:pt x="454" y="61"/>
                  </a:cubicBezTo>
                  <a:cubicBezTo>
                    <a:pt x="451" y="78"/>
                    <a:pt x="451" y="78"/>
                    <a:pt x="451" y="78"/>
                  </a:cubicBezTo>
                  <a:cubicBezTo>
                    <a:pt x="451" y="87"/>
                    <a:pt x="458" y="95"/>
                    <a:pt x="472" y="98"/>
                  </a:cubicBezTo>
                  <a:cubicBezTo>
                    <a:pt x="472" y="98"/>
                    <a:pt x="472" y="98"/>
                    <a:pt x="472" y="98"/>
                  </a:cubicBezTo>
                  <a:cubicBezTo>
                    <a:pt x="482" y="98"/>
                    <a:pt x="492" y="90"/>
                    <a:pt x="492" y="81"/>
                  </a:cubicBezTo>
                  <a:cubicBezTo>
                    <a:pt x="502" y="0"/>
                    <a:pt x="502" y="0"/>
                    <a:pt x="502" y="0"/>
                  </a:cubicBezTo>
                  <a:lnTo>
                    <a:pt x="400" y="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7" name="path"/>
            <p:cNvSpPr/>
            <p:nvPr/>
          </p:nvSpPr>
          <p:spPr>
            <a:xfrm>
              <a:off x="437769" y="1259078"/>
              <a:ext cx="112140" cy="46354"/>
            </a:xfrm>
            <a:custGeom>
              <a:avLst/>
              <a:gdLst/>
              <a:ahLst/>
              <a:cxnLst/>
              <a:rect l="0" t="0" r="0" b="0"/>
              <a:pathLst>
                <a:path w="176" h="72">
                  <a:moveTo>
                    <a:pt x="88" y="72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0" y="22"/>
                    <a:pt x="0" y="13"/>
                    <a:pt x="3" y="8"/>
                  </a:cubicBezTo>
                  <a:cubicBezTo>
                    <a:pt x="10" y="2"/>
                    <a:pt x="20" y="0"/>
                    <a:pt x="27" y="5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56" y="0"/>
                    <a:pt x="166" y="2"/>
                    <a:pt x="169" y="8"/>
                  </a:cubicBezTo>
                  <a:cubicBezTo>
                    <a:pt x="176" y="13"/>
                    <a:pt x="173" y="22"/>
                    <a:pt x="166" y="27"/>
                  </a:cubicBezTo>
                  <a:lnTo>
                    <a:pt x="88" y="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5759322" y="2131694"/>
            <a:ext cx="1186053" cy="1453800"/>
            <a:chOff x="0" y="0"/>
            <a:chExt cx="1186053" cy="1453800"/>
          </a:xfrm>
        </p:grpSpPr>
        <p:grpSp>
          <p:nvGrpSpPr>
            <p:cNvPr id="22" name="group 22"/>
            <p:cNvGrpSpPr/>
            <p:nvPr/>
          </p:nvGrpSpPr>
          <p:grpSpPr>
            <a:xfrm rot="21600000">
              <a:off x="0" y="0"/>
              <a:ext cx="1186053" cy="1453800"/>
              <a:chOff x="0" y="0"/>
              <a:chExt cx="1186053" cy="1453800"/>
            </a:xfrm>
          </p:grpSpPr>
          <p:sp>
            <p:nvSpPr>
              <p:cNvPr id="58" name="path"/>
              <p:cNvSpPr/>
              <p:nvPr/>
            </p:nvSpPr>
            <p:spPr>
              <a:xfrm>
                <a:off x="989838" y="0"/>
                <a:ext cx="196214" cy="164084"/>
              </a:xfrm>
              <a:custGeom>
                <a:avLst/>
                <a:gdLst/>
                <a:ahLst/>
                <a:cxnLst/>
                <a:rect l="0" t="0" r="0" b="0"/>
                <a:pathLst>
                  <a:path w="308" h="258">
                    <a:moveTo>
                      <a:pt x="0" y="258"/>
                    </a:moveTo>
                    <a:cubicBezTo>
                      <a:pt x="0" y="258"/>
                      <a:pt x="0" y="0"/>
                      <a:pt x="152" y="0"/>
                    </a:cubicBezTo>
                    <a:cubicBezTo>
                      <a:pt x="308" y="0"/>
                      <a:pt x="308" y="258"/>
                      <a:pt x="308" y="258"/>
                    </a:cubicBezTo>
                  </a:path>
                </a:pathLst>
              </a:custGeom>
              <a:solidFill>
                <a:srgbClr val="13A5E4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path"/>
              <p:cNvSpPr/>
              <p:nvPr/>
            </p:nvSpPr>
            <p:spPr>
              <a:xfrm>
                <a:off x="49657" y="0"/>
                <a:ext cx="1037209" cy="1453800"/>
              </a:xfrm>
              <a:custGeom>
                <a:avLst/>
                <a:gdLst/>
                <a:ahLst/>
                <a:cxnLst/>
                <a:rect l="0" t="0" r="0" b="0"/>
                <a:pathLst>
                  <a:path w="1633" h="2289">
                    <a:moveTo>
                      <a:pt x="1633" y="0"/>
                    </a:moveTo>
                    <a:cubicBezTo>
                      <a:pt x="1558" y="0"/>
                      <a:pt x="1558" y="323"/>
                      <a:pt x="1558" y="323"/>
                    </a:cubicBezTo>
                    <a:cubicBezTo>
                      <a:pt x="1555" y="1783"/>
                      <a:pt x="1555" y="1783"/>
                      <a:pt x="1555" y="1783"/>
                    </a:cubicBezTo>
                    <a:cubicBezTo>
                      <a:pt x="1555" y="1834"/>
                      <a:pt x="1524" y="1884"/>
                      <a:pt x="1473" y="1915"/>
                    </a:cubicBezTo>
                    <a:cubicBezTo>
                      <a:pt x="889" y="2252"/>
                      <a:pt x="889" y="2252"/>
                      <a:pt x="889" y="2252"/>
                    </a:cubicBezTo>
                    <a:cubicBezTo>
                      <a:pt x="825" y="2291"/>
                      <a:pt x="733" y="2291"/>
                      <a:pt x="668" y="2252"/>
                    </a:cubicBezTo>
                    <a:cubicBezTo>
                      <a:pt x="84" y="1915"/>
                      <a:pt x="84" y="1915"/>
                      <a:pt x="84" y="1915"/>
                    </a:cubicBezTo>
                    <a:cubicBezTo>
                      <a:pt x="30" y="1884"/>
                      <a:pt x="0" y="1834"/>
                      <a:pt x="0" y="1783"/>
                    </a:cubicBezTo>
                    <a:cubicBezTo>
                      <a:pt x="0" y="323"/>
                      <a:pt x="0" y="323"/>
                      <a:pt x="0" y="323"/>
                    </a:cubicBezTo>
                    <a:cubicBezTo>
                      <a:pt x="0" y="323"/>
                      <a:pt x="0" y="0"/>
                      <a:pt x="156" y="0"/>
                    </a:cubicBezTo>
                  </a:path>
                </a:pathLst>
              </a:custGeom>
              <a:solidFill>
                <a:srgbClr val="000000">
                  <a:alpha val="10196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path"/>
              <p:cNvSpPr/>
              <p:nvPr/>
            </p:nvSpPr>
            <p:spPr>
              <a:xfrm>
                <a:off x="0" y="0"/>
                <a:ext cx="1086866" cy="1412779"/>
              </a:xfrm>
              <a:custGeom>
                <a:avLst/>
                <a:gdLst/>
                <a:ahLst/>
                <a:cxnLst/>
                <a:rect l="0" t="0" r="0" b="0"/>
                <a:pathLst>
                  <a:path w="1711" h="2224">
                    <a:moveTo>
                      <a:pt x="156" y="0"/>
                    </a:moveTo>
                    <a:cubicBezTo>
                      <a:pt x="0" y="0"/>
                      <a:pt x="0" y="258"/>
                      <a:pt x="0" y="258"/>
                    </a:cubicBezTo>
                    <a:cubicBezTo>
                      <a:pt x="0" y="1718"/>
                      <a:pt x="0" y="1718"/>
                      <a:pt x="0" y="1718"/>
                    </a:cubicBezTo>
                    <a:cubicBezTo>
                      <a:pt x="0" y="1769"/>
                      <a:pt x="30" y="1819"/>
                      <a:pt x="85" y="1850"/>
                    </a:cubicBezTo>
                    <a:cubicBezTo>
                      <a:pt x="669" y="2187"/>
                      <a:pt x="669" y="2187"/>
                      <a:pt x="669" y="2187"/>
                    </a:cubicBezTo>
                    <a:cubicBezTo>
                      <a:pt x="733" y="2227"/>
                      <a:pt x="825" y="2227"/>
                      <a:pt x="889" y="2187"/>
                    </a:cubicBezTo>
                    <a:cubicBezTo>
                      <a:pt x="1474" y="1850"/>
                      <a:pt x="1474" y="1850"/>
                      <a:pt x="1474" y="1850"/>
                    </a:cubicBezTo>
                    <a:cubicBezTo>
                      <a:pt x="1524" y="1819"/>
                      <a:pt x="1558" y="1769"/>
                      <a:pt x="1558" y="1718"/>
                    </a:cubicBezTo>
                    <a:cubicBezTo>
                      <a:pt x="1558" y="258"/>
                      <a:pt x="1558" y="258"/>
                      <a:pt x="1558" y="258"/>
                    </a:cubicBezTo>
                    <a:cubicBezTo>
                      <a:pt x="1558" y="258"/>
                      <a:pt x="1558" y="0"/>
                      <a:pt x="1711" y="0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59C3F1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1" name="textbox 61"/>
            <p:cNvSpPr/>
            <p:nvPr/>
          </p:nvSpPr>
          <p:spPr>
            <a:xfrm>
              <a:off x="105587" y="454355"/>
              <a:ext cx="794384" cy="203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12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2020</a:t>
              </a:r>
              <a:r>
                <a:rPr sz="1200" spc="2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</a:t>
              </a: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6月</a:t>
              </a:r>
              <a:endParaRPr lang="en-US" altLang="en-US" sz="1200" dirty="0"/>
            </a:p>
          </p:txBody>
        </p:sp>
        <p:sp>
          <p:nvSpPr>
            <p:cNvPr id="62" name="path"/>
            <p:cNvSpPr/>
            <p:nvPr/>
          </p:nvSpPr>
          <p:spPr>
            <a:xfrm>
              <a:off x="370967" y="115951"/>
              <a:ext cx="247903" cy="258572"/>
            </a:xfrm>
            <a:custGeom>
              <a:avLst/>
              <a:gdLst/>
              <a:ahLst/>
              <a:cxnLst/>
              <a:rect l="0" t="0" r="0" b="0"/>
              <a:pathLst>
                <a:path w="390" h="407">
                  <a:moveTo>
                    <a:pt x="281" y="117"/>
                  </a:moveTo>
                  <a:moveTo>
                    <a:pt x="281" y="117"/>
                  </a:moveTo>
                  <a:lnTo>
                    <a:pt x="67" y="117"/>
                  </a:lnTo>
                  <a:lnTo>
                    <a:pt x="67" y="140"/>
                  </a:lnTo>
                  <a:lnTo>
                    <a:pt x="281" y="140"/>
                  </a:lnTo>
                  <a:lnTo>
                    <a:pt x="281" y="117"/>
                  </a:lnTo>
                  <a:close/>
                  <a:moveTo>
                    <a:pt x="346" y="36"/>
                  </a:moveTo>
                  <a:moveTo>
                    <a:pt x="346" y="36"/>
                  </a:moveTo>
                  <a:lnTo>
                    <a:pt x="346" y="0"/>
                  </a:lnTo>
                  <a:lnTo>
                    <a:pt x="0" y="0"/>
                  </a:lnTo>
                  <a:lnTo>
                    <a:pt x="0" y="370"/>
                  </a:lnTo>
                  <a:lnTo>
                    <a:pt x="43" y="370"/>
                  </a:lnTo>
                  <a:lnTo>
                    <a:pt x="43" y="407"/>
                  </a:lnTo>
                  <a:lnTo>
                    <a:pt x="274" y="407"/>
                  </a:lnTo>
                  <a:lnTo>
                    <a:pt x="390" y="407"/>
                  </a:lnTo>
                  <a:lnTo>
                    <a:pt x="390" y="311"/>
                  </a:lnTo>
                  <a:lnTo>
                    <a:pt x="390" y="36"/>
                  </a:lnTo>
                  <a:lnTo>
                    <a:pt x="346" y="36"/>
                  </a:lnTo>
                  <a:close/>
                  <a:moveTo>
                    <a:pt x="23" y="351"/>
                  </a:moveTo>
                  <a:moveTo>
                    <a:pt x="23" y="351"/>
                  </a:moveTo>
                  <a:lnTo>
                    <a:pt x="23" y="19"/>
                  </a:lnTo>
                  <a:lnTo>
                    <a:pt x="322" y="19"/>
                  </a:lnTo>
                  <a:lnTo>
                    <a:pt x="322" y="266"/>
                  </a:lnTo>
                  <a:lnTo>
                    <a:pt x="220" y="266"/>
                  </a:lnTo>
                  <a:lnTo>
                    <a:pt x="220" y="266"/>
                  </a:lnTo>
                  <a:lnTo>
                    <a:pt x="220" y="351"/>
                  </a:lnTo>
                  <a:lnTo>
                    <a:pt x="23" y="351"/>
                  </a:lnTo>
                  <a:close/>
                  <a:moveTo>
                    <a:pt x="366" y="303"/>
                  </a:moveTo>
                  <a:moveTo>
                    <a:pt x="366" y="303"/>
                  </a:moveTo>
                  <a:lnTo>
                    <a:pt x="366" y="387"/>
                  </a:lnTo>
                  <a:lnTo>
                    <a:pt x="264" y="387"/>
                  </a:lnTo>
                  <a:lnTo>
                    <a:pt x="67" y="387"/>
                  </a:lnTo>
                  <a:lnTo>
                    <a:pt x="67" y="370"/>
                  </a:lnTo>
                  <a:lnTo>
                    <a:pt x="230" y="370"/>
                  </a:lnTo>
                  <a:lnTo>
                    <a:pt x="346" y="275"/>
                  </a:lnTo>
                  <a:lnTo>
                    <a:pt x="346" y="56"/>
                  </a:lnTo>
                  <a:lnTo>
                    <a:pt x="366" y="56"/>
                  </a:lnTo>
                  <a:lnTo>
                    <a:pt x="366" y="303"/>
                  </a:lnTo>
                  <a:close/>
                  <a:moveTo>
                    <a:pt x="281" y="165"/>
                  </a:moveTo>
                  <a:moveTo>
                    <a:pt x="281" y="165"/>
                  </a:moveTo>
                  <a:lnTo>
                    <a:pt x="67" y="165"/>
                  </a:lnTo>
                  <a:lnTo>
                    <a:pt x="67" y="191"/>
                  </a:lnTo>
                  <a:lnTo>
                    <a:pt x="281" y="191"/>
                  </a:lnTo>
                  <a:lnTo>
                    <a:pt x="281" y="165"/>
                  </a:lnTo>
                  <a:close/>
                  <a:moveTo>
                    <a:pt x="281" y="67"/>
                  </a:moveTo>
                  <a:moveTo>
                    <a:pt x="281" y="67"/>
                  </a:moveTo>
                  <a:lnTo>
                    <a:pt x="67" y="67"/>
                  </a:lnTo>
                  <a:lnTo>
                    <a:pt x="67" y="92"/>
                  </a:lnTo>
                  <a:lnTo>
                    <a:pt x="281" y="92"/>
                  </a:lnTo>
                  <a:lnTo>
                    <a:pt x="281" y="67"/>
                  </a:lnTo>
                  <a:close/>
                  <a:moveTo>
                    <a:pt x="67" y="241"/>
                  </a:moveTo>
                  <a:moveTo>
                    <a:pt x="67" y="241"/>
                  </a:moveTo>
                  <a:lnTo>
                    <a:pt x="173" y="241"/>
                  </a:lnTo>
                  <a:lnTo>
                    <a:pt x="173" y="216"/>
                  </a:lnTo>
                  <a:lnTo>
                    <a:pt x="67" y="216"/>
                  </a:lnTo>
                  <a:lnTo>
                    <a:pt x="67" y="2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3" name="path"/>
            <p:cNvSpPr/>
            <p:nvPr/>
          </p:nvSpPr>
          <p:spPr>
            <a:xfrm>
              <a:off x="437769" y="1259078"/>
              <a:ext cx="112141" cy="46354"/>
            </a:xfrm>
            <a:custGeom>
              <a:avLst/>
              <a:gdLst/>
              <a:ahLst/>
              <a:cxnLst/>
              <a:rect l="0" t="0" r="0" b="0"/>
              <a:pathLst>
                <a:path w="176" h="72">
                  <a:moveTo>
                    <a:pt x="88" y="72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3" y="22"/>
                    <a:pt x="0" y="13"/>
                    <a:pt x="6" y="8"/>
                  </a:cubicBezTo>
                  <a:cubicBezTo>
                    <a:pt x="13" y="2"/>
                    <a:pt x="23" y="0"/>
                    <a:pt x="30" y="5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149" y="5"/>
                    <a:pt x="149" y="5"/>
                    <a:pt x="149" y="5"/>
                  </a:cubicBezTo>
                  <a:cubicBezTo>
                    <a:pt x="156" y="0"/>
                    <a:pt x="166" y="2"/>
                    <a:pt x="173" y="8"/>
                  </a:cubicBezTo>
                  <a:cubicBezTo>
                    <a:pt x="176" y="13"/>
                    <a:pt x="176" y="22"/>
                    <a:pt x="169" y="27"/>
                  </a:cubicBezTo>
                  <a:lnTo>
                    <a:pt x="88" y="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7141591" y="2131694"/>
            <a:ext cx="1185036" cy="1453800"/>
            <a:chOff x="0" y="0"/>
            <a:chExt cx="1185036" cy="1453800"/>
          </a:xfrm>
        </p:grpSpPr>
        <p:grpSp>
          <p:nvGrpSpPr>
            <p:cNvPr id="26" name="group 26"/>
            <p:cNvGrpSpPr/>
            <p:nvPr/>
          </p:nvGrpSpPr>
          <p:grpSpPr>
            <a:xfrm rot="21600000">
              <a:off x="0" y="0"/>
              <a:ext cx="1185036" cy="1453800"/>
              <a:chOff x="0" y="0"/>
              <a:chExt cx="1185036" cy="1453800"/>
            </a:xfrm>
          </p:grpSpPr>
          <p:sp>
            <p:nvSpPr>
              <p:cNvPr id="64" name="path"/>
              <p:cNvSpPr/>
              <p:nvPr/>
            </p:nvSpPr>
            <p:spPr>
              <a:xfrm>
                <a:off x="986663" y="0"/>
                <a:ext cx="198373" cy="164084"/>
              </a:xfrm>
              <a:custGeom>
                <a:avLst/>
                <a:gdLst/>
                <a:ahLst/>
                <a:cxnLst/>
                <a:rect l="0" t="0" r="0" b="0"/>
                <a:pathLst>
                  <a:path w="312" h="258">
                    <a:moveTo>
                      <a:pt x="0" y="258"/>
                    </a:moveTo>
                    <a:cubicBezTo>
                      <a:pt x="0" y="258"/>
                      <a:pt x="0" y="0"/>
                      <a:pt x="156" y="0"/>
                    </a:cubicBezTo>
                    <a:cubicBezTo>
                      <a:pt x="312" y="0"/>
                      <a:pt x="312" y="258"/>
                      <a:pt x="312" y="258"/>
                    </a:cubicBezTo>
                  </a:path>
                </a:pathLst>
              </a:custGeom>
              <a:solidFill>
                <a:srgbClr val="9BDBF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path"/>
              <p:cNvSpPr/>
              <p:nvPr/>
            </p:nvSpPr>
            <p:spPr>
              <a:xfrm>
                <a:off x="49656" y="0"/>
                <a:ext cx="1036193" cy="1453800"/>
              </a:xfrm>
              <a:custGeom>
                <a:avLst/>
                <a:gdLst/>
                <a:ahLst/>
                <a:cxnLst/>
                <a:rect l="0" t="0" r="0" b="0"/>
                <a:pathLst>
                  <a:path w="1631" h="2289">
                    <a:moveTo>
                      <a:pt x="1631" y="0"/>
                    </a:moveTo>
                    <a:cubicBezTo>
                      <a:pt x="1553" y="0"/>
                      <a:pt x="1553" y="323"/>
                      <a:pt x="1553" y="323"/>
                    </a:cubicBezTo>
                    <a:cubicBezTo>
                      <a:pt x="1553" y="1783"/>
                      <a:pt x="1553" y="1783"/>
                      <a:pt x="1553" y="1783"/>
                    </a:cubicBezTo>
                    <a:cubicBezTo>
                      <a:pt x="1553" y="1834"/>
                      <a:pt x="1523" y="1884"/>
                      <a:pt x="1472" y="1915"/>
                    </a:cubicBezTo>
                    <a:cubicBezTo>
                      <a:pt x="888" y="2252"/>
                      <a:pt x="888" y="2252"/>
                      <a:pt x="888" y="2252"/>
                    </a:cubicBezTo>
                    <a:cubicBezTo>
                      <a:pt x="821" y="2291"/>
                      <a:pt x="732" y="2291"/>
                      <a:pt x="665" y="2252"/>
                    </a:cubicBezTo>
                    <a:cubicBezTo>
                      <a:pt x="81" y="1915"/>
                      <a:pt x="81" y="1915"/>
                      <a:pt x="81" y="1915"/>
                    </a:cubicBezTo>
                    <a:cubicBezTo>
                      <a:pt x="30" y="1884"/>
                      <a:pt x="0" y="1834"/>
                      <a:pt x="0" y="1783"/>
                    </a:cubicBezTo>
                    <a:cubicBezTo>
                      <a:pt x="0" y="323"/>
                      <a:pt x="0" y="323"/>
                      <a:pt x="0" y="323"/>
                    </a:cubicBezTo>
                    <a:cubicBezTo>
                      <a:pt x="0" y="323"/>
                      <a:pt x="0" y="0"/>
                      <a:pt x="155" y="0"/>
                    </a:cubicBezTo>
                  </a:path>
                </a:pathLst>
              </a:custGeom>
              <a:solidFill>
                <a:srgbClr val="000000">
                  <a:alpha val="10196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path"/>
              <p:cNvSpPr/>
              <p:nvPr/>
            </p:nvSpPr>
            <p:spPr>
              <a:xfrm>
                <a:off x="0" y="0"/>
                <a:ext cx="1085850" cy="1412779"/>
              </a:xfrm>
              <a:custGeom>
                <a:avLst/>
                <a:gdLst/>
                <a:ahLst/>
                <a:cxnLst/>
                <a:rect l="0" t="0" r="0" b="0"/>
                <a:pathLst>
                  <a:path w="1710" h="2224">
                    <a:moveTo>
                      <a:pt x="156" y="0"/>
                    </a:moveTo>
                    <a:cubicBezTo>
                      <a:pt x="0" y="0"/>
                      <a:pt x="0" y="258"/>
                      <a:pt x="0" y="258"/>
                    </a:cubicBezTo>
                    <a:cubicBezTo>
                      <a:pt x="0" y="1718"/>
                      <a:pt x="0" y="1718"/>
                      <a:pt x="0" y="1718"/>
                    </a:cubicBezTo>
                    <a:cubicBezTo>
                      <a:pt x="0" y="1769"/>
                      <a:pt x="30" y="1819"/>
                      <a:pt x="81" y="1850"/>
                    </a:cubicBezTo>
                    <a:cubicBezTo>
                      <a:pt x="665" y="2187"/>
                      <a:pt x="665" y="2187"/>
                      <a:pt x="665" y="2187"/>
                    </a:cubicBezTo>
                    <a:cubicBezTo>
                      <a:pt x="733" y="2227"/>
                      <a:pt x="821" y="2227"/>
                      <a:pt x="889" y="2187"/>
                    </a:cubicBezTo>
                    <a:cubicBezTo>
                      <a:pt x="1472" y="1850"/>
                      <a:pt x="1472" y="1850"/>
                      <a:pt x="1472" y="1850"/>
                    </a:cubicBezTo>
                    <a:cubicBezTo>
                      <a:pt x="1523" y="1819"/>
                      <a:pt x="1554" y="1769"/>
                      <a:pt x="1554" y="1718"/>
                    </a:cubicBezTo>
                    <a:cubicBezTo>
                      <a:pt x="1554" y="258"/>
                      <a:pt x="1554" y="258"/>
                      <a:pt x="1554" y="258"/>
                    </a:cubicBezTo>
                    <a:cubicBezTo>
                      <a:pt x="1554" y="258"/>
                      <a:pt x="1554" y="0"/>
                      <a:pt x="1710" y="0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rgbClr val="BDE7F9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textbox 67"/>
            <p:cNvSpPr/>
            <p:nvPr/>
          </p:nvSpPr>
          <p:spPr>
            <a:xfrm>
              <a:off x="105842" y="454355"/>
              <a:ext cx="794384" cy="203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</a:pPr>
              <a:r>
                <a:rPr sz="1200" spc="3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2020</a:t>
              </a:r>
              <a:r>
                <a:rPr sz="1200" spc="2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年</a:t>
              </a: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9月</a:t>
              </a:r>
              <a:endParaRPr lang="en-US" altLang="en-US" sz="1200" dirty="0"/>
            </a:p>
          </p:txBody>
        </p:sp>
        <p:sp>
          <p:nvSpPr>
            <p:cNvPr id="68" name="path"/>
            <p:cNvSpPr/>
            <p:nvPr/>
          </p:nvSpPr>
          <p:spPr>
            <a:xfrm>
              <a:off x="354838" y="117729"/>
              <a:ext cx="275970" cy="255016"/>
            </a:xfrm>
            <a:custGeom>
              <a:avLst/>
              <a:gdLst/>
              <a:ahLst/>
              <a:cxnLst/>
              <a:rect l="0" t="0" r="0" b="0"/>
              <a:pathLst>
                <a:path w="434" h="401">
                  <a:moveTo>
                    <a:pt x="420" y="11"/>
                  </a:moveTo>
                  <a:cubicBezTo>
                    <a:pt x="370" y="11"/>
                    <a:pt x="370" y="11"/>
                    <a:pt x="370" y="11"/>
                  </a:cubicBezTo>
                  <a:cubicBezTo>
                    <a:pt x="360" y="11"/>
                    <a:pt x="356" y="5"/>
                    <a:pt x="356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88" y="0"/>
                    <a:pt x="81" y="5"/>
                    <a:pt x="81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6" y="11"/>
                    <a:pt x="0" y="16"/>
                    <a:pt x="0" y="2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46"/>
                    <a:pt x="135" y="205"/>
                    <a:pt x="193" y="227"/>
                  </a:cubicBezTo>
                  <a:cubicBezTo>
                    <a:pt x="193" y="308"/>
                    <a:pt x="193" y="308"/>
                    <a:pt x="193" y="308"/>
                  </a:cubicBezTo>
                  <a:cubicBezTo>
                    <a:pt x="193" y="308"/>
                    <a:pt x="149" y="311"/>
                    <a:pt x="115" y="325"/>
                  </a:cubicBezTo>
                  <a:cubicBezTo>
                    <a:pt x="111" y="325"/>
                    <a:pt x="108" y="331"/>
                    <a:pt x="108" y="334"/>
                  </a:cubicBezTo>
                  <a:cubicBezTo>
                    <a:pt x="108" y="342"/>
                    <a:pt x="108" y="342"/>
                    <a:pt x="108" y="342"/>
                  </a:cubicBezTo>
                  <a:cubicBezTo>
                    <a:pt x="108" y="351"/>
                    <a:pt x="101" y="353"/>
                    <a:pt x="95" y="353"/>
                  </a:cubicBezTo>
                  <a:cubicBezTo>
                    <a:pt x="88" y="353"/>
                    <a:pt x="81" y="359"/>
                    <a:pt x="81" y="367"/>
                  </a:cubicBezTo>
                  <a:cubicBezTo>
                    <a:pt x="81" y="390"/>
                    <a:pt x="81" y="390"/>
                    <a:pt x="81" y="390"/>
                  </a:cubicBezTo>
                  <a:cubicBezTo>
                    <a:pt x="81" y="396"/>
                    <a:pt x="88" y="401"/>
                    <a:pt x="95" y="401"/>
                  </a:cubicBezTo>
                  <a:cubicBezTo>
                    <a:pt x="339" y="401"/>
                    <a:pt x="339" y="401"/>
                    <a:pt x="339" y="401"/>
                  </a:cubicBezTo>
                  <a:cubicBezTo>
                    <a:pt x="349" y="401"/>
                    <a:pt x="356" y="396"/>
                    <a:pt x="356" y="390"/>
                  </a:cubicBezTo>
                  <a:cubicBezTo>
                    <a:pt x="356" y="367"/>
                    <a:pt x="356" y="367"/>
                    <a:pt x="356" y="367"/>
                  </a:cubicBezTo>
                  <a:cubicBezTo>
                    <a:pt x="356" y="359"/>
                    <a:pt x="349" y="353"/>
                    <a:pt x="339" y="353"/>
                  </a:cubicBezTo>
                  <a:cubicBezTo>
                    <a:pt x="332" y="353"/>
                    <a:pt x="325" y="351"/>
                    <a:pt x="325" y="342"/>
                  </a:cubicBezTo>
                  <a:cubicBezTo>
                    <a:pt x="325" y="334"/>
                    <a:pt x="325" y="334"/>
                    <a:pt x="325" y="334"/>
                  </a:cubicBezTo>
                  <a:cubicBezTo>
                    <a:pt x="325" y="331"/>
                    <a:pt x="322" y="325"/>
                    <a:pt x="319" y="325"/>
                  </a:cubicBezTo>
                  <a:cubicBezTo>
                    <a:pt x="285" y="311"/>
                    <a:pt x="240" y="308"/>
                    <a:pt x="240" y="308"/>
                  </a:cubicBezTo>
                  <a:cubicBezTo>
                    <a:pt x="240" y="227"/>
                    <a:pt x="240" y="227"/>
                    <a:pt x="240" y="227"/>
                  </a:cubicBezTo>
                  <a:cubicBezTo>
                    <a:pt x="298" y="205"/>
                    <a:pt x="434" y="146"/>
                    <a:pt x="434" y="75"/>
                  </a:cubicBezTo>
                  <a:cubicBezTo>
                    <a:pt x="434" y="25"/>
                    <a:pt x="434" y="25"/>
                    <a:pt x="434" y="25"/>
                  </a:cubicBezTo>
                  <a:cubicBezTo>
                    <a:pt x="434" y="16"/>
                    <a:pt x="427" y="11"/>
                    <a:pt x="420" y="11"/>
                  </a:cubicBezTo>
                  <a:moveTo>
                    <a:pt x="27" y="67"/>
                  </a:moveTo>
                  <a:cubicBezTo>
                    <a:pt x="27" y="53"/>
                    <a:pt x="27" y="53"/>
                    <a:pt x="27" y="53"/>
                  </a:cubicBezTo>
                  <a:cubicBezTo>
                    <a:pt x="27" y="45"/>
                    <a:pt x="37" y="39"/>
                    <a:pt x="44" y="39"/>
                  </a:cubicBezTo>
                  <a:cubicBezTo>
                    <a:pt x="81" y="39"/>
                    <a:pt x="81" y="39"/>
                    <a:pt x="81" y="39"/>
                  </a:cubicBezTo>
                  <a:cubicBezTo>
                    <a:pt x="81" y="39"/>
                    <a:pt x="84" y="115"/>
                    <a:pt x="108" y="148"/>
                  </a:cubicBezTo>
                  <a:cubicBezTo>
                    <a:pt x="108" y="148"/>
                    <a:pt x="27" y="120"/>
                    <a:pt x="27" y="67"/>
                  </a:cubicBezTo>
                  <a:moveTo>
                    <a:pt x="407" y="67"/>
                  </a:moveTo>
                  <a:cubicBezTo>
                    <a:pt x="407" y="120"/>
                    <a:pt x="325" y="148"/>
                    <a:pt x="325" y="148"/>
                  </a:cubicBezTo>
                  <a:cubicBezTo>
                    <a:pt x="353" y="115"/>
                    <a:pt x="353" y="39"/>
                    <a:pt x="353" y="39"/>
                  </a:cubicBezTo>
                  <a:cubicBezTo>
                    <a:pt x="390" y="39"/>
                    <a:pt x="390" y="39"/>
                    <a:pt x="390" y="39"/>
                  </a:cubicBezTo>
                  <a:cubicBezTo>
                    <a:pt x="400" y="39"/>
                    <a:pt x="407" y="45"/>
                    <a:pt x="407" y="53"/>
                  </a:cubicBezTo>
                  <a:lnTo>
                    <a:pt x="407" y="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9" name="path"/>
            <p:cNvSpPr/>
            <p:nvPr/>
          </p:nvSpPr>
          <p:spPr>
            <a:xfrm>
              <a:off x="436753" y="1259078"/>
              <a:ext cx="112140" cy="46354"/>
            </a:xfrm>
            <a:custGeom>
              <a:avLst/>
              <a:gdLst/>
              <a:ahLst/>
              <a:cxnLst/>
              <a:rect l="0" t="0" r="0" b="0"/>
              <a:pathLst>
                <a:path w="176" h="72">
                  <a:moveTo>
                    <a:pt x="88" y="72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3" y="22"/>
                    <a:pt x="0" y="13"/>
                    <a:pt x="6" y="8"/>
                  </a:cubicBezTo>
                  <a:cubicBezTo>
                    <a:pt x="10" y="2"/>
                    <a:pt x="20" y="0"/>
                    <a:pt x="30" y="5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149" y="5"/>
                    <a:pt x="149" y="5"/>
                    <a:pt x="149" y="5"/>
                  </a:cubicBezTo>
                  <a:cubicBezTo>
                    <a:pt x="156" y="0"/>
                    <a:pt x="166" y="2"/>
                    <a:pt x="173" y="8"/>
                  </a:cubicBezTo>
                  <a:cubicBezTo>
                    <a:pt x="176" y="13"/>
                    <a:pt x="176" y="22"/>
                    <a:pt x="166" y="27"/>
                  </a:cubicBezTo>
                  <a:lnTo>
                    <a:pt x="88" y="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0" name="textbox 70"/>
          <p:cNvSpPr/>
          <p:nvPr/>
        </p:nvSpPr>
        <p:spPr>
          <a:xfrm>
            <a:off x="4264907" y="3584606"/>
            <a:ext cx="1219200" cy="12236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095"/>
              </a:lnSpc>
            </a:pPr>
            <a:r>
              <a:rPr sz="900" spc="1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微软向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</a:t>
            </a:r>
            <a:r>
              <a:rPr sz="900" spc="1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endParaRPr lang="en-US" altLang="en-US" sz="900" dirty="0"/>
          </a:p>
          <a:p>
            <a:pPr marL="41910" algn="l" rtl="0" eaLnBrk="0">
              <a:lnSpc>
                <a:spcPts val="1150"/>
              </a:lnSpc>
              <a:spcBef>
                <a:spcPts val="295"/>
              </a:spcBef>
            </a:pP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亿美金，并获得</a:t>
            </a:r>
            <a:r>
              <a:rPr sz="90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endParaRPr lang="en-US" altLang="en-US" sz="900" dirty="0"/>
          </a:p>
          <a:p>
            <a:pPr marL="17145" algn="l" rtl="0" eaLnBrk="0">
              <a:lnSpc>
                <a:spcPts val="1100"/>
              </a:lnSpc>
              <a:spcBef>
                <a:spcPts val="255"/>
              </a:spcBef>
            </a:pP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技术的商业</a:t>
            </a:r>
            <a:r>
              <a:rPr sz="90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lang="en-US" altLang="en-US" sz="900" dirty="0"/>
          </a:p>
          <a:p>
            <a:pPr marL="12700" algn="l" rtl="0" eaLnBrk="0">
              <a:lnSpc>
                <a:spcPts val="1095"/>
              </a:lnSpc>
              <a:spcBef>
                <a:spcPts val="305"/>
              </a:spcBef>
            </a:pPr>
            <a:r>
              <a:rPr sz="90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授权。从此，</a:t>
            </a:r>
            <a:r>
              <a:rPr sz="900" spc="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endParaRPr lang="en-US" altLang="en-US" sz="900" dirty="0"/>
          </a:p>
          <a:p>
            <a:pPr marL="41275" algn="l" rtl="0" eaLnBrk="0">
              <a:lnSpc>
                <a:spcPts val="1150"/>
              </a:lnSpc>
              <a:spcBef>
                <a:spcPts val="295"/>
              </a:spcBef>
            </a:pPr>
            <a:r>
              <a:rPr sz="900" spc="1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的一些技术开始出</a:t>
            </a:r>
            <a:r>
              <a:rPr sz="90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endParaRPr lang="en-US" altLang="en-US" sz="900" dirty="0"/>
          </a:p>
          <a:p>
            <a:pPr marL="35560" algn="l" rtl="0" eaLnBrk="0">
              <a:lnSpc>
                <a:spcPts val="1150"/>
              </a:lnSpc>
              <a:spcBef>
                <a:spcPts val="255"/>
              </a:spcBef>
            </a:pPr>
            <a:r>
              <a:rPr sz="900" spc="110" dirty="0" err="1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在微软的产品和业</a:t>
            </a:r>
            <a:r>
              <a:rPr sz="900" spc="50" dirty="0" err="1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</a:t>
            </a:r>
            <a:endParaRPr lang="en-US" altLang="en-US" sz="900" dirty="0"/>
          </a:p>
        </p:txBody>
      </p:sp>
      <p:sp>
        <p:nvSpPr>
          <p:cNvPr id="71" name="textbox 71"/>
          <p:cNvSpPr/>
          <p:nvPr/>
        </p:nvSpPr>
        <p:spPr>
          <a:xfrm>
            <a:off x="2869298" y="3579673"/>
            <a:ext cx="1252855" cy="8807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" dirty="0"/>
          </a:p>
          <a:p>
            <a:pPr marL="33655" algn="l" rtl="0" eaLnBrk="0">
              <a:lnSpc>
                <a:spcPts val="1095"/>
              </a:lnSpc>
              <a:spcBef>
                <a:spcPts val="0"/>
              </a:spcBef>
            </a:pP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5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宣布从”非</a:t>
            </a:r>
            <a:r>
              <a:rPr sz="900" spc="1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盈</a:t>
            </a:r>
            <a:endParaRPr lang="en-US" altLang="en-US" sz="900" dirty="0"/>
          </a:p>
          <a:p>
            <a:pPr marL="35560" algn="l" rtl="0" eaLnBrk="0">
              <a:lnSpc>
                <a:spcPts val="1150"/>
              </a:lnSpc>
              <a:spcBef>
                <a:spcPts val="295"/>
              </a:spcBef>
            </a:pPr>
            <a:r>
              <a:rPr sz="90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   “性质过度</a:t>
            </a:r>
            <a:r>
              <a:rPr sz="90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”封</a:t>
            </a:r>
            <a:endParaRPr lang="en-US" altLang="en-US" sz="900" dirty="0"/>
          </a:p>
          <a:p>
            <a:pPr marL="52705" algn="l" rtl="0" eaLnBrk="0">
              <a:lnSpc>
                <a:spcPts val="1155"/>
              </a:lnSpc>
              <a:spcBef>
                <a:spcPts val="250"/>
              </a:spcBef>
            </a:pP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顶盈利“性质，利</a:t>
            </a:r>
            <a:r>
              <a:rPr sz="90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润</a:t>
            </a:r>
            <a:endParaRPr lang="en-US" altLang="en-US" sz="900" dirty="0"/>
          </a:p>
          <a:p>
            <a:pPr marL="12700" algn="l" rtl="0" eaLnBrk="0">
              <a:lnSpc>
                <a:spcPts val="1150"/>
              </a:lnSpc>
              <a:spcBef>
                <a:spcPts val="255"/>
              </a:spcBef>
            </a:pP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上限为任何投资的</a:t>
            </a: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900" spc="6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lang="en-US" altLang="en-US" sz="900" dirty="0"/>
          </a:p>
          <a:p>
            <a:pPr marL="92710" algn="l" rtl="0" eaLnBrk="0">
              <a:lnSpc>
                <a:spcPts val="1095"/>
              </a:lnSpc>
              <a:spcBef>
                <a:spcPts val="240"/>
              </a:spcBef>
            </a:pPr>
            <a:r>
              <a:rPr sz="900" spc="2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倍(创立</a:t>
            </a:r>
            <a:r>
              <a:rPr sz="90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endParaRPr lang="en-US" altLang="en-US" sz="900" dirty="0"/>
          </a:p>
        </p:txBody>
      </p:sp>
      <p:sp>
        <p:nvSpPr>
          <p:cNvPr id="72" name="textbox 72"/>
          <p:cNvSpPr/>
          <p:nvPr/>
        </p:nvSpPr>
        <p:spPr>
          <a:xfrm>
            <a:off x="5622392" y="3584606"/>
            <a:ext cx="1254125" cy="8839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52070" indent="-39370" algn="l" rtl="0" eaLnBrk="0">
              <a:lnSpc>
                <a:spcPct val="115000"/>
              </a:lnSpc>
            </a:pP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3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sz="90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 API</a:t>
            </a:r>
            <a:r>
              <a:rPr sz="900" spc="13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spc="1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，这是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endParaRPr lang="en-US" altLang="en-US" sz="900" dirty="0"/>
          </a:p>
          <a:p>
            <a:pPr marL="32385" indent="82550" algn="l" rtl="0" eaLnBrk="0">
              <a:lnSpc>
                <a:spcPct val="116000"/>
              </a:lnSpc>
              <a:spcBef>
                <a:spcPts val="305"/>
              </a:spcBef>
            </a:pP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一个商业化产品</a:t>
            </a:r>
            <a:r>
              <a:rPr sz="90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5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正式开始了</a:t>
            </a:r>
            <a:r>
              <a:rPr sz="900" spc="1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</a:t>
            </a:r>
            <a:endParaRPr lang="en-US" altLang="en-US" sz="900" dirty="0"/>
          </a:p>
          <a:p>
            <a:pPr algn="l" rtl="0" eaLnBrk="0">
              <a:lnSpc>
                <a:spcPct val="122000"/>
              </a:lnSpc>
            </a:pPr>
            <a:endParaRPr lang="en-US" altLang="en-US" sz="200" dirty="0"/>
          </a:p>
          <a:p>
            <a:pPr marL="370205" algn="l" rtl="0" eaLnBrk="0">
              <a:lnSpc>
                <a:spcPts val="1160"/>
              </a:lnSpc>
              <a:spcBef>
                <a:spcPts val="0"/>
              </a:spcBef>
            </a:pP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业化运</a:t>
            </a:r>
            <a:r>
              <a:rPr sz="900" spc="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900" dirty="0"/>
          </a:p>
        </p:txBody>
      </p:sp>
      <p:sp>
        <p:nvSpPr>
          <p:cNvPr id="74" name="textbox 74"/>
          <p:cNvSpPr/>
          <p:nvPr/>
        </p:nvSpPr>
        <p:spPr>
          <a:xfrm>
            <a:off x="7011916" y="3584606"/>
            <a:ext cx="1217294" cy="7061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5875" algn="l" rtl="0" eaLnBrk="0">
              <a:lnSpc>
                <a:spcPts val="1095"/>
              </a:lnSpc>
            </a:pP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OpenAI</a:t>
            </a:r>
            <a:r>
              <a:rPr sz="900" spc="15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授权微软使</a:t>
            </a:r>
            <a:r>
              <a:rPr sz="900" spc="1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endParaRPr lang="en-US" altLang="en-US" sz="900" dirty="0"/>
          </a:p>
          <a:p>
            <a:pPr marL="43815" algn="l" rtl="0" eaLnBrk="0">
              <a:lnSpc>
                <a:spcPts val="1150"/>
              </a:lnSpc>
              <a:spcBef>
                <a:spcPts val="295"/>
              </a:spcBef>
            </a:pP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GPT</a:t>
            </a: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-3</a:t>
            </a:r>
            <a:r>
              <a:rPr sz="900" spc="1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模型，微软</a:t>
            </a:r>
            <a:r>
              <a:rPr sz="90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900" dirty="0"/>
          </a:p>
          <a:p>
            <a:pPr marL="12700" algn="l" rtl="0" eaLnBrk="0">
              <a:lnSpc>
                <a:spcPts val="1150"/>
              </a:lnSpc>
              <a:spcBef>
                <a:spcPts val="255"/>
              </a:spcBef>
            </a:pPr>
            <a:r>
              <a:rPr sz="900" spc="1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为全球首个享用</a:t>
            </a:r>
            <a:r>
              <a:rPr sz="90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GPT</a:t>
            </a: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endParaRPr lang="en-US" altLang="en-US" sz="900" dirty="0"/>
          </a:p>
          <a:p>
            <a:pPr marL="257175" algn="l" rtl="0" eaLnBrk="0">
              <a:lnSpc>
                <a:spcPts val="1155"/>
              </a:lnSpc>
              <a:spcBef>
                <a:spcPts val="255"/>
              </a:spcBef>
            </a:pP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90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能力的公</a:t>
            </a:r>
            <a:r>
              <a:rPr sz="90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司</a:t>
            </a:r>
            <a:endParaRPr lang="en-US" altLang="en-US" sz="900" dirty="0"/>
          </a:p>
        </p:txBody>
      </p:sp>
      <p:sp>
        <p:nvSpPr>
          <p:cNvPr id="75" name="textbox 75"/>
          <p:cNvSpPr/>
          <p:nvPr/>
        </p:nvSpPr>
        <p:spPr>
          <a:xfrm>
            <a:off x="1007409" y="2676264"/>
            <a:ext cx="1646554" cy="226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1400" b="1" spc="0" dirty="0">
                <a:solidFill>
                  <a:srgbClr val="595959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1400" spc="-10" dirty="0">
                <a:ln w="3175" cap="flat" cmpd="sng">
                  <a:solidFill>
                    <a:srgbClr val="59595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</a:t>
            </a:r>
            <a:r>
              <a:rPr sz="1400" spc="0" dirty="0">
                <a:ln w="3175" cap="flat" cmpd="sng">
                  <a:solidFill>
                    <a:srgbClr val="59595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的里程碑</a:t>
            </a:r>
            <a:endParaRPr lang="en-US" altLang="en-US" sz="1400" dirty="0"/>
          </a:p>
        </p:txBody>
      </p:sp>
      <p:sp>
        <p:nvSpPr>
          <p:cNvPr id="76" name="textbox 76"/>
          <p:cNvSpPr/>
          <p:nvPr/>
        </p:nvSpPr>
        <p:spPr>
          <a:xfrm>
            <a:off x="3321710" y="1900326"/>
            <a:ext cx="2356485" cy="160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发展势头强劲，商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业化趋势明显</a:t>
            </a:r>
            <a:endParaRPr lang="en-US" altLang="en-US" sz="900" dirty="0"/>
          </a:p>
        </p:txBody>
      </p:sp>
      <p:sp>
        <p:nvSpPr>
          <p:cNvPr id="79" name="textbox 79"/>
          <p:cNvSpPr/>
          <p:nvPr/>
        </p:nvSpPr>
        <p:spPr>
          <a:xfrm>
            <a:off x="6950707" y="4732877"/>
            <a:ext cx="1285239" cy="1885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sz="1100" spc="10" dirty="0">
              <a:solidFill>
                <a:srgbClr val="4040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501954" y="1833829"/>
            <a:ext cx="33020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endParaRPr lang="en-US" altLang="en-US" sz="1200" dirty="0"/>
          </a:p>
        </p:txBody>
      </p:sp>
      <p:sp>
        <p:nvSpPr>
          <p:cNvPr id="82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844264" y="124277"/>
            <a:ext cx="7970519" cy="625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2000" spc="8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8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8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是生成式人工智能技术(</a:t>
            </a:r>
            <a:r>
              <a:rPr sz="2000" spc="8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8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8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)浪潮的</a:t>
            </a:r>
            <a:r>
              <a:rPr sz="20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endParaRPr lang="en-US" altLang="en-US" sz="2000" dirty="0"/>
          </a:p>
        </p:txBody>
      </p:sp>
      <p:sp>
        <p:nvSpPr>
          <p:cNvPr id="87" name="textbox 87"/>
          <p:cNvSpPr/>
          <p:nvPr/>
        </p:nvSpPr>
        <p:spPr>
          <a:xfrm>
            <a:off x="6691655" y="1232560"/>
            <a:ext cx="1496060" cy="14109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92710" indent="-74930" algn="l" rtl="0" eaLnBrk="0">
              <a:lnSpc>
                <a:spcPct val="103000"/>
              </a:lnSpc>
            </a:pP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2014年， Lan J. Go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dfellow 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</a:t>
            </a:r>
            <a:r>
              <a:rPr sz="900" spc="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</a:t>
            </a: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抗网络GAN</a:t>
            </a:r>
            <a:endParaRPr lang="en-US" altLang="en-US" sz="900" dirty="0"/>
          </a:p>
          <a:p>
            <a:pPr algn="l" rtl="0" eaLnBrk="0">
              <a:lnSpc>
                <a:spcPct val="119000"/>
              </a:lnSpc>
            </a:pPr>
            <a:endParaRPr lang="en-US" altLang="en-US" sz="1000" dirty="0"/>
          </a:p>
          <a:p>
            <a:pPr marL="213360" algn="l" rtl="0" eaLnBrk="0">
              <a:lnSpc>
                <a:spcPct val="97000"/>
              </a:lnSpc>
              <a:spcBef>
                <a:spcPts val="270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8年，英伟达发布</a:t>
            </a:r>
            <a:endParaRPr lang="en-US" altLang="en-US" sz="900" dirty="0"/>
          </a:p>
          <a:p>
            <a:pPr marL="27305" algn="l" rtl="0" eaLnBrk="0">
              <a:lnSpc>
                <a:spcPct val="88000"/>
              </a:lnSpc>
              <a:spcBef>
                <a:spcPts val="25"/>
              </a:spcBef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StyleGAN模型用于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</a:t>
            </a:r>
            <a:endParaRPr lang="en-US" altLang="en-US" sz="900" dirty="0"/>
          </a:p>
          <a:p>
            <a:pPr marL="456565" algn="l" rtl="0" eaLnBrk="0">
              <a:lnSpc>
                <a:spcPct val="97000"/>
              </a:lnSpc>
              <a:spcBef>
                <a:spcPts val="140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高质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量图片</a:t>
            </a:r>
            <a:endParaRPr lang="en-US" altLang="en-US" sz="900" dirty="0"/>
          </a:p>
          <a:p>
            <a:pPr marL="97155" algn="l" rtl="0" eaLnBrk="0">
              <a:lnSpc>
                <a:spcPct val="88000"/>
              </a:lnSpc>
              <a:spcBef>
                <a:spcPts val="655"/>
              </a:spcBef>
            </a:pP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2019年， DeepMi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endParaRPr lang="en-US" altLang="en-US" sz="900" dirty="0"/>
          </a:p>
          <a:p>
            <a:pPr marL="12700" algn="l" rtl="0" eaLnBrk="0">
              <a:lnSpc>
                <a:spcPct val="100000"/>
              </a:lnSpc>
              <a:spcBef>
                <a:spcPts val="95"/>
              </a:spcBef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DVD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GAN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生成连续</a:t>
            </a:r>
            <a:endParaRPr lang="en-US" altLang="en-US" sz="900" dirty="0"/>
          </a:p>
          <a:p>
            <a:pPr marL="570865" algn="l" rtl="0" eaLnBrk="0">
              <a:lnSpc>
                <a:spcPct val="97000"/>
              </a:lnSpc>
              <a:spcBef>
                <a:spcPts val="30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</a:t>
            </a:r>
            <a:endParaRPr lang="en-US" altLang="en-US" sz="900" dirty="0"/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02892" y="3966057"/>
            <a:ext cx="7128764" cy="171450"/>
          </a:xfrm>
          <a:prstGeom prst="rect">
            <a:avLst/>
          </a:prstGeom>
        </p:spPr>
      </p:pic>
      <p:sp>
        <p:nvSpPr>
          <p:cNvPr id="89" name="textbox 89"/>
          <p:cNvSpPr/>
          <p:nvPr/>
        </p:nvSpPr>
        <p:spPr>
          <a:xfrm>
            <a:off x="2328824" y="2106891"/>
            <a:ext cx="972819" cy="11404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1966年， </a:t>
            </a:r>
            <a:r>
              <a:rPr sz="900" spc="-3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世界第</a:t>
            </a:r>
            <a:r>
              <a:rPr sz="900" spc="-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endParaRPr lang="en-US" altLang="en-US" sz="900" dirty="0"/>
          </a:p>
          <a:p>
            <a:pPr marL="23495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款可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人机对话机器</a:t>
            </a:r>
            <a:endParaRPr lang="en-US" altLang="en-US" sz="900" dirty="0"/>
          </a:p>
          <a:p>
            <a:pPr marL="74295" algn="l" rtl="0" eaLnBrk="0">
              <a:lnSpc>
                <a:spcPct val="98000"/>
              </a:lnSpc>
              <a:spcBef>
                <a:spcPts val="30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“Eliza”问世</a:t>
            </a:r>
            <a:endParaRPr lang="en-US" altLang="en-US" sz="900" dirty="0"/>
          </a:p>
          <a:p>
            <a:pPr algn="l" rtl="0" eaLnBrk="0">
              <a:lnSpc>
                <a:spcPct val="179000"/>
              </a:lnSpc>
            </a:pPr>
            <a:endParaRPr lang="en-US" altLang="en-US" sz="1000" dirty="0"/>
          </a:p>
          <a:p>
            <a:pPr marL="27305" algn="l" rtl="0" eaLnBrk="0">
              <a:lnSpc>
                <a:spcPct val="97000"/>
              </a:lnSpc>
              <a:spcBef>
                <a:spcPts val="280"/>
              </a:spcBef>
            </a:pP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80年代中期， I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lang="en-US" altLang="en-US" sz="900" dirty="0"/>
          </a:p>
          <a:p>
            <a:pPr marL="26035" algn="l" rtl="0" eaLnBrk="0">
              <a:lnSpc>
                <a:spcPct val="98000"/>
              </a:lnSpc>
              <a:spcBef>
                <a:spcPts val="30"/>
              </a:spcBef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语音控制打字</a:t>
            </a:r>
            <a:endParaRPr lang="en-US" altLang="en-US" sz="900" dirty="0"/>
          </a:p>
          <a:p>
            <a:pPr marL="71755" algn="l" rtl="0" eaLnBrk="0">
              <a:lnSpc>
                <a:spcPct val="88000"/>
              </a:lnSpc>
              <a:spcBef>
                <a:spcPts val="20"/>
              </a:spcBef>
            </a:pPr>
            <a:r>
              <a:rPr sz="900" spc="-5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   </a:t>
            </a:r>
            <a:r>
              <a:rPr sz="9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“Tango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9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en-US" sz="900" dirty="0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89705" y="1190574"/>
            <a:ext cx="878814" cy="1156639"/>
          </a:xfrm>
          <a:prstGeom prst="rect">
            <a:avLst/>
          </a:prstGeom>
        </p:spPr>
      </p:pic>
      <p:sp>
        <p:nvSpPr>
          <p:cNvPr id="91" name="textbox 91"/>
          <p:cNvSpPr/>
          <p:nvPr/>
        </p:nvSpPr>
        <p:spPr>
          <a:xfrm>
            <a:off x="3516116" y="3539140"/>
            <a:ext cx="1858010" cy="4768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0"/>
              </a:lnSpc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从实验性向实用性转变，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</a:t>
            </a:r>
            <a:endParaRPr lang="en-US" altLang="en-US" sz="900" dirty="0"/>
          </a:p>
          <a:p>
            <a:pPr marL="45085" algn="l" rtl="0" eaLnBrk="0">
              <a:lnSpc>
                <a:spcPts val="1145"/>
              </a:lnSpc>
              <a:spcBef>
                <a:spcPts val="50"/>
              </a:spcBef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限于算法瓶颈，无法直接进行</a:t>
            </a:r>
            <a:r>
              <a:rPr sz="9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endParaRPr lang="en-US" altLang="en-US" sz="900" dirty="0"/>
          </a:p>
          <a:p>
            <a:pPr marL="737870" algn="l" rtl="0" eaLnBrk="0">
              <a:lnSpc>
                <a:spcPts val="1155"/>
              </a:lnSpc>
              <a:spcBef>
                <a:spcPts val="50"/>
              </a:spcBef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容生</a:t>
            </a:r>
            <a:r>
              <a:rPr sz="9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900" dirty="0"/>
          </a:p>
        </p:txBody>
      </p:sp>
      <p:sp>
        <p:nvSpPr>
          <p:cNvPr id="92" name="textbox 92"/>
          <p:cNvSpPr/>
          <p:nvPr/>
        </p:nvSpPr>
        <p:spPr>
          <a:xfrm>
            <a:off x="3512738" y="4143558"/>
            <a:ext cx="1835785" cy="473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540385" algn="l" rtl="0" eaLnBrk="0">
              <a:lnSpc>
                <a:spcPts val="115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沉淀积累阶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endParaRPr lang="en-US" altLang="en-US" sz="900" dirty="0"/>
          </a:p>
          <a:p>
            <a:pPr marL="741045" indent="-668020" algn="l" rtl="0" eaLnBrk="0">
              <a:lnSpc>
                <a:spcPct val="109000"/>
              </a:lnSpc>
              <a:spcBef>
                <a:spcPts val="20"/>
              </a:spcBef>
            </a:pPr>
            <a:r>
              <a:rPr sz="9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( 20世纪90年代-21世纪10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 </a:t>
            </a:r>
            <a:r>
              <a:rPr sz="90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900" dirty="0"/>
          </a:p>
        </p:txBody>
      </p:sp>
      <p:sp>
        <p:nvSpPr>
          <p:cNvPr id="93" name="textbox 93"/>
          <p:cNvSpPr/>
          <p:nvPr/>
        </p:nvSpPr>
        <p:spPr>
          <a:xfrm>
            <a:off x="5755506" y="3612546"/>
            <a:ext cx="2440304" cy="3244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966470" indent="-953770" algn="l" rtl="0" eaLnBrk="0">
              <a:lnSpc>
                <a:spcPct val="10900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深度学习算法不断迭代，人工智能生成</a:t>
            </a:r>
            <a:r>
              <a:rPr sz="9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百花齐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endParaRPr lang="en-US" altLang="en-US" sz="900" dirty="0"/>
          </a:p>
        </p:txBody>
      </p:sp>
      <p:sp>
        <p:nvSpPr>
          <p:cNvPr id="94" name="textbox 94"/>
          <p:cNvSpPr/>
          <p:nvPr/>
        </p:nvSpPr>
        <p:spPr>
          <a:xfrm>
            <a:off x="2008632" y="1224305"/>
            <a:ext cx="1286510" cy="5708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45720" algn="l" rtl="0" eaLnBrk="0">
              <a:lnSpc>
                <a:spcPct val="97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1950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年，艾伦·图灵提出</a:t>
            </a: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著名的“图灵测试”， </a:t>
            </a:r>
            <a:r>
              <a:rPr sz="900" spc="-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</a:t>
            </a:r>
            <a:endParaRPr lang="en-US" altLang="en-US" sz="900" dirty="0"/>
          </a:p>
          <a:p>
            <a:pPr marL="19050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-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出判断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机器是否具有“智</a:t>
            </a:r>
            <a:endParaRPr lang="en-US" altLang="en-US" sz="900" dirty="0"/>
          </a:p>
          <a:p>
            <a:pPr marL="356870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”的方法</a:t>
            </a:r>
            <a:endParaRPr lang="en-US" altLang="en-US" sz="900" dirty="0"/>
          </a:p>
        </p:txBody>
      </p:sp>
      <p:sp>
        <p:nvSpPr>
          <p:cNvPr id="95" name="textbox 95"/>
          <p:cNvSpPr/>
          <p:nvPr/>
        </p:nvSpPr>
        <p:spPr>
          <a:xfrm>
            <a:off x="4457128" y="1458557"/>
            <a:ext cx="986155" cy="711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100" dirty="0"/>
          </a:p>
          <a:p>
            <a:pPr marL="48260" indent="-12700" algn="l" rtl="0" eaLnBrk="0">
              <a:lnSpc>
                <a:spcPct val="99000"/>
              </a:lnSpc>
            </a:pP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2007年， </a:t>
            </a:r>
            <a:r>
              <a:rPr sz="900" spc="-3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</a:t>
            </a:r>
            <a:r>
              <a:rPr sz="900" spc="-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完全由人    </a:t>
            </a: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工智能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创作的小</a:t>
            </a:r>
            <a:endParaRPr lang="en-US" altLang="en-US" sz="900" dirty="0"/>
          </a:p>
          <a:p>
            <a:pPr marL="341630" indent="-328930" algn="l" rtl="0" eaLnBrk="0">
              <a:lnSpc>
                <a:spcPct val="99000"/>
              </a:lnSpc>
              <a:spcBef>
                <a:spcPts val="25"/>
              </a:spcBef>
            </a:pPr>
            <a:r>
              <a:rPr sz="900" spc="-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《1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The Road》  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</a:t>
            </a:r>
            <a:endParaRPr lang="en-US" altLang="en-US" sz="900" dirty="0"/>
          </a:p>
        </p:txBody>
      </p:sp>
      <p:sp>
        <p:nvSpPr>
          <p:cNvPr id="96" name="textbox 96"/>
          <p:cNvSpPr/>
          <p:nvPr/>
        </p:nvSpPr>
        <p:spPr>
          <a:xfrm>
            <a:off x="4438954" y="2645308"/>
            <a:ext cx="942339" cy="708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54610" algn="l" rtl="0" eaLnBrk="0">
              <a:lnSpc>
                <a:spcPct val="97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2年，微软展</a:t>
            </a: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语全自动同声传</a:t>
            </a: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30"/>
              </a:spcBef>
            </a:pPr>
            <a:r>
              <a:rPr sz="900" spc="-3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译系统 </a:t>
            </a: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</a:t>
            </a: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35"/>
              </a:spcBef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音自动翻译成中</a:t>
            </a:r>
            <a:endParaRPr lang="en-US" altLang="en-US" sz="900" dirty="0"/>
          </a:p>
          <a:p>
            <a:pPr marL="299720" algn="l" rtl="0" eaLnBrk="0">
              <a:lnSpc>
                <a:spcPct val="98000"/>
              </a:lnSpc>
              <a:spcBef>
                <a:spcPts val="30"/>
              </a:spcBef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文语音</a:t>
            </a:r>
            <a:endParaRPr lang="en-US" altLang="en-US" sz="900" dirty="0"/>
          </a:p>
        </p:txBody>
      </p:sp>
      <p:sp>
        <p:nvSpPr>
          <p:cNvPr id="97" name="textbox 97"/>
          <p:cNvSpPr/>
          <p:nvPr/>
        </p:nvSpPr>
        <p:spPr>
          <a:xfrm>
            <a:off x="6675386" y="2811678"/>
            <a:ext cx="1524635" cy="4343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93040" algn="l" rtl="0" eaLnBrk="0">
              <a:lnSpc>
                <a:spcPct val="88000"/>
              </a:lnSpc>
            </a:pP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2022年， OpenA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endParaRPr lang="en-US" altLang="en-US" sz="900" dirty="0"/>
          </a:p>
          <a:p>
            <a:pPr marL="12700" algn="l" rtl="0" eaLnBrk="0">
              <a:lnSpc>
                <a:spcPct val="97000"/>
              </a:lnSpc>
              <a:spcBef>
                <a:spcPts val="130"/>
              </a:spcBef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模型用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生成自然能</a:t>
            </a:r>
            <a:endParaRPr lang="en-US" altLang="en-US" sz="900" dirty="0"/>
          </a:p>
          <a:p>
            <a:pPr marL="530225" algn="l" rtl="0" eaLnBrk="0">
              <a:lnSpc>
                <a:spcPct val="98000"/>
              </a:lnSpc>
              <a:spcBef>
                <a:spcPts val="30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言文本</a:t>
            </a:r>
            <a:endParaRPr lang="en-US" altLang="en-US" sz="900" dirty="0"/>
          </a:p>
        </p:txBody>
      </p:sp>
      <p:sp>
        <p:nvSpPr>
          <p:cNvPr id="98" name="textbox 98"/>
          <p:cNvSpPr/>
          <p:nvPr/>
        </p:nvSpPr>
        <p:spPr>
          <a:xfrm>
            <a:off x="1416549" y="3612546"/>
            <a:ext cx="1858645" cy="3244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675005" indent="-662305" algn="l" rtl="0" eaLnBrk="0">
              <a:lnSpc>
                <a:spcPct val="10900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受限于技术水平，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仅限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 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范围实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endParaRPr lang="en-US" altLang="en-US" sz="900" dirty="0"/>
          </a:p>
        </p:txBody>
      </p:sp>
      <p:pic>
        <p:nvPicPr>
          <p:cNvPr id="99" name="picture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70473" y="2172741"/>
            <a:ext cx="1019581" cy="507974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438705" y="4217320"/>
            <a:ext cx="1821814" cy="320675"/>
          </a:xfrm>
          <a:prstGeom prst="rect">
            <a:avLst/>
          </a:prstGeom>
        </p:spPr>
        <p:txBody>
          <a:bodyPr vert="horz" wrap="square" lIns="0" tIns="388" rIns="0" bIns="0"/>
          <a:lstStyle/>
          <a:p>
            <a:pPr marL="73025" indent="457835" algn="l" rtl="0" eaLnBrk="0">
              <a:lnSpc>
                <a:spcPct val="112000"/>
              </a:lnSpc>
              <a:spcBef>
                <a:spcPts val="5"/>
              </a:spcBef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早期萌芽阶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( 20世纪50年代-90年代中期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900" dirty="0"/>
          </a:p>
        </p:txBody>
      </p:sp>
      <p:sp>
        <p:nvSpPr>
          <p:cNvPr id="101" name="textbox 101"/>
          <p:cNvSpPr/>
          <p:nvPr/>
        </p:nvSpPr>
        <p:spPr>
          <a:xfrm>
            <a:off x="6137578" y="4217320"/>
            <a:ext cx="1672589" cy="320675"/>
          </a:xfrm>
          <a:prstGeom prst="rect">
            <a:avLst/>
          </a:prstGeom>
        </p:spPr>
        <p:txBody>
          <a:bodyPr vert="horz" wrap="square" lIns="0" tIns="388" rIns="0" bIns="0"/>
          <a:lstStyle/>
          <a:p>
            <a:pPr marL="73025" indent="382270" algn="l" rtl="0" eaLnBrk="0">
              <a:lnSpc>
                <a:spcPct val="112000"/>
              </a:lnSpc>
              <a:spcBef>
                <a:spcPts val="5"/>
              </a:spcBef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快速发展阶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( 21世纪10年代中期-至</a:t>
            </a:r>
            <a:r>
              <a:rPr sz="9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900" dirty="0"/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10208" y="2024164"/>
            <a:ext cx="824268" cy="557999"/>
          </a:xfrm>
          <a:prstGeom prst="rect">
            <a:avLst/>
          </a:prstGeom>
        </p:spPr>
      </p:pic>
      <p:pic>
        <p:nvPicPr>
          <p:cNvPr id="103" name="picture 10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16248" y="2722244"/>
            <a:ext cx="873543" cy="524129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2858414" y="950874"/>
            <a:ext cx="3463925" cy="154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9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 ：随着算法的不断迭代，生成式人工智能技术(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不断发展</a:t>
            </a:r>
            <a:endParaRPr lang="en-US" altLang="en-US" sz="900" dirty="0"/>
          </a:p>
        </p:txBody>
      </p:sp>
      <p:sp>
        <p:nvSpPr>
          <p:cNvPr id="105" name="path"/>
          <p:cNvSpPr/>
          <p:nvPr/>
        </p:nvSpPr>
        <p:spPr>
          <a:xfrm>
            <a:off x="5536438" y="3186938"/>
            <a:ext cx="2759202" cy="150367"/>
          </a:xfrm>
          <a:custGeom>
            <a:avLst/>
            <a:gdLst/>
            <a:ahLst/>
            <a:cxnLst/>
            <a:rect l="0" t="0" r="0" b="0"/>
            <a:pathLst>
              <a:path w="4345" h="236">
                <a:moveTo>
                  <a:pt x="4315" y="30"/>
                </a:moveTo>
                <a:cubicBezTo>
                  <a:pt x="4315" y="127"/>
                  <a:pt x="4235" y="206"/>
                  <a:pt x="4138" y="206"/>
                </a:cubicBezTo>
                <a:moveTo>
                  <a:pt x="206" y="206"/>
                </a:moveTo>
                <a:cubicBezTo>
                  <a:pt x="109" y="206"/>
                  <a:pt x="30" y="127"/>
                  <a:pt x="30" y="30"/>
                </a:cubicBezTo>
              </a:path>
            </a:pathLst>
          </a:custGeom>
          <a:noFill/>
          <a:ln w="38100" cap="flat">
            <a:solidFill>
              <a:srgbClr val="B1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670803" y="2754198"/>
            <a:ext cx="857288" cy="460806"/>
          </a:xfrm>
          <a:prstGeom prst="rect">
            <a:avLst/>
          </a:prstGeom>
        </p:spPr>
      </p:pic>
      <p:sp>
        <p:nvSpPr>
          <p:cNvPr id="107" name="path"/>
          <p:cNvSpPr/>
          <p:nvPr/>
        </p:nvSpPr>
        <p:spPr>
          <a:xfrm>
            <a:off x="5536438" y="2625852"/>
            <a:ext cx="2627883" cy="150241"/>
          </a:xfrm>
          <a:custGeom>
            <a:avLst/>
            <a:gdLst/>
            <a:ahLst/>
            <a:cxnLst/>
            <a:rect l="0" t="0" r="0" b="0"/>
            <a:pathLst>
              <a:path w="4138" h="236">
                <a:moveTo>
                  <a:pt x="30" y="206"/>
                </a:moveTo>
                <a:cubicBezTo>
                  <a:pt x="30" y="108"/>
                  <a:pt x="109" y="30"/>
                  <a:pt x="206" y="30"/>
                </a:cubicBezTo>
                <a:moveTo>
                  <a:pt x="206" y="30"/>
                </a:moveTo>
                <a:lnTo>
                  <a:pt x="4138" y="30"/>
                </a:lnTo>
              </a:path>
            </a:pathLst>
          </a:custGeom>
          <a:noFill/>
          <a:ln w="38100" cap="flat">
            <a:solidFill>
              <a:srgbClr val="B1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753861" y="1155065"/>
            <a:ext cx="691248" cy="473075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0" y="411531"/>
            <a:ext cx="755581" cy="432003"/>
            <a:chOff x="0" y="0"/>
            <a:chExt cx="755581" cy="432003"/>
          </a:xfrm>
        </p:grpSpPr>
        <p:sp>
          <p:nvSpPr>
            <p:cNvPr id="109" name="path"/>
            <p:cNvSpPr/>
            <p:nvPr/>
          </p:nvSpPr>
          <p:spPr>
            <a:xfrm>
              <a:off x="0" y="0"/>
              <a:ext cx="755581" cy="432003"/>
            </a:xfrm>
            <a:custGeom>
              <a:avLst/>
              <a:gdLst/>
              <a:ahLst/>
              <a:cxnLst/>
              <a:rect l="0" t="0" r="0" b="0"/>
              <a:pathLst>
                <a:path w="1189" h="680">
                  <a:moveTo>
                    <a:pt x="0" y="680"/>
                  </a:moveTo>
                  <a:lnTo>
                    <a:pt x="1077" y="680"/>
                  </a:lnTo>
                  <a:lnTo>
                    <a:pt x="1077" y="0"/>
                  </a:lnTo>
                  <a:lnTo>
                    <a:pt x="0" y="0"/>
                  </a:lnTo>
                  <a:lnTo>
                    <a:pt x="0" y="680"/>
                  </a:lnTo>
                  <a:close/>
                </a:path>
                <a:path w="1189" h="680">
                  <a:moveTo>
                    <a:pt x="1121" y="680"/>
                  </a:moveTo>
                  <a:lnTo>
                    <a:pt x="1189" y="680"/>
                  </a:lnTo>
                  <a:lnTo>
                    <a:pt x="1189" y="0"/>
                  </a:lnTo>
                  <a:lnTo>
                    <a:pt x="1121" y="0"/>
                  </a:lnTo>
                  <a:lnTo>
                    <a:pt x="1121" y="680"/>
                  </a:lnTo>
                  <a:close/>
                </a:path>
              </a:pathLst>
            </a:custGeom>
            <a:solidFill>
              <a:srgbClr val="0677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" name="textbox 110"/>
            <p:cNvSpPr/>
            <p:nvPr/>
          </p:nvSpPr>
          <p:spPr>
            <a:xfrm>
              <a:off x="-12700" y="-12700"/>
              <a:ext cx="781050" cy="5505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6050" algn="l" rtl="0" eaLnBrk="0">
                <a:lnSpc>
                  <a:spcPct val="80000"/>
                </a:lnSpc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sz="320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altLang="en-US" sz="3200" dirty="0"/>
            </a:p>
          </p:txBody>
        </p:sp>
      </p:grpSp>
      <p:pic>
        <p:nvPicPr>
          <p:cNvPr id="111" name="picture 1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23288" y="2862034"/>
            <a:ext cx="793483" cy="373418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68056" y="1131570"/>
            <a:ext cx="76238" cy="3439286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834379" y="1694256"/>
            <a:ext cx="574090" cy="42804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343440" y="4101027"/>
            <a:ext cx="727709" cy="3568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51130" indent="-138430" algn="l" rtl="0" eaLnBrk="0">
              <a:lnSpc>
                <a:spcPct val="99000"/>
              </a:lnSpc>
            </a:pPr>
            <a:r>
              <a:rPr sz="11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</a:t>
            </a: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体阶</a:t>
            </a: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endParaRPr lang="en-US" altLang="en-US" sz="1100" dirty="0"/>
          </a:p>
        </p:txBody>
      </p:sp>
      <p:pic>
        <p:nvPicPr>
          <p:cNvPr id="115" name="picture 1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52701" y="1198536"/>
            <a:ext cx="381939" cy="55800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397184" y="2199081"/>
            <a:ext cx="660400" cy="358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91135" indent="-178435" algn="l" rtl="0" eaLnBrk="0">
              <a:lnSpc>
                <a:spcPct val="99000"/>
              </a:lnSpc>
            </a:pP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1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</a:t>
            </a:r>
            <a:r>
              <a:rPr sz="1100" spc="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-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</a:t>
            </a: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endParaRPr lang="en-US" altLang="en-US" sz="1100" dirty="0"/>
          </a:p>
        </p:txBody>
      </p:sp>
      <p:sp>
        <p:nvSpPr>
          <p:cNvPr id="117" name="textbox 117"/>
          <p:cNvSpPr/>
          <p:nvPr/>
        </p:nvSpPr>
        <p:spPr>
          <a:xfrm>
            <a:off x="380723" y="3397193"/>
            <a:ext cx="660400" cy="3581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90500" indent="-177800" algn="l" rtl="0" eaLnBrk="0">
              <a:lnSpc>
                <a:spcPct val="99000"/>
              </a:lnSpc>
            </a:pP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100" spc="8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sz="1100" spc="6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lang="en-US" altLang="en-US" sz="1100" dirty="0"/>
          </a:p>
        </p:txBody>
      </p:sp>
      <p:sp>
        <p:nvSpPr>
          <p:cNvPr id="118" name="rect"/>
          <p:cNvSpPr/>
          <p:nvPr/>
        </p:nvSpPr>
        <p:spPr>
          <a:xfrm>
            <a:off x="5667755" y="3299205"/>
            <a:ext cx="2496565" cy="38100"/>
          </a:xfrm>
          <a:prstGeom prst="rect">
            <a:avLst/>
          </a:prstGeom>
          <a:solidFill>
            <a:srgbClr val="B1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9" name="path"/>
          <p:cNvSpPr/>
          <p:nvPr/>
        </p:nvSpPr>
        <p:spPr>
          <a:xfrm>
            <a:off x="8291576" y="2687447"/>
            <a:ext cx="316865" cy="287020"/>
          </a:xfrm>
          <a:custGeom>
            <a:avLst/>
            <a:gdLst/>
            <a:ahLst/>
            <a:cxnLst/>
            <a:rect l="0" t="0" r="0" b="0"/>
            <a:pathLst>
              <a:path w="499" h="452">
                <a:moveTo>
                  <a:pt x="0" y="172"/>
                </a:moveTo>
                <a:lnTo>
                  <a:pt x="190" y="172"/>
                </a:lnTo>
                <a:lnTo>
                  <a:pt x="249" y="0"/>
                </a:lnTo>
                <a:lnTo>
                  <a:pt x="308" y="172"/>
                </a:lnTo>
                <a:lnTo>
                  <a:pt x="499" y="172"/>
                </a:lnTo>
                <a:lnTo>
                  <a:pt x="344" y="279"/>
                </a:lnTo>
                <a:lnTo>
                  <a:pt x="403" y="452"/>
                </a:lnTo>
                <a:lnTo>
                  <a:pt x="249" y="345"/>
                </a:lnTo>
                <a:lnTo>
                  <a:pt x="95" y="452"/>
                </a:lnTo>
                <a:lnTo>
                  <a:pt x="154" y="279"/>
                </a:lnTo>
                <a:lnTo>
                  <a:pt x="0" y="172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rect"/>
          <p:cNvSpPr/>
          <p:nvPr/>
        </p:nvSpPr>
        <p:spPr>
          <a:xfrm>
            <a:off x="3384041" y="1131570"/>
            <a:ext cx="12700" cy="3471951"/>
          </a:xfrm>
          <a:prstGeom prst="rect">
            <a:avLst/>
          </a:prstGeom>
          <a:solidFill>
            <a:srgbClr val="BFBFB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1" name="rect"/>
          <p:cNvSpPr/>
          <p:nvPr/>
        </p:nvSpPr>
        <p:spPr>
          <a:xfrm>
            <a:off x="5472938" y="1131570"/>
            <a:ext cx="12700" cy="3439286"/>
          </a:xfrm>
          <a:prstGeom prst="rect">
            <a:avLst/>
          </a:prstGeom>
          <a:solidFill>
            <a:srgbClr val="BFBFB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path"/>
          <p:cNvSpPr/>
          <p:nvPr/>
        </p:nvSpPr>
        <p:spPr>
          <a:xfrm>
            <a:off x="1309497" y="3479419"/>
            <a:ext cx="7122160" cy="12700"/>
          </a:xfrm>
          <a:custGeom>
            <a:avLst/>
            <a:gdLst/>
            <a:ahLst/>
            <a:cxnLst/>
            <a:rect l="0" t="0" r="0" b="0"/>
            <a:pathLst>
              <a:path w="11216" h="20">
                <a:moveTo>
                  <a:pt x="0" y="10"/>
                </a:moveTo>
                <a:lnTo>
                  <a:pt x="11216" y="10"/>
                </a:lnTo>
              </a:path>
            </a:pathLst>
          </a:custGeom>
          <a:noFill/>
          <a:ln w="12700" cap="flat">
            <a:solidFill>
              <a:srgbClr val="BFBFB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" name="path"/>
          <p:cNvSpPr/>
          <p:nvPr/>
        </p:nvSpPr>
        <p:spPr>
          <a:xfrm>
            <a:off x="8145271" y="2625852"/>
            <a:ext cx="150368" cy="150241"/>
          </a:xfrm>
          <a:custGeom>
            <a:avLst/>
            <a:gdLst/>
            <a:ahLst/>
            <a:cxnLst/>
            <a:rect l="0" t="0" r="0" b="0"/>
            <a:pathLst>
              <a:path w="236" h="236">
                <a:moveTo>
                  <a:pt x="30" y="30"/>
                </a:moveTo>
                <a:cubicBezTo>
                  <a:pt x="127" y="30"/>
                  <a:pt x="206" y="108"/>
                  <a:pt x="206" y="206"/>
                </a:cubicBezTo>
              </a:path>
            </a:pathLst>
          </a:custGeom>
          <a:noFill/>
          <a:ln w="38100" cap="flat">
            <a:solidFill>
              <a:srgbClr val="B1000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rect"/>
          <p:cNvSpPr/>
          <p:nvPr/>
        </p:nvSpPr>
        <p:spPr>
          <a:xfrm>
            <a:off x="8257540" y="2757043"/>
            <a:ext cx="38100" cy="448944"/>
          </a:xfrm>
          <a:prstGeom prst="rect">
            <a:avLst/>
          </a:prstGeom>
          <a:solidFill>
            <a:srgbClr val="B1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" name="rect"/>
          <p:cNvSpPr/>
          <p:nvPr/>
        </p:nvSpPr>
        <p:spPr>
          <a:xfrm>
            <a:off x="5536438" y="2757043"/>
            <a:ext cx="38100" cy="448944"/>
          </a:xfrm>
          <a:prstGeom prst="rect">
            <a:avLst/>
          </a:prstGeom>
          <a:solidFill>
            <a:srgbClr val="B1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 rot="21600000">
            <a:off x="189981" y="2344673"/>
            <a:ext cx="7478404" cy="2606484"/>
            <a:chOff x="0" y="0"/>
            <a:chExt cx="7478404" cy="2606484"/>
          </a:xfrm>
        </p:grpSpPr>
        <p:grpSp>
          <p:nvGrpSpPr>
            <p:cNvPr id="32" name="group 32"/>
            <p:cNvGrpSpPr/>
            <p:nvPr/>
          </p:nvGrpSpPr>
          <p:grpSpPr>
            <a:xfrm rot="21600000">
              <a:off x="147761" y="0"/>
              <a:ext cx="7330643" cy="2606484"/>
              <a:chOff x="0" y="0"/>
              <a:chExt cx="7330643" cy="2606484"/>
            </a:xfrm>
          </p:grpSpPr>
          <p:sp>
            <p:nvSpPr>
              <p:cNvPr id="130" name="path"/>
              <p:cNvSpPr/>
              <p:nvPr/>
            </p:nvSpPr>
            <p:spPr>
              <a:xfrm>
                <a:off x="1317510" y="2382532"/>
                <a:ext cx="9525" cy="179997"/>
              </a:xfrm>
              <a:custGeom>
                <a:avLst/>
                <a:gdLst/>
                <a:ahLst/>
                <a:cxnLst/>
                <a:rect l="0" t="0" r="0" b="0"/>
                <a:pathLst>
                  <a:path w="15" h="283">
                    <a:moveTo>
                      <a:pt x="7" y="0"/>
                    </a:moveTo>
                    <a:lnTo>
                      <a:pt x="7" y="283"/>
                    </a:lnTo>
                  </a:path>
                </a:pathLst>
              </a:custGeom>
              <a:noFill/>
              <a:ln w="9525" cap="flat">
                <a:solidFill>
                  <a:srgbClr val="999999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path"/>
              <p:cNvSpPr/>
              <p:nvPr/>
            </p:nvSpPr>
            <p:spPr>
              <a:xfrm>
                <a:off x="0" y="0"/>
                <a:ext cx="7330643" cy="2606484"/>
              </a:xfrm>
              <a:custGeom>
                <a:avLst/>
                <a:gdLst/>
                <a:ahLst/>
                <a:cxnLst/>
                <a:rect l="0" t="0" r="0" b="0"/>
                <a:pathLst>
                  <a:path w="11544" h="4104">
                    <a:moveTo>
                      <a:pt x="10299" y="3528"/>
                    </a:moveTo>
                    <a:cubicBezTo>
                      <a:pt x="10492" y="3376"/>
                      <a:pt x="10492" y="3376"/>
                      <a:pt x="10492" y="3376"/>
                    </a:cubicBezTo>
                    <a:cubicBezTo>
                      <a:pt x="11544" y="3790"/>
                      <a:pt x="11544" y="3790"/>
                      <a:pt x="11544" y="3790"/>
                    </a:cubicBezTo>
                    <a:cubicBezTo>
                      <a:pt x="9561" y="4104"/>
                      <a:pt x="9561" y="4104"/>
                      <a:pt x="9561" y="4104"/>
                    </a:cubicBezTo>
                    <a:cubicBezTo>
                      <a:pt x="9807" y="3916"/>
                      <a:pt x="9807" y="3916"/>
                      <a:pt x="9807" y="3916"/>
                    </a:cubicBezTo>
                    <a:cubicBezTo>
                      <a:pt x="9481" y="3911"/>
                      <a:pt x="9155" y="3900"/>
                      <a:pt x="8836" y="3884"/>
                    </a:cubicBezTo>
                    <a:cubicBezTo>
                      <a:pt x="7917" y="3837"/>
                      <a:pt x="7039" y="3748"/>
                      <a:pt x="6187" y="3623"/>
                    </a:cubicBezTo>
                    <a:cubicBezTo>
                      <a:pt x="4644" y="3324"/>
                      <a:pt x="3845" y="2989"/>
                      <a:pt x="3799" y="2607"/>
                    </a:cubicBezTo>
                    <a:cubicBezTo>
                      <a:pt x="3739" y="2371"/>
                      <a:pt x="4032" y="2131"/>
                      <a:pt x="4670" y="1890"/>
                    </a:cubicBezTo>
                    <a:cubicBezTo>
                      <a:pt x="5482" y="1638"/>
                      <a:pt x="6028" y="1418"/>
                      <a:pt x="6307" y="1235"/>
                    </a:cubicBezTo>
                    <a:cubicBezTo>
                      <a:pt x="7006" y="680"/>
                      <a:pt x="4903" y="267"/>
                      <a:pt x="0" y="0"/>
                    </a:cubicBezTo>
                    <a:cubicBezTo>
                      <a:pt x="5016" y="162"/>
                      <a:pt x="7219" y="586"/>
                      <a:pt x="6607" y="1272"/>
                    </a:cubicBezTo>
                    <a:cubicBezTo>
                      <a:pt x="6440" y="1434"/>
                      <a:pt x="5961" y="1633"/>
                      <a:pt x="5169" y="1879"/>
                    </a:cubicBezTo>
                    <a:cubicBezTo>
                      <a:pt x="4418" y="2141"/>
                      <a:pt x="4198" y="2424"/>
                      <a:pt x="4511" y="2722"/>
                    </a:cubicBezTo>
                    <a:cubicBezTo>
                      <a:pt x="5063" y="3172"/>
                      <a:pt x="6500" y="3434"/>
                      <a:pt x="8836" y="3507"/>
                    </a:cubicBezTo>
                    <a:cubicBezTo>
                      <a:pt x="9288" y="3523"/>
                      <a:pt x="9780" y="3528"/>
                      <a:pt x="10299" y="3528"/>
                    </a:cubicBezTo>
                  </a:path>
                </a:pathLst>
              </a:custGeom>
              <a:solidFill>
                <a:srgbClr val="2897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2" name="path"/>
            <p:cNvSpPr/>
            <p:nvPr/>
          </p:nvSpPr>
          <p:spPr>
            <a:xfrm>
              <a:off x="3834012" y="1440997"/>
              <a:ext cx="736346" cy="481299"/>
            </a:xfrm>
            <a:custGeom>
              <a:avLst/>
              <a:gdLst/>
              <a:ahLst/>
              <a:cxnLst/>
              <a:rect l="0" t="0" r="0" b="0"/>
              <a:pathLst>
                <a:path w="1159" h="757">
                  <a:moveTo>
                    <a:pt x="0" y="53"/>
                  </a:moveTo>
                  <a:cubicBezTo>
                    <a:pt x="386" y="-105"/>
                    <a:pt x="773" y="211"/>
                    <a:pt x="1159" y="53"/>
                  </a:cubicBezTo>
                  <a:lnTo>
                    <a:pt x="1159" y="704"/>
                  </a:lnTo>
                  <a:cubicBezTo>
                    <a:pt x="773" y="863"/>
                    <a:pt x="386" y="546"/>
                    <a:pt x="0" y="704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6FBA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3" name="path"/>
            <p:cNvSpPr/>
            <p:nvPr/>
          </p:nvSpPr>
          <p:spPr>
            <a:xfrm>
              <a:off x="6085850" y="1667599"/>
              <a:ext cx="736345" cy="481265"/>
            </a:xfrm>
            <a:custGeom>
              <a:avLst/>
              <a:gdLst/>
              <a:ahLst/>
              <a:cxnLst/>
              <a:rect l="0" t="0" r="0" b="0"/>
              <a:pathLst>
                <a:path w="1159" h="757">
                  <a:moveTo>
                    <a:pt x="0" y="53"/>
                  </a:moveTo>
                  <a:cubicBezTo>
                    <a:pt x="386" y="-105"/>
                    <a:pt x="772" y="211"/>
                    <a:pt x="1159" y="53"/>
                  </a:cubicBezTo>
                  <a:lnTo>
                    <a:pt x="1159" y="704"/>
                  </a:lnTo>
                  <a:cubicBezTo>
                    <a:pt x="772" y="863"/>
                    <a:pt x="386" y="546"/>
                    <a:pt x="0" y="704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9BDBF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4" name="textbox 134"/>
            <p:cNvSpPr/>
            <p:nvPr/>
          </p:nvSpPr>
          <p:spPr>
            <a:xfrm>
              <a:off x="-12700" y="171393"/>
              <a:ext cx="6704330" cy="181800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lang="en-US" altLang="en-US" sz="100" dirty="0"/>
            </a:p>
            <a:p>
              <a:pPr marL="293370" algn="l" rtl="0" eaLnBrk="0">
                <a:lnSpc>
                  <a:spcPct val="95000"/>
                </a:lnSpc>
              </a:pPr>
              <a:r>
                <a:rPr sz="1100" spc="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GPT</a:t>
              </a:r>
              <a:r>
                <a:rPr sz="1100" spc="5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-1</a:t>
              </a:r>
              <a:r>
                <a:rPr sz="110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( 1.17亿</a:t>
              </a:r>
              <a:r>
                <a:rPr sz="110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</a:t>
              </a:r>
              <a:r>
                <a:rPr sz="110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数)</a:t>
              </a:r>
              <a:endParaRPr lang="en-US" altLang="en-US" sz="1100" dirty="0"/>
            </a:p>
            <a:p>
              <a:pPr marL="450215" algn="l" rtl="0" eaLnBrk="0">
                <a:lnSpc>
                  <a:spcPct val="98000"/>
                </a:lnSpc>
                <a:spcBef>
                  <a:spcPts val="65"/>
                </a:spcBef>
              </a:pPr>
              <a:r>
                <a:rPr sz="900" spc="8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有一定的泛化能力 ，能够</a:t>
              </a:r>
              <a:r>
                <a:rPr sz="900" spc="2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</a:t>
              </a:r>
              <a:endParaRPr lang="en-US" altLang="en-US" sz="900" dirty="0"/>
            </a:p>
            <a:p>
              <a:pPr marL="12700" algn="l" rtl="0" eaLnBrk="0">
                <a:lnSpc>
                  <a:spcPts val="1160"/>
                </a:lnSpc>
                <a:spcBef>
                  <a:spcPts val="40"/>
                </a:spcBef>
              </a:pPr>
              <a:r>
                <a:rPr sz="900" spc="11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于和监督任务无关的 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NLP</a:t>
              </a:r>
              <a:r>
                <a:rPr sz="900" spc="11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任务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</a:t>
              </a:r>
              <a:endParaRPr lang="en-US" altLang="en-US" sz="900" dirty="0"/>
            </a:p>
            <a:p>
              <a:pPr algn="l" rtl="0" eaLnBrk="0">
                <a:lnSpc>
                  <a:spcPct val="116000"/>
                </a:lnSpc>
              </a:pPr>
              <a:endParaRPr lang="en-US" altLang="en-US" sz="1000" dirty="0"/>
            </a:p>
            <a:p>
              <a:pPr marL="5000625" algn="l" rtl="0" eaLnBrk="0">
                <a:lnSpc>
                  <a:spcPct val="84000"/>
                </a:lnSpc>
                <a:spcBef>
                  <a:spcPts val="340"/>
                </a:spcBef>
              </a:pPr>
              <a:r>
                <a:rPr sz="1100" spc="4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InstructGP</a:t>
              </a:r>
              <a:r>
                <a:rPr sz="1100" spc="10" dirty="0">
                  <a:ln w="3175" cap="flat" cmpd="sng">
                    <a:solidFill>
                      <a:srgbClr val="000000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</a:t>
              </a:r>
              <a:endParaRPr lang="en-US" altLang="en-US" sz="1100" dirty="0"/>
            </a:p>
            <a:p>
              <a:pPr marL="4614545" indent="-3810" algn="l" rtl="0" eaLnBrk="0">
                <a:lnSpc>
                  <a:spcPct val="113000"/>
                </a:lnSpc>
                <a:spcBef>
                  <a:spcPts val="30"/>
                </a:spcBef>
              </a:pP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InstructGPT</a:t>
              </a:r>
              <a:r>
                <a:rPr sz="900" spc="20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是一个经过微</a:t>
              </a:r>
              <a:r>
                <a:rPr sz="900" spc="16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</a:t>
              </a:r>
              <a:r>
                <a:rPr sz="900" spc="8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的新版 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GPT</a:t>
              </a:r>
              <a:r>
                <a:rPr sz="900" spc="8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-3  ，可以将有</a:t>
              </a:r>
              <a:r>
                <a:rPr sz="900" spc="3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害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</a:t>
              </a:r>
              <a:r>
                <a:rPr sz="900" spc="7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 、  不真实的和有偏差的</a:t>
              </a:r>
              <a:r>
                <a:rPr sz="900" spc="3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</a:t>
              </a:r>
              <a:r>
                <a:rPr sz="900" spc="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</a:t>
              </a:r>
              <a:r>
                <a:rPr sz="900" spc="10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出最小</a:t>
              </a:r>
              <a:r>
                <a:rPr sz="900" spc="60" dirty="0">
                  <a:solidFill>
                    <a:srgbClr val="59595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</a:t>
              </a:r>
              <a:endParaRPr lang="en-US" altLang="en-US" sz="900" dirty="0"/>
            </a:p>
            <a:p>
              <a:pPr marL="3956685" algn="l" rtl="0" eaLnBrk="0">
                <a:lnSpc>
                  <a:spcPct val="84000"/>
                </a:lnSpc>
                <a:spcBef>
                  <a:spcPts val="155"/>
                </a:spcBef>
              </a:pPr>
              <a:r>
                <a:rPr sz="9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2022.0</a:t>
              </a:r>
              <a:r>
                <a:rPr sz="90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en-US" sz="900" dirty="0"/>
            </a:p>
            <a:p>
              <a:pPr algn="l" rtl="0" eaLnBrk="0">
                <a:lnSpc>
                  <a:spcPct val="114000"/>
                </a:lnSpc>
              </a:pPr>
              <a:endParaRPr lang="en-US" altLang="en-US" sz="600" dirty="0"/>
            </a:p>
            <a:p>
              <a:pPr algn="r" rtl="0" eaLnBrk="0">
                <a:lnSpc>
                  <a:spcPct val="84000"/>
                </a:lnSpc>
              </a:pPr>
              <a:r>
                <a:rPr sz="9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2022.1</a:t>
              </a:r>
              <a:r>
                <a:rPr sz="90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en-US" sz="900" dirty="0"/>
            </a:p>
          </p:txBody>
        </p:sp>
        <p:sp>
          <p:nvSpPr>
            <p:cNvPr id="135" name="path"/>
            <p:cNvSpPr/>
            <p:nvPr/>
          </p:nvSpPr>
          <p:spPr>
            <a:xfrm>
              <a:off x="2902214" y="711383"/>
              <a:ext cx="708152" cy="408258"/>
            </a:xfrm>
            <a:custGeom>
              <a:avLst/>
              <a:gdLst/>
              <a:ahLst/>
              <a:cxnLst/>
              <a:rect l="0" t="0" r="0" b="0"/>
              <a:pathLst>
                <a:path w="1115" h="642">
                  <a:moveTo>
                    <a:pt x="0" y="46"/>
                  </a:moveTo>
                  <a:cubicBezTo>
                    <a:pt x="371" y="-87"/>
                    <a:pt x="743" y="179"/>
                    <a:pt x="1115" y="46"/>
                  </a:cubicBezTo>
                  <a:lnTo>
                    <a:pt x="1115" y="596"/>
                  </a:lnTo>
                  <a:cubicBezTo>
                    <a:pt x="743" y="730"/>
                    <a:pt x="371" y="462"/>
                    <a:pt x="0" y="596"/>
                  </a:cubicBezTo>
                  <a:lnTo>
                    <a:pt x="0" y="46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" name="path"/>
            <p:cNvSpPr/>
            <p:nvPr/>
          </p:nvSpPr>
          <p:spPr>
            <a:xfrm>
              <a:off x="2775722" y="1621421"/>
              <a:ext cx="202310" cy="47815"/>
            </a:xfrm>
            <a:custGeom>
              <a:avLst/>
              <a:gdLst/>
              <a:ahLst/>
              <a:cxnLst/>
              <a:rect l="0" t="0" r="0" b="0"/>
              <a:pathLst>
                <a:path w="318" h="75">
                  <a:moveTo>
                    <a:pt x="0" y="0"/>
                  </a:moveTo>
                  <a:cubicBezTo>
                    <a:pt x="0" y="5"/>
                    <a:pt x="71" y="10"/>
                    <a:pt x="159" y="10"/>
                  </a:cubicBezTo>
                  <a:cubicBezTo>
                    <a:pt x="247" y="10"/>
                    <a:pt x="318" y="5"/>
                    <a:pt x="318" y="0"/>
                  </a:cubicBezTo>
                  <a:lnTo>
                    <a:pt x="318" y="0"/>
                  </a:lnTo>
                  <a:lnTo>
                    <a:pt x="318" y="64"/>
                  </a:lnTo>
                  <a:lnTo>
                    <a:pt x="318" y="64"/>
                  </a:lnTo>
                  <a:cubicBezTo>
                    <a:pt x="318" y="70"/>
                    <a:pt x="247" y="75"/>
                    <a:pt x="159" y="75"/>
                  </a:cubicBezTo>
                  <a:cubicBezTo>
                    <a:pt x="71" y="75"/>
                    <a:pt x="0" y="70"/>
                    <a:pt x="0" y="64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34" name="group 34"/>
            <p:cNvGrpSpPr/>
            <p:nvPr/>
          </p:nvGrpSpPr>
          <p:grpSpPr>
            <a:xfrm rot="21600000">
              <a:off x="2775722" y="721486"/>
              <a:ext cx="202310" cy="906754"/>
              <a:chOff x="0" y="0"/>
              <a:chExt cx="202310" cy="906754"/>
            </a:xfrm>
          </p:grpSpPr>
          <p:sp>
            <p:nvSpPr>
              <p:cNvPr id="137" name="path"/>
              <p:cNvSpPr/>
              <p:nvPr/>
            </p:nvSpPr>
            <p:spPr>
              <a:xfrm>
                <a:off x="0" y="893102"/>
                <a:ext cx="202310" cy="13652"/>
              </a:xfrm>
              <a:custGeom>
                <a:avLst/>
                <a:gdLst/>
                <a:ahLst/>
                <a:cxnLst/>
                <a:rect l="0" t="0" r="0" b="0"/>
                <a:pathLst>
                  <a:path w="318" h="21">
                    <a:moveTo>
                      <a:pt x="0" y="10"/>
                    </a:moveTo>
                    <a:cubicBezTo>
                      <a:pt x="0" y="4"/>
                      <a:pt x="71" y="0"/>
                      <a:pt x="159" y="0"/>
                    </a:cubicBezTo>
                    <a:cubicBezTo>
                      <a:pt x="247" y="0"/>
                      <a:pt x="318" y="4"/>
                      <a:pt x="318" y="10"/>
                    </a:cubicBezTo>
                    <a:cubicBezTo>
                      <a:pt x="318" y="10"/>
                      <a:pt x="318" y="10"/>
                      <a:pt x="318" y="10"/>
                    </a:cubicBezTo>
                    <a:lnTo>
                      <a:pt x="318" y="10"/>
                    </a:lnTo>
                    <a:cubicBezTo>
                      <a:pt x="318" y="16"/>
                      <a:pt x="247" y="21"/>
                      <a:pt x="159" y="21"/>
                    </a:cubicBezTo>
                    <a:cubicBezTo>
                      <a:pt x="71" y="21"/>
                      <a:pt x="0" y="16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</a:path>
                </a:pathLst>
              </a:custGeom>
              <a:solidFill>
                <a:srgbClr val="66A9D9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path"/>
              <p:cNvSpPr/>
              <p:nvPr/>
            </p:nvSpPr>
            <p:spPr>
              <a:xfrm>
                <a:off x="75945" y="0"/>
                <a:ext cx="50545" cy="904481"/>
              </a:xfrm>
              <a:custGeom>
                <a:avLst/>
                <a:gdLst/>
                <a:ahLst/>
                <a:cxnLst/>
                <a:rect l="0" t="0" r="0" b="0"/>
                <a:pathLst>
                  <a:path w="79" h="1424">
                    <a:moveTo>
                      <a:pt x="0" y="0"/>
                    </a:moveTo>
                    <a:cubicBezTo>
                      <a:pt x="0" y="5"/>
                      <a:pt x="17" y="10"/>
                      <a:pt x="39" y="10"/>
                    </a:cubicBezTo>
                    <a:cubicBezTo>
                      <a:pt x="61" y="10"/>
                      <a:pt x="79" y="5"/>
                      <a:pt x="79" y="0"/>
                    </a:cubicBezTo>
                    <a:lnTo>
                      <a:pt x="79" y="0"/>
                    </a:lnTo>
                    <a:lnTo>
                      <a:pt x="79" y="1414"/>
                    </a:lnTo>
                    <a:lnTo>
                      <a:pt x="79" y="1414"/>
                    </a:lnTo>
                    <a:cubicBezTo>
                      <a:pt x="79" y="1419"/>
                      <a:pt x="61" y="1424"/>
                      <a:pt x="39" y="1424"/>
                    </a:cubicBezTo>
                    <a:cubicBezTo>
                      <a:pt x="17" y="1424"/>
                      <a:pt x="0" y="1419"/>
                      <a:pt x="0" y="1414"/>
                    </a:cubicBezTo>
                    <a:cubicBezTo>
                      <a:pt x="0" y="1414"/>
                      <a:pt x="0" y="1414"/>
                      <a:pt x="0" y="141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21600000">
              <a:off x="3702441" y="2265057"/>
              <a:ext cx="210439" cy="64655"/>
              <a:chOff x="0" y="0"/>
              <a:chExt cx="210439" cy="64655"/>
            </a:xfrm>
          </p:grpSpPr>
          <p:sp>
            <p:nvSpPr>
              <p:cNvPr id="139" name="path"/>
              <p:cNvSpPr/>
              <p:nvPr/>
            </p:nvSpPr>
            <p:spPr>
              <a:xfrm>
                <a:off x="0" y="8077"/>
                <a:ext cx="210439" cy="56578"/>
              </a:xfrm>
              <a:custGeom>
                <a:avLst/>
                <a:gdLst/>
                <a:ahLst/>
                <a:cxnLst/>
                <a:rect l="0" t="0" r="0" b="0"/>
                <a:pathLst>
                  <a:path w="331" h="89">
                    <a:moveTo>
                      <a:pt x="0" y="0"/>
                    </a:moveTo>
                    <a:cubicBezTo>
                      <a:pt x="0" y="7"/>
                      <a:pt x="74" y="12"/>
                      <a:pt x="165" y="12"/>
                    </a:cubicBezTo>
                    <a:cubicBezTo>
                      <a:pt x="257" y="12"/>
                      <a:pt x="331" y="7"/>
                      <a:pt x="331" y="0"/>
                    </a:cubicBezTo>
                    <a:lnTo>
                      <a:pt x="331" y="0"/>
                    </a:lnTo>
                    <a:lnTo>
                      <a:pt x="331" y="76"/>
                    </a:lnTo>
                    <a:lnTo>
                      <a:pt x="331" y="76"/>
                    </a:lnTo>
                    <a:cubicBezTo>
                      <a:pt x="331" y="83"/>
                      <a:pt x="257" y="89"/>
                      <a:pt x="165" y="89"/>
                    </a:cubicBezTo>
                    <a:cubicBezTo>
                      <a:pt x="74" y="89"/>
                      <a:pt x="0" y="83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FBA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path"/>
              <p:cNvSpPr/>
              <p:nvPr/>
            </p:nvSpPr>
            <p:spPr>
              <a:xfrm>
                <a:off x="0" y="0"/>
                <a:ext cx="210439" cy="16167"/>
              </a:xfrm>
              <a:custGeom>
                <a:avLst/>
                <a:gdLst/>
                <a:ahLst/>
                <a:cxnLst/>
                <a:rect l="0" t="0" r="0" b="0"/>
                <a:pathLst>
                  <a:path w="331" h="25">
                    <a:moveTo>
                      <a:pt x="0" y="12"/>
                    </a:moveTo>
                    <a:cubicBezTo>
                      <a:pt x="0" y="5"/>
                      <a:pt x="74" y="0"/>
                      <a:pt x="165" y="0"/>
                    </a:cubicBezTo>
                    <a:cubicBezTo>
                      <a:pt x="257" y="0"/>
                      <a:pt x="331" y="5"/>
                      <a:pt x="331" y="12"/>
                    </a:cubicBezTo>
                    <a:cubicBezTo>
                      <a:pt x="331" y="12"/>
                      <a:pt x="331" y="12"/>
                      <a:pt x="331" y="12"/>
                    </a:cubicBezTo>
                    <a:lnTo>
                      <a:pt x="331" y="12"/>
                    </a:lnTo>
                    <a:cubicBezTo>
                      <a:pt x="331" y="19"/>
                      <a:pt x="257" y="25"/>
                      <a:pt x="165" y="25"/>
                    </a:cubicBezTo>
                    <a:cubicBezTo>
                      <a:pt x="74" y="25"/>
                      <a:pt x="0" y="19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solidFill>
                <a:srgbClr val="A9D6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21600000">
              <a:off x="3781308" y="1444625"/>
              <a:ext cx="59816" cy="892098"/>
              <a:chOff x="0" y="0"/>
              <a:chExt cx="59816" cy="892098"/>
            </a:xfrm>
          </p:grpSpPr>
          <p:sp>
            <p:nvSpPr>
              <p:cNvPr id="141" name="path"/>
              <p:cNvSpPr/>
              <p:nvPr/>
            </p:nvSpPr>
            <p:spPr>
              <a:xfrm>
                <a:off x="0" y="7492"/>
                <a:ext cx="59816" cy="884605"/>
              </a:xfrm>
              <a:custGeom>
                <a:avLst/>
                <a:gdLst/>
                <a:ahLst/>
                <a:cxnLst/>
                <a:rect l="0" t="0" r="0" b="0"/>
                <a:pathLst>
                  <a:path w="94" h="1393">
                    <a:moveTo>
                      <a:pt x="0" y="0"/>
                    </a:moveTo>
                    <a:cubicBezTo>
                      <a:pt x="0" y="6"/>
                      <a:pt x="21" y="11"/>
                      <a:pt x="47" y="11"/>
                    </a:cubicBezTo>
                    <a:cubicBezTo>
                      <a:pt x="73" y="11"/>
                      <a:pt x="94" y="6"/>
                      <a:pt x="94" y="0"/>
                    </a:cubicBezTo>
                    <a:lnTo>
                      <a:pt x="94" y="0"/>
                    </a:lnTo>
                    <a:lnTo>
                      <a:pt x="94" y="1381"/>
                    </a:lnTo>
                    <a:lnTo>
                      <a:pt x="94" y="1381"/>
                    </a:lnTo>
                    <a:cubicBezTo>
                      <a:pt x="94" y="1387"/>
                      <a:pt x="73" y="1393"/>
                      <a:pt x="47" y="1393"/>
                    </a:cubicBezTo>
                    <a:cubicBezTo>
                      <a:pt x="21" y="1393"/>
                      <a:pt x="0" y="1387"/>
                      <a:pt x="0" y="1381"/>
                    </a:cubicBezTo>
                    <a:cubicBezTo>
                      <a:pt x="0" y="1381"/>
                      <a:pt x="0" y="1381"/>
                      <a:pt x="0" y="138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FBA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path"/>
              <p:cNvSpPr/>
              <p:nvPr/>
            </p:nvSpPr>
            <p:spPr>
              <a:xfrm>
                <a:off x="0" y="0"/>
                <a:ext cx="59816" cy="14858"/>
              </a:xfrm>
              <a:custGeom>
                <a:avLst/>
                <a:gdLst/>
                <a:ahLst/>
                <a:cxnLst/>
                <a:rect l="0" t="0" r="0" b="0"/>
                <a:pathLst>
                  <a:path w="94" h="23">
                    <a:moveTo>
                      <a:pt x="0" y="11"/>
                    </a:moveTo>
                    <a:cubicBezTo>
                      <a:pt x="0" y="5"/>
                      <a:pt x="21" y="0"/>
                      <a:pt x="47" y="0"/>
                    </a:cubicBezTo>
                    <a:cubicBezTo>
                      <a:pt x="73" y="0"/>
                      <a:pt x="94" y="5"/>
                      <a:pt x="94" y="11"/>
                    </a:cubicBezTo>
                    <a:cubicBezTo>
                      <a:pt x="94" y="11"/>
                      <a:pt x="94" y="11"/>
                      <a:pt x="94" y="11"/>
                    </a:cubicBezTo>
                    <a:lnTo>
                      <a:pt x="94" y="11"/>
                    </a:lnTo>
                    <a:cubicBezTo>
                      <a:pt x="94" y="18"/>
                      <a:pt x="73" y="23"/>
                      <a:pt x="47" y="23"/>
                    </a:cubicBezTo>
                    <a:cubicBezTo>
                      <a:pt x="21" y="23"/>
                      <a:pt x="0" y="18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</a:path>
                </a:pathLst>
              </a:custGeom>
              <a:solidFill>
                <a:srgbClr val="A9D6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21600000">
              <a:off x="5954278" y="2491613"/>
              <a:ext cx="210439" cy="64655"/>
              <a:chOff x="0" y="0"/>
              <a:chExt cx="210439" cy="64655"/>
            </a:xfrm>
          </p:grpSpPr>
          <p:sp>
            <p:nvSpPr>
              <p:cNvPr id="143" name="path"/>
              <p:cNvSpPr/>
              <p:nvPr/>
            </p:nvSpPr>
            <p:spPr>
              <a:xfrm>
                <a:off x="0" y="8089"/>
                <a:ext cx="210439" cy="56565"/>
              </a:xfrm>
              <a:custGeom>
                <a:avLst/>
                <a:gdLst/>
                <a:ahLst/>
                <a:cxnLst/>
                <a:rect l="0" t="0" r="0" b="0"/>
                <a:pathLst>
                  <a:path w="331" h="89">
                    <a:moveTo>
                      <a:pt x="0" y="0"/>
                    </a:moveTo>
                    <a:cubicBezTo>
                      <a:pt x="0" y="7"/>
                      <a:pt x="74" y="12"/>
                      <a:pt x="165" y="12"/>
                    </a:cubicBezTo>
                    <a:cubicBezTo>
                      <a:pt x="257" y="12"/>
                      <a:pt x="331" y="7"/>
                      <a:pt x="331" y="0"/>
                    </a:cubicBezTo>
                    <a:lnTo>
                      <a:pt x="331" y="0"/>
                    </a:lnTo>
                    <a:lnTo>
                      <a:pt x="331" y="76"/>
                    </a:lnTo>
                    <a:lnTo>
                      <a:pt x="331" y="76"/>
                    </a:lnTo>
                    <a:cubicBezTo>
                      <a:pt x="331" y="83"/>
                      <a:pt x="257" y="89"/>
                      <a:pt x="165" y="89"/>
                    </a:cubicBezTo>
                    <a:cubicBezTo>
                      <a:pt x="74" y="89"/>
                      <a:pt x="0" y="83"/>
                      <a:pt x="0" y="76"/>
                    </a:cubicBezTo>
                    <a:cubicBezTo>
                      <a:pt x="0" y="76"/>
                      <a:pt x="0" y="76"/>
                      <a:pt x="0" y="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DBF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path"/>
              <p:cNvSpPr/>
              <p:nvPr/>
            </p:nvSpPr>
            <p:spPr>
              <a:xfrm>
                <a:off x="0" y="0"/>
                <a:ext cx="210439" cy="16167"/>
              </a:xfrm>
              <a:custGeom>
                <a:avLst/>
                <a:gdLst/>
                <a:ahLst/>
                <a:cxnLst/>
                <a:rect l="0" t="0" r="0" b="0"/>
                <a:pathLst>
                  <a:path w="331" h="25">
                    <a:moveTo>
                      <a:pt x="0" y="12"/>
                    </a:moveTo>
                    <a:cubicBezTo>
                      <a:pt x="0" y="5"/>
                      <a:pt x="74" y="0"/>
                      <a:pt x="165" y="0"/>
                    </a:cubicBezTo>
                    <a:cubicBezTo>
                      <a:pt x="257" y="0"/>
                      <a:pt x="331" y="5"/>
                      <a:pt x="331" y="12"/>
                    </a:cubicBezTo>
                    <a:cubicBezTo>
                      <a:pt x="331" y="12"/>
                      <a:pt x="331" y="12"/>
                      <a:pt x="331" y="12"/>
                    </a:cubicBezTo>
                    <a:lnTo>
                      <a:pt x="331" y="12"/>
                    </a:lnTo>
                    <a:cubicBezTo>
                      <a:pt x="331" y="19"/>
                      <a:pt x="257" y="25"/>
                      <a:pt x="165" y="25"/>
                    </a:cubicBezTo>
                    <a:cubicBezTo>
                      <a:pt x="74" y="25"/>
                      <a:pt x="0" y="19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</a:path>
                </a:pathLst>
              </a:custGeom>
              <a:solidFill>
                <a:srgbClr val="C3E9F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21600000">
              <a:off x="6033272" y="1671154"/>
              <a:ext cx="59690" cy="892124"/>
              <a:chOff x="0" y="0"/>
              <a:chExt cx="59690" cy="892124"/>
            </a:xfrm>
          </p:grpSpPr>
          <p:sp>
            <p:nvSpPr>
              <p:cNvPr id="145" name="path"/>
              <p:cNvSpPr/>
              <p:nvPr/>
            </p:nvSpPr>
            <p:spPr>
              <a:xfrm>
                <a:off x="0" y="7467"/>
                <a:ext cx="59690" cy="884656"/>
              </a:xfrm>
              <a:custGeom>
                <a:avLst/>
                <a:gdLst/>
                <a:ahLst/>
                <a:cxnLst/>
                <a:rect l="0" t="0" r="0" b="0"/>
                <a:pathLst>
                  <a:path w="94" h="1393">
                    <a:moveTo>
                      <a:pt x="0" y="0"/>
                    </a:moveTo>
                    <a:cubicBezTo>
                      <a:pt x="0" y="6"/>
                      <a:pt x="21" y="11"/>
                      <a:pt x="47" y="11"/>
                    </a:cubicBezTo>
                    <a:cubicBezTo>
                      <a:pt x="73" y="11"/>
                      <a:pt x="94" y="6"/>
                      <a:pt x="94" y="0"/>
                    </a:cubicBezTo>
                    <a:lnTo>
                      <a:pt x="94" y="0"/>
                    </a:lnTo>
                    <a:lnTo>
                      <a:pt x="94" y="1381"/>
                    </a:lnTo>
                    <a:lnTo>
                      <a:pt x="94" y="1381"/>
                    </a:lnTo>
                    <a:cubicBezTo>
                      <a:pt x="94" y="1387"/>
                      <a:pt x="73" y="1393"/>
                      <a:pt x="47" y="1393"/>
                    </a:cubicBezTo>
                    <a:cubicBezTo>
                      <a:pt x="21" y="1393"/>
                      <a:pt x="0" y="1387"/>
                      <a:pt x="0" y="1381"/>
                    </a:cubicBezTo>
                    <a:cubicBezTo>
                      <a:pt x="0" y="1381"/>
                      <a:pt x="0" y="1381"/>
                      <a:pt x="0" y="138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DBF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path"/>
              <p:cNvSpPr/>
              <p:nvPr/>
            </p:nvSpPr>
            <p:spPr>
              <a:xfrm>
                <a:off x="0" y="0"/>
                <a:ext cx="59690" cy="14935"/>
              </a:xfrm>
              <a:custGeom>
                <a:avLst/>
                <a:gdLst/>
                <a:ahLst/>
                <a:cxnLst/>
                <a:rect l="0" t="0" r="0" b="0"/>
                <a:pathLst>
                  <a:path w="94" h="23">
                    <a:moveTo>
                      <a:pt x="0" y="11"/>
                    </a:moveTo>
                    <a:cubicBezTo>
                      <a:pt x="0" y="5"/>
                      <a:pt x="21" y="0"/>
                      <a:pt x="47" y="0"/>
                    </a:cubicBezTo>
                    <a:cubicBezTo>
                      <a:pt x="73" y="0"/>
                      <a:pt x="94" y="5"/>
                      <a:pt x="94" y="11"/>
                    </a:cubicBezTo>
                    <a:cubicBezTo>
                      <a:pt x="94" y="11"/>
                      <a:pt x="94" y="11"/>
                      <a:pt x="94" y="11"/>
                    </a:cubicBezTo>
                    <a:lnTo>
                      <a:pt x="94" y="11"/>
                    </a:lnTo>
                    <a:cubicBezTo>
                      <a:pt x="94" y="18"/>
                      <a:pt x="73" y="23"/>
                      <a:pt x="47" y="23"/>
                    </a:cubicBezTo>
                    <a:cubicBezTo>
                      <a:pt x="21" y="23"/>
                      <a:pt x="0" y="18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</a:path>
                </a:pathLst>
              </a:custGeom>
              <a:solidFill>
                <a:srgbClr val="C3E9FA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7" name="rect"/>
            <p:cNvSpPr/>
            <p:nvPr/>
          </p:nvSpPr>
          <p:spPr>
            <a:xfrm>
              <a:off x="3460632" y="340614"/>
              <a:ext cx="164846" cy="44322"/>
            </a:xfrm>
            <a:prstGeom prst="rect">
              <a:avLst/>
            </a:prstGeom>
            <a:solidFill>
              <a:srgbClr val="00407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44" name="group 44"/>
            <p:cNvGrpSpPr/>
            <p:nvPr/>
          </p:nvGrpSpPr>
          <p:grpSpPr>
            <a:xfrm rot="21600000">
              <a:off x="771052" y="54736"/>
              <a:ext cx="125145" cy="32258"/>
              <a:chOff x="0" y="0"/>
              <a:chExt cx="125145" cy="32258"/>
            </a:xfrm>
          </p:grpSpPr>
          <p:sp>
            <p:nvSpPr>
              <p:cNvPr id="148" name="path"/>
              <p:cNvSpPr/>
              <p:nvPr/>
            </p:nvSpPr>
            <p:spPr>
              <a:xfrm>
                <a:off x="0" y="3937"/>
                <a:ext cx="125145" cy="28320"/>
              </a:xfrm>
              <a:custGeom>
                <a:avLst/>
                <a:gdLst/>
                <a:ahLst/>
                <a:cxnLst/>
                <a:rect l="0" t="0" r="0" b="0"/>
                <a:pathLst>
                  <a:path w="197" h="44">
                    <a:moveTo>
                      <a:pt x="0" y="0"/>
                    </a:moveTo>
                    <a:cubicBezTo>
                      <a:pt x="0" y="3"/>
                      <a:pt x="44" y="6"/>
                      <a:pt x="98" y="6"/>
                    </a:cubicBezTo>
                    <a:cubicBezTo>
                      <a:pt x="152" y="6"/>
                      <a:pt x="197" y="3"/>
                      <a:pt x="197" y="0"/>
                    </a:cubicBezTo>
                    <a:lnTo>
                      <a:pt x="197" y="0"/>
                    </a:lnTo>
                    <a:lnTo>
                      <a:pt x="197" y="38"/>
                    </a:lnTo>
                    <a:lnTo>
                      <a:pt x="197" y="38"/>
                    </a:lnTo>
                    <a:cubicBezTo>
                      <a:pt x="197" y="41"/>
                      <a:pt x="152" y="44"/>
                      <a:pt x="98" y="44"/>
                    </a:cubicBezTo>
                    <a:cubicBezTo>
                      <a:pt x="44" y="44"/>
                      <a:pt x="0" y="41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path"/>
              <p:cNvSpPr/>
              <p:nvPr/>
            </p:nvSpPr>
            <p:spPr>
              <a:xfrm>
                <a:off x="12" y="0"/>
                <a:ext cx="125133" cy="8001"/>
              </a:xfrm>
              <a:custGeom>
                <a:avLst/>
                <a:gdLst/>
                <a:ahLst/>
                <a:cxnLst/>
                <a:rect l="0" t="0" r="0" b="0"/>
                <a:pathLst>
                  <a:path w="197" h="12">
                    <a:moveTo>
                      <a:pt x="0" y="6"/>
                    </a:moveTo>
                    <a:cubicBezTo>
                      <a:pt x="0" y="2"/>
                      <a:pt x="44" y="0"/>
                      <a:pt x="98" y="0"/>
                    </a:cubicBezTo>
                    <a:cubicBezTo>
                      <a:pt x="152" y="0"/>
                      <a:pt x="197" y="2"/>
                      <a:pt x="197" y="6"/>
                    </a:cubicBezTo>
                    <a:cubicBezTo>
                      <a:pt x="197" y="6"/>
                      <a:pt x="197" y="6"/>
                      <a:pt x="197" y="6"/>
                    </a:cubicBezTo>
                    <a:lnTo>
                      <a:pt x="197" y="6"/>
                    </a:lnTo>
                    <a:cubicBezTo>
                      <a:pt x="197" y="9"/>
                      <a:pt x="152" y="12"/>
                      <a:pt x="98" y="12"/>
                    </a:cubicBezTo>
                    <a:cubicBezTo>
                      <a:pt x="44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</a:path>
                </a:pathLst>
              </a:custGeom>
              <a:solidFill>
                <a:srgbClr val="D96666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0" name="path"/>
            <p:cNvSpPr/>
            <p:nvPr/>
          </p:nvSpPr>
          <p:spPr>
            <a:xfrm>
              <a:off x="2851668" y="715136"/>
              <a:ext cx="50545" cy="12700"/>
            </a:xfrm>
            <a:custGeom>
              <a:avLst/>
              <a:gdLst/>
              <a:ahLst/>
              <a:cxnLst/>
              <a:rect l="0" t="0" r="0" b="0"/>
              <a:pathLst>
                <a:path w="79" h="20">
                  <a:moveTo>
                    <a:pt x="0" y="10"/>
                  </a:moveTo>
                  <a:cubicBezTo>
                    <a:pt x="0" y="4"/>
                    <a:pt x="17" y="0"/>
                    <a:pt x="39" y="0"/>
                  </a:cubicBezTo>
                  <a:cubicBezTo>
                    <a:pt x="61" y="0"/>
                    <a:pt x="79" y="4"/>
                    <a:pt x="79" y="10"/>
                  </a:cubicBezTo>
                  <a:cubicBezTo>
                    <a:pt x="79" y="10"/>
                    <a:pt x="79" y="10"/>
                    <a:pt x="79" y="10"/>
                  </a:cubicBezTo>
                  <a:lnTo>
                    <a:pt x="79" y="10"/>
                  </a:lnTo>
                  <a:cubicBezTo>
                    <a:pt x="79" y="15"/>
                    <a:pt x="61" y="20"/>
                    <a:pt x="39" y="20"/>
                  </a:cubicBezTo>
                  <a:cubicBezTo>
                    <a:pt x="17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solidFill>
              <a:srgbClr val="66A9D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textbox 152"/>
          <p:cNvSpPr/>
          <p:nvPr/>
        </p:nvSpPr>
        <p:spPr>
          <a:xfrm>
            <a:off x="-12700" y="124277"/>
            <a:ext cx="8827134" cy="18199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lang="en-US" sz="1000" spc="0" dirty="0" err="1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</a:t>
            </a:r>
            <a:r>
              <a:rPr lang="en-US"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lang="zh-CN" altLang="en-US"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lang="zh-CN" altLang="en-US"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zh-CN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是在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基础上进一步开发的自然语言处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理模型</a:t>
            </a:r>
            <a:endParaRPr lang="en-US" altLang="en-US" sz="2000" dirty="0"/>
          </a:p>
          <a:p>
            <a:pPr marL="251460" algn="l" rtl="0" eaLnBrk="0">
              <a:lnSpc>
                <a:spcPct val="96000"/>
              </a:lnSpc>
              <a:spcBef>
                <a:spcPts val="137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5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模型是一种自然语言处理(</a:t>
            </a:r>
            <a:r>
              <a:rPr sz="1200" spc="5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NLP</a:t>
            </a:r>
            <a:r>
              <a:rPr sz="1200" spc="5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)模型，使用多层变换器(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Transformer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)来预测下一个单词的概率分布，通过训练在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</a:t>
            </a:r>
            <a:endParaRPr lang="en-US" altLang="en-US" sz="1200" dirty="0"/>
          </a:p>
          <a:p>
            <a:pPr marL="528320" algn="l" rtl="0" eaLnBrk="0">
              <a:lnSpc>
                <a:spcPct val="97000"/>
              </a:lnSpc>
              <a:spcBef>
                <a:spcPts val="805"/>
              </a:spcBef>
            </a:pP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型文本语料库上学习到的语言模式来生成自然语言文本</a:t>
            </a:r>
            <a:endParaRPr lang="en-US" altLang="en-US" sz="1200" dirty="0"/>
          </a:p>
          <a:p>
            <a:pPr marL="251460" algn="l" rtl="0" eaLnBrk="0">
              <a:lnSpc>
                <a:spcPct val="97000"/>
              </a:lnSpc>
              <a:spcBef>
                <a:spcPts val="76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GPT-1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GPT-3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智能化程度不断提升，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tGPT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的到来也是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-4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正式推出之前的序章</a:t>
            </a:r>
            <a:endParaRPr lang="en-US" altLang="en-US" sz="1200" dirty="0"/>
          </a:p>
          <a:p>
            <a:pPr algn="l" rtl="0" eaLnBrk="0">
              <a:lnSpc>
                <a:spcPct val="103000"/>
              </a:lnSpc>
            </a:pPr>
            <a:endParaRPr lang="en-US" altLang="en-US" sz="300" dirty="0"/>
          </a:p>
          <a:p>
            <a:pPr marL="2722245" algn="l" rtl="0" eaLnBrk="0">
              <a:lnSpc>
                <a:spcPct val="98000"/>
              </a:lnSpc>
              <a:spcBef>
                <a:spcPts val="0"/>
              </a:spcBef>
            </a:pP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图3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-1到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InstructGPT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模型的不断成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熟而逐步形成</a:t>
            </a:r>
            <a:endParaRPr lang="en-US" altLang="en-US" sz="900" dirty="0"/>
          </a:p>
        </p:txBody>
      </p:sp>
      <p:pic>
        <p:nvPicPr>
          <p:cNvPr id="153" name="picture 1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595373"/>
            <a:ext cx="88239" cy="100584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55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1021658" y="3312230"/>
            <a:ext cx="1725929" cy="12534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32715" algn="l" rtl="0" eaLnBrk="0">
              <a:lnSpc>
                <a:spcPct val="95000"/>
              </a:lnSpc>
            </a:pP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1100" spc="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( 1750亿</a:t>
            </a:r>
            <a:r>
              <a:rPr sz="11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</a:t>
            </a:r>
            <a:r>
              <a:rPr sz="11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数)</a:t>
            </a:r>
            <a:endParaRPr lang="en-US" altLang="en-US" sz="1100" dirty="0"/>
          </a:p>
          <a:p>
            <a:pPr marL="12700" indent="5080" algn="l" rtl="0" eaLnBrk="0">
              <a:lnSpc>
                <a:spcPct val="111000"/>
              </a:lnSpc>
              <a:spcBef>
                <a:spcPts val="25"/>
              </a:spcBef>
            </a:pP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 作为一个自监督模型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</a:t>
            </a:r>
            <a:r>
              <a:rPr sz="90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可以完成自然语言处理的绝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部分任务：将网页描述转换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相应代码、  模仿人类叙事、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创 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作定制诗歌、  生成游戏剧本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 </a:t>
            </a:r>
            <a:r>
              <a:rPr sz="90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甚至模仿已故的哲学家预测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命的真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谛</a:t>
            </a:r>
            <a:endParaRPr lang="en-US" altLang="en-US" sz="900" dirty="0"/>
          </a:p>
        </p:txBody>
      </p:sp>
      <p:sp>
        <p:nvSpPr>
          <p:cNvPr id="157" name="textbox 157"/>
          <p:cNvSpPr/>
          <p:nvPr/>
        </p:nvSpPr>
        <p:spPr>
          <a:xfrm>
            <a:off x="4447662" y="2235630"/>
            <a:ext cx="2800350" cy="6343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indent="6985" algn="l" rtl="0" eaLnBrk="0">
              <a:lnSpc>
                <a:spcPct val="111000"/>
              </a:lnSpc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除了理解能力外 ，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 在生成方面表现出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强大的天赋：阅读摘要 、  聊天 、  续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 编故事 ，  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甚至可以生成假新闻 、  钓鱼邮件或在线进行</a:t>
            </a:r>
            <a:r>
              <a:rPr sz="9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色扮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</a:t>
            </a:r>
            <a:endParaRPr lang="en-US" altLang="en-US" sz="900" dirty="0"/>
          </a:p>
        </p:txBody>
      </p:sp>
      <p:sp>
        <p:nvSpPr>
          <p:cNvPr id="158" name="textbox 158"/>
          <p:cNvSpPr/>
          <p:nvPr/>
        </p:nvSpPr>
        <p:spPr>
          <a:xfrm>
            <a:off x="6919841" y="3162541"/>
            <a:ext cx="1592580" cy="793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495300" algn="l" rtl="0" eaLnBrk="0">
              <a:lnSpc>
                <a:spcPct val="87000"/>
              </a:lnSpc>
            </a:pPr>
            <a:r>
              <a:rPr sz="1100" spc="3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</a:t>
            </a:r>
            <a:r>
              <a:rPr sz="1100" spc="1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lang="en-US" altLang="en-US" sz="1100" dirty="0"/>
          </a:p>
          <a:p>
            <a:pPr marL="12700" indent="4445" algn="l" rtl="0" eaLnBrk="0">
              <a:lnSpc>
                <a:spcPct val="113000"/>
              </a:lnSpc>
              <a:spcBef>
                <a:spcPts val="25"/>
              </a:spcBef>
            </a:pP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2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 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InstructGPT</a:t>
            </a:r>
            <a:r>
              <a:rPr sz="900" spc="2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衍生产品 ，它将人类的反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馈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纳入训练过程 ，更好地使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型输出与用户意图保持一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</a:t>
            </a:r>
            <a:endParaRPr lang="en-US" altLang="en-US" sz="900" dirty="0"/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3748913" y="2080367"/>
            <a:ext cx="576960" cy="378499"/>
            <a:chOff x="0" y="0"/>
            <a:chExt cx="576960" cy="378499"/>
          </a:xfrm>
        </p:grpSpPr>
        <p:sp>
          <p:nvSpPr>
            <p:cNvPr id="159" name="path"/>
            <p:cNvSpPr/>
            <p:nvPr/>
          </p:nvSpPr>
          <p:spPr>
            <a:xfrm>
              <a:off x="0" y="0"/>
              <a:ext cx="576960" cy="378499"/>
            </a:xfrm>
            <a:custGeom>
              <a:avLst/>
              <a:gdLst/>
              <a:ahLst/>
              <a:cxnLst/>
              <a:rect l="0" t="0" r="0" b="0"/>
              <a:pathLst>
                <a:path w="908" h="596">
                  <a:moveTo>
                    <a:pt x="0" y="43"/>
                  </a:moveTo>
                  <a:cubicBezTo>
                    <a:pt x="302" y="-80"/>
                    <a:pt x="605" y="167"/>
                    <a:pt x="908" y="43"/>
                  </a:cubicBezTo>
                  <a:lnTo>
                    <a:pt x="908" y="552"/>
                  </a:lnTo>
                  <a:cubicBezTo>
                    <a:pt x="605" y="676"/>
                    <a:pt x="302" y="429"/>
                    <a:pt x="0" y="552"/>
                  </a:cubicBezTo>
                  <a:lnTo>
                    <a:pt x="0" y="43"/>
                  </a:lnTo>
                  <a:close/>
                </a:path>
              </a:pathLst>
            </a:custGeom>
            <a:solidFill>
              <a:srgbClr val="00407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" name="textbox 160"/>
            <p:cNvSpPr/>
            <p:nvPr/>
          </p:nvSpPr>
          <p:spPr>
            <a:xfrm>
              <a:off x="-12700" y="-12700"/>
              <a:ext cx="602615" cy="42989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lang="en-US" altLang="en-US" sz="900" dirty="0"/>
            </a:p>
            <a:p>
              <a:pPr marL="136525" algn="l" rtl="0" eaLnBrk="0">
                <a:lnSpc>
                  <a:spcPct val="84000"/>
                </a:lnSpc>
                <a:spcBef>
                  <a:spcPts val="5"/>
                </a:spcBef>
              </a:pPr>
              <a:r>
                <a:rPr sz="9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</a:t>
              </a:r>
              <a:endParaRPr lang="en-US" altLang="en-US" sz="900" dirty="0"/>
            </a:p>
          </p:txBody>
        </p:sp>
      </p:grpSp>
      <p:sp>
        <p:nvSpPr>
          <p:cNvPr id="161" name="textbox 161"/>
          <p:cNvSpPr/>
          <p:nvPr/>
        </p:nvSpPr>
        <p:spPr>
          <a:xfrm>
            <a:off x="5124216" y="2073472"/>
            <a:ext cx="1333500" cy="1847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5000"/>
              </a:lnSpc>
            </a:pPr>
            <a:r>
              <a:rPr sz="1100" spc="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1100" spc="50" dirty="0">
                <a:ln w="317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</a:t>
            </a:r>
            <a:r>
              <a:rPr sz="11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( 15亿参数</a:t>
            </a:r>
            <a:r>
              <a:rPr sz="11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100" dirty="0"/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1039253" y="1977447"/>
            <a:ext cx="438010" cy="245249"/>
            <a:chOff x="0" y="0"/>
            <a:chExt cx="438010" cy="245249"/>
          </a:xfrm>
        </p:grpSpPr>
        <p:sp>
          <p:nvSpPr>
            <p:cNvPr id="162" name="path"/>
            <p:cNvSpPr/>
            <p:nvPr/>
          </p:nvSpPr>
          <p:spPr>
            <a:xfrm>
              <a:off x="0" y="0"/>
              <a:ext cx="438010" cy="245249"/>
            </a:xfrm>
            <a:custGeom>
              <a:avLst/>
              <a:gdLst/>
              <a:ahLst/>
              <a:cxnLst/>
              <a:rect l="0" t="0" r="0" b="0"/>
              <a:pathLst>
                <a:path w="689" h="386">
                  <a:moveTo>
                    <a:pt x="0" y="30"/>
                  </a:moveTo>
                  <a:cubicBezTo>
                    <a:pt x="229" y="-48"/>
                    <a:pt x="459" y="109"/>
                    <a:pt x="689" y="30"/>
                  </a:cubicBezTo>
                  <a:lnTo>
                    <a:pt x="689" y="355"/>
                  </a:lnTo>
                  <a:cubicBezTo>
                    <a:pt x="459" y="435"/>
                    <a:pt x="229" y="276"/>
                    <a:pt x="0" y="355"/>
                  </a:cubicBezTo>
                  <a:lnTo>
                    <a:pt x="0" y="30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3" name="textbox 163"/>
            <p:cNvSpPr/>
            <p:nvPr/>
          </p:nvSpPr>
          <p:spPr>
            <a:xfrm>
              <a:off x="-12700" y="-12700"/>
              <a:ext cx="463550" cy="29717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</a:pPr>
              <a:endParaRPr lang="en-US" altLang="en-US" sz="500" dirty="0"/>
            </a:p>
            <a:p>
              <a:pPr marL="67310" algn="l" rtl="0" eaLnBrk="0">
                <a:lnSpc>
                  <a:spcPct val="84000"/>
                </a:lnSpc>
                <a:spcBef>
                  <a:spcPts val="0"/>
                </a:spcBef>
              </a:pPr>
              <a:r>
                <a:rPr sz="9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18</a:t>
              </a:r>
              <a:endParaRPr lang="en-US" altLang="en-US" sz="900" dirty="0"/>
            </a:p>
          </p:txBody>
        </p:sp>
      </p:grpSp>
      <p:grpSp>
        <p:nvGrpSpPr>
          <p:cNvPr id="50" name="group 50"/>
          <p:cNvGrpSpPr/>
          <p:nvPr/>
        </p:nvGrpSpPr>
        <p:grpSpPr>
          <a:xfrm rot="21600000">
            <a:off x="3650614" y="2084197"/>
            <a:ext cx="164846" cy="615696"/>
            <a:chOff x="0" y="0"/>
            <a:chExt cx="164846" cy="615696"/>
          </a:xfrm>
        </p:grpSpPr>
        <p:sp>
          <p:nvSpPr>
            <p:cNvPr id="164" name="path"/>
            <p:cNvSpPr/>
            <p:nvPr/>
          </p:nvSpPr>
          <p:spPr>
            <a:xfrm>
              <a:off x="0" y="594867"/>
              <a:ext cx="164846" cy="12573"/>
            </a:xfrm>
            <a:custGeom>
              <a:avLst/>
              <a:gdLst/>
              <a:ahLst/>
              <a:cxnLst/>
              <a:rect l="0" t="0" r="0" b="0"/>
              <a:pathLst>
                <a:path w="259" h="19">
                  <a:moveTo>
                    <a:pt x="0" y="9"/>
                  </a:moveTo>
                  <a:cubicBezTo>
                    <a:pt x="0" y="4"/>
                    <a:pt x="57" y="0"/>
                    <a:pt x="129" y="0"/>
                  </a:cubicBezTo>
                  <a:cubicBezTo>
                    <a:pt x="201" y="0"/>
                    <a:pt x="259" y="4"/>
                    <a:pt x="259" y="9"/>
                  </a:cubicBezTo>
                  <a:cubicBezTo>
                    <a:pt x="259" y="9"/>
                    <a:pt x="259" y="9"/>
                    <a:pt x="259" y="9"/>
                  </a:cubicBezTo>
                  <a:lnTo>
                    <a:pt x="259" y="9"/>
                  </a:lnTo>
                  <a:cubicBezTo>
                    <a:pt x="259" y="15"/>
                    <a:pt x="201" y="19"/>
                    <a:pt x="129" y="19"/>
                  </a:cubicBezTo>
                  <a:cubicBezTo>
                    <a:pt x="57" y="19"/>
                    <a:pt x="0" y="15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</a:path>
              </a:pathLst>
            </a:custGeom>
            <a:solidFill>
              <a:srgbClr val="668CAE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5" name="path"/>
            <p:cNvSpPr/>
            <p:nvPr/>
          </p:nvSpPr>
          <p:spPr>
            <a:xfrm>
              <a:off x="57150" y="6350"/>
              <a:ext cx="50546" cy="609346"/>
            </a:xfrm>
            <a:custGeom>
              <a:avLst/>
              <a:gdLst/>
              <a:ahLst/>
              <a:cxnLst/>
              <a:rect l="0" t="0" r="0" b="0"/>
              <a:pathLst>
                <a:path w="79" h="959">
                  <a:moveTo>
                    <a:pt x="0" y="0"/>
                  </a:moveTo>
                  <a:cubicBezTo>
                    <a:pt x="0" y="5"/>
                    <a:pt x="17" y="9"/>
                    <a:pt x="39" y="9"/>
                  </a:cubicBezTo>
                  <a:cubicBezTo>
                    <a:pt x="61" y="9"/>
                    <a:pt x="79" y="5"/>
                    <a:pt x="79" y="0"/>
                  </a:cubicBezTo>
                  <a:lnTo>
                    <a:pt x="79" y="0"/>
                  </a:lnTo>
                  <a:lnTo>
                    <a:pt x="79" y="949"/>
                  </a:lnTo>
                  <a:lnTo>
                    <a:pt x="79" y="949"/>
                  </a:lnTo>
                  <a:cubicBezTo>
                    <a:pt x="79" y="955"/>
                    <a:pt x="61" y="959"/>
                    <a:pt x="39" y="959"/>
                  </a:cubicBezTo>
                  <a:cubicBezTo>
                    <a:pt x="17" y="959"/>
                    <a:pt x="0" y="955"/>
                    <a:pt x="0" y="949"/>
                  </a:cubicBezTo>
                  <a:cubicBezTo>
                    <a:pt x="0" y="949"/>
                    <a:pt x="0" y="949"/>
                    <a:pt x="0" y="9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407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" name="path"/>
            <p:cNvSpPr/>
            <p:nvPr/>
          </p:nvSpPr>
          <p:spPr>
            <a:xfrm>
              <a:off x="57150" y="0"/>
              <a:ext cx="50546" cy="12573"/>
            </a:xfrm>
            <a:custGeom>
              <a:avLst/>
              <a:gdLst/>
              <a:ahLst/>
              <a:cxnLst/>
              <a:rect l="0" t="0" r="0" b="0"/>
              <a:pathLst>
                <a:path w="79" h="19">
                  <a:moveTo>
                    <a:pt x="0" y="10"/>
                  </a:moveTo>
                  <a:cubicBezTo>
                    <a:pt x="0" y="4"/>
                    <a:pt x="17" y="0"/>
                    <a:pt x="39" y="0"/>
                  </a:cubicBezTo>
                  <a:cubicBezTo>
                    <a:pt x="61" y="0"/>
                    <a:pt x="79" y="4"/>
                    <a:pt x="79" y="10"/>
                  </a:cubicBezTo>
                  <a:cubicBezTo>
                    <a:pt x="79" y="10"/>
                    <a:pt x="79" y="10"/>
                    <a:pt x="79" y="10"/>
                  </a:cubicBezTo>
                  <a:lnTo>
                    <a:pt x="79" y="10"/>
                  </a:lnTo>
                  <a:cubicBezTo>
                    <a:pt x="79" y="15"/>
                    <a:pt x="61" y="19"/>
                    <a:pt x="39" y="19"/>
                  </a:cubicBezTo>
                  <a:cubicBezTo>
                    <a:pt x="17" y="19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</a:path>
              </a:pathLst>
            </a:custGeom>
            <a:solidFill>
              <a:srgbClr val="668CAE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7" name="textbox 167"/>
          <p:cNvSpPr/>
          <p:nvPr/>
        </p:nvSpPr>
        <p:spPr>
          <a:xfrm>
            <a:off x="180950" y="2687712"/>
            <a:ext cx="393700" cy="1511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1000"/>
              </a:lnSpc>
            </a:pP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900" spc="1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90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en-US" sz="900" dirty="0"/>
          </a:p>
        </p:txBody>
      </p:sp>
      <p:sp>
        <p:nvSpPr>
          <p:cNvPr id="168" name="textbox 168"/>
          <p:cNvSpPr/>
          <p:nvPr/>
        </p:nvSpPr>
        <p:spPr>
          <a:xfrm>
            <a:off x="3298736" y="3205594"/>
            <a:ext cx="300354" cy="1409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4000"/>
              </a:lnSpc>
            </a:pPr>
            <a:r>
              <a:rPr sz="90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lang="en-US" altLang="en-US" sz="900" dirty="0"/>
          </a:p>
        </p:txBody>
      </p:sp>
      <p:sp>
        <p:nvSpPr>
          <p:cNvPr id="169" name="path"/>
          <p:cNvSpPr/>
          <p:nvPr/>
        </p:nvSpPr>
        <p:spPr>
          <a:xfrm>
            <a:off x="1007973" y="1987295"/>
            <a:ext cx="45719" cy="418846"/>
          </a:xfrm>
          <a:custGeom>
            <a:avLst/>
            <a:gdLst/>
            <a:ahLst/>
            <a:cxnLst/>
            <a:rect l="0" t="0" r="0" b="0"/>
            <a:pathLst>
              <a:path w="71" h="659">
                <a:moveTo>
                  <a:pt x="0" y="0"/>
                </a:moveTo>
                <a:cubicBezTo>
                  <a:pt x="0" y="5"/>
                  <a:pt x="16" y="8"/>
                  <a:pt x="35" y="8"/>
                </a:cubicBezTo>
                <a:cubicBezTo>
                  <a:pt x="55" y="8"/>
                  <a:pt x="71" y="5"/>
                  <a:pt x="71" y="0"/>
                </a:cubicBezTo>
                <a:lnTo>
                  <a:pt x="71" y="0"/>
                </a:lnTo>
                <a:lnTo>
                  <a:pt x="71" y="650"/>
                </a:lnTo>
                <a:lnTo>
                  <a:pt x="71" y="650"/>
                </a:lnTo>
                <a:cubicBezTo>
                  <a:pt x="71" y="655"/>
                  <a:pt x="55" y="659"/>
                  <a:pt x="35" y="659"/>
                </a:cubicBezTo>
                <a:cubicBezTo>
                  <a:pt x="16" y="659"/>
                  <a:pt x="0" y="655"/>
                  <a:pt x="0" y="650"/>
                </a:cubicBezTo>
                <a:cubicBezTo>
                  <a:pt x="0" y="650"/>
                  <a:pt x="0" y="650"/>
                  <a:pt x="0" y="650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" name="rect"/>
          <p:cNvSpPr/>
          <p:nvPr/>
        </p:nvSpPr>
        <p:spPr>
          <a:xfrm>
            <a:off x="1007973" y="1981580"/>
            <a:ext cx="45719" cy="11429"/>
          </a:xfrm>
          <a:prstGeom prst="rect">
            <a:avLst/>
          </a:prstGeom>
          <a:solidFill>
            <a:srgbClr val="D96666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8659" y="1667255"/>
            <a:ext cx="2147316" cy="1572767"/>
          </a:xfrm>
          <a:prstGeom prst="rect">
            <a:avLst/>
          </a:prstGeom>
        </p:spPr>
      </p:pic>
      <p:sp>
        <p:nvSpPr>
          <p:cNvPr id="204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5" name="picture 2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4152" y="3412235"/>
            <a:ext cx="2662427" cy="1354836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63055" y="1621535"/>
            <a:ext cx="2112263" cy="1618488"/>
          </a:xfrm>
          <a:prstGeom prst="rect">
            <a:avLst/>
          </a:prstGeom>
        </p:spPr>
      </p:pic>
      <p:pic>
        <p:nvPicPr>
          <p:cNvPr id="207" name="picture 2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48455" y="1621535"/>
            <a:ext cx="1789176" cy="1621536"/>
          </a:xfrm>
          <a:prstGeom prst="rect">
            <a:avLst/>
          </a:prstGeom>
        </p:spPr>
      </p:pic>
      <p:pic>
        <p:nvPicPr>
          <p:cNvPr id="209" name="picture 20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41775" y="3412235"/>
            <a:ext cx="2002536" cy="1402080"/>
          </a:xfrm>
          <a:prstGeom prst="rect">
            <a:avLst/>
          </a:prstGeom>
        </p:spPr>
      </p:pic>
      <p:graphicFrame>
        <p:nvGraphicFramePr>
          <p:cNvPr id="210" name="table 210"/>
          <p:cNvGraphicFramePr>
            <a:graphicFrameLocks noGrp="1"/>
          </p:cNvGraphicFramePr>
          <p:nvPr/>
        </p:nvGraphicFramePr>
        <p:xfrm>
          <a:off x="343738" y="1686814"/>
          <a:ext cx="8208642" cy="2900679"/>
        </p:xfrm>
        <a:graphic>
          <a:graphicData uri="http://schemas.openxmlformats.org/drawingml/2006/table">
            <a:tbl>
              <a:tblPr/>
              <a:tblGrid>
                <a:gridCol w="2860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2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lang="en-US" altLang="en-US" sz="500" dirty="0"/>
                    </a:p>
                    <a:p>
                      <a:pPr marL="45339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900" spc="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用藏文、俄罗斯语、韩语和日文说一句话</a:t>
                      </a:r>
                      <a:endParaRPr lang="en-US" altLang="en-US" sz="900" dirty="0"/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7569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900" spc="1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</a:t>
                      </a:r>
                      <a:r>
                        <a:rPr sz="900" spc="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sz="900" spc="1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++写一</a:t>
                      </a:r>
                      <a:r>
                        <a:rPr sz="900" spc="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段爬虫代码</a:t>
                      </a:r>
                      <a:endParaRPr lang="en-US" altLang="en-US" sz="9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300" dirty="0"/>
                    </a:p>
                    <a:p>
                      <a:pPr marL="86106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900" spc="3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代码阅读</a:t>
                      </a:r>
                      <a:r>
                        <a:rPr sz="900" spc="2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</a:t>
                      </a:r>
                      <a:r>
                        <a:rPr sz="900" spc="0" dirty="0">
                          <a:solidFill>
                            <a:srgbClr val="003B7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解和Debug</a:t>
                      </a:r>
                      <a:endParaRPr lang="en-US" altLang="en-US" sz="9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4C97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textbox 212"/>
          <p:cNvSpPr/>
          <p:nvPr/>
        </p:nvSpPr>
        <p:spPr>
          <a:xfrm>
            <a:off x="-12700" y="124277"/>
            <a:ext cx="8863330" cy="12801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已能覆盖较多能力</a:t>
            </a:r>
            <a:r>
              <a:rPr sz="3000" spc="5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</a:t>
            </a:r>
            <a:endParaRPr lang="en-US" altLang="en-US" sz="1950" dirty="0"/>
          </a:p>
          <a:p>
            <a:pPr marL="280035" algn="l" rtl="0" eaLnBrk="0">
              <a:lnSpc>
                <a:spcPct val="97000"/>
              </a:lnSpc>
              <a:spcBef>
                <a:spcPts val="920"/>
              </a:spcBef>
              <a:tabLst>
                <a:tab pos="361315" algn="l"/>
              </a:tabLst>
            </a:pPr>
            <a:r>
              <a:rPr sz="11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1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r>
              <a:rPr sz="11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包含了更多主题的数据，能够处理更多小众主题。</a:t>
            </a:r>
            <a:r>
              <a:rPr sz="11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能力范围可以覆盖回答问题、撰写文章、文本摘要、语言翻译和生</a:t>
            </a:r>
            <a:endParaRPr lang="en-US" altLang="en-US" sz="1100" dirty="0"/>
          </a:p>
          <a:p>
            <a:pPr algn="l" rtl="0" eaLnBrk="0">
              <a:lnSpc>
                <a:spcPct val="116000"/>
              </a:lnSpc>
            </a:pPr>
            <a:endParaRPr lang="en-US" altLang="en-US" sz="500" dirty="0"/>
          </a:p>
          <a:p>
            <a:pPr marL="442595" algn="l" rtl="0" eaLnBrk="0">
              <a:lnSpc>
                <a:spcPts val="1380"/>
              </a:lnSpc>
              <a:spcBef>
                <a:spcPts val="5"/>
              </a:spcBef>
            </a:pPr>
            <a:r>
              <a:rPr sz="1700" spc="-10" baseline="8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成计算机代码等任务。</a:t>
            </a:r>
            <a:r>
              <a:rPr sz="11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</a:t>
            </a:r>
            <a:r>
              <a:rPr sz="11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1500" spc="0" baseline="-5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pc="0" baseline="-5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：ChatGPT的使用案例如下所示</a:t>
            </a:r>
            <a:endParaRPr lang="en-US" altLang="en-US" sz="975" dirty="0"/>
          </a:p>
        </p:txBody>
      </p:sp>
      <p:pic>
        <p:nvPicPr>
          <p:cNvPr id="213" name="picture 2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67504" y="985819"/>
            <a:ext cx="81180" cy="92537"/>
          </a:xfrm>
          <a:prstGeom prst="rect">
            <a:avLst/>
          </a:prstGeom>
        </p:spPr>
      </p:pic>
      <p:sp>
        <p:nvSpPr>
          <p:cNvPr id="214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6" name="picture 2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111240" y="3364991"/>
            <a:ext cx="2133600" cy="1402080"/>
          </a:xfrm>
          <a:prstGeom prst="rect">
            <a:avLst/>
          </a:prstGeom>
        </p:spPr>
      </p:pic>
      <p:sp>
        <p:nvSpPr>
          <p:cNvPr id="217" name="textbox 217"/>
          <p:cNvSpPr/>
          <p:nvPr/>
        </p:nvSpPr>
        <p:spPr>
          <a:xfrm>
            <a:off x="814984" y="1544345"/>
            <a:ext cx="4542154" cy="1466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900" spc="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用鲁迅口吻写一篇评价新冠疫情的散文                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用Python写一段CCI量化投资策略</a:t>
            </a:r>
            <a:endParaRPr lang="en-US" altLang="en-US" sz="900" dirty="0"/>
          </a:p>
        </p:txBody>
      </p:sp>
      <p:sp>
        <p:nvSpPr>
          <p:cNvPr id="219" name="textbox 219"/>
          <p:cNvSpPr/>
          <p:nvPr/>
        </p:nvSpPr>
        <p:spPr>
          <a:xfrm>
            <a:off x="6522084" y="1524533"/>
            <a:ext cx="1399539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一篇信创产业的研究报告</a:t>
            </a:r>
            <a:endParaRPr lang="en-US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221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-12700" y="124277"/>
            <a:ext cx="8915400" cy="1517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具备诸多先进性特</a:t>
            </a:r>
            <a:r>
              <a:rPr sz="3000" spc="5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</a:t>
            </a:r>
            <a:endParaRPr lang="en-US" altLang="en-US" sz="1950" dirty="0"/>
          </a:p>
          <a:p>
            <a:pPr marL="251460" algn="l" rtl="0" eaLnBrk="0">
              <a:lnSpc>
                <a:spcPct val="97000"/>
              </a:lnSpc>
              <a:spcBef>
                <a:spcPts val="95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入了人类反馈强化学习以及人工监督微调，因而具备了理解上下文、连贯性等诸多先进特征，解锁了海量应用场景</a:t>
            </a:r>
            <a:endParaRPr lang="en-US" altLang="en-US" sz="1200" dirty="0"/>
          </a:p>
          <a:p>
            <a:pPr marL="248285" algn="l" rtl="0" eaLnBrk="0">
              <a:lnSpc>
                <a:spcPct val="99000"/>
              </a:lnSpc>
              <a:spcBef>
                <a:spcPts val="68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当前，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所利用的数据集只截止到2021年。在对话中，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会主动记忆先前的对话内容信息(上下文理解) ，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来辅助假设性的问题的</a:t>
            </a: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500" dirty="0"/>
          </a:p>
          <a:p>
            <a:pPr marL="421005" algn="l" rtl="0" eaLnBrk="0">
              <a:lnSpc>
                <a:spcPts val="1225"/>
              </a:lnSpc>
              <a:spcBef>
                <a:spcPts val="0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回复，因而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也可实现连续对话 ，提升了交互模式下的用户体验。同时，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也会屏蔽敏感信息 ，对于不能回答的</a:t>
            </a: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容也能给予相关</a:t>
            </a:r>
            <a:endParaRPr lang="en-US" altLang="en-US" sz="1000" dirty="0"/>
          </a:p>
        </p:txBody>
      </p:sp>
      <p:pic>
        <p:nvPicPr>
          <p:cNvPr id="223" name="picture 2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1236915"/>
            <a:ext cx="90927" cy="104204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963" y="992123"/>
            <a:ext cx="88239" cy="100584"/>
          </a:xfrm>
          <a:prstGeom prst="rect">
            <a:avLst/>
          </a:prstGeom>
        </p:spPr>
      </p:pic>
      <p:sp>
        <p:nvSpPr>
          <p:cNvPr id="225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3494913" y="2167559"/>
            <a:ext cx="1990597" cy="2442082"/>
            <a:chOff x="0" y="0"/>
            <a:chExt cx="1990597" cy="2442082"/>
          </a:xfrm>
        </p:grpSpPr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990597" cy="2442082"/>
            </a:xfrm>
            <a:prstGeom prst="rect">
              <a:avLst/>
            </a:prstGeom>
          </p:spPr>
        </p:pic>
        <p:sp>
          <p:nvSpPr>
            <p:cNvPr id="227" name="textbox 227"/>
            <p:cNvSpPr/>
            <p:nvPr/>
          </p:nvSpPr>
          <p:spPr>
            <a:xfrm>
              <a:off x="380141" y="377138"/>
              <a:ext cx="1506219" cy="187134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6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78000"/>
                </a:lnSpc>
              </a:pPr>
              <a:r>
                <a:rPr sz="1400" b="1" spc="9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ChatGP</a:t>
              </a:r>
              <a:r>
                <a:rPr sz="1400" b="1" spc="8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T</a:t>
              </a:r>
              <a:endParaRPr lang="en-US" altLang="en-US" sz="1400" dirty="0"/>
            </a:p>
            <a:p>
              <a:pPr algn="r" rtl="0" eaLnBrk="0">
                <a:lnSpc>
                  <a:spcPts val="1215"/>
                </a:lnSpc>
                <a:spcBef>
                  <a:spcPts val="25"/>
                </a:spcBef>
              </a:pPr>
              <a:r>
                <a:rPr sz="1000" spc="2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人类意</a:t>
              </a:r>
              <a:r>
                <a:rPr sz="1000" spc="1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</a:t>
              </a: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2000"/>
                </a:lnSpc>
              </a:pPr>
              <a:endParaRPr lang="en-US" altLang="en-US" sz="1000" dirty="0"/>
            </a:p>
            <a:p>
              <a:pPr marL="722630" algn="l" rtl="0" eaLnBrk="0">
                <a:lnSpc>
                  <a:spcPct val="97000"/>
                </a:lnSpc>
                <a:spcBef>
                  <a:spcPts val="365"/>
                </a:spcBef>
              </a:pP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连续对话</a:t>
              </a:r>
              <a:endParaRPr lang="en-US" altLang="en-US" sz="1200" dirty="0"/>
            </a:p>
            <a:p>
              <a:pPr algn="l" rtl="0" eaLnBrk="0">
                <a:lnSpc>
                  <a:spcPct val="13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3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31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300" dirty="0"/>
            </a:p>
            <a:p>
              <a:pPr marL="48768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12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算法</a:t>
              </a:r>
              <a:r>
                <a:rPr sz="12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屏蔽</a:t>
              </a:r>
              <a:endParaRPr lang="en-US" altLang="en-US" sz="1200" dirty="0"/>
            </a:p>
          </p:txBody>
        </p:sp>
      </p:grpSp>
      <p:sp>
        <p:nvSpPr>
          <p:cNvPr id="228" name="textbox 228"/>
          <p:cNvSpPr/>
          <p:nvPr/>
        </p:nvSpPr>
        <p:spPr>
          <a:xfrm>
            <a:off x="142452" y="4714506"/>
            <a:ext cx="8419465" cy="3759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200" dirty="0"/>
          </a:p>
          <a:p>
            <a:pPr algn="l" rtl="0" eaLnBrk="0">
              <a:lnSpc>
                <a:spcPct val="139000"/>
              </a:lnSpc>
            </a:pPr>
            <a:endParaRPr lang="en-US" altLang="en-US" sz="2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来源：知乎，国泰君安证券研究</a:t>
            </a:r>
            <a:endParaRPr lang="en-US" altLang="en-US" sz="800" dirty="0"/>
          </a:p>
        </p:txBody>
      </p:sp>
      <p:sp>
        <p:nvSpPr>
          <p:cNvPr id="230" name="textbox 230"/>
          <p:cNvSpPr/>
          <p:nvPr/>
        </p:nvSpPr>
        <p:spPr>
          <a:xfrm>
            <a:off x="6138925" y="3085845"/>
            <a:ext cx="1595755" cy="2520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lang="en-US" altLang="en-US" sz="400" dirty="0"/>
          </a:p>
          <a:p>
            <a:pPr marL="220980" algn="l" rtl="0" eaLnBrk="0">
              <a:lnSpc>
                <a:spcPct val="97000"/>
              </a:lnSpc>
              <a:spcBef>
                <a:spcPts val="5"/>
              </a:spcBef>
              <a:tabLst>
                <a:tab pos="363220" algn="l"/>
              </a:tabLst>
            </a:pPr>
            <a:r>
              <a:rPr sz="12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户意图有效捕捉</a:t>
            </a:r>
            <a:endParaRPr lang="en-US" altLang="en-US" sz="1200" dirty="0"/>
          </a:p>
        </p:txBody>
      </p:sp>
      <p:sp>
        <p:nvSpPr>
          <p:cNvPr id="231" name="path"/>
          <p:cNvSpPr/>
          <p:nvPr/>
        </p:nvSpPr>
        <p:spPr>
          <a:xfrm>
            <a:off x="6151625" y="3098545"/>
            <a:ext cx="208153" cy="207517"/>
          </a:xfrm>
          <a:custGeom>
            <a:avLst/>
            <a:gdLst/>
            <a:ahLst/>
            <a:cxnLst/>
            <a:rect l="0" t="0" r="0" b="0"/>
            <a:pathLst>
              <a:path w="327" h="326">
                <a:moveTo>
                  <a:pt x="84" y="163"/>
                </a:moveTo>
                <a:cubicBezTo>
                  <a:pt x="84" y="119"/>
                  <a:pt x="120" y="83"/>
                  <a:pt x="163" y="83"/>
                </a:cubicBezTo>
                <a:cubicBezTo>
                  <a:pt x="163" y="83"/>
                  <a:pt x="163" y="83"/>
                  <a:pt x="163" y="83"/>
                </a:cubicBezTo>
                <a:lnTo>
                  <a:pt x="163" y="83"/>
                </a:lnTo>
                <a:cubicBezTo>
                  <a:pt x="207" y="83"/>
                  <a:pt x="243" y="119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  <a:lnTo>
                  <a:pt x="243" y="163"/>
                </a:lnTo>
                <a:cubicBezTo>
                  <a:pt x="243" y="207"/>
                  <a:pt x="207" y="242"/>
                  <a:pt x="163" y="242"/>
                </a:cubicBezTo>
                <a:cubicBezTo>
                  <a:pt x="163" y="242"/>
                  <a:pt x="163" y="242"/>
                  <a:pt x="163" y="242"/>
                </a:cubicBezTo>
                <a:lnTo>
                  <a:pt x="163" y="242"/>
                </a:lnTo>
                <a:cubicBezTo>
                  <a:pt x="120" y="242"/>
                  <a:pt x="84" y="207"/>
                  <a:pt x="84" y="163"/>
                </a:cubicBezTo>
                <a:cubicBezTo>
                  <a:pt x="84" y="163"/>
                  <a:pt x="84" y="163"/>
                  <a:pt x="84" y="163"/>
                </a:cubicBezTo>
              </a:path>
              <a:path w="327" h="326">
                <a:moveTo>
                  <a:pt x="164" y="0"/>
                </a:moveTo>
                <a:cubicBezTo>
                  <a:pt x="73" y="0"/>
                  <a:pt x="0" y="73"/>
                  <a:pt x="0" y="163"/>
                </a:cubicBezTo>
                <a:cubicBezTo>
                  <a:pt x="0" y="253"/>
                  <a:pt x="73" y="326"/>
                  <a:pt x="164" y="326"/>
                </a:cubicBezTo>
                <a:cubicBezTo>
                  <a:pt x="255" y="326"/>
                  <a:pt x="327" y="253"/>
                  <a:pt x="327" y="163"/>
                </a:cubicBezTo>
                <a:cubicBezTo>
                  <a:pt x="327" y="73"/>
                  <a:pt x="255" y="0"/>
                  <a:pt x="164" y="0"/>
                </a:cubicBezTo>
                <a:moveTo>
                  <a:pt x="164" y="297"/>
                </a:moveTo>
                <a:cubicBezTo>
                  <a:pt x="89" y="297"/>
                  <a:pt x="29" y="237"/>
                  <a:pt x="29" y="163"/>
                </a:cubicBezTo>
                <a:cubicBezTo>
                  <a:pt x="29" y="89"/>
                  <a:pt x="89" y="29"/>
                  <a:pt x="164" y="29"/>
                </a:cubicBezTo>
                <a:cubicBezTo>
                  <a:pt x="238" y="29"/>
                  <a:pt x="299" y="89"/>
                  <a:pt x="299" y="163"/>
                </a:cubicBezTo>
                <a:cubicBezTo>
                  <a:pt x="299" y="237"/>
                  <a:pt x="238" y="297"/>
                  <a:pt x="164" y="297"/>
                </a:cubicBezTo>
              </a:path>
            </a:pathLst>
          </a:custGeom>
          <a:solidFill>
            <a:srgbClr val="59C3F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" name="textbox 232"/>
          <p:cNvSpPr/>
          <p:nvPr/>
        </p:nvSpPr>
        <p:spPr>
          <a:xfrm>
            <a:off x="3182844" y="1858422"/>
            <a:ext cx="2177414" cy="1733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60"/>
              </a:lnSpc>
            </a:pP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提升的核心点如下所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900" dirty="0"/>
          </a:p>
        </p:txBody>
      </p:sp>
      <p:sp>
        <p:nvSpPr>
          <p:cNvPr id="233" name="textbox 233"/>
          <p:cNvSpPr/>
          <p:nvPr/>
        </p:nvSpPr>
        <p:spPr>
          <a:xfrm>
            <a:off x="6143498" y="2224913"/>
            <a:ext cx="1311275" cy="2482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</a:pPr>
            <a:endParaRPr lang="en-US" altLang="en-US" sz="200" dirty="0"/>
          </a:p>
          <a:p>
            <a:pPr marL="220980" algn="l" rtl="0" eaLnBrk="0">
              <a:lnSpc>
                <a:spcPct val="97000"/>
              </a:lnSpc>
              <a:spcBef>
                <a:spcPts val="0"/>
              </a:spcBef>
              <a:tabLst>
                <a:tab pos="382270" algn="l"/>
              </a:tabLst>
            </a:pPr>
            <a:r>
              <a:rPr sz="12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连续对话能力</a:t>
            </a:r>
            <a:endParaRPr lang="en-US" altLang="en-US" sz="1200" dirty="0"/>
          </a:p>
        </p:txBody>
      </p:sp>
      <p:sp>
        <p:nvSpPr>
          <p:cNvPr id="234" name="path"/>
          <p:cNvSpPr/>
          <p:nvPr/>
        </p:nvSpPr>
        <p:spPr>
          <a:xfrm>
            <a:off x="6156198" y="2237613"/>
            <a:ext cx="208152" cy="207645"/>
          </a:xfrm>
          <a:custGeom>
            <a:avLst/>
            <a:gdLst/>
            <a:ahLst/>
            <a:cxnLst/>
            <a:rect l="0" t="0" r="0" b="0"/>
            <a:pathLst>
              <a:path w="327" h="327">
                <a:moveTo>
                  <a:pt x="84" y="163"/>
                </a:moveTo>
                <a:cubicBezTo>
                  <a:pt x="84" y="119"/>
                  <a:pt x="120" y="83"/>
                  <a:pt x="163" y="83"/>
                </a:cubicBezTo>
                <a:cubicBezTo>
                  <a:pt x="163" y="83"/>
                  <a:pt x="163" y="83"/>
                  <a:pt x="163" y="83"/>
                </a:cubicBezTo>
                <a:lnTo>
                  <a:pt x="163" y="83"/>
                </a:lnTo>
                <a:cubicBezTo>
                  <a:pt x="207" y="83"/>
                  <a:pt x="243" y="119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  <a:lnTo>
                  <a:pt x="243" y="163"/>
                </a:lnTo>
                <a:cubicBezTo>
                  <a:pt x="243" y="207"/>
                  <a:pt x="207" y="243"/>
                  <a:pt x="163" y="243"/>
                </a:cubicBezTo>
                <a:cubicBezTo>
                  <a:pt x="163" y="243"/>
                  <a:pt x="163" y="243"/>
                  <a:pt x="163" y="243"/>
                </a:cubicBezTo>
                <a:lnTo>
                  <a:pt x="163" y="243"/>
                </a:lnTo>
                <a:cubicBezTo>
                  <a:pt x="120" y="243"/>
                  <a:pt x="84" y="207"/>
                  <a:pt x="84" y="163"/>
                </a:cubicBezTo>
                <a:cubicBezTo>
                  <a:pt x="84" y="163"/>
                  <a:pt x="84" y="163"/>
                  <a:pt x="84" y="163"/>
                </a:cubicBezTo>
              </a:path>
              <a:path w="327" h="327">
                <a:moveTo>
                  <a:pt x="164" y="0"/>
                </a:moveTo>
                <a:cubicBezTo>
                  <a:pt x="73" y="0"/>
                  <a:pt x="0" y="73"/>
                  <a:pt x="0" y="163"/>
                </a:cubicBezTo>
                <a:cubicBezTo>
                  <a:pt x="0" y="253"/>
                  <a:pt x="73" y="327"/>
                  <a:pt x="164" y="327"/>
                </a:cubicBezTo>
                <a:cubicBezTo>
                  <a:pt x="254" y="327"/>
                  <a:pt x="327" y="253"/>
                  <a:pt x="327" y="163"/>
                </a:cubicBezTo>
                <a:cubicBezTo>
                  <a:pt x="327" y="73"/>
                  <a:pt x="254" y="0"/>
                  <a:pt x="164" y="0"/>
                </a:cubicBezTo>
                <a:moveTo>
                  <a:pt x="164" y="297"/>
                </a:moveTo>
                <a:cubicBezTo>
                  <a:pt x="89" y="297"/>
                  <a:pt x="29" y="237"/>
                  <a:pt x="29" y="163"/>
                </a:cubicBezTo>
                <a:cubicBezTo>
                  <a:pt x="29" y="89"/>
                  <a:pt x="89" y="29"/>
                  <a:pt x="164" y="29"/>
                </a:cubicBezTo>
                <a:cubicBezTo>
                  <a:pt x="238" y="29"/>
                  <a:pt x="299" y="89"/>
                  <a:pt x="299" y="163"/>
                </a:cubicBezTo>
                <a:cubicBezTo>
                  <a:pt x="299" y="237"/>
                  <a:pt x="238" y="297"/>
                  <a:pt x="164" y="297"/>
                </a:cubicBezTo>
              </a:path>
            </a:pathLst>
          </a:custGeom>
          <a:solidFill>
            <a:srgbClr val="0081F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5" name="textbox 235"/>
          <p:cNvSpPr/>
          <p:nvPr/>
        </p:nvSpPr>
        <p:spPr>
          <a:xfrm>
            <a:off x="6138925" y="3988574"/>
            <a:ext cx="1174750" cy="2495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lang="en-US" altLang="en-US" sz="200" dirty="0"/>
          </a:p>
          <a:p>
            <a:pPr marL="220980" algn="l" rtl="0" eaLnBrk="0">
              <a:lnSpc>
                <a:spcPct val="98000"/>
              </a:lnSpc>
              <a:spcBef>
                <a:spcPts val="0"/>
              </a:spcBef>
              <a:tabLst>
                <a:tab pos="399415" algn="l"/>
              </a:tabLst>
            </a:pPr>
            <a:r>
              <a:rPr sz="12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上下文理解</a:t>
            </a:r>
            <a:endParaRPr lang="en-US" altLang="en-US" sz="1200" dirty="0"/>
          </a:p>
        </p:txBody>
      </p:sp>
      <p:sp>
        <p:nvSpPr>
          <p:cNvPr id="236" name="path"/>
          <p:cNvSpPr/>
          <p:nvPr/>
        </p:nvSpPr>
        <p:spPr>
          <a:xfrm>
            <a:off x="6151625" y="4001274"/>
            <a:ext cx="208280" cy="207619"/>
          </a:xfrm>
          <a:custGeom>
            <a:avLst/>
            <a:gdLst/>
            <a:ahLst/>
            <a:cxnLst/>
            <a:rect l="0" t="0" r="0" b="0"/>
            <a:pathLst>
              <a:path w="328" h="326">
                <a:moveTo>
                  <a:pt x="84" y="163"/>
                </a:moveTo>
                <a:cubicBezTo>
                  <a:pt x="84" y="119"/>
                  <a:pt x="120" y="83"/>
                  <a:pt x="164" y="83"/>
                </a:cubicBezTo>
                <a:cubicBezTo>
                  <a:pt x="164" y="83"/>
                  <a:pt x="164" y="83"/>
                  <a:pt x="164" y="83"/>
                </a:cubicBezTo>
                <a:lnTo>
                  <a:pt x="164" y="83"/>
                </a:lnTo>
                <a:cubicBezTo>
                  <a:pt x="207" y="83"/>
                  <a:pt x="243" y="119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  <a:lnTo>
                  <a:pt x="243" y="163"/>
                </a:lnTo>
                <a:cubicBezTo>
                  <a:pt x="243" y="207"/>
                  <a:pt x="207" y="243"/>
                  <a:pt x="164" y="243"/>
                </a:cubicBezTo>
                <a:cubicBezTo>
                  <a:pt x="164" y="243"/>
                  <a:pt x="164" y="243"/>
                  <a:pt x="164" y="243"/>
                </a:cubicBezTo>
                <a:lnTo>
                  <a:pt x="164" y="243"/>
                </a:lnTo>
                <a:cubicBezTo>
                  <a:pt x="120" y="243"/>
                  <a:pt x="84" y="207"/>
                  <a:pt x="84" y="163"/>
                </a:cubicBezTo>
                <a:cubicBezTo>
                  <a:pt x="84" y="163"/>
                  <a:pt x="84" y="163"/>
                  <a:pt x="84" y="163"/>
                </a:cubicBezTo>
              </a:path>
              <a:path w="328" h="326">
                <a:moveTo>
                  <a:pt x="164" y="0"/>
                </a:moveTo>
                <a:cubicBezTo>
                  <a:pt x="73" y="0"/>
                  <a:pt x="0" y="73"/>
                  <a:pt x="0" y="163"/>
                </a:cubicBezTo>
                <a:cubicBezTo>
                  <a:pt x="0" y="253"/>
                  <a:pt x="73" y="326"/>
                  <a:pt x="164" y="326"/>
                </a:cubicBezTo>
                <a:cubicBezTo>
                  <a:pt x="255" y="326"/>
                  <a:pt x="328" y="253"/>
                  <a:pt x="328" y="163"/>
                </a:cubicBezTo>
                <a:cubicBezTo>
                  <a:pt x="328" y="73"/>
                  <a:pt x="255" y="0"/>
                  <a:pt x="164" y="0"/>
                </a:cubicBezTo>
                <a:moveTo>
                  <a:pt x="164" y="297"/>
                </a:moveTo>
                <a:cubicBezTo>
                  <a:pt x="90" y="297"/>
                  <a:pt x="29" y="237"/>
                  <a:pt x="29" y="163"/>
                </a:cubicBezTo>
                <a:cubicBezTo>
                  <a:pt x="29" y="89"/>
                  <a:pt x="90" y="29"/>
                  <a:pt x="164" y="29"/>
                </a:cubicBezTo>
                <a:cubicBezTo>
                  <a:pt x="238" y="29"/>
                  <a:pt x="299" y="89"/>
                  <a:pt x="299" y="163"/>
                </a:cubicBezTo>
                <a:cubicBezTo>
                  <a:pt x="299" y="237"/>
                  <a:pt x="238" y="297"/>
                  <a:pt x="164" y="297"/>
                </a:cubicBezTo>
              </a:path>
            </a:pathLst>
          </a:custGeom>
          <a:solidFill>
            <a:srgbClr val="B3DE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7" name="textbox 237"/>
          <p:cNvSpPr/>
          <p:nvPr/>
        </p:nvSpPr>
        <p:spPr>
          <a:xfrm>
            <a:off x="1353998" y="3135331"/>
            <a:ext cx="791844" cy="204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承认不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</a:t>
            </a:r>
            <a:endParaRPr lang="en-US" altLang="en-US" sz="1200" dirty="0"/>
          </a:p>
        </p:txBody>
      </p:sp>
      <p:sp>
        <p:nvSpPr>
          <p:cNvPr id="238" name="textbox 238"/>
          <p:cNvSpPr/>
          <p:nvPr/>
        </p:nvSpPr>
        <p:spPr>
          <a:xfrm>
            <a:off x="1337390" y="4023214"/>
            <a:ext cx="790575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准确度</a:t>
            </a:r>
            <a:endParaRPr lang="en-US" altLang="en-US" sz="1200" dirty="0"/>
          </a:p>
        </p:txBody>
      </p:sp>
      <p:sp>
        <p:nvSpPr>
          <p:cNvPr id="239" name="textbox 239"/>
          <p:cNvSpPr/>
          <p:nvPr/>
        </p:nvSpPr>
        <p:spPr>
          <a:xfrm>
            <a:off x="1534033" y="2202002"/>
            <a:ext cx="63754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敢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于质疑</a:t>
            </a:r>
            <a:endParaRPr lang="en-US" altLang="en-US" sz="1200" dirty="0"/>
          </a:p>
        </p:txBody>
      </p:sp>
      <p:sp>
        <p:nvSpPr>
          <p:cNvPr id="240" name="textbox 240"/>
          <p:cNvSpPr/>
          <p:nvPr/>
        </p:nvSpPr>
        <p:spPr>
          <a:xfrm>
            <a:off x="387685" y="1699581"/>
            <a:ext cx="400050" cy="1682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25"/>
              </a:lnSpc>
            </a:pP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建议。</a:t>
            </a:r>
            <a:endParaRPr lang="en-US" altLang="en-US" sz="900" dirty="0"/>
          </a:p>
        </p:txBody>
      </p:sp>
      <p:sp>
        <p:nvSpPr>
          <p:cNvPr id="241" name="path"/>
          <p:cNvSpPr/>
          <p:nvPr/>
        </p:nvSpPr>
        <p:spPr>
          <a:xfrm>
            <a:off x="2311272" y="2240152"/>
            <a:ext cx="208280" cy="207645"/>
          </a:xfrm>
          <a:custGeom>
            <a:avLst/>
            <a:gdLst/>
            <a:ahLst/>
            <a:cxnLst/>
            <a:rect l="0" t="0" r="0" b="0"/>
            <a:pathLst>
              <a:path w="328" h="327">
                <a:moveTo>
                  <a:pt x="243" y="163"/>
                </a:moveTo>
                <a:cubicBezTo>
                  <a:pt x="243" y="119"/>
                  <a:pt x="207" y="84"/>
                  <a:pt x="164" y="84"/>
                </a:cubicBezTo>
                <a:cubicBezTo>
                  <a:pt x="164" y="84"/>
                  <a:pt x="164" y="84"/>
                  <a:pt x="164" y="84"/>
                </a:cubicBezTo>
                <a:lnTo>
                  <a:pt x="164" y="84"/>
                </a:lnTo>
                <a:cubicBezTo>
                  <a:pt x="120" y="84"/>
                  <a:pt x="84" y="119"/>
                  <a:pt x="84" y="163"/>
                </a:cubicBezTo>
                <a:cubicBezTo>
                  <a:pt x="84" y="163"/>
                  <a:pt x="84" y="163"/>
                  <a:pt x="84" y="163"/>
                </a:cubicBezTo>
                <a:lnTo>
                  <a:pt x="84" y="163"/>
                </a:lnTo>
                <a:cubicBezTo>
                  <a:pt x="84" y="207"/>
                  <a:pt x="120" y="243"/>
                  <a:pt x="164" y="243"/>
                </a:cubicBezTo>
                <a:cubicBezTo>
                  <a:pt x="164" y="243"/>
                  <a:pt x="164" y="243"/>
                  <a:pt x="164" y="243"/>
                </a:cubicBezTo>
                <a:lnTo>
                  <a:pt x="164" y="243"/>
                </a:lnTo>
                <a:cubicBezTo>
                  <a:pt x="207" y="243"/>
                  <a:pt x="243" y="207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</a:path>
              <a:path w="328" h="327">
                <a:moveTo>
                  <a:pt x="163" y="0"/>
                </a:moveTo>
                <a:cubicBezTo>
                  <a:pt x="254" y="0"/>
                  <a:pt x="328" y="73"/>
                  <a:pt x="328" y="163"/>
                </a:cubicBezTo>
                <a:cubicBezTo>
                  <a:pt x="328" y="253"/>
                  <a:pt x="254" y="327"/>
                  <a:pt x="163" y="327"/>
                </a:cubicBezTo>
                <a:cubicBezTo>
                  <a:pt x="73" y="327"/>
                  <a:pt x="0" y="253"/>
                  <a:pt x="0" y="163"/>
                </a:cubicBezTo>
                <a:cubicBezTo>
                  <a:pt x="0" y="73"/>
                  <a:pt x="73" y="0"/>
                  <a:pt x="163" y="0"/>
                </a:cubicBezTo>
                <a:moveTo>
                  <a:pt x="163" y="297"/>
                </a:moveTo>
                <a:cubicBezTo>
                  <a:pt x="238" y="297"/>
                  <a:pt x="298" y="237"/>
                  <a:pt x="298" y="163"/>
                </a:cubicBezTo>
                <a:cubicBezTo>
                  <a:pt x="298" y="89"/>
                  <a:pt x="238" y="29"/>
                  <a:pt x="163" y="29"/>
                </a:cubicBezTo>
                <a:cubicBezTo>
                  <a:pt x="89" y="29"/>
                  <a:pt x="28" y="89"/>
                  <a:pt x="28" y="163"/>
                </a:cubicBezTo>
                <a:cubicBezTo>
                  <a:pt x="28" y="237"/>
                  <a:pt x="89" y="297"/>
                  <a:pt x="163" y="297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path"/>
          <p:cNvSpPr/>
          <p:nvPr/>
        </p:nvSpPr>
        <p:spPr>
          <a:xfrm>
            <a:off x="2311272" y="3097529"/>
            <a:ext cx="208280" cy="207645"/>
          </a:xfrm>
          <a:custGeom>
            <a:avLst/>
            <a:gdLst/>
            <a:ahLst/>
            <a:cxnLst/>
            <a:rect l="0" t="0" r="0" b="0"/>
            <a:pathLst>
              <a:path w="328" h="327">
                <a:moveTo>
                  <a:pt x="243" y="163"/>
                </a:moveTo>
                <a:cubicBezTo>
                  <a:pt x="243" y="119"/>
                  <a:pt x="207" y="84"/>
                  <a:pt x="164" y="84"/>
                </a:cubicBezTo>
                <a:cubicBezTo>
                  <a:pt x="164" y="84"/>
                  <a:pt x="164" y="84"/>
                  <a:pt x="164" y="84"/>
                </a:cubicBezTo>
                <a:lnTo>
                  <a:pt x="164" y="84"/>
                </a:lnTo>
                <a:cubicBezTo>
                  <a:pt x="120" y="84"/>
                  <a:pt x="84" y="119"/>
                  <a:pt x="84" y="163"/>
                </a:cubicBezTo>
                <a:cubicBezTo>
                  <a:pt x="84" y="163"/>
                  <a:pt x="84" y="163"/>
                  <a:pt x="84" y="163"/>
                </a:cubicBezTo>
                <a:lnTo>
                  <a:pt x="84" y="163"/>
                </a:lnTo>
                <a:cubicBezTo>
                  <a:pt x="84" y="207"/>
                  <a:pt x="120" y="243"/>
                  <a:pt x="164" y="243"/>
                </a:cubicBezTo>
                <a:cubicBezTo>
                  <a:pt x="164" y="243"/>
                  <a:pt x="164" y="243"/>
                  <a:pt x="164" y="243"/>
                </a:cubicBezTo>
                <a:lnTo>
                  <a:pt x="164" y="243"/>
                </a:lnTo>
                <a:cubicBezTo>
                  <a:pt x="207" y="243"/>
                  <a:pt x="243" y="207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</a:path>
              <a:path w="328" h="327">
                <a:moveTo>
                  <a:pt x="163" y="0"/>
                </a:moveTo>
                <a:cubicBezTo>
                  <a:pt x="254" y="0"/>
                  <a:pt x="328" y="73"/>
                  <a:pt x="328" y="163"/>
                </a:cubicBezTo>
                <a:cubicBezTo>
                  <a:pt x="328" y="253"/>
                  <a:pt x="254" y="327"/>
                  <a:pt x="163" y="327"/>
                </a:cubicBezTo>
                <a:cubicBezTo>
                  <a:pt x="73" y="327"/>
                  <a:pt x="0" y="253"/>
                  <a:pt x="0" y="163"/>
                </a:cubicBezTo>
                <a:cubicBezTo>
                  <a:pt x="0" y="73"/>
                  <a:pt x="73" y="0"/>
                  <a:pt x="163" y="0"/>
                </a:cubicBezTo>
                <a:moveTo>
                  <a:pt x="163" y="297"/>
                </a:moveTo>
                <a:cubicBezTo>
                  <a:pt x="238" y="297"/>
                  <a:pt x="298" y="237"/>
                  <a:pt x="298" y="163"/>
                </a:cubicBezTo>
                <a:cubicBezTo>
                  <a:pt x="298" y="89"/>
                  <a:pt x="238" y="29"/>
                  <a:pt x="163" y="29"/>
                </a:cubicBezTo>
                <a:cubicBezTo>
                  <a:pt x="89" y="29"/>
                  <a:pt x="28" y="89"/>
                  <a:pt x="28" y="163"/>
                </a:cubicBezTo>
                <a:cubicBezTo>
                  <a:pt x="28" y="237"/>
                  <a:pt x="89" y="297"/>
                  <a:pt x="163" y="297"/>
                </a:cubicBezTo>
              </a:path>
            </a:pathLst>
          </a:custGeom>
          <a:solidFill>
            <a:srgbClr val="B3DE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3" name="path"/>
          <p:cNvSpPr/>
          <p:nvPr/>
        </p:nvSpPr>
        <p:spPr>
          <a:xfrm>
            <a:off x="2311272" y="4001274"/>
            <a:ext cx="208280" cy="207619"/>
          </a:xfrm>
          <a:custGeom>
            <a:avLst/>
            <a:gdLst/>
            <a:ahLst/>
            <a:cxnLst/>
            <a:rect l="0" t="0" r="0" b="0"/>
            <a:pathLst>
              <a:path w="328" h="326">
                <a:moveTo>
                  <a:pt x="243" y="163"/>
                </a:moveTo>
                <a:cubicBezTo>
                  <a:pt x="243" y="119"/>
                  <a:pt x="207" y="83"/>
                  <a:pt x="164" y="83"/>
                </a:cubicBezTo>
                <a:cubicBezTo>
                  <a:pt x="164" y="83"/>
                  <a:pt x="164" y="83"/>
                  <a:pt x="164" y="83"/>
                </a:cubicBezTo>
                <a:lnTo>
                  <a:pt x="164" y="83"/>
                </a:lnTo>
                <a:cubicBezTo>
                  <a:pt x="120" y="83"/>
                  <a:pt x="84" y="119"/>
                  <a:pt x="84" y="163"/>
                </a:cubicBezTo>
                <a:cubicBezTo>
                  <a:pt x="84" y="163"/>
                  <a:pt x="84" y="163"/>
                  <a:pt x="84" y="163"/>
                </a:cubicBezTo>
                <a:lnTo>
                  <a:pt x="84" y="163"/>
                </a:lnTo>
                <a:cubicBezTo>
                  <a:pt x="84" y="207"/>
                  <a:pt x="120" y="243"/>
                  <a:pt x="164" y="243"/>
                </a:cubicBezTo>
                <a:cubicBezTo>
                  <a:pt x="164" y="243"/>
                  <a:pt x="164" y="243"/>
                  <a:pt x="164" y="243"/>
                </a:cubicBezTo>
                <a:lnTo>
                  <a:pt x="164" y="243"/>
                </a:lnTo>
                <a:cubicBezTo>
                  <a:pt x="207" y="243"/>
                  <a:pt x="243" y="207"/>
                  <a:pt x="243" y="163"/>
                </a:cubicBezTo>
                <a:cubicBezTo>
                  <a:pt x="243" y="163"/>
                  <a:pt x="243" y="163"/>
                  <a:pt x="243" y="163"/>
                </a:cubicBezTo>
              </a:path>
              <a:path w="328" h="326">
                <a:moveTo>
                  <a:pt x="163" y="0"/>
                </a:moveTo>
                <a:cubicBezTo>
                  <a:pt x="254" y="0"/>
                  <a:pt x="328" y="73"/>
                  <a:pt x="328" y="163"/>
                </a:cubicBezTo>
                <a:cubicBezTo>
                  <a:pt x="328" y="253"/>
                  <a:pt x="254" y="326"/>
                  <a:pt x="163" y="326"/>
                </a:cubicBezTo>
                <a:cubicBezTo>
                  <a:pt x="73" y="326"/>
                  <a:pt x="0" y="253"/>
                  <a:pt x="0" y="163"/>
                </a:cubicBezTo>
                <a:cubicBezTo>
                  <a:pt x="0" y="73"/>
                  <a:pt x="73" y="0"/>
                  <a:pt x="163" y="0"/>
                </a:cubicBezTo>
                <a:moveTo>
                  <a:pt x="163" y="297"/>
                </a:moveTo>
                <a:cubicBezTo>
                  <a:pt x="238" y="297"/>
                  <a:pt x="298" y="237"/>
                  <a:pt x="298" y="163"/>
                </a:cubicBezTo>
                <a:cubicBezTo>
                  <a:pt x="298" y="89"/>
                  <a:pt x="238" y="29"/>
                  <a:pt x="163" y="29"/>
                </a:cubicBezTo>
                <a:cubicBezTo>
                  <a:pt x="89" y="29"/>
                  <a:pt x="28" y="89"/>
                  <a:pt x="28" y="163"/>
                </a:cubicBezTo>
                <a:cubicBezTo>
                  <a:pt x="28" y="237"/>
                  <a:pt x="89" y="297"/>
                  <a:pt x="163" y="297"/>
                </a:cubicBezTo>
              </a:path>
            </a:pathLst>
          </a:custGeom>
          <a:solidFill>
            <a:srgbClr val="B1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rect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015FC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3" name="textbox 1643"/>
          <p:cNvSpPr/>
          <p:nvPr/>
        </p:nvSpPr>
        <p:spPr>
          <a:xfrm>
            <a:off x="897045" y="1450711"/>
            <a:ext cx="7608569" cy="1932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zh-CN" altLang="en-US" sz="100" dirty="0"/>
          </a:p>
          <a:p>
            <a:pPr marL="12700" algn="l" rtl="0" eaLnBrk="0">
              <a:lnSpc>
                <a:spcPct val="67000"/>
              </a:lnSpc>
            </a:pPr>
            <a:r>
              <a:rPr lang="en-US" altLang="zh-CN" sz="8000" spc="10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8000" spc="8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altLang="en-US" sz="8000" dirty="0"/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新一轮</a:t>
            </a:r>
            <a:r>
              <a:rPr lang="en-US" altLang="zh-CN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竞赛开卷</a:t>
            </a:r>
            <a:endParaRPr lang="en-US" altLang="zh-CN" sz="3600" spc="-20" dirty="0">
              <a:ln w="9525" cap="flat" cmpd="sng">
                <a:solidFill>
                  <a:srgbClr val="FFFFFF">
                    <a:alpha val="100000"/>
                  </a:srgbClr>
                </a:solidFill>
                <a:prstDash val="solid"/>
                <a:miter lim="0"/>
              </a:ln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国内外巨头纷纷</a:t>
            </a:r>
            <a:r>
              <a:rPr lang="en-US" altLang="zh-CN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 IN</a:t>
            </a:r>
            <a:endParaRPr lang="zh-CN" altLang="en-US" sz="3600" dirty="0"/>
          </a:p>
        </p:txBody>
      </p:sp>
      <p:sp>
        <p:nvSpPr>
          <p:cNvPr id="1644" name="path"/>
          <p:cNvSpPr/>
          <p:nvPr/>
        </p:nvSpPr>
        <p:spPr>
          <a:xfrm>
            <a:off x="1293043" y="1589984"/>
            <a:ext cx="1290333" cy="1396729"/>
          </a:xfrm>
          <a:custGeom>
            <a:avLst/>
            <a:gdLst/>
            <a:ahLst/>
            <a:cxnLst/>
            <a:rect l="0" t="0" r="0" b="0"/>
            <a:pathLst>
              <a:path w="2032" h="2199">
                <a:moveTo>
                  <a:pt x="5" y="2194"/>
                </a:moveTo>
                <a:lnTo>
                  <a:pt x="2026" y="5"/>
                </a:lnTo>
              </a:path>
            </a:pathLst>
          </a:custGeom>
          <a:noFill/>
          <a:ln w="952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9" name="rect"/>
          <p:cNvSpPr/>
          <p:nvPr/>
        </p:nvSpPr>
        <p:spPr>
          <a:xfrm>
            <a:off x="1686877" y="4700778"/>
            <a:ext cx="9525" cy="179997"/>
          </a:xfrm>
          <a:prstGeom prst="rect">
            <a:avLst/>
          </a:prstGeom>
          <a:solidFill>
            <a:srgbClr val="004C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46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aphicFrame>
        <p:nvGraphicFramePr>
          <p:cNvPr id="245" name="table 245"/>
          <p:cNvGraphicFramePr>
            <a:graphicFrameLocks noGrp="1"/>
          </p:cNvGraphicFramePr>
          <p:nvPr/>
        </p:nvGraphicFramePr>
        <p:xfrm>
          <a:off x="371602" y="1577466"/>
          <a:ext cx="8443594" cy="1491614"/>
        </p:xfrm>
        <a:graphic>
          <a:graphicData uri="http://schemas.openxmlformats.org/drawingml/2006/table">
            <a:tbl>
              <a:tblPr/>
              <a:tblGrid>
                <a:gridCol w="844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16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900" dirty="0"/>
                    </a:p>
                    <a:p>
                      <a:pPr marL="1927225" algn="l" rtl="0" eaLnBrk="0">
                        <a:lnSpc>
                          <a:spcPct val="147000"/>
                        </a:lnSpc>
                        <a:spcBef>
                          <a:spcPts val="5"/>
                        </a:spcBef>
                        <a:tabLst>
                          <a:tab pos="2022475" algn="l"/>
                        </a:tabLst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1月18日，微软宣布将于3月底前在全球裁员1万人，约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占公司员工总数的5%                                        	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1月23日，微软宣布对 ChatGPT 创建者 OpenAI 进行第三轮投资，将向OpenA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进行为期多年、</a:t>
                      </a:r>
                      <a:endParaRPr lang="en-US" altLang="en-US" sz="1100" dirty="0"/>
                    </a:p>
                    <a:p>
                      <a:pPr marL="2091055" algn="l" rtl="0" eaLnBrk="0">
                        <a:lnSpc>
                          <a:spcPct val="97000"/>
                        </a:lnSpc>
                        <a:spcBef>
                          <a:spcPts val="815"/>
                        </a:spcBef>
                      </a:pP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金额达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数十亿美元的投资，以加速其在人工智能领域的技术突破</a:t>
                      </a:r>
                      <a:endParaRPr lang="en-US" altLang="en-US" sz="1100" dirty="0"/>
                    </a:p>
                    <a:p>
                      <a:pPr marL="1927860" algn="l" rtl="0" eaLnBrk="0">
                        <a:lnSpc>
                          <a:spcPct val="88000"/>
                        </a:lnSpc>
                        <a:spcBef>
                          <a:spcPts val="700"/>
                        </a:spcBef>
                        <a:tabLst>
                          <a:tab pos="2022475" algn="l"/>
                        </a:tabLst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1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此外，微软还计划在未来几周内发布其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Bing</a:t>
                      </a:r>
                      <a:r>
                        <a:rPr sz="11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搜索引擎的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</a:t>
                      </a:r>
                      <a:r>
                        <a:rPr sz="11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-4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版本，预计该版本将比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600" dirty="0"/>
                    </a:p>
                    <a:p>
                      <a:pPr marL="209677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ChatGPT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模型更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快、更强大</a:t>
                      </a:r>
                      <a:endParaRPr lang="en-US" altLang="en-US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6" name="picture 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99164" y="2575855"/>
            <a:ext cx="95267" cy="109178"/>
          </a:xfrm>
          <a:prstGeom prst="rect">
            <a:avLst/>
          </a:prstGeom>
        </p:spPr>
      </p:pic>
      <p:pic>
        <p:nvPicPr>
          <p:cNvPr id="247" name="picture 2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99142" y="2072791"/>
            <a:ext cx="95061" cy="108941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99142" y="1821331"/>
            <a:ext cx="95061" cy="108941"/>
          </a:xfrm>
          <a:prstGeom prst="rect">
            <a:avLst/>
          </a:prstGeom>
        </p:spPr>
      </p:pic>
      <p:sp>
        <p:nvSpPr>
          <p:cNvPr id="249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textbox 250"/>
          <p:cNvSpPr/>
          <p:nvPr/>
        </p:nvSpPr>
        <p:spPr>
          <a:xfrm>
            <a:off x="-12700" y="124277"/>
            <a:ext cx="8827134" cy="14027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科技巨头不断下注</a:t>
            </a:r>
            <a:r>
              <a:rPr sz="20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行业，</a:t>
            </a:r>
            <a:r>
              <a:rPr sz="20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带动新一轮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发展浪潮</a:t>
            </a:r>
            <a:endParaRPr lang="en-US" altLang="en-US" sz="2000" dirty="0"/>
          </a:p>
          <a:p>
            <a:pPr marL="498475" algn="l" rtl="0" eaLnBrk="0">
              <a:lnSpc>
                <a:spcPct val="97000"/>
              </a:lnSpc>
              <a:spcBef>
                <a:spcPts val="1305"/>
              </a:spcBef>
              <a:tabLst>
                <a:tab pos="58610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</a:t>
            </a:r>
            <a:r>
              <a:rPr sz="1200" b="1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2023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年初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，微软和谷歌均宣布裁员计划，但都加大了在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行业的投入</a:t>
            </a:r>
            <a:endParaRPr lang="en-US" altLang="en-US" sz="1200" dirty="0"/>
          </a:p>
          <a:p>
            <a:pPr algn="l" rtl="0" eaLnBrk="0">
              <a:lnSpc>
                <a:spcPct val="106000"/>
              </a:lnSpc>
            </a:pPr>
            <a:endParaRPr lang="en-US" altLang="en-US" sz="1100" dirty="0"/>
          </a:p>
          <a:p>
            <a:pPr marL="3158490" algn="l" rtl="0" eaLnBrk="0">
              <a:lnSpc>
                <a:spcPts val="1150"/>
              </a:lnSpc>
              <a:spcBef>
                <a:spcPts val="5"/>
              </a:spcBef>
            </a:pP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图8 ：科技巨头纷纷加大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相关投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</a:t>
            </a:r>
            <a:endParaRPr lang="en-US" altLang="en-US" sz="900" dirty="0"/>
          </a:p>
        </p:txBody>
      </p:sp>
      <p:pic>
        <p:nvPicPr>
          <p:cNvPr id="251" name="picture 2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546" y="1035050"/>
            <a:ext cx="88239" cy="100584"/>
          </a:xfrm>
          <a:prstGeom prst="rect">
            <a:avLst/>
          </a:prstGeom>
        </p:spPr>
      </p:pic>
      <p:sp>
        <p:nvSpPr>
          <p:cNvPr id="252" name="path"/>
          <p:cNvSpPr/>
          <p:nvPr/>
        </p:nvSpPr>
        <p:spPr>
          <a:xfrm>
            <a:off x="59167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53" name="table 253"/>
          <p:cNvGraphicFramePr>
            <a:graphicFrameLocks noGrp="1"/>
          </p:cNvGraphicFramePr>
          <p:nvPr/>
        </p:nvGraphicFramePr>
        <p:xfrm>
          <a:off x="350011" y="3150488"/>
          <a:ext cx="8443594" cy="1283969"/>
        </p:xfrm>
        <a:graphic>
          <a:graphicData uri="http://schemas.openxmlformats.org/drawingml/2006/table">
            <a:tbl>
              <a:tblPr/>
              <a:tblGrid>
                <a:gridCol w="8443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839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lang="en-US" altLang="en-US" sz="100" dirty="0"/>
                    </a:p>
                    <a:p>
                      <a:pPr marL="1927225" algn="l" rtl="0" eaLnBrk="0">
                        <a:lnSpc>
                          <a:spcPct val="89000"/>
                        </a:lnSpc>
                        <a:tabLst>
                          <a:tab pos="2021205" algn="l"/>
                        </a:tabLst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1月20日，谷歌母公司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Alphabet</a:t>
                      </a: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宣布将裁员约1.2万人，占公司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员工总数的6%以上，同时公司</a:t>
                      </a:r>
                      <a:endParaRPr lang="en-US" altLang="en-US" sz="1100" dirty="0"/>
                    </a:p>
                    <a:p>
                      <a:pPr marL="1926590" indent="168910" algn="l" rtl="0" eaLnBrk="0">
                        <a:lnSpc>
                          <a:spcPct val="146000"/>
                        </a:lnSpc>
                        <a:spcBef>
                          <a:spcPts val="105"/>
                        </a:spcBef>
                        <a:tabLst>
                          <a:tab pos="2021205" algn="l"/>
                        </a:tabLst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CEO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示，公司将会进一步聚焦AI技术核心业务的研发投入                                                                 	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2月4日，谷歌注资3亿美元投资ChatGPT竞品——Anthro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pic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，和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一样， 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Anthropic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也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600" dirty="0"/>
                    </a:p>
                    <a:p>
                      <a:pPr marL="209042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在开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发生成式人工智能</a:t>
                      </a:r>
                      <a:endParaRPr lang="en-US" altLang="en-US" sz="11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7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4" name="picture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76917" y="3897044"/>
            <a:ext cx="95061" cy="108941"/>
          </a:xfrm>
          <a:prstGeom prst="rect">
            <a:avLst/>
          </a:prstGeom>
        </p:spPr>
      </p:pic>
      <p:pic>
        <p:nvPicPr>
          <p:cNvPr id="255" name="picture 2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76939" y="3393862"/>
            <a:ext cx="95267" cy="109178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239073" y="4569962"/>
            <a:ext cx="8322309" cy="363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UBS</a:t>
            </a:r>
            <a:r>
              <a:rPr sz="8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，《财富》   ，华尔街见闻，国泰君安证券</a:t>
            </a:r>
            <a:r>
              <a:rPr sz="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究</a:t>
            </a:r>
            <a:endParaRPr lang="en-US" altLang="en-US" sz="800" dirty="0"/>
          </a:p>
          <a:p>
            <a:pPr algn="l" rtl="0" eaLnBrk="0">
              <a:lnSpc>
                <a:spcPct val="144000"/>
              </a:lnSpc>
            </a:pPr>
            <a:endParaRPr lang="en-US" altLang="en-US" sz="200" dirty="0"/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7357" y="1881352"/>
            <a:ext cx="1504950" cy="902995"/>
          </a:xfrm>
          <a:prstGeom prst="rect">
            <a:avLst/>
          </a:prstGeom>
        </p:spPr>
      </p:pic>
      <p:pic>
        <p:nvPicPr>
          <p:cNvPr id="259" name="picture 2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4893" y="3660431"/>
            <a:ext cx="1065365" cy="2524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aphicFrame>
        <p:nvGraphicFramePr>
          <p:cNvPr id="261" name="table 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498461"/>
              </p:ext>
            </p:extLst>
          </p:nvPr>
        </p:nvGraphicFramePr>
        <p:xfrm>
          <a:off x="518794" y="1473708"/>
          <a:ext cx="8149590" cy="3047994"/>
        </p:xfrm>
        <a:graphic>
          <a:graphicData uri="http://schemas.openxmlformats.org/drawingml/2006/table">
            <a:tbl>
              <a:tblPr/>
              <a:tblGrid>
                <a:gridCol w="108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809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273050" algn="l" rtl="0" eaLnBrk="0">
                        <a:lnSpc>
                          <a:spcPct val="98000"/>
                        </a:lnSpc>
                      </a:pPr>
                      <a:r>
                        <a:rPr sz="11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国外公</a:t>
                      </a:r>
                      <a:r>
                        <a:rPr sz="11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1000" dirty="0"/>
                    </a:p>
                    <a:p>
                      <a:pPr marL="26162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</a:t>
                      </a:r>
                      <a:r>
                        <a:rPr sz="11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司名称</a:t>
                      </a:r>
                      <a:endParaRPr lang="en-US" altLang="en-US" sz="1100" dirty="0"/>
                    </a:p>
                  </a:txBody>
                  <a:tcPr marL="0" marR="0" marT="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2705100" algn="l" rtl="0" eaLnBrk="0">
                        <a:lnSpc>
                          <a:spcPct val="98000"/>
                        </a:lnSpc>
                      </a:pPr>
                      <a:r>
                        <a:rPr sz="1100" spc="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</a:t>
                      </a:r>
                      <a:r>
                        <a:rPr sz="1100" spc="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布局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94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402590" algn="l" rtl="0" eaLnBrk="0">
                        <a:lnSpc>
                          <a:spcPct val="98000"/>
                        </a:lnSpc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谷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歌</a:t>
                      </a:r>
                      <a:endParaRPr lang="en-US" altLang="en-US" sz="1100" dirty="0"/>
                    </a:p>
                  </a:txBody>
                  <a:tcPr marL="0" marR="0" marT="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113855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对ChatGPT构成的威胁，注资3亿美元投资竞品Anthropic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94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402590" algn="l" rtl="0" eaLnBrk="0">
                        <a:lnSpc>
                          <a:spcPct val="98000"/>
                        </a:lnSpc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</a:t>
                      </a:r>
                      <a:endParaRPr lang="en-US" altLang="en-US" sz="1100" dirty="0"/>
                    </a:p>
                  </a:txBody>
                  <a:tcPr marL="0" marR="0" marT="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118364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作为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OpenAI</a:t>
                      </a: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最大投资方，利用ChatGPT提高产品竞争力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459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33337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亚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马逊</a:t>
                      </a:r>
                      <a:endParaRPr lang="en-US" altLang="en-US" sz="1100" dirty="0"/>
                    </a:p>
                  </a:txBody>
                  <a:tcPr marL="0" marR="0" marT="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13030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ChatGPT</a:t>
                      </a: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受到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重点关注，已广泛运用在各种工作职能中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9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273050" algn="l" rtl="0" eaLnBrk="0">
                        <a:lnSpc>
                          <a:spcPct val="98000"/>
                        </a:lnSpc>
                      </a:pPr>
                      <a:r>
                        <a:rPr sz="1100" spc="-1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国内公</a:t>
                      </a:r>
                      <a:r>
                        <a:rPr sz="1100" spc="0" dirty="0">
                          <a:ln w="3175" cap="flat" cmpd="sng">
                            <a:solidFill>
                              <a:srgbClr val="00000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40449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marL="28384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1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在3月份完成其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ChatGPT</a:t>
                      </a:r>
                      <a:r>
                        <a:rPr sz="11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产品——文心一言(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ERNIE</a:t>
                      </a:r>
                      <a:r>
                        <a:rPr sz="11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Bot</a:t>
                      </a:r>
                      <a:r>
                        <a:rPr sz="11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)的内测，并面向公</a:t>
                      </a:r>
                      <a:r>
                        <a:rPr sz="11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众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444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402590" algn="l" rtl="0" eaLnBrk="0">
                        <a:lnSpc>
                          <a:spcPct val="98000"/>
                        </a:lnSpc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腾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讯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628015" algn="l" rtl="0" eaLnBrk="0">
                        <a:lnSpc>
                          <a:spcPct val="97000"/>
                        </a:lnSpc>
                      </a:pPr>
                      <a:r>
                        <a:rPr sz="11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目前已经公布一项人机对话专</a:t>
                      </a:r>
                      <a:r>
                        <a:rPr sz="11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利，能够实现机器与用户之间自然且顺畅的沟通</a:t>
                      </a:r>
                      <a:endParaRPr lang="en-US" altLang="en-US" sz="11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3" name="textbox 263"/>
          <p:cNvSpPr/>
          <p:nvPr/>
        </p:nvSpPr>
        <p:spPr>
          <a:xfrm>
            <a:off x="-12700" y="124277"/>
            <a:ext cx="8827134" cy="1317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国内外科技巨头积极布局生成式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，部分公司已有成型产品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39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国内外科技巨头都非常重视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引发的科技浪潮，积极布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局生成式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endParaRPr lang="en-US" altLang="en-US" sz="1200" dirty="0"/>
          </a:p>
          <a:p>
            <a:pPr algn="l" rtl="0" eaLnBrk="0">
              <a:lnSpc>
                <a:spcPct val="107000"/>
              </a:lnSpc>
            </a:pPr>
            <a:endParaRPr lang="en-US" altLang="en-US" sz="500" dirty="0"/>
          </a:p>
          <a:p>
            <a:pPr marL="3249930" algn="l" rtl="0" eaLnBrk="0">
              <a:lnSpc>
                <a:spcPts val="1150"/>
              </a:lnSpc>
              <a:spcBef>
                <a:spcPts val="0"/>
              </a:spcBef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表1 ：国内外科技公司积极布局生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式AI</a:t>
            </a:r>
            <a:endParaRPr lang="en-US" altLang="en-US" sz="900" dirty="0"/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265" name="path"/>
          <p:cNvSpPr/>
          <p:nvPr/>
        </p:nvSpPr>
        <p:spPr>
          <a:xfrm>
            <a:off x="59167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textbox 266"/>
          <p:cNvSpPr/>
          <p:nvPr/>
        </p:nvSpPr>
        <p:spPr>
          <a:xfrm>
            <a:off x="310832" y="4566609"/>
            <a:ext cx="8250555" cy="3670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32080" algn="l" rtl="0" eaLnBrk="0">
              <a:lnSpc>
                <a:spcPct val="97000"/>
              </a:lnSpc>
            </a:pPr>
            <a:r>
              <a:rPr sz="80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来源：各公司公告</a:t>
            </a:r>
            <a:r>
              <a:rPr lang="zh-CN" altLang="en-US"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，国泰君安证券研究</a:t>
            </a:r>
            <a:endParaRPr lang="zh-CN" altLang="en-US" sz="800" dirty="0"/>
          </a:p>
          <a:p>
            <a:pPr algn="l" rtl="0" eaLnBrk="0">
              <a:lnSpc>
                <a:spcPct val="103000"/>
              </a:lnSpc>
            </a:pPr>
            <a:endParaRPr lang="zh-CN" altLang="en-US" sz="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269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" name="textbox 270"/>
          <p:cNvSpPr/>
          <p:nvPr/>
        </p:nvSpPr>
        <p:spPr>
          <a:xfrm>
            <a:off x="-12700" y="124277"/>
            <a:ext cx="8827134" cy="23647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0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谷歌：面对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构成的威胁，注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亿美元投资竞品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Anthropic</a:t>
            </a:r>
            <a:endParaRPr lang="en-US" altLang="en-US" sz="2000" dirty="0"/>
          </a:p>
          <a:p>
            <a:pPr marL="251460" algn="l" rtl="0" eaLnBrk="0">
              <a:lnSpc>
                <a:spcPct val="94000"/>
              </a:lnSpc>
              <a:spcBef>
                <a:spcPts val="147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发布后，谷歌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CEO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在公司内部发布了“红色警报”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Red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)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敦促团队解决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对公司搜索引擎业务构成的</a:t>
            </a:r>
            <a:endParaRPr lang="en-US" altLang="en-US" sz="1200" dirty="0"/>
          </a:p>
          <a:p>
            <a:pPr marL="526415" algn="l" rtl="0" eaLnBrk="0">
              <a:lnSpc>
                <a:spcPct val="97000"/>
              </a:lnSpc>
              <a:spcBef>
                <a:spcPts val="805"/>
              </a:spcBef>
            </a:pP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威胁，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同时批准了在谷歌搜索引擎中加入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聊天机器人的计划</a:t>
            </a:r>
            <a:endParaRPr lang="en-US" altLang="en-US" sz="1200" dirty="0"/>
          </a:p>
          <a:p>
            <a:pPr marL="248285" algn="l" rtl="0" eaLnBrk="0">
              <a:lnSpc>
                <a:spcPct val="93000"/>
              </a:lnSpc>
              <a:spcBef>
                <a:spcPts val="67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2月4日，谷歌注资3亿美元投资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竞品——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，谷歌将获得约10%的股份， 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计划将次轮资金用于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购买谷歌云计算部</a:t>
            </a:r>
            <a:endParaRPr lang="en-US" altLang="en-US" sz="1000" dirty="0"/>
          </a:p>
          <a:p>
            <a:pPr marL="537210" algn="l" rtl="0" eaLnBrk="0">
              <a:lnSpc>
                <a:spcPct val="93000"/>
              </a:lnSpc>
              <a:spcBef>
                <a:spcPts val="785"/>
              </a:spcBef>
            </a:pP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门的计算资源；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开发了一款名为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的智能聊天机器人，据称可与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相媲美(仍未发布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000" dirty="0"/>
          </a:p>
          <a:p>
            <a:pPr marL="248285" algn="l" rtl="0" eaLnBrk="0">
              <a:lnSpc>
                <a:spcPct val="93000"/>
              </a:lnSpc>
              <a:spcBef>
                <a:spcPts val="770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渊源颇深，其联合创始人曾担任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研究副</a:t>
            </a: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</a:t>
            </a:r>
            <a:endParaRPr lang="en-US" altLang="en-US" sz="10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64262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图9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的联合创始人曾担任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研究副总裁        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图10 ：聊天机器人Claude据称可与ChatGPT相媲美</a:t>
            </a:r>
            <a:endParaRPr lang="en-US" altLang="en-US" sz="900" dirty="0"/>
          </a:p>
        </p:txBody>
      </p:sp>
      <p:pic>
        <p:nvPicPr>
          <p:cNvPr id="271" name="picture 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2045904"/>
            <a:ext cx="90927" cy="104205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5817" y="1565464"/>
            <a:ext cx="90927" cy="104204"/>
          </a:xfrm>
          <a:prstGeom prst="rect">
            <a:avLst/>
          </a:prstGeom>
        </p:spPr>
      </p:pic>
      <p:pic>
        <p:nvPicPr>
          <p:cNvPr id="273" name="picture 2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274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5" name="picture 2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91151" y="2511056"/>
            <a:ext cx="3088767" cy="2186939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7925" y="2493403"/>
            <a:ext cx="2636266" cy="2204592"/>
          </a:xfrm>
          <a:prstGeom prst="rect">
            <a:avLst/>
          </a:prstGeom>
        </p:spPr>
      </p:pic>
      <p:sp>
        <p:nvSpPr>
          <p:cNvPr id="277" name="textbox 277"/>
          <p:cNvSpPr/>
          <p:nvPr/>
        </p:nvSpPr>
        <p:spPr>
          <a:xfrm>
            <a:off x="310832" y="4714506"/>
            <a:ext cx="8250555" cy="330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200" dirty="0"/>
          </a:p>
          <a:p>
            <a:pPr marL="276225" marR="0" lvl="0" indent="0" algn="l" defTabSz="914400" rtl="0" eaLnBrk="0" fontAlgn="auto" latinLnBrk="0" hangingPunct="1">
              <a:lnSpc>
                <a:spcPct val="97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kumimoji="0" lang="zh-CN" altLang="en-US" sz="8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来源：腾讯新闻，国泰君安证券研究</a:t>
            </a:r>
            <a:r>
              <a:rPr lang="en-US" altLang="zh-CN" sz="800" dirty="0">
                <a:solidFill>
                  <a:srgbClr val="000000"/>
                </a:solidFill>
              </a:rPr>
              <a:t>			</a:t>
            </a:r>
            <a:r>
              <a:rPr lang="zh-CN" altLang="en-US" sz="1200" spc="20" baseline="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资料来源：新浪财经，国泰君安证券研究</a:t>
            </a:r>
            <a:r>
              <a:rPr lang="zh-CN" altLang="en-US" sz="7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2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94428" y="2066594"/>
            <a:ext cx="4183633" cy="2389123"/>
          </a:xfrm>
          <a:prstGeom prst="rect">
            <a:avLst/>
          </a:prstGeom>
        </p:spPr>
      </p:pic>
      <p:pic>
        <p:nvPicPr>
          <p:cNvPr id="281" name="picture 2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0347" y="2125332"/>
            <a:ext cx="4044569" cy="2276983"/>
          </a:xfrm>
          <a:prstGeom prst="rect">
            <a:avLst/>
          </a:prstGeom>
        </p:spPr>
      </p:pic>
      <p:sp>
        <p:nvSpPr>
          <p:cNvPr id="282" name="textbox 282"/>
          <p:cNvSpPr/>
          <p:nvPr/>
        </p:nvSpPr>
        <p:spPr>
          <a:xfrm>
            <a:off x="223117" y="1010488"/>
            <a:ext cx="8464550" cy="6851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5875" algn="l" rtl="0" eaLnBrk="0">
              <a:lnSpc>
                <a:spcPct val="94000"/>
              </a:lnSpc>
              <a:tabLst>
                <a:tab pos="10287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微软将</a:t>
            </a:r>
            <a:r>
              <a:rPr sz="1200" b="1" spc="-3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视为新一代技术革命，将</a:t>
            </a:r>
            <a:r>
              <a:rPr sz="1200" b="1" spc="-3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整合进</a:t>
            </a:r>
            <a:r>
              <a:rPr sz="1200" b="1" spc="-3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Bing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搜索引擎、</a:t>
            </a:r>
            <a:r>
              <a:rPr sz="1200" spc="-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b="1" spc="-3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Office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全家桶、</a:t>
            </a:r>
            <a:r>
              <a:rPr sz="1200" spc="-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b="1" spc="-3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Azu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云服务、</a:t>
            </a:r>
            <a:r>
              <a:rPr sz="1200" spc="-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Teams</a:t>
            </a:r>
            <a:r>
              <a:rPr sz="1200" spc="-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程序等产品中</a:t>
            </a:r>
            <a:endParaRPr lang="en-US" altLang="en-US" sz="1200" dirty="0"/>
          </a:p>
          <a:p>
            <a:pPr marL="12700" algn="l" rtl="0" eaLnBrk="0">
              <a:lnSpc>
                <a:spcPct val="93000"/>
              </a:lnSpc>
              <a:spcBef>
                <a:spcPts val="720"/>
              </a:spcBef>
              <a:tabLst>
                <a:tab pos="10287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微软近期宣布推出视频会议及远程协作平台的高级付费版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Microsoft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Teams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Premium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，订阅者可享用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提供支持的大型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言模</a:t>
            </a:r>
            <a:endParaRPr lang="en-US" altLang="en-US" sz="1000" dirty="0"/>
          </a:p>
          <a:p>
            <a:pPr algn="l" rtl="0" eaLnBrk="0">
              <a:lnSpc>
                <a:spcPct val="108000"/>
              </a:lnSpc>
            </a:pPr>
            <a:endParaRPr lang="en-US" altLang="en-US" sz="600" dirty="0"/>
          </a:p>
          <a:p>
            <a:pPr marL="292100" algn="l" rtl="0" eaLnBrk="0">
              <a:lnSpc>
                <a:spcPts val="1225"/>
              </a:lnSpc>
              <a:spcBef>
                <a:spcPts val="0"/>
              </a:spcBef>
            </a:pP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型技术，用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自动生成会议笔记，此举或对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Zoom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、谷歌会议等平台形成巨大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击。</a:t>
            </a:r>
            <a:endParaRPr lang="en-US" altLang="en-US" sz="1000" dirty="0"/>
          </a:p>
        </p:txBody>
      </p:sp>
      <p:pic>
        <p:nvPicPr>
          <p:cNvPr id="283" name="picture 2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5817" y="1291144"/>
            <a:ext cx="90927" cy="104204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285" name="textbox 285"/>
          <p:cNvSpPr/>
          <p:nvPr/>
        </p:nvSpPr>
        <p:spPr>
          <a:xfrm>
            <a:off x="835357" y="124277"/>
            <a:ext cx="7979409" cy="625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微软：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的最大投资方，开始利用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提高产品竞争力</a:t>
            </a:r>
            <a:endParaRPr lang="en-US" altLang="en-US" sz="2000" dirty="0"/>
          </a:p>
        </p:txBody>
      </p:sp>
      <p:sp>
        <p:nvSpPr>
          <p:cNvPr id="286" name="textbox 286"/>
          <p:cNvSpPr/>
          <p:nvPr/>
        </p:nvSpPr>
        <p:spPr>
          <a:xfrm>
            <a:off x="310832" y="4463586"/>
            <a:ext cx="3325495" cy="4705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34925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来源：微软官网，国泰君安证券研究</a:t>
            </a:r>
            <a:endParaRPr lang="en-US" altLang="en-US" sz="8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</p:txBody>
      </p:sp>
      <p:sp>
        <p:nvSpPr>
          <p:cNvPr id="288" name="textbox 288"/>
          <p:cNvSpPr/>
          <p:nvPr/>
        </p:nvSpPr>
        <p:spPr>
          <a:xfrm>
            <a:off x="4659943" y="4549845"/>
            <a:ext cx="3901440" cy="371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</a:t>
            </a:r>
            <a:r>
              <a:rPr sz="800" spc="-2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</a:t>
            </a:r>
            <a:r>
              <a:rPr sz="800" spc="-1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sz="800" spc="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800" spc="-2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Central</a:t>
            </a:r>
            <a:r>
              <a:rPr sz="800" spc="-20" dirty="0">
                <a:solidFill>
                  <a:srgbClr val="03030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，国泰君安证券研究</a:t>
            </a:r>
            <a:endParaRPr lang="en-US" altLang="en-US" sz="800" dirty="0"/>
          </a:p>
          <a:p>
            <a:pPr algn="l" rtl="0" eaLnBrk="0">
              <a:lnSpc>
                <a:spcPct val="106000"/>
              </a:lnSpc>
            </a:pPr>
            <a:endParaRPr lang="en-US" altLang="en-US" sz="400" dirty="0"/>
          </a:p>
          <a:p>
            <a:pPr algn="r" rtl="0" eaLnBrk="0">
              <a:lnSpc>
                <a:spcPct val="97000"/>
              </a:lnSpc>
            </a:pPr>
            <a:r>
              <a:rPr sz="110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en-US" sz="900" dirty="0"/>
          </a:p>
        </p:txBody>
      </p:sp>
      <p:sp>
        <p:nvSpPr>
          <p:cNvPr id="289" name="textbox 289"/>
          <p:cNvSpPr/>
          <p:nvPr/>
        </p:nvSpPr>
        <p:spPr>
          <a:xfrm>
            <a:off x="291109" y="1894865"/>
            <a:ext cx="4111625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图11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Microsoft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Teams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Premium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使用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做笔记，使远程协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作更高效</a:t>
            </a:r>
            <a:endParaRPr lang="en-US" altLang="en-US" sz="900" dirty="0"/>
          </a:p>
        </p:txBody>
      </p:sp>
      <p:sp>
        <p:nvSpPr>
          <p:cNvPr id="290" name="textbox 290"/>
          <p:cNvSpPr/>
          <p:nvPr/>
        </p:nvSpPr>
        <p:spPr>
          <a:xfrm>
            <a:off x="4901844" y="1844319"/>
            <a:ext cx="3731259" cy="1460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图12 ：集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成了ChatGPT的新版 Bing 曾短暂上线，搜索框类似一个聊天框</a:t>
            </a:r>
            <a:endParaRPr lang="en-US" altLang="en-US" sz="900" dirty="0"/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0" y="411531"/>
            <a:ext cx="755581" cy="432003"/>
            <a:chOff x="0" y="0"/>
            <a:chExt cx="755581" cy="432003"/>
          </a:xfrm>
        </p:grpSpPr>
        <p:sp>
          <p:nvSpPr>
            <p:cNvPr id="291" name="path"/>
            <p:cNvSpPr/>
            <p:nvPr/>
          </p:nvSpPr>
          <p:spPr>
            <a:xfrm>
              <a:off x="0" y="0"/>
              <a:ext cx="755581" cy="432003"/>
            </a:xfrm>
            <a:custGeom>
              <a:avLst/>
              <a:gdLst/>
              <a:ahLst/>
              <a:cxnLst/>
              <a:rect l="0" t="0" r="0" b="0"/>
              <a:pathLst>
                <a:path w="1189" h="680">
                  <a:moveTo>
                    <a:pt x="0" y="680"/>
                  </a:moveTo>
                  <a:lnTo>
                    <a:pt x="1077" y="680"/>
                  </a:lnTo>
                  <a:lnTo>
                    <a:pt x="1077" y="0"/>
                  </a:lnTo>
                  <a:lnTo>
                    <a:pt x="0" y="0"/>
                  </a:lnTo>
                  <a:lnTo>
                    <a:pt x="0" y="680"/>
                  </a:lnTo>
                  <a:close/>
                </a:path>
                <a:path w="1189" h="680">
                  <a:moveTo>
                    <a:pt x="1121" y="680"/>
                  </a:moveTo>
                  <a:lnTo>
                    <a:pt x="1189" y="680"/>
                  </a:lnTo>
                  <a:lnTo>
                    <a:pt x="1189" y="0"/>
                  </a:lnTo>
                  <a:lnTo>
                    <a:pt x="1121" y="0"/>
                  </a:lnTo>
                  <a:lnTo>
                    <a:pt x="1121" y="680"/>
                  </a:lnTo>
                  <a:close/>
                </a:path>
              </a:pathLst>
            </a:custGeom>
            <a:solidFill>
              <a:srgbClr val="0677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textbox 292"/>
            <p:cNvSpPr/>
            <p:nvPr/>
          </p:nvSpPr>
          <p:spPr>
            <a:xfrm>
              <a:off x="-12700" y="-12700"/>
              <a:ext cx="781050" cy="5505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6050" algn="l" rtl="0" eaLnBrk="0">
                <a:lnSpc>
                  <a:spcPct val="80000"/>
                </a:lnSpc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altLang="zh-CN" sz="320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altLang="en-US" sz="3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2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294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5" name="textbox 295"/>
          <p:cNvSpPr/>
          <p:nvPr/>
        </p:nvSpPr>
        <p:spPr>
          <a:xfrm>
            <a:off x="-12700" y="124277"/>
            <a:ext cx="8827134" cy="1558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-1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亚马逊：</a:t>
            </a:r>
            <a:r>
              <a:rPr sz="20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受到重点关注，已广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泛运用在各种工作职能中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39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已经被亚马逊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用于各种不同的工作职能中，包括回答面试问题、编写软件代码和创建培训文档等</a:t>
            </a:r>
            <a:endParaRPr lang="en-US" altLang="en-US" sz="1200" dirty="0"/>
          </a:p>
          <a:p>
            <a:pPr marL="248285" algn="l" rtl="0" eaLnBrk="0">
              <a:lnSpc>
                <a:spcPct val="99000"/>
              </a:lnSpc>
              <a:spcBef>
                <a:spcPts val="680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公司内部员工在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Slack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表示 ，亚马逊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Services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AWS</a:t>
            </a:r>
            <a:r>
              <a:rPr sz="10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)云部门已经成立了一个小型工作组，以更好地了解人工智能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其业务的</a:t>
            </a:r>
            <a:endParaRPr lang="en-US" altLang="en-US" sz="1000" dirty="0"/>
          </a:p>
          <a:p>
            <a:pPr algn="l" rtl="0" eaLnBrk="0">
              <a:lnSpc>
                <a:spcPct val="117000"/>
              </a:lnSpc>
            </a:pPr>
            <a:endParaRPr lang="en-US" altLang="en-US" sz="500" dirty="0"/>
          </a:p>
          <a:p>
            <a:pPr marL="527050" algn="l" rtl="0" eaLnBrk="0">
              <a:lnSpc>
                <a:spcPts val="1125"/>
              </a:lnSpc>
              <a:spcBef>
                <a:spcPts val="0"/>
              </a:spcBef>
            </a:pP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影响。</a:t>
            </a:r>
            <a:endParaRPr lang="en-US" altLang="en-US" sz="900" dirty="0"/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1291144"/>
            <a:ext cx="90927" cy="104204"/>
          </a:xfrm>
          <a:prstGeom prst="rect">
            <a:avLst/>
          </a:prstGeom>
        </p:spPr>
      </p:pic>
      <p:pic>
        <p:nvPicPr>
          <p:cNvPr id="297" name="picture 2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298" name="path"/>
          <p:cNvSpPr/>
          <p:nvPr/>
        </p:nvSpPr>
        <p:spPr>
          <a:xfrm>
            <a:off x="59167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9" name="picture 2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90288" y="2110104"/>
            <a:ext cx="4085463" cy="2152269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35216" y="2195359"/>
            <a:ext cx="3984498" cy="2141220"/>
          </a:xfrm>
          <a:prstGeom prst="rect">
            <a:avLst/>
          </a:prstGeom>
        </p:spPr>
      </p:pic>
      <p:sp>
        <p:nvSpPr>
          <p:cNvPr id="301" name="textbox 301"/>
          <p:cNvSpPr/>
          <p:nvPr/>
        </p:nvSpPr>
        <p:spPr>
          <a:xfrm>
            <a:off x="310832" y="4388605"/>
            <a:ext cx="3325495" cy="5454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72085" algn="l" rtl="0" eaLnBrk="0">
              <a:lnSpc>
                <a:spcPct val="97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 </a:t>
            </a:r>
            <a:r>
              <a:rPr sz="800" spc="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Business</a:t>
            </a:r>
            <a:r>
              <a:rPr sz="800" spc="-2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spc="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Insider</a:t>
            </a:r>
            <a:r>
              <a:rPr sz="800" spc="-20" dirty="0">
                <a:solidFill>
                  <a:srgbClr val="33333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，新浪科技，国泰君安证券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endParaRPr lang="en-US" altLang="en-US" sz="800" dirty="0"/>
          </a:p>
          <a:p>
            <a:pPr algn="l" rtl="0" eaLnBrk="0">
              <a:lnSpc>
                <a:spcPct val="126000"/>
              </a:lnSpc>
            </a:pPr>
            <a:endParaRPr lang="en-US" altLang="en-US" sz="1000" dirty="0"/>
          </a:p>
          <a:p>
            <a:pPr algn="l" rtl="0" eaLnBrk="0">
              <a:lnSpc>
                <a:spcPct val="139000"/>
              </a:lnSpc>
            </a:pPr>
            <a:endParaRPr lang="en-US" altLang="en-US" sz="200" dirty="0"/>
          </a:p>
        </p:txBody>
      </p:sp>
      <p:sp>
        <p:nvSpPr>
          <p:cNvPr id="303" name="textbox 303"/>
          <p:cNvSpPr/>
          <p:nvPr/>
        </p:nvSpPr>
        <p:spPr>
          <a:xfrm>
            <a:off x="1037869" y="1809000"/>
            <a:ext cx="2980054" cy="1631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图13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已经被亚马逊用于各种不同的工作职能中</a:t>
            </a:r>
            <a:endParaRPr lang="en-US" altLang="en-US" sz="900" dirty="0"/>
          </a:p>
        </p:txBody>
      </p:sp>
      <p:sp>
        <p:nvSpPr>
          <p:cNvPr id="304" name="textbox 304"/>
          <p:cNvSpPr/>
          <p:nvPr/>
        </p:nvSpPr>
        <p:spPr>
          <a:xfrm>
            <a:off x="5225567" y="1842795"/>
            <a:ext cx="2726054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图14 ：亚马逊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AWS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云部门的职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能与人工智能联系紧密</a:t>
            </a:r>
            <a:endParaRPr lang="en-US" altLang="en-US" sz="900" dirty="0"/>
          </a:p>
        </p:txBody>
      </p:sp>
      <p:sp>
        <p:nvSpPr>
          <p:cNvPr id="306" name="textbox 306"/>
          <p:cNvSpPr/>
          <p:nvPr/>
        </p:nvSpPr>
        <p:spPr>
          <a:xfrm>
            <a:off x="4593395" y="4362698"/>
            <a:ext cx="2075179" cy="133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Encapte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hno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，国泰君安证券研究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picture 3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308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9" name="textbox 309"/>
          <p:cNvSpPr/>
          <p:nvPr/>
        </p:nvSpPr>
        <p:spPr>
          <a:xfrm>
            <a:off x="-12700" y="124277"/>
            <a:ext cx="8827134" cy="18459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美国新媒体巨头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Buzzfeed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踩准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风口，两天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内股价飙升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39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b="1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29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日，美国新媒体巨头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Buzzfeed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宣布计划采用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协助内容创作，其股价一夜间暴涨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120%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，两天内飙升逾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300%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1200" dirty="0"/>
          </a:p>
          <a:p>
            <a:pPr marL="527685" algn="l" rtl="0" eaLnBrk="0">
              <a:lnSpc>
                <a:spcPct val="94000"/>
              </a:lnSpc>
              <a:spcBef>
                <a:spcPts val="770"/>
              </a:spcBef>
            </a:pP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成交量突破</a:t>
            </a:r>
            <a:r>
              <a:rPr sz="1200" b="1" spc="5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4.38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亿股(其月平均成交量不足</a:t>
            </a:r>
            <a:r>
              <a:rPr sz="1200" b="1" spc="5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25</a:t>
            </a:r>
            <a:r>
              <a:rPr sz="1200" b="1" spc="4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万股)</a:t>
            </a:r>
            <a:endParaRPr lang="en-US" altLang="en-US" sz="1200" dirty="0"/>
          </a:p>
          <a:p>
            <a:pPr marL="248285" algn="l" rtl="0" eaLnBrk="0">
              <a:lnSpc>
                <a:spcPts val="1225"/>
              </a:lnSpc>
              <a:spcBef>
                <a:spcPts val="71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消息公布后同类型公司股票成交量也迎来历史高峰：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本月成交量超过7200万股 ，为自去年6月以来最多；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语音AI软件公司SoundHound AI</a:t>
            </a: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500" dirty="0"/>
          </a:p>
          <a:p>
            <a:pPr marL="418465" algn="l" rtl="0" eaLnBrk="0">
              <a:lnSpc>
                <a:spcPts val="1225"/>
              </a:lnSpc>
              <a:spcBef>
                <a:spcPts val="5"/>
              </a:spcBef>
            </a:pP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的成交量约为6450万股 ，几乎是其月</a:t>
            </a: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均值的三倍</a:t>
            </a:r>
            <a:endParaRPr lang="en-US" altLang="en-US" sz="1000" dirty="0"/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1565464"/>
            <a:ext cx="90927" cy="104204"/>
          </a:xfrm>
          <a:prstGeom prst="rect">
            <a:avLst/>
          </a:prstGeom>
        </p:spPr>
      </p:pic>
      <p:pic>
        <p:nvPicPr>
          <p:cNvPr id="311" name="picture 3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312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3" name="picture 3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50180" y="2285314"/>
            <a:ext cx="3997325" cy="2242947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13422" y="2285314"/>
            <a:ext cx="3780409" cy="2242947"/>
          </a:xfrm>
          <a:prstGeom prst="rect">
            <a:avLst/>
          </a:prstGeom>
        </p:spPr>
      </p:pic>
      <p:sp>
        <p:nvSpPr>
          <p:cNvPr id="315" name="textbox 315"/>
          <p:cNvSpPr/>
          <p:nvPr/>
        </p:nvSpPr>
        <p:spPr>
          <a:xfrm>
            <a:off x="4889051" y="4568133"/>
            <a:ext cx="3672840" cy="3536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来源：腾讯新闻，国泰君安证券研究</a:t>
            </a:r>
            <a:endParaRPr lang="en-US" altLang="en-US" sz="800" dirty="0"/>
          </a:p>
          <a:p>
            <a:pPr algn="l" rtl="0" eaLnBrk="0">
              <a:lnSpc>
                <a:spcPct val="101000"/>
              </a:lnSpc>
            </a:pPr>
            <a:endParaRPr lang="en-US" altLang="en-US" sz="300" dirty="0"/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110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en-US" sz="900" dirty="0"/>
          </a:p>
        </p:txBody>
      </p:sp>
      <p:sp>
        <p:nvSpPr>
          <p:cNvPr id="316" name="textbox 316"/>
          <p:cNvSpPr/>
          <p:nvPr/>
        </p:nvSpPr>
        <p:spPr>
          <a:xfrm>
            <a:off x="310832" y="4568133"/>
            <a:ext cx="3325495" cy="3663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327025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来源：澎湃新闻，国泰君安证券研究</a:t>
            </a:r>
            <a:endParaRPr lang="en-US" altLang="en-US" sz="800" dirty="0"/>
          </a:p>
          <a:p>
            <a:pPr algn="l" rtl="0" eaLnBrk="0">
              <a:lnSpc>
                <a:spcPct val="120000"/>
              </a:lnSpc>
            </a:pPr>
            <a:endParaRPr lang="en-US" altLang="en-US" sz="300" dirty="0"/>
          </a:p>
        </p:txBody>
      </p:sp>
      <p:sp>
        <p:nvSpPr>
          <p:cNvPr id="318" name="textbox 318"/>
          <p:cNvSpPr/>
          <p:nvPr/>
        </p:nvSpPr>
        <p:spPr>
          <a:xfrm>
            <a:off x="526719" y="2056612"/>
            <a:ext cx="3930015" cy="2870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图15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Buzzfeed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宣布计划采用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协助内容创作后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，股价一夜间暴涨近</a:t>
            </a:r>
            <a:endParaRPr lang="en-US" altLang="en-US" sz="900" dirty="0"/>
          </a:p>
          <a:p>
            <a:pPr marL="1812925" algn="l" rtl="0" eaLnBrk="0">
              <a:lnSpc>
                <a:spcPct val="84000"/>
              </a:lnSpc>
              <a:spcBef>
                <a:spcPts val="60"/>
              </a:spcBef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lang="en-US" altLang="en-US" sz="900" dirty="0"/>
          </a:p>
        </p:txBody>
      </p:sp>
      <p:sp>
        <p:nvSpPr>
          <p:cNvPr id="319" name="textbox 319"/>
          <p:cNvSpPr/>
          <p:nvPr/>
        </p:nvSpPr>
        <p:spPr>
          <a:xfrm>
            <a:off x="4678959" y="2067280"/>
            <a:ext cx="3815715" cy="1644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图16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Buzzfeed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宣布计划采用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协助内容创作后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，股票成交量暴涨</a:t>
            </a:r>
            <a:endParaRPr lang="en-US" alt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321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" name="textbox 322"/>
          <p:cNvSpPr/>
          <p:nvPr/>
        </p:nvSpPr>
        <p:spPr>
          <a:xfrm>
            <a:off x="-12700" y="124277"/>
            <a:ext cx="8827134" cy="13309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0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-20" baseline="-1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-20" baseline="-1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Stability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Stable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Diffusion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大热，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</a:t>
            </a:r>
            <a:r>
              <a:rPr sz="20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在图片生成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20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大有可为</a:t>
            </a:r>
            <a:endParaRPr lang="en-US" altLang="en-US" sz="2000" dirty="0"/>
          </a:p>
          <a:p>
            <a:pPr marL="251460" algn="l" rtl="0" eaLnBrk="0">
              <a:lnSpc>
                <a:spcPct val="94000"/>
              </a:lnSpc>
              <a:spcBef>
                <a:spcPts val="146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Stability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有着与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相同的创业理念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：构建开源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项目，促进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发展，其成功证明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在图片生成领域同样大有可为</a:t>
            </a:r>
            <a:endParaRPr lang="en-US" altLang="en-US" sz="1200" dirty="0"/>
          </a:p>
          <a:p>
            <a:pPr algn="l" rtl="0" eaLnBrk="0">
              <a:lnSpc>
                <a:spcPct val="119000"/>
              </a:lnSpc>
            </a:pPr>
            <a:endParaRPr lang="en-US" altLang="en-US" sz="500" dirty="0"/>
          </a:p>
          <a:p>
            <a:pPr marL="248285" algn="l" rtl="0" eaLnBrk="0">
              <a:lnSpc>
                <a:spcPts val="1225"/>
              </a:lnSpc>
              <a:spcBef>
                <a:spcPts val="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公司的开源模型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Stable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Diffusion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可以根据文字生成图片，只需要几秒钟，就可以生成分辨率、清晰度高，同时不失真实性和艺术性的图片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000" dirty="0"/>
          </a:p>
        </p:txBody>
      </p:sp>
      <p:pic>
        <p:nvPicPr>
          <p:cNvPr id="323" name="picture 3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1291144"/>
            <a:ext cx="90927" cy="104204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325" name="path"/>
          <p:cNvSpPr/>
          <p:nvPr/>
        </p:nvSpPr>
        <p:spPr>
          <a:xfrm>
            <a:off x="5891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95875" y="1949576"/>
            <a:ext cx="4224528" cy="2402713"/>
          </a:xfrm>
          <a:prstGeom prst="rect">
            <a:avLst/>
          </a:prstGeom>
        </p:spPr>
      </p:pic>
      <p:pic>
        <p:nvPicPr>
          <p:cNvPr id="327" name="picture 3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0636" y="1949576"/>
            <a:ext cx="4007358" cy="2402713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310832" y="4404455"/>
            <a:ext cx="3325495" cy="5295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09855" algn="l" rtl="0" eaLnBrk="0">
              <a:lnSpc>
                <a:spcPct val="97000"/>
              </a:lnSpc>
            </a:pPr>
            <a:r>
              <a:rPr sz="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网易新闻 ，国泰君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安证券研究</a:t>
            </a:r>
            <a:endParaRPr lang="en-US" altLang="en-US" sz="800" dirty="0"/>
          </a:p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l" rtl="0" eaLnBrk="0">
              <a:lnSpc>
                <a:spcPct val="142000"/>
              </a:lnSpc>
            </a:pPr>
            <a:endParaRPr lang="en-US" altLang="en-US" sz="200" dirty="0"/>
          </a:p>
        </p:txBody>
      </p:sp>
      <p:sp>
        <p:nvSpPr>
          <p:cNvPr id="330" name="textbox 330"/>
          <p:cNvSpPr/>
          <p:nvPr/>
        </p:nvSpPr>
        <p:spPr>
          <a:xfrm>
            <a:off x="4595139" y="1686077"/>
            <a:ext cx="4128134" cy="295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图18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Stability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有着与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相同的创业理念，其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成功证明Open AI在图片</a:t>
            </a:r>
            <a:endParaRPr lang="en-US" altLang="en-US" sz="900" dirty="0"/>
          </a:p>
          <a:p>
            <a:pPr marL="1490345" algn="l" rtl="0" eaLnBrk="0">
              <a:lnSpc>
                <a:spcPct val="97000"/>
              </a:lnSpc>
              <a:spcBef>
                <a:spcPts val="130"/>
              </a:spcBef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成领域同样大有可为</a:t>
            </a:r>
            <a:endParaRPr lang="en-US" altLang="en-US" sz="900" dirty="0"/>
          </a:p>
        </p:txBody>
      </p:sp>
      <p:sp>
        <p:nvSpPr>
          <p:cNvPr id="331" name="textbox 331"/>
          <p:cNvSpPr/>
          <p:nvPr/>
        </p:nvSpPr>
        <p:spPr>
          <a:xfrm>
            <a:off x="505079" y="1686077"/>
            <a:ext cx="3829050" cy="1581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图17 ：用户使用基于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Stable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Diffusion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算法构建的工具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创建了数百万张图像</a:t>
            </a:r>
            <a:endParaRPr lang="en-US" altLang="en-US" sz="900" dirty="0"/>
          </a:p>
        </p:txBody>
      </p:sp>
      <p:sp>
        <p:nvSpPr>
          <p:cNvPr id="332" name="textbox 332"/>
          <p:cNvSpPr/>
          <p:nvPr/>
        </p:nvSpPr>
        <p:spPr>
          <a:xfrm>
            <a:off x="4629082" y="4404455"/>
            <a:ext cx="2207895" cy="1327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 St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ability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 ，国泰君安证券研究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picture 3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52004" cy="5148000"/>
          </a:xfrm>
          <a:prstGeom prst="rect">
            <a:avLst/>
          </a:prstGeom>
        </p:spPr>
      </p:pic>
      <p:sp>
        <p:nvSpPr>
          <p:cNvPr id="350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1" name="textbox 351"/>
          <p:cNvSpPr/>
          <p:nvPr/>
        </p:nvSpPr>
        <p:spPr>
          <a:xfrm>
            <a:off x="-12700" y="124277"/>
            <a:ext cx="8877934" cy="23850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0000"/>
              </a:lnSpc>
              <a:spcBef>
                <a:spcPts val="120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6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6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国内厂商(百度</a:t>
            </a:r>
            <a:r>
              <a:rPr sz="2000" b="1" spc="6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腾讯)：</a:t>
            </a:r>
            <a:r>
              <a:rPr sz="2000" spc="6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高度关注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6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，积极探索前沿技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45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百度：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日，百度宣布将升级百度搜索的“生成式搜索”能力，智能解答用户的搜索提问；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日，百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宣布将在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</a:t>
            </a:r>
            <a:endParaRPr lang="en-US" altLang="en-US" sz="1200" dirty="0"/>
          </a:p>
          <a:p>
            <a:pPr marL="529590" algn="l" rtl="0" eaLnBrk="0">
              <a:lnSpc>
                <a:spcPct val="94000"/>
              </a:lnSpc>
              <a:spcBef>
                <a:spcPts val="770"/>
              </a:spcBef>
            </a:pP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完成其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产品的内测，面向公众开放，该项目名字为文心一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言(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ERNIE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Bot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1200" dirty="0"/>
          </a:p>
          <a:p>
            <a:pPr marL="248285" algn="l" rtl="0" eaLnBrk="0">
              <a:lnSpc>
                <a:spcPts val="1225"/>
              </a:lnSpc>
              <a:spcBef>
                <a:spcPts val="71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百度指出，生成式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和搜索引擎是互补关系而不是替代；据路透社报道，百度计划于 3 月将类似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对话服务作为独立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用推出，</a:t>
            </a:r>
            <a:endParaRPr lang="en-US" altLang="en-US" sz="1000" dirty="0"/>
          </a:p>
          <a:p>
            <a:pPr marL="526415" algn="l" rtl="0" eaLnBrk="0">
              <a:lnSpc>
                <a:spcPts val="1225"/>
              </a:lnSpc>
              <a:spcBef>
                <a:spcPts val="675"/>
              </a:spcBef>
            </a:pP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之后再逐步将其合并到搜索引擎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中。</a:t>
            </a:r>
            <a:endParaRPr lang="en-US" altLang="en-US" sz="1000" dirty="0"/>
          </a:p>
          <a:p>
            <a:pPr marL="251460" algn="l" rtl="0" eaLnBrk="0">
              <a:lnSpc>
                <a:spcPct val="97000"/>
              </a:lnSpc>
              <a:spcBef>
                <a:spcPts val="74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腾讯：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日，腾讯公布一项人机对话专利，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能够实现机器与用户之间自然且顺畅的沟通</a:t>
            </a:r>
            <a:endParaRPr lang="en-US" altLang="en-US" sz="1200" dirty="0"/>
          </a:p>
          <a:p>
            <a:pPr algn="l" rtl="0" eaLnBrk="0">
              <a:lnSpc>
                <a:spcPct val="106000"/>
              </a:lnSpc>
            </a:pPr>
            <a:endParaRPr lang="en-US" altLang="en-US" sz="600" dirty="0"/>
          </a:p>
          <a:p>
            <a:pPr marL="1285875" algn="l" rtl="0" eaLnBrk="0">
              <a:lnSpc>
                <a:spcPts val="1335"/>
              </a:lnSpc>
              <a:spcBef>
                <a:spcPts val="5"/>
              </a:spcBef>
            </a:pPr>
            <a:r>
              <a:rPr sz="1300" spc="4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图21</a:t>
            </a:r>
            <a:r>
              <a:rPr sz="8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spc="4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：百度研发的</a:t>
            </a:r>
            <a:r>
              <a:rPr sz="1300" spc="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300" spc="4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产品“文心一言”将于3月份问世</a:t>
            </a:r>
            <a:r>
              <a:rPr sz="8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</a:t>
            </a:r>
            <a:r>
              <a:rPr sz="1300" spc="40" baseline="2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图22</a:t>
            </a:r>
            <a:r>
              <a:rPr sz="8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spc="40" baseline="2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：腾讯发布相关专利</a:t>
            </a:r>
            <a:r>
              <a:rPr sz="1300" spc="30" baseline="2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300" spc="0" baseline="2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积极涉足ChatGPT领域</a:t>
            </a:r>
            <a:endParaRPr lang="en-US" altLang="en-US" sz="845" dirty="0"/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2075433"/>
            <a:ext cx="88239" cy="100583"/>
          </a:xfrm>
          <a:prstGeom prst="rect">
            <a:avLst/>
          </a:prstGeom>
        </p:spPr>
      </p:pic>
      <p:pic>
        <p:nvPicPr>
          <p:cNvPr id="353" name="picture 3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5817" y="1565464"/>
            <a:ext cx="90927" cy="104204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355" name="path"/>
          <p:cNvSpPr/>
          <p:nvPr/>
        </p:nvSpPr>
        <p:spPr>
          <a:xfrm>
            <a:off x="60945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7811" y="2793148"/>
            <a:ext cx="4290567" cy="1455166"/>
          </a:xfrm>
          <a:prstGeom prst="rect">
            <a:avLst/>
          </a:prstGeom>
        </p:spPr>
      </p:pic>
      <p:sp>
        <p:nvSpPr>
          <p:cNvPr id="357" name="textbox 357"/>
          <p:cNvSpPr/>
          <p:nvPr/>
        </p:nvSpPr>
        <p:spPr>
          <a:xfrm>
            <a:off x="5220140" y="4732877"/>
            <a:ext cx="3015614" cy="3556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algn="r" rtl="0" eaLnBrk="0">
              <a:lnSpc>
                <a:spcPct val="97000"/>
              </a:lnSpc>
            </a:pPr>
            <a:endParaRPr sz="1100" spc="10" dirty="0">
              <a:solidFill>
                <a:srgbClr val="4040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lang="en-US" altLang="en-US" sz="1100" dirty="0"/>
          </a:p>
          <a:p>
            <a:pPr algn="l" rtl="0" eaLnBrk="0">
              <a:lnSpc>
                <a:spcPct val="107000"/>
              </a:lnSpc>
            </a:pPr>
            <a:endParaRPr lang="en-US" altLang="en-US" sz="3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来源：腾讯新闻，国泰君安证券研究</a:t>
            </a:r>
            <a:endParaRPr lang="en-US" altLang="en-US" sz="800" dirty="0"/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80125" y="2523870"/>
            <a:ext cx="2442463" cy="2325370"/>
          </a:xfrm>
          <a:prstGeom prst="rect">
            <a:avLst/>
          </a:prstGeom>
        </p:spPr>
      </p:pic>
      <p:sp>
        <p:nvSpPr>
          <p:cNvPr id="361" name="textbox 361"/>
          <p:cNvSpPr/>
          <p:nvPr/>
        </p:nvSpPr>
        <p:spPr>
          <a:xfrm>
            <a:off x="712733" y="4334046"/>
            <a:ext cx="19589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来源：中国经济网，国泰君安证券研究</a:t>
            </a:r>
            <a:endParaRPr lang="en-US" altLang="en-US" sz="800" dirty="0"/>
          </a:p>
        </p:txBody>
      </p:sp>
      <p:sp>
        <p:nvSpPr>
          <p:cNvPr id="363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picture 3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52004" cy="5148000"/>
          </a:xfrm>
          <a:prstGeom prst="rect">
            <a:avLst/>
          </a:prstGeom>
        </p:spPr>
      </p:pic>
      <p:sp>
        <p:nvSpPr>
          <p:cNvPr id="350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1" name="textbox 351"/>
          <p:cNvSpPr/>
          <p:nvPr/>
        </p:nvSpPr>
        <p:spPr>
          <a:xfrm>
            <a:off x="-12700" y="124277"/>
            <a:ext cx="8877934" cy="862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0000"/>
              </a:lnSpc>
              <a:spcBef>
                <a:spcPts val="120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6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6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310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国内厂商(百度</a:t>
            </a:r>
            <a:r>
              <a:rPr sz="2000" b="1" spc="6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&amp;</a:t>
            </a:r>
            <a:r>
              <a:rPr sz="2000" spc="6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腾讯)：</a:t>
            </a:r>
            <a:r>
              <a:rPr sz="2000" spc="6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sz="2000" spc="60" dirty="0" err="1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已推出的大模型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45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845" dirty="0"/>
          </a:p>
        </p:txBody>
      </p:sp>
      <p:sp>
        <p:nvSpPr>
          <p:cNvPr id="355" name="path"/>
          <p:cNvSpPr/>
          <p:nvPr/>
        </p:nvSpPr>
        <p:spPr>
          <a:xfrm>
            <a:off x="60945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D9E6CC7C-252E-A373-BB1F-BC690C3B13C8}"/>
              </a:ext>
            </a:extLst>
          </p:cNvPr>
          <p:cNvGrpSpPr/>
          <p:nvPr/>
        </p:nvGrpSpPr>
        <p:grpSpPr>
          <a:xfrm>
            <a:off x="913765" y="1111105"/>
            <a:ext cx="7212326" cy="684848"/>
            <a:chOff x="599605" y="1370228"/>
            <a:chExt cx="7951470" cy="91313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23ECE4DD-0CEC-A7BC-5EA2-3D458FB74B7B}"/>
                </a:ext>
              </a:extLst>
            </p:cNvPr>
            <p:cNvSpPr/>
            <p:nvPr/>
          </p:nvSpPr>
          <p:spPr>
            <a:xfrm>
              <a:off x="599605" y="1723389"/>
              <a:ext cx="7951470" cy="158115"/>
            </a:xfrm>
            <a:custGeom>
              <a:avLst/>
              <a:gdLst/>
              <a:ahLst/>
              <a:cxnLst/>
              <a:rect l="l" t="t" r="r" b="b"/>
              <a:pathLst>
                <a:path w="7951470" h="158114">
                  <a:moveTo>
                    <a:pt x="7872437" y="0"/>
                  </a:moveTo>
                  <a:lnTo>
                    <a:pt x="7872437" y="39497"/>
                  </a:lnTo>
                  <a:lnTo>
                    <a:pt x="0" y="39497"/>
                  </a:lnTo>
                  <a:lnTo>
                    <a:pt x="0" y="118618"/>
                  </a:lnTo>
                  <a:lnTo>
                    <a:pt x="7872437" y="118618"/>
                  </a:lnTo>
                  <a:lnTo>
                    <a:pt x="7872437" y="158114"/>
                  </a:lnTo>
                  <a:lnTo>
                    <a:pt x="7951431" y="79121"/>
                  </a:lnTo>
                  <a:lnTo>
                    <a:pt x="7872437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" name="object 6">
              <a:extLst>
                <a:ext uri="{FF2B5EF4-FFF2-40B4-BE49-F238E27FC236}">
                  <a16:creationId xmlns:a16="http://schemas.microsoft.com/office/drawing/2014/main" id="{41EA7239-9393-3AA8-9BBA-FC4A59264C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881" y="1750499"/>
              <a:ext cx="103895" cy="103895"/>
            </a:xfrm>
            <a:prstGeom prst="rect">
              <a:avLst/>
            </a:prstGeom>
          </p:spPr>
        </p:pic>
        <p:pic>
          <p:nvPicPr>
            <p:cNvPr id="5" name="object 7">
              <a:extLst>
                <a:ext uri="{FF2B5EF4-FFF2-40B4-BE49-F238E27FC236}">
                  <a16:creationId xmlns:a16="http://schemas.microsoft.com/office/drawing/2014/main" id="{E8D8DC38-FE77-365E-9386-132E5522B45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3006" y="1750499"/>
              <a:ext cx="103895" cy="103895"/>
            </a:xfrm>
            <a:prstGeom prst="rect">
              <a:avLst/>
            </a:prstGeom>
          </p:spPr>
        </p:pic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463E7B1A-A969-C21B-2970-02E67B7F2C6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4827" y="1750499"/>
              <a:ext cx="103768" cy="103895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E0C94DA4-3EF9-F41D-F507-989C303482D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2516" y="1750499"/>
              <a:ext cx="103895" cy="103895"/>
            </a:xfrm>
            <a:prstGeom prst="rect">
              <a:avLst/>
            </a:prstGeom>
          </p:spPr>
        </p:pic>
        <p:pic>
          <p:nvPicPr>
            <p:cNvPr id="8" name="object 10">
              <a:extLst>
                <a:ext uri="{FF2B5EF4-FFF2-40B4-BE49-F238E27FC236}">
                  <a16:creationId xmlns:a16="http://schemas.microsoft.com/office/drawing/2014/main" id="{48B07B1D-2428-48B3-E0F2-68B3152B373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7879" y="1487868"/>
              <a:ext cx="1218234" cy="232981"/>
            </a:xfrm>
            <a:prstGeom prst="rect">
              <a:avLst/>
            </a:prstGeom>
          </p:spPr>
        </p:pic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B3C07EFF-DDEA-5D52-00B9-9568DE4D25E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1595" y="1398968"/>
              <a:ext cx="978636" cy="323786"/>
            </a:xfrm>
            <a:prstGeom prst="rect">
              <a:avLst/>
            </a:prstGeom>
          </p:spPr>
        </p:pic>
        <p:pic>
          <p:nvPicPr>
            <p:cNvPr id="10" name="object 12">
              <a:extLst>
                <a:ext uri="{FF2B5EF4-FFF2-40B4-BE49-F238E27FC236}">
                  <a16:creationId xmlns:a16="http://schemas.microsoft.com/office/drawing/2014/main" id="{601AD2D5-8356-A6FC-10CF-48C7BD5291A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24709" y="1892706"/>
              <a:ext cx="1752345" cy="328142"/>
            </a:xfrm>
            <a:prstGeom prst="rect">
              <a:avLst/>
            </a:prstGeom>
          </p:spPr>
        </p:pic>
        <p:pic>
          <p:nvPicPr>
            <p:cNvPr id="11" name="object 13">
              <a:extLst>
                <a:ext uri="{FF2B5EF4-FFF2-40B4-BE49-F238E27FC236}">
                  <a16:creationId xmlns:a16="http://schemas.microsoft.com/office/drawing/2014/main" id="{3EDB4CF5-3982-EC2A-F733-5BAE0B3AEDC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9057" y="1370228"/>
              <a:ext cx="1176540" cy="364972"/>
            </a:xfrm>
            <a:prstGeom prst="rect">
              <a:avLst/>
            </a:prstGeom>
          </p:spPr>
        </p:pic>
        <p:pic>
          <p:nvPicPr>
            <p:cNvPr id="12" name="object 14">
              <a:extLst>
                <a:ext uri="{FF2B5EF4-FFF2-40B4-BE49-F238E27FC236}">
                  <a16:creationId xmlns:a16="http://schemas.microsoft.com/office/drawing/2014/main" id="{29E36797-4B41-FC89-76EA-C56773F018A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0001" y="1884184"/>
              <a:ext cx="518147" cy="398640"/>
            </a:xfrm>
            <a:prstGeom prst="rect">
              <a:avLst/>
            </a:prstGeom>
          </p:spPr>
        </p:pic>
        <p:pic>
          <p:nvPicPr>
            <p:cNvPr id="13" name="object 15">
              <a:extLst>
                <a:ext uri="{FF2B5EF4-FFF2-40B4-BE49-F238E27FC236}">
                  <a16:creationId xmlns:a16="http://schemas.microsoft.com/office/drawing/2014/main" id="{2544F951-23E3-3A08-7CA3-8DCD5E8C49D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989" y="1750499"/>
              <a:ext cx="103768" cy="103895"/>
            </a:xfrm>
            <a:prstGeom prst="rect">
              <a:avLst/>
            </a:prstGeom>
          </p:spPr>
        </p:pic>
      </p:grpSp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BA621678-F067-9CA4-0644-5675C2436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06274"/>
              </p:ext>
            </p:extLst>
          </p:nvPr>
        </p:nvGraphicFramePr>
        <p:xfrm>
          <a:off x="818387" y="1894898"/>
          <a:ext cx="7507225" cy="2996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7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02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百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度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阿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里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腾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讯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2159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华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为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字节跳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动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5875" marR="2159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中国通信</a:t>
                      </a:r>
                      <a:r>
                        <a:rPr sz="700" b="1" spc="-50" dirty="0">
                          <a:solidFill>
                            <a:srgbClr val="FFFFFF"/>
                          </a:solidFill>
                          <a:latin typeface="FZLTTHK--GBK1-0"/>
                          <a:cs typeface="FZLTTHK--GBK1-0"/>
                        </a:rPr>
                        <a:t>院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5572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b="1" spc="-25" dirty="0">
                          <a:latin typeface="FZLTTHK--GBK1-0"/>
                          <a:cs typeface="FZLTTHK--GBK1-0"/>
                        </a:rPr>
                        <a:t>大模型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33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1065"/>
                        </a:lnSpc>
                        <a:spcBef>
                          <a:spcPts val="39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文心大模型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38100" algn="ctr">
                        <a:lnSpc>
                          <a:spcPts val="105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+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30480" algn="ctr">
                        <a:lnSpc>
                          <a:spcPts val="1065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飞桨深度学习平台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1065"/>
                        </a:lnSpc>
                        <a:spcBef>
                          <a:spcPts val="39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通义大模型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5715" marR="21590" algn="ctr">
                        <a:lnSpc>
                          <a:spcPts val="105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+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635" marR="21590" algn="ctr">
                        <a:lnSpc>
                          <a:spcPts val="1065"/>
                        </a:lnSpc>
                      </a:pPr>
                      <a:r>
                        <a:rPr sz="700" spc="75" dirty="0">
                          <a:latin typeface="Arial Unicode MS"/>
                          <a:cs typeface="Arial Unicode MS"/>
                        </a:rPr>
                        <a:t>M6-</a:t>
                      </a:r>
                      <a:r>
                        <a:rPr sz="700" spc="-25" dirty="0">
                          <a:latin typeface="Arial Unicode MS"/>
                          <a:cs typeface="Arial Unicode MS"/>
                        </a:rPr>
                        <a:t>OFA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065"/>
                        </a:lnSpc>
                        <a:spcBef>
                          <a:spcPts val="39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混元大模型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5080" marR="12065" algn="ctr">
                        <a:lnSpc>
                          <a:spcPts val="105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+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15875" algn="ctr">
                        <a:lnSpc>
                          <a:spcPts val="1065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太极机器学习平台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21590" algn="ctr">
                        <a:lnSpc>
                          <a:spcPts val="1065"/>
                        </a:lnSpc>
                        <a:spcBef>
                          <a:spcPts val="39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盘古大模型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1270" marR="21590" algn="ctr">
                        <a:lnSpc>
                          <a:spcPts val="105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+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23495" algn="ctr">
                        <a:lnSpc>
                          <a:spcPts val="1065"/>
                        </a:lnSpc>
                      </a:pPr>
                      <a:r>
                        <a:rPr sz="700" spc="40" dirty="0">
                          <a:latin typeface="Arial Unicode MS"/>
                          <a:cs typeface="Arial Unicode MS"/>
                        </a:rPr>
                        <a:t>ModelArts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-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3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356870" marR="21590">
                        <a:lnSpc>
                          <a:spcPts val="1065"/>
                        </a:lnSpc>
                        <a:spcBef>
                          <a:spcPts val="93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AISHPerf-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290195" marR="21590">
                        <a:lnSpc>
                          <a:spcPts val="1065"/>
                        </a:lnSpc>
                      </a:pPr>
                      <a:r>
                        <a:rPr sz="700" spc="40" dirty="0">
                          <a:latin typeface="Arial Unicode MS"/>
                          <a:cs typeface="Arial Unicode MS"/>
                        </a:rPr>
                        <a:t>LargeModel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8858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7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b="1" spc="-30" dirty="0">
                          <a:latin typeface="FZLTTHK--GBK1-0"/>
                          <a:cs typeface="FZLTTHK--GBK1-0"/>
                        </a:rPr>
                        <a:t>时间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2023年3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月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16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日</a:t>
                      </a:r>
                      <a:endParaRPr sz="7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R="29781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2022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年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9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月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2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日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1206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2022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年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4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月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21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日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2159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拟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4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月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-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6510" marR="2159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2023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年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3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月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28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日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6000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187960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b="1" spc="-30" dirty="0">
                          <a:latin typeface="FZLTTHK--GBK1-0"/>
                          <a:cs typeface="FZLTTHK--GBK1-0"/>
                        </a:rPr>
                        <a:t>领导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  <a:p>
                      <a:pPr marL="130810">
                        <a:lnSpc>
                          <a:spcPts val="1065"/>
                        </a:lnSpc>
                      </a:pPr>
                      <a:r>
                        <a:rPr sz="700" b="1" spc="-20" dirty="0">
                          <a:latin typeface="FZLTTHK--GBK1-0"/>
                          <a:cs typeface="FZLTTHK--GBK1-0"/>
                        </a:rPr>
                        <a:t>与团队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25" dirty="0">
                          <a:latin typeface="Arial Unicode MS"/>
                          <a:cs typeface="Arial Unicode MS"/>
                        </a:rPr>
                        <a:t>王海峰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30480" algn="ctr">
                        <a:lnSpc>
                          <a:spcPts val="1065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专门封闭开发小组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杨红霞（前带头人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）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22860" algn="ctr">
                        <a:lnSpc>
                          <a:spcPts val="1065"/>
                        </a:lnSpc>
                      </a:pP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达摩院等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25" dirty="0">
                          <a:latin typeface="Arial Unicode MS"/>
                          <a:cs typeface="Arial Unicode MS"/>
                        </a:rPr>
                        <a:t>张正友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R="15240" algn="ctr">
                        <a:lnSpc>
                          <a:spcPts val="1065"/>
                        </a:lnSpc>
                      </a:pPr>
                      <a:r>
                        <a:rPr sz="700" spc="595" dirty="0">
                          <a:latin typeface="Arial Unicode MS"/>
                          <a:cs typeface="Arial Unicode MS"/>
                        </a:rPr>
                        <a:t>“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混元助手</a:t>
                      </a:r>
                      <a:r>
                        <a:rPr sz="700" spc="595" dirty="0">
                          <a:latin typeface="Arial Unicode MS"/>
                          <a:cs typeface="Arial Unicode MS"/>
                        </a:rPr>
                        <a:t>”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项目组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21590" algn="ctr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30" dirty="0">
                          <a:latin typeface="Arial Unicode MS"/>
                          <a:cs typeface="Arial Unicode MS"/>
                        </a:rPr>
                        <a:t>田奇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10795" marR="21590" algn="ctr">
                        <a:lnSpc>
                          <a:spcPts val="1065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盘古大模型团队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搜索部门、智能创作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165100">
                        <a:lnSpc>
                          <a:spcPts val="1065"/>
                        </a:lnSpc>
                      </a:pP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团队等多部门协作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21590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-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b="1" spc="-30" dirty="0">
                          <a:latin typeface="FZLTTHK--GBK1-0"/>
                          <a:cs typeface="FZLTTHK--GBK1-0"/>
                        </a:rPr>
                        <a:t>特点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9001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30480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三层体系：大模型层/工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159385" marR="30480">
                        <a:lnSpc>
                          <a:spcPts val="1065"/>
                        </a:lnSpc>
                      </a:pPr>
                      <a:r>
                        <a:rPr sz="700" spc="15" dirty="0">
                          <a:latin typeface="Arial Unicode MS"/>
                          <a:cs typeface="Arial Unicode MS"/>
                        </a:rPr>
                        <a:t>具平台层/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产品与社区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R="269875" algn="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构建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AI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统一底座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9001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广告类应用优势明显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9001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9530" marR="21590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150" dirty="0">
                          <a:latin typeface="Arial Unicode MS"/>
                          <a:cs typeface="Arial Unicode MS"/>
                        </a:rPr>
                        <a:t>发挥</a:t>
                      </a:r>
                      <a:r>
                        <a:rPr sz="700" spc="50" dirty="0">
                          <a:latin typeface="Arial Unicode MS"/>
                          <a:cs typeface="Arial Unicode MS"/>
                        </a:rPr>
                        <a:t>“</a:t>
                      </a:r>
                      <a:r>
                        <a:rPr sz="700" spc="150" dirty="0">
                          <a:latin typeface="Arial Unicode MS"/>
                          <a:cs typeface="Arial Unicode MS"/>
                        </a:rPr>
                        <a:t>模型即服务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”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230504" marR="21590">
                        <a:lnSpc>
                          <a:spcPts val="1065"/>
                        </a:lnSpc>
                      </a:pP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的商业价值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发力语言和图像模态，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179070">
                        <a:lnSpc>
                          <a:spcPts val="1065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与下游业务结合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56870" marR="21590">
                        <a:lnSpc>
                          <a:spcPts val="1065"/>
                        </a:lnSpc>
                        <a:spcBef>
                          <a:spcPts val="400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多任务领域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299720" marR="21590">
                        <a:lnSpc>
                          <a:spcPts val="1065"/>
                        </a:lnSpc>
                      </a:pPr>
                      <a:r>
                        <a:rPr sz="700" spc="145" dirty="0">
                          <a:latin typeface="Arial Unicode MS"/>
                          <a:cs typeface="Arial Unicode MS"/>
                        </a:rPr>
                        <a:t>+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多维度测评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ts val="1065"/>
                        </a:lnSpc>
                      </a:pPr>
                      <a:r>
                        <a:rPr sz="700" b="1" spc="-20" dirty="0">
                          <a:latin typeface="FZLTTHK--GBK1-0"/>
                          <a:cs typeface="FZLTTHK--GBK1-0"/>
                        </a:rPr>
                        <a:t>方向及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  <a:p>
                      <a:pPr marL="187960">
                        <a:lnSpc>
                          <a:spcPts val="1065"/>
                        </a:lnSpc>
                      </a:pPr>
                      <a:r>
                        <a:rPr sz="700" b="1" spc="-25" dirty="0">
                          <a:latin typeface="FZLTTHK--GBK1-0"/>
                          <a:cs typeface="FZLTTHK--GBK1-0"/>
                        </a:rPr>
                        <a:t>规划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2710" marR="121285">
                        <a:lnSpc>
                          <a:spcPts val="1050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平台及产品同时向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B</a:t>
                      </a:r>
                      <a:r>
                        <a:rPr sz="700" spc="-25" dirty="0">
                          <a:latin typeface="Arial Unicode MS"/>
                          <a:cs typeface="Arial Unicode MS"/>
                        </a:rPr>
                        <a:t>端和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-65" dirty="0">
                          <a:latin typeface="Arial Unicode MS"/>
                          <a:cs typeface="Arial Unicode MS"/>
                        </a:rPr>
                        <a:t>C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端发力。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92710" marR="30480">
                        <a:lnSpc>
                          <a:spcPts val="1065"/>
                        </a:lnSpc>
                        <a:spcBef>
                          <a:spcPts val="1070"/>
                        </a:spcBef>
                      </a:pPr>
                      <a:r>
                        <a:rPr sz="700" spc="75" dirty="0">
                          <a:latin typeface="Arial Unicode MS"/>
                          <a:cs typeface="Arial Unicode MS"/>
                        </a:rPr>
                        <a:t>百度计划将多项</a:t>
                      </a:r>
                      <a:r>
                        <a:rPr sz="700" b="1" spc="55" dirty="0">
                          <a:latin typeface="FZLTTHK--GBK1-0"/>
                          <a:cs typeface="FZLTTHK--GBK1-0"/>
                        </a:rPr>
                        <a:t>主流业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  <a:p>
                      <a:pPr marL="92710">
                        <a:lnSpc>
                          <a:spcPts val="1065"/>
                        </a:lnSpc>
                      </a:pPr>
                      <a:r>
                        <a:rPr sz="700" b="1" spc="60" dirty="0">
                          <a:latin typeface="FZLTTHK--GBK1-0"/>
                          <a:cs typeface="FZLTTHK--GBK1-0"/>
                        </a:rPr>
                        <a:t>务与文心一言整合</a:t>
                      </a:r>
                      <a:r>
                        <a:rPr sz="700" spc="30" dirty="0">
                          <a:latin typeface="Arial Unicode MS"/>
                          <a:cs typeface="Arial Unicode MS"/>
                        </a:rPr>
                        <a:t>。如：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92710" marR="12065">
                        <a:lnSpc>
                          <a:spcPct val="99600"/>
                        </a:lnSpc>
                        <a:spcBef>
                          <a:spcPts val="55"/>
                        </a:spcBef>
                      </a:pPr>
                      <a:r>
                        <a:rPr sz="700" b="1" spc="-20" dirty="0">
                          <a:latin typeface="FZLTTHK--GBK1-0"/>
                          <a:cs typeface="FZLTTHK--GBK1-0"/>
                        </a:rPr>
                        <a:t>1</a:t>
                      </a:r>
                      <a:r>
                        <a:rPr sz="700" b="1" spc="20" dirty="0">
                          <a:latin typeface="FZLTTHK--GBK1-0"/>
                          <a:cs typeface="FZLTTHK--GBK1-0"/>
                        </a:rPr>
                        <a:t>) 与搜索整合</a:t>
                      </a:r>
                      <a:r>
                        <a:rPr sz="700" spc="55" dirty="0">
                          <a:latin typeface="Arial Unicode MS"/>
                          <a:cs typeface="Arial Unicode MS"/>
                        </a:rPr>
                        <a:t>，引领搜</a:t>
                      </a:r>
                      <a:r>
                        <a:rPr sz="700" spc="40" dirty="0">
                          <a:latin typeface="Arial Unicode MS"/>
                          <a:cs typeface="Arial Unicode MS"/>
                        </a:rPr>
                        <a:t>索体验的代际变革； </a:t>
                      </a:r>
                      <a:r>
                        <a:rPr sz="700" b="1" spc="-25" dirty="0">
                          <a:latin typeface="FZLTTHK--GBK1-0"/>
                          <a:cs typeface="FZLTTHK--GBK1-0"/>
                        </a:rPr>
                        <a:t>2)</a:t>
                      </a: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通过</a:t>
                      </a:r>
                      <a:r>
                        <a:rPr sz="700" b="1" spc="70" dirty="0">
                          <a:latin typeface="FZLTTHK--GBK1-0"/>
                          <a:cs typeface="FZLTTHK--GBK1-0"/>
                        </a:rPr>
                        <a:t>百度智能云</a:t>
                      </a:r>
                      <a:r>
                        <a:rPr sz="700" spc="50" dirty="0">
                          <a:latin typeface="Arial Unicode MS"/>
                          <a:cs typeface="Arial Unicode MS"/>
                        </a:rPr>
                        <a:t>对外提</a:t>
                      </a: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供服务，改变云计算市</a:t>
                      </a:r>
                      <a:r>
                        <a:rPr sz="700" spc="50" dirty="0">
                          <a:latin typeface="Arial Unicode MS"/>
                          <a:cs typeface="Arial Unicode MS"/>
                        </a:rPr>
                        <a:t>场的游戏规则；</a:t>
                      </a:r>
                      <a:r>
                        <a:rPr sz="700" b="1" spc="-35" dirty="0">
                          <a:latin typeface="FZLTTHK--GBK1-0"/>
                          <a:cs typeface="FZLTTHK--GBK1-0"/>
                        </a:rPr>
                        <a:t>3</a:t>
                      </a:r>
                      <a:r>
                        <a:rPr sz="700" b="1" spc="-25" dirty="0">
                          <a:latin typeface="FZLTTHK--GBK1-0"/>
                          <a:cs typeface="FZLTTHK--GBK1-0"/>
                        </a:rPr>
                        <a:t>) 搭载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至</a:t>
                      </a:r>
                      <a:r>
                        <a:rPr sz="700" b="1" spc="-60" dirty="0">
                          <a:latin typeface="FZLTTHK--GBK1-0"/>
                          <a:cs typeface="FZLTTHK--GBK1-0"/>
                        </a:rPr>
                        <a:t>Apollo</a:t>
                      </a:r>
                      <a:r>
                        <a:rPr sz="700" b="1" spc="-30" dirty="0">
                          <a:latin typeface="FZLTTHK--GBK1-0"/>
                          <a:cs typeface="FZLTTHK--GBK1-0"/>
                        </a:rPr>
                        <a:t> 智舱系列产品，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与小度集成。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476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99100"/>
                        </a:lnSpc>
                        <a:spcBef>
                          <a:spcPts val="415"/>
                        </a:spcBef>
                      </a:pP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阿里达摩院</a:t>
                      </a:r>
                      <a:r>
                        <a:rPr sz="700" b="1" spc="70" dirty="0">
                          <a:latin typeface="FZLTTHK--GBK1-0"/>
                          <a:cs typeface="FZLTTHK--GBK1-0"/>
                        </a:rPr>
                        <a:t>正在研发 </a:t>
                      </a:r>
                      <a:r>
                        <a:rPr sz="700" b="1" dirty="0">
                          <a:latin typeface="FZLTTHK--GBK1-0"/>
                          <a:cs typeface="FZLTTHK--GBK1-0"/>
                        </a:rPr>
                        <a:t>类</a:t>
                      </a:r>
                      <a:r>
                        <a:rPr sz="700" b="1" spc="-100" dirty="0">
                          <a:latin typeface="FZLTTHK--GBK1-0"/>
                          <a:cs typeface="FZLTTHK--GBK1-0"/>
                        </a:rPr>
                        <a:t>ChatGPT</a:t>
                      </a:r>
                      <a:r>
                        <a:rPr sz="700" b="1" spc="15" dirty="0">
                          <a:latin typeface="FZLTTHK--GBK1-0"/>
                          <a:cs typeface="FZLTTHK--GBK1-0"/>
                        </a:rPr>
                        <a:t>的对话机</a:t>
                      </a:r>
                      <a:r>
                        <a:rPr sz="700" b="1" spc="30" dirty="0">
                          <a:latin typeface="FZLTTHK--GBK1-0"/>
                          <a:cs typeface="FZLTTHK--GBK1-0"/>
                        </a:rPr>
                        <a:t>器人 ， </a:t>
                      </a:r>
                      <a:r>
                        <a:rPr sz="700" spc="180" dirty="0">
                          <a:latin typeface="Arial Unicode MS"/>
                          <a:cs typeface="Arial Unicode MS"/>
                        </a:rPr>
                        <a:t>阿里版本的</a:t>
                      </a:r>
                      <a:r>
                        <a:rPr sz="700" spc="-25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45" dirty="0">
                          <a:latin typeface="Arial Unicode MS"/>
                          <a:cs typeface="Arial Unicode MS"/>
                        </a:rPr>
                        <a:t>ChatGPT</a:t>
                      </a:r>
                      <a:r>
                        <a:rPr sz="700" spc="40" dirty="0">
                          <a:latin typeface="Arial Unicode MS"/>
                          <a:cs typeface="Arial Unicode MS"/>
                        </a:rPr>
                        <a:t>的对话机器</a:t>
                      </a:r>
                      <a:r>
                        <a:rPr sz="700" spc="75" dirty="0">
                          <a:latin typeface="Arial Unicode MS"/>
                          <a:cs typeface="Arial Unicode MS"/>
                        </a:rPr>
                        <a:t>人</a:t>
                      </a:r>
                      <a:r>
                        <a:rPr sz="700" b="1" spc="65" dirty="0">
                          <a:latin typeface="FZLTTHK--GBK1-0"/>
                          <a:cs typeface="FZLTTHK--GBK1-0"/>
                        </a:rPr>
                        <a:t>将与钉钉深度结合。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  <a:p>
                      <a:pPr marR="21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400"/>
                        </a:lnSpc>
                      </a:pPr>
                      <a:r>
                        <a:rPr sz="700" spc="45" dirty="0">
                          <a:latin typeface="Arial Unicode MS"/>
                          <a:cs typeface="Arial Unicode MS"/>
                        </a:rPr>
                        <a:t>提供服务 </a:t>
                      </a:r>
                      <a:r>
                        <a:rPr sz="700" b="1" spc="150" dirty="0">
                          <a:latin typeface="FZLTTHK--GBK1-0"/>
                          <a:cs typeface="FZLTTHK--GBK1-0"/>
                        </a:rPr>
                        <a:t>超</a:t>
                      </a:r>
                      <a:r>
                        <a:rPr sz="700" b="1" spc="-120" dirty="0">
                          <a:latin typeface="FZLTTHK--GBK1-0"/>
                          <a:cs typeface="FZLTTHK--GBK1-0"/>
                        </a:rPr>
                        <a:t>200</a:t>
                      </a:r>
                      <a:r>
                        <a:rPr sz="700" b="1" spc="50" dirty="0">
                          <a:latin typeface="FZLTTHK--GBK1-0"/>
                          <a:cs typeface="FZLTTHK--GBK1-0"/>
                        </a:rPr>
                        <a:t> 个场</a:t>
                      </a:r>
                      <a:r>
                        <a:rPr sz="700" b="1" spc="75" dirty="0">
                          <a:latin typeface="FZLTTHK--GBK1-0"/>
                          <a:cs typeface="FZLTTHK--GBK1-0"/>
                        </a:rPr>
                        <a:t>景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， 实现</a:t>
                      </a:r>
                      <a:r>
                        <a:rPr sz="700" spc="35" dirty="0">
                          <a:latin typeface="Arial Unicode MS"/>
                          <a:cs typeface="Arial Unicode MS"/>
                        </a:rPr>
                        <a:t>2%~10</a:t>
                      </a:r>
                      <a:r>
                        <a:rPr sz="700" spc="-40" dirty="0">
                          <a:latin typeface="Arial Unicode MS"/>
                          <a:cs typeface="Arial Unicode MS"/>
                        </a:rPr>
                        <a:t>% 的</a:t>
                      </a: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应用</a:t>
                      </a:r>
                      <a:r>
                        <a:rPr sz="700" b="1" spc="70" dirty="0">
                          <a:latin typeface="FZLTTHK--GBK1-0"/>
                          <a:cs typeface="FZLTTHK--GBK1-0"/>
                        </a:rPr>
                        <a:t>效果提升</a:t>
                      </a: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。典型</a:t>
                      </a:r>
                      <a:r>
                        <a:rPr sz="700" spc="75" dirty="0">
                          <a:latin typeface="Arial Unicode MS"/>
                          <a:cs typeface="Arial Unicode MS"/>
                        </a:rPr>
                        <a:t>使用场景包括电商跨</a:t>
                      </a:r>
                      <a:r>
                        <a:rPr sz="700" spc="70" dirty="0">
                          <a:latin typeface="Arial Unicode MS"/>
                          <a:cs typeface="Arial Unicode MS"/>
                        </a:rPr>
                        <a:t>模态搜索、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AI</a:t>
                      </a:r>
                      <a:r>
                        <a:rPr sz="700" spc="20" dirty="0">
                          <a:latin typeface="Arial Unicode MS"/>
                          <a:cs typeface="Arial Unicode MS"/>
                        </a:rPr>
                        <a:t> 辅助设计</a:t>
                      </a:r>
                      <a:r>
                        <a:rPr sz="700" spc="60" dirty="0">
                          <a:latin typeface="Arial Unicode MS"/>
                          <a:cs typeface="Arial Unicode MS"/>
                        </a:rPr>
                        <a:t>、开放域人机对话、法</a:t>
                      </a:r>
                      <a:r>
                        <a:rPr sz="700" spc="65" dirty="0">
                          <a:latin typeface="Arial Unicode MS"/>
                          <a:cs typeface="Arial Unicode MS"/>
                        </a:rPr>
                        <a:t>律文书学习、医疗 文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本理解等。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395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5250" marR="109855" algn="just">
                        <a:lnSpc>
                          <a:spcPct val="100099"/>
                        </a:lnSpc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大力构建AI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能力与云基础设施，拥抱基础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模型发展趋势，对大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模型技术进行研发投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入，</a:t>
                      </a:r>
                      <a:r>
                        <a:rPr sz="700" b="1" spc="-20" dirty="0">
                          <a:latin typeface="FZLTTHK--GBK1-0"/>
                          <a:cs typeface="FZLTTHK--GBK1-0"/>
                        </a:rPr>
                        <a:t>促进产品创新与</a:t>
                      </a:r>
                      <a:r>
                        <a:rPr sz="700" b="1" dirty="0">
                          <a:latin typeface="FZLTTHK--GBK1-0"/>
                          <a:cs typeface="FZLTTHK--GBK1-0"/>
                        </a:rPr>
                        <a:t>降本增效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95250">
                        <a:lnSpc>
                          <a:spcPct val="100800"/>
                        </a:lnSpc>
                        <a:spcBef>
                          <a:spcPts val="1015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混元AI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大模型将不断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b="1" spc="-15" dirty="0">
                          <a:latin typeface="FZLTTHK--GBK1-0"/>
                          <a:cs typeface="FZLTTHK--GBK1-0"/>
                        </a:rPr>
                        <a:t>推进文本内容生成、</a:t>
                      </a:r>
                      <a:r>
                        <a:rPr sz="700" b="1" spc="500" dirty="0">
                          <a:latin typeface="FZLTTHK--GBK1-0"/>
                          <a:cs typeface="FZLTTHK--GBK1-0"/>
                        </a:rPr>
                        <a:t> 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文生图等领域的升级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200"/>
                        </a:lnSpc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已应用于科学计算、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气象、物流、工业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质检等领域，未来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在交通、智慧城市、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营销、金融等</a:t>
                      </a:r>
                      <a:r>
                        <a:rPr sz="700" b="1" spc="-30" dirty="0">
                          <a:latin typeface="FZLTTHK--GBK1-0"/>
                          <a:cs typeface="FZLTTHK--GBK1-0"/>
                        </a:rPr>
                        <a:t>多个</a:t>
                      </a:r>
                      <a:r>
                        <a:rPr sz="700" b="1" spc="500" dirty="0">
                          <a:latin typeface="FZLTTHK--GBK1-0"/>
                          <a:cs typeface="FZLTTHK--GBK1-0"/>
                        </a:rPr>
                        <a:t> </a:t>
                      </a:r>
                      <a:r>
                        <a:rPr sz="700" b="1" spc="-5" dirty="0">
                          <a:latin typeface="FZLTTHK--GBK1-0"/>
                          <a:cs typeface="FZLTTHK--GBK1-0"/>
                        </a:rPr>
                        <a:t>领域均有应用机会</a:t>
                      </a:r>
                      <a:r>
                        <a:rPr sz="700" spc="-50" dirty="0">
                          <a:latin typeface="Arial Unicode MS"/>
                          <a:cs typeface="Arial Unicode MS"/>
                        </a:rPr>
                        <a:t>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96520" marR="115570" algn="just">
                        <a:lnSpc>
                          <a:spcPct val="100800"/>
                        </a:lnSpc>
                        <a:spcBef>
                          <a:spcPts val="1015"/>
                        </a:spcBef>
                      </a:pP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华为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以联合体形式</a:t>
                      </a:r>
                      <a:r>
                        <a:rPr sz="700" b="1" spc="-5" dirty="0">
                          <a:latin typeface="FZLTTHK--GBK1-0"/>
                          <a:cs typeface="FZLTTHK--GBK1-0"/>
                        </a:rPr>
                        <a:t>与科研院所、产业</a:t>
                      </a:r>
                      <a:r>
                        <a:rPr sz="700" b="1" spc="5" dirty="0">
                          <a:latin typeface="FZLTTHK--GBK1-0"/>
                          <a:cs typeface="FZLTTHK--GBK1-0"/>
                        </a:rPr>
                        <a:t>厂商等合作</a:t>
                      </a:r>
                      <a:r>
                        <a:rPr sz="700" spc="-30" dirty="0">
                          <a:latin typeface="Arial Unicode MS"/>
                          <a:cs typeface="Arial Unicode MS"/>
                        </a:rPr>
                        <a:t>，推动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大模型产业形成正向闭环。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</a:txBody>
                  <a:tcPr marL="0" marR="0" marT="428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86995" algn="just">
                        <a:lnSpc>
                          <a:spcPct val="100099"/>
                        </a:lnSpc>
                        <a:spcBef>
                          <a:spcPts val="944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语言大模型团队由搜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索部门牵头，在十数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人左右。图片大模型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团队由产品研发与工程架构部旗下智能创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作团队牵头。</a:t>
                      </a:r>
                      <a:endParaRPr sz="700">
                        <a:latin typeface="Arial Unicode MS"/>
                        <a:cs typeface="Arial Unicode MS"/>
                      </a:endParaRPr>
                    </a:p>
                    <a:p>
                      <a:pPr marL="97790" marR="56515" algn="just">
                        <a:lnSpc>
                          <a:spcPct val="100099"/>
                        </a:lnSpc>
                        <a:spcBef>
                          <a:spcPts val="1025"/>
                        </a:spcBef>
                      </a:pPr>
                      <a:r>
                        <a:rPr sz="700" spc="150" dirty="0">
                          <a:latin typeface="Arial Unicode MS"/>
                          <a:cs typeface="Arial Unicode MS"/>
                        </a:rPr>
                        <a:t>搜索业务部门、</a:t>
                      </a:r>
                      <a:r>
                        <a:rPr sz="700" spc="50" dirty="0">
                          <a:latin typeface="Arial Unicode MS"/>
                          <a:cs typeface="Arial Unicode MS"/>
                        </a:rPr>
                        <a:t>AI 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Lab</a:t>
                      </a:r>
                      <a:r>
                        <a:rPr sz="700" spc="75" dirty="0">
                          <a:latin typeface="Arial Unicode MS"/>
                          <a:cs typeface="Arial Unicode MS"/>
                        </a:rPr>
                        <a:t>和</a:t>
                      </a:r>
                      <a:r>
                        <a:rPr sz="700" spc="55" dirty="0">
                          <a:latin typeface="Arial Unicode MS"/>
                          <a:cs typeface="Arial Unicode MS"/>
                        </a:rPr>
                        <a:t>AML（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应用机</a:t>
                      </a:r>
                      <a:r>
                        <a:rPr sz="700" spc="15" dirty="0">
                          <a:latin typeface="Arial Unicode MS"/>
                          <a:cs typeface="Arial Unicode MS"/>
                        </a:rPr>
                        <a:t>器学习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）团队均调配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一定人员赋能语言大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模型，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预期</a:t>
                      </a:r>
                      <a:r>
                        <a:rPr sz="700" b="1" spc="-135" dirty="0">
                          <a:latin typeface="FZLTTHK--GBK1-0"/>
                          <a:cs typeface="FZLTTHK--GBK1-0"/>
                        </a:rPr>
                        <a:t>23</a:t>
                      </a:r>
                      <a:r>
                        <a:rPr sz="700" b="1" spc="-25" dirty="0">
                          <a:latin typeface="FZLTTHK--GBK1-0"/>
                          <a:cs typeface="FZLTTHK--GBK1-0"/>
                        </a:rPr>
                        <a:t>年年中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推出大模型。</a:t>
                      </a:r>
                      <a:endParaRPr sz="700">
                        <a:latin typeface="FZLTTHK--GBK1-0"/>
                        <a:cs typeface="FZLTTHK--GBK1-0"/>
                      </a:endParaRPr>
                    </a:p>
                  </a:txBody>
                  <a:tcPr marL="0" marR="0" marT="9001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99"/>
                        </a:lnSpc>
                        <a:spcBef>
                          <a:spcPts val="944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针对当前主流数据集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和评估基准多以英文</a:t>
                      </a:r>
                      <a:r>
                        <a:rPr sz="700" spc="500" dirty="0">
                          <a:latin typeface="Arial Unicode MS"/>
                          <a:cs typeface="Arial Unicode MS"/>
                        </a:rPr>
                        <a:t> </a:t>
                      </a:r>
                      <a:r>
                        <a:rPr sz="700" spc="10" dirty="0">
                          <a:latin typeface="Arial Unicode MS"/>
                          <a:cs typeface="Arial Unicode MS"/>
                        </a:rPr>
                        <a:t>为主、缺少</a:t>
                      </a:r>
                      <a:r>
                        <a:rPr sz="700" b="1" dirty="0">
                          <a:latin typeface="FZLTTHK--GBK1-0"/>
                          <a:cs typeface="FZLTTHK--GBK1-0"/>
                        </a:rPr>
                        <a:t>中文特点、</a:t>
                      </a:r>
                      <a:r>
                        <a:rPr sz="700" b="1" spc="-10" dirty="0">
                          <a:latin typeface="FZLTTHK--GBK1-0"/>
                          <a:cs typeface="FZLTTHK--GBK1-0"/>
                        </a:rPr>
                        <a:t>文化</a:t>
                      </a:r>
                      <a:r>
                        <a:rPr sz="700" spc="15" dirty="0">
                          <a:latin typeface="Arial Unicode MS"/>
                          <a:cs typeface="Arial Unicode MS"/>
                        </a:rPr>
                        <a:t>以及难以满足</a:t>
                      </a:r>
                      <a:r>
                        <a:rPr sz="700" b="1" spc="-50" dirty="0">
                          <a:latin typeface="FZLTTHK--GBK1-0"/>
                          <a:cs typeface="FZLTTHK--GBK1-0"/>
                        </a:rPr>
                        <a:t>关</a:t>
                      </a:r>
                      <a:r>
                        <a:rPr sz="700" b="1" spc="500" dirty="0">
                          <a:latin typeface="FZLTTHK--GBK1-0"/>
                          <a:cs typeface="FZLTTHK--GBK1-0"/>
                        </a:rPr>
                        <a:t> </a:t>
                      </a:r>
                      <a:r>
                        <a:rPr sz="700" b="1" spc="-5" dirty="0">
                          <a:latin typeface="FZLTTHK--GBK1-0"/>
                          <a:cs typeface="FZLTTHK--GBK1-0"/>
                        </a:rPr>
                        <a:t>键行业应用选型需求</a:t>
                      </a:r>
                      <a:r>
                        <a:rPr sz="700" b="1" spc="500" dirty="0">
                          <a:latin typeface="FZLTTHK--GBK1-0"/>
                          <a:cs typeface="FZLTTHK--GBK1-0"/>
                        </a:rPr>
                        <a:t> </a:t>
                      </a:r>
                      <a:r>
                        <a:rPr sz="700" spc="-15" dirty="0">
                          <a:latin typeface="Arial Unicode MS"/>
                          <a:cs typeface="Arial Unicode MS"/>
                        </a:rPr>
                        <a:t>等问题。</a:t>
                      </a:r>
                      <a:endParaRPr sz="700" dirty="0">
                        <a:latin typeface="Arial Unicode MS"/>
                        <a:cs typeface="Arial Unicode MS"/>
                      </a:endParaRPr>
                    </a:p>
                    <a:p>
                      <a:pPr marL="99060" marR="112395" algn="just">
                        <a:lnSpc>
                          <a:spcPct val="100099"/>
                        </a:lnSpc>
                        <a:spcBef>
                          <a:spcPts val="1025"/>
                        </a:spcBef>
                      </a:pPr>
                      <a:r>
                        <a:rPr sz="700" dirty="0">
                          <a:latin typeface="Arial Unicode MS"/>
                          <a:cs typeface="Arial Unicode MS"/>
                        </a:rPr>
                        <a:t>属于</a:t>
                      </a:r>
                      <a:r>
                        <a:rPr sz="700" b="1" spc="5" dirty="0">
                          <a:latin typeface="FZLTTHK--GBK1-0"/>
                          <a:cs typeface="FZLTTHK--GBK1-0"/>
                        </a:rPr>
                        <a:t>人工智能软硬件</a:t>
                      </a:r>
                      <a:r>
                        <a:rPr sz="700" b="1" spc="20" dirty="0">
                          <a:latin typeface="FZLTTHK--GBK1-0"/>
                          <a:cs typeface="FZLTTHK--GBK1-0"/>
                        </a:rPr>
                        <a:t>基准测评体系</a:t>
                      </a:r>
                      <a:r>
                        <a:rPr sz="700" spc="-20" dirty="0">
                          <a:latin typeface="Arial Unicode MS"/>
                          <a:cs typeface="Arial Unicode MS"/>
                        </a:rPr>
                        <a:t>范畴，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围绕</a:t>
                      </a:r>
                      <a:r>
                        <a:rPr sz="700" spc="-80" dirty="0">
                          <a:latin typeface="Arial Unicode MS"/>
                          <a:cs typeface="Arial Unicode MS"/>
                        </a:rPr>
                        <a:t>AI</a:t>
                      </a:r>
                      <a:r>
                        <a:rPr sz="700" spc="-5" dirty="0">
                          <a:latin typeface="Arial Unicode MS"/>
                          <a:cs typeface="Arial Unicode MS"/>
                        </a:rPr>
                        <a:t> 芯片性能、算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法任务表现，构建国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产</a:t>
                      </a:r>
                      <a:r>
                        <a:rPr sz="700" dirty="0">
                          <a:latin typeface="Arial Unicode MS"/>
                          <a:cs typeface="Arial Unicode MS"/>
                        </a:rPr>
                        <a:t>AI</a:t>
                      </a:r>
                      <a:r>
                        <a:rPr sz="700" spc="5" dirty="0">
                          <a:latin typeface="Arial Unicode MS"/>
                          <a:cs typeface="Arial Unicode MS"/>
                        </a:rPr>
                        <a:t>软硬件领域的测</a:t>
                      </a:r>
                      <a:r>
                        <a:rPr sz="700" spc="-10" dirty="0">
                          <a:latin typeface="Arial Unicode MS"/>
                          <a:cs typeface="Arial Unicode MS"/>
                        </a:rPr>
                        <a:t>试基准任务。</a:t>
                      </a:r>
                      <a:endParaRPr sz="7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9001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9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rect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015FC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3" name="textbox 1643"/>
          <p:cNvSpPr/>
          <p:nvPr/>
        </p:nvSpPr>
        <p:spPr>
          <a:xfrm>
            <a:off x="897045" y="1450711"/>
            <a:ext cx="7714099" cy="1932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zh-CN" altLang="en-US" sz="100" dirty="0"/>
          </a:p>
          <a:p>
            <a:pPr marL="12700" algn="l" rtl="0" eaLnBrk="0">
              <a:lnSpc>
                <a:spcPct val="67000"/>
              </a:lnSpc>
            </a:pPr>
            <a:r>
              <a:rPr lang="en-US" altLang="zh-CN" sz="8000" spc="10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8000" spc="8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altLang="en-US" sz="8000" dirty="0"/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盘点可能被</a:t>
            </a:r>
            <a:r>
              <a:rPr lang="en-US" altLang="zh-CN" sz="3600" spc="-20" dirty="0" err="1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替代的职业</a:t>
            </a:r>
            <a:endParaRPr lang="zh-CN" altLang="en-US" sz="3600" dirty="0"/>
          </a:p>
        </p:txBody>
      </p:sp>
      <p:sp>
        <p:nvSpPr>
          <p:cNvPr id="1644" name="path"/>
          <p:cNvSpPr/>
          <p:nvPr/>
        </p:nvSpPr>
        <p:spPr>
          <a:xfrm>
            <a:off x="1293043" y="1589984"/>
            <a:ext cx="1290333" cy="1396729"/>
          </a:xfrm>
          <a:custGeom>
            <a:avLst/>
            <a:gdLst/>
            <a:ahLst/>
            <a:cxnLst/>
            <a:rect l="0" t="0" r="0" b="0"/>
            <a:pathLst>
              <a:path w="2032" h="2199">
                <a:moveTo>
                  <a:pt x="5" y="2194"/>
                </a:moveTo>
                <a:lnTo>
                  <a:pt x="2026" y="5"/>
                </a:lnTo>
              </a:path>
            </a:pathLst>
          </a:custGeom>
          <a:noFill/>
          <a:ln w="952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5" name="textbox 1645"/>
          <p:cNvSpPr/>
          <p:nvPr/>
        </p:nvSpPr>
        <p:spPr>
          <a:xfrm>
            <a:off x="5684487" y="387041"/>
            <a:ext cx="3129914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5"/>
              </a:lnSpc>
            </a:pPr>
            <a:r>
              <a:rPr sz="10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</p:txBody>
      </p:sp>
      <p:sp>
        <p:nvSpPr>
          <p:cNvPr id="1646" name="textbox 1646"/>
          <p:cNvSpPr/>
          <p:nvPr/>
        </p:nvSpPr>
        <p:spPr>
          <a:xfrm>
            <a:off x="1783545" y="4714589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1649" name="rect"/>
          <p:cNvSpPr/>
          <p:nvPr/>
        </p:nvSpPr>
        <p:spPr>
          <a:xfrm>
            <a:off x="1686877" y="4700778"/>
            <a:ext cx="9525" cy="179997"/>
          </a:xfrm>
          <a:prstGeom prst="rect">
            <a:avLst/>
          </a:prstGeom>
          <a:solidFill>
            <a:srgbClr val="004C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064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picture 16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651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52" name="textbox 1652"/>
          <p:cNvSpPr/>
          <p:nvPr/>
        </p:nvSpPr>
        <p:spPr>
          <a:xfrm>
            <a:off x="-12700" y="124277"/>
            <a:ext cx="8827134" cy="13303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试点订阅计划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——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Plus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发布，商业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序幕已经拉开</a:t>
            </a:r>
            <a:endParaRPr lang="en-US" altLang="en-US" sz="2000" dirty="0"/>
          </a:p>
          <a:p>
            <a:pPr marL="251460" algn="l" rtl="0" eaLnBrk="0">
              <a:lnSpc>
                <a:spcPct val="94000"/>
              </a:lnSpc>
              <a:spcBef>
                <a:spcPts val="139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2023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OpenAI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试点订阅计划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——Chat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GPT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Plus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，每月</a:t>
            </a:r>
            <a:r>
              <a:rPr sz="1200" spc="-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-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美元</a:t>
            </a:r>
            <a:endParaRPr lang="en-US" altLang="en-US" sz="1200" dirty="0"/>
          </a:p>
          <a:p>
            <a:pPr algn="l" rtl="0" eaLnBrk="0">
              <a:lnSpc>
                <a:spcPct val="119000"/>
              </a:lnSpc>
            </a:pPr>
            <a:endParaRPr lang="en-US" altLang="en-US" sz="500" dirty="0"/>
          </a:p>
          <a:p>
            <a:pPr marL="248285" algn="l" rtl="0" eaLnBrk="0">
              <a:lnSpc>
                <a:spcPts val="1220"/>
              </a:lnSpc>
              <a:spcBef>
                <a:spcPts val="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订阅者可获得比免费版本更稳定、更快的服务，及尝试新功能和优化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优先权</a:t>
            </a:r>
            <a:endParaRPr lang="en-US" altLang="en-US" sz="1000" dirty="0"/>
          </a:p>
        </p:txBody>
      </p:sp>
      <p:pic>
        <p:nvPicPr>
          <p:cNvPr id="1653" name="picture 16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5817" y="1291144"/>
            <a:ext cx="90927" cy="104204"/>
          </a:xfrm>
          <a:prstGeom prst="rect">
            <a:avLst/>
          </a:prstGeom>
        </p:spPr>
      </p:pic>
      <p:pic>
        <p:nvPicPr>
          <p:cNvPr id="1654" name="picture 16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655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56" name="picture 16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932044" y="1857959"/>
            <a:ext cx="3549014" cy="2643759"/>
          </a:xfrm>
          <a:prstGeom prst="rect">
            <a:avLst/>
          </a:prstGeom>
        </p:spPr>
      </p:pic>
      <p:pic>
        <p:nvPicPr>
          <p:cNvPr id="1657" name="picture 16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5277" y="1893506"/>
            <a:ext cx="4139945" cy="2235327"/>
          </a:xfrm>
          <a:prstGeom prst="rect">
            <a:avLst/>
          </a:prstGeom>
        </p:spPr>
      </p:pic>
      <p:sp>
        <p:nvSpPr>
          <p:cNvPr id="1658" name="textbox 1658"/>
          <p:cNvSpPr/>
          <p:nvPr/>
        </p:nvSpPr>
        <p:spPr>
          <a:xfrm>
            <a:off x="4964997" y="4518145"/>
            <a:ext cx="3596640" cy="4032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OpenA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官网，国泰君安证券研究</a:t>
            </a:r>
            <a:endParaRPr lang="en-US" altLang="en-US" sz="800" dirty="0"/>
          </a:p>
          <a:p>
            <a:pPr algn="l" rtl="0" eaLnBrk="0">
              <a:lnSpc>
                <a:spcPct val="100000"/>
              </a:lnSpc>
            </a:pPr>
            <a:endParaRPr lang="en-US" altLang="en-US" sz="700" dirty="0"/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110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en-US" altLang="en-US" sz="900" dirty="0"/>
          </a:p>
        </p:txBody>
      </p:sp>
      <p:sp>
        <p:nvSpPr>
          <p:cNvPr id="1659" name="textbox 1659"/>
          <p:cNvSpPr/>
          <p:nvPr/>
        </p:nvSpPr>
        <p:spPr>
          <a:xfrm>
            <a:off x="673328" y="1622450"/>
            <a:ext cx="3539490" cy="1466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图67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处于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官网的醒目位置，凸显商业化倾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endParaRPr lang="en-US" altLang="en-US" sz="900" dirty="0"/>
          </a:p>
        </p:txBody>
      </p:sp>
      <p:sp>
        <p:nvSpPr>
          <p:cNvPr id="1660" name="textbox 1660"/>
          <p:cNvSpPr/>
          <p:nvPr/>
        </p:nvSpPr>
        <p:spPr>
          <a:xfrm>
            <a:off x="5044719" y="1604416"/>
            <a:ext cx="3105150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图68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阅者可获得比免费版本更优质的服务</a:t>
            </a:r>
            <a:endParaRPr lang="en-US" altLang="en-US" sz="900" dirty="0"/>
          </a:p>
        </p:txBody>
      </p:sp>
      <p:sp>
        <p:nvSpPr>
          <p:cNvPr id="1661" name="textbox 1661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1662" name="textbox 1662"/>
          <p:cNvSpPr/>
          <p:nvPr/>
        </p:nvSpPr>
        <p:spPr>
          <a:xfrm>
            <a:off x="290280" y="4336180"/>
            <a:ext cx="2023745" cy="133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OpenA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官网，国泰君安证券研究</a:t>
            </a:r>
            <a:endParaRPr lang="en-US" altLang="en-US" sz="800" dirty="0"/>
          </a:p>
        </p:txBody>
      </p:sp>
      <p:sp>
        <p:nvSpPr>
          <p:cNvPr id="1664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543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picture 16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666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7" name="textbox 1667"/>
          <p:cNvSpPr/>
          <p:nvPr/>
        </p:nvSpPr>
        <p:spPr>
          <a:xfrm>
            <a:off x="-12700" y="124277"/>
            <a:ext cx="8827134" cy="10896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传媒：实现智能新闻写作，提升新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闻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的时效性</a:t>
            </a:r>
            <a:endParaRPr lang="en-US" altLang="en-US" sz="2000" dirty="0"/>
          </a:p>
          <a:p>
            <a:pPr algn="l" rtl="0" eaLnBrk="0">
              <a:lnSpc>
                <a:spcPct val="105000"/>
              </a:lnSpc>
            </a:pPr>
            <a:endParaRPr lang="en-US" altLang="en-US" sz="1100" dirty="0"/>
          </a:p>
          <a:p>
            <a:pPr algn="l" rtl="0" eaLnBrk="0">
              <a:lnSpc>
                <a:spcPct val="6000"/>
              </a:lnSpc>
            </a:pPr>
            <a:endParaRPr lang="en-US" altLang="en-US" sz="100" dirty="0"/>
          </a:p>
          <a:p>
            <a:pPr marL="251460" algn="l" rtl="0" eaLnBrk="0">
              <a:lnSpc>
                <a:spcPct val="97000"/>
              </a:lnSpc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可以帮助新闻媒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体工作者智能生成报道，将部分劳动性的采编工作自动化，更快、更准、更智能地生成内容</a:t>
            </a:r>
            <a:endParaRPr lang="en-US" altLang="en-US" sz="1200" dirty="0"/>
          </a:p>
        </p:txBody>
      </p:sp>
      <p:pic>
        <p:nvPicPr>
          <p:cNvPr id="1668" name="picture 1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670" name="textbox 1670"/>
          <p:cNvSpPr/>
          <p:nvPr/>
        </p:nvSpPr>
        <p:spPr>
          <a:xfrm>
            <a:off x="1149795" y="1949263"/>
            <a:ext cx="2058035" cy="6616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lang="en-US" altLang="en-US" sz="100" dirty="0"/>
          </a:p>
          <a:p>
            <a:pPr marL="12700" indent="5715" algn="l" rtl="0" eaLnBrk="0">
              <a:lnSpc>
                <a:spcPct val="104000"/>
              </a:lnSpc>
            </a:pPr>
            <a:r>
              <a:rPr sz="10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2014年3月 ，美国洛杉矶时报网</a:t>
            </a:r>
            <a:r>
              <a:rPr sz="10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的机器人记者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Quakebot</a:t>
            </a:r>
            <a:r>
              <a:rPr sz="10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，在洛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杉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矶地震后仅3分钟 ，就写出相关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息并进行发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</a:t>
            </a:r>
            <a:endParaRPr lang="en-US" altLang="en-US" sz="1000" dirty="0"/>
          </a:p>
        </p:txBody>
      </p:sp>
      <p:pic>
        <p:nvPicPr>
          <p:cNvPr id="1671" name="picture 16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20207" y="1912620"/>
            <a:ext cx="821182" cy="821182"/>
          </a:xfrm>
          <a:prstGeom prst="rect">
            <a:avLst/>
          </a:prstGeom>
        </p:spPr>
      </p:pic>
      <p:pic>
        <p:nvPicPr>
          <p:cNvPr id="1672" name="picture 16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68340" y="3545458"/>
            <a:ext cx="821308" cy="821245"/>
          </a:xfrm>
          <a:prstGeom prst="rect">
            <a:avLst/>
          </a:prstGeom>
        </p:spPr>
      </p:pic>
      <p:pic>
        <p:nvPicPr>
          <p:cNvPr id="1673" name="picture 16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780791" y="2010028"/>
            <a:ext cx="3233547" cy="1686814"/>
          </a:xfrm>
          <a:prstGeom prst="rect">
            <a:avLst/>
          </a:prstGeom>
        </p:spPr>
      </p:pic>
      <p:sp>
        <p:nvSpPr>
          <p:cNvPr id="1674" name="textbox 1674"/>
          <p:cNvSpPr/>
          <p:nvPr/>
        </p:nvSpPr>
        <p:spPr>
          <a:xfrm>
            <a:off x="310832" y="4540396"/>
            <a:ext cx="3325495" cy="3937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00965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来源：中国信息通信研究院，国泰君安证券研究</a:t>
            </a:r>
            <a:endParaRPr lang="en-US" altLang="en-US" sz="800" dirty="0"/>
          </a:p>
          <a:p>
            <a:pPr algn="l" rtl="0" eaLnBrk="0">
              <a:lnSpc>
                <a:spcPct val="108000"/>
              </a:lnSpc>
            </a:pPr>
            <a:endParaRPr lang="en-US" altLang="en-US" sz="500" dirty="0"/>
          </a:p>
          <a:p>
            <a:pPr marL="1353820" algn="l" rtl="0" eaLnBrk="0">
              <a:lnSpc>
                <a:spcPct val="97000"/>
              </a:lnSpc>
              <a:spcBef>
                <a:spcPts val="5"/>
              </a:spcBef>
              <a:tabLst>
                <a:tab pos="1452880" algn="l"/>
              </a:tabLst>
            </a:pP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1100" dirty="0"/>
          </a:p>
        </p:txBody>
      </p:sp>
      <p:sp>
        <p:nvSpPr>
          <p:cNvPr id="1676" name="textbox 1676"/>
          <p:cNvSpPr/>
          <p:nvPr/>
        </p:nvSpPr>
        <p:spPr>
          <a:xfrm>
            <a:off x="6761713" y="2033971"/>
            <a:ext cx="1891664" cy="5022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indent="8890" algn="l" rtl="0" eaLnBrk="0">
              <a:lnSpc>
                <a:spcPct val="104000"/>
              </a:lnSpc>
            </a:pP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中国地震网的写稿机器人在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寨 </a:t>
            </a:r>
            <a:r>
              <a:rPr sz="10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沟地震发生后7秒内就完成了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关信息的编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endParaRPr lang="en-US" altLang="en-US" sz="1000" dirty="0"/>
          </a:p>
        </p:txBody>
      </p:sp>
      <p:sp>
        <p:nvSpPr>
          <p:cNvPr id="1677" name="textbox 1677"/>
          <p:cNvSpPr/>
          <p:nvPr/>
        </p:nvSpPr>
        <p:spPr>
          <a:xfrm>
            <a:off x="1201233" y="3697290"/>
            <a:ext cx="1785620" cy="5022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104000"/>
              </a:lnSpc>
            </a:pPr>
            <a:r>
              <a:rPr sz="1000" spc="1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美联社使用的智能写稿平</a:t>
            </a:r>
            <a:r>
              <a:rPr sz="10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Wordsmith</a:t>
            </a:r>
            <a:r>
              <a:rPr sz="10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可 以 每 秒 写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 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2000篇</a:t>
            </a:r>
            <a:r>
              <a:rPr sz="10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</a:t>
            </a:r>
            <a:endParaRPr lang="en-US" altLang="en-US" sz="1000" dirty="0"/>
          </a:p>
        </p:txBody>
      </p:sp>
      <p:pic>
        <p:nvPicPr>
          <p:cNvPr id="1678" name="picture 16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8239" y="3545458"/>
            <a:ext cx="821258" cy="821245"/>
          </a:xfrm>
          <a:prstGeom prst="rect">
            <a:avLst/>
          </a:prstGeom>
        </p:spPr>
      </p:pic>
      <p:pic>
        <p:nvPicPr>
          <p:cNvPr id="1679" name="picture 167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8239" y="1912620"/>
            <a:ext cx="821258" cy="821182"/>
          </a:xfrm>
          <a:prstGeom prst="rect">
            <a:avLst/>
          </a:prstGeom>
        </p:spPr>
      </p:pic>
      <p:sp>
        <p:nvSpPr>
          <p:cNvPr id="1680" name="textbox 1680"/>
          <p:cNvSpPr/>
          <p:nvPr/>
        </p:nvSpPr>
        <p:spPr>
          <a:xfrm>
            <a:off x="6813980" y="3734375"/>
            <a:ext cx="1888489" cy="3435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3970" indent="-1270" algn="l" rtl="0" eaLnBrk="0">
              <a:lnSpc>
                <a:spcPct val="104000"/>
              </a:lnSpc>
            </a:pP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第一财经  “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稿王”一分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钟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 </a:t>
            </a:r>
            <a:r>
              <a:rPr sz="10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写出1680</a:t>
            </a:r>
            <a:r>
              <a:rPr sz="10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endParaRPr lang="en-US" altLang="en-US" sz="1000" dirty="0"/>
          </a:p>
        </p:txBody>
      </p:sp>
      <p:sp>
        <p:nvSpPr>
          <p:cNvPr id="1681" name="textbox 1681"/>
          <p:cNvSpPr/>
          <p:nvPr/>
        </p:nvSpPr>
        <p:spPr>
          <a:xfrm>
            <a:off x="2714904" y="1618386"/>
            <a:ext cx="3404234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图69 ：过往成功案例众多， Chat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在传媒领域的商业化大有可为</a:t>
            </a:r>
            <a:endParaRPr lang="en-US" altLang="en-US" sz="900" dirty="0"/>
          </a:p>
        </p:txBody>
      </p:sp>
    </p:spTree>
    <p:extLst>
      <p:ext uri="{BB962C8B-B14F-4D97-AF65-F5344CB8AC3E}">
        <p14:creationId xmlns:p14="http://schemas.microsoft.com/office/powerpoint/2010/main" val="494837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3" name="picture 16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684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5" name="textbox 1685"/>
          <p:cNvSpPr/>
          <p:nvPr/>
        </p:nvSpPr>
        <p:spPr>
          <a:xfrm>
            <a:off x="-12700" y="124277"/>
            <a:ext cx="8892540" cy="23793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影视：拓宽创作素材，提升作品质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39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可以根据大众的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兴趣身定制影视内容，从而更有可能吸引大众的注意力，获得更好的收视率、票房和口碑</a:t>
            </a:r>
            <a:endParaRPr lang="en-US" altLang="en-US" sz="1200" dirty="0"/>
          </a:p>
          <a:p>
            <a:pPr marL="248285" algn="l" rtl="0" eaLnBrk="0">
              <a:lnSpc>
                <a:spcPts val="1225"/>
              </a:lnSpc>
              <a:spcBef>
                <a:spcPts val="675"/>
              </a:spcBef>
              <a:tabLst>
                <a:tab pos="33909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可以为剧本创作提供新思路，创作者可根据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的生成内容再进行筛选和二次加工，从而激发创作者的灵感，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拓创作思路，缩</a:t>
            </a:r>
            <a:endParaRPr lang="en-US" altLang="en-US" sz="1000" dirty="0"/>
          </a:p>
          <a:p>
            <a:pPr marL="526415" algn="l" rtl="0" eaLnBrk="0">
              <a:lnSpc>
                <a:spcPts val="1225"/>
              </a:lnSpc>
              <a:spcBef>
                <a:spcPts val="670"/>
              </a:spcBef>
            </a:pPr>
            <a:r>
              <a:rPr sz="10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短创作周期</a:t>
            </a:r>
            <a:r>
              <a:rPr sz="10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000" dirty="0"/>
          </a:p>
          <a:p>
            <a:pPr marL="251460" algn="l" rtl="0" eaLnBrk="0">
              <a:lnSpc>
                <a:spcPct val="97000"/>
              </a:lnSpc>
              <a:spcBef>
                <a:spcPts val="75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有着降本增效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的优势，可以有效帮助影视制作团队降低在内容创作上的成本，提高内容创作的效率，在更短的时间内</a:t>
            </a:r>
            <a:endParaRPr lang="en-US" altLang="en-US" sz="1200" dirty="0"/>
          </a:p>
          <a:p>
            <a:pPr marL="528320" algn="l" rtl="0" eaLnBrk="0">
              <a:lnSpc>
                <a:spcPct val="97000"/>
              </a:lnSpc>
              <a:spcBef>
                <a:spcPts val="765"/>
              </a:spcBef>
            </a:pP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制作出更高质量的影视内容</a:t>
            </a:r>
            <a:endParaRPr lang="en-US" altLang="en-US" sz="1200" dirty="0"/>
          </a:p>
          <a:p>
            <a:pPr algn="l" rtl="0" eaLnBrk="0">
              <a:lnSpc>
                <a:spcPct val="107000"/>
              </a:lnSpc>
            </a:pPr>
            <a:endParaRPr lang="en-US" altLang="en-US" sz="7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2514600" algn="l" rtl="0" eaLnBrk="0">
              <a:lnSpc>
                <a:spcPts val="115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图70 ：内容生成在影视领域运用广泛，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在影视领域的商业化大</a:t>
            </a:r>
            <a:r>
              <a:rPr sz="9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endParaRPr lang="en-US" altLang="en-US" sz="900" dirty="0"/>
          </a:p>
        </p:txBody>
      </p:sp>
      <p:pic>
        <p:nvPicPr>
          <p:cNvPr id="1686" name="picture 16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801114"/>
            <a:ext cx="88239" cy="100583"/>
          </a:xfrm>
          <a:prstGeom prst="rect">
            <a:avLst/>
          </a:prstGeom>
        </p:spPr>
      </p:pic>
      <p:pic>
        <p:nvPicPr>
          <p:cNvPr id="1687" name="picture 16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5817" y="1291144"/>
            <a:ext cx="90927" cy="104204"/>
          </a:xfrm>
          <a:prstGeom prst="rect">
            <a:avLst/>
          </a:prstGeom>
        </p:spPr>
      </p:pic>
      <p:pic>
        <p:nvPicPr>
          <p:cNvPr id="1688" name="picture 16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689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90" name="textbox 1690"/>
          <p:cNvSpPr/>
          <p:nvPr/>
        </p:nvSpPr>
        <p:spPr>
          <a:xfrm>
            <a:off x="4555608" y="2484532"/>
            <a:ext cx="149860" cy="171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0"/>
              </a:lnSpc>
            </a:pP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endParaRPr lang="en-US" altLang="en-US" sz="900" dirty="0"/>
          </a:p>
        </p:txBody>
      </p:sp>
      <p:pic>
        <p:nvPicPr>
          <p:cNvPr id="1691" name="picture 169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647187" y="2571750"/>
            <a:ext cx="3322066" cy="2060816"/>
          </a:xfrm>
          <a:prstGeom prst="rect">
            <a:avLst/>
          </a:prstGeom>
        </p:spPr>
      </p:pic>
      <p:sp>
        <p:nvSpPr>
          <p:cNvPr id="1692" name="textbox 1692"/>
          <p:cNvSpPr/>
          <p:nvPr/>
        </p:nvSpPr>
        <p:spPr>
          <a:xfrm>
            <a:off x="6165158" y="2798639"/>
            <a:ext cx="2209164" cy="9823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lang="en-US" altLang="en-US" sz="100" dirty="0"/>
          </a:p>
          <a:p>
            <a:pPr marL="12700" indent="8255" algn="l" rtl="0" eaLnBrk="0">
              <a:lnSpc>
                <a:spcPct val="105000"/>
              </a:lnSpc>
            </a:pPr>
            <a:r>
              <a:rPr sz="10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国内海马轻帆科技公司推出的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    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说转剧本”智能写作功能 ，服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务了    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包括《你好 ，李焕英》《流浪地球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0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等爆款作品在内的剧集剧本30</a:t>
            </a:r>
            <a:r>
              <a:rPr sz="10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    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多集、  电影/网络电影剧本8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00多    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部、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网络小说超过500万部</a:t>
            </a:r>
            <a:endParaRPr lang="en-US" altLang="en-US" sz="1000" dirty="0"/>
          </a:p>
        </p:txBody>
      </p:sp>
      <p:sp>
        <p:nvSpPr>
          <p:cNvPr id="1693" name="textbox 1693"/>
          <p:cNvSpPr/>
          <p:nvPr/>
        </p:nvSpPr>
        <p:spPr>
          <a:xfrm>
            <a:off x="792703" y="3922841"/>
            <a:ext cx="1901189" cy="666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lang="en-US" altLang="en-US" sz="100" dirty="0"/>
          </a:p>
          <a:p>
            <a:pPr marL="12700" indent="5715" algn="l" rtl="0" eaLnBrk="0">
              <a:lnSpc>
                <a:spcPct val="104000"/>
              </a:lnSpc>
            </a:pPr>
            <a:r>
              <a:rPr sz="10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2016年 ，纽约大学利用人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    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智能编写剧本《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Sunspring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，  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经拍摄制作后入围伦敦科</a:t>
            </a:r>
            <a:r>
              <a:rPr sz="10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    </a:t>
            </a:r>
            <a:r>
              <a:rPr sz="1000" spc="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影48小时前十</a:t>
            </a:r>
            <a:r>
              <a:rPr sz="10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</a:t>
            </a:r>
            <a:endParaRPr lang="en-US" altLang="en-US" sz="1000" dirty="0"/>
          </a:p>
        </p:txBody>
      </p:sp>
      <p:sp>
        <p:nvSpPr>
          <p:cNvPr id="1694" name="textbox 1694"/>
          <p:cNvSpPr/>
          <p:nvPr/>
        </p:nvSpPr>
        <p:spPr>
          <a:xfrm>
            <a:off x="1845325" y="2609421"/>
            <a:ext cx="1423669" cy="666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lang="en-US" altLang="en-US" sz="100" dirty="0"/>
          </a:p>
          <a:p>
            <a:pPr marL="12700" indent="4445" algn="l" rtl="0" eaLnBrk="0">
              <a:lnSpc>
                <a:spcPct val="104000"/>
              </a:lnSpc>
              <a:spcBef>
                <a:spcPts val="0"/>
              </a:spcBef>
            </a:pPr>
            <a:r>
              <a:rPr sz="10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2020年 ，美国查</a:t>
            </a:r>
            <a:r>
              <a:rPr sz="10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曼大 </a:t>
            </a:r>
            <a:r>
              <a:rPr sz="1000" spc="1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学的学生利用</a:t>
            </a:r>
            <a:r>
              <a:rPr sz="10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</a:t>
            </a:r>
            <a:r>
              <a:rPr sz="1000" spc="1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1000" spc="1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-3模型创作剧</a:t>
            </a:r>
            <a:r>
              <a:rPr sz="10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并制作短片《律</a:t>
            </a:r>
            <a:r>
              <a:rPr sz="10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</a:t>
            </a:r>
            <a:r>
              <a:rPr sz="10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en-US" altLang="en-US" sz="1000" dirty="0"/>
          </a:p>
        </p:txBody>
      </p:sp>
      <p:sp>
        <p:nvSpPr>
          <p:cNvPr id="1695" name="textbox 1695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1696" name="textbox 1696"/>
          <p:cNvSpPr/>
          <p:nvPr/>
        </p:nvSpPr>
        <p:spPr>
          <a:xfrm>
            <a:off x="34857" y="4978089"/>
            <a:ext cx="2366010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来源：中国信息通信研究院，国泰君安证券研究</a:t>
            </a:r>
            <a:endParaRPr lang="en-US" altLang="en-US" sz="800" dirty="0"/>
          </a:p>
        </p:txBody>
      </p:sp>
      <p:sp>
        <p:nvSpPr>
          <p:cNvPr id="1699" name="textbox 1699"/>
          <p:cNvSpPr/>
          <p:nvPr/>
        </p:nvSpPr>
        <p:spPr>
          <a:xfrm>
            <a:off x="3567317" y="3894503"/>
            <a:ext cx="377190" cy="1822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30"/>
              </a:lnSpc>
            </a:pPr>
            <a:r>
              <a:rPr sz="10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en-US" sz="1000" dirty="0"/>
          </a:p>
        </p:txBody>
      </p:sp>
      <p:sp>
        <p:nvSpPr>
          <p:cNvPr id="1700" name="textbox 1700"/>
          <p:cNvSpPr/>
          <p:nvPr/>
        </p:nvSpPr>
        <p:spPr>
          <a:xfrm>
            <a:off x="5036447" y="3918220"/>
            <a:ext cx="377190" cy="181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30"/>
              </a:lnSpc>
            </a:pPr>
            <a:r>
              <a:rPr sz="10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en-US" sz="1000" dirty="0"/>
          </a:p>
        </p:txBody>
      </p:sp>
      <p:sp>
        <p:nvSpPr>
          <p:cNvPr id="1701" name="textbox 1701"/>
          <p:cNvSpPr/>
          <p:nvPr/>
        </p:nvSpPr>
        <p:spPr>
          <a:xfrm>
            <a:off x="4296418" y="3178749"/>
            <a:ext cx="377190" cy="181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30"/>
              </a:lnSpc>
            </a:pPr>
            <a:r>
              <a:rPr sz="10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en-US" sz="1000" dirty="0"/>
          </a:p>
        </p:txBody>
      </p:sp>
      <p:pic>
        <p:nvPicPr>
          <p:cNvPr id="1702" name="picture 17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06342" y="2852927"/>
            <a:ext cx="533400" cy="76200"/>
          </a:xfrm>
          <a:prstGeom prst="rect">
            <a:avLst/>
          </a:prstGeom>
        </p:spPr>
      </p:pic>
      <p:sp>
        <p:nvSpPr>
          <p:cNvPr id="1703" name="path"/>
          <p:cNvSpPr/>
          <p:nvPr/>
        </p:nvSpPr>
        <p:spPr>
          <a:xfrm>
            <a:off x="3664711" y="4354766"/>
            <a:ext cx="178942" cy="204431"/>
          </a:xfrm>
          <a:custGeom>
            <a:avLst/>
            <a:gdLst/>
            <a:ahLst/>
            <a:cxnLst/>
            <a:rect l="0" t="0" r="0" b="0"/>
            <a:pathLst>
              <a:path w="281" h="321">
                <a:moveTo>
                  <a:pt x="241" y="301"/>
                </a:moveTo>
                <a:cubicBezTo>
                  <a:pt x="227" y="301"/>
                  <a:pt x="227" y="301"/>
                  <a:pt x="227" y="301"/>
                </a:cubicBezTo>
                <a:cubicBezTo>
                  <a:pt x="260" y="280"/>
                  <a:pt x="281" y="243"/>
                  <a:pt x="281" y="201"/>
                </a:cubicBezTo>
                <a:cubicBezTo>
                  <a:pt x="281" y="145"/>
                  <a:pt x="243" y="97"/>
                  <a:pt x="190" y="84"/>
                </a:cubicBezTo>
                <a:cubicBezTo>
                  <a:pt x="213" y="41"/>
                  <a:pt x="213" y="41"/>
                  <a:pt x="213" y="41"/>
                </a:cubicBezTo>
                <a:cubicBezTo>
                  <a:pt x="215" y="36"/>
                  <a:pt x="214" y="30"/>
                  <a:pt x="209" y="27"/>
                </a:cubicBezTo>
                <a:cubicBezTo>
                  <a:pt x="155" y="1"/>
                  <a:pt x="155" y="1"/>
                  <a:pt x="155" y="1"/>
                </a:cubicBezTo>
                <a:cubicBezTo>
                  <a:pt x="152" y="0"/>
                  <a:pt x="149" y="0"/>
                  <a:pt x="147" y="1"/>
                </a:cubicBezTo>
                <a:cubicBezTo>
                  <a:pt x="144" y="2"/>
                  <a:pt x="142" y="3"/>
                  <a:pt x="141" y="6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1" y="138"/>
                  <a:pt x="75" y="151"/>
                  <a:pt x="85" y="156"/>
                </a:cubicBezTo>
                <a:cubicBezTo>
                  <a:pt x="76" y="174"/>
                  <a:pt x="76" y="174"/>
                  <a:pt x="76" y="174"/>
                </a:cubicBezTo>
                <a:cubicBezTo>
                  <a:pt x="113" y="191"/>
                  <a:pt x="113" y="191"/>
                  <a:pt x="113" y="191"/>
                </a:cubicBezTo>
                <a:cubicBezTo>
                  <a:pt x="121" y="174"/>
                  <a:pt x="121" y="174"/>
                  <a:pt x="121" y="174"/>
                </a:cubicBezTo>
                <a:cubicBezTo>
                  <a:pt x="121" y="174"/>
                  <a:pt x="121" y="174"/>
                  <a:pt x="121" y="174"/>
                </a:cubicBezTo>
                <a:cubicBezTo>
                  <a:pt x="131" y="178"/>
                  <a:pt x="143" y="174"/>
                  <a:pt x="149" y="163"/>
                </a:cubicBezTo>
                <a:cubicBezTo>
                  <a:pt x="171" y="122"/>
                  <a:pt x="171" y="122"/>
                  <a:pt x="171" y="122"/>
                </a:cubicBezTo>
                <a:cubicBezTo>
                  <a:pt x="210" y="127"/>
                  <a:pt x="241" y="160"/>
                  <a:pt x="241" y="201"/>
                </a:cubicBezTo>
                <a:cubicBezTo>
                  <a:pt x="241" y="245"/>
                  <a:pt x="205" y="281"/>
                  <a:pt x="161" y="281"/>
                </a:cubicBezTo>
                <a:cubicBezTo>
                  <a:pt x="141" y="281"/>
                  <a:pt x="114" y="273"/>
                  <a:pt x="100" y="261"/>
                </a:cubicBezTo>
                <a:cubicBezTo>
                  <a:pt x="100" y="251"/>
                  <a:pt x="100" y="251"/>
                  <a:pt x="100" y="251"/>
                </a:cubicBezTo>
                <a:cubicBezTo>
                  <a:pt x="100" y="246"/>
                  <a:pt x="105" y="241"/>
                  <a:pt x="110" y="241"/>
                </a:cubicBezTo>
                <a:cubicBezTo>
                  <a:pt x="161" y="241"/>
                  <a:pt x="161" y="241"/>
                  <a:pt x="161" y="241"/>
                </a:cubicBezTo>
                <a:cubicBezTo>
                  <a:pt x="161" y="221"/>
                  <a:pt x="161" y="221"/>
                  <a:pt x="161" y="221"/>
                </a:cubicBezTo>
                <a:cubicBezTo>
                  <a:pt x="83" y="221"/>
                  <a:pt x="83" y="221"/>
                  <a:pt x="83" y="221"/>
                </a:cubicBezTo>
                <a:cubicBezTo>
                  <a:pt x="42" y="221"/>
                  <a:pt x="42" y="221"/>
                  <a:pt x="42" y="221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41"/>
                  <a:pt x="0" y="241"/>
                  <a:pt x="0" y="241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50" y="241"/>
                  <a:pt x="50" y="241"/>
                  <a:pt x="50" y="241"/>
                </a:cubicBezTo>
                <a:cubicBezTo>
                  <a:pt x="55" y="241"/>
                  <a:pt x="60" y="246"/>
                  <a:pt x="60" y="251"/>
                </a:cubicBezTo>
                <a:cubicBezTo>
                  <a:pt x="60" y="261"/>
                  <a:pt x="60" y="261"/>
                  <a:pt x="60" y="261"/>
                </a:cubicBezTo>
                <a:cubicBezTo>
                  <a:pt x="60" y="301"/>
                  <a:pt x="60" y="301"/>
                  <a:pt x="60" y="301"/>
                </a:cubicBezTo>
                <a:cubicBezTo>
                  <a:pt x="37" y="301"/>
                  <a:pt x="20" y="299"/>
                  <a:pt x="20" y="321"/>
                </a:cubicBezTo>
                <a:cubicBezTo>
                  <a:pt x="281" y="321"/>
                  <a:pt x="281" y="321"/>
                  <a:pt x="281" y="321"/>
                </a:cubicBezTo>
                <a:cubicBezTo>
                  <a:pt x="281" y="299"/>
                  <a:pt x="264" y="301"/>
                  <a:pt x="241" y="301"/>
                </a:cubicBezTo>
                <a:moveTo>
                  <a:pt x="171" y="27"/>
                </a:moveTo>
                <a:cubicBezTo>
                  <a:pt x="168" y="28"/>
                  <a:pt x="166" y="30"/>
                  <a:pt x="164" y="34"/>
                </a:cubicBezTo>
                <a:cubicBezTo>
                  <a:pt x="118" y="121"/>
                  <a:pt x="118" y="121"/>
                  <a:pt x="118" y="121"/>
                </a:cubicBezTo>
                <a:cubicBezTo>
                  <a:pt x="100" y="112"/>
                  <a:pt x="100" y="112"/>
                  <a:pt x="100" y="112"/>
                </a:cubicBezTo>
                <a:cubicBezTo>
                  <a:pt x="101" y="111"/>
                  <a:pt x="101" y="109"/>
                  <a:pt x="101" y="108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47" y="23"/>
                  <a:pt x="149" y="22"/>
                  <a:pt x="152" y="21"/>
                </a:cubicBezTo>
                <a:cubicBezTo>
                  <a:pt x="154" y="20"/>
                  <a:pt x="157" y="20"/>
                  <a:pt x="160" y="21"/>
                </a:cubicBezTo>
                <a:cubicBezTo>
                  <a:pt x="171" y="27"/>
                  <a:pt x="171" y="27"/>
                  <a:pt x="171" y="27"/>
                </a:cubicBezTo>
                <a:cubicBezTo>
                  <a:pt x="171" y="27"/>
                  <a:pt x="171" y="27"/>
                  <a:pt x="171" y="27"/>
                </a:cubicBezTo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4" name="path"/>
          <p:cNvSpPr/>
          <p:nvPr/>
        </p:nvSpPr>
        <p:spPr>
          <a:xfrm>
            <a:off x="5105527" y="4379709"/>
            <a:ext cx="182117" cy="190068"/>
          </a:xfrm>
          <a:custGeom>
            <a:avLst/>
            <a:gdLst/>
            <a:ahLst/>
            <a:cxnLst/>
            <a:rect l="0" t="0" r="0" b="0"/>
            <a:pathLst>
              <a:path w="286" h="299">
                <a:moveTo>
                  <a:pt x="267" y="0"/>
                </a:moveTo>
                <a:cubicBezTo>
                  <a:pt x="42" y="0"/>
                  <a:pt x="42" y="0"/>
                  <a:pt x="42" y="0"/>
                </a:cubicBezTo>
                <a:cubicBezTo>
                  <a:pt x="118" y="38"/>
                  <a:pt x="118" y="38"/>
                  <a:pt x="118" y="38"/>
                </a:cubicBezTo>
                <a:cubicBezTo>
                  <a:pt x="248" y="38"/>
                  <a:pt x="248" y="38"/>
                  <a:pt x="248" y="38"/>
                </a:cubicBezTo>
                <a:cubicBezTo>
                  <a:pt x="248" y="57"/>
                  <a:pt x="248" y="57"/>
                  <a:pt x="248" y="57"/>
                </a:cubicBezTo>
                <a:cubicBezTo>
                  <a:pt x="156" y="57"/>
                  <a:pt x="156" y="57"/>
                  <a:pt x="156" y="57"/>
                </a:cubicBezTo>
                <a:cubicBezTo>
                  <a:pt x="182" y="69"/>
                  <a:pt x="182" y="69"/>
                  <a:pt x="182" y="69"/>
                </a:cubicBezTo>
                <a:cubicBezTo>
                  <a:pt x="192" y="75"/>
                  <a:pt x="201" y="84"/>
                  <a:pt x="205" y="95"/>
                </a:cubicBezTo>
                <a:cubicBezTo>
                  <a:pt x="248" y="95"/>
                  <a:pt x="248" y="95"/>
                  <a:pt x="248" y="95"/>
                </a:cubicBezTo>
                <a:cubicBezTo>
                  <a:pt x="248" y="114"/>
                  <a:pt x="248" y="114"/>
                  <a:pt x="248" y="114"/>
                </a:cubicBezTo>
                <a:cubicBezTo>
                  <a:pt x="210" y="114"/>
                  <a:pt x="210" y="114"/>
                  <a:pt x="210" y="114"/>
                </a:cubicBezTo>
                <a:cubicBezTo>
                  <a:pt x="210" y="210"/>
                  <a:pt x="210" y="210"/>
                  <a:pt x="210" y="210"/>
                </a:cubicBezTo>
                <a:cubicBezTo>
                  <a:pt x="267" y="210"/>
                  <a:pt x="267" y="210"/>
                  <a:pt x="267" y="210"/>
                </a:cubicBezTo>
                <a:cubicBezTo>
                  <a:pt x="278" y="210"/>
                  <a:pt x="286" y="201"/>
                  <a:pt x="286" y="191"/>
                </a:cubicBezTo>
                <a:cubicBezTo>
                  <a:pt x="286" y="19"/>
                  <a:pt x="286" y="19"/>
                  <a:pt x="286" y="19"/>
                </a:cubicBezTo>
                <a:cubicBezTo>
                  <a:pt x="286" y="8"/>
                  <a:pt x="278" y="0"/>
                  <a:pt x="267" y="0"/>
                </a:cubicBezTo>
              </a:path>
              <a:path w="286" h="299">
                <a:moveTo>
                  <a:pt x="174" y="86"/>
                </a:moveTo>
                <a:cubicBezTo>
                  <a:pt x="17" y="7"/>
                  <a:pt x="17" y="7"/>
                  <a:pt x="17" y="7"/>
                </a:cubicBezTo>
                <a:cubicBezTo>
                  <a:pt x="14" y="6"/>
                  <a:pt x="12" y="6"/>
                  <a:pt x="10" y="6"/>
                </a:cubicBezTo>
                <a:cubicBezTo>
                  <a:pt x="4" y="6"/>
                  <a:pt x="0" y="11"/>
                  <a:pt x="0" y="18"/>
                </a:cubicBezTo>
                <a:cubicBezTo>
                  <a:pt x="0" y="191"/>
                  <a:pt x="0" y="191"/>
                  <a:pt x="0" y="191"/>
                </a:cubicBezTo>
                <a:cubicBezTo>
                  <a:pt x="0" y="201"/>
                  <a:pt x="7" y="213"/>
                  <a:pt x="17" y="218"/>
                </a:cubicBezTo>
                <a:cubicBezTo>
                  <a:pt x="174" y="297"/>
                  <a:pt x="174" y="297"/>
                  <a:pt x="174" y="297"/>
                </a:cubicBezTo>
                <a:cubicBezTo>
                  <a:pt x="176" y="298"/>
                  <a:pt x="178" y="299"/>
                  <a:pt x="180" y="299"/>
                </a:cubicBezTo>
                <a:cubicBezTo>
                  <a:pt x="186" y="299"/>
                  <a:pt x="191" y="294"/>
                  <a:pt x="191" y="286"/>
                </a:cubicBezTo>
                <a:cubicBezTo>
                  <a:pt x="191" y="114"/>
                  <a:pt x="191" y="114"/>
                  <a:pt x="191" y="114"/>
                </a:cubicBezTo>
                <a:cubicBezTo>
                  <a:pt x="191" y="104"/>
                  <a:pt x="183" y="91"/>
                  <a:pt x="174" y="86"/>
                </a:cubicBezTo>
                <a:moveTo>
                  <a:pt x="133" y="210"/>
                </a:moveTo>
                <a:cubicBezTo>
                  <a:pt x="123" y="210"/>
                  <a:pt x="114" y="197"/>
                  <a:pt x="114" y="181"/>
                </a:cubicBezTo>
                <a:cubicBezTo>
                  <a:pt x="114" y="165"/>
                  <a:pt x="123" y="153"/>
                  <a:pt x="133" y="153"/>
                </a:cubicBezTo>
                <a:cubicBezTo>
                  <a:pt x="144" y="153"/>
                  <a:pt x="153" y="165"/>
                  <a:pt x="153" y="181"/>
                </a:cubicBezTo>
                <a:cubicBezTo>
                  <a:pt x="153" y="197"/>
                  <a:pt x="144" y="210"/>
                  <a:pt x="133" y="210"/>
                </a:cubicBezTo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5" name="path"/>
          <p:cNvSpPr/>
          <p:nvPr/>
        </p:nvSpPr>
        <p:spPr>
          <a:xfrm>
            <a:off x="4375277" y="2672207"/>
            <a:ext cx="186944" cy="147192"/>
          </a:xfrm>
          <a:custGeom>
            <a:avLst/>
            <a:gdLst/>
            <a:ahLst/>
            <a:cxnLst/>
            <a:rect l="0" t="0" r="0" b="0"/>
            <a:pathLst>
              <a:path w="294" h="231">
                <a:moveTo>
                  <a:pt x="173" y="75"/>
                </a:moveTo>
                <a:cubicBezTo>
                  <a:pt x="144" y="75"/>
                  <a:pt x="120" y="98"/>
                  <a:pt x="120" y="127"/>
                </a:cubicBezTo>
                <a:cubicBezTo>
                  <a:pt x="120" y="157"/>
                  <a:pt x="144" y="181"/>
                  <a:pt x="173" y="181"/>
                </a:cubicBezTo>
                <a:cubicBezTo>
                  <a:pt x="202" y="181"/>
                  <a:pt x="226" y="157"/>
                  <a:pt x="226" y="127"/>
                </a:cubicBezTo>
                <a:cubicBezTo>
                  <a:pt x="226" y="98"/>
                  <a:pt x="202" y="75"/>
                  <a:pt x="173" y="75"/>
                </a:cubicBezTo>
                <a:moveTo>
                  <a:pt x="159" y="156"/>
                </a:moveTo>
                <a:cubicBezTo>
                  <a:pt x="153" y="151"/>
                  <a:pt x="148" y="142"/>
                  <a:pt x="148" y="133"/>
                </a:cubicBezTo>
                <a:cubicBezTo>
                  <a:pt x="148" y="116"/>
                  <a:pt x="162" y="101"/>
                  <a:pt x="180" y="101"/>
                </a:cubicBezTo>
                <a:cubicBezTo>
                  <a:pt x="189" y="101"/>
                  <a:pt x="198" y="106"/>
                  <a:pt x="204" y="113"/>
                </a:cubicBezTo>
                <a:cubicBezTo>
                  <a:pt x="180" y="115"/>
                  <a:pt x="162" y="133"/>
                  <a:pt x="159" y="156"/>
                </a:cubicBezTo>
              </a:path>
              <a:path w="294" h="231">
                <a:moveTo>
                  <a:pt x="273" y="21"/>
                </a:moveTo>
                <a:cubicBezTo>
                  <a:pt x="252" y="21"/>
                  <a:pt x="252" y="21"/>
                  <a:pt x="252" y="21"/>
                </a:cubicBezTo>
                <a:cubicBezTo>
                  <a:pt x="252" y="0"/>
                  <a:pt x="252" y="0"/>
                  <a:pt x="252" y="0"/>
                </a:cubicBezTo>
                <a:cubicBezTo>
                  <a:pt x="231" y="0"/>
                  <a:pt x="231" y="0"/>
                  <a:pt x="231" y="0"/>
                </a:cubicBezTo>
                <a:cubicBezTo>
                  <a:pt x="231" y="21"/>
                  <a:pt x="231" y="21"/>
                  <a:pt x="231" y="21"/>
                </a:cubicBezTo>
                <a:cubicBezTo>
                  <a:pt x="126" y="21"/>
                  <a:pt x="126" y="21"/>
                  <a:pt x="126" y="21"/>
                </a:cubicBezTo>
                <a:cubicBezTo>
                  <a:pt x="126" y="10"/>
                  <a:pt x="116" y="0"/>
                  <a:pt x="105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51" y="0"/>
                  <a:pt x="42" y="10"/>
                  <a:pt x="42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9" y="21"/>
                  <a:pt x="0" y="30"/>
                  <a:pt x="0" y="42"/>
                </a:cubicBezTo>
                <a:cubicBezTo>
                  <a:pt x="0" y="210"/>
                  <a:pt x="0" y="210"/>
                  <a:pt x="0" y="210"/>
                </a:cubicBezTo>
                <a:cubicBezTo>
                  <a:pt x="0" y="222"/>
                  <a:pt x="9" y="231"/>
                  <a:pt x="20" y="231"/>
                </a:cubicBezTo>
                <a:cubicBezTo>
                  <a:pt x="273" y="231"/>
                  <a:pt x="273" y="231"/>
                  <a:pt x="273" y="231"/>
                </a:cubicBezTo>
                <a:cubicBezTo>
                  <a:pt x="284" y="231"/>
                  <a:pt x="294" y="222"/>
                  <a:pt x="294" y="210"/>
                </a:cubicBezTo>
                <a:cubicBezTo>
                  <a:pt x="294" y="42"/>
                  <a:pt x="294" y="42"/>
                  <a:pt x="294" y="42"/>
                </a:cubicBezTo>
                <a:cubicBezTo>
                  <a:pt x="294" y="30"/>
                  <a:pt x="284" y="21"/>
                  <a:pt x="273" y="21"/>
                </a:cubicBezTo>
                <a:moveTo>
                  <a:pt x="50" y="92"/>
                </a:moveTo>
                <a:cubicBezTo>
                  <a:pt x="42" y="92"/>
                  <a:pt x="35" y="85"/>
                  <a:pt x="35" y="76"/>
                </a:cubicBezTo>
                <a:cubicBezTo>
                  <a:pt x="35" y="67"/>
                  <a:pt x="42" y="61"/>
                  <a:pt x="50" y="61"/>
                </a:cubicBezTo>
                <a:cubicBezTo>
                  <a:pt x="58" y="61"/>
                  <a:pt x="65" y="67"/>
                  <a:pt x="65" y="76"/>
                </a:cubicBezTo>
                <a:cubicBezTo>
                  <a:pt x="65" y="85"/>
                  <a:pt x="58" y="92"/>
                  <a:pt x="50" y="92"/>
                </a:cubicBezTo>
                <a:moveTo>
                  <a:pt x="173" y="208"/>
                </a:moveTo>
                <a:cubicBezTo>
                  <a:pt x="129" y="208"/>
                  <a:pt x="93" y="172"/>
                  <a:pt x="93" y="127"/>
                </a:cubicBezTo>
                <a:cubicBezTo>
                  <a:pt x="93" y="83"/>
                  <a:pt x="129" y="47"/>
                  <a:pt x="173" y="47"/>
                </a:cubicBezTo>
                <a:cubicBezTo>
                  <a:pt x="217" y="47"/>
                  <a:pt x="253" y="83"/>
                  <a:pt x="253" y="127"/>
                </a:cubicBezTo>
                <a:cubicBezTo>
                  <a:pt x="253" y="172"/>
                  <a:pt x="217" y="208"/>
                  <a:pt x="173" y="208"/>
                </a:cubicBezTo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6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84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picture 17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708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9" name="textbox 1709"/>
          <p:cNvSpPr/>
          <p:nvPr/>
        </p:nvSpPr>
        <p:spPr>
          <a:xfrm>
            <a:off x="-12700" y="124277"/>
            <a:ext cx="8827134" cy="13131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营销：打造虚拟客服，赋能产品销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售</a:t>
            </a:r>
            <a:endParaRPr lang="en-US" altLang="en-US" sz="2000" dirty="0"/>
          </a:p>
          <a:p>
            <a:pPr marL="251460" algn="l" rtl="0" eaLnBrk="0">
              <a:lnSpc>
                <a:spcPct val="97000"/>
              </a:lnSpc>
              <a:spcBef>
                <a:spcPts val="139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可以打造虚拟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客服，助力产品营销</a:t>
            </a:r>
            <a:endParaRPr lang="en-US" altLang="en-US" sz="1200" dirty="0"/>
          </a:p>
          <a:p>
            <a:pPr algn="l" rtl="0" eaLnBrk="0">
              <a:lnSpc>
                <a:spcPct val="118000"/>
              </a:lnSpc>
            </a:pPr>
            <a:endParaRPr lang="en-US" altLang="en-US" sz="500" dirty="0"/>
          </a:p>
          <a:p>
            <a:pPr marL="3122295" algn="l" rtl="0" eaLnBrk="0">
              <a:lnSpc>
                <a:spcPct val="97000"/>
              </a:lnSpc>
              <a:spcBef>
                <a:spcPts val="5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图71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利用ChatGPT打造的虚拟客服，具备无可比拟的营销优势</a:t>
            </a:r>
            <a:endParaRPr lang="en-US" altLang="en-US" sz="900" dirty="0"/>
          </a:p>
        </p:txBody>
      </p:sp>
      <p:pic>
        <p:nvPicPr>
          <p:cNvPr id="1710" name="picture 17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711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48" name="group 248"/>
          <p:cNvGrpSpPr/>
          <p:nvPr/>
        </p:nvGrpSpPr>
        <p:grpSpPr>
          <a:xfrm rot="21600000">
            <a:off x="2131314" y="3389248"/>
            <a:ext cx="1285875" cy="1281696"/>
            <a:chOff x="0" y="0"/>
            <a:chExt cx="1285875" cy="1281696"/>
          </a:xfrm>
        </p:grpSpPr>
        <p:sp>
          <p:nvSpPr>
            <p:cNvPr id="1712" name="path"/>
            <p:cNvSpPr/>
            <p:nvPr/>
          </p:nvSpPr>
          <p:spPr>
            <a:xfrm>
              <a:off x="0" y="0"/>
              <a:ext cx="1285875" cy="1281696"/>
            </a:xfrm>
            <a:custGeom>
              <a:avLst/>
              <a:gdLst/>
              <a:ahLst/>
              <a:cxnLst/>
              <a:rect l="0" t="0" r="0" b="0"/>
              <a:pathLst>
                <a:path w="2025" h="2018">
                  <a:moveTo>
                    <a:pt x="0" y="1009"/>
                  </a:moveTo>
                  <a:cubicBezTo>
                    <a:pt x="0" y="452"/>
                    <a:pt x="453" y="0"/>
                    <a:pt x="1012" y="0"/>
                  </a:cubicBezTo>
                  <a:cubicBezTo>
                    <a:pt x="1012" y="0"/>
                    <a:pt x="1012" y="0"/>
                    <a:pt x="1012" y="0"/>
                  </a:cubicBezTo>
                  <a:lnTo>
                    <a:pt x="1012" y="0"/>
                  </a:lnTo>
                  <a:cubicBezTo>
                    <a:pt x="1571" y="0"/>
                    <a:pt x="2025" y="452"/>
                    <a:pt x="2025" y="1009"/>
                  </a:cubicBezTo>
                  <a:cubicBezTo>
                    <a:pt x="2025" y="1009"/>
                    <a:pt x="2025" y="1009"/>
                    <a:pt x="2025" y="1009"/>
                  </a:cubicBezTo>
                  <a:lnTo>
                    <a:pt x="2025" y="1009"/>
                  </a:lnTo>
                  <a:cubicBezTo>
                    <a:pt x="2025" y="1566"/>
                    <a:pt x="1571" y="2018"/>
                    <a:pt x="1012" y="2018"/>
                  </a:cubicBezTo>
                  <a:cubicBezTo>
                    <a:pt x="1012" y="2018"/>
                    <a:pt x="1012" y="2018"/>
                    <a:pt x="1012" y="2018"/>
                  </a:cubicBezTo>
                  <a:lnTo>
                    <a:pt x="1012" y="2018"/>
                  </a:lnTo>
                  <a:cubicBezTo>
                    <a:pt x="453" y="2018"/>
                    <a:pt x="0" y="1566"/>
                    <a:pt x="0" y="1009"/>
                  </a:cubicBezTo>
                  <a:cubicBezTo>
                    <a:pt x="0" y="1009"/>
                    <a:pt x="0" y="1009"/>
                    <a:pt x="0" y="1009"/>
                  </a:cubicBezTo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3" name="path"/>
            <p:cNvSpPr/>
            <p:nvPr/>
          </p:nvSpPr>
          <p:spPr>
            <a:xfrm>
              <a:off x="279907" y="275844"/>
              <a:ext cx="727075" cy="730097"/>
            </a:xfrm>
            <a:custGeom>
              <a:avLst/>
              <a:gdLst/>
              <a:ahLst/>
              <a:cxnLst/>
              <a:rect l="0" t="0" r="0" b="0"/>
              <a:pathLst>
                <a:path w="1145" h="1149">
                  <a:moveTo>
                    <a:pt x="0" y="574"/>
                  </a:moveTo>
                  <a:cubicBezTo>
                    <a:pt x="0" y="257"/>
                    <a:pt x="256" y="0"/>
                    <a:pt x="572" y="0"/>
                  </a:cubicBezTo>
                  <a:cubicBezTo>
                    <a:pt x="572" y="0"/>
                    <a:pt x="572" y="0"/>
                    <a:pt x="572" y="0"/>
                  </a:cubicBezTo>
                  <a:lnTo>
                    <a:pt x="572" y="0"/>
                  </a:lnTo>
                  <a:cubicBezTo>
                    <a:pt x="888" y="0"/>
                    <a:pt x="1145" y="257"/>
                    <a:pt x="1145" y="574"/>
                  </a:cubicBezTo>
                  <a:cubicBezTo>
                    <a:pt x="1145" y="574"/>
                    <a:pt x="1145" y="574"/>
                    <a:pt x="1145" y="574"/>
                  </a:cubicBezTo>
                  <a:lnTo>
                    <a:pt x="1145" y="574"/>
                  </a:lnTo>
                  <a:cubicBezTo>
                    <a:pt x="1145" y="892"/>
                    <a:pt x="888" y="1149"/>
                    <a:pt x="572" y="1149"/>
                  </a:cubicBezTo>
                  <a:cubicBezTo>
                    <a:pt x="572" y="1149"/>
                    <a:pt x="572" y="1149"/>
                    <a:pt x="572" y="1149"/>
                  </a:cubicBezTo>
                  <a:lnTo>
                    <a:pt x="572" y="1149"/>
                  </a:lnTo>
                  <a:cubicBezTo>
                    <a:pt x="256" y="1149"/>
                    <a:pt x="0" y="892"/>
                    <a:pt x="0" y="574"/>
                  </a:cubicBezTo>
                  <a:cubicBezTo>
                    <a:pt x="0" y="574"/>
                    <a:pt x="0" y="574"/>
                    <a:pt x="0" y="574"/>
                  </a:cubicBezTo>
                </a:path>
              </a:pathLst>
            </a:custGeom>
            <a:solidFill>
              <a:srgbClr val="E5E8E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0" name="group 250"/>
          <p:cNvGrpSpPr/>
          <p:nvPr/>
        </p:nvGrpSpPr>
        <p:grpSpPr>
          <a:xfrm rot="21600000">
            <a:off x="889914" y="1498219"/>
            <a:ext cx="2630652" cy="2089530"/>
            <a:chOff x="0" y="0"/>
            <a:chExt cx="2630652" cy="2089530"/>
          </a:xfrm>
        </p:grpSpPr>
        <p:sp>
          <p:nvSpPr>
            <p:cNvPr id="1714" name="path"/>
            <p:cNvSpPr/>
            <p:nvPr/>
          </p:nvSpPr>
          <p:spPr>
            <a:xfrm>
              <a:off x="0" y="0"/>
              <a:ext cx="1491589" cy="1490471"/>
            </a:xfrm>
            <a:custGeom>
              <a:avLst/>
              <a:gdLst/>
              <a:ahLst/>
              <a:cxnLst/>
              <a:rect l="0" t="0" r="0" b="0"/>
              <a:pathLst>
                <a:path w="2348" h="2347">
                  <a:moveTo>
                    <a:pt x="0" y="1173"/>
                  </a:moveTo>
                  <a:cubicBezTo>
                    <a:pt x="0" y="525"/>
                    <a:pt x="525" y="0"/>
                    <a:pt x="1174" y="0"/>
                  </a:cubicBezTo>
                  <a:cubicBezTo>
                    <a:pt x="1174" y="0"/>
                    <a:pt x="1174" y="0"/>
                    <a:pt x="1174" y="0"/>
                  </a:cubicBezTo>
                  <a:lnTo>
                    <a:pt x="1174" y="0"/>
                  </a:lnTo>
                  <a:cubicBezTo>
                    <a:pt x="1823" y="0"/>
                    <a:pt x="2348" y="525"/>
                    <a:pt x="2348" y="1173"/>
                  </a:cubicBezTo>
                  <a:cubicBezTo>
                    <a:pt x="2348" y="1173"/>
                    <a:pt x="2348" y="1173"/>
                    <a:pt x="2348" y="1173"/>
                  </a:cubicBezTo>
                  <a:lnTo>
                    <a:pt x="2348" y="1173"/>
                  </a:lnTo>
                  <a:cubicBezTo>
                    <a:pt x="2348" y="1821"/>
                    <a:pt x="1823" y="2347"/>
                    <a:pt x="1174" y="2347"/>
                  </a:cubicBezTo>
                  <a:cubicBezTo>
                    <a:pt x="1174" y="2347"/>
                    <a:pt x="1174" y="2347"/>
                    <a:pt x="1174" y="2347"/>
                  </a:cubicBezTo>
                  <a:lnTo>
                    <a:pt x="1174" y="2347"/>
                  </a:lnTo>
                  <a:cubicBezTo>
                    <a:pt x="525" y="2347"/>
                    <a:pt x="0" y="1821"/>
                    <a:pt x="0" y="1173"/>
                  </a:cubicBezTo>
                  <a:cubicBezTo>
                    <a:pt x="0" y="1173"/>
                    <a:pt x="0" y="1173"/>
                    <a:pt x="0" y="1173"/>
                  </a:cubicBezTo>
                </a:path>
              </a:pathLst>
            </a:custGeom>
            <a:solidFill>
              <a:srgbClr val="2897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5" name="path"/>
            <p:cNvSpPr/>
            <p:nvPr/>
          </p:nvSpPr>
          <p:spPr>
            <a:xfrm>
              <a:off x="1139037" y="598931"/>
              <a:ext cx="1491615" cy="1490599"/>
            </a:xfrm>
            <a:custGeom>
              <a:avLst/>
              <a:gdLst/>
              <a:ahLst/>
              <a:cxnLst/>
              <a:rect l="0" t="0" r="0" b="0"/>
              <a:pathLst>
                <a:path w="2349" h="2347">
                  <a:moveTo>
                    <a:pt x="0" y="1173"/>
                  </a:moveTo>
                  <a:cubicBezTo>
                    <a:pt x="0" y="525"/>
                    <a:pt x="525" y="0"/>
                    <a:pt x="1174" y="0"/>
                  </a:cubicBezTo>
                  <a:cubicBezTo>
                    <a:pt x="1174" y="0"/>
                    <a:pt x="1174" y="0"/>
                    <a:pt x="1174" y="0"/>
                  </a:cubicBezTo>
                  <a:lnTo>
                    <a:pt x="1174" y="0"/>
                  </a:lnTo>
                  <a:cubicBezTo>
                    <a:pt x="1823" y="0"/>
                    <a:pt x="2349" y="525"/>
                    <a:pt x="2349" y="1173"/>
                  </a:cubicBezTo>
                  <a:cubicBezTo>
                    <a:pt x="2349" y="1173"/>
                    <a:pt x="2349" y="1173"/>
                    <a:pt x="2349" y="1173"/>
                  </a:cubicBezTo>
                  <a:lnTo>
                    <a:pt x="2349" y="1173"/>
                  </a:lnTo>
                  <a:cubicBezTo>
                    <a:pt x="2349" y="1822"/>
                    <a:pt x="1823" y="2347"/>
                    <a:pt x="1174" y="2347"/>
                  </a:cubicBezTo>
                  <a:cubicBezTo>
                    <a:pt x="1174" y="2347"/>
                    <a:pt x="1174" y="2347"/>
                    <a:pt x="1174" y="2347"/>
                  </a:cubicBezTo>
                  <a:lnTo>
                    <a:pt x="1174" y="2347"/>
                  </a:lnTo>
                  <a:cubicBezTo>
                    <a:pt x="525" y="2347"/>
                    <a:pt x="0" y="1822"/>
                    <a:pt x="0" y="1173"/>
                  </a:cubicBezTo>
                  <a:cubicBezTo>
                    <a:pt x="0" y="1173"/>
                    <a:pt x="0" y="1173"/>
                    <a:pt x="0" y="1173"/>
                  </a:cubicBezTo>
                </a:path>
              </a:pathLst>
            </a:custGeom>
            <a:solidFill>
              <a:srgbClr val="004B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6" name="path"/>
            <p:cNvSpPr/>
            <p:nvPr/>
          </p:nvSpPr>
          <p:spPr>
            <a:xfrm>
              <a:off x="275234" y="286639"/>
              <a:ext cx="926541" cy="921257"/>
            </a:xfrm>
            <a:custGeom>
              <a:avLst/>
              <a:gdLst/>
              <a:ahLst/>
              <a:cxnLst/>
              <a:rect l="0" t="0" r="0" b="0"/>
              <a:pathLst>
                <a:path w="1459" h="1450">
                  <a:moveTo>
                    <a:pt x="0" y="725"/>
                  </a:moveTo>
                  <a:cubicBezTo>
                    <a:pt x="0" y="324"/>
                    <a:pt x="326" y="0"/>
                    <a:pt x="729" y="0"/>
                  </a:cubicBezTo>
                  <a:cubicBezTo>
                    <a:pt x="729" y="0"/>
                    <a:pt x="729" y="0"/>
                    <a:pt x="729" y="0"/>
                  </a:cubicBezTo>
                  <a:lnTo>
                    <a:pt x="729" y="0"/>
                  </a:lnTo>
                  <a:cubicBezTo>
                    <a:pt x="1132" y="0"/>
                    <a:pt x="1459" y="324"/>
                    <a:pt x="1459" y="725"/>
                  </a:cubicBezTo>
                  <a:cubicBezTo>
                    <a:pt x="1459" y="725"/>
                    <a:pt x="1459" y="725"/>
                    <a:pt x="1459" y="725"/>
                  </a:cubicBezTo>
                  <a:lnTo>
                    <a:pt x="1459" y="725"/>
                  </a:lnTo>
                  <a:cubicBezTo>
                    <a:pt x="1459" y="1126"/>
                    <a:pt x="1132" y="1450"/>
                    <a:pt x="729" y="1450"/>
                  </a:cubicBezTo>
                  <a:cubicBezTo>
                    <a:pt x="729" y="1450"/>
                    <a:pt x="729" y="1450"/>
                    <a:pt x="729" y="1450"/>
                  </a:cubicBezTo>
                  <a:lnTo>
                    <a:pt x="729" y="1450"/>
                  </a:lnTo>
                  <a:cubicBezTo>
                    <a:pt x="326" y="1450"/>
                    <a:pt x="0" y="1126"/>
                    <a:pt x="0" y="725"/>
                  </a:cubicBezTo>
                  <a:cubicBezTo>
                    <a:pt x="0" y="725"/>
                    <a:pt x="0" y="725"/>
                    <a:pt x="0" y="725"/>
                  </a:cubicBezTo>
                </a:path>
              </a:pathLst>
            </a:custGeom>
            <a:solidFill>
              <a:srgbClr val="E5E8E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17" name="textbox 1717"/>
          <p:cNvSpPr/>
          <p:nvPr/>
        </p:nvSpPr>
        <p:spPr>
          <a:xfrm>
            <a:off x="3458605" y="3613980"/>
            <a:ext cx="3861434" cy="8362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1000"/>
              </a:lnSpc>
            </a:pPr>
            <a:r>
              <a:rPr sz="2900" spc="-1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altLang="en-US" sz="2900" dirty="0"/>
          </a:p>
          <a:p>
            <a:pPr marL="305435" indent="6350" algn="l" rtl="0" eaLnBrk="0">
              <a:lnSpc>
                <a:spcPct val="99000"/>
              </a:lnSpc>
              <a:spcBef>
                <a:spcPts val="5"/>
              </a:spcBef>
            </a:pP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100" spc="-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虚拟客服比人工客服更稳定可靠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，在人工客服有 </a:t>
            </a:r>
            <a:r>
              <a:rPr sz="11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限并且素质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不齐的情况下 ，虚拟客服展现的品牌形象和服 </a:t>
            </a:r>
            <a:r>
              <a:rPr sz="1100" spc="-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务态度等由商户掌控 ，比人工</a:t>
            </a:r>
            <a:r>
              <a:rPr sz="1100" spc="-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服的可控性、安全性更强</a:t>
            </a:r>
            <a:endParaRPr lang="en-US" altLang="en-US" sz="1100" dirty="0"/>
          </a:p>
        </p:txBody>
      </p:sp>
      <p:sp>
        <p:nvSpPr>
          <p:cNvPr id="1718" name="textbox 1718"/>
          <p:cNvSpPr/>
          <p:nvPr/>
        </p:nvSpPr>
        <p:spPr>
          <a:xfrm>
            <a:off x="3549141" y="2337054"/>
            <a:ext cx="3771900" cy="828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68000"/>
              </a:lnSpc>
            </a:pPr>
            <a:r>
              <a:rPr sz="2900" spc="-1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altLang="en-US" sz="2900" dirty="0"/>
          </a:p>
          <a:p>
            <a:pPr marL="156210" indent="5080" algn="l" rtl="0" eaLnBrk="0">
              <a:lnSpc>
                <a:spcPct val="99000"/>
              </a:lnSpc>
              <a:spcBef>
                <a:spcPts val="25"/>
              </a:spcBef>
            </a:pP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100" spc="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虚拟客服能快速了解客户需求和痛点 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，拉近商户 </a:t>
            </a:r>
            <a:r>
              <a:rPr sz="1100" spc="3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与消费人群的距离 ，塑造跟随科技潮</a:t>
            </a:r>
            <a:r>
              <a:rPr sz="1100" spc="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、年轻化的品牌形 象</a:t>
            </a:r>
            <a:endParaRPr lang="en-US" altLang="en-US" sz="1100" dirty="0"/>
          </a:p>
        </p:txBody>
      </p:sp>
      <p:sp>
        <p:nvSpPr>
          <p:cNvPr id="1719" name="textbox 1719"/>
          <p:cNvSpPr/>
          <p:nvPr/>
        </p:nvSpPr>
        <p:spPr>
          <a:xfrm>
            <a:off x="2875092" y="1741875"/>
            <a:ext cx="4445000" cy="3568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indent="6350" algn="l" rtl="0" eaLnBrk="0">
              <a:lnSpc>
                <a:spcPct val="99000"/>
              </a:lnSpc>
            </a:pP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100" spc="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虚拟客服为客户提供24小时不间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断的产品推荐介绍以及在线服 </a:t>
            </a:r>
            <a:r>
              <a:rPr sz="1100" spc="-3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务能力 ，同时降低了商户的营销成本 ，促</a:t>
            </a:r>
            <a:r>
              <a:rPr sz="1100" spc="-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</a:t>
            </a:r>
            <a:r>
              <a:rPr sz="11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营销业绩快速增长</a:t>
            </a:r>
            <a:endParaRPr lang="en-US" altLang="en-US" sz="1100" dirty="0"/>
          </a:p>
        </p:txBody>
      </p:sp>
      <p:grpSp>
        <p:nvGrpSpPr>
          <p:cNvPr id="252" name="group 252"/>
          <p:cNvGrpSpPr/>
          <p:nvPr/>
        </p:nvGrpSpPr>
        <p:grpSpPr>
          <a:xfrm rot="21600000">
            <a:off x="2331847" y="2369820"/>
            <a:ext cx="926592" cy="921257"/>
            <a:chOff x="0" y="0"/>
            <a:chExt cx="926592" cy="921257"/>
          </a:xfrm>
        </p:grpSpPr>
        <p:sp>
          <p:nvSpPr>
            <p:cNvPr id="1720" name="path"/>
            <p:cNvSpPr/>
            <p:nvPr/>
          </p:nvSpPr>
          <p:spPr>
            <a:xfrm>
              <a:off x="0" y="0"/>
              <a:ext cx="926592" cy="921257"/>
            </a:xfrm>
            <a:custGeom>
              <a:avLst/>
              <a:gdLst/>
              <a:ahLst/>
              <a:cxnLst/>
              <a:rect l="0" t="0" r="0" b="0"/>
              <a:pathLst>
                <a:path w="1459" h="1450">
                  <a:moveTo>
                    <a:pt x="0" y="725"/>
                  </a:moveTo>
                  <a:cubicBezTo>
                    <a:pt x="0" y="324"/>
                    <a:pt x="326" y="0"/>
                    <a:pt x="729" y="0"/>
                  </a:cubicBezTo>
                  <a:cubicBezTo>
                    <a:pt x="729" y="0"/>
                    <a:pt x="729" y="0"/>
                    <a:pt x="729" y="0"/>
                  </a:cubicBezTo>
                  <a:lnTo>
                    <a:pt x="729" y="0"/>
                  </a:lnTo>
                  <a:cubicBezTo>
                    <a:pt x="1132" y="0"/>
                    <a:pt x="1459" y="324"/>
                    <a:pt x="1459" y="725"/>
                  </a:cubicBezTo>
                  <a:cubicBezTo>
                    <a:pt x="1459" y="725"/>
                    <a:pt x="1459" y="725"/>
                    <a:pt x="1459" y="725"/>
                  </a:cubicBezTo>
                  <a:lnTo>
                    <a:pt x="1459" y="725"/>
                  </a:lnTo>
                  <a:cubicBezTo>
                    <a:pt x="1459" y="1125"/>
                    <a:pt x="1132" y="1450"/>
                    <a:pt x="729" y="1450"/>
                  </a:cubicBezTo>
                  <a:cubicBezTo>
                    <a:pt x="729" y="1450"/>
                    <a:pt x="729" y="1450"/>
                    <a:pt x="729" y="1450"/>
                  </a:cubicBezTo>
                  <a:lnTo>
                    <a:pt x="729" y="1450"/>
                  </a:lnTo>
                  <a:cubicBezTo>
                    <a:pt x="326" y="1450"/>
                    <a:pt x="0" y="1125"/>
                    <a:pt x="0" y="725"/>
                  </a:cubicBezTo>
                  <a:cubicBezTo>
                    <a:pt x="0" y="725"/>
                    <a:pt x="0" y="725"/>
                    <a:pt x="0" y="725"/>
                  </a:cubicBezTo>
                </a:path>
              </a:pathLst>
            </a:custGeom>
            <a:solidFill>
              <a:srgbClr val="E5E8E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1" name="textbox 1721"/>
            <p:cNvSpPr/>
            <p:nvPr/>
          </p:nvSpPr>
          <p:spPr>
            <a:xfrm>
              <a:off x="-12700" y="-12700"/>
              <a:ext cx="952500" cy="96329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3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7000"/>
                </a:lnSpc>
              </a:pPr>
              <a:endParaRPr lang="en-US" altLang="en-US" sz="100" dirty="0"/>
            </a:p>
            <a:p>
              <a:pPr marL="247650" algn="l" rtl="0" eaLnBrk="0">
                <a:lnSpc>
                  <a:spcPct val="89000"/>
                </a:lnSpc>
              </a:pPr>
              <a:r>
                <a:rPr sz="1200" spc="0" dirty="0">
                  <a:ln w="3175" cap="flat" cmpd="sng">
                    <a:solidFill>
                      <a:srgbClr val="007BD9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7BD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塑造品</a:t>
              </a:r>
              <a:endParaRPr lang="en-US" altLang="en-US" sz="1200" dirty="0"/>
            </a:p>
            <a:p>
              <a:pPr marL="247015" algn="l" rtl="0" eaLnBrk="0">
                <a:lnSpc>
                  <a:spcPts val="1565"/>
                </a:lnSpc>
              </a:pPr>
              <a:r>
                <a:rPr sz="1200" spc="0" dirty="0">
                  <a:ln w="3175" cap="flat" cmpd="sng">
                    <a:solidFill>
                      <a:srgbClr val="007BD9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7BD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牌形象</a:t>
              </a:r>
              <a:endParaRPr lang="en-US" altLang="en-US" sz="1200" dirty="0"/>
            </a:p>
          </p:txBody>
        </p:sp>
      </p:grpSp>
      <p:sp>
        <p:nvSpPr>
          <p:cNvPr id="1722" name="textbox 1722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1725" name="textbox 1725"/>
          <p:cNvSpPr/>
          <p:nvPr/>
        </p:nvSpPr>
        <p:spPr>
          <a:xfrm>
            <a:off x="1386687" y="2073097"/>
            <a:ext cx="483869" cy="387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91440" indent="-78740" algn="l" rtl="0" eaLnBrk="0">
              <a:lnSpc>
                <a:spcPct val="99000"/>
              </a:lnSpc>
            </a:pPr>
            <a:r>
              <a:rPr sz="1200" spc="0" dirty="0">
                <a:ln w="3175" cap="flat" cmpd="sng">
                  <a:solidFill>
                    <a:srgbClr val="007BD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全天候</a:t>
            </a:r>
            <a:r>
              <a:rPr sz="1200" spc="0" dirty="0"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ln w="3175" cap="flat" cmpd="sng">
                  <a:solidFill>
                    <a:srgbClr val="007BD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</a:t>
            </a:r>
            <a:r>
              <a:rPr sz="1200" spc="0" dirty="0">
                <a:ln w="3175" cap="flat" cmpd="sng">
                  <a:solidFill>
                    <a:srgbClr val="007BD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</a:t>
            </a:r>
            <a:endParaRPr lang="en-US" altLang="en-US" sz="1200" dirty="0"/>
          </a:p>
        </p:txBody>
      </p:sp>
      <p:sp>
        <p:nvSpPr>
          <p:cNvPr id="1726" name="textbox 1726"/>
          <p:cNvSpPr/>
          <p:nvPr/>
        </p:nvSpPr>
        <p:spPr>
          <a:xfrm>
            <a:off x="1122384" y="4948218"/>
            <a:ext cx="13493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来源：国泰君安证券研究</a:t>
            </a:r>
            <a:endParaRPr lang="en-US" altLang="en-US" sz="800" dirty="0"/>
          </a:p>
        </p:txBody>
      </p:sp>
      <p:sp>
        <p:nvSpPr>
          <p:cNvPr id="1727" name="textbox 1727"/>
          <p:cNvSpPr/>
          <p:nvPr/>
        </p:nvSpPr>
        <p:spPr>
          <a:xfrm>
            <a:off x="2478557" y="3949700"/>
            <a:ext cx="636905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007BD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</a:t>
            </a:r>
            <a:r>
              <a:rPr sz="1200" spc="0" dirty="0">
                <a:ln w="3175" cap="flat" cmpd="sng">
                  <a:solidFill>
                    <a:srgbClr val="007BD9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7BD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定可靠</a:t>
            </a:r>
            <a:endParaRPr lang="en-US" altLang="en-US" sz="1200" dirty="0"/>
          </a:p>
        </p:txBody>
      </p:sp>
      <p:sp>
        <p:nvSpPr>
          <p:cNvPr id="1728" name="textbox 1728"/>
          <p:cNvSpPr/>
          <p:nvPr/>
        </p:nvSpPr>
        <p:spPr>
          <a:xfrm>
            <a:off x="2355469" y="1520571"/>
            <a:ext cx="388620" cy="3657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2600" spc="-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605639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picture 17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pic>
        <p:nvPicPr>
          <p:cNvPr id="1731" name="picture 17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36" y="1937003"/>
            <a:ext cx="8447531" cy="2167128"/>
          </a:xfrm>
          <a:prstGeom prst="rect">
            <a:avLst/>
          </a:prstGeom>
        </p:spPr>
      </p:pic>
      <p:sp>
        <p:nvSpPr>
          <p:cNvPr id="173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33" name="textbox 1733"/>
          <p:cNvSpPr/>
          <p:nvPr/>
        </p:nvSpPr>
        <p:spPr>
          <a:xfrm>
            <a:off x="-12700" y="124277"/>
            <a:ext cx="8827134" cy="16706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娱乐：人机互动加强，激发用户参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热情</a:t>
            </a:r>
            <a:endParaRPr lang="en-US" altLang="en-US" sz="20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marL="368300" algn="l" rtl="0" eaLnBrk="0">
              <a:lnSpc>
                <a:spcPct val="97000"/>
              </a:lnSpc>
              <a:spcBef>
                <a:spcPts val="365"/>
              </a:spcBef>
              <a:tabLst>
                <a:tab pos="45656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可以成为线上的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实时聊天对象，增加互动的趣味性和娱乐性</a:t>
            </a:r>
            <a:endParaRPr lang="en-US" altLang="en-US" sz="1200" dirty="0"/>
          </a:p>
          <a:p>
            <a:pPr algn="l" rtl="0" eaLnBrk="0">
              <a:lnSpc>
                <a:spcPct val="115000"/>
              </a:lnSpc>
            </a:pPr>
            <a:endParaRPr lang="en-US" altLang="en-US" sz="1000" dirty="0"/>
          </a:p>
          <a:p>
            <a:pPr algn="l" rtl="0" eaLnBrk="0">
              <a:lnSpc>
                <a:spcPct val="116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200" dirty="0"/>
          </a:p>
          <a:p>
            <a:pPr marL="2986405" algn="l" rtl="0" eaLnBrk="0">
              <a:lnSpc>
                <a:spcPts val="1160"/>
              </a:lnSpc>
              <a:spcBef>
                <a:spcPts val="0"/>
              </a:spcBef>
            </a:pP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图72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的对话具备趣味性和娱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乐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endParaRPr lang="en-US" altLang="en-US" sz="900" dirty="0"/>
          </a:p>
        </p:txBody>
      </p:sp>
      <p:pic>
        <p:nvPicPr>
          <p:cNvPr id="1734" name="picture 17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701" y="1092453"/>
            <a:ext cx="88239" cy="100584"/>
          </a:xfrm>
          <a:prstGeom prst="rect">
            <a:avLst/>
          </a:prstGeom>
        </p:spPr>
      </p:pic>
      <p:sp>
        <p:nvSpPr>
          <p:cNvPr id="1735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36" name="textbox 1736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1739" name="textbox 1739"/>
          <p:cNvSpPr/>
          <p:nvPr/>
        </p:nvSpPr>
        <p:spPr>
          <a:xfrm>
            <a:off x="492972" y="4215479"/>
            <a:ext cx="1872614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ChatGPT ，国泰君安证券研究</a:t>
            </a:r>
            <a:endParaRPr lang="en-US" altLang="en-US" sz="800" dirty="0"/>
          </a:p>
        </p:txBody>
      </p:sp>
      <p:sp>
        <p:nvSpPr>
          <p:cNvPr id="1740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03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picture 17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742" name="textbox 1742"/>
          <p:cNvSpPr/>
          <p:nvPr/>
        </p:nvSpPr>
        <p:spPr>
          <a:xfrm>
            <a:off x="1787644" y="1894230"/>
            <a:ext cx="6957059" cy="26924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00" algn="l" rtl="0" eaLnBrk="0">
              <a:lnSpc>
                <a:spcPct val="98000"/>
              </a:lnSpc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图73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ChatGPT在教育、金融和医疗产业中也大有用武之地</a:t>
            </a:r>
            <a:endParaRPr lang="en-US" altLang="en-US" sz="900" dirty="0"/>
          </a:p>
          <a:p>
            <a:pPr marL="50800" algn="l" rtl="0" eaLnBrk="0">
              <a:lnSpc>
                <a:spcPct val="97000"/>
              </a:lnSpc>
              <a:spcBef>
                <a:spcPts val="390"/>
              </a:spcBef>
            </a:pPr>
            <a:r>
              <a:rPr sz="1200" spc="0" dirty="0">
                <a:ln w="3175" cap="flat" cmpd="sng">
                  <a:solidFill>
                    <a:srgbClr val="FB9F0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B9F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200" spc="90" dirty="0">
                <a:ln w="3175" cap="flat" cmpd="sng">
                  <a:solidFill>
                    <a:srgbClr val="FB9F0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B9F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+教</a:t>
            </a:r>
            <a:r>
              <a:rPr sz="1200" spc="80" dirty="0">
                <a:ln w="3175" cap="flat" cmpd="sng">
                  <a:solidFill>
                    <a:srgbClr val="FB9F0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B9F0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育</a:t>
            </a:r>
            <a:endParaRPr lang="en-US" altLang="en-US" sz="1200" dirty="0"/>
          </a:p>
          <a:p>
            <a:pPr marL="69215" indent="5080" algn="l" rtl="0" eaLnBrk="0">
              <a:lnSpc>
                <a:spcPct val="136000"/>
              </a:lnSpc>
              <a:spcBef>
                <a:spcPts val="410"/>
              </a:spcBef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给教育工作者提供全新的教学工具，学生可以通过自主提问的方式快速查缺补漏，让每个学生得到更个性化、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   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智能的教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育</a:t>
            </a:r>
            <a:endParaRPr lang="en-US" altLang="en-US" sz="900" dirty="0"/>
          </a:p>
          <a:p>
            <a:pPr algn="l" rtl="0" eaLnBrk="0">
              <a:lnSpc>
                <a:spcPct val="152000"/>
              </a:lnSpc>
            </a:pPr>
            <a:endParaRPr lang="en-US" altLang="en-US" sz="1000" dirty="0"/>
          </a:p>
          <a:p>
            <a:pPr marL="50800" algn="l" rtl="0" eaLnBrk="0">
              <a:lnSpc>
                <a:spcPct val="98000"/>
              </a:lnSpc>
              <a:spcBef>
                <a:spcPts val="365"/>
              </a:spcBef>
            </a:pPr>
            <a:r>
              <a:rPr sz="1200" spc="0" dirty="0">
                <a:ln w="3175" cap="flat" cmpd="sng">
                  <a:solidFill>
                    <a:srgbClr val="F0747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0747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200" spc="90" dirty="0">
                <a:ln w="3175" cap="flat" cmpd="sng">
                  <a:solidFill>
                    <a:srgbClr val="F0747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0747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+金</a:t>
            </a:r>
            <a:r>
              <a:rPr sz="1200" spc="80" dirty="0">
                <a:ln w="3175" cap="flat" cmpd="sng">
                  <a:solidFill>
                    <a:srgbClr val="F0747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0747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</a:t>
            </a:r>
            <a:endParaRPr lang="en-US" altLang="en-US" sz="1200" dirty="0"/>
          </a:p>
          <a:p>
            <a:pPr marL="12700" indent="0" algn="l" rtl="0" eaLnBrk="0">
              <a:lnSpc>
                <a:spcPct val="136000"/>
              </a:lnSpc>
              <a:spcBef>
                <a:spcPts val="530"/>
              </a:spcBef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一方面，金融机构可以通过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实现金融资讯、金融产品介绍内容的自动化生产，提升金融机构内容生产的效率</a:t>
            </a:r>
            <a:r>
              <a:rPr sz="9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另一方面，可以通过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塑造虚拟理财顾问，让金融服务更有温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lang="en-US" altLang="en-US" sz="900" dirty="0"/>
          </a:p>
          <a:p>
            <a:pPr algn="l" rtl="0" eaLnBrk="0">
              <a:lnSpc>
                <a:spcPct val="184000"/>
              </a:lnSpc>
            </a:pPr>
            <a:endParaRPr lang="en-US" altLang="en-US" sz="1000" dirty="0"/>
          </a:p>
          <a:p>
            <a:pPr marL="50800" algn="l" rtl="0" eaLnBrk="0">
              <a:lnSpc>
                <a:spcPct val="97000"/>
              </a:lnSpc>
              <a:spcBef>
                <a:spcPts val="365"/>
              </a:spcBef>
            </a:pPr>
            <a:r>
              <a:rPr sz="1200" spc="0" dirty="0">
                <a:ln w="3175" cap="flat" cmpd="sng">
                  <a:solidFill>
                    <a:srgbClr val="02B3C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2B3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200" spc="90" dirty="0">
                <a:ln w="3175" cap="flat" cmpd="sng">
                  <a:solidFill>
                    <a:srgbClr val="02B3C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2B3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+医</a:t>
            </a:r>
            <a:r>
              <a:rPr sz="1200" spc="80" dirty="0">
                <a:ln w="3175" cap="flat" cmpd="sng">
                  <a:solidFill>
                    <a:srgbClr val="02B3C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2B3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疗</a:t>
            </a:r>
            <a:endParaRPr lang="en-US" altLang="en-US" sz="1200" dirty="0"/>
          </a:p>
          <a:p>
            <a:pPr algn="l" rtl="0" eaLnBrk="0">
              <a:lnSpc>
                <a:spcPct val="115000"/>
              </a:lnSpc>
            </a:pPr>
            <a:endParaRPr lang="en-US" altLang="en-US" sz="600" dirty="0"/>
          </a:p>
          <a:p>
            <a:pPr marL="67945" indent="5715" algn="l" rtl="0" eaLnBrk="0">
              <a:lnSpc>
                <a:spcPct val="136000"/>
              </a:lnSpc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可以快速了解患者的病情并给出较合理的及时反馈，通过人性化的方式第一时间抚慰患者，从而舒缓患者的情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加速其康复；同时，让医者有更多的时间和精力集中在关键患者的关键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疗环节</a:t>
            </a:r>
            <a:endParaRPr lang="en-US" altLang="en-US" sz="900" dirty="0"/>
          </a:p>
        </p:txBody>
      </p:sp>
      <p:sp>
        <p:nvSpPr>
          <p:cNvPr id="1743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4" name="textbox 1744"/>
          <p:cNvSpPr/>
          <p:nvPr/>
        </p:nvSpPr>
        <p:spPr>
          <a:xfrm>
            <a:off x="-12700" y="124277"/>
            <a:ext cx="8827134" cy="16230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1000"/>
              </a:lnSpc>
              <a:spcBef>
                <a:spcPts val="122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2000" b="1" spc="2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其他：促进数实共生，助力产业升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endParaRPr lang="en-US" altLang="en-US" sz="2000" dirty="0"/>
          </a:p>
          <a:p>
            <a:pPr marL="251460" algn="l" rtl="0" eaLnBrk="0">
              <a:lnSpc>
                <a:spcPct val="89000"/>
              </a:lnSpc>
              <a:spcBef>
                <a:spcPts val="1400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b="1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教育：赋予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教育教材新活力，让教育方式更个性化、更智能</a:t>
            </a:r>
            <a:endParaRPr lang="en-US" altLang="en-US" sz="1200" dirty="0"/>
          </a:p>
          <a:p>
            <a:pPr marL="251460" algn="l" rtl="0" eaLnBrk="0">
              <a:lnSpc>
                <a:spcPts val="2125"/>
              </a:lnSpc>
              <a:spcBef>
                <a:spcPts val="35"/>
              </a:spcBef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b="1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金融：帮助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金融机构降本增效，让金融服务更有温度</a:t>
            </a:r>
            <a:endParaRPr lang="en-US" altLang="en-US" sz="1200" dirty="0"/>
          </a:p>
          <a:p>
            <a:pPr marL="251460" algn="l" rtl="0" eaLnBrk="0">
              <a:lnSpc>
                <a:spcPts val="2165"/>
              </a:lnSpc>
              <a:tabLst>
                <a:tab pos="33972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b="1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医疗：赋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能医疗机构诊疗全过程</a:t>
            </a:r>
            <a:endParaRPr lang="en-US" altLang="en-US" sz="1200" dirty="0"/>
          </a:p>
        </p:txBody>
      </p:sp>
      <p:pic>
        <p:nvPicPr>
          <p:cNvPr id="1745" name="picture 17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595373"/>
            <a:ext cx="88239" cy="100584"/>
          </a:xfrm>
          <a:prstGeom prst="rect">
            <a:avLst/>
          </a:prstGeom>
        </p:spPr>
      </p:pic>
      <p:pic>
        <p:nvPicPr>
          <p:cNvPr id="1746" name="picture 17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320672"/>
            <a:ext cx="88239" cy="100584"/>
          </a:xfrm>
          <a:prstGeom prst="rect">
            <a:avLst/>
          </a:prstGeom>
        </p:spPr>
      </p:pic>
      <p:pic>
        <p:nvPicPr>
          <p:cNvPr id="1747" name="picture 17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8963" y="1046352"/>
            <a:ext cx="88239" cy="100584"/>
          </a:xfrm>
          <a:prstGeom prst="rect">
            <a:avLst/>
          </a:prstGeom>
        </p:spPr>
      </p:pic>
      <p:sp>
        <p:nvSpPr>
          <p:cNvPr id="1748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50" name="picture 17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6780" y="2191511"/>
            <a:ext cx="656844" cy="618744"/>
          </a:xfrm>
          <a:prstGeom prst="rect">
            <a:avLst/>
          </a:prstGeom>
        </p:spPr>
      </p:pic>
      <p:pic>
        <p:nvPicPr>
          <p:cNvPr id="1751" name="picture 17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780" y="3095244"/>
            <a:ext cx="656844" cy="618744"/>
          </a:xfrm>
          <a:prstGeom prst="rect">
            <a:avLst/>
          </a:prstGeom>
        </p:spPr>
      </p:pic>
      <p:pic>
        <p:nvPicPr>
          <p:cNvPr id="1752" name="picture 17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6780" y="4076700"/>
            <a:ext cx="656844" cy="618743"/>
          </a:xfrm>
          <a:prstGeom prst="rect">
            <a:avLst/>
          </a:prstGeom>
        </p:spPr>
      </p:pic>
      <p:sp>
        <p:nvSpPr>
          <p:cNvPr id="1754" name="textbox 1754"/>
          <p:cNvSpPr/>
          <p:nvPr/>
        </p:nvSpPr>
        <p:spPr>
          <a:xfrm>
            <a:off x="862694" y="4963154"/>
            <a:ext cx="13493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来源：国泰君安证券研究</a:t>
            </a:r>
            <a:endParaRPr lang="en-US" altLang="en-US" sz="800" dirty="0"/>
          </a:p>
        </p:txBody>
      </p:sp>
      <p:sp>
        <p:nvSpPr>
          <p:cNvPr id="1755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836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6" name="picture 17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757" name="textbox 1757"/>
          <p:cNvSpPr/>
          <p:nvPr/>
        </p:nvSpPr>
        <p:spPr>
          <a:xfrm>
            <a:off x="1079598" y="1221523"/>
            <a:ext cx="5121909" cy="31642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lang="en-US" altLang="en-US" sz="100" dirty="0"/>
          </a:p>
          <a:p>
            <a:pPr algn="r" rtl="0" eaLnBrk="0">
              <a:lnSpc>
                <a:spcPct val="97000"/>
              </a:lnSpc>
              <a:spcBef>
                <a:spcPts val="0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图74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合规性问题和技术性问题是当前ChatGPT主要面临的挑战</a:t>
            </a:r>
            <a:endParaRPr lang="en-US" altLang="en-US" sz="900" dirty="0"/>
          </a:p>
          <a:p>
            <a:pPr marL="96520" algn="l" rtl="0" eaLnBrk="0">
              <a:lnSpc>
                <a:spcPct val="97000"/>
              </a:lnSpc>
              <a:spcBef>
                <a:spcPts val="330"/>
              </a:spcBef>
            </a:pP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规性问题</a:t>
            </a:r>
            <a:endParaRPr lang="en-US" altLang="en-US" sz="1200" dirty="0"/>
          </a:p>
          <a:p>
            <a:pPr marL="79375" algn="l" rtl="0" eaLnBrk="0">
              <a:lnSpc>
                <a:spcPts val="1090"/>
              </a:lnSpc>
              <a:spcBef>
                <a:spcPts val="1095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产生的答复是否产生相应的知识产</a:t>
            </a:r>
            <a:r>
              <a:rPr sz="900" spc="9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en-US" altLang="en-US" sz="900" dirty="0"/>
          </a:p>
          <a:p>
            <a:pPr marL="76200" algn="l" rtl="0" eaLnBrk="0">
              <a:lnSpc>
                <a:spcPts val="1145"/>
              </a:lnSpc>
              <a:spcBef>
                <a:spcPts val="740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进行数据挖掘和训练的过程是否需要获得相应的知识产权授权</a:t>
            </a:r>
            <a:r>
              <a:rPr sz="900" spc="3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en-US" altLang="en-US" sz="900" dirty="0"/>
          </a:p>
          <a:p>
            <a:pPr marL="299085" indent="-220345" algn="l" rtl="0" eaLnBrk="0">
              <a:lnSpc>
                <a:spcPct val="137000"/>
              </a:lnSpc>
              <a:spcBef>
                <a:spcPts val="650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是基于统计的语言模型，这一机制导致回答偏差会进而导致虚假信</a:t>
            </a:r>
            <a:r>
              <a:rPr sz="900" spc="9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息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900" spc="9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传播的法律风险，如何降低其虚假信息传播风险</a:t>
            </a:r>
            <a:r>
              <a:rPr sz="900" spc="8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en-US" altLang="en-US" sz="900" dirty="0"/>
          </a:p>
          <a:p>
            <a:pPr marL="118745" algn="l" rtl="0" eaLnBrk="0">
              <a:lnSpc>
                <a:spcPct val="97000"/>
              </a:lnSpc>
              <a:spcBef>
                <a:spcPts val="1410"/>
              </a:spcBef>
            </a:pP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术性问题</a:t>
            </a:r>
            <a:endParaRPr lang="en-US" altLang="en-US" sz="1200" dirty="0"/>
          </a:p>
          <a:p>
            <a:pPr marL="236220" indent="-219710" algn="l" rtl="0" eaLnBrk="0">
              <a:lnSpc>
                <a:spcPct val="137000"/>
              </a:lnSpc>
              <a:spcBef>
                <a:spcPts val="1255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的回答可能过时，因为其数据库内容只到2021年，对于涉及2022年之后</a:t>
            </a:r>
            <a:r>
              <a:rPr sz="900" spc="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</a:t>
            </a:r>
            <a:r>
              <a:rPr sz="900" spc="10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者在2022年有变动的问题无能为</a:t>
            </a:r>
            <a:r>
              <a:rPr sz="900" spc="4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</a:t>
            </a:r>
            <a:endParaRPr lang="en-US" altLang="en-US" sz="900" dirty="0"/>
          </a:p>
          <a:p>
            <a:pPr marL="235585" indent="-222885" algn="l" rtl="0" eaLnBrk="0">
              <a:lnSpc>
                <a:spcPct val="137000"/>
              </a:lnSpc>
              <a:spcBef>
                <a:spcPts val="645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在专业较强的领域无法保证正确率，即使在鸡兔同笼此类初级问题中仍然存</a:t>
            </a:r>
            <a:r>
              <a:rPr sz="900" spc="8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错误，并且英文回答和中文回答存在明显差</a:t>
            </a:r>
            <a:r>
              <a:rPr sz="900" spc="2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lang="en-US" altLang="en-US" sz="900" dirty="0"/>
          </a:p>
          <a:p>
            <a:pPr algn="l" rtl="0" eaLnBrk="0">
              <a:lnSpc>
                <a:spcPct val="106000"/>
              </a:lnSpc>
            </a:pPr>
            <a:endParaRPr lang="en-US" altLang="en-US" sz="500" dirty="0"/>
          </a:p>
          <a:p>
            <a:pPr marL="236220" indent="-220980" algn="l" rtl="0" eaLnBrk="0">
              <a:lnSpc>
                <a:spcPct val="137000"/>
              </a:lnSpc>
              <a:spcBef>
                <a:spcPts val="5"/>
              </a:spcBef>
            </a:pP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 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900" spc="11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对于不熟悉的问题会强行给出一定的答案，即使答案明显错误，依然会坚持</a:t>
            </a:r>
            <a:r>
              <a:rPr sz="900" spc="6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sz="900" spc="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0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去，直到明确戳破其掩饰的内容，会立马道歉，但本质上会在不熟悉的领域造成误</a:t>
            </a:r>
            <a:r>
              <a:rPr sz="900" spc="90" dirty="0"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</a:t>
            </a:r>
            <a:endParaRPr lang="en-US" altLang="en-US" sz="900" dirty="0"/>
          </a:p>
        </p:txBody>
      </p:sp>
      <p:sp>
        <p:nvSpPr>
          <p:cNvPr id="1758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59" name="textbox 1759"/>
          <p:cNvSpPr/>
          <p:nvPr/>
        </p:nvSpPr>
        <p:spPr>
          <a:xfrm>
            <a:off x="-12700" y="124277"/>
            <a:ext cx="8827134" cy="10248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4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4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3100" spc="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spc="4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短期来看，</a:t>
            </a:r>
            <a:r>
              <a:rPr sz="1900" spc="4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3000" spc="4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的快速推广阻力</a:t>
            </a:r>
            <a:r>
              <a:rPr sz="3000" spc="2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</a:t>
            </a:r>
            <a:r>
              <a:rPr sz="3000" spc="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</a:t>
            </a:r>
            <a:endParaRPr lang="en-US" altLang="en-US" sz="1950" dirty="0"/>
          </a:p>
          <a:p>
            <a:pPr algn="l" rtl="0" eaLnBrk="0">
              <a:lnSpc>
                <a:spcPct val="104000"/>
              </a:lnSpc>
            </a:pPr>
            <a:endParaRPr lang="en-US" altLang="en-US" sz="700" dirty="0"/>
          </a:p>
          <a:p>
            <a:pPr marL="295275" algn="l" rtl="0" eaLnBrk="0">
              <a:lnSpc>
                <a:spcPct val="97000"/>
              </a:lnSpc>
              <a:spcBef>
                <a:spcPts val="5"/>
              </a:spcBef>
              <a:tabLst>
                <a:tab pos="38354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短期来看，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ChatGPT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仍存在诸多不足，亟待解决的问题主要有两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方面：合规性问题和技术性问题</a:t>
            </a:r>
            <a:endParaRPr lang="en-US" altLang="en-US" sz="1200" dirty="0"/>
          </a:p>
        </p:txBody>
      </p:sp>
      <p:pic>
        <p:nvPicPr>
          <p:cNvPr id="1760" name="picture 17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2854" y="981709"/>
            <a:ext cx="88239" cy="100584"/>
          </a:xfrm>
          <a:prstGeom prst="rect">
            <a:avLst/>
          </a:prstGeom>
        </p:spPr>
      </p:pic>
      <p:sp>
        <p:nvSpPr>
          <p:cNvPr id="1761" name="path"/>
          <p:cNvSpPr/>
          <p:nvPr/>
        </p:nvSpPr>
        <p:spPr>
          <a:xfrm>
            <a:off x="60437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54" name="group 254"/>
          <p:cNvGrpSpPr/>
          <p:nvPr/>
        </p:nvGrpSpPr>
        <p:grpSpPr>
          <a:xfrm rot="21600000">
            <a:off x="6142101" y="1683385"/>
            <a:ext cx="2542282" cy="2842194"/>
            <a:chOff x="0" y="0"/>
            <a:chExt cx="2542282" cy="2842194"/>
          </a:xfrm>
        </p:grpSpPr>
        <p:sp>
          <p:nvSpPr>
            <p:cNvPr id="1762" name="path"/>
            <p:cNvSpPr/>
            <p:nvPr/>
          </p:nvSpPr>
          <p:spPr>
            <a:xfrm>
              <a:off x="0" y="0"/>
              <a:ext cx="1819656" cy="636650"/>
            </a:xfrm>
            <a:custGeom>
              <a:avLst/>
              <a:gdLst/>
              <a:ahLst/>
              <a:cxnLst/>
              <a:rect l="0" t="0" r="0" b="0"/>
              <a:pathLst>
                <a:path w="2865" h="1002">
                  <a:moveTo>
                    <a:pt x="1906" y="501"/>
                  </a:moveTo>
                  <a:cubicBezTo>
                    <a:pt x="1906" y="777"/>
                    <a:pt x="2120" y="1002"/>
                    <a:pt x="2385" y="1002"/>
                  </a:cubicBezTo>
                  <a:cubicBezTo>
                    <a:pt x="2649" y="1002"/>
                    <a:pt x="2865" y="777"/>
                    <a:pt x="2865" y="501"/>
                  </a:cubicBezTo>
                  <a:cubicBezTo>
                    <a:pt x="2865" y="224"/>
                    <a:pt x="2649" y="0"/>
                    <a:pt x="2385" y="0"/>
                  </a:cubicBezTo>
                  <a:cubicBezTo>
                    <a:pt x="2120" y="0"/>
                    <a:pt x="1906" y="224"/>
                    <a:pt x="1906" y="501"/>
                  </a:cubicBezTo>
                  <a:moveTo>
                    <a:pt x="2032" y="501"/>
                  </a:moveTo>
                  <a:cubicBezTo>
                    <a:pt x="2032" y="296"/>
                    <a:pt x="2189" y="132"/>
                    <a:pt x="2385" y="132"/>
                  </a:cubicBezTo>
                  <a:cubicBezTo>
                    <a:pt x="2580" y="132"/>
                    <a:pt x="2739" y="296"/>
                    <a:pt x="2739" y="501"/>
                  </a:cubicBezTo>
                  <a:cubicBezTo>
                    <a:pt x="2739" y="705"/>
                    <a:pt x="2580" y="870"/>
                    <a:pt x="2385" y="870"/>
                  </a:cubicBezTo>
                  <a:cubicBezTo>
                    <a:pt x="2189" y="870"/>
                    <a:pt x="2032" y="705"/>
                    <a:pt x="2032" y="501"/>
                  </a:cubicBezTo>
                </a:path>
                <a:path w="2865" h="1002">
                  <a:moveTo>
                    <a:pt x="2001" y="398"/>
                  </a:moveTo>
                  <a:cubicBezTo>
                    <a:pt x="2001" y="334"/>
                    <a:pt x="1951" y="282"/>
                    <a:pt x="1889" y="282"/>
                  </a:cubicBezTo>
                  <a:cubicBezTo>
                    <a:pt x="1741" y="282"/>
                    <a:pt x="1741" y="282"/>
                    <a:pt x="1741" y="282"/>
                  </a:cubicBezTo>
                  <a:cubicBezTo>
                    <a:pt x="1679" y="282"/>
                    <a:pt x="1629" y="334"/>
                    <a:pt x="1629" y="398"/>
                  </a:cubicBezTo>
                  <a:cubicBezTo>
                    <a:pt x="1629" y="607"/>
                    <a:pt x="1629" y="607"/>
                    <a:pt x="1629" y="607"/>
                  </a:cubicBezTo>
                  <a:cubicBezTo>
                    <a:pt x="1629" y="672"/>
                    <a:pt x="1679" y="724"/>
                    <a:pt x="1741" y="724"/>
                  </a:cubicBezTo>
                  <a:cubicBezTo>
                    <a:pt x="1889" y="724"/>
                    <a:pt x="1889" y="724"/>
                    <a:pt x="1889" y="724"/>
                  </a:cubicBezTo>
                  <a:cubicBezTo>
                    <a:pt x="1951" y="724"/>
                    <a:pt x="2001" y="672"/>
                    <a:pt x="2001" y="607"/>
                  </a:cubicBezTo>
                  <a:lnTo>
                    <a:pt x="2001" y="398"/>
                  </a:lnTo>
                  <a:close/>
                </a:path>
                <a:path w="2865" h="1002">
                  <a:moveTo>
                    <a:pt x="1768" y="509"/>
                  </a:moveTo>
                  <a:cubicBezTo>
                    <a:pt x="1768" y="469"/>
                    <a:pt x="1735" y="435"/>
                    <a:pt x="1697" y="435"/>
                  </a:cubicBezTo>
                  <a:cubicBezTo>
                    <a:pt x="71" y="435"/>
                    <a:pt x="71" y="435"/>
                    <a:pt x="71" y="435"/>
                  </a:cubicBezTo>
                  <a:cubicBezTo>
                    <a:pt x="32" y="435"/>
                    <a:pt x="0" y="469"/>
                    <a:pt x="0" y="509"/>
                  </a:cubicBezTo>
                  <a:cubicBezTo>
                    <a:pt x="0" y="513"/>
                    <a:pt x="0" y="513"/>
                    <a:pt x="0" y="513"/>
                  </a:cubicBezTo>
                  <a:cubicBezTo>
                    <a:pt x="0" y="553"/>
                    <a:pt x="32" y="587"/>
                    <a:pt x="71" y="587"/>
                  </a:cubicBezTo>
                  <a:cubicBezTo>
                    <a:pt x="1697" y="587"/>
                    <a:pt x="1697" y="587"/>
                    <a:pt x="1697" y="587"/>
                  </a:cubicBezTo>
                  <a:cubicBezTo>
                    <a:pt x="1735" y="587"/>
                    <a:pt x="1768" y="553"/>
                    <a:pt x="1768" y="513"/>
                  </a:cubicBezTo>
                  <a:lnTo>
                    <a:pt x="1768" y="509"/>
                  </a:lnTo>
                  <a:close/>
                </a:path>
                <a:path w="2865" h="1002">
                  <a:moveTo>
                    <a:pt x="674" y="432"/>
                  </a:moveTo>
                  <a:cubicBezTo>
                    <a:pt x="674" y="406"/>
                    <a:pt x="655" y="386"/>
                    <a:pt x="630" y="386"/>
                  </a:cubicBezTo>
                  <a:cubicBezTo>
                    <a:pt x="626" y="386"/>
                    <a:pt x="626" y="386"/>
                    <a:pt x="626" y="386"/>
                  </a:cubicBezTo>
                  <a:cubicBezTo>
                    <a:pt x="600" y="386"/>
                    <a:pt x="581" y="406"/>
                    <a:pt x="581" y="432"/>
                  </a:cubicBezTo>
                  <a:cubicBezTo>
                    <a:pt x="581" y="613"/>
                    <a:pt x="581" y="613"/>
                    <a:pt x="581" y="613"/>
                  </a:cubicBezTo>
                  <a:cubicBezTo>
                    <a:pt x="581" y="639"/>
                    <a:pt x="600" y="659"/>
                    <a:pt x="626" y="659"/>
                  </a:cubicBezTo>
                  <a:cubicBezTo>
                    <a:pt x="630" y="659"/>
                    <a:pt x="630" y="659"/>
                    <a:pt x="630" y="659"/>
                  </a:cubicBezTo>
                  <a:cubicBezTo>
                    <a:pt x="655" y="659"/>
                    <a:pt x="674" y="639"/>
                    <a:pt x="674" y="613"/>
                  </a:cubicBezTo>
                  <a:lnTo>
                    <a:pt x="674" y="432"/>
                  </a:lnTo>
                  <a:close/>
                </a:path>
                <a:path w="2865" h="1002">
                  <a:moveTo>
                    <a:pt x="202" y="555"/>
                  </a:moveTo>
                  <a:cubicBezTo>
                    <a:pt x="364" y="555"/>
                    <a:pt x="364" y="555"/>
                    <a:pt x="364" y="555"/>
                  </a:cubicBezTo>
                  <a:cubicBezTo>
                    <a:pt x="412" y="555"/>
                    <a:pt x="449" y="589"/>
                    <a:pt x="449" y="639"/>
                  </a:cubicBezTo>
                  <a:cubicBezTo>
                    <a:pt x="449" y="798"/>
                    <a:pt x="449" y="798"/>
                    <a:pt x="449" y="798"/>
                  </a:cubicBezTo>
                  <a:cubicBezTo>
                    <a:pt x="449" y="840"/>
                    <a:pt x="426" y="874"/>
                    <a:pt x="387" y="884"/>
                  </a:cubicBezTo>
                  <a:cubicBezTo>
                    <a:pt x="387" y="737"/>
                    <a:pt x="387" y="737"/>
                    <a:pt x="387" y="737"/>
                  </a:cubicBezTo>
                  <a:cubicBezTo>
                    <a:pt x="387" y="711"/>
                    <a:pt x="367" y="699"/>
                    <a:pt x="348" y="699"/>
                  </a:cubicBezTo>
                  <a:cubicBezTo>
                    <a:pt x="344" y="699"/>
                    <a:pt x="344" y="699"/>
                    <a:pt x="344" y="699"/>
                  </a:cubicBezTo>
                  <a:cubicBezTo>
                    <a:pt x="327" y="699"/>
                    <a:pt x="309" y="711"/>
                    <a:pt x="309" y="737"/>
                  </a:cubicBezTo>
                  <a:cubicBezTo>
                    <a:pt x="309" y="892"/>
                    <a:pt x="309" y="892"/>
                    <a:pt x="309" y="892"/>
                  </a:cubicBezTo>
                  <a:cubicBezTo>
                    <a:pt x="240" y="892"/>
                    <a:pt x="240" y="892"/>
                    <a:pt x="240" y="892"/>
                  </a:cubicBezTo>
                  <a:cubicBezTo>
                    <a:pt x="240" y="737"/>
                    <a:pt x="240" y="737"/>
                    <a:pt x="240" y="737"/>
                  </a:cubicBezTo>
                  <a:cubicBezTo>
                    <a:pt x="240" y="711"/>
                    <a:pt x="222" y="699"/>
                    <a:pt x="202" y="699"/>
                  </a:cubicBezTo>
                  <a:cubicBezTo>
                    <a:pt x="199" y="699"/>
                    <a:pt x="199" y="699"/>
                    <a:pt x="199" y="699"/>
                  </a:cubicBezTo>
                  <a:cubicBezTo>
                    <a:pt x="179" y="699"/>
                    <a:pt x="162" y="711"/>
                    <a:pt x="162" y="737"/>
                  </a:cubicBezTo>
                  <a:cubicBezTo>
                    <a:pt x="162" y="880"/>
                    <a:pt x="162" y="880"/>
                    <a:pt x="162" y="880"/>
                  </a:cubicBezTo>
                  <a:cubicBezTo>
                    <a:pt x="131" y="866"/>
                    <a:pt x="115" y="834"/>
                    <a:pt x="115" y="798"/>
                  </a:cubicBezTo>
                  <a:cubicBezTo>
                    <a:pt x="115" y="639"/>
                    <a:pt x="115" y="639"/>
                    <a:pt x="115" y="639"/>
                  </a:cubicBezTo>
                  <a:cubicBezTo>
                    <a:pt x="115" y="589"/>
                    <a:pt x="154" y="555"/>
                    <a:pt x="202" y="555"/>
                  </a:cubicBezTo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3" name="path"/>
            <p:cNvSpPr/>
            <p:nvPr/>
          </p:nvSpPr>
          <p:spPr>
            <a:xfrm>
              <a:off x="1065520" y="906197"/>
              <a:ext cx="755417" cy="1935997"/>
            </a:xfrm>
            <a:custGeom>
              <a:avLst/>
              <a:gdLst/>
              <a:ahLst/>
              <a:cxnLst/>
              <a:rect l="0" t="0" r="0" b="0"/>
              <a:pathLst>
                <a:path w="1189" h="3048">
                  <a:moveTo>
                    <a:pt x="367" y="147"/>
                  </a:moveTo>
                  <a:cubicBezTo>
                    <a:pt x="381" y="55"/>
                    <a:pt x="462" y="-4"/>
                    <a:pt x="554" y="9"/>
                  </a:cubicBezTo>
                  <a:cubicBezTo>
                    <a:pt x="1041" y="79"/>
                    <a:pt x="1041" y="79"/>
                    <a:pt x="1041" y="79"/>
                  </a:cubicBezTo>
                  <a:cubicBezTo>
                    <a:pt x="1130" y="93"/>
                    <a:pt x="1192" y="174"/>
                    <a:pt x="1180" y="266"/>
                  </a:cubicBezTo>
                  <a:cubicBezTo>
                    <a:pt x="821" y="2894"/>
                    <a:pt x="821" y="2894"/>
                    <a:pt x="821" y="2894"/>
                  </a:cubicBezTo>
                  <a:cubicBezTo>
                    <a:pt x="810" y="2989"/>
                    <a:pt x="726" y="3053"/>
                    <a:pt x="635" y="3039"/>
                  </a:cubicBezTo>
                  <a:cubicBezTo>
                    <a:pt x="150" y="2969"/>
                    <a:pt x="150" y="2969"/>
                    <a:pt x="150" y="2969"/>
                  </a:cubicBezTo>
                  <a:cubicBezTo>
                    <a:pt x="59" y="2955"/>
                    <a:pt x="-2" y="2870"/>
                    <a:pt x="8" y="2776"/>
                  </a:cubicBezTo>
                  <a:lnTo>
                    <a:pt x="367" y="147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4" name="path"/>
            <p:cNvSpPr/>
            <p:nvPr/>
          </p:nvSpPr>
          <p:spPr>
            <a:xfrm>
              <a:off x="1436979" y="1002769"/>
              <a:ext cx="150600" cy="154973"/>
            </a:xfrm>
            <a:custGeom>
              <a:avLst/>
              <a:gdLst/>
              <a:ahLst/>
              <a:cxnLst/>
              <a:rect l="0" t="0" r="0" b="0"/>
              <a:pathLst>
                <a:path w="237" h="244">
                  <a:moveTo>
                    <a:pt x="221" y="78"/>
                  </a:moveTo>
                  <a:cubicBezTo>
                    <a:pt x="198" y="19"/>
                    <a:pt x="134" y="-8"/>
                    <a:pt x="75" y="15"/>
                  </a:cubicBezTo>
                  <a:cubicBezTo>
                    <a:pt x="19" y="39"/>
                    <a:pt x="-7" y="106"/>
                    <a:pt x="15" y="164"/>
                  </a:cubicBezTo>
                  <a:cubicBezTo>
                    <a:pt x="38" y="224"/>
                    <a:pt x="103" y="252"/>
                    <a:pt x="159" y="228"/>
                  </a:cubicBezTo>
                  <a:cubicBezTo>
                    <a:pt x="217" y="204"/>
                    <a:pt x="244" y="138"/>
                    <a:pt x="221" y="78"/>
                  </a:cubicBezTo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5" name="path"/>
            <p:cNvSpPr/>
            <p:nvPr/>
          </p:nvSpPr>
          <p:spPr>
            <a:xfrm>
              <a:off x="1436913" y="1002410"/>
              <a:ext cx="116042" cy="149225"/>
            </a:xfrm>
            <a:custGeom>
              <a:avLst/>
              <a:gdLst/>
              <a:ahLst/>
              <a:cxnLst/>
              <a:rect l="0" t="0" r="0" b="0"/>
              <a:pathLst>
                <a:path w="182" h="235">
                  <a:moveTo>
                    <a:pt x="120" y="34"/>
                  </a:moveTo>
                  <a:cubicBezTo>
                    <a:pt x="141" y="26"/>
                    <a:pt x="163" y="24"/>
                    <a:pt x="182" y="28"/>
                  </a:cubicBezTo>
                  <a:cubicBezTo>
                    <a:pt x="153" y="6"/>
                    <a:pt x="112" y="0"/>
                    <a:pt x="75" y="16"/>
                  </a:cubicBezTo>
                  <a:cubicBezTo>
                    <a:pt x="19" y="40"/>
                    <a:pt x="-7" y="106"/>
                    <a:pt x="15" y="164"/>
                  </a:cubicBezTo>
                  <a:cubicBezTo>
                    <a:pt x="29" y="202"/>
                    <a:pt x="62" y="228"/>
                    <a:pt x="97" y="235"/>
                  </a:cubicBezTo>
                  <a:cubicBezTo>
                    <a:pt x="81" y="222"/>
                    <a:pt x="68" y="204"/>
                    <a:pt x="60" y="184"/>
                  </a:cubicBezTo>
                  <a:cubicBezTo>
                    <a:pt x="36" y="126"/>
                    <a:pt x="64" y="58"/>
                    <a:pt x="120" y="34"/>
                  </a:cubicBezTo>
                </a:path>
              </a:pathLst>
            </a:custGeom>
            <a:solidFill>
              <a:srgbClr val="13353A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6" name="path"/>
            <p:cNvSpPr/>
            <p:nvPr/>
          </p:nvSpPr>
          <p:spPr>
            <a:xfrm>
              <a:off x="1617544" y="851478"/>
              <a:ext cx="924738" cy="1934963"/>
            </a:xfrm>
            <a:custGeom>
              <a:avLst/>
              <a:gdLst/>
              <a:ahLst/>
              <a:cxnLst/>
              <a:rect l="0" t="0" r="0" b="0"/>
              <a:pathLst>
                <a:path w="1456" h="3047">
                  <a:moveTo>
                    <a:pt x="12" y="340"/>
                  </a:moveTo>
                  <a:cubicBezTo>
                    <a:pt x="-10" y="250"/>
                    <a:pt x="43" y="161"/>
                    <a:pt x="130" y="139"/>
                  </a:cubicBezTo>
                  <a:cubicBezTo>
                    <a:pt x="608" y="13"/>
                    <a:pt x="608" y="13"/>
                    <a:pt x="608" y="13"/>
                  </a:cubicBezTo>
                  <a:cubicBezTo>
                    <a:pt x="695" y="-10"/>
                    <a:pt x="784" y="39"/>
                    <a:pt x="806" y="129"/>
                  </a:cubicBezTo>
                  <a:cubicBezTo>
                    <a:pt x="1444" y="2702"/>
                    <a:pt x="1444" y="2702"/>
                    <a:pt x="1444" y="2702"/>
                  </a:cubicBezTo>
                  <a:cubicBezTo>
                    <a:pt x="1465" y="2792"/>
                    <a:pt x="1413" y="2884"/>
                    <a:pt x="1326" y="2908"/>
                  </a:cubicBezTo>
                  <a:cubicBezTo>
                    <a:pt x="848" y="3035"/>
                    <a:pt x="848" y="3035"/>
                    <a:pt x="848" y="3035"/>
                  </a:cubicBezTo>
                  <a:cubicBezTo>
                    <a:pt x="761" y="3057"/>
                    <a:pt x="672" y="3003"/>
                    <a:pt x="648" y="2912"/>
                  </a:cubicBezTo>
                  <a:lnTo>
                    <a:pt x="12" y="340"/>
                  </a:lnTo>
                  <a:close/>
                </a:path>
              </a:pathLst>
            </a:custGeom>
            <a:solidFill>
              <a:srgbClr val="59C3F1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7" name="path"/>
            <p:cNvSpPr/>
            <p:nvPr/>
          </p:nvSpPr>
          <p:spPr>
            <a:xfrm>
              <a:off x="1775459" y="980027"/>
              <a:ext cx="150860" cy="155225"/>
            </a:xfrm>
            <a:custGeom>
              <a:avLst/>
              <a:gdLst/>
              <a:ahLst/>
              <a:cxnLst/>
              <a:rect l="0" t="0" r="0" b="0"/>
              <a:pathLst>
                <a:path w="237" h="244">
                  <a:moveTo>
                    <a:pt x="198" y="41"/>
                  </a:moveTo>
                  <a:cubicBezTo>
                    <a:pt x="155" y="-2"/>
                    <a:pt x="83" y="-4"/>
                    <a:pt x="41" y="39"/>
                  </a:cubicBezTo>
                  <a:cubicBezTo>
                    <a:pt x="-3" y="83"/>
                    <a:pt x="-3" y="157"/>
                    <a:pt x="39" y="202"/>
                  </a:cubicBezTo>
                  <a:cubicBezTo>
                    <a:pt x="81" y="248"/>
                    <a:pt x="151" y="248"/>
                    <a:pt x="196" y="204"/>
                  </a:cubicBezTo>
                  <a:cubicBezTo>
                    <a:pt x="241" y="159"/>
                    <a:pt x="241" y="87"/>
                    <a:pt x="198" y="41"/>
                  </a:cubicBezTo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8" name="path"/>
            <p:cNvSpPr/>
            <p:nvPr/>
          </p:nvSpPr>
          <p:spPr>
            <a:xfrm>
              <a:off x="1775459" y="980947"/>
              <a:ext cx="91566" cy="152907"/>
            </a:xfrm>
            <a:custGeom>
              <a:avLst/>
              <a:gdLst/>
              <a:ahLst/>
              <a:cxnLst/>
              <a:rect l="0" t="0" r="0" b="0"/>
              <a:pathLst>
                <a:path w="144" h="240">
                  <a:moveTo>
                    <a:pt x="89" y="40"/>
                  </a:moveTo>
                  <a:cubicBezTo>
                    <a:pt x="105" y="23"/>
                    <a:pt x="124" y="13"/>
                    <a:pt x="144" y="7"/>
                  </a:cubicBezTo>
                  <a:cubicBezTo>
                    <a:pt x="109" y="0"/>
                    <a:pt x="68" y="10"/>
                    <a:pt x="41" y="37"/>
                  </a:cubicBezTo>
                  <a:cubicBezTo>
                    <a:pt x="-3" y="82"/>
                    <a:pt x="-3" y="156"/>
                    <a:pt x="39" y="200"/>
                  </a:cubicBezTo>
                  <a:cubicBezTo>
                    <a:pt x="66" y="230"/>
                    <a:pt x="105" y="240"/>
                    <a:pt x="142" y="232"/>
                  </a:cubicBezTo>
                  <a:cubicBezTo>
                    <a:pt x="122" y="228"/>
                    <a:pt x="103" y="218"/>
                    <a:pt x="87" y="200"/>
                  </a:cubicBezTo>
                  <a:cubicBezTo>
                    <a:pt x="45" y="156"/>
                    <a:pt x="45" y="84"/>
                    <a:pt x="89" y="40"/>
                  </a:cubicBezTo>
                </a:path>
              </a:pathLst>
            </a:custGeom>
            <a:solidFill>
              <a:srgbClr val="13353A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9" name="path"/>
            <p:cNvSpPr/>
            <p:nvPr/>
          </p:nvSpPr>
          <p:spPr>
            <a:xfrm>
              <a:off x="1464310" y="498220"/>
              <a:ext cx="84962" cy="530098"/>
            </a:xfrm>
            <a:custGeom>
              <a:avLst/>
              <a:gdLst/>
              <a:ahLst/>
              <a:cxnLst/>
              <a:rect l="0" t="0" r="0" b="0"/>
              <a:pathLst>
                <a:path w="133" h="834">
                  <a:moveTo>
                    <a:pt x="87" y="834"/>
                  </a:moveTo>
                  <a:cubicBezTo>
                    <a:pt x="83" y="834"/>
                    <a:pt x="73" y="832"/>
                    <a:pt x="60" y="822"/>
                  </a:cubicBezTo>
                  <a:cubicBezTo>
                    <a:pt x="30" y="792"/>
                    <a:pt x="15" y="720"/>
                    <a:pt x="17" y="613"/>
                  </a:cubicBezTo>
                  <a:cubicBezTo>
                    <a:pt x="17" y="555"/>
                    <a:pt x="15" y="487"/>
                    <a:pt x="11" y="415"/>
                  </a:cubicBezTo>
                  <a:cubicBezTo>
                    <a:pt x="1" y="174"/>
                    <a:pt x="0" y="26"/>
                    <a:pt x="61" y="8"/>
                  </a:cubicBezTo>
                  <a:cubicBezTo>
                    <a:pt x="81" y="0"/>
                    <a:pt x="96" y="1"/>
                    <a:pt x="110" y="12"/>
                  </a:cubicBezTo>
                  <a:cubicBezTo>
                    <a:pt x="133" y="28"/>
                    <a:pt x="133" y="62"/>
                    <a:pt x="133" y="66"/>
                  </a:cubicBezTo>
                  <a:cubicBezTo>
                    <a:pt x="133" y="74"/>
                    <a:pt x="129" y="78"/>
                    <a:pt x="122" y="78"/>
                  </a:cubicBezTo>
                  <a:cubicBezTo>
                    <a:pt x="116" y="78"/>
                    <a:pt x="110" y="74"/>
                    <a:pt x="110" y="66"/>
                  </a:cubicBezTo>
                  <a:cubicBezTo>
                    <a:pt x="110" y="60"/>
                    <a:pt x="108" y="38"/>
                    <a:pt x="96" y="30"/>
                  </a:cubicBezTo>
                  <a:cubicBezTo>
                    <a:pt x="91" y="26"/>
                    <a:pt x="81" y="26"/>
                    <a:pt x="67" y="32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21" y="44"/>
                    <a:pt x="29" y="250"/>
                    <a:pt x="34" y="415"/>
                  </a:cubicBezTo>
                  <a:cubicBezTo>
                    <a:pt x="38" y="487"/>
                    <a:pt x="40" y="555"/>
                    <a:pt x="40" y="613"/>
                  </a:cubicBezTo>
                  <a:cubicBezTo>
                    <a:pt x="38" y="746"/>
                    <a:pt x="61" y="790"/>
                    <a:pt x="75" y="804"/>
                  </a:cubicBezTo>
                  <a:cubicBezTo>
                    <a:pt x="83" y="810"/>
                    <a:pt x="87" y="810"/>
                    <a:pt x="87" y="810"/>
                  </a:cubicBezTo>
                  <a:cubicBezTo>
                    <a:pt x="87" y="810"/>
                    <a:pt x="87" y="810"/>
                    <a:pt x="87" y="810"/>
                  </a:cubicBezTo>
                  <a:cubicBezTo>
                    <a:pt x="94" y="810"/>
                    <a:pt x="98" y="814"/>
                    <a:pt x="100" y="822"/>
                  </a:cubicBezTo>
                  <a:cubicBezTo>
                    <a:pt x="100" y="828"/>
                    <a:pt x="94" y="834"/>
                    <a:pt x="89" y="834"/>
                  </a:cubicBezTo>
                  <a:cubicBezTo>
                    <a:pt x="89" y="834"/>
                    <a:pt x="89" y="834"/>
                    <a:pt x="87" y="834"/>
                  </a:cubicBezTo>
                </a:path>
              </a:pathLst>
            </a:custGeom>
            <a:solidFill>
              <a:srgbClr val="D1EB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70" name="textbox 1770"/>
          <p:cNvSpPr/>
          <p:nvPr/>
        </p:nvSpPr>
        <p:spPr>
          <a:xfrm>
            <a:off x="257057" y="4528509"/>
            <a:ext cx="3379470" cy="4057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来源：零壹财经，第一财经，国泰君安证券研究</a:t>
            </a:r>
            <a:endParaRPr lang="en-US" altLang="en-US" sz="800" dirty="0"/>
          </a:p>
          <a:p>
            <a:pPr algn="l" rtl="0" eaLnBrk="0">
              <a:lnSpc>
                <a:spcPct val="103000"/>
              </a:lnSpc>
            </a:pPr>
            <a:endParaRPr lang="en-US" altLang="en-US" sz="600" dirty="0"/>
          </a:p>
          <a:p>
            <a:pPr marL="1407795" algn="l" rtl="0" eaLnBrk="0">
              <a:lnSpc>
                <a:spcPct val="97000"/>
              </a:lnSpc>
              <a:spcBef>
                <a:spcPts val="5"/>
              </a:spcBef>
              <a:tabLst>
                <a:tab pos="1506855" algn="l"/>
              </a:tabLst>
            </a:pP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en-US" sz="1100" dirty="0"/>
          </a:p>
        </p:txBody>
      </p:sp>
      <p:grpSp>
        <p:nvGrpSpPr>
          <p:cNvPr id="256" name="group 256"/>
          <p:cNvGrpSpPr/>
          <p:nvPr/>
        </p:nvGrpSpPr>
        <p:grpSpPr>
          <a:xfrm rot="21600000">
            <a:off x="431342" y="2802635"/>
            <a:ext cx="548500" cy="548513"/>
            <a:chOff x="0" y="0"/>
            <a:chExt cx="548500" cy="548513"/>
          </a:xfrm>
        </p:grpSpPr>
        <p:sp>
          <p:nvSpPr>
            <p:cNvPr id="1772" name="path"/>
            <p:cNvSpPr/>
            <p:nvPr/>
          </p:nvSpPr>
          <p:spPr>
            <a:xfrm>
              <a:off x="0" y="0"/>
              <a:ext cx="548500" cy="548513"/>
            </a:xfrm>
            <a:custGeom>
              <a:avLst/>
              <a:gdLst/>
              <a:ahLst/>
              <a:cxnLst/>
              <a:rect l="0" t="0" r="0" b="0"/>
              <a:pathLst>
                <a:path w="863" h="863">
                  <a:moveTo>
                    <a:pt x="0" y="432"/>
                  </a:moveTo>
                  <a:cubicBezTo>
                    <a:pt x="0" y="193"/>
                    <a:pt x="193" y="0"/>
                    <a:pt x="431" y="0"/>
                  </a:cubicBezTo>
                  <a:cubicBezTo>
                    <a:pt x="431" y="0"/>
                    <a:pt x="431" y="0"/>
                    <a:pt x="431" y="0"/>
                  </a:cubicBezTo>
                  <a:lnTo>
                    <a:pt x="431" y="0"/>
                  </a:lnTo>
                  <a:cubicBezTo>
                    <a:pt x="670" y="0"/>
                    <a:pt x="863" y="193"/>
                    <a:pt x="863" y="432"/>
                  </a:cubicBezTo>
                  <a:cubicBezTo>
                    <a:pt x="863" y="432"/>
                    <a:pt x="863" y="432"/>
                    <a:pt x="863" y="432"/>
                  </a:cubicBezTo>
                  <a:lnTo>
                    <a:pt x="863" y="432"/>
                  </a:lnTo>
                  <a:cubicBezTo>
                    <a:pt x="863" y="670"/>
                    <a:pt x="670" y="863"/>
                    <a:pt x="431" y="863"/>
                  </a:cubicBezTo>
                  <a:cubicBezTo>
                    <a:pt x="431" y="863"/>
                    <a:pt x="431" y="863"/>
                    <a:pt x="431" y="863"/>
                  </a:cubicBezTo>
                  <a:lnTo>
                    <a:pt x="431" y="863"/>
                  </a:lnTo>
                  <a:cubicBezTo>
                    <a:pt x="193" y="863"/>
                    <a:pt x="0" y="670"/>
                    <a:pt x="0" y="432"/>
                  </a:cubicBezTo>
                  <a:cubicBezTo>
                    <a:pt x="0" y="432"/>
                    <a:pt x="0" y="432"/>
                    <a:pt x="0" y="432"/>
                  </a:cubicBezTo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73" name="path"/>
            <p:cNvSpPr/>
            <p:nvPr/>
          </p:nvSpPr>
          <p:spPr>
            <a:xfrm>
              <a:off x="115608" y="89789"/>
              <a:ext cx="312775" cy="356361"/>
            </a:xfrm>
            <a:custGeom>
              <a:avLst/>
              <a:gdLst/>
              <a:ahLst/>
              <a:cxnLst/>
              <a:rect l="0" t="0" r="0" b="0"/>
              <a:pathLst>
                <a:path w="492" h="561">
                  <a:moveTo>
                    <a:pt x="442" y="73"/>
                  </a:moveTo>
                  <a:cubicBezTo>
                    <a:pt x="421" y="49"/>
                    <a:pt x="394" y="30"/>
                    <a:pt x="362" y="17"/>
                  </a:cubicBezTo>
                  <a:cubicBezTo>
                    <a:pt x="332" y="6"/>
                    <a:pt x="299" y="0"/>
                    <a:pt x="266" y="0"/>
                  </a:cubicBezTo>
                  <a:cubicBezTo>
                    <a:pt x="216" y="0"/>
                    <a:pt x="167" y="12"/>
                    <a:pt x="128" y="36"/>
                  </a:cubicBezTo>
                  <a:cubicBezTo>
                    <a:pt x="107" y="49"/>
                    <a:pt x="88" y="65"/>
                    <a:pt x="74" y="83"/>
                  </a:cubicBezTo>
                  <a:cubicBezTo>
                    <a:pt x="58" y="102"/>
                    <a:pt x="48" y="123"/>
                    <a:pt x="41" y="147"/>
                  </a:cubicBezTo>
                  <a:cubicBezTo>
                    <a:pt x="36" y="167"/>
                    <a:pt x="36" y="191"/>
                    <a:pt x="40" y="209"/>
                  </a:cubicBezTo>
                  <a:cubicBezTo>
                    <a:pt x="42" y="216"/>
                    <a:pt x="42" y="216"/>
                    <a:pt x="42" y="216"/>
                  </a:cubicBezTo>
                  <a:cubicBezTo>
                    <a:pt x="42" y="218"/>
                    <a:pt x="43" y="220"/>
                    <a:pt x="43" y="221"/>
                  </a:cubicBezTo>
                  <a:cubicBezTo>
                    <a:pt x="43" y="222"/>
                    <a:pt x="43" y="222"/>
                    <a:pt x="43" y="222"/>
                  </a:cubicBezTo>
                  <a:cubicBezTo>
                    <a:pt x="42" y="225"/>
                    <a:pt x="42" y="225"/>
                    <a:pt x="42" y="225"/>
                  </a:cubicBezTo>
                  <a:cubicBezTo>
                    <a:pt x="38" y="234"/>
                    <a:pt x="31" y="244"/>
                    <a:pt x="24" y="254"/>
                  </a:cubicBezTo>
                  <a:cubicBezTo>
                    <a:pt x="19" y="261"/>
                    <a:pt x="13" y="267"/>
                    <a:pt x="8" y="276"/>
                  </a:cubicBezTo>
                  <a:cubicBezTo>
                    <a:pt x="8" y="276"/>
                    <a:pt x="8" y="276"/>
                    <a:pt x="8" y="276"/>
                  </a:cubicBezTo>
                  <a:cubicBezTo>
                    <a:pt x="8" y="276"/>
                    <a:pt x="8" y="276"/>
                    <a:pt x="8" y="276"/>
                  </a:cubicBezTo>
                  <a:cubicBezTo>
                    <a:pt x="8" y="276"/>
                    <a:pt x="8" y="276"/>
                    <a:pt x="8" y="276"/>
                  </a:cubicBezTo>
                  <a:cubicBezTo>
                    <a:pt x="1" y="287"/>
                    <a:pt x="0" y="301"/>
                    <a:pt x="3" y="313"/>
                  </a:cubicBezTo>
                  <a:cubicBezTo>
                    <a:pt x="6" y="323"/>
                    <a:pt x="13" y="332"/>
                    <a:pt x="22" y="338"/>
                  </a:cubicBezTo>
                  <a:cubicBezTo>
                    <a:pt x="21" y="346"/>
                    <a:pt x="23" y="353"/>
                    <a:pt x="26" y="360"/>
                  </a:cubicBezTo>
                  <a:cubicBezTo>
                    <a:pt x="28" y="363"/>
                    <a:pt x="29" y="365"/>
                    <a:pt x="31" y="367"/>
                  </a:cubicBezTo>
                  <a:cubicBezTo>
                    <a:pt x="30" y="377"/>
                    <a:pt x="32" y="387"/>
                    <a:pt x="38" y="395"/>
                  </a:cubicBezTo>
                  <a:cubicBezTo>
                    <a:pt x="46" y="406"/>
                    <a:pt x="46" y="406"/>
                    <a:pt x="46" y="406"/>
                  </a:cubicBezTo>
                  <a:cubicBezTo>
                    <a:pt x="46" y="408"/>
                    <a:pt x="46" y="409"/>
                    <a:pt x="46" y="411"/>
                  </a:cubicBezTo>
                  <a:cubicBezTo>
                    <a:pt x="46" y="417"/>
                    <a:pt x="45" y="425"/>
                    <a:pt x="46" y="434"/>
                  </a:cubicBezTo>
                  <a:cubicBezTo>
                    <a:pt x="48" y="447"/>
                    <a:pt x="53" y="458"/>
                    <a:pt x="60" y="467"/>
                  </a:cubicBezTo>
                  <a:cubicBezTo>
                    <a:pt x="71" y="478"/>
                    <a:pt x="87" y="484"/>
                    <a:pt x="105" y="484"/>
                  </a:cubicBezTo>
                  <a:cubicBezTo>
                    <a:pt x="118" y="484"/>
                    <a:pt x="132" y="481"/>
                    <a:pt x="150" y="476"/>
                  </a:cubicBezTo>
                  <a:cubicBezTo>
                    <a:pt x="151" y="487"/>
                    <a:pt x="152" y="501"/>
                    <a:pt x="152" y="519"/>
                  </a:cubicBezTo>
                  <a:cubicBezTo>
                    <a:pt x="154" y="542"/>
                    <a:pt x="172" y="561"/>
                    <a:pt x="196" y="561"/>
                  </a:cubicBezTo>
                  <a:cubicBezTo>
                    <a:pt x="387" y="561"/>
                    <a:pt x="387" y="561"/>
                    <a:pt x="387" y="561"/>
                  </a:cubicBezTo>
                  <a:cubicBezTo>
                    <a:pt x="399" y="561"/>
                    <a:pt x="412" y="555"/>
                    <a:pt x="420" y="545"/>
                  </a:cubicBezTo>
                  <a:cubicBezTo>
                    <a:pt x="428" y="535"/>
                    <a:pt x="432" y="522"/>
                    <a:pt x="429" y="509"/>
                  </a:cubicBezTo>
                  <a:cubicBezTo>
                    <a:pt x="412" y="411"/>
                    <a:pt x="412" y="411"/>
                    <a:pt x="412" y="411"/>
                  </a:cubicBezTo>
                  <a:cubicBezTo>
                    <a:pt x="411" y="407"/>
                    <a:pt x="412" y="402"/>
                    <a:pt x="416" y="398"/>
                  </a:cubicBezTo>
                  <a:cubicBezTo>
                    <a:pt x="429" y="381"/>
                    <a:pt x="446" y="361"/>
                    <a:pt x="459" y="338"/>
                  </a:cubicBezTo>
                  <a:cubicBezTo>
                    <a:pt x="473" y="313"/>
                    <a:pt x="482" y="287"/>
                    <a:pt x="486" y="261"/>
                  </a:cubicBezTo>
                  <a:cubicBezTo>
                    <a:pt x="492" y="222"/>
                    <a:pt x="491" y="186"/>
                    <a:pt x="483" y="154"/>
                  </a:cubicBezTo>
                  <a:cubicBezTo>
                    <a:pt x="475" y="123"/>
                    <a:pt x="461" y="96"/>
                    <a:pt x="442" y="73"/>
                  </a:cubicBezTo>
                  <a:moveTo>
                    <a:pt x="456" y="256"/>
                  </a:moveTo>
                  <a:cubicBezTo>
                    <a:pt x="449" y="307"/>
                    <a:pt x="422" y="344"/>
                    <a:pt x="392" y="379"/>
                  </a:cubicBezTo>
                  <a:cubicBezTo>
                    <a:pt x="384" y="389"/>
                    <a:pt x="380" y="403"/>
                    <a:pt x="382" y="417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1" y="519"/>
                    <a:pt x="399" y="522"/>
                    <a:pt x="397" y="526"/>
                  </a:cubicBezTo>
                  <a:cubicBezTo>
                    <a:pt x="394" y="529"/>
                    <a:pt x="391" y="530"/>
                    <a:pt x="387" y="530"/>
                  </a:cubicBezTo>
                  <a:cubicBezTo>
                    <a:pt x="196" y="530"/>
                    <a:pt x="196" y="530"/>
                    <a:pt x="196" y="530"/>
                  </a:cubicBezTo>
                  <a:cubicBezTo>
                    <a:pt x="189" y="530"/>
                    <a:pt x="183" y="525"/>
                    <a:pt x="182" y="517"/>
                  </a:cubicBezTo>
                  <a:cubicBezTo>
                    <a:pt x="181" y="484"/>
                    <a:pt x="179" y="464"/>
                    <a:pt x="177" y="453"/>
                  </a:cubicBezTo>
                  <a:cubicBezTo>
                    <a:pt x="177" y="447"/>
                    <a:pt x="170" y="442"/>
                    <a:pt x="162" y="442"/>
                  </a:cubicBezTo>
                  <a:cubicBezTo>
                    <a:pt x="161" y="442"/>
                    <a:pt x="160" y="442"/>
                    <a:pt x="159" y="442"/>
                  </a:cubicBezTo>
                  <a:cubicBezTo>
                    <a:pt x="135" y="451"/>
                    <a:pt x="118" y="453"/>
                    <a:pt x="105" y="453"/>
                  </a:cubicBezTo>
                  <a:cubicBezTo>
                    <a:pt x="59" y="453"/>
                    <a:pt x="83" y="405"/>
                    <a:pt x="75" y="393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0" y="373"/>
                    <a:pt x="60" y="368"/>
                    <a:pt x="62" y="365"/>
                  </a:cubicBezTo>
                  <a:cubicBezTo>
                    <a:pt x="68" y="355"/>
                    <a:pt x="68" y="355"/>
                    <a:pt x="68" y="355"/>
                  </a:cubicBezTo>
                  <a:cubicBezTo>
                    <a:pt x="61" y="353"/>
                    <a:pt x="61" y="353"/>
                    <a:pt x="61" y="353"/>
                  </a:cubicBezTo>
                  <a:cubicBezTo>
                    <a:pt x="58" y="352"/>
                    <a:pt x="55" y="350"/>
                    <a:pt x="53" y="347"/>
                  </a:cubicBezTo>
                  <a:cubicBezTo>
                    <a:pt x="52" y="344"/>
                    <a:pt x="52" y="341"/>
                    <a:pt x="53" y="338"/>
                  </a:cubicBezTo>
                  <a:cubicBezTo>
                    <a:pt x="58" y="325"/>
                    <a:pt x="58" y="325"/>
                    <a:pt x="58" y="325"/>
                  </a:cubicBezTo>
                  <a:cubicBezTo>
                    <a:pt x="59" y="323"/>
                    <a:pt x="58" y="321"/>
                    <a:pt x="57" y="321"/>
                  </a:cubicBezTo>
                  <a:cubicBezTo>
                    <a:pt x="40" y="313"/>
                    <a:pt x="40" y="313"/>
                    <a:pt x="40" y="313"/>
                  </a:cubicBezTo>
                  <a:cubicBezTo>
                    <a:pt x="36" y="312"/>
                    <a:pt x="33" y="308"/>
                    <a:pt x="32" y="305"/>
                  </a:cubicBezTo>
                  <a:cubicBezTo>
                    <a:pt x="31" y="300"/>
                    <a:pt x="31" y="296"/>
                    <a:pt x="34" y="292"/>
                  </a:cubicBezTo>
                  <a:cubicBezTo>
                    <a:pt x="34" y="291"/>
                    <a:pt x="34" y="291"/>
                    <a:pt x="34" y="291"/>
                  </a:cubicBezTo>
                  <a:cubicBezTo>
                    <a:pt x="45" y="274"/>
                    <a:pt x="60" y="257"/>
                    <a:pt x="70" y="238"/>
                  </a:cubicBezTo>
                  <a:cubicBezTo>
                    <a:pt x="73" y="230"/>
                    <a:pt x="73" y="230"/>
                    <a:pt x="73" y="230"/>
                  </a:cubicBezTo>
                  <a:cubicBezTo>
                    <a:pt x="76" y="224"/>
                    <a:pt x="73" y="216"/>
                    <a:pt x="72" y="209"/>
                  </a:cubicBezTo>
                  <a:cubicBezTo>
                    <a:pt x="70" y="203"/>
                    <a:pt x="70" y="203"/>
                    <a:pt x="70" y="203"/>
                  </a:cubicBezTo>
                  <a:cubicBezTo>
                    <a:pt x="67" y="188"/>
                    <a:pt x="67" y="169"/>
                    <a:pt x="71" y="155"/>
                  </a:cubicBezTo>
                  <a:cubicBezTo>
                    <a:pt x="91" y="75"/>
                    <a:pt x="179" y="30"/>
                    <a:pt x="266" y="30"/>
                  </a:cubicBezTo>
                  <a:cubicBezTo>
                    <a:pt x="374" y="30"/>
                    <a:pt x="480" y="98"/>
                    <a:pt x="456" y="256"/>
                  </a:cubicBezTo>
                </a:path>
                <a:path w="492" h="561">
                  <a:moveTo>
                    <a:pt x="324" y="66"/>
                  </a:moveTo>
                  <a:cubicBezTo>
                    <a:pt x="317" y="60"/>
                    <a:pt x="308" y="56"/>
                    <a:pt x="298" y="56"/>
                  </a:cubicBezTo>
                  <a:cubicBezTo>
                    <a:pt x="292" y="56"/>
                    <a:pt x="286" y="57"/>
                    <a:pt x="281" y="60"/>
                  </a:cubicBezTo>
                  <a:cubicBezTo>
                    <a:pt x="275" y="55"/>
                    <a:pt x="269" y="53"/>
                    <a:pt x="261" y="53"/>
                  </a:cubicBezTo>
                  <a:cubicBezTo>
                    <a:pt x="256" y="53"/>
                    <a:pt x="251" y="55"/>
                    <a:pt x="246" y="57"/>
                  </a:cubicBezTo>
                  <a:cubicBezTo>
                    <a:pt x="243" y="56"/>
                    <a:pt x="238" y="56"/>
                    <a:pt x="234" y="56"/>
                  </a:cubicBezTo>
                  <a:cubicBezTo>
                    <a:pt x="221" y="56"/>
                    <a:pt x="209" y="60"/>
                    <a:pt x="199" y="68"/>
                  </a:cubicBezTo>
                  <a:cubicBezTo>
                    <a:pt x="198" y="68"/>
                    <a:pt x="198" y="68"/>
                    <a:pt x="196" y="68"/>
                  </a:cubicBezTo>
                  <a:cubicBezTo>
                    <a:pt x="179" y="68"/>
                    <a:pt x="164" y="75"/>
                    <a:pt x="154" y="87"/>
                  </a:cubicBezTo>
                  <a:cubicBezTo>
                    <a:pt x="134" y="90"/>
                    <a:pt x="118" y="108"/>
                    <a:pt x="118" y="130"/>
                  </a:cubicBezTo>
                  <a:cubicBezTo>
                    <a:pt x="109" y="133"/>
                    <a:pt x="104" y="141"/>
                    <a:pt x="104" y="151"/>
                  </a:cubicBezTo>
                  <a:cubicBezTo>
                    <a:pt x="104" y="152"/>
                    <a:pt x="104" y="152"/>
                    <a:pt x="104" y="153"/>
                  </a:cubicBezTo>
                  <a:cubicBezTo>
                    <a:pt x="98" y="162"/>
                    <a:pt x="94" y="173"/>
                    <a:pt x="94" y="184"/>
                  </a:cubicBezTo>
                  <a:cubicBezTo>
                    <a:pt x="94" y="203"/>
                    <a:pt x="104" y="219"/>
                    <a:pt x="119" y="229"/>
                  </a:cubicBezTo>
                  <a:cubicBezTo>
                    <a:pt x="124" y="246"/>
                    <a:pt x="140" y="257"/>
                    <a:pt x="159" y="257"/>
                  </a:cubicBezTo>
                  <a:cubicBezTo>
                    <a:pt x="166" y="257"/>
                    <a:pt x="173" y="256"/>
                    <a:pt x="179" y="252"/>
                  </a:cubicBezTo>
                  <a:cubicBezTo>
                    <a:pt x="185" y="261"/>
                    <a:pt x="194" y="266"/>
                    <a:pt x="205" y="268"/>
                  </a:cubicBezTo>
                  <a:cubicBezTo>
                    <a:pt x="213" y="290"/>
                    <a:pt x="233" y="305"/>
                    <a:pt x="257" y="305"/>
                  </a:cubicBezTo>
                  <a:cubicBezTo>
                    <a:pt x="265" y="305"/>
                    <a:pt x="273" y="303"/>
                    <a:pt x="280" y="300"/>
                  </a:cubicBezTo>
                  <a:cubicBezTo>
                    <a:pt x="291" y="321"/>
                    <a:pt x="313" y="336"/>
                    <a:pt x="339" y="336"/>
                  </a:cubicBezTo>
                  <a:cubicBezTo>
                    <a:pt x="368" y="336"/>
                    <a:pt x="393" y="318"/>
                    <a:pt x="402" y="292"/>
                  </a:cubicBezTo>
                  <a:cubicBezTo>
                    <a:pt x="424" y="281"/>
                    <a:pt x="438" y="258"/>
                    <a:pt x="438" y="232"/>
                  </a:cubicBezTo>
                  <a:cubicBezTo>
                    <a:pt x="438" y="228"/>
                    <a:pt x="438" y="224"/>
                    <a:pt x="437" y="220"/>
                  </a:cubicBezTo>
                  <a:cubicBezTo>
                    <a:pt x="440" y="214"/>
                    <a:pt x="441" y="207"/>
                    <a:pt x="441" y="200"/>
                  </a:cubicBezTo>
                  <a:cubicBezTo>
                    <a:pt x="441" y="188"/>
                    <a:pt x="437" y="177"/>
                    <a:pt x="430" y="169"/>
                  </a:cubicBezTo>
                  <a:cubicBezTo>
                    <a:pt x="430" y="167"/>
                    <a:pt x="431" y="164"/>
                    <a:pt x="431" y="162"/>
                  </a:cubicBezTo>
                  <a:cubicBezTo>
                    <a:pt x="431" y="143"/>
                    <a:pt x="419" y="127"/>
                    <a:pt x="403" y="119"/>
                  </a:cubicBezTo>
                  <a:cubicBezTo>
                    <a:pt x="390" y="88"/>
                    <a:pt x="359" y="67"/>
                    <a:pt x="324" y="66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58" name="group 258"/>
          <p:cNvGrpSpPr/>
          <p:nvPr/>
        </p:nvGrpSpPr>
        <p:grpSpPr>
          <a:xfrm rot="21600000">
            <a:off x="426605" y="1447927"/>
            <a:ext cx="548500" cy="548512"/>
            <a:chOff x="0" y="0"/>
            <a:chExt cx="548500" cy="548512"/>
          </a:xfrm>
        </p:grpSpPr>
        <p:sp>
          <p:nvSpPr>
            <p:cNvPr id="1774" name="path"/>
            <p:cNvSpPr/>
            <p:nvPr/>
          </p:nvSpPr>
          <p:spPr>
            <a:xfrm>
              <a:off x="0" y="0"/>
              <a:ext cx="548500" cy="548512"/>
            </a:xfrm>
            <a:custGeom>
              <a:avLst/>
              <a:gdLst/>
              <a:ahLst/>
              <a:cxnLst/>
              <a:rect l="0" t="0" r="0" b="0"/>
              <a:pathLst>
                <a:path w="863" h="863">
                  <a:moveTo>
                    <a:pt x="0" y="431"/>
                  </a:moveTo>
                  <a:cubicBezTo>
                    <a:pt x="0" y="193"/>
                    <a:pt x="193" y="0"/>
                    <a:pt x="431" y="0"/>
                  </a:cubicBezTo>
                  <a:cubicBezTo>
                    <a:pt x="431" y="0"/>
                    <a:pt x="431" y="0"/>
                    <a:pt x="431" y="0"/>
                  </a:cubicBezTo>
                  <a:lnTo>
                    <a:pt x="431" y="0"/>
                  </a:lnTo>
                  <a:cubicBezTo>
                    <a:pt x="670" y="0"/>
                    <a:pt x="863" y="193"/>
                    <a:pt x="863" y="431"/>
                  </a:cubicBezTo>
                  <a:cubicBezTo>
                    <a:pt x="863" y="431"/>
                    <a:pt x="863" y="431"/>
                    <a:pt x="863" y="431"/>
                  </a:cubicBezTo>
                  <a:lnTo>
                    <a:pt x="863" y="431"/>
                  </a:lnTo>
                  <a:cubicBezTo>
                    <a:pt x="863" y="670"/>
                    <a:pt x="670" y="863"/>
                    <a:pt x="431" y="863"/>
                  </a:cubicBezTo>
                  <a:cubicBezTo>
                    <a:pt x="431" y="863"/>
                    <a:pt x="431" y="863"/>
                    <a:pt x="431" y="863"/>
                  </a:cubicBezTo>
                  <a:lnTo>
                    <a:pt x="431" y="863"/>
                  </a:lnTo>
                  <a:cubicBezTo>
                    <a:pt x="193" y="863"/>
                    <a:pt x="0" y="670"/>
                    <a:pt x="0" y="431"/>
                  </a:cubicBezTo>
                  <a:cubicBezTo>
                    <a:pt x="0" y="431"/>
                    <a:pt x="0" y="431"/>
                    <a:pt x="0" y="431"/>
                  </a:cubicBezTo>
                </a:path>
              </a:pathLst>
            </a:custGeom>
            <a:solidFill>
              <a:srgbClr val="13A5E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75" name="path"/>
            <p:cNvSpPr/>
            <p:nvPr/>
          </p:nvSpPr>
          <p:spPr>
            <a:xfrm>
              <a:off x="114122" y="132300"/>
              <a:ext cx="300642" cy="300642"/>
            </a:xfrm>
            <a:custGeom>
              <a:avLst/>
              <a:gdLst/>
              <a:ahLst/>
              <a:cxnLst/>
              <a:rect l="0" t="0" r="0" b="0"/>
              <a:pathLst>
                <a:path w="473" h="473">
                  <a:moveTo>
                    <a:pt x="0" y="363"/>
                  </a:moveTo>
                  <a:cubicBezTo>
                    <a:pt x="12" y="304"/>
                    <a:pt x="12" y="304"/>
                    <a:pt x="12" y="304"/>
                  </a:cubicBezTo>
                  <a:cubicBezTo>
                    <a:pt x="15" y="291"/>
                    <a:pt x="38" y="194"/>
                    <a:pt x="91" y="167"/>
                  </a:cubicBezTo>
                  <a:cubicBezTo>
                    <a:pt x="112" y="157"/>
                    <a:pt x="136" y="158"/>
                    <a:pt x="165" y="169"/>
                  </a:cubicBezTo>
                  <a:cubicBezTo>
                    <a:pt x="183" y="135"/>
                    <a:pt x="204" y="107"/>
                    <a:pt x="224" y="86"/>
                  </a:cubicBezTo>
                  <a:cubicBezTo>
                    <a:pt x="243" y="68"/>
                    <a:pt x="265" y="51"/>
                    <a:pt x="288" y="38"/>
                  </a:cubicBezTo>
                  <a:cubicBezTo>
                    <a:pt x="289" y="37"/>
                    <a:pt x="289" y="37"/>
                    <a:pt x="289" y="37"/>
                  </a:cubicBezTo>
                  <a:cubicBezTo>
                    <a:pt x="355" y="7"/>
                    <a:pt x="436" y="-2"/>
                    <a:pt x="456" y="17"/>
                  </a:cubicBezTo>
                  <a:cubicBezTo>
                    <a:pt x="475" y="37"/>
                    <a:pt x="465" y="117"/>
                    <a:pt x="436" y="183"/>
                  </a:cubicBezTo>
                  <a:cubicBezTo>
                    <a:pt x="434" y="185"/>
                    <a:pt x="434" y="185"/>
                    <a:pt x="434" y="185"/>
                  </a:cubicBezTo>
                  <a:cubicBezTo>
                    <a:pt x="421" y="208"/>
                    <a:pt x="406" y="231"/>
                    <a:pt x="388" y="249"/>
                  </a:cubicBezTo>
                  <a:cubicBezTo>
                    <a:pt x="367" y="270"/>
                    <a:pt x="339" y="291"/>
                    <a:pt x="304" y="308"/>
                  </a:cubicBezTo>
                  <a:cubicBezTo>
                    <a:pt x="314" y="336"/>
                    <a:pt x="315" y="361"/>
                    <a:pt x="305" y="382"/>
                  </a:cubicBezTo>
                  <a:cubicBezTo>
                    <a:pt x="278" y="435"/>
                    <a:pt x="182" y="458"/>
                    <a:pt x="170" y="462"/>
                  </a:cubicBezTo>
                  <a:cubicBezTo>
                    <a:pt x="109" y="473"/>
                    <a:pt x="109" y="473"/>
                    <a:pt x="109" y="473"/>
                  </a:cubicBezTo>
                  <a:cubicBezTo>
                    <a:pt x="153" y="429"/>
                    <a:pt x="153" y="429"/>
                    <a:pt x="153" y="429"/>
                  </a:cubicBezTo>
                  <a:cubicBezTo>
                    <a:pt x="171" y="411"/>
                    <a:pt x="182" y="385"/>
                    <a:pt x="180" y="360"/>
                  </a:cubicBezTo>
                  <a:cubicBezTo>
                    <a:pt x="180" y="360"/>
                    <a:pt x="180" y="360"/>
                    <a:pt x="179" y="362"/>
                  </a:cubicBezTo>
                  <a:cubicBezTo>
                    <a:pt x="167" y="365"/>
                    <a:pt x="167" y="365"/>
                    <a:pt x="167" y="365"/>
                  </a:cubicBezTo>
                  <a:cubicBezTo>
                    <a:pt x="159" y="355"/>
                    <a:pt x="159" y="355"/>
                    <a:pt x="159" y="355"/>
                  </a:cubicBezTo>
                  <a:cubicBezTo>
                    <a:pt x="146" y="342"/>
                    <a:pt x="132" y="328"/>
                    <a:pt x="118" y="313"/>
                  </a:cubicBezTo>
                  <a:cubicBezTo>
                    <a:pt x="107" y="305"/>
                    <a:pt x="107" y="305"/>
                    <a:pt x="107" y="305"/>
                  </a:cubicBezTo>
                  <a:cubicBezTo>
                    <a:pt x="111" y="294"/>
                    <a:pt x="111" y="294"/>
                    <a:pt x="111" y="294"/>
                  </a:cubicBezTo>
                  <a:cubicBezTo>
                    <a:pt x="112" y="292"/>
                    <a:pt x="112" y="292"/>
                    <a:pt x="112" y="292"/>
                  </a:cubicBezTo>
                  <a:cubicBezTo>
                    <a:pt x="86" y="292"/>
                    <a:pt x="62" y="301"/>
                    <a:pt x="44" y="319"/>
                  </a:cubicBezTo>
                  <a:lnTo>
                    <a:pt x="0" y="363"/>
                  </a:lnTo>
                  <a:close/>
                  <a:moveTo>
                    <a:pt x="305" y="71"/>
                  </a:moveTo>
                  <a:cubicBezTo>
                    <a:pt x="285" y="83"/>
                    <a:pt x="266" y="97"/>
                    <a:pt x="251" y="112"/>
                  </a:cubicBezTo>
                  <a:cubicBezTo>
                    <a:pt x="230" y="133"/>
                    <a:pt x="208" y="163"/>
                    <a:pt x="190" y="202"/>
                  </a:cubicBezTo>
                  <a:cubicBezTo>
                    <a:pt x="181" y="219"/>
                    <a:pt x="181" y="219"/>
                    <a:pt x="181" y="219"/>
                  </a:cubicBezTo>
                  <a:cubicBezTo>
                    <a:pt x="164" y="209"/>
                    <a:pt x="164" y="209"/>
                    <a:pt x="164" y="209"/>
                  </a:cubicBezTo>
                  <a:cubicBezTo>
                    <a:pt x="148" y="201"/>
                    <a:pt x="125" y="194"/>
                    <a:pt x="108" y="200"/>
                  </a:cubicBezTo>
                  <a:cubicBezTo>
                    <a:pt x="90" y="210"/>
                    <a:pt x="73" y="237"/>
                    <a:pt x="63" y="263"/>
                  </a:cubicBezTo>
                  <a:cubicBezTo>
                    <a:pt x="87" y="254"/>
                    <a:pt x="115" y="253"/>
                    <a:pt x="142" y="260"/>
                  </a:cubicBezTo>
                  <a:cubicBezTo>
                    <a:pt x="162" y="264"/>
                    <a:pt x="162" y="264"/>
                    <a:pt x="162" y="264"/>
                  </a:cubicBezTo>
                  <a:cubicBezTo>
                    <a:pt x="155" y="283"/>
                    <a:pt x="155" y="283"/>
                    <a:pt x="155" y="283"/>
                  </a:cubicBezTo>
                  <a:cubicBezTo>
                    <a:pt x="154" y="287"/>
                    <a:pt x="153" y="291"/>
                    <a:pt x="151" y="295"/>
                  </a:cubicBezTo>
                  <a:cubicBezTo>
                    <a:pt x="160" y="304"/>
                    <a:pt x="170" y="313"/>
                    <a:pt x="179" y="323"/>
                  </a:cubicBezTo>
                  <a:cubicBezTo>
                    <a:pt x="183" y="321"/>
                    <a:pt x="187" y="320"/>
                    <a:pt x="189" y="317"/>
                  </a:cubicBezTo>
                  <a:cubicBezTo>
                    <a:pt x="209" y="311"/>
                    <a:pt x="209" y="311"/>
                    <a:pt x="209" y="311"/>
                  </a:cubicBezTo>
                  <a:cubicBezTo>
                    <a:pt x="214" y="332"/>
                    <a:pt x="214" y="332"/>
                    <a:pt x="214" y="332"/>
                  </a:cubicBezTo>
                  <a:cubicBezTo>
                    <a:pt x="221" y="359"/>
                    <a:pt x="218" y="385"/>
                    <a:pt x="209" y="410"/>
                  </a:cubicBezTo>
                  <a:cubicBezTo>
                    <a:pt x="235" y="400"/>
                    <a:pt x="264" y="384"/>
                    <a:pt x="273" y="365"/>
                  </a:cubicBezTo>
                  <a:cubicBezTo>
                    <a:pt x="280" y="349"/>
                    <a:pt x="272" y="326"/>
                    <a:pt x="263" y="309"/>
                  </a:cubicBezTo>
                  <a:cubicBezTo>
                    <a:pt x="254" y="292"/>
                    <a:pt x="254" y="292"/>
                    <a:pt x="254" y="292"/>
                  </a:cubicBezTo>
                  <a:cubicBezTo>
                    <a:pt x="271" y="283"/>
                    <a:pt x="271" y="283"/>
                    <a:pt x="271" y="283"/>
                  </a:cubicBezTo>
                  <a:cubicBezTo>
                    <a:pt x="310" y="265"/>
                    <a:pt x="341" y="244"/>
                    <a:pt x="362" y="223"/>
                  </a:cubicBezTo>
                  <a:cubicBezTo>
                    <a:pt x="377" y="208"/>
                    <a:pt x="391" y="188"/>
                    <a:pt x="402" y="168"/>
                  </a:cubicBezTo>
                  <a:cubicBezTo>
                    <a:pt x="427" y="111"/>
                    <a:pt x="431" y="60"/>
                    <a:pt x="428" y="44"/>
                  </a:cubicBezTo>
                  <a:cubicBezTo>
                    <a:pt x="413" y="42"/>
                    <a:pt x="362" y="45"/>
                    <a:pt x="305" y="71"/>
                  </a:cubicBezTo>
                </a:path>
                <a:path w="473" h="473">
                  <a:moveTo>
                    <a:pt x="255" y="217"/>
                  </a:moveTo>
                  <a:cubicBezTo>
                    <a:pt x="231" y="194"/>
                    <a:pt x="231" y="157"/>
                    <a:pt x="254" y="134"/>
                  </a:cubicBezTo>
                  <a:cubicBezTo>
                    <a:pt x="278" y="111"/>
                    <a:pt x="314" y="111"/>
                    <a:pt x="337" y="135"/>
                  </a:cubicBezTo>
                  <a:cubicBezTo>
                    <a:pt x="361" y="158"/>
                    <a:pt x="361" y="194"/>
                    <a:pt x="338" y="218"/>
                  </a:cubicBezTo>
                  <a:cubicBezTo>
                    <a:pt x="315" y="241"/>
                    <a:pt x="278" y="241"/>
                    <a:pt x="255" y="217"/>
                  </a:cubicBezTo>
                  <a:moveTo>
                    <a:pt x="322" y="150"/>
                  </a:moveTo>
                  <a:cubicBezTo>
                    <a:pt x="308" y="136"/>
                    <a:pt x="284" y="135"/>
                    <a:pt x="270" y="150"/>
                  </a:cubicBezTo>
                  <a:cubicBezTo>
                    <a:pt x="256" y="164"/>
                    <a:pt x="256" y="187"/>
                    <a:pt x="270" y="202"/>
                  </a:cubicBezTo>
                  <a:cubicBezTo>
                    <a:pt x="285" y="216"/>
                    <a:pt x="308" y="216"/>
                    <a:pt x="322" y="202"/>
                  </a:cubicBezTo>
                  <a:cubicBezTo>
                    <a:pt x="337" y="188"/>
                    <a:pt x="336" y="164"/>
                    <a:pt x="322" y="150"/>
                  </a:cubicBezTo>
                </a:path>
                <a:path w="473" h="473">
                  <a:moveTo>
                    <a:pt x="37" y="436"/>
                  </a:moveTo>
                  <a:cubicBezTo>
                    <a:pt x="43" y="417"/>
                    <a:pt x="43" y="417"/>
                    <a:pt x="43" y="417"/>
                  </a:cubicBezTo>
                  <a:cubicBezTo>
                    <a:pt x="48" y="401"/>
                    <a:pt x="72" y="325"/>
                    <a:pt x="88" y="309"/>
                  </a:cubicBezTo>
                  <a:cubicBezTo>
                    <a:pt x="106" y="291"/>
                    <a:pt x="138" y="293"/>
                    <a:pt x="159" y="314"/>
                  </a:cubicBezTo>
                  <a:cubicBezTo>
                    <a:pt x="180" y="334"/>
                    <a:pt x="183" y="368"/>
                    <a:pt x="165" y="386"/>
                  </a:cubicBezTo>
                  <a:cubicBezTo>
                    <a:pt x="149" y="402"/>
                    <a:pt x="73" y="426"/>
                    <a:pt x="56" y="430"/>
                  </a:cubicBezTo>
                  <a:lnTo>
                    <a:pt x="37" y="436"/>
                  </a:lnTo>
                  <a:close/>
                  <a:moveTo>
                    <a:pt x="144" y="329"/>
                  </a:moveTo>
                  <a:cubicBezTo>
                    <a:pt x="131" y="316"/>
                    <a:pt x="114" y="315"/>
                    <a:pt x="104" y="325"/>
                  </a:cubicBezTo>
                  <a:cubicBezTo>
                    <a:pt x="97" y="331"/>
                    <a:pt x="83" y="366"/>
                    <a:pt x="70" y="403"/>
                  </a:cubicBezTo>
                  <a:cubicBezTo>
                    <a:pt x="107" y="390"/>
                    <a:pt x="143" y="377"/>
                    <a:pt x="149" y="371"/>
                  </a:cubicBezTo>
                  <a:cubicBezTo>
                    <a:pt x="160" y="360"/>
                    <a:pt x="157" y="342"/>
                    <a:pt x="144" y="329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776" name="picture 17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51546" y="3303523"/>
            <a:ext cx="324357" cy="756678"/>
          </a:xfrm>
          <a:prstGeom prst="rect">
            <a:avLst/>
          </a:prstGeom>
        </p:spPr>
      </p:pic>
      <p:pic>
        <p:nvPicPr>
          <p:cNvPr id="1778" name="picture 17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77379" y="3236848"/>
            <a:ext cx="245617" cy="766737"/>
          </a:xfrm>
          <a:prstGeom prst="rect">
            <a:avLst/>
          </a:prstGeom>
        </p:spPr>
      </p:pic>
      <p:sp>
        <p:nvSpPr>
          <p:cNvPr id="1779" name="path"/>
          <p:cNvSpPr/>
          <p:nvPr/>
        </p:nvSpPr>
        <p:spPr>
          <a:xfrm>
            <a:off x="7684007" y="2163952"/>
            <a:ext cx="299719" cy="551560"/>
          </a:xfrm>
          <a:custGeom>
            <a:avLst/>
            <a:gdLst/>
            <a:ahLst/>
            <a:cxnLst/>
            <a:rect l="0" t="0" r="0" b="0"/>
            <a:pathLst>
              <a:path w="471" h="868">
                <a:moveTo>
                  <a:pt x="23" y="721"/>
                </a:moveTo>
                <a:cubicBezTo>
                  <a:pt x="21" y="721"/>
                  <a:pt x="21" y="721"/>
                  <a:pt x="21" y="721"/>
                </a:cubicBezTo>
                <a:cubicBezTo>
                  <a:pt x="15" y="721"/>
                  <a:pt x="9" y="715"/>
                  <a:pt x="11" y="707"/>
                </a:cubicBezTo>
                <a:cubicBezTo>
                  <a:pt x="31" y="555"/>
                  <a:pt x="1" y="248"/>
                  <a:pt x="1" y="246"/>
                </a:cubicBezTo>
                <a:cubicBezTo>
                  <a:pt x="0" y="238"/>
                  <a:pt x="5" y="232"/>
                  <a:pt x="11" y="232"/>
                </a:cubicBezTo>
                <a:cubicBezTo>
                  <a:pt x="17" y="232"/>
                  <a:pt x="23" y="236"/>
                  <a:pt x="25" y="242"/>
                </a:cubicBezTo>
                <a:cubicBezTo>
                  <a:pt x="25" y="256"/>
                  <a:pt x="54" y="555"/>
                  <a:pt x="34" y="711"/>
                </a:cubicBezTo>
                <a:cubicBezTo>
                  <a:pt x="33" y="717"/>
                  <a:pt x="29" y="721"/>
                  <a:pt x="23" y="721"/>
                </a:cubicBezTo>
              </a:path>
              <a:path w="471" h="868">
                <a:moveTo>
                  <a:pt x="462" y="864"/>
                </a:moveTo>
                <a:cubicBezTo>
                  <a:pt x="458" y="866"/>
                  <a:pt x="448" y="868"/>
                  <a:pt x="431" y="862"/>
                </a:cubicBezTo>
                <a:cubicBezTo>
                  <a:pt x="390" y="846"/>
                  <a:pt x="344" y="778"/>
                  <a:pt x="293" y="668"/>
                </a:cubicBezTo>
                <a:cubicBezTo>
                  <a:pt x="266" y="605"/>
                  <a:pt x="231" y="537"/>
                  <a:pt x="194" y="465"/>
                </a:cubicBezTo>
                <a:cubicBezTo>
                  <a:pt x="72" y="220"/>
                  <a:pt x="0" y="68"/>
                  <a:pt x="45" y="22"/>
                </a:cubicBezTo>
                <a:cubicBezTo>
                  <a:pt x="60" y="6"/>
                  <a:pt x="76" y="0"/>
                  <a:pt x="91" y="2"/>
                </a:cubicBezTo>
                <a:cubicBezTo>
                  <a:pt x="120" y="10"/>
                  <a:pt x="138" y="46"/>
                  <a:pt x="140" y="50"/>
                </a:cubicBezTo>
                <a:cubicBezTo>
                  <a:pt x="142" y="56"/>
                  <a:pt x="140" y="64"/>
                  <a:pt x="134" y="68"/>
                </a:cubicBezTo>
                <a:cubicBezTo>
                  <a:pt x="128" y="70"/>
                  <a:pt x="122" y="68"/>
                  <a:pt x="118" y="60"/>
                </a:cubicBezTo>
                <a:cubicBezTo>
                  <a:pt x="115" y="52"/>
                  <a:pt x="103" y="32"/>
                  <a:pt x="89" y="30"/>
                </a:cubicBezTo>
                <a:cubicBezTo>
                  <a:pt x="81" y="28"/>
                  <a:pt x="72" y="32"/>
                  <a:pt x="64" y="42"/>
                </a:cubicBezTo>
                <a:cubicBezTo>
                  <a:pt x="62" y="42"/>
                  <a:pt x="62" y="42"/>
                  <a:pt x="62" y="44"/>
                </a:cubicBezTo>
                <a:cubicBezTo>
                  <a:pt x="25" y="78"/>
                  <a:pt x="130" y="286"/>
                  <a:pt x="215" y="453"/>
                </a:cubicBezTo>
                <a:cubicBezTo>
                  <a:pt x="252" y="527"/>
                  <a:pt x="287" y="595"/>
                  <a:pt x="314" y="658"/>
                </a:cubicBezTo>
                <a:cubicBezTo>
                  <a:pt x="377" y="796"/>
                  <a:pt x="417" y="828"/>
                  <a:pt x="437" y="836"/>
                </a:cubicBezTo>
                <a:cubicBezTo>
                  <a:pt x="446" y="840"/>
                  <a:pt x="450" y="838"/>
                  <a:pt x="450" y="838"/>
                </a:cubicBezTo>
                <a:cubicBezTo>
                  <a:pt x="450" y="838"/>
                  <a:pt x="450" y="838"/>
                  <a:pt x="450" y="838"/>
                </a:cubicBezTo>
                <a:cubicBezTo>
                  <a:pt x="456" y="836"/>
                  <a:pt x="464" y="838"/>
                  <a:pt x="468" y="844"/>
                </a:cubicBezTo>
                <a:cubicBezTo>
                  <a:pt x="471" y="852"/>
                  <a:pt x="470" y="860"/>
                  <a:pt x="464" y="862"/>
                </a:cubicBezTo>
                <a:cubicBezTo>
                  <a:pt x="464" y="862"/>
                  <a:pt x="464" y="862"/>
                  <a:pt x="462" y="864"/>
                </a:cubicBezTo>
              </a:path>
              <a:path w="471" h="868">
                <a:moveTo>
                  <a:pt x="460" y="696"/>
                </a:moveTo>
                <a:cubicBezTo>
                  <a:pt x="458" y="696"/>
                  <a:pt x="458" y="696"/>
                  <a:pt x="458" y="696"/>
                </a:cubicBezTo>
                <a:cubicBezTo>
                  <a:pt x="452" y="698"/>
                  <a:pt x="444" y="694"/>
                  <a:pt x="442" y="686"/>
                </a:cubicBezTo>
                <a:cubicBezTo>
                  <a:pt x="382" y="511"/>
                  <a:pt x="206" y="192"/>
                  <a:pt x="204" y="190"/>
                </a:cubicBezTo>
                <a:cubicBezTo>
                  <a:pt x="200" y="181"/>
                  <a:pt x="200" y="173"/>
                  <a:pt x="206" y="169"/>
                </a:cubicBezTo>
                <a:cubicBezTo>
                  <a:pt x="212" y="167"/>
                  <a:pt x="220" y="169"/>
                  <a:pt x="224" y="175"/>
                </a:cubicBezTo>
                <a:cubicBezTo>
                  <a:pt x="231" y="190"/>
                  <a:pt x="404" y="501"/>
                  <a:pt x="464" y="678"/>
                </a:cubicBezTo>
                <a:cubicBezTo>
                  <a:pt x="468" y="686"/>
                  <a:pt x="464" y="692"/>
                  <a:pt x="460" y="696"/>
                </a:cubicBezTo>
              </a:path>
            </a:pathLst>
          </a:custGeom>
          <a:solidFill>
            <a:srgbClr val="D1EB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0" name="textbox 1780"/>
          <p:cNvSpPr/>
          <p:nvPr/>
        </p:nvSpPr>
        <p:spPr>
          <a:xfrm>
            <a:off x="6217513" y="1842592"/>
            <a:ext cx="843280" cy="2273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73000"/>
              </a:lnSpc>
            </a:pPr>
            <a:r>
              <a:rPr sz="1800" b="1" spc="-10" dirty="0">
                <a:solidFill>
                  <a:srgbClr val="004E97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SUCCESS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92036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rect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solidFill>
            <a:srgbClr val="015FC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3" name="textbox 1643"/>
          <p:cNvSpPr/>
          <p:nvPr/>
        </p:nvSpPr>
        <p:spPr>
          <a:xfrm>
            <a:off x="897045" y="1450711"/>
            <a:ext cx="7608569" cy="19329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zh-CN" altLang="en-US" sz="100" dirty="0"/>
          </a:p>
          <a:p>
            <a:pPr marL="12700" algn="l" rtl="0" eaLnBrk="0">
              <a:lnSpc>
                <a:spcPct val="67000"/>
              </a:lnSpc>
            </a:pPr>
            <a:r>
              <a:rPr lang="en-US" altLang="zh-CN" sz="8000" spc="100" dirty="0">
                <a:ln w="222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zh-CN" altLang="en-US" sz="8000" dirty="0"/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3600" spc="-20" dirty="0" err="1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</a:p>
          <a:p>
            <a:pPr marL="1202690" indent="12700" algn="l" rtl="0" eaLnBrk="0">
              <a:lnSpc>
                <a:spcPct val="99000"/>
              </a:lnSpc>
              <a:spcBef>
                <a:spcPts val="10"/>
              </a:spcBef>
            </a:pPr>
            <a:r>
              <a:rPr lang="zh-CN" altLang="en-US" sz="3600" spc="-20" dirty="0">
                <a:ln w="952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未来是大模型的天下？</a:t>
            </a:r>
            <a:endParaRPr lang="zh-CN" altLang="en-US" sz="3600" dirty="0"/>
          </a:p>
        </p:txBody>
      </p:sp>
      <p:sp>
        <p:nvSpPr>
          <p:cNvPr id="1644" name="path"/>
          <p:cNvSpPr/>
          <p:nvPr/>
        </p:nvSpPr>
        <p:spPr>
          <a:xfrm>
            <a:off x="1293043" y="1589984"/>
            <a:ext cx="1290333" cy="1396729"/>
          </a:xfrm>
          <a:custGeom>
            <a:avLst/>
            <a:gdLst/>
            <a:ahLst/>
            <a:cxnLst/>
            <a:rect l="0" t="0" r="0" b="0"/>
            <a:pathLst>
              <a:path w="2032" h="2199">
                <a:moveTo>
                  <a:pt x="5" y="2194"/>
                </a:moveTo>
                <a:lnTo>
                  <a:pt x="2026" y="5"/>
                </a:lnTo>
              </a:path>
            </a:pathLst>
          </a:custGeom>
          <a:noFill/>
          <a:ln w="9525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9" name="rect"/>
          <p:cNvSpPr/>
          <p:nvPr/>
        </p:nvSpPr>
        <p:spPr>
          <a:xfrm>
            <a:off x="1686877" y="4700778"/>
            <a:ext cx="9525" cy="179997"/>
          </a:xfrm>
          <a:prstGeom prst="rect">
            <a:avLst/>
          </a:prstGeom>
          <a:solidFill>
            <a:srgbClr val="004C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75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picture 7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745" name="textbox 745"/>
          <p:cNvSpPr/>
          <p:nvPr/>
        </p:nvSpPr>
        <p:spPr>
          <a:xfrm>
            <a:off x="836224" y="124277"/>
            <a:ext cx="7978140" cy="636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10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b="1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r>
              <a:rPr sz="2000" spc="1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利用人工智能产生内容，提升生产力曲线</a:t>
            </a:r>
            <a:endParaRPr lang="en-US" altLang="en-US" sz="2000" dirty="0"/>
          </a:p>
        </p:txBody>
      </p:sp>
      <p:sp>
        <p:nvSpPr>
          <p:cNvPr id="746" name="textbox 746"/>
          <p:cNvSpPr/>
          <p:nvPr/>
        </p:nvSpPr>
        <p:spPr>
          <a:xfrm>
            <a:off x="342391" y="950798"/>
            <a:ext cx="8423909" cy="4965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  <a:tabLst>
                <a:tab pos="1003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Artificial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Intelligence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Generated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，即可以利用人工智能技术自动产生内容</a:t>
            </a:r>
            <a:r>
              <a:rPr sz="12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，常见如代码生成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文本问</a:t>
            </a:r>
            <a:endParaRPr lang="en-US" altLang="en-US" sz="1200" dirty="0"/>
          </a:p>
          <a:p>
            <a:pPr marL="173990" algn="l" rtl="0" eaLnBrk="0">
              <a:lnSpc>
                <a:spcPts val="2425"/>
              </a:lnSpc>
              <a:spcBef>
                <a:spcPts val="15"/>
              </a:spcBef>
            </a:pPr>
            <a:r>
              <a:rPr sz="1800" spc="30" baseline="7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答等</a:t>
            </a:r>
            <a:r>
              <a:rPr sz="1100" spc="3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</a:t>
            </a:r>
            <a:r>
              <a:rPr sz="11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图41 ：AIGC应用功能简单如下图所示</a:t>
            </a:r>
            <a:endParaRPr lang="en-US" altLang="en-US" sz="900" dirty="0"/>
          </a:p>
        </p:txBody>
      </p:sp>
      <p:pic>
        <p:nvPicPr>
          <p:cNvPr id="747" name="picture 7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5091" y="986663"/>
            <a:ext cx="88239" cy="100584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285708" y="4343800"/>
            <a:ext cx="3449954" cy="7702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715010" algn="l" rtl="0" eaLnBrk="0">
              <a:lnSpc>
                <a:spcPct val="88000"/>
              </a:lnSpc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Synthesia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可将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输入文本合成不</a:t>
            </a:r>
            <a:endParaRPr lang="en-US" altLang="en-US" sz="800" dirty="0"/>
          </a:p>
          <a:p>
            <a:pPr marL="999490" algn="l" rtl="0" eaLnBrk="0">
              <a:lnSpc>
                <a:spcPct val="97000"/>
              </a:lnSpc>
              <a:spcBef>
                <a:spcPts val="120"/>
              </a:spcBef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同述说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风格的视频</a:t>
            </a:r>
            <a:endParaRPr lang="en-US" altLang="en-US" sz="800" dirty="0"/>
          </a:p>
          <a:p>
            <a:pPr algn="l" rtl="0" eaLnBrk="0">
              <a:lnSpc>
                <a:spcPct val="120000"/>
              </a:lnSpc>
            </a:pPr>
            <a:endParaRPr lang="en-US" altLang="en-US" sz="1000" dirty="0"/>
          </a:p>
          <a:p>
            <a:pPr algn="l" rtl="0" eaLnBrk="0">
              <a:lnSpc>
                <a:spcPct val="120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200" dirty="0"/>
          </a:p>
          <a:p>
            <a:pPr marL="12700" algn="l" rtl="0" eaLnBrk="0">
              <a:lnSpc>
                <a:spcPct val="88000"/>
              </a:lnSpc>
              <a:spcBef>
                <a:spcPts val="0"/>
              </a:spcBef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OpenAI官网，Copilot官网， Synthesia官网，国泰君安证券研究</a:t>
            </a:r>
            <a:endParaRPr lang="en-US" altLang="en-US" sz="800" dirty="0"/>
          </a:p>
        </p:txBody>
      </p:sp>
      <p:grpSp>
        <p:nvGrpSpPr>
          <p:cNvPr id="86" name="group 86"/>
          <p:cNvGrpSpPr/>
          <p:nvPr/>
        </p:nvGrpSpPr>
        <p:grpSpPr>
          <a:xfrm rot="21600000">
            <a:off x="3956303" y="1574291"/>
            <a:ext cx="1053084" cy="1054608"/>
            <a:chOff x="0" y="0"/>
            <a:chExt cx="1053084" cy="1054608"/>
          </a:xfrm>
        </p:grpSpPr>
        <p:pic>
          <p:nvPicPr>
            <p:cNvPr id="749" name="picture 7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53084" cy="1054608"/>
            </a:xfrm>
            <a:prstGeom prst="rect">
              <a:avLst/>
            </a:prstGeom>
          </p:spPr>
        </p:pic>
        <p:sp>
          <p:nvSpPr>
            <p:cNvPr id="750" name="textbox 750"/>
            <p:cNvSpPr/>
            <p:nvPr/>
          </p:nvSpPr>
          <p:spPr>
            <a:xfrm>
              <a:off x="-12700" y="-12700"/>
              <a:ext cx="1078864" cy="1092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0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8000"/>
                </a:lnSpc>
              </a:pPr>
              <a:endParaRPr lang="en-US" altLang="en-US" sz="100" dirty="0"/>
            </a:p>
            <a:p>
              <a:pPr marL="336550" algn="l" rtl="0" eaLnBrk="0">
                <a:lnSpc>
                  <a:spcPts val="1155"/>
                </a:lnSpc>
              </a:pPr>
              <a:r>
                <a:rPr sz="90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代码生</a:t>
              </a:r>
              <a:r>
                <a:rPr sz="90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</a:t>
              </a:r>
              <a:endParaRPr lang="en-US" altLang="en-US" sz="900" dirty="0"/>
            </a:p>
          </p:txBody>
        </p:sp>
      </p:grpSp>
      <p:pic>
        <p:nvPicPr>
          <p:cNvPr id="751" name="picture 7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15840" y="1799209"/>
            <a:ext cx="424179" cy="1730882"/>
          </a:xfrm>
          <a:prstGeom prst="rect">
            <a:avLst/>
          </a:prstGeom>
        </p:spPr>
      </p:pic>
      <p:pic>
        <p:nvPicPr>
          <p:cNvPr id="752" name="picture 7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97197" y="2305811"/>
            <a:ext cx="1745107" cy="1462786"/>
          </a:xfrm>
          <a:prstGeom prst="rect">
            <a:avLst/>
          </a:prstGeom>
        </p:spPr>
      </p:pic>
      <p:pic>
        <p:nvPicPr>
          <p:cNvPr id="753" name="picture 75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66644" y="2503932"/>
            <a:ext cx="1053084" cy="1053083"/>
          </a:xfrm>
          <a:prstGeom prst="rect">
            <a:avLst/>
          </a:prstGeom>
        </p:spPr>
      </p:pic>
      <p:pic>
        <p:nvPicPr>
          <p:cNvPr id="754" name="picture 7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955416" y="2521077"/>
            <a:ext cx="946912" cy="946785"/>
          </a:xfrm>
          <a:prstGeom prst="rect">
            <a:avLst/>
          </a:prstGeom>
        </p:spPr>
      </p:pic>
      <p:sp>
        <p:nvSpPr>
          <p:cNvPr id="755" name="path"/>
          <p:cNvSpPr/>
          <p:nvPr/>
        </p:nvSpPr>
        <p:spPr>
          <a:xfrm>
            <a:off x="3267583" y="2464943"/>
            <a:ext cx="1692528" cy="556386"/>
          </a:xfrm>
          <a:custGeom>
            <a:avLst/>
            <a:gdLst/>
            <a:ahLst/>
            <a:cxnLst/>
            <a:rect l="0" t="0" r="0" b="0"/>
            <a:pathLst>
              <a:path w="2665" h="876">
                <a:moveTo>
                  <a:pt x="1323" y="23"/>
                </a:moveTo>
                <a:cubicBezTo>
                  <a:pt x="1218" y="7"/>
                  <a:pt x="1115" y="0"/>
                  <a:pt x="1016" y="0"/>
                </a:cubicBezTo>
                <a:cubicBezTo>
                  <a:pt x="993" y="0"/>
                  <a:pt x="967" y="1"/>
                  <a:pt x="943" y="1"/>
                </a:cubicBezTo>
                <a:cubicBezTo>
                  <a:pt x="932" y="2"/>
                  <a:pt x="920" y="0"/>
                  <a:pt x="909" y="1"/>
                </a:cubicBezTo>
                <a:cubicBezTo>
                  <a:pt x="894" y="2"/>
                  <a:pt x="882" y="3"/>
                  <a:pt x="870" y="4"/>
                </a:cubicBezTo>
                <a:cubicBezTo>
                  <a:pt x="847" y="6"/>
                  <a:pt x="823" y="9"/>
                  <a:pt x="800" y="11"/>
                </a:cubicBezTo>
                <a:cubicBezTo>
                  <a:pt x="791" y="12"/>
                  <a:pt x="779" y="13"/>
                  <a:pt x="768" y="12"/>
                </a:cubicBezTo>
                <a:cubicBezTo>
                  <a:pt x="755" y="16"/>
                  <a:pt x="744" y="17"/>
                  <a:pt x="732" y="18"/>
                </a:cubicBezTo>
                <a:cubicBezTo>
                  <a:pt x="711" y="21"/>
                  <a:pt x="688" y="23"/>
                  <a:pt x="667" y="26"/>
                </a:cubicBezTo>
                <a:cubicBezTo>
                  <a:pt x="646" y="31"/>
                  <a:pt x="625" y="34"/>
                  <a:pt x="605" y="36"/>
                </a:cubicBezTo>
                <a:cubicBezTo>
                  <a:pt x="563" y="45"/>
                  <a:pt x="523" y="56"/>
                  <a:pt x="484" y="65"/>
                </a:cubicBezTo>
                <a:cubicBezTo>
                  <a:pt x="466" y="68"/>
                  <a:pt x="448" y="74"/>
                  <a:pt x="430" y="80"/>
                </a:cubicBezTo>
                <a:cubicBezTo>
                  <a:pt x="412" y="83"/>
                  <a:pt x="393" y="89"/>
                  <a:pt x="375" y="95"/>
                </a:cubicBezTo>
                <a:cubicBezTo>
                  <a:pt x="342" y="104"/>
                  <a:pt x="311" y="114"/>
                  <a:pt x="280" y="127"/>
                </a:cubicBezTo>
                <a:cubicBezTo>
                  <a:pt x="250" y="136"/>
                  <a:pt x="222" y="147"/>
                  <a:pt x="197" y="158"/>
                </a:cubicBezTo>
                <a:cubicBezTo>
                  <a:pt x="185" y="164"/>
                  <a:pt x="173" y="168"/>
                  <a:pt x="160" y="175"/>
                </a:cubicBezTo>
                <a:cubicBezTo>
                  <a:pt x="151" y="180"/>
                  <a:pt x="138" y="186"/>
                  <a:pt x="129" y="191"/>
                </a:cubicBezTo>
                <a:cubicBezTo>
                  <a:pt x="107" y="199"/>
                  <a:pt x="88" y="208"/>
                  <a:pt x="72" y="217"/>
                </a:cubicBezTo>
                <a:cubicBezTo>
                  <a:pt x="57" y="226"/>
                  <a:pt x="44" y="233"/>
                  <a:pt x="34" y="240"/>
                </a:cubicBezTo>
                <a:cubicBezTo>
                  <a:pt x="12" y="251"/>
                  <a:pt x="0" y="258"/>
                  <a:pt x="0" y="258"/>
                </a:cubicBezTo>
                <a:cubicBezTo>
                  <a:pt x="0" y="258"/>
                  <a:pt x="2" y="259"/>
                  <a:pt x="2" y="259"/>
                </a:cubicBezTo>
                <a:cubicBezTo>
                  <a:pt x="135" y="189"/>
                  <a:pt x="293" y="160"/>
                  <a:pt x="455" y="185"/>
                </a:cubicBezTo>
                <a:cubicBezTo>
                  <a:pt x="491" y="190"/>
                  <a:pt x="528" y="199"/>
                  <a:pt x="564" y="210"/>
                </a:cubicBezTo>
                <a:cubicBezTo>
                  <a:pt x="1239" y="199"/>
                  <a:pt x="1759" y="362"/>
                  <a:pt x="2121" y="576"/>
                </a:cubicBezTo>
                <a:cubicBezTo>
                  <a:pt x="2156" y="575"/>
                  <a:pt x="2191" y="578"/>
                  <a:pt x="2227" y="583"/>
                </a:cubicBezTo>
                <a:cubicBezTo>
                  <a:pt x="2417" y="612"/>
                  <a:pt x="2572" y="722"/>
                  <a:pt x="2665" y="876"/>
                </a:cubicBezTo>
                <a:cubicBezTo>
                  <a:pt x="2645" y="838"/>
                  <a:pt x="2624" y="800"/>
                  <a:pt x="2601" y="762"/>
                </a:cubicBezTo>
                <a:cubicBezTo>
                  <a:pt x="2554" y="691"/>
                  <a:pt x="2497" y="621"/>
                  <a:pt x="2432" y="553"/>
                </a:cubicBezTo>
                <a:cubicBezTo>
                  <a:pt x="2367" y="486"/>
                  <a:pt x="2290" y="422"/>
                  <a:pt x="2206" y="363"/>
                </a:cubicBezTo>
                <a:cubicBezTo>
                  <a:pt x="2122" y="303"/>
                  <a:pt x="2031" y="249"/>
                  <a:pt x="1934" y="205"/>
                </a:cubicBezTo>
                <a:cubicBezTo>
                  <a:pt x="1839" y="159"/>
                  <a:pt x="1738" y="121"/>
                  <a:pt x="1635" y="91"/>
                </a:cubicBezTo>
                <a:cubicBezTo>
                  <a:pt x="1582" y="74"/>
                  <a:pt x="1529" y="63"/>
                  <a:pt x="1479" y="50"/>
                </a:cubicBezTo>
                <a:cubicBezTo>
                  <a:pt x="1453" y="43"/>
                  <a:pt x="1425" y="39"/>
                  <a:pt x="1400" y="35"/>
                </a:cubicBezTo>
                <a:cubicBezTo>
                  <a:pt x="1374" y="31"/>
                  <a:pt x="1349" y="24"/>
                  <a:pt x="1323" y="23"/>
                </a:cubicBezTo>
              </a:path>
              <a:path w="2665" h="876">
                <a:moveTo>
                  <a:pt x="563" y="211"/>
                </a:moveTo>
                <a:cubicBezTo>
                  <a:pt x="704" y="255"/>
                  <a:pt x="822" y="336"/>
                  <a:pt x="913" y="446"/>
                </a:cubicBezTo>
                <a:cubicBezTo>
                  <a:pt x="933" y="449"/>
                  <a:pt x="950" y="451"/>
                  <a:pt x="970" y="457"/>
                </a:cubicBezTo>
                <a:cubicBezTo>
                  <a:pt x="981" y="459"/>
                  <a:pt x="992" y="460"/>
                  <a:pt x="1004" y="462"/>
                </a:cubicBezTo>
                <a:cubicBezTo>
                  <a:pt x="1012" y="466"/>
                  <a:pt x="1023" y="468"/>
                  <a:pt x="1034" y="470"/>
                </a:cubicBezTo>
                <a:cubicBezTo>
                  <a:pt x="1057" y="476"/>
                  <a:pt x="1077" y="479"/>
                  <a:pt x="1099" y="485"/>
                </a:cubicBezTo>
                <a:cubicBezTo>
                  <a:pt x="1121" y="489"/>
                  <a:pt x="1141" y="494"/>
                  <a:pt x="1163" y="501"/>
                </a:cubicBezTo>
                <a:cubicBezTo>
                  <a:pt x="1186" y="504"/>
                  <a:pt x="1205" y="510"/>
                  <a:pt x="1228" y="513"/>
                </a:cubicBezTo>
                <a:cubicBezTo>
                  <a:pt x="1272" y="526"/>
                  <a:pt x="1314" y="538"/>
                  <a:pt x="1359" y="548"/>
                </a:cubicBezTo>
                <a:cubicBezTo>
                  <a:pt x="1401" y="560"/>
                  <a:pt x="1446" y="570"/>
                  <a:pt x="1487" y="584"/>
                </a:cubicBezTo>
                <a:cubicBezTo>
                  <a:pt x="1573" y="609"/>
                  <a:pt x="1656" y="636"/>
                  <a:pt x="1739" y="666"/>
                </a:cubicBezTo>
                <a:cubicBezTo>
                  <a:pt x="1755" y="671"/>
                  <a:pt x="1772" y="677"/>
                  <a:pt x="1789" y="682"/>
                </a:cubicBezTo>
                <a:cubicBezTo>
                  <a:pt x="1885" y="619"/>
                  <a:pt x="1998" y="581"/>
                  <a:pt x="2121" y="576"/>
                </a:cubicBezTo>
                <a:cubicBezTo>
                  <a:pt x="1759" y="362"/>
                  <a:pt x="1238" y="200"/>
                  <a:pt x="563" y="211"/>
                </a:cubicBezTo>
              </a:path>
            </a:pathLst>
          </a:custGeom>
          <a:solidFill>
            <a:srgbClr val="9BDBF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6" name="textbox 756"/>
          <p:cNvSpPr/>
          <p:nvPr/>
        </p:nvSpPr>
        <p:spPr>
          <a:xfrm>
            <a:off x="2942716" y="2508377"/>
            <a:ext cx="972819" cy="9836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1000" dirty="0"/>
          </a:p>
          <a:p>
            <a:pPr algn="l" rtl="0" eaLnBrk="0">
              <a:lnSpc>
                <a:spcPct val="9000"/>
              </a:lnSpc>
            </a:pPr>
            <a:endParaRPr lang="en-US" altLang="en-US" sz="100" dirty="0"/>
          </a:p>
          <a:p>
            <a:pPr marL="242570" algn="l" rtl="0" eaLnBrk="0">
              <a:lnSpc>
                <a:spcPts val="115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</a:t>
            </a:r>
            <a:r>
              <a:rPr sz="9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900" dirty="0"/>
          </a:p>
        </p:txBody>
      </p:sp>
      <p:pic>
        <p:nvPicPr>
          <p:cNvPr id="757" name="picture 7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863083" y="3703320"/>
            <a:ext cx="1053083" cy="1053083"/>
          </a:xfrm>
          <a:prstGeom prst="rect">
            <a:avLst/>
          </a:prstGeom>
        </p:spPr>
      </p:pic>
      <p:pic>
        <p:nvPicPr>
          <p:cNvPr id="758" name="picture 7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90238" y="3272535"/>
            <a:ext cx="1708276" cy="1395374"/>
          </a:xfrm>
          <a:prstGeom prst="rect">
            <a:avLst/>
          </a:prstGeom>
        </p:spPr>
      </p:pic>
      <p:grpSp>
        <p:nvGrpSpPr>
          <p:cNvPr id="88" name="group 88"/>
          <p:cNvGrpSpPr/>
          <p:nvPr/>
        </p:nvGrpSpPr>
        <p:grpSpPr>
          <a:xfrm rot="21600000">
            <a:off x="3279902" y="2886836"/>
            <a:ext cx="1210182" cy="2011298"/>
            <a:chOff x="0" y="0"/>
            <a:chExt cx="1210182" cy="2011298"/>
          </a:xfrm>
        </p:grpSpPr>
        <p:pic>
          <p:nvPicPr>
            <p:cNvPr id="759" name="picture 75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49097" y="0"/>
              <a:ext cx="1061084" cy="2011298"/>
            </a:xfrm>
            <a:prstGeom prst="rect">
              <a:avLst/>
            </a:prstGeom>
          </p:spPr>
        </p:pic>
        <p:sp>
          <p:nvSpPr>
            <p:cNvPr id="760" name="path"/>
            <p:cNvSpPr/>
            <p:nvPr/>
          </p:nvSpPr>
          <p:spPr>
            <a:xfrm>
              <a:off x="396112" y="269875"/>
              <a:ext cx="526415" cy="868971"/>
            </a:xfrm>
            <a:custGeom>
              <a:avLst/>
              <a:gdLst/>
              <a:ahLst/>
              <a:cxnLst/>
              <a:rect l="0" t="0" r="0" b="0"/>
              <a:pathLst>
                <a:path w="829" h="1368">
                  <a:moveTo>
                    <a:pt x="0" y="1368"/>
                  </a:moveTo>
                  <a:cubicBezTo>
                    <a:pt x="86" y="1247"/>
                    <a:pt x="200" y="1160"/>
                    <a:pt x="331" y="1107"/>
                  </a:cubicBezTo>
                  <a:cubicBezTo>
                    <a:pt x="340" y="1089"/>
                    <a:pt x="348" y="1074"/>
                    <a:pt x="360" y="1057"/>
                  </a:cubicBezTo>
                  <a:cubicBezTo>
                    <a:pt x="365" y="1047"/>
                    <a:pt x="370" y="1037"/>
                    <a:pt x="375" y="1027"/>
                  </a:cubicBezTo>
                  <a:cubicBezTo>
                    <a:pt x="381" y="1020"/>
                    <a:pt x="387" y="1010"/>
                    <a:pt x="392" y="1000"/>
                  </a:cubicBezTo>
                  <a:cubicBezTo>
                    <a:pt x="405" y="980"/>
                    <a:pt x="414" y="962"/>
                    <a:pt x="426" y="943"/>
                  </a:cubicBezTo>
                  <a:cubicBezTo>
                    <a:pt x="437" y="923"/>
                    <a:pt x="448" y="906"/>
                    <a:pt x="461" y="887"/>
                  </a:cubicBezTo>
                  <a:cubicBezTo>
                    <a:pt x="471" y="866"/>
                    <a:pt x="483" y="850"/>
                    <a:pt x="493" y="829"/>
                  </a:cubicBezTo>
                  <a:cubicBezTo>
                    <a:pt x="519" y="791"/>
                    <a:pt x="543" y="755"/>
                    <a:pt x="566" y="715"/>
                  </a:cubicBezTo>
                  <a:cubicBezTo>
                    <a:pt x="591" y="679"/>
                    <a:pt x="614" y="639"/>
                    <a:pt x="641" y="605"/>
                  </a:cubicBezTo>
                  <a:cubicBezTo>
                    <a:pt x="691" y="530"/>
                    <a:pt x="742" y="460"/>
                    <a:pt x="796" y="390"/>
                  </a:cubicBezTo>
                  <a:cubicBezTo>
                    <a:pt x="806" y="376"/>
                    <a:pt x="816" y="362"/>
                    <a:pt x="827" y="348"/>
                  </a:cubicBezTo>
                  <a:cubicBezTo>
                    <a:pt x="796" y="237"/>
                    <a:pt x="795" y="117"/>
                    <a:pt x="829" y="0"/>
                  </a:cubicBezTo>
                  <a:cubicBezTo>
                    <a:pt x="513" y="278"/>
                    <a:pt x="198" y="723"/>
                    <a:pt x="0" y="1368"/>
                  </a:cubicBezTo>
                </a:path>
              </a:pathLst>
            </a:custGeom>
            <a:solidFill>
              <a:srgbClr val="59595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761" name="picture 76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72948"/>
              <a:ext cx="368249" cy="368249"/>
            </a:xfrm>
            <a:prstGeom prst="rect">
              <a:avLst/>
            </a:prstGeom>
          </p:spPr>
        </p:pic>
        <p:sp>
          <p:nvSpPr>
            <p:cNvPr id="762" name="textbox 762"/>
            <p:cNvSpPr/>
            <p:nvPr/>
          </p:nvSpPr>
          <p:spPr>
            <a:xfrm>
              <a:off x="567425" y="1295431"/>
              <a:ext cx="279400" cy="17208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155"/>
                </a:lnSpc>
              </a:pPr>
              <a:r>
                <a:rPr sz="900" spc="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其</a:t>
              </a:r>
              <a:r>
                <a:rPr sz="90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他</a:t>
              </a:r>
              <a:endParaRPr lang="en-US" altLang="en-US" sz="900" dirty="0"/>
            </a:p>
          </p:txBody>
        </p:sp>
      </p:grpSp>
      <p:pic>
        <p:nvPicPr>
          <p:cNvPr id="763" name="picture 76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70419" y="2947352"/>
            <a:ext cx="1608200" cy="1350899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461505" y="1563242"/>
            <a:ext cx="1929129" cy="982345"/>
          </a:xfrm>
          <a:prstGeom prst="rect">
            <a:avLst/>
          </a:prstGeom>
        </p:spPr>
      </p:pic>
      <p:pic>
        <p:nvPicPr>
          <p:cNvPr id="765" name="picture 7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229829" y="1467866"/>
            <a:ext cx="1791080" cy="1034922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376923" y="3112732"/>
            <a:ext cx="1291463" cy="1203083"/>
          </a:xfrm>
          <a:prstGeom prst="rect">
            <a:avLst/>
          </a:prstGeom>
        </p:spPr>
      </p:pic>
      <p:grpSp>
        <p:nvGrpSpPr>
          <p:cNvPr id="90" name="group 90"/>
          <p:cNvGrpSpPr/>
          <p:nvPr/>
        </p:nvGrpSpPr>
        <p:grpSpPr>
          <a:xfrm rot="21600000">
            <a:off x="3957828" y="2801111"/>
            <a:ext cx="1138428" cy="1138427"/>
            <a:chOff x="0" y="0"/>
            <a:chExt cx="1138428" cy="1138427"/>
          </a:xfrm>
        </p:grpSpPr>
        <p:pic>
          <p:nvPicPr>
            <p:cNvPr id="767" name="picture 76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1138428" cy="1138427"/>
            </a:xfrm>
            <a:prstGeom prst="rect">
              <a:avLst/>
            </a:prstGeom>
          </p:spPr>
        </p:pic>
        <p:sp>
          <p:nvSpPr>
            <p:cNvPr id="768" name="textbox 768"/>
            <p:cNvSpPr/>
            <p:nvPr/>
          </p:nvSpPr>
          <p:spPr>
            <a:xfrm>
              <a:off x="-12700" y="-12700"/>
              <a:ext cx="1163955" cy="120459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32000"/>
                </a:lnSpc>
              </a:pPr>
              <a:endParaRPr lang="en-US" altLang="en-US" sz="1000" dirty="0"/>
            </a:p>
            <a:p>
              <a:pPr marL="470535" algn="l" rtl="0" eaLnBrk="0">
                <a:lnSpc>
                  <a:spcPct val="84000"/>
                </a:lnSpc>
                <a:spcBef>
                  <a:spcPts val="0"/>
                </a:spcBef>
              </a:pPr>
              <a:r>
                <a:rPr sz="1400" spc="50" dirty="0">
                  <a:ln w="3175" cap="flat" cmpd="sng">
                    <a:solidFill>
                      <a:srgbClr val="004E97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AIG</a:t>
              </a:r>
              <a:r>
                <a:rPr sz="1400" spc="10" dirty="0">
                  <a:ln w="3175" cap="flat" cmpd="sng">
                    <a:solidFill>
                      <a:srgbClr val="004E97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</a:t>
              </a:r>
              <a:endParaRPr lang="en-US" altLang="en-US" sz="1400" dirty="0"/>
            </a:p>
          </p:txBody>
        </p:sp>
      </p:grpSp>
      <p:sp>
        <p:nvSpPr>
          <p:cNvPr id="769" name="textbox 769"/>
          <p:cNvSpPr/>
          <p:nvPr/>
        </p:nvSpPr>
        <p:spPr>
          <a:xfrm>
            <a:off x="6302983" y="4352029"/>
            <a:ext cx="1932939" cy="5695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DALL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由文字描述生成图像，如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800" dirty="0"/>
          </a:p>
          <a:p>
            <a:pPr marL="37465" algn="l" rtl="0" eaLnBrk="0">
              <a:lnSpc>
                <a:spcPct val="88000"/>
              </a:lnSpc>
              <a:spcBef>
                <a:spcPts val="25"/>
              </a:spcBef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astronaut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riding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hourse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</a:t>
            </a:r>
            <a:endParaRPr lang="en-US" altLang="en-US" sz="800" dirty="0"/>
          </a:p>
          <a:p>
            <a:pPr marL="400685" algn="l" rtl="0" eaLnBrk="0">
              <a:lnSpc>
                <a:spcPct val="88000"/>
              </a:lnSpc>
              <a:spcBef>
                <a:spcPts val="115"/>
              </a:spcBef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p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encil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drawing</a:t>
            </a:r>
            <a:endParaRPr lang="en-US" altLang="en-US" sz="800" dirty="0"/>
          </a:p>
          <a:p>
            <a:pPr algn="r" rtl="0" eaLnBrk="0">
              <a:lnSpc>
                <a:spcPct val="97000"/>
              </a:lnSpc>
              <a:spcBef>
                <a:spcPts val="235"/>
              </a:spcBef>
            </a:pPr>
            <a:endParaRPr sz="1100" spc="10" dirty="0">
              <a:solidFill>
                <a:srgbClr val="4040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2" name="group 92"/>
          <p:cNvGrpSpPr/>
          <p:nvPr/>
        </p:nvGrpSpPr>
        <p:grpSpPr>
          <a:xfrm rot="21600000">
            <a:off x="0" y="413182"/>
            <a:ext cx="754590" cy="432003"/>
            <a:chOff x="0" y="0"/>
            <a:chExt cx="754590" cy="432003"/>
          </a:xfrm>
        </p:grpSpPr>
        <p:pic>
          <p:nvPicPr>
            <p:cNvPr id="770" name="picture 77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754590" cy="432003"/>
            </a:xfrm>
            <a:prstGeom prst="rect">
              <a:avLst/>
            </a:prstGeom>
          </p:spPr>
        </p:pic>
        <p:sp>
          <p:nvSpPr>
            <p:cNvPr id="771" name="textbox 771"/>
            <p:cNvSpPr/>
            <p:nvPr/>
          </p:nvSpPr>
          <p:spPr>
            <a:xfrm>
              <a:off x="-12700" y="-12700"/>
              <a:ext cx="780415" cy="54990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4780" algn="l" rtl="0" eaLnBrk="0">
                <a:lnSpc>
                  <a:spcPct val="80000"/>
                </a:lnSpc>
                <a:spcBef>
                  <a:spcPts val="0"/>
                </a:spcBef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320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altLang="en-US" sz="3200" dirty="0"/>
            </a:p>
          </p:txBody>
        </p:sp>
      </p:grpSp>
      <p:sp>
        <p:nvSpPr>
          <p:cNvPr id="772" name="textbox 772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endParaRPr lang="en-US" altLang="en-US" sz="1100" dirty="0"/>
          </a:p>
        </p:txBody>
      </p:sp>
      <p:sp>
        <p:nvSpPr>
          <p:cNvPr id="774" name="textbox 774"/>
          <p:cNvSpPr/>
          <p:nvPr/>
        </p:nvSpPr>
        <p:spPr>
          <a:xfrm>
            <a:off x="6548297" y="2579262"/>
            <a:ext cx="179768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可与人类进行流畅的文本问答</a:t>
            </a:r>
            <a:endParaRPr lang="en-US" altLang="en-US" sz="800" dirty="0"/>
          </a:p>
        </p:txBody>
      </p:sp>
      <p:pic>
        <p:nvPicPr>
          <p:cNvPr id="775" name="picture 77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334636" y="1996617"/>
            <a:ext cx="368249" cy="368249"/>
          </a:xfrm>
          <a:prstGeom prst="rect">
            <a:avLst/>
          </a:prstGeom>
        </p:spPr>
      </p:pic>
      <p:pic>
        <p:nvPicPr>
          <p:cNvPr id="776" name="picture 7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567298" y="2773222"/>
            <a:ext cx="368249" cy="368249"/>
          </a:xfrm>
          <a:prstGeom prst="rect">
            <a:avLst/>
          </a:prstGeom>
        </p:spPr>
      </p:pic>
      <p:pic>
        <p:nvPicPr>
          <p:cNvPr id="777" name="picture 77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232653" y="4134599"/>
            <a:ext cx="368249" cy="368249"/>
          </a:xfrm>
          <a:prstGeom prst="rect">
            <a:avLst/>
          </a:prstGeom>
        </p:spPr>
      </p:pic>
      <p:pic>
        <p:nvPicPr>
          <p:cNvPr id="778" name="picture 77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788155" y="4309478"/>
            <a:ext cx="368249" cy="368249"/>
          </a:xfrm>
          <a:prstGeom prst="rect">
            <a:avLst/>
          </a:prstGeom>
        </p:spPr>
      </p:pic>
      <p:sp>
        <p:nvSpPr>
          <p:cNvPr id="779" name="textbox 779"/>
          <p:cNvSpPr/>
          <p:nvPr/>
        </p:nvSpPr>
        <p:spPr>
          <a:xfrm>
            <a:off x="1561388" y="2561355"/>
            <a:ext cx="1122044" cy="133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8000"/>
              </a:lnSpc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Copilot</a:t>
            </a: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可自动编写代码</a:t>
            </a:r>
            <a:endParaRPr lang="en-US" altLang="en-US" sz="800" dirty="0"/>
          </a:p>
        </p:txBody>
      </p:sp>
      <p:sp>
        <p:nvSpPr>
          <p:cNvPr id="780" name="textbox 780"/>
          <p:cNvSpPr/>
          <p:nvPr/>
        </p:nvSpPr>
        <p:spPr>
          <a:xfrm>
            <a:off x="5155535" y="3949442"/>
            <a:ext cx="530859" cy="1765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5"/>
              </a:lnSpc>
            </a:pPr>
            <a:r>
              <a:rPr sz="9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</a:t>
            </a:r>
            <a:r>
              <a:rPr sz="9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900" dirty="0"/>
          </a:p>
        </p:txBody>
      </p:sp>
      <p:sp>
        <p:nvSpPr>
          <p:cNvPr id="781" name="textbox 781"/>
          <p:cNvSpPr/>
          <p:nvPr/>
        </p:nvSpPr>
        <p:spPr>
          <a:xfrm>
            <a:off x="5512934" y="2621946"/>
            <a:ext cx="535305" cy="1727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5"/>
              </a:lnSpc>
            </a:pP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文本问</a:t>
            </a:r>
            <a:r>
              <a:rPr sz="9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</a:t>
            </a:r>
            <a:endParaRPr lang="en-US" altLang="en-US" sz="900" dirty="0"/>
          </a:p>
        </p:txBody>
      </p:sp>
      <p:sp>
        <p:nvSpPr>
          <p:cNvPr id="782" name="path"/>
          <p:cNvSpPr/>
          <p:nvPr/>
        </p:nvSpPr>
        <p:spPr>
          <a:xfrm>
            <a:off x="2697099" y="3079114"/>
            <a:ext cx="134619" cy="134747"/>
          </a:xfrm>
          <a:custGeom>
            <a:avLst/>
            <a:gdLst/>
            <a:ahLst/>
            <a:cxnLst/>
            <a:rect l="0" t="0" r="0" b="0"/>
            <a:pathLst>
              <a:path w="211" h="212">
                <a:moveTo>
                  <a:pt x="143" y="204"/>
                </a:moveTo>
                <a:lnTo>
                  <a:pt x="143" y="204"/>
                </a:lnTo>
                <a:lnTo>
                  <a:pt x="153" y="200"/>
                </a:lnTo>
                <a:lnTo>
                  <a:pt x="162" y="195"/>
                </a:lnTo>
                <a:lnTo>
                  <a:pt x="171" y="189"/>
                </a:lnTo>
                <a:lnTo>
                  <a:pt x="178" y="182"/>
                </a:lnTo>
                <a:lnTo>
                  <a:pt x="186" y="175"/>
                </a:lnTo>
                <a:lnTo>
                  <a:pt x="193" y="167"/>
                </a:lnTo>
                <a:lnTo>
                  <a:pt x="197" y="158"/>
                </a:lnTo>
                <a:lnTo>
                  <a:pt x="202" y="149"/>
                </a:lnTo>
                <a:lnTo>
                  <a:pt x="206" y="140"/>
                </a:lnTo>
                <a:lnTo>
                  <a:pt x="208" y="130"/>
                </a:lnTo>
                <a:lnTo>
                  <a:pt x="210" y="120"/>
                </a:lnTo>
                <a:lnTo>
                  <a:pt x="211" y="109"/>
                </a:lnTo>
                <a:lnTo>
                  <a:pt x="211" y="100"/>
                </a:lnTo>
                <a:lnTo>
                  <a:pt x="210" y="89"/>
                </a:lnTo>
                <a:lnTo>
                  <a:pt x="208" y="79"/>
                </a:lnTo>
                <a:lnTo>
                  <a:pt x="205" y="68"/>
                </a:lnTo>
                <a:lnTo>
                  <a:pt x="205" y="68"/>
                </a:lnTo>
                <a:lnTo>
                  <a:pt x="200" y="58"/>
                </a:lnTo>
                <a:lnTo>
                  <a:pt x="196" y="49"/>
                </a:lnTo>
                <a:lnTo>
                  <a:pt x="189" y="41"/>
                </a:lnTo>
                <a:lnTo>
                  <a:pt x="182" y="32"/>
                </a:lnTo>
                <a:lnTo>
                  <a:pt x="175" y="25"/>
                </a:lnTo>
                <a:lnTo>
                  <a:pt x="167" y="20"/>
                </a:lnTo>
                <a:lnTo>
                  <a:pt x="158" y="14"/>
                </a:lnTo>
                <a:lnTo>
                  <a:pt x="150" y="9"/>
                </a:lnTo>
                <a:lnTo>
                  <a:pt x="140" y="6"/>
                </a:lnTo>
                <a:lnTo>
                  <a:pt x="130" y="2"/>
                </a:lnTo>
                <a:lnTo>
                  <a:pt x="120" y="1"/>
                </a:lnTo>
                <a:lnTo>
                  <a:pt x="110" y="0"/>
                </a:lnTo>
                <a:lnTo>
                  <a:pt x="100" y="0"/>
                </a:lnTo>
                <a:lnTo>
                  <a:pt x="90" y="1"/>
                </a:lnTo>
                <a:lnTo>
                  <a:pt x="79" y="3"/>
                </a:lnTo>
                <a:lnTo>
                  <a:pt x="68" y="7"/>
                </a:lnTo>
                <a:lnTo>
                  <a:pt x="68" y="7"/>
                </a:lnTo>
                <a:lnTo>
                  <a:pt x="59" y="11"/>
                </a:lnTo>
                <a:lnTo>
                  <a:pt x="49" y="17"/>
                </a:lnTo>
                <a:lnTo>
                  <a:pt x="40" y="22"/>
                </a:lnTo>
                <a:lnTo>
                  <a:pt x="33" y="29"/>
                </a:lnTo>
                <a:lnTo>
                  <a:pt x="26" y="36"/>
                </a:lnTo>
                <a:lnTo>
                  <a:pt x="20" y="44"/>
                </a:lnTo>
                <a:lnTo>
                  <a:pt x="14" y="53"/>
                </a:lnTo>
                <a:lnTo>
                  <a:pt x="9" y="62"/>
                </a:lnTo>
                <a:lnTo>
                  <a:pt x="6" y="71"/>
                </a:lnTo>
                <a:lnTo>
                  <a:pt x="3" y="81"/>
                </a:lnTo>
                <a:lnTo>
                  <a:pt x="1" y="91"/>
                </a:lnTo>
                <a:lnTo>
                  <a:pt x="0" y="101"/>
                </a:lnTo>
                <a:lnTo>
                  <a:pt x="0" y="112"/>
                </a:lnTo>
                <a:lnTo>
                  <a:pt x="1" y="123"/>
                </a:lnTo>
                <a:lnTo>
                  <a:pt x="4" y="133"/>
                </a:lnTo>
                <a:lnTo>
                  <a:pt x="6" y="143"/>
                </a:lnTo>
                <a:lnTo>
                  <a:pt x="6" y="143"/>
                </a:lnTo>
                <a:lnTo>
                  <a:pt x="11" y="153"/>
                </a:lnTo>
                <a:lnTo>
                  <a:pt x="16" y="162"/>
                </a:lnTo>
                <a:lnTo>
                  <a:pt x="22" y="171"/>
                </a:lnTo>
                <a:lnTo>
                  <a:pt x="29" y="178"/>
                </a:lnTo>
                <a:lnTo>
                  <a:pt x="37" y="185"/>
                </a:lnTo>
                <a:lnTo>
                  <a:pt x="45" y="192"/>
                </a:lnTo>
                <a:lnTo>
                  <a:pt x="53" y="197"/>
                </a:lnTo>
                <a:lnTo>
                  <a:pt x="62" y="202"/>
                </a:lnTo>
                <a:lnTo>
                  <a:pt x="72" y="206"/>
                </a:lnTo>
                <a:lnTo>
                  <a:pt x="82" y="209"/>
                </a:lnTo>
                <a:lnTo>
                  <a:pt x="91" y="211"/>
                </a:lnTo>
                <a:lnTo>
                  <a:pt x="101" y="211"/>
                </a:lnTo>
                <a:lnTo>
                  <a:pt x="112" y="212"/>
                </a:lnTo>
                <a:lnTo>
                  <a:pt x="122" y="210"/>
                </a:lnTo>
                <a:lnTo>
                  <a:pt x="133" y="208"/>
                </a:lnTo>
                <a:lnTo>
                  <a:pt x="143" y="204"/>
                </a:lnTo>
                <a:lnTo>
                  <a:pt x="143" y="204"/>
                </a:lnTo>
                <a:close/>
                <a:moveTo>
                  <a:pt x="56" y="131"/>
                </a:moveTo>
                <a:lnTo>
                  <a:pt x="56" y="131"/>
                </a:lnTo>
                <a:lnTo>
                  <a:pt x="53" y="129"/>
                </a:lnTo>
                <a:lnTo>
                  <a:pt x="52" y="126"/>
                </a:lnTo>
                <a:lnTo>
                  <a:pt x="50" y="123"/>
                </a:lnTo>
                <a:lnTo>
                  <a:pt x="51" y="119"/>
                </a:lnTo>
                <a:lnTo>
                  <a:pt x="88" y="39"/>
                </a:lnTo>
                <a:lnTo>
                  <a:pt x="88" y="39"/>
                </a:lnTo>
                <a:lnTo>
                  <a:pt x="90" y="36"/>
                </a:lnTo>
                <a:lnTo>
                  <a:pt x="93" y="34"/>
                </a:lnTo>
                <a:lnTo>
                  <a:pt x="96" y="34"/>
                </a:lnTo>
                <a:lnTo>
                  <a:pt x="100" y="35"/>
                </a:lnTo>
                <a:lnTo>
                  <a:pt x="118" y="42"/>
                </a:lnTo>
                <a:lnTo>
                  <a:pt x="118" y="42"/>
                </a:lnTo>
                <a:lnTo>
                  <a:pt x="120" y="45"/>
                </a:lnTo>
                <a:lnTo>
                  <a:pt x="122" y="47"/>
                </a:lnTo>
                <a:lnTo>
                  <a:pt x="122" y="51"/>
                </a:lnTo>
                <a:lnTo>
                  <a:pt x="122" y="54"/>
                </a:lnTo>
                <a:lnTo>
                  <a:pt x="97" y="108"/>
                </a:lnTo>
                <a:lnTo>
                  <a:pt x="152" y="133"/>
                </a:lnTo>
                <a:lnTo>
                  <a:pt x="152" y="133"/>
                </a:lnTo>
                <a:lnTo>
                  <a:pt x="154" y="135"/>
                </a:lnTo>
                <a:lnTo>
                  <a:pt x="157" y="139"/>
                </a:lnTo>
                <a:lnTo>
                  <a:pt x="157" y="142"/>
                </a:lnTo>
                <a:lnTo>
                  <a:pt x="157" y="145"/>
                </a:lnTo>
                <a:lnTo>
                  <a:pt x="148" y="163"/>
                </a:lnTo>
                <a:lnTo>
                  <a:pt x="148" y="163"/>
                </a:lnTo>
                <a:lnTo>
                  <a:pt x="146" y="166"/>
                </a:lnTo>
                <a:lnTo>
                  <a:pt x="143" y="168"/>
                </a:lnTo>
                <a:lnTo>
                  <a:pt x="140" y="168"/>
                </a:lnTo>
                <a:lnTo>
                  <a:pt x="137" y="167"/>
                </a:lnTo>
                <a:lnTo>
                  <a:pt x="56" y="131"/>
                </a:lnTo>
                <a:close/>
              </a:path>
            </a:pathLst>
          </a:custGeom>
          <a:solidFill>
            <a:srgbClr val="B3DE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3" name="path"/>
          <p:cNvSpPr/>
          <p:nvPr/>
        </p:nvSpPr>
        <p:spPr>
          <a:xfrm>
            <a:off x="3512947" y="1675891"/>
            <a:ext cx="134620" cy="133985"/>
          </a:xfrm>
          <a:custGeom>
            <a:avLst/>
            <a:gdLst/>
            <a:ahLst/>
            <a:cxnLst/>
            <a:rect l="0" t="0" r="0" b="0"/>
            <a:pathLst>
              <a:path w="212" h="211">
                <a:moveTo>
                  <a:pt x="105" y="211"/>
                </a:moveTo>
                <a:lnTo>
                  <a:pt x="105" y="211"/>
                </a:lnTo>
                <a:lnTo>
                  <a:pt x="117" y="211"/>
                </a:lnTo>
                <a:lnTo>
                  <a:pt x="127" y="209"/>
                </a:lnTo>
                <a:lnTo>
                  <a:pt x="137" y="207"/>
                </a:lnTo>
                <a:lnTo>
                  <a:pt x="147" y="202"/>
                </a:lnTo>
                <a:lnTo>
                  <a:pt x="156" y="198"/>
                </a:lnTo>
                <a:lnTo>
                  <a:pt x="165" y="193"/>
                </a:lnTo>
                <a:lnTo>
                  <a:pt x="172" y="187"/>
                </a:lnTo>
                <a:lnTo>
                  <a:pt x="181" y="180"/>
                </a:lnTo>
                <a:lnTo>
                  <a:pt x="187" y="173"/>
                </a:lnTo>
                <a:lnTo>
                  <a:pt x="193" y="164"/>
                </a:lnTo>
                <a:lnTo>
                  <a:pt x="198" y="155"/>
                </a:lnTo>
                <a:lnTo>
                  <a:pt x="203" y="146"/>
                </a:lnTo>
                <a:lnTo>
                  <a:pt x="206" y="137"/>
                </a:lnTo>
                <a:lnTo>
                  <a:pt x="210" y="126"/>
                </a:lnTo>
                <a:lnTo>
                  <a:pt x="210" y="116"/>
                </a:lnTo>
                <a:lnTo>
                  <a:pt x="212" y="105"/>
                </a:lnTo>
                <a:lnTo>
                  <a:pt x="212" y="105"/>
                </a:lnTo>
                <a:lnTo>
                  <a:pt x="210" y="94"/>
                </a:lnTo>
                <a:lnTo>
                  <a:pt x="210" y="84"/>
                </a:lnTo>
                <a:lnTo>
                  <a:pt x="206" y="74"/>
                </a:lnTo>
                <a:lnTo>
                  <a:pt x="203" y="63"/>
                </a:lnTo>
                <a:lnTo>
                  <a:pt x="198" y="54"/>
                </a:lnTo>
                <a:lnTo>
                  <a:pt x="193" y="46"/>
                </a:lnTo>
                <a:lnTo>
                  <a:pt x="187" y="38"/>
                </a:lnTo>
                <a:lnTo>
                  <a:pt x="181" y="31"/>
                </a:lnTo>
                <a:lnTo>
                  <a:pt x="172" y="23"/>
                </a:lnTo>
                <a:lnTo>
                  <a:pt x="165" y="17"/>
                </a:lnTo>
                <a:lnTo>
                  <a:pt x="156" y="12"/>
                </a:lnTo>
                <a:lnTo>
                  <a:pt x="147" y="8"/>
                </a:lnTo>
                <a:lnTo>
                  <a:pt x="137" y="4"/>
                </a:lnTo>
                <a:lnTo>
                  <a:pt x="127" y="2"/>
                </a:lnTo>
                <a:lnTo>
                  <a:pt x="117" y="0"/>
                </a:lnTo>
                <a:lnTo>
                  <a:pt x="105" y="0"/>
                </a:lnTo>
                <a:lnTo>
                  <a:pt x="105" y="0"/>
                </a:lnTo>
                <a:lnTo>
                  <a:pt x="95" y="0"/>
                </a:lnTo>
                <a:lnTo>
                  <a:pt x="84" y="2"/>
                </a:lnTo>
                <a:lnTo>
                  <a:pt x="73" y="4"/>
                </a:lnTo>
                <a:lnTo>
                  <a:pt x="64" y="8"/>
                </a:lnTo>
                <a:lnTo>
                  <a:pt x="55" y="12"/>
                </a:lnTo>
                <a:lnTo>
                  <a:pt x="47" y="17"/>
                </a:lnTo>
                <a:lnTo>
                  <a:pt x="38" y="23"/>
                </a:lnTo>
                <a:lnTo>
                  <a:pt x="30" y="31"/>
                </a:lnTo>
                <a:lnTo>
                  <a:pt x="24" y="38"/>
                </a:lnTo>
                <a:lnTo>
                  <a:pt x="18" y="46"/>
                </a:lnTo>
                <a:lnTo>
                  <a:pt x="13" y="54"/>
                </a:lnTo>
                <a:lnTo>
                  <a:pt x="8" y="63"/>
                </a:lnTo>
                <a:lnTo>
                  <a:pt x="5" y="74"/>
                </a:lnTo>
                <a:lnTo>
                  <a:pt x="2" y="84"/>
                </a:lnTo>
                <a:lnTo>
                  <a:pt x="0" y="94"/>
                </a:lnTo>
                <a:lnTo>
                  <a:pt x="0" y="105"/>
                </a:lnTo>
                <a:lnTo>
                  <a:pt x="0" y="105"/>
                </a:lnTo>
                <a:lnTo>
                  <a:pt x="0" y="116"/>
                </a:lnTo>
                <a:lnTo>
                  <a:pt x="2" y="126"/>
                </a:lnTo>
                <a:lnTo>
                  <a:pt x="5" y="137"/>
                </a:lnTo>
                <a:lnTo>
                  <a:pt x="8" y="146"/>
                </a:lnTo>
                <a:lnTo>
                  <a:pt x="13" y="155"/>
                </a:lnTo>
                <a:lnTo>
                  <a:pt x="18" y="164"/>
                </a:lnTo>
                <a:lnTo>
                  <a:pt x="24" y="173"/>
                </a:lnTo>
                <a:lnTo>
                  <a:pt x="30" y="180"/>
                </a:lnTo>
                <a:lnTo>
                  <a:pt x="38" y="187"/>
                </a:lnTo>
                <a:lnTo>
                  <a:pt x="47" y="193"/>
                </a:lnTo>
                <a:lnTo>
                  <a:pt x="55" y="198"/>
                </a:lnTo>
                <a:lnTo>
                  <a:pt x="64" y="202"/>
                </a:lnTo>
                <a:lnTo>
                  <a:pt x="73" y="207"/>
                </a:lnTo>
                <a:lnTo>
                  <a:pt x="84" y="209"/>
                </a:lnTo>
                <a:lnTo>
                  <a:pt x="95" y="211"/>
                </a:lnTo>
                <a:lnTo>
                  <a:pt x="105" y="211"/>
                </a:lnTo>
                <a:lnTo>
                  <a:pt x="105" y="211"/>
                </a:lnTo>
                <a:close/>
                <a:moveTo>
                  <a:pt x="50" y="111"/>
                </a:moveTo>
                <a:lnTo>
                  <a:pt x="50" y="111"/>
                </a:lnTo>
                <a:lnTo>
                  <a:pt x="48" y="109"/>
                </a:lnTo>
                <a:lnTo>
                  <a:pt x="48" y="105"/>
                </a:lnTo>
                <a:lnTo>
                  <a:pt x="48" y="102"/>
                </a:lnTo>
                <a:lnTo>
                  <a:pt x="50" y="98"/>
                </a:lnTo>
                <a:lnTo>
                  <a:pt x="113" y="37"/>
                </a:lnTo>
                <a:lnTo>
                  <a:pt x="113" y="37"/>
                </a:lnTo>
                <a:lnTo>
                  <a:pt x="116" y="35"/>
                </a:lnTo>
                <a:lnTo>
                  <a:pt x="119" y="34"/>
                </a:lnTo>
                <a:lnTo>
                  <a:pt x="122" y="35"/>
                </a:lnTo>
                <a:lnTo>
                  <a:pt x="125" y="37"/>
                </a:lnTo>
                <a:lnTo>
                  <a:pt x="140" y="50"/>
                </a:lnTo>
                <a:lnTo>
                  <a:pt x="140" y="50"/>
                </a:lnTo>
                <a:lnTo>
                  <a:pt x="140" y="53"/>
                </a:lnTo>
                <a:lnTo>
                  <a:pt x="142" y="56"/>
                </a:lnTo>
                <a:lnTo>
                  <a:pt x="140" y="59"/>
                </a:lnTo>
                <a:lnTo>
                  <a:pt x="140" y="62"/>
                </a:lnTo>
                <a:lnTo>
                  <a:pt x="96" y="105"/>
                </a:lnTo>
                <a:lnTo>
                  <a:pt x="140" y="147"/>
                </a:lnTo>
                <a:lnTo>
                  <a:pt x="140" y="147"/>
                </a:lnTo>
                <a:lnTo>
                  <a:pt x="140" y="150"/>
                </a:lnTo>
                <a:lnTo>
                  <a:pt x="142" y="154"/>
                </a:lnTo>
                <a:lnTo>
                  <a:pt x="140" y="157"/>
                </a:lnTo>
                <a:lnTo>
                  <a:pt x="140" y="160"/>
                </a:lnTo>
                <a:lnTo>
                  <a:pt x="125" y="174"/>
                </a:lnTo>
                <a:lnTo>
                  <a:pt x="125" y="174"/>
                </a:lnTo>
                <a:lnTo>
                  <a:pt x="122" y="175"/>
                </a:lnTo>
                <a:lnTo>
                  <a:pt x="119" y="177"/>
                </a:lnTo>
                <a:lnTo>
                  <a:pt x="116" y="175"/>
                </a:lnTo>
                <a:lnTo>
                  <a:pt x="113" y="174"/>
                </a:lnTo>
                <a:lnTo>
                  <a:pt x="50" y="111"/>
                </a:lnTo>
                <a:close/>
              </a:path>
            </a:pathLst>
          </a:custGeom>
          <a:solidFill>
            <a:srgbClr val="00978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4" name="path"/>
          <p:cNvSpPr/>
          <p:nvPr/>
        </p:nvSpPr>
        <p:spPr>
          <a:xfrm>
            <a:off x="6099429" y="4078617"/>
            <a:ext cx="134619" cy="133959"/>
          </a:xfrm>
          <a:custGeom>
            <a:avLst/>
            <a:gdLst/>
            <a:ahLst/>
            <a:cxnLst/>
            <a:rect l="0" t="0" r="0" b="0"/>
            <a:pathLst>
              <a:path w="211" h="210">
                <a:moveTo>
                  <a:pt x="105" y="210"/>
                </a:moveTo>
                <a:lnTo>
                  <a:pt x="105" y="210"/>
                </a:lnTo>
                <a:lnTo>
                  <a:pt x="94" y="210"/>
                </a:lnTo>
                <a:lnTo>
                  <a:pt x="84" y="208"/>
                </a:lnTo>
                <a:lnTo>
                  <a:pt x="73" y="206"/>
                </a:lnTo>
                <a:lnTo>
                  <a:pt x="64" y="202"/>
                </a:lnTo>
                <a:lnTo>
                  <a:pt x="55" y="198"/>
                </a:lnTo>
                <a:lnTo>
                  <a:pt x="46" y="193"/>
                </a:lnTo>
                <a:lnTo>
                  <a:pt x="39" y="187"/>
                </a:lnTo>
                <a:lnTo>
                  <a:pt x="30" y="180"/>
                </a:lnTo>
                <a:lnTo>
                  <a:pt x="24" y="172"/>
                </a:lnTo>
                <a:lnTo>
                  <a:pt x="18" y="164"/>
                </a:lnTo>
                <a:lnTo>
                  <a:pt x="13" y="155"/>
                </a:lnTo>
                <a:lnTo>
                  <a:pt x="8" y="146"/>
                </a:lnTo>
                <a:lnTo>
                  <a:pt x="5" y="136"/>
                </a:lnTo>
                <a:lnTo>
                  <a:pt x="1" y="126"/>
                </a:lnTo>
                <a:lnTo>
                  <a:pt x="0" y="116"/>
                </a:lnTo>
                <a:lnTo>
                  <a:pt x="0" y="104"/>
                </a:lnTo>
                <a:lnTo>
                  <a:pt x="0" y="104"/>
                </a:lnTo>
                <a:lnTo>
                  <a:pt x="0" y="94"/>
                </a:lnTo>
                <a:lnTo>
                  <a:pt x="1" y="84"/>
                </a:lnTo>
                <a:lnTo>
                  <a:pt x="5" y="74"/>
                </a:lnTo>
                <a:lnTo>
                  <a:pt x="8" y="63"/>
                </a:lnTo>
                <a:lnTo>
                  <a:pt x="13" y="54"/>
                </a:lnTo>
                <a:lnTo>
                  <a:pt x="18" y="46"/>
                </a:lnTo>
                <a:lnTo>
                  <a:pt x="24" y="38"/>
                </a:lnTo>
                <a:lnTo>
                  <a:pt x="30" y="30"/>
                </a:lnTo>
                <a:lnTo>
                  <a:pt x="39" y="23"/>
                </a:lnTo>
                <a:lnTo>
                  <a:pt x="46" y="17"/>
                </a:lnTo>
                <a:lnTo>
                  <a:pt x="55" y="12"/>
                </a:lnTo>
                <a:lnTo>
                  <a:pt x="64" y="8"/>
                </a:lnTo>
                <a:lnTo>
                  <a:pt x="73" y="4"/>
                </a:lnTo>
                <a:lnTo>
                  <a:pt x="84" y="2"/>
                </a:lnTo>
                <a:lnTo>
                  <a:pt x="94" y="0"/>
                </a:lnTo>
                <a:lnTo>
                  <a:pt x="105" y="0"/>
                </a:lnTo>
                <a:lnTo>
                  <a:pt x="105" y="0"/>
                </a:lnTo>
                <a:lnTo>
                  <a:pt x="116" y="0"/>
                </a:lnTo>
                <a:lnTo>
                  <a:pt x="127" y="2"/>
                </a:lnTo>
                <a:lnTo>
                  <a:pt x="137" y="4"/>
                </a:lnTo>
                <a:lnTo>
                  <a:pt x="147" y="8"/>
                </a:lnTo>
                <a:lnTo>
                  <a:pt x="156" y="12"/>
                </a:lnTo>
                <a:lnTo>
                  <a:pt x="164" y="17"/>
                </a:lnTo>
                <a:lnTo>
                  <a:pt x="172" y="23"/>
                </a:lnTo>
                <a:lnTo>
                  <a:pt x="181" y="30"/>
                </a:lnTo>
                <a:lnTo>
                  <a:pt x="187" y="38"/>
                </a:lnTo>
                <a:lnTo>
                  <a:pt x="193" y="46"/>
                </a:lnTo>
                <a:lnTo>
                  <a:pt x="198" y="54"/>
                </a:lnTo>
                <a:lnTo>
                  <a:pt x="203" y="63"/>
                </a:lnTo>
                <a:lnTo>
                  <a:pt x="206" y="74"/>
                </a:lnTo>
                <a:lnTo>
                  <a:pt x="210" y="84"/>
                </a:lnTo>
                <a:lnTo>
                  <a:pt x="210" y="94"/>
                </a:lnTo>
                <a:lnTo>
                  <a:pt x="211" y="104"/>
                </a:lnTo>
                <a:lnTo>
                  <a:pt x="211" y="104"/>
                </a:lnTo>
                <a:lnTo>
                  <a:pt x="210" y="116"/>
                </a:lnTo>
                <a:lnTo>
                  <a:pt x="210" y="126"/>
                </a:lnTo>
                <a:lnTo>
                  <a:pt x="206" y="136"/>
                </a:lnTo>
                <a:lnTo>
                  <a:pt x="203" y="146"/>
                </a:lnTo>
                <a:lnTo>
                  <a:pt x="198" y="155"/>
                </a:lnTo>
                <a:lnTo>
                  <a:pt x="193" y="164"/>
                </a:lnTo>
                <a:lnTo>
                  <a:pt x="187" y="172"/>
                </a:lnTo>
                <a:lnTo>
                  <a:pt x="181" y="180"/>
                </a:lnTo>
                <a:lnTo>
                  <a:pt x="172" y="187"/>
                </a:lnTo>
                <a:lnTo>
                  <a:pt x="164" y="193"/>
                </a:lnTo>
                <a:lnTo>
                  <a:pt x="156" y="198"/>
                </a:lnTo>
                <a:lnTo>
                  <a:pt x="147" y="202"/>
                </a:lnTo>
                <a:lnTo>
                  <a:pt x="137" y="206"/>
                </a:lnTo>
                <a:lnTo>
                  <a:pt x="127" y="208"/>
                </a:lnTo>
                <a:lnTo>
                  <a:pt x="116" y="210"/>
                </a:lnTo>
                <a:lnTo>
                  <a:pt x="105" y="210"/>
                </a:lnTo>
                <a:lnTo>
                  <a:pt x="105" y="210"/>
                </a:lnTo>
                <a:close/>
                <a:moveTo>
                  <a:pt x="161" y="111"/>
                </a:moveTo>
                <a:lnTo>
                  <a:pt x="161" y="111"/>
                </a:lnTo>
                <a:lnTo>
                  <a:pt x="163" y="109"/>
                </a:lnTo>
                <a:lnTo>
                  <a:pt x="163" y="104"/>
                </a:lnTo>
                <a:lnTo>
                  <a:pt x="163" y="101"/>
                </a:lnTo>
                <a:lnTo>
                  <a:pt x="161" y="98"/>
                </a:lnTo>
                <a:lnTo>
                  <a:pt x="98" y="37"/>
                </a:lnTo>
                <a:lnTo>
                  <a:pt x="98" y="37"/>
                </a:lnTo>
                <a:lnTo>
                  <a:pt x="95" y="34"/>
                </a:lnTo>
                <a:lnTo>
                  <a:pt x="92" y="33"/>
                </a:lnTo>
                <a:lnTo>
                  <a:pt x="89" y="34"/>
                </a:lnTo>
                <a:lnTo>
                  <a:pt x="86" y="37"/>
                </a:lnTo>
                <a:lnTo>
                  <a:pt x="71" y="50"/>
                </a:lnTo>
                <a:lnTo>
                  <a:pt x="71" y="50"/>
                </a:lnTo>
                <a:lnTo>
                  <a:pt x="70" y="53"/>
                </a:lnTo>
                <a:lnTo>
                  <a:pt x="70" y="56"/>
                </a:lnTo>
                <a:lnTo>
                  <a:pt x="70" y="59"/>
                </a:lnTo>
                <a:lnTo>
                  <a:pt x="71" y="62"/>
                </a:lnTo>
                <a:lnTo>
                  <a:pt x="115" y="104"/>
                </a:lnTo>
                <a:lnTo>
                  <a:pt x="71" y="147"/>
                </a:lnTo>
                <a:lnTo>
                  <a:pt x="71" y="147"/>
                </a:lnTo>
                <a:lnTo>
                  <a:pt x="70" y="150"/>
                </a:lnTo>
                <a:lnTo>
                  <a:pt x="70" y="154"/>
                </a:lnTo>
                <a:lnTo>
                  <a:pt x="70" y="157"/>
                </a:lnTo>
                <a:lnTo>
                  <a:pt x="71" y="160"/>
                </a:lnTo>
                <a:lnTo>
                  <a:pt x="86" y="173"/>
                </a:lnTo>
                <a:lnTo>
                  <a:pt x="86" y="173"/>
                </a:lnTo>
                <a:lnTo>
                  <a:pt x="89" y="175"/>
                </a:lnTo>
                <a:lnTo>
                  <a:pt x="92" y="177"/>
                </a:lnTo>
                <a:lnTo>
                  <a:pt x="95" y="175"/>
                </a:lnTo>
                <a:lnTo>
                  <a:pt x="98" y="173"/>
                </a:lnTo>
                <a:lnTo>
                  <a:pt x="161" y="111"/>
                </a:lnTo>
                <a:close/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5" name="path"/>
          <p:cNvSpPr/>
          <p:nvPr/>
        </p:nvSpPr>
        <p:spPr>
          <a:xfrm>
            <a:off x="6240525" y="2345054"/>
            <a:ext cx="134620" cy="133858"/>
          </a:xfrm>
          <a:custGeom>
            <a:avLst/>
            <a:gdLst/>
            <a:ahLst/>
            <a:cxnLst/>
            <a:rect l="0" t="0" r="0" b="0"/>
            <a:pathLst>
              <a:path w="212" h="210">
                <a:moveTo>
                  <a:pt x="106" y="210"/>
                </a:moveTo>
                <a:lnTo>
                  <a:pt x="106" y="210"/>
                </a:lnTo>
                <a:lnTo>
                  <a:pt x="94" y="210"/>
                </a:lnTo>
                <a:lnTo>
                  <a:pt x="84" y="208"/>
                </a:lnTo>
                <a:lnTo>
                  <a:pt x="74" y="206"/>
                </a:lnTo>
                <a:lnTo>
                  <a:pt x="65" y="202"/>
                </a:lnTo>
                <a:lnTo>
                  <a:pt x="55" y="198"/>
                </a:lnTo>
                <a:lnTo>
                  <a:pt x="46" y="193"/>
                </a:lnTo>
                <a:lnTo>
                  <a:pt x="39" y="187"/>
                </a:lnTo>
                <a:lnTo>
                  <a:pt x="31" y="180"/>
                </a:lnTo>
                <a:lnTo>
                  <a:pt x="24" y="172"/>
                </a:lnTo>
                <a:lnTo>
                  <a:pt x="18" y="164"/>
                </a:lnTo>
                <a:lnTo>
                  <a:pt x="13" y="155"/>
                </a:lnTo>
                <a:lnTo>
                  <a:pt x="8" y="146"/>
                </a:lnTo>
                <a:lnTo>
                  <a:pt x="5" y="136"/>
                </a:lnTo>
                <a:lnTo>
                  <a:pt x="2" y="126"/>
                </a:lnTo>
                <a:lnTo>
                  <a:pt x="1" y="116"/>
                </a:lnTo>
                <a:lnTo>
                  <a:pt x="0" y="104"/>
                </a:lnTo>
                <a:lnTo>
                  <a:pt x="0" y="104"/>
                </a:lnTo>
                <a:lnTo>
                  <a:pt x="1" y="94"/>
                </a:lnTo>
                <a:lnTo>
                  <a:pt x="2" y="84"/>
                </a:lnTo>
                <a:lnTo>
                  <a:pt x="5" y="73"/>
                </a:lnTo>
                <a:lnTo>
                  <a:pt x="8" y="63"/>
                </a:lnTo>
                <a:lnTo>
                  <a:pt x="13" y="54"/>
                </a:lnTo>
                <a:lnTo>
                  <a:pt x="18" y="46"/>
                </a:lnTo>
                <a:lnTo>
                  <a:pt x="24" y="38"/>
                </a:lnTo>
                <a:lnTo>
                  <a:pt x="31" y="30"/>
                </a:lnTo>
                <a:lnTo>
                  <a:pt x="39" y="23"/>
                </a:lnTo>
                <a:lnTo>
                  <a:pt x="46" y="17"/>
                </a:lnTo>
                <a:lnTo>
                  <a:pt x="55" y="12"/>
                </a:lnTo>
                <a:lnTo>
                  <a:pt x="65" y="8"/>
                </a:lnTo>
                <a:lnTo>
                  <a:pt x="74" y="3"/>
                </a:lnTo>
                <a:lnTo>
                  <a:pt x="84" y="2"/>
                </a:lnTo>
                <a:lnTo>
                  <a:pt x="94" y="0"/>
                </a:lnTo>
                <a:lnTo>
                  <a:pt x="106" y="0"/>
                </a:lnTo>
                <a:lnTo>
                  <a:pt x="106" y="0"/>
                </a:lnTo>
                <a:lnTo>
                  <a:pt x="116" y="0"/>
                </a:lnTo>
                <a:lnTo>
                  <a:pt x="127" y="2"/>
                </a:lnTo>
                <a:lnTo>
                  <a:pt x="138" y="3"/>
                </a:lnTo>
                <a:lnTo>
                  <a:pt x="147" y="8"/>
                </a:lnTo>
                <a:lnTo>
                  <a:pt x="156" y="12"/>
                </a:lnTo>
                <a:lnTo>
                  <a:pt x="164" y="17"/>
                </a:lnTo>
                <a:lnTo>
                  <a:pt x="173" y="23"/>
                </a:lnTo>
                <a:lnTo>
                  <a:pt x="181" y="30"/>
                </a:lnTo>
                <a:lnTo>
                  <a:pt x="187" y="38"/>
                </a:lnTo>
                <a:lnTo>
                  <a:pt x="193" y="46"/>
                </a:lnTo>
                <a:lnTo>
                  <a:pt x="198" y="54"/>
                </a:lnTo>
                <a:lnTo>
                  <a:pt x="203" y="63"/>
                </a:lnTo>
                <a:lnTo>
                  <a:pt x="207" y="73"/>
                </a:lnTo>
                <a:lnTo>
                  <a:pt x="210" y="84"/>
                </a:lnTo>
                <a:lnTo>
                  <a:pt x="211" y="94"/>
                </a:lnTo>
                <a:lnTo>
                  <a:pt x="212" y="104"/>
                </a:lnTo>
                <a:lnTo>
                  <a:pt x="212" y="104"/>
                </a:lnTo>
                <a:lnTo>
                  <a:pt x="211" y="116"/>
                </a:lnTo>
                <a:lnTo>
                  <a:pt x="210" y="126"/>
                </a:lnTo>
                <a:lnTo>
                  <a:pt x="207" y="136"/>
                </a:lnTo>
                <a:lnTo>
                  <a:pt x="203" y="146"/>
                </a:lnTo>
                <a:lnTo>
                  <a:pt x="198" y="155"/>
                </a:lnTo>
                <a:lnTo>
                  <a:pt x="193" y="164"/>
                </a:lnTo>
                <a:lnTo>
                  <a:pt x="187" y="172"/>
                </a:lnTo>
                <a:lnTo>
                  <a:pt x="181" y="180"/>
                </a:lnTo>
                <a:lnTo>
                  <a:pt x="173" y="187"/>
                </a:lnTo>
                <a:lnTo>
                  <a:pt x="164" y="193"/>
                </a:lnTo>
                <a:lnTo>
                  <a:pt x="156" y="198"/>
                </a:lnTo>
                <a:lnTo>
                  <a:pt x="147" y="202"/>
                </a:lnTo>
                <a:lnTo>
                  <a:pt x="138" y="206"/>
                </a:lnTo>
                <a:lnTo>
                  <a:pt x="127" y="208"/>
                </a:lnTo>
                <a:lnTo>
                  <a:pt x="116" y="210"/>
                </a:lnTo>
                <a:lnTo>
                  <a:pt x="106" y="210"/>
                </a:lnTo>
                <a:lnTo>
                  <a:pt x="106" y="210"/>
                </a:lnTo>
                <a:close/>
                <a:moveTo>
                  <a:pt x="161" y="111"/>
                </a:moveTo>
                <a:lnTo>
                  <a:pt x="161" y="111"/>
                </a:lnTo>
                <a:lnTo>
                  <a:pt x="163" y="109"/>
                </a:lnTo>
                <a:lnTo>
                  <a:pt x="163" y="104"/>
                </a:lnTo>
                <a:lnTo>
                  <a:pt x="163" y="101"/>
                </a:lnTo>
                <a:lnTo>
                  <a:pt x="161" y="98"/>
                </a:lnTo>
                <a:lnTo>
                  <a:pt x="98" y="37"/>
                </a:lnTo>
                <a:lnTo>
                  <a:pt x="98" y="37"/>
                </a:lnTo>
                <a:lnTo>
                  <a:pt x="95" y="34"/>
                </a:lnTo>
                <a:lnTo>
                  <a:pt x="92" y="33"/>
                </a:lnTo>
                <a:lnTo>
                  <a:pt x="89" y="34"/>
                </a:lnTo>
                <a:lnTo>
                  <a:pt x="86" y="37"/>
                </a:lnTo>
                <a:lnTo>
                  <a:pt x="72" y="50"/>
                </a:lnTo>
                <a:lnTo>
                  <a:pt x="72" y="50"/>
                </a:lnTo>
                <a:lnTo>
                  <a:pt x="71" y="53"/>
                </a:lnTo>
                <a:lnTo>
                  <a:pt x="70" y="56"/>
                </a:lnTo>
                <a:lnTo>
                  <a:pt x="71" y="59"/>
                </a:lnTo>
                <a:lnTo>
                  <a:pt x="72" y="62"/>
                </a:lnTo>
                <a:lnTo>
                  <a:pt x="115" y="104"/>
                </a:lnTo>
                <a:lnTo>
                  <a:pt x="72" y="147"/>
                </a:lnTo>
                <a:lnTo>
                  <a:pt x="72" y="147"/>
                </a:lnTo>
                <a:lnTo>
                  <a:pt x="71" y="150"/>
                </a:lnTo>
                <a:lnTo>
                  <a:pt x="70" y="154"/>
                </a:lnTo>
                <a:lnTo>
                  <a:pt x="71" y="157"/>
                </a:lnTo>
                <a:lnTo>
                  <a:pt x="72" y="160"/>
                </a:lnTo>
                <a:lnTo>
                  <a:pt x="86" y="173"/>
                </a:lnTo>
                <a:lnTo>
                  <a:pt x="86" y="173"/>
                </a:lnTo>
                <a:lnTo>
                  <a:pt x="89" y="175"/>
                </a:lnTo>
                <a:lnTo>
                  <a:pt x="92" y="177"/>
                </a:lnTo>
                <a:lnTo>
                  <a:pt x="95" y="175"/>
                </a:lnTo>
                <a:lnTo>
                  <a:pt x="98" y="173"/>
                </a:lnTo>
                <a:lnTo>
                  <a:pt x="161" y="111"/>
                </a:lnTo>
                <a:close/>
              </a:path>
            </a:pathLst>
          </a:custGeom>
          <a:solidFill>
            <a:srgbClr val="0081F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7" name="path"/>
          <p:cNvSpPr/>
          <p:nvPr/>
        </p:nvSpPr>
        <p:spPr>
          <a:xfrm>
            <a:off x="1655254" y="4727206"/>
            <a:ext cx="9525" cy="179997"/>
          </a:xfrm>
          <a:custGeom>
            <a:avLst/>
            <a:gdLst/>
            <a:ahLst/>
            <a:cxnLst/>
            <a:rect l="0" t="0" r="0" b="0"/>
            <a:pathLst>
              <a:path w="15" h="283">
                <a:moveTo>
                  <a:pt x="7" y="0"/>
                </a:moveTo>
                <a:lnTo>
                  <a:pt x="7" y="283"/>
                </a:lnTo>
              </a:path>
            </a:pathLst>
          </a:custGeom>
          <a:noFill/>
          <a:ln w="9525" cap="flat">
            <a:solidFill>
              <a:srgbClr val="999999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610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picture 12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pSp>
        <p:nvGrpSpPr>
          <p:cNvPr id="172" name="group 172"/>
          <p:cNvGrpSpPr/>
          <p:nvPr/>
        </p:nvGrpSpPr>
        <p:grpSpPr>
          <a:xfrm rot="21600000">
            <a:off x="3476611" y="1606243"/>
            <a:ext cx="2528173" cy="2529147"/>
            <a:chOff x="0" y="0"/>
            <a:chExt cx="2528173" cy="2529147"/>
          </a:xfrm>
        </p:grpSpPr>
        <p:sp>
          <p:nvSpPr>
            <p:cNvPr id="1210" name="path"/>
            <p:cNvSpPr/>
            <p:nvPr/>
          </p:nvSpPr>
          <p:spPr>
            <a:xfrm>
              <a:off x="17412" y="44248"/>
              <a:ext cx="1247266" cy="1220343"/>
            </a:xfrm>
            <a:custGeom>
              <a:avLst/>
              <a:gdLst/>
              <a:ahLst/>
              <a:cxnLst/>
              <a:rect l="0" t="0" r="0" b="0"/>
              <a:pathLst>
                <a:path w="1964" h="1921">
                  <a:moveTo>
                    <a:pt x="0" y="1640"/>
                  </a:moveTo>
                  <a:cubicBezTo>
                    <a:pt x="113" y="846"/>
                    <a:pt x="693" y="199"/>
                    <a:pt x="1470" y="0"/>
                  </a:cubicBezTo>
                  <a:lnTo>
                    <a:pt x="1470" y="0"/>
                  </a:lnTo>
                  <a:lnTo>
                    <a:pt x="1964" y="1921"/>
                  </a:lnTo>
                  <a:lnTo>
                    <a:pt x="0" y="1640"/>
                  </a:lnTo>
                  <a:close/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11" name="path"/>
            <p:cNvSpPr/>
            <p:nvPr/>
          </p:nvSpPr>
          <p:spPr>
            <a:xfrm>
              <a:off x="0" y="1085521"/>
              <a:ext cx="1264679" cy="1319898"/>
            </a:xfrm>
            <a:custGeom>
              <a:avLst/>
              <a:gdLst/>
              <a:ahLst/>
              <a:cxnLst/>
              <a:rect l="0" t="0" r="0" b="0"/>
              <a:pathLst>
                <a:path w="1991" h="2078">
                  <a:moveTo>
                    <a:pt x="1149" y="2078"/>
                  </a:moveTo>
                  <a:cubicBezTo>
                    <a:pt x="358" y="1707"/>
                    <a:pt x="-96" y="864"/>
                    <a:pt x="27" y="0"/>
                  </a:cubicBezTo>
                  <a:lnTo>
                    <a:pt x="27" y="0"/>
                  </a:lnTo>
                  <a:lnTo>
                    <a:pt x="1991" y="282"/>
                  </a:lnTo>
                  <a:lnTo>
                    <a:pt x="1149" y="2078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12" name="path"/>
            <p:cNvSpPr/>
            <p:nvPr/>
          </p:nvSpPr>
          <p:spPr>
            <a:xfrm>
              <a:off x="724041" y="1264591"/>
              <a:ext cx="1557146" cy="1264556"/>
            </a:xfrm>
            <a:custGeom>
              <a:avLst/>
              <a:gdLst/>
              <a:ahLst/>
              <a:cxnLst/>
              <a:rect l="0" t="0" r="0" b="0"/>
              <a:pathLst>
                <a:path w="2452" h="1991">
                  <a:moveTo>
                    <a:pt x="2452" y="1172"/>
                  </a:moveTo>
                  <a:cubicBezTo>
                    <a:pt x="1889" y="1940"/>
                    <a:pt x="860" y="2201"/>
                    <a:pt x="0" y="1792"/>
                  </a:cubicBezTo>
                  <a:lnTo>
                    <a:pt x="0" y="1792"/>
                  </a:lnTo>
                  <a:lnTo>
                    <a:pt x="851" y="0"/>
                  </a:lnTo>
                  <a:lnTo>
                    <a:pt x="2452" y="1172"/>
                  </a:lnTo>
                  <a:close/>
                </a:path>
              </a:pathLst>
            </a:custGeom>
            <a:solidFill>
              <a:srgbClr val="59C3F1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13" name="path"/>
            <p:cNvSpPr/>
            <p:nvPr/>
          </p:nvSpPr>
          <p:spPr>
            <a:xfrm>
              <a:off x="1264679" y="664008"/>
              <a:ext cx="1263494" cy="1341881"/>
            </a:xfrm>
            <a:custGeom>
              <a:avLst/>
              <a:gdLst/>
              <a:ahLst/>
              <a:cxnLst/>
              <a:rect l="0" t="0" r="0" b="0"/>
              <a:pathLst>
                <a:path w="1989" h="2113">
                  <a:moveTo>
                    <a:pt x="1744" y="0"/>
                  </a:moveTo>
                  <a:cubicBezTo>
                    <a:pt x="2109" y="672"/>
                    <a:pt x="2054" y="1494"/>
                    <a:pt x="1604" y="2113"/>
                  </a:cubicBezTo>
                  <a:lnTo>
                    <a:pt x="1604" y="2113"/>
                  </a:lnTo>
                  <a:lnTo>
                    <a:pt x="0" y="94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B3DE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14" name="path"/>
            <p:cNvSpPr/>
            <p:nvPr/>
          </p:nvSpPr>
          <p:spPr>
            <a:xfrm>
              <a:off x="952006" y="0"/>
              <a:ext cx="1425574" cy="1264591"/>
            </a:xfrm>
            <a:custGeom>
              <a:avLst/>
              <a:gdLst/>
              <a:ahLst/>
              <a:cxnLst/>
              <a:rect l="0" t="0" r="0" b="0"/>
              <a:pathLst>
                <a:path w="2244" h="1991">
                  <a:moveTo>
                    <a:pt x="0" y="69"/>
                  </a:moveTo>
                  <a:cubicBezTo>
                    <a:pt x="887" y="-157"/>
                    <a:pt x="1815" y="251"/>
                    <a:pt x="2244" y="1060"/>
                  </a:cubicBezTo>
                  <a:lnTo>
                    <a:pt x="2244" y="1060"/>
                  </a:lnTo>
                  <a:lnTo>
                    <a:pt x="492" y="1991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F5A5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15" name="path"/>
            <p:cNvSpPr/>
            <p:nvPr/>
          </p:nvSpPr>
          <p:spPr>
            <a:xfrm>
              <a:off x="454928" y="461443"/>
              <a:ext cx="1620011" cy="1620012"/>
            </a:xfrm>
            <a:custGeom>
              <a:avLst/>
              <a:gdLst/>
              <a:ahLst/>
              <a:cxnLst/>
              <a:rect l="0" t="0" r="0" b="0"/>
              <a:pathLst>
                <a:path w="2551" h="2551">
                  <a:moveTo>
                    <a:pt x="0" y="1275"/>
                  </a:moveTo>
                  <a:cubicBezTo>
                    <a:pt x="0" y="571"/>
                    <a:pt x="570" y="0"/>
                    <a:pt x="1275" y="0"/>
                  </a:cubicBezTo>
                  <a:cubicBezTo>
                    <a:pt x="1275" y="0"/>
                    <a:pt x="1275" y="0"/>
                    <a:pt x="1275" y="0"/>
                  </a:cubicBezTo>
                  <a:lnTo>
                    <a:pt x="1275" y="0"/>
                  </a:lnTo>
                  <a:cubicBezTo>
                    <a:pt x="1980" y="0"/>
                    <a:pt x="2551" y="571"/>
                    <a:pt x="2551" y="1275"/>
                  </a:cubicBezTo>
                  <a:cubicBezTo>
                    <a:pt x="2551" y="1275"/>
                    <a:pt x="2551" y="1275"/>
                    <a:pt x="2551" y="1275"/>
                  </a:cubicBezTo>
                  <a:lnTo>
                    <a:pt x="2551" y="1275"/>
                  </a:lnTo>
                  <a:cubicBezTo>
                    <a:pt x="2551" y="1980"/>
                    <a:pt x="1980" y="2551"/>
                    <a:pt x="1275" y="2551"/>
                  </a:cubicBezTo>
                  <a:cubicBezTo>
                    <a:pt x="1275" y="2551"/>
                    <a:pt x="1275" y="2551"/>
                    <a:pt x="1275" y="2551"/>
                  </a:cubicBezTo>
                  <a:lnTo>
                    <a:pt x="1275" y="2551"/>
                  </a:lnTo>
                  <a:cubicBezTo>
                    <a:pt x="570" y="2551"/>
                    <a:pt x="0" y="1980"/>
                    <a:pt x="0" y="1275"/>
                  </a:cubicBezTo>
                  <a:cubicBezTo>
                    <a:pt x="0" y="1275"/>
                    <a:pt x="0" y="1275"/>
                    <a:pt x="0" y="1275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216" name="picture 12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6844" y="2913989"/>
            <a:ext cx="1999614" cy="1469136"/>
          </a:xfrm>
          <a:prstGeom prst="rect">
            <a:avLst/>
          </a:prstGeom>
        </p:spPr>
      </p:pic>
      <p:sp>
        <p:nvSpPr>
          <p:cNvPr id="1217" name="textbox 1217"/>
          <p:cNvSpPr/>
          <p:nvPr/>
        </p:nvSpPr>
        <p:spPr>
          <a:xfrm>
            <a:off x="342391" y="950798"/>
            <a:ext cx="5159375" cy="5092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  <a:tabLst>
                <a:tab pos="1003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根据其内容模态不同可分为文本、视频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图像，音频与跨模态生成</a:t>
            </a:r>
            <a:endParaRPr lang="en-US" altLang="en-US" sz="1200" dirty="0"/>
          </a:p>
          <a:p>
            <a:pPr algn="l" rtl="0" eaLnBrk="0">
              <a:lnSpc>
                <a:spcPct val="104000"/>
              </a:lnSpc>
            </a:pPr>
            <a:endParaRPr lang="en-US" altLang="en-US" sz="1000" dirty="0"/>
          </a:p>
          <a:p>
            <a:pPr algn="r" rtl="0" eaLnBrk="0">
              <a:lnSpc>
                <a:spcPts val="116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图51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应用功能简单如下图所</a:t>
            </a:r>
            <a:r>
              <a:rPr sz="9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900" dirty="0"/>
          </a:p>
        </p:txBody>
      </p:sp>
      <p:pic>
        <p:nvPicPr>
          <p:cNvPr id="1218" name="picture 12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091" y="986663"/>
            <a:ext cx="88239" cy="100584"/>
          </a:xfrm>
          <a:prstGeom prst="rect">
            <a:avLst/>
          </a:prstGeom>
        </p:spPr>
      </p:pic>
      <p:pic>
        <p:nvPicPr>
          <p:cNvPr id="1219" name="picture 12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99477" y="3087954"/>
            <a:ext cx="1439291" cy="1622298"/>
          </a:xfrm>
          <a:prstGeom prst="rect">
            <a:avLst/>
          </a:prstGeom>
        </p:spPr>
      </p:pic>
      <p:sp>
        <p:nvSpPr>
          <p:cNvPr id="1220" name="textbox 1220"/>
          <p:cNvSpPr/>
          <p:nvPr/>
        </p:nvSpPr>
        <p:spPr>
          <a:xfrm>
            <a:off x="6287674" y="4113072"/>
            <a:ext cx="2273935" cy="808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3335" algn="l" rtl="0" eaLnBrk="0">
              <a:lnSpc>
                <a:spcPct val="98000"/>
              </a:lnSpc>
            </a:pP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跨模态</a:t>
            </a:r>
            <a:endParaRPr lang="en-US" altLang="en-US" sz="1200" dirty="0"/>
          </a:p>
          <a:p>
            <a:pPr marL="12700" algn="l" rtl="0" eaLnBrk="0">
              <a:lnSpc>
                <a:spcPct val="92000"/>
              </a:lnSpc>
              <a:spcBef>
                <a:spcPts val="320"/>
              </a:spcBef>
            </a:pP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文字合成图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</a:t>
            </a:r>
            <a:endParaRPr lang="en-US" altLang="en-US" sz="800" dirty="0"/>
          </a:p>
          <a:p>
            <a:pPr marL="12700" algn="l" rtl="0" eaLnBrk="0">
              <a:lnSpc>
                <a:spcPts val="1295"/>
              </a:lnSpc>
            </a:pP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文字合成视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endParaRPr lang="en-US" altLang="en-US" sz="800" dirty="0"/>
          </a:p>
          <a:p>
            <a:pPr algn="l" rtl="0" eaLnBrk="0">
              <a:lnSpc>
                <a:spcPct val="113000"/>
              </a:lnSpc>
            </a:pPr>
            <a:endParaRPr lang="en-US" altLang="en-US" sz="700" dirty="0"/>
          </a:p>
          <a:p>
            <a:pPr marL="18415" algn="l" rtl="0" eaLnBrk="0">
              <a:lnSpc>
                <a:spcPct val="99000"/>
              </a:lnSpc>
            </a:pPr>
            <a:r>
              <a:rPr sz="1200" spc="20" baseline="650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sz="7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lang="en-US" altLang="en-US" sz="900" dirty="0"/>
          </a:p>
        </p:txBody>
      </p:sp>
      <p:pic>
        <p:nvPicPr>
          <p:cNvPr id="1221" name="picture 1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64375" y="1205877"/>
            <a:ext cx="1439671" cy="1059802"/>
          </a:xfrm>
          <a:prstGeom prst="rect">
            <a:avLst/>
          </a:prstGeom>
        </p:spPr>
      </p:pic>
      <p:sp>
        <p:nvSpPr>
          <p:cNvPr id="1222" name="textbox 1222"/>
          <p:cNvSpPr/>
          <p:nvPr/>
        </p:nvSpPr>
        <p:spPr>
          <a:xfrm>
            <a:off x="837138" y="437229"/>
            <a:ext cx="3597909" cy="32194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生成技术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可按模态进行分类</a:t>
            </a:r>
            <a:endParaRPr lang="en-US" altLang="en-US" sz="2000" dirty="0"/>
          </a:p>
        </p:txBody>
      </p:sp>
      <p:pic>
        <p:nvPicPr>
          <p:cNvPr id="1223" name="picture 12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132827" y="2364600"/>
            <a:ext cx="1315973" cy="576084"/>
          </a:xfrm>
          <a:prstGeom prst="rect">
            <a:avLst/>
          </a:prstGeom>
        </p:spPr>
      </p:pic>
      <p:pic>
        <p:nvPicPr>
          <p:cNvPr id="1224" name="picture 12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98004" y="1796542"/>
            <a:ext cx="1367662" cy="539749"/>
          </a:xfrm>
          <a:prstGeom prst="rect">
            <a:avLst/>
          </a:prstGeom>
        </p:spPr>
      </p:pic>
      <p:sp>
        <p:nvSpPr>
          <p:cNvPr id="1225" name="textbox 1225"/>
          <p:cNvSpPr/>
          <p:nvPr/>
        </p:nvSpPr>
        <p:spPr>
          <a:xfrm>
            <a:off x="2213348" y="1622501"/>
            <a:ext cx="789940" cy="7975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471805" algn="l" rtl="0" eaLnBrk="0">
              <a:lnSpc>
                <a:spcPct val="97000"/>
              </a:lnSpc>
            </a:pPr>
            <a:r>
              <a:rPr sz="1200" spc="-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endParaRPr lang="en-US" altLang="en-US" sz="1200" dirty="0"/>
          </a:p>
          <a:p>
            <a:pPr algn="l" rtl="0" eaLnBrk="0">
              <a:lnSpc>
                <a:spcPct val="112000"/>
              </a:lnSpc>
            </a:pPr>
            <a:endParaRPr lang="en-US" altLang="en-US" sz="300" dirty="0"/>
          </a:p>
          <a:p>
            <a:pPr marL="12700" algn="l" rtl="0" eaLnBrk="0">
              <a:lnSpc>
                <a:spcPct val="132000"/>
              </a:lnSpc>
              <a:spcBef>
                <a:spcPts val="0"/>
              </a:spcBef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视频画质增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视频内容创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视频风格迁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</a:t>
            </a:r>
            <a:endParaRPr lang="en-US" altLang="en-US" sz="900" dirty="0"/>
          </a:p>
        </p:txBody>
      </p:sp>
      <p:sp>
        <p:nvSpPr>
          <p:cNvPr id="1226" name="path"/>
          <p:cNvSpPr/>
          <p:nvPr/>
        </p:nvSpPr>
        <p:spPr>
          <a:xfrm>
            <a:off x="4995798" y="3818382"/>
            <a:ext cx="1210436" cy="468134"/>
          </a:xfrm>
          <a:custGeom>
            <a:avLst/>
            <a:gdLst/>
            <a:ahLst/>
            <a:cxnLst/>
            <a:rect l="0" t="0" r="0" b="0"/>
            <a:pathLst>
              <a:path w="1906" h="737">
                <a:moveTo>
                  <a:pt x="0" y="91"/>
                </a:moveTo>
                <a:cubicBezTo>
                  <a:pt x="0" y="40"/>
                  <a:pt x="40" y="0"/>
                  <a:pt x="89" y="0"/>
                </a:cubicBezTo>
                <a:cubicBezTo>
                  <a:pt x="89" y="0"/>
                  <a:pt x="89" y="0"/>
                  <a:pt x="89" y="0"/>
                </a:cubicBezTo>
                <a:lnTo>
                  <a:pt x="89" y="0"/>
                </a:lnTo>
                <a:cubicBezTo>
                  <a:pt x="138" y="0"/>
                  <a:pt x="179" y="40"/>
                  <a:pt x="179" y="91"/>
                </a:cubicBezTo>
                <a:cubicBezTo>
                  <a:pt x="179" y="91"/>
                  <a:pt x="179" y="91"/>
                  <a:pt x="179" y="91"/>
                </a:cubicBezTo>
                <a:lnTo>
                  <a:pt x="179" y="91"/>
                </a:lnTo>
                <a:cubicBezTo>
                  <a:pt x="179" y="141"/>
                  <a:pt x="138" y="182"/>
                  <a:pt x="89" y="182"/>
                </a:cubicBezTo>
                <a:cubicBezTo>
                  <a:pt x="89" y="182"/>
                  <a:pt x="89" y="182"/>
                  <a:pt x="89" y="182"/>
                </a:cubicBezTo>
                <a:lnTo>
                  <a:pt x="89" y="182"/>
                </a:lnTo>
                <a:cubicBezTo>
                  <a:pt x="40" y="182"/>
                  <a:pt x="0" y="141"/>
                  <a:pt x="0" y="91"/>
                </a:cubicBezTo>
                <a:cubicBezTo>
                  <a:pt x="0" y="91"/>
                  <a:pt x="0" y="91"/>
                  <a:pt x="0" y="91"/>
                </a:cubicBezTo>
              </a:path>
              <a:path w="1906" h="737">
                <a:moveTo>
                  <a:pt x="1906" y="737"/>
                </a:moveTo>
                <a:lnTo>
                  <a:pt x="719" y="737"/>
                </a:lnTo>
                <a:lnTo>
                  <a:pt x="82" y="96"/>
                </a:lnTo>
                <a:lnTo>
                  <a:pt x="94" y="85"/>
                </a:lnTo>
                <a:lnTo>
                  <a:pt x="728" y="719"/>
                </a:lnTo>
                <a:lnTo>
                  <a:pt x="1906" y="719"/>
                </a:lnTo>
                <a:lnTo>
                  <a:pt x="1906" y="737"/>
                </a:lnTo>
                <a:close/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7" name="textbox 1227"/>
          <p:cNvSpPr/>
          <p:nvPr/>
        </p:nvSpPr>
        <p:spPr>
          <a:xfrm>
            <a:off x="2629908" y="3108401"/>
            <a:ext cx="535940" cy="9804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217805" algn="l" rtl="0" eaLnBrk="0">
              <a:lnSpc>
                <a:spcPct val="98000"/>
              </a:lnSpc>
            </a:pPr>
            <a:r>
              <a:rPr sz="1200" spc="-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endParaRPr lang="en-US" altLang="en-US" sz="1200" dirty="0"/>
          </a:p>
          <a:p>
            <a:pPr marL="12700" indent="0" algn="l" rtl="0" eaLnBrk="0">
              <a:lnSpc>
                <a:spcPct val="132000"/>
              </a:lnSpc>
              <a:spcBef>
                <a:spcPts val="405"/>
              </a:spcBef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文本创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代码生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对话问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</a:t>
            </a:r>
            <a:endParaRPr lang="en-US" altLang="en-US" sz="900" dirty="0"/>
          </a:p>
          <a:p>
            <a:pPr algn="l" rtl="0" eaLnBrk="0">
              <a:lnSpc>
                <a:spcPct val="109000"/>
              </a:lnSpc>
            </a:pPr>
            <a:endParaRPr lang="en-US" altLang="en-US" sz="8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410210" algn="l" rtl="0" eaLnBrk="0">
              <a:lnSpc>
                <a:spcPts val="375"/>
              </a:lnSpc>
            </a:pPr>
            <a:r>
              <a:rPr sz="900" spc="1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en-US" sz="900" dirty="0"/>
          </a:p>
        </p:txBody>
      </p:sp>
      <p:sp>
        <p:nvSpPr>
          <p:cNvPr id="1228" name="textbox 1228"/>
          <p:cNvSpPr/>
          <p:nvPr/>
        </p:nvSpPr>
        <p:spPr>
          <a:xfrm>
            <a:off x="5684487" y="124277"/>
            <a:ext cx="3129914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</p:txBody>
      </p:sp>
      <p:sp>
        <p:nvSpPr>
          <p:cNvPr id="1229" name="path"/>
          <p:cNvSpPr/>
          <p:nvPr/>
        </p:nvSpPr>
        <p:spPr>
          <a:xfrm>
            <a:off x="5103875" y="1457578"/>
            <a:ext cx="977392" cy="468122"/>
          </a:xfrm>
          <a:custGeom>
            <a:avLst/>
            <a:gdLst/>
            <a:ahLst/>
            <a:cxnLst/>
            <a:rect l="0" t="0" r="0" b="0"/>
            <a:pathLst>
              <a:path w="1539" h="737">
                <a:moveTo>
                  <a:pt x="0" y="646"/>
                </a:moveTo>
                <a:cubicBezTo>
                  <a:pt x="0" y="596"/>
                  <a:pt x="40" y="555"/>
                  <a:pt x="89" y="555"/>
                </a:cubicBezTo>
                <a:cubicBezTo>
                  <a:pt x="89" y="555"/>
                  <a:pt x="89" y="555"/>
                  <a:pt x="89" y="555"/>
                </a:cubicBezTo>
                <a:lnTo>
                  <a:pt x="89" y="555"/>
                </a:lnTo>
                <a:cubicBezTo>
                  <a:pt x="139" y="555"/>
                  <a:pt x="179" y="596"/>
                  <a:pt x="179" y="646"/>
                </a:cubicBezTo>
                <a:cubicBezTo>
                  <a:pt x="179" y="646"/>
                  <a:pt x="179" y="646"/>
                  <a:pt x="179" y="646"/>
                </a:cubicBezTo>
                <a:lnTo>
                  <a:pt x="179" y="646"/>
                </a:lnTo>
                <a:cubicBezTo>
                  <a:pt x="179" y="696"/>
                  <a:pt x="139" y="737"/>
                  <a:pt x="89" y="737"/>
                </a:cubicBezTo>
                <a:cubicBezTo>
                  <a:pt x="89" y="737"/>
                  <a:pt x="89" y="737"/>
                  <a:pt x="89" y="737"/>
                </a:cubicBezTo>
                <a:lnTo>
                  <a:pt x="89" y="737"/>
                </a:lnTo>
                <a:cubicBezTo>
                  <a:pt x="40" y="737"/>
                  <a:pt x="0" y="696"/>
                  <a:pt x="0" y="646"/>
                </a:cubicBezTo>
                <a:cubicBezTo>
                  <a:pt x="0" y="646"/>
                  <a:pt x="0" y="646"/>
                  <a:pt x="0" y="646"/>
                </a:cubicBezTo>
              </a:path>
              <a:path w="1539" h="737">
                <a:moveTo>
                  <a:pt x="91" y="652"/>
                </a:moveTo>
                <a:lnTo>
                  <a:pt x="82" y="640"/>
                </a:lnTo>
                <a:lnTo>
                  <a:pt x="591" y="0"/>
                </a:lnTo>
                <a:lnTo>
                  <a:pt x="1539" y="0"/>
                </a:lnTo>
                <a:lnTo>
                  <a:pt x="1539" y="17"/>
                </a:lnTo>
                <a:lnTo>
                  <a:pt x="598" y="17"/>
                </a:lnTo>
                <a:lnTo>
                  <a:pt x="91" y="652"/>
                </a:lnTo>
                <a:close/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0" name="textbox 1230"/>
          <p:cNvSpPr/>
          <p:nvPr/>
        </p:nvSpPr>
        <p:spPr>
          <a:xfrm>
            <a:off x="6350257" y="1357325"/>
            <a:ext cx="591184" cy="8464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5240" algn="l" rtl="0" eaLnBrk="0">
              <a:lnSpc>
                <a:spcPct val="98000"/>
              </a:lnSpc>
            </a:pPr>
            <a:r>
              <a:rPr sz="1200" spc="-2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200" spc="-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</a:t>
            </a:r>
            <a:endParaRPr lang="en-US" altLang="en-US" sz="1200" dirty="0"/>
          </a:p>
          <a:p>
            <a:pPr marL="12700" algn="l" rtl="0" eaLnBrk="0">
              <a:lnSpc>
                <a:spcPct val="123000"/>
              </a:lnSpc>
              <a:spcBef>
                <a:spcPts val="325"/>
              </a:spcBef>
            </a:pP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</a:t>
            </a:r>
            <a:r>
              <a:rPr sz="8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辑     </a:t>
            </a: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8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     </a:t>
            </a:r>
            <a:r>
              <a:rPr sz="8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8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8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</a:t>
            </a:r>
            <a:r>
              <a:rPr sz="8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800" dirty="0"/>
          </a:p>
          <a:p>
            <a:pPr algn="l" rtl="0" eaLnBrk="0">
              <a:lnSpc>
                <a:spcPct val="102000"/>
              </a:lnSpc>
            </a:pPr>
            <a:endParaRPr lang="en-US" altLang="en-US" sz="700" dirty="0"/>
          </a:p>
          <a:p>
            <a:pPr marL="13970" algn="l" rtl="0" eaLnBrk="0">
              <a:lnSpc>
                <a:spcPts val="325"/>
              </a:lnSpc>
              <a:spcBef>
                <a:spcPts val="5"/>
              </a:spcBef>
            </a:pPr>
            <a:r>
              <a:rPr sz="8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en-US" sz="800" dirty="0"/>
          </a:p>
        </p:txBody>
      </p:sp>
      <p:grpSp>
        <p:nvGrpSpPr>
          <p:cNvPr id="174" name="group 174"/>
          <p:cNvGrpSpPr/>
          <p:nvPr/>
        </p:nvGrpSpPr>
        <p:grpSpPr>
          <a:xfrm rot="21600000">
            <a:off x="0" y="411531"/>
            <a:ext cx="755581" cy="432003"/>
            <a:chOff x="0" y="0"/>
            <a:chExt cx="755581" cy="432003"/>
          </a:xfrm>
        </p:grpSpPr>
        <p:sp>
          <p:nvSpPr>
            <p:cNvPr id="1231" name="path"/>
            <p:cNvSpPr/>
            <p:nvPr/>
          </p:nvSpPr>
          <p:spPr>
            <a:xfrm>
              <a:off x="0" y="0"/>
              <a:ext cx="755581" cy="432003"/>
            </a:xfrm>
            <a:custGeom>
              <a:avLst/>
              <a:gdLst/>
              <a:ahLst/>
              <a:cxnLst/>
              <a:rect l="0" t="0" r="0" b="0"/>
              <a:pathLst>
                <a:path w="1189" h="680">
                  <a:moveTo>
                    <a:pt x="0" y="680"/>
                  </a:moveTo>
                  <a:lnTo>
                    <a:pt x="1077" y="680"/>
                  </a:lnTo>
                  <a:lnTo>
                    <a:pt x="1077" y="0"/>
                  </a:lnTo>
                  <a:lnTo>
                    <a:pt x="0" y="0"/>
                  </a:lnTo>
                  <a:lnTo>
                    <a:pt x="0" y="680"/>
                  </a:lnTo>
                  <a:close/>
                </a:path>
                <a:path w="1189" h="680">
                  <a:moveTo>
                    <a:pt x="1121" y="680"/>
                  </a:moveTo>
                  <a:lnTo>
                    <a:pt x="1189" y="680"/>
                  </a:lnTo>
                  <a:lnTo>
                    <a:pt x="1189" y="0"/>
                  </a:lnTo>
                  <a:lnTo>
                    <a:pt x="1121" y="0"/>
                  </a:lnTo>
                  <a:lnTo>
                    <a:pt x="1121" y="680"/>
                  </a:lnTo>
                  <a:close/>
                </a:path>
              </a:pathLst>
            </a:custGeom>
            <a:solidFill>
              <a:srgbClr val="0677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32" name="textbox 1232"/>
            <p:cNvSpPr/>
            <p:nvPr/>
          </p:nvSpPr>
          <p:spPr>
            <a:xfrm>
              <a:off x="-12700" y="-12700"/>
              <a:ext cx="781050" cy="54990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6050" algn="l" rtl="0" eaLnBrk="0">
                <a:lnSpc>
                  <a:spcPct val="80000"/>
                </a:lnSpc>
                <a:spcBef>
                  <a:spcPts val="0"/>
                </a:spcBef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altLang="zh-CN" sz="320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altLang="en-US" sz="3200" dirty="0"/>
            </a:p>
          </p:txBody>
        </p:sp>
      </p:grpSp>
      <p:sp>
        <p:nvSpPr>
          <p:cNvPr id="1233" name="textbox 1233"/>
          <p:cNvSpPr/>
          <p:nvPr/>
        </p:nvSpPr>
        <p:spPr>
          <a:xfrm>
            <a:off x="6403498" y="2510104"/>
            <a:ext cx="657859" cy="5327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3970" algn="l" rtl="0" eaLnBrk="0">
              <a:lnSpc>
                <a:spcPct val="97000"/>
              </a:lnSpc>
            </a:pPr>
            <a:r>
              <a:rPr sz="1200" spc="-1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1200" spc="0" dirty="0">
                <a:ln w="3175" cap="flat" cmpd="sng">
                  <a:solidFill>
                    <a:srgbClr val="003B71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3B7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endParaRPr lang="en-US" altLang="en-US" sz="1200" dirty="0"/>
          </a:p>
          <a:p>
            <a:pPr algn="l" rtl="0" eaLnBrk="0">
              <a:lnSpc>
                <a:spcPct val="138000"/>
              </a:lnSpc>
            </a:pPr>
            <a:endParaRPr lang="en-US" altLang="en-US" sz="200" dirty="0"/>
          </a:p>
          <a:p>
            <a:pPr marL="12700" algn="l" rtl="0" eaLnBrk="0">
              <a:lnSpc>
                <a:spcPct val="118000"/>
              </a:lnSpc>
              <a:spcBef>
                <a:spcPts val="0"/>
              </a:spcBef>
            </a:pP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文本合成语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8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语音克</a:t>
            </a:r>
            <a:r>
              <a:rPr sz="8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隆</a:t>
            </a:r>
            <a:endParaRPr lang="en-US" altLang="en-US" sz="800" dirty="0"/>
          </a:p>
        </p:txBody>
      </p:sp>
      <p:sp>
        <p:nvSpPr>
          <p:cNvPr id="1234" name="textbox 1234"/>
          <p:cNvSpPr/>
          <p:nvPr/>
        </p:nvSpPr>
        <p:spPr>
          <a:xfrm>
            <a:off x="285708" y="4981137"/>
            <a:ext cx="2771139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来源：各公司官网，中国通信研究院，国泰君安证券研究</a:t>
            </a:r>
            <a:endParaRPr lang="en-US" altLang="en-US" sz="800" dirty="0"/>
          </a:p>
        </p:txBody>
      </p:sp>
      <p:sp>
        <p:nvSpPr>
          <p:cNvPr id="1235" name="path"/>
          <p:cNvSpPr/>
          <p:nvPr/>
        </p:nvSpPr>
        <p:spPr>
          <a:xfrm>
            <a:off x="3027045" y="1840357"/>
            <a:ext cx="869060" cy="326516"/>
          </a:xfrm>
          <a:custGeom>
            <a:avLst/>
            <a:gdLst/>
            <a:ahLst/>
            <a:cxnLst/>
            <a:rect l="0" t="0" r="0" b="0"/>
            <a:pathLst>
              <a:path w="1368" h="514">
                <a:moveTo>
                  <a:pt x="1357" y="514"/>
                </a:moveTo>
                <a:lnTo>
                  <a:pt x="882" y="14"/>
                </a:lnTo>
                <a:lnTo>
                  <a:pt x="0" y="14"/>
                </a:lnTo>
                <a:lnTo>
                  <a:pt x="0" y="0"/>
                </a:lnTo>
                <a:lnTo>
                  <a:pt x="889" y="0"/>
                </a:lnTo>
                <a:lnTo>
                  <a:pt x="1368" y="505"/>
                </a:lnTo>
                <a:lnTo>
                  <a:pt x="1357" y="514"/>
                </a:lnTo>
                <a:close/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8" name="textbox 1238"/>
          <p:cNvSpPr/>
          <p:nvPr/>
        </p:nvSpPr>
        <p:spPr>
          <a:xfrm>
            <a:off x="4346244" y="2741218"/>
            <a:ext cx="793750" cy="3327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4000"/>
              </a:lnSpc>
            </a:pPr>
            <a:r>
              <a:rPr sz="2400" spc="70" dirty="0">
                <a:ln w="6350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</a:t>
            </a:r>
            <a:r>
              <a:rPr sz="2400" spc="50" dirty="0">
                <a:ln w="6350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en-US" sz="2400" dirty="0"/>
          </a:p>
        </p:txBody>
      </p:sp>
      <p:sp>
        <p:nvSpPr>
          <p:cNvPr id="1239" name="textbox 1239"/>
          <p:cNvSpPr/>
          <p:nvPr/>
        </p:nvSpPr>
        <p:spPr>
          <a:xfrm>
            <a:off x="6403918" y="3057863"/>
            <a:ext cx="447040" cy="298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965"/>
              </a:lnSpc>
            </a:pPr>
            <a:r>
              <a:rPr sz="8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音乐生</a:t>
            </a:r>
            <a:r>
              <a:rPr sz="8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800" dirty="0"/>
          </a:p>
          <a:p>
            <a:pPr algn="l" rtl="0" eaLnBrk="0">
              <a:lnSpc>
                <a:spcPct val="102000"/>
              </a:lnSpc>
            </a:pPr>
            <a:endParaRPr lang="en-US" altLang="en-US" sz="700" dirty="0"/>
          </a:p>
          <a:p>
            <a:pPr marL="17780" algn="l" rtl="0" eaLnBrk="0">
              <a:lnSpc>
                <a:spcPts val="325"/>
              </a:lnSpc>
              <a:spcBef>
                <a:spcPts val="5"/>
              </a:spcBef>
            </a:pPr>
            <a:r>
              <a:rPr sz="8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en-US" sz="800" dirty="0"/>
          </a:p>
        </p:txBody>
      </p:sp>
      <p:sp>
        <p:nvSpPr>
          <p:cNvPr id="1240" name="path"/>
          <p:cNvSpPr/>
          <p:nvPr/>
        </p:nvSpPr>
        <p:spPr>
          <a:xfrm>
            <a:off x="3244850" y="3417189"/>
            <a:ext cx="634110" cy="115696"/>
          </a:xfrm>
          <a:custGeom>
            <a:avLst/>
            <a:gdLst/>
            <a:ahLst/>
            <a:cxnLst/>
            <a:rect l="0" t="0" r="0" b="0"/>
            <a:pathLst>
              <a:path w="998" h="182">
                <a:moveTo>
                  <a:pt x="819" y="90"/>
                </a:moveTo>
                <a:cubicBezTo>
                  <a:pt x="819" y="40"/>
                  <a:pt x="859" y="0"/>
                  <a:pt x="908" y="0"/>
                </a:cubicBezTo>
                <a:cubicBezTo>
                  <a:pt x="908" y="0"/>
                  <a:pt x="908" y="0"/>
                  <a:pt x="908" y="0"/>
                </a:cubicBezTo>
                <a:lnTo>
                  <a:pt x="908" y="0"/>
                </a:lnTo>
                <a:cubicBezTo>
                  <a:pt x="958" y="0"/>
                  <a:pt x="998" y="40"/>
                  <a:pt x="998" y="90"/>
                </a:cubicBezTo>
                <a:cubicBezTo>
                  <a:pt x="998" y="90"/>
                  <a:pt x="998" y="90"/>
                  <a:pt x="998" y="90"/>
                </a:cubicBezTo>
                <a:lnTo>
                  <a:pt x="998" y="90"/>
                </a:lnTo>
                <a:cubicBezTo>
                  <a:pt x="998" y="141"/>
                  <a:pt x="958" y="182"/>
                  <a:pt x="908" y="182"/>
                </a:cubicBezTo>
                <a:cubicBezTo>
                  <a:pt x="908" y="182"/>
                  <a:pt x="908" y="182"/>
                  <a:pt x="908" y="182"/>
                </a:cubicBezTo>
                <a:lnTo>
                  <a:pt x="908" y="182"/>
                </a:lnTo>
                <a:cubicBezTo>
                  <a:pt x="859" y="182"/>
                  <a:pt x="819" y="141"/>
                  <a:pt x="819" y="90"/>
                </a:cubicBezTo>
                <a:cubicBezTo>
                  <a:pt x="819" y="90"/>
                  <a:pt x="819" y="90"/>
                  <a:pt x="819" y="90"/>
                </a:cubicBezTo>
              </a:path>
              <a:path w="998" h="182">
                <a:moveTo>
                  <a:pt x="0" y="102"/>
                </a:moveTo>
                <a:lnTo>
                  <a:pt x="907" y="102"/>
                </a:lnTo>
                <a:lnTo>
                  <a:pt x="907" y="85"/>
                </a:lnTo>
                <a:lnTo>
                  <a:pt x="0" y="85"/>
                </a:lnTo>
                <a:lnTo>
                  <a:pt x="0" y="102"/>
                </a:lnTo>
                <a:close/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1" name="rect"/>
          <p:cNvSpPr/>
          <p:nvPr/>
        </p:nvSpPr>
        <p:spPr>
          <a:xfrm>
            <a:off x="5780023" y="2761220"/>
            <a:ext cx="576288" cy="11190"/>
          </a:xfrm>
          <a:prstGeom prst="rect">
            <a:avLst/>
          </a:pr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2" name="path"/>
          <p:cNvSpPr/>
          <p:nvPr/>
        </p:nvSpPr>
        <p:spPr>
          <a:xfrm>
            <a:off x="5722239" y="2707132"/>
            <a:ext cx="113791" cy="115570"/>
          </a:xfrm>
          <a:custGeom>
            <a:avLst/>
            <a:gdLst/>
            <a:ahLst/>
            <a:cxnLst/>
            <a:rect l="0" t="0" r="0" b="0"/>
            <a:pathLst>
              <a:path w="179" h="182">
                <a:moveTo>
                  <a:pt x="0" y="91"/>
                </a:moveTo>
                <a:cubicBezTo>
                  <a:pt x="0" y="40"/>
                  <a:pt x="40" y="0"/>
                  <a:pt x="89" y="0"/>
                </a:cubicBezTo>
                <a:cubicBezTo>
                  <a:pt x="89" y="0"/>
                  <a:pt x="89" y="0"/>
                  <a:pt x="89" y="0"/>
                </a:cubicBezTo>
                <a:lnTo>
                  <a:pt x="89" y="0"/>
                </a:lnTo>
                <a:cubicBezTo>
                  <a:pt x="138" y="0"/>
                  <a:pt x="179" y="40"/>
                  <a:pt x="179" y="91"/>
                </a:cubicBezTo>
                <a:cubicBezTo>
                  <a:pt x="179" y="91"/>
                  <a:pt x="179" y="91"/>
                  <a:pt x="179" y="91"/>
                </a:cubicBezTo>
                <a:lnTo>
                  <a:pt x="179" y="91"/>
                </a:lnTo>
                <a:cubicBezTo>
                  <a:pt x="179" y="141"/>
                  <a:pt x="138" y="182"/>
                  <a:pt x="89" y="182"/>
                </a:cubicBezTo>
                <a:cubicBezTo>
                  <a:pt x="89" y="182"/>
                  <a:pt x="89" y="182"/>
                  <a:pt x="89" y="182"/>
                </a:cubicBezTo>
                <a:lnTo>
                  <a:pt x="89" y="182"/>
                </a:lnTo>
                <a:cubicBezTo>
                  <a:pt x="40" y="182"/>
                  <a:pt x="0" y="141"/>
                  <a:pt x="0" y="91"/>
                </a:cubicBezTo>
                <a:cubicBezTo>
                  <a:pt x="0" y="91"/>
                  <a:pt x="0" y="91"/>
                  <a:pt x="0" y="91"/>
                </a:cubicBezTo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3" name="path"/>
          <p:cNvSpPr/>
          <p:nvPr/>
        </p:nvSpPr>
        <p:spPr>
          <a:xfrm>
            <a:off x="3840225" y="2114930"/>
            <a:ext cx="111887" cy="115569"/>
          </a:xfrm>
          <a:custGeom>
            <a:avLst/>
            <a:gdLst/>
            <a:ahLst/>
            <a:cxnLst/>
            <a:rect l="0" t="0" r="0" b="0"/>
            <a:pathLst>
              <a:path w="176" h="181">
                <a:moveTo>
                  <a:pt x="0" y="91"/>
                </a:moveTo>
                <a:cubicBezTo>
                  <a:pt x="0" y="40"/>
                  <a:pt x="39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0"/>
                </a:lnTo>
                <a:cubicBezTo>
                  <a:pt x="136" y="0"/>
                  <a:pt x="176" y="40"/>
                  <a:pt x="176" y="91"/>
                </a:cubicBezTo>
                <a:cubicBezTo>
                  <a:pt x="176" y="91"/>
                  <a:pt x="176" y="91"/>
                  <a:pt x="176" y="91"/>
                </a:cubicBezTo>
                <a:lnTo>
                  <a:pt x="176" y="91"/>
                </a:lnTo>
                <a:cubicBezTo>
                  <a:pt x="176" y="141"/>
                  <a:pt x="136" y="181"/>
                  <a:pt x="88" y="181"/>
                </a:cubicBezTo>
                <a:cubicBezTo>
                  <a:pt x="88" y="181"/>
                  <a:pt x="88" y="181"/>
                  <a:pt x="88" y="181"/>
                </a:cubicBezTo>
                <a:lnTo>
                  <a:pt x="88" y="181"/>
                </a:lnTo>
                <a:cubicBezTo>
                  <a:pt x="39" y="181"/>
                  <a:pt x="0" y="141"/>
                  <a:pt x="0" y="91"/>
                </a:cubicBezTo>
                <a:cubicBezTo>
                  <a:pt x="0" y="91"/>
                  <a:pt x="0" y="91"/>
                  <a:pt x="0" y="91"/>
                </a:cubicBezTo>
              </a:path>
            </a:pathLst>
          </a:custGeom>
          <a:solidFill>
            <a:srgbClr val="050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4" name="textbox 1244"/>
          <p:cNvSpPr/>
          <p:nvPr/>
        </p:nvSpPr>
        <p:spPr>
          <a:xfrm>
            <a:off x="2864704" y="2529793"/>
            <a:ext cx="139064" cy="736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75"/>
              </a:lnSpc>
            </a:pPr>
            <a:r>
              <a:rPr sz="900" spc="1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en-US" sz="900" dirty="0"/>
          </a:p>
        </p:txBody>
      </p:sp>
      <p:sp>
        <p:nvSpPr>
          <p:cNvPr id="1245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" name="picture 1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445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6" name="textbox 1446"/>
          <p:cNvSpPr/>
          <p:nvPr/>
        </p:nvSpPr>
        <p:spPr>
          <a:xfrm>
            <a:off x="-12700" y="124277"/>
            <a:ext cx="8827134" cy="2089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跨模态生成技术是真正实现认知和决策智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能的转折点</a:t>
            </a:r>
            <a:endParaRPr lang="en-US" altLang="en-US" sz="2000" dirty="0"/>
          </a:p>
          <a:p>
            <a:pPr marL="528955" indent="-161290" algn="l" rtl="0" eaLnBrk="0">
              <a:lnSpc>
                <a:spcPct val="151000"/>
              </a:lnSpc>
              <a:spcBef>
                <a:spcPts val="870"/>
              </a:spcBef>
              <a:tabLst>
                <a:tab pos="4559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现实世界的信息是文本、音频、视觉、传感器以及人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类各种触觉的综合体系，要更为精准地模拟现实世界，就需要将各种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模态能力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之间打通，例如文字-图像、文字-视频等跨模态生成能力</a:t>
            </a:r>
            <a:endParaRPr lang="en-US" altLang="en-US" sz="1200" dirty="0"/>
          </a:p>
          <a:p>
            <a:pPr marL="365760" algn="l" rtl="0" eaLnBrk="0">
              <a:lnSpc>
                <a:spcPts val="1300"/>
              </a:lnSpc>
              <a:spcBef>
                <a:spcPts val="805"/>
              </a:spcBef>
              <a:tabLst>
                <a:tab pos="469265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大型预训练模型的发展使得跨模态逐步成熟，“文本-图像” 生成正在快速落地，“文字-视频”的实验效果也已较为理想(视频时长、   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</a:t>
            </a:r>
            <a:endParaRPr lang="en-US" altLang="en-US" sz="1000" dirty="0"/>
          </a:p>
          <a:p>
            <a:pPr marL="534670" algn="l" rtl="0" eaLnBrk="0">
              <a:lnSpc>
                <a:spcPct val="99000"/>
              </a:lnSpc>
              <a:spcBef>
                <a:spcPts val="735"/>
              </a:spcBef>
            </a:pP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晰程度、   逻辑等还有较大提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升空间)。</a:t>
            </a:r>
            <a:endParaRPr lang="en-US" altLang="en-US" sz="1000" dirty="0"/>
          </a:p>
          <a:p>
            <a:pPr marL="3024505" algn="l" rtl="0" eaLnBrk="0">
              <a:lnSpc>
                <a:spcPts val="1150"/>
              </a:lnSpc>
              <a:spcBef>
                <a:spcPts val="265"/>
              </a:spcBef>
            </a:pP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图60 ：跨模态生成 领域当前的主要功能类型如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</a:t>
            </a:r>
            <a:endParaRPr lang="en-US" altLang="en-US" sz="900" dirty="0"/>
          </a:p>
        </p:txBody>
      </p:sp>
      <p:pic>
        <p:nvPicPr>
          <p:cNvPr id="1447" name="picture 14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3263" y="1611579"/>
            <a:ext cx="103327" cy="118414"/>
          </a:xfrm>
          <a:prstGeom prst="rect">
            <a:avLst/>
          </a:prstGeom>
        </p:spPr>
      </p:pic>
      <p:pic>
        <p:nvPicPr>
          <p:cNvPr id="1448" name="picture 14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117" y="1080568"/>
            <a:ext cx="88416" cy="100785"/>
          </a:xfrm>
          <a:prstGeom prst="rect">
            <a:avLst/>
          </a:prstGeom>
        </p:spPr>
      </p:pic>
      <p:sp>
        <p:nvSpPr>
          <p:cNvPr id="1449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450" name="table 1450"/>
          <p:cNvGraphicFramePr>
            <a:graphicFrameLocks noGrp="1"/>
          </p:cNvGraphicFramePr>
          <p:nvPr/>
        </p:nvGraphicFramePr>
        <p:xfrm>
          <a:off x="445249" y="2347023"/>
          <a:ext cx="8238489" cy="2159635"/>
        </p:xfrm>
        <a:graphic>
          <a:graphicData uri="http://schemas.openxmlformats.org/drawingml/2006/table">
            <a:tbl>
              <a:tblPr/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142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305435" indent="-177800" algn="l" rtl="0" eaLnBrk="0">
                        <a:lnSpc>
                          <a:spcPct val="103000"/>
                        </a:lnSpc>
                        <a:spcBef>
                          <a:spcPts val="5"/>
                        </a:spcBef>
                      </a:pPr>
                      <a:r>
                        <a:rPr sz="1400" spc="10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文字生成视频(拼接</a:t>
                      </a:r>
                      <a:r>
                        <a:rPr sz="1400" spc="4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</a:t>
                      </a:r>
                      <a:r>
                        <a:rPr sz="14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400" spc="6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片素材生成视</a:t>
                      </a:r>
                      <a:r>
                        <a:rPr sz="1400" spc="5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</a:t>
                      </a:r>
                      <a:r>
                        <a:rPr sz="1400" spc="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en-US" sz="1400" dirty="0"/>
                    </a:p>
                    <a:p>
                      <a:pPr marL="407035" algn="l" rtl="0" eaLnBrk="0">
                        <a:lnSpc>
                          <a:spcPts val="1155"/>
                        </a:lnSpc>
                        <a:spcBef>
                          <a:spcPts val="265"/>
                        </a:spcBef>
                      </a:pPr>
                      <a:r>
                        <a:rPr sz="900" spc="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其产品如：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Lumen</a:t>
                      </a:r>
                      <a:r>
                        <a:rPr sz="900" spc="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900" spc="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700" dirty="0"/>
                    </a:p>
                    <a:p>
                      <a:pPr marL="236220" indent="-88265" algn="l" rtl="0" eaLnBrk="0">
                        <a:lnSpc>
                          <a:spcPct val="103000"/>
                        </a:lnSpc>
                        <a:spcBef>
                          <a:spcPts val="5"/>
                        </a:spcBef>
                      </a:pPr>
                      <a:r>
                        <a:rPr sz="1400" spc="10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文字生成视频(以端</a:t>
                      </a:r>
                      <a:r>
                        <a:rPr sz="1400" spc="4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</a:t>
                      </a:r>
                      <a:r>
                        <a:rPr sz="14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spc="5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端的方式生成视频</a:t>
                      </a:r>
                      <a:r>
                        <a:rPr sz="1400" spc="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en-US" sz="1400" dirty="0"/>
                    </a:p>
                    <a:p>
                      <a:pPr marL="368300" algn="l" rtl="0" eaLnBrk="0">
                        <a:lnSpc>
                          <a:spcPts val="1085"/>
                        </a:lnSpc>
                        <a:spcBef>
                          <a:spcPts val="265"/>
                        </a:spcBef>
                      </a:pPr>
                      <a:r>
                        <a:rPr sz="900" spc="10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其产品如：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CogView</a:t>
                      </a:r>
                      <a:r>
                        <a:rPr sz="900" spc="10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900" spc="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700" dirty="0"/>
                    </a:p>
                    <a:p>
                      <a:pPr marL="56705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400" spc="1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r>
                        <a:rPr sz="1400" spc="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字生成图像</a:t>
                      </a:r>
                      <a:endParaRPr lang="en-US" altLang="en-US" sz="1400" dirty="0"/>
                    </a:p>
                    <a:p>
                      <a:pPr marL="337185" algn="l" rtl="0" eaLnBrk="0">
                        <a:lnSpc>
                          <a:spcPts val="1155"/>
                        </a:lnSpc>
                        <a:spcBef>
                          <a:spcPts val="215"/>
                        </a:spcBef>
                      </a:pPr>
                      <a:r>
                        <a:rPr sz="900" spc="1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根据文字描述生成创意图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</a:t>
                      </a:r>
                      <a:endParaRPr lang="en-US" altLang="en-US" sz="900" dirty="0"/>
                    </a:p>
                    <a:p>
                      <a:pPr marL="233680" algn="l" rtl="0" eaLnBrk="0">
                        <a:lnSpc>
                          <a:spcPts val="1095"/>
                        </a:lnSpc>
                        <a:spcBef>
                          <a:spcPts val="285"/>
                        </a:spcBef>
                      </a:pP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其产品如：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Open</a:t>
                      </a: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</a:t>
                      </a: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DALL</a:t>
                      </a: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</a:t>
                      </a:r>
                      <a:r>
                        <a:rPr sz="900" spc="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E2</a:t>
                      </a:r>
                      <a:endParaRPr lang="en-US" altLang="en-US" sz="900" dirty="0"/>
                    </a:p>
                    <a:p>
                      <a:pPr marL="1036955" algn="l" rtl="0" eaLnBrk="0">
                        <a:lnSpc>
                          <a:spcPts val="1170"/>
                        </a:lnSpc>
                        <a:spcBef>
                          <a:spcPts val="100"/>
                        </a:spcBef>
                      </a:pP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lang="en-US" altLang="en-US" sz="900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800" dirty="0"/>
                    </a:p>
                    <a:p>
                      <a:pPr marL="28956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图片</a:t>
                      </a:r>
                      <a:r>
                        <a:rPr sz="1400" b="1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400" spc="-1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</a:t>
                      </a:r>
                      <a:r>
                        <a:rPr sz="1400" spc="0" dirty="0">
                          <a:ln w="3175" cap="flat" cmpd="sng">
                            <a:solidFill>
                              <a:srgbClr val="595959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生成文字</a:t>
                      </a:r>
                      <a:endParaRPr lang="en-US" altLang="en-US" sz="1400" dirty="0"/>
                    </a:p>
                    <a:p>
                      <a:pPr marL="193675" algn="l" rtl="0" eaLnBrk="0">
                        <a:lnSpc>
                          <a:spcPts val="1150"/>
                        </a:lnSpc>
                        <a:spcBef>
                          <a:spcPts val="225"/>
                        </a:spcBef>
                      </a:pPr>
                      <a:r>
                        <a:rPr sz="900" spc="1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用于视觉问答系统，自动</a:t>
                      </a:r>
                      <a:r>
                        <a:rPr sz="900" spc="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幕</a:t>
                      </a:r>
                      <a:endParaRPr lang="en-US" altLang="en-US" sz="900" dirty="0"/>
                    </a:p>
                    <a:p>
                      <a:pPr marL="955675" algn="l" rtl="0" eaLnBrk="0">
                        <a:lnSpc>
                          <a:spcPts val="1170"/>
                        </a:lnSpc>
                        <a:spcBef>
                          <a:spcPts val="55"/>
                        </a:spcBef>
                      </a:pPr>
                      <a:r>
                        <a:rPr sz="90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200" dirty="0"/>
                    </a:p>
                    <a:p>
                      <a:pPr marL="400050" algn="l" rtl="0" eaLnBrk="0">
                        <a:lnSpc>
                          <a:spcPts val="1155"/>
                        </a:lnSpc>
                        <a:spcBef>
                          <a:spcPts val="0"/>
                        </a:spcBef>
                      </a:pPr>
                      <a:r>
                        <a:rPr sz="900" spc="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其产品如：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Noval</a:t>
                      </a:r>
                      <a:r>
                        <a:rPr sz="900" spc="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</a:t>
                      </a:r>
                      <a:r>
                        <a:rPr sz="90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</a:t>
                      </a:r>
                      <a:endParaRPr lang="en-US" altLang="en-US" sz="900" dirty="0"/>
                    </a:p>
                  </a:txBody>
                  <a:tcPr marL="0" marR="0" marT="0" marB="0">
                    <a:lnL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51" name="textbox 1451"/>
          <p:cNvSpPr/>
          <p:nvPr/>
        </p:nvSpPr>
        <p:spPr>
          <a:xfrm>
            <a:off x="321674" y="4587640"/>
            <a:ext cx="8239759" cy="346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量子位智库，  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Nova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spc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800" spc="-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官网，国泰君安</a:t>
            </a:r>
            <a:r>
              <a:rPr sz="800" spc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证券研究</a:t>
            </a:r>
            <a:endParaRPr lang="en-US" altLang="en-US" sz="800" dirty="0"/>
          </a:p>
        </p:txBody>
      </p:sp>
      <p:sp>
        <p:nvSpPr>
          <p:cNvPr id="1452" name="path"/>
          <p:cNvSpPr/>
          <p:nvPr/>
        </p:nvSpPr>
        <p:spPr>
          <a:xfrm>
            <a:off x="1655254" y="4727206"/>
            <a:ext cx="9525" cy="179997"/>
          </a:xfrm>
          <a:custGeom>
            <a:avLst/>
            <a:gdLst/>
            <a:ahLst/>
            <a:cxnLst/>
            <a:rect l="0" t="0" r="0" b="0"/>
            <a:pathLst>
              <a:path w="15" h="283">
                <a:moveTo>
                  <a:pt x="7" y="0"/>
                </a:moveTo>
                <a:lnTo>
                  <a:pt x="7" y="283"/>
                </a:lnTo>
              </a:path>
            </a:pathLst>
          </a:custGeom>
          <a:noFill/>
          <a:ln w="9525" cap="flat">
            <a:solidFill>
              <a:srgbClr val="999999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20" name="group 220"/>
          <p:cNvGrpSpPr/>
          <p:nvPr/>
        </p:nvGrpSpPr>
        <p:grpSpPr>
          <a:xfrm rot="21600000">
            <a:off x="7069518" y="2431986"/>
            <a:ext cx="1047876" cy="1047750"/>
            <a:chOff x="0" y="0"/>
            <a:chExt cx="1047876" cy="1047750"/>
          </a:xfrm>
        </p:grpSpPr>
        <p:sp>
          <p:nvSpPr>
            <p:cNvPr id="1453" name="path"/>
            <p:cNvSpPr/>
            <p:nvPr/>
          </p:nvSpPr>
          <p:spPr>
            <a:xfrm>
              <a:off x="0" y="0"/>
              <a:ext cx="1047876" cy="1047750"/>
            </a:xfrm>
            <a:custGeom>
              <a:avLst/>
              <a:gdLst/>
              <a:ahLst/>
              <a:cxnLst/>
              <a:rect l="0" t="0" r="0" b="0"/>
              <a:pathLst>
                <a:path w="1650" h="1650">
                  <a:moveTo>
                    <a:pt x="22" y="824"/>
                  </a:moveTo>
                  <a:cubicBezTo>
                    <a:pt x="22" y="381"/>
                    <a:pt x="381" y="22"/>
                    <a:pt x="825" y="22"/>
                  </a:cubicBezTo>
                  <a:cubicBezTo>
                    <a:pt x="825" y="22"/>
                    <a:pt x="825" y="22"/>
                    <a:pt x="825" y="22"/>
                  </a:cubicBezTo>
                  <a:lnTo>
                    <a:pt x="825" y="22"/>
                  </a:lnTo>
                  <a:cubicBezTo>
                    <a:pt x="1268" y="22"/>
                    <a:pt x="1627" y="381"/>
                    <a:pt x="1627" y="824"/>
                  </a:cubicBezTo>
                  <a:cubicBezTo>
                    <a:pt x="1627" y="824"/>
                    <a:pt x="1627" y="824"/>
                    <a:pt x="1627" y="824"/>
                  </a:cubicBezTo>
                  <a:lnTo>
                    <a:pt x="1627" y="824"/>
                  </a:lnTo>
                  <a:cubicBezTo>
                    <a:pt x="1627" y="1268"/>
                    <a:pt x="1268" y="1627"/>
                    <a:pt x="825" y="1627"/>
                  </a:cubicBezTo>
                  <a:cubicBezTo>
                    <a:pt x="825" y="1627"/>
                    <a:pt x="825" y="1627"/>
                    <a:pt x="825" y="1627"/>
                  </a:cubicBezTo>
                  <a:lnTo>
                    <a:pt x="825" y="1627"/>
                  </a:lnTo>
                  <a:cubicBezTo>
                    <a:pt x="381" y="1627"/>
                    <a:pt x="22" y="1268"/>
                    <a:pt x="22" y="824"/>
                  </a:cubicBezTo>
                  <a:cubicBezTo>
                    <a:pt x="22" y="824"/>
                    <a:pt x="22" y="824"/>
                    <a:pt x="22" y="824"/>
                  </a:cubicBezTo>
                </a:path>
              </a:pathLst>
            </a:custGeom>
            <a:noFill/>
            <a:ln w="28575" cap="flat">
              <a:solidFill>
                <a:srgbClr val="0081F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54" name="path"/>
            <p:cNvSpPr/>
            <p:nvPr/>
          </p:nvSpPr>
          <p:spPr>
            <a:xfrm>
              <a:off x="292289" y="274637"/>
              <a:ext cx="463295" cy="498348"/>
            </a:xfrm>
            <a:custGeom>
              <a:avLst/>
              <a:gdLst/>
              <a:ahLst/>
              <a:cxnLst/>
              <a:rect l="0" t="0" r="0" b="0"/>
              <a:pathLst>
                <a:path w="729" h="784">
                  <a:moveTo>
                    <a:pt x="729" y="730"/>
                  </a:moveTo>
                  <a:cubicBezTo>
                    <a:pt x="729" y="763"/>
                    <a:pt x="696" y="784"/>
                    <a:pt x="664" y="784"/>
                  </a:cubicBezTo>
                  <a:cubicBezTo>
                    <a:pt x="54" y="784"/>
                    <a:pt x="54" y="784"/>
                    <a:pt x="54" y="784"/>
                  </a:cubicBezTo>
                  <a:cubicBezTo>
                    <a:pt x="21" y="784"/>
                    <a:pt x="0" y="763"/>
                    <a:pt x="0" y="73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141"/>
                    <a:pt x="21" y="120"/>
                    <a:pt x="54" y="120"/>
                  </a:cubicBezTo>
                  <a:cubicBezTo>
                    <a:pt x="109" y="120"/>
                    <a:pt x="109" y="120"/>
                    <a:pt x="109" y="120"/>
                  </a:cubicBezTo>
                  <a:cubicBezTo>
                    <a:pt x="109" y="76"/>
                    <a:pt x="109" y="76"/>
                    <a:pt x="109" y="76"/>
                  </a:cubicBezTo>
                  <a:cubicBezTo>
                    <a:pt x="109" y="32"/>
                    <a:pt x="141" y="0"/>
                    <a:pt x="174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0" y="0"/>
                    <a:pt x="272" y="32"/>
                    <a:pt x="272" y="76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446" y="120"/>
                    <a:pt x="446" y="120"/>
                    <a:pt x="446" y="120"/>
                  </a:cubicBezTo>
                  <a:cubicBezTo>
                    <a:pt x="446" y="76"/>
                    <a:pt x="446" y="76"/>
                    <a:pt x="446" y="76"/>
                  </a:cubicBezTo>
                  <a:cubicBezTo>
                    <a:pt x="446" y="32"/>
                    <a:pt x="479" y="0"/>
                    <a:pt x="511" y="0"/>
                  </a:cubicBezTo>
                  <a:cubicBezTo>
                    <a:pt x="544" y="0"/>
                    <a:pt x="544" y="0"/>
                    <a:pt x="544" y="0"/>
                  </a:cubicBezTo>
                  <a:cubicBezTo>
                    <a:pt x="577" y="0"/>
                    <a:pt x="609" y="32"/>
                    <a:pt x="609" y="76"/>
                  </a:cubicBezTo>
                  <a:cubicBezTo>
                    <a:pt x="609" y="120"/>
                    <a:pt x="609" y="120"/>
                    <a:pt x="609" y="120"/>
                  </a:cubicBezTo>
                  <a:cubicBezTo>
                    <a:pt x="664" y="120"/>
                    <a:pt x="664" y="120"/>
                    <a:pt x="664" y="120"/>
                  </a:cubicBezTo>
                  <a:cubicBezTo>
                    <a:pt x="696" y="120"/>
                    <a:pt x="729" y="141"/>
                    <a:pt x="729" y="174"/>
                  </a:cubicBezTo>
                  <a:lnTo>
                    <a:pt x="729" y="730"/>
                  </a:lnTo>
                  <a:close/>
                  <a:moveTo>
                    <a:pt x="664" y="730"/>
                  </a:moveTo>
                  <a:cubicBezTo>
                    <a:pt x="664" y="283"/>
                    <a:pt x="664" y="283"/>
                    <a:pt x="664" y="283"/>
                  </a:cubicBezTo>
                  <a:cubicBezTo>
                    <a:pt x="54" y="283"/>
                    <a:pt x="54" y="283"/>
                    <a:pt x="54" y="283"/>
                  </a:cubicBezTo>
                  <a:cubicBezTo>
                    <a:pt x="54" y="730"/>
                    <a:pt x="54" y="730"/>
                    <a:pt x="54" y="730"/>
                  </a:cubicBezTo>
                  <a:lnTo>
                    <a:pt x="664" y="730"/>
                  </a:lnTo>
                  <a:close/>
                  <a:moveTo>
                    <a:pt x="217" y="76"/>
                  </a:moveTo>
                  <a:cubicBezTo>
                    <a:pt x="217" y="65"/>
                    <a:pt x="217" y="54"/>
                    <a:pt x="207" y="54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4" y="54"/>
                    <a:pt x="163" y="65"/>
                    <a:pt x="163" y="76"/>
                  </a:cubicBezTo>
                  <a:cubicBezTo>
                    <a:pt x="163" y="196"/>
                    <a:pt x="163" y="196"/>
                    <a:pt x="163" y="196"/>
                  </a:cubicBezTo>
                  <a:cubicBezTo>
                    <a:pt x="163" y="207"/>
                    <a:pt x="174" y="218"/>
                    <a:pt x="174" y="218"/>
                  </a:cubicBezTo>
                  <a:cubicBezTo>
                    <a:pt x="207" y="218"/>
                    <a:pt x="207" y="218"/>
                    <a:pt x="207" y="218"/>
                  </a:cubicBezTo>
                  <a:cubicBezTo>
                    <a:pt x="217" y="218"/>
                    <a:pt x="217" y="207"/>
                    <a:pt x="217" y="196"/>
                  </a:cubicBezTo>
                  <a:lnTo>
                    <a:pt x="217" y="76"/>
                  </a:lnTo>
                  <a:close/>
                  <a:moveTo>
                    <a:pt x="555" y="76"/>
                  </a:moveTo>
                  <a:cubicBezTo>
                    <a:pt x="555" y="65"/>
                    <a:pt x="555" y="54"/>
                    <a:pt x="544" y="54"/>
                  </a:cubicBezTo>
                  <a:cubicBezTo>
                    <a:pt x="511" y="54"/>
                    <a:pt x="511" y="54"/>
                    <a:pt x="511" y="54"/>
                  </a:cubicBezTo>
                  <a:cubicBezTo>
                    <a:pt x="511" y="54"/>
                    <a:pt x="500" y="65"/>
                    <a:pt x="500" y="76"/>
                  </a:cubicBezTo>
                  <a:cubicBezTo>
                    <a:pt x="500" y="196"/>
                    <a:pt x="500" y="196"/>
                    <a:pt x="500" y="196"/>
                  </a:cubicBezTo>
                  <a:cubicBezTo>
                    <a:pt x="500" y="207"/>
                    <a:pt x="511" y="218"/>
                    <a:pt x="511" y="218"/>
                  </a:cubicBezTo>
                  <a:cubicBezTo>
                    <a:pt x="544" y="218"/>
                    <a:pt x="544" y="218"/>
                    <a:pt x="544" y="218"/>
                  </a:cubicBezTo>
                  <a:cubicBezTo>
                    <a:pt x="555" y="218"/>
                    <a:pt x="555" y="207"/>
                    <a:pt x="555" y="196"/>
                  </a:cubicBezTo>
                  <a:lnTo>
                    <a:pt x="555" y="76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2" name="group 222"/>
          <p:cNvGrpSpPr/>
          <p:nvPr/>
        </p:nvGrpSpPr>
        <p:grpSpPr>
          <a:xfrm rot="21600000">
            <a:off x="3045523" y="2431986"/>
            <a:ext cx="1047750" cy="1047750"/>
            <a:chOff x="0" y="0"/>
            <a:chExt cx="1047750" cy="1047750"/>
          </a:xfrm>
        </p:grpSpPr>
        <p:sp>
          <p:nvSpPr>
            <p:cNvPr id="1455" name="path"/>
            <p:cNvSpPr/>
            <p:nvPr/>
          </p:nvSpPr>
          <p:spPr>
            <a:xfrm>
              <a:off x="0" y="0"/>
              <a:ext cx="1047750" cy="1047750"/>
            </a:xfrm>
            <a:custGeom>
              <a:avLst/>
              <a:gdLst/>
              <a:ahLst/>
              <a:cxnLst/>
              <a:rect l="0" t="0" r="0" b="0"/>
              <a:pathLst>
                <a:path w="1650" h="1650">
                  <a:moveTo>
                    <a:pt x="22" y="824"/>
                  </a:moveTo>
                  <a:cubicBezTo>
                    <a:pt x="22" y="381"/>
                    <a:pt x="381" y="22"/>
                    <a:pt x="825" y="22"/>
                  </a:cubicBezTo>
                  <a:cubicBezTo>
                    <a:pt x="825" y="22"/>
                    <a:pt x="825" y="22"/>
                    <a:pt x="825" y="22"/>
                  </a:cubicBezTo>
                  <a:lnTo>
                    <a:pt x="825" y="22"/>
                  </a:lnTo>
                  <a:cubicBezTo>
                    <a:pt x="1268" y="22"/>
                    <a:pt x="1627" y="381"/>
                    <a:pt x="1627" y="824"/>
                  </a:cubicBezTo>
                  <a:cubicBezTo>
                    <a:pt x="1627" y="824"/>
                    <a:pt x="1627" y="824"/>
                    <a:pt x="1627" y="824"/>
                  </a:cubicBezTo>
                  <a:lnTo>
                    <a:pt x="1627" y="824"/>
                  </a:lnTo>
                  <a:cubicBezTo>
                    <a:pt x="1627" y="1268"/>
                    <a:pt x="1268" y="1627"/>
                    <a:pt x="825" y="1627"/>
                  </a:cubicBezTo>
                  <a:cubicBezTo>
                    <a:pt x="825" y="1627"/>
                    <a:pt x="825" y="1627"/>
                    <a:pt x="825" y="1627"/>
                  </a:cubicBezTo>
                  <a:lnTo>
                    <a:pt x="825" y="1627"/>
                  </a:lnTo>
                  <a:cubicBezTo>
                    <a:pt x="381" y="1627"/>
                    <a:pt x="22" y="1268"/>
                    <a:pt x="22" y="824"/>
                  </a:cubicBezTo>
                  <a:cubicBezTo>
                    <a:pt x="22" y="824"/>
                    <a:pt x="22" y="824"/>
                    <a:pt x="22" y="824"/>
                  </a:cubicBezTo>
                </a:path>
              </a:pathLst>
            </a:custGeom>
            <a:noFill/>
            <a:ln w="28575" cap="flat">
              <a:solidFill>
                <a:srgbClr val="59C3F1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56" name="path"/>
            <p:cNvSpPr/>
            <p:nvPr/>
          </p:nvSpPr>
          <p:spPr>
            <a:xfrm>
              <a:off x="351091" y="233108"/>
              <a:ext cx="345567" cy="581533"/>
            </a:xfrm>
            <a:custGeom>
              <a:avLst/>
              <a:gdLst/>
              <a:ahLst/>
              <a:cxnLst/>
              <a:rect l="0" t="0" r="0" b="0"/>
              <a:pathLst>
                <a:path w="544" h="915">
                  <a:moveTo>
                    <a:pt x="544" y="822"/>
                  </a:moveTo>
                  <a:cubicBezTo>
                    <a:pt x="544" y="878"/>
                    <a:pt x="506" y="915"/>
                    <a:pt x="450" y="915"/>
                  </a:cubicBezTo>
                  <a:cubicBezTo>
                    <a:pt x="93" y="915"/>
                    <a:pt x="93" y="915"/>
                    <a:pt x="93" y="915"/>
                  </a:cubicBezTo>
                  <a:cubicBezTo>
                    <a:pt x="37" y="915"/>
                    <a:pt x="0" y="878"/>
                    <a:pt x="0" y="82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56"/>
                    <a:pt x="37" y="0"/>
                    <a:pt x="93" y="0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506" y="0"/>
                    <a:pt x="544" y="56"/>
                    <a:pt x="544" y="93"/>
                  </a:cubicBezTo>
                  <a:lnTo>
                    <a:pt x="544" y="822"/>
                  </a:lnTo>
                  <a:close/>
                  <a:moveTo>
                    <a:pt x="469" y="205"/>
                  </a:moveTo>
                  <a:cubicBezTo>
                    <a:pt x="469" y="205"/>
                    <a:pt x="469" y="186"/>
                    <a:pt x="450" y="186"/>
                  </a:cubicBezTo>
                  <a:cubicBezTo>
                    <a:pt x="93" y="186"/>
                    <a:pt x="93" y="186"/>
                    <a:pt x="93" y="186"/>
                  </a:cubicBezTo>
                  <a:cubicBezTo>
                    <a:pt x="75" y="186"/>
                    <a:pt x="56" y="205"/>
                    <a:pt x="56" y="205"/>
                  </a:cubicBezTo>
                  <a:cubicBezTo>
                    <a:pt x="56" y="710"/>
                    <a:pt x="56" y="710"/>
                    <a:pt x="56" y="710"/>
                  </a:cubicBezTo>
                  <a:cubicBezTo>
                    <a:pt x="56" y="728"/>
                    <a:pt x="75" y="728"/>
                    <a:pt x="93" y="728"/>
                  </a:cubicBezTo>
                  <a:cubicBezTo>
                    <a:pt x="450" y="728"/>
                    <a:pt x="450" y="728"/>
                    <a:pt x="450" y="728"/>
                  </a:cubicBezTo>
                  <a:cubicBezTo>
                    <a:pt x="469" y="728"/>
                    <a:pt x="469" y="728"/>
                    <a:pt x="469" y="710"/>
                  </a:cubicBezTo>
                  <a:lnTo>
                    <a:pt x="469" y="205"/>
                  </a:lnTo>
                  <a:close/>
                  <a:moveTo>
                    <a:pt x="319" y="93"/>
                  </a:move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112"/>
                    <a:pt x="206" y="112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319" y="112"/>
                    <a:pt x="319" y="112"/>
                    <a:pt x="319" y="112"/>
                  </a:cubicBezTo>
                  <a:cubicBezTo>
                    <a:pt x="337" y="112"/>
                    <a:pt x="337" y="112"/>
                    <a:pt x="337" y="112"/>
                  </a:cubicBezTo>
                  <a:cubicBezTo>
                    <a:pt x="337" y="112"/>
                    <a:pt x="337" y="93"/>
                    <a:pt x="319" y="93"/>
                  </a:cubicBezTo>
                  <a:moveTo>
                    <a:pt x="262" y="766"/>
                  </a:moveTo>
                  <a:cubicBezTo>
                    <a:pt x="244" y="766"/>
                    <a:pt x="206" y="785"/>
                    <a:pt x="206" y="822"/>
                  </a:cubicBezTo>
                  <a:cubicBezTo>
                    <a:pt x="206" y="859"/>
                    <a:pt x="244" y="878"/>
                    <a:pt x="262" y="878"/>
                  </a:cubicBezTo>
                  <a:cubicBezTo>
                    <a:pt x="300" y="878"/>
                    <a:pt x="319" y="859"/>
                    <a:pt x="319" y="822"/>
                  </a:cubicBezTo>
                  <a:cubicBezTo>
                    <a:pt x="319" y="785"/>
                    <a:pt x="300" y="766"/>
                    <a:pt x="262" y="766"/>
                  </a:cubicBezTo>
                </a:path>
              </a:pathLst>
            </a:custGeom>
            <a:solidFill>
              <a:srgbClr val="59C3F1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4" name="group 224"/>
          <p:cNvGrpSpPr/>
          <p:nvPr/>
        </p:nvGrpSpPr>
        <p:grpSpPr>
          <a:xfrm rot="21600000">
            <a:off x="5082222" y="2431986"/>
            <a:ext cx="1047750" cy="1047750"/>
            <a:chOff x="0" y="0"/>
            <a:chExt cx="1047750" cy="1047750"/>
          </a:xfrm>
        </p:grpSpPr>
        <p:sp>
          <p:nvSpPr>
            <p:cNvPr id="1457" name="path"/>
            <p:cNvSpPr/>
            <p:nvPr/>
          </p:nvSpPr>
          <p:spPr>
            <a:xfrm>
              <a:off x="0" y="0"/>
              <a:ext cx="1047750" cy="1047750"/>
            </a:xfrm>
            <a:custGeom>
              <a:avLst/>
              <a:gdLst/>
              <a:ahLst/>
              <a:cxnLst/>
              <a:rect l="0" t="0" r="0" b="0"/>
              <a:pathLst>
                <a:path w="1650" h="1650">
                  <a:moveTo>
                    <a:pt x="22" y="824"/>
                  </a:moveTo>
                  <a:cubicBezTo>
                    <a:pt x="22" y="381"/>
                    <a:pt x="381" y="22"/>
                    <a:pt x="825" y="22"/>
                  </a:cubicBezTo>
                  <a:cubicBezTo>
                    <a:pt x="825" y="22"/>
                    <a:pt x="825" y="22"/>
                    <a:pt x="825" y="22"/>
                  </a:cubicBezTo>
                  <a:lnTo>
                    <a:pt x="825" y="22"/>
                  </a:lnTo>
                  <a:cubicBezTo>
                    <a:pt x="1268" y="22"/>
                    <a:pt x="1627" y="381"/>
                    <a:pt x="1627" y="824"/>
                  </a:cubicBezTo>
                  <a:cubicBezTo>
                    <a:pt x="1627" y="824"/>
                    <a:pt x="1627" y="824"/>
                    <a:pt x="1627" y="824"/>
                  </a:cubicBezTo>
                  <a:lnTo>
                    <a:pt x="1627" y="824"/>
                  </a:lnTo>
                  <a:cubicBezTo>
                    <a:pt x="1627" y="1268"/>
                    <a:pt x="1268" y="1627"/>
                    <a:pt x="825" y="1627"/>
                  </a:cubicBezTo>
                  <a:cubicBezTo>
                    <a:pt x="825" y="1627"/>
                    <a:pt x="825" y="1627"/>
                    <a:pt x="825" y="1627"/>
                  </a:cubicBezTo>
                  <a:lnTo>
                    <a:pt x="825" y="1627"/>
                  </a:lnTo>
                  <a:cubicBezTo>
                    <a:pt x="381" y="1627"/>
                    <a:pt x="22" y="1268"/>
                    <a:pt x="22" y="824"/>
                  </a:cubicBezTo>
                  <a:cubicBezTo>
                    <a:pt x="22" y="824"/>
                    <a:pt x="22" y="824"/>
                    <a:pt x="22" y="824"/>
                  </a:cubicBezTo>
                </a:path>
              </a:pathLst>
            </a:custGeom>
            <a:noFill/>
            <a:ln w="28575" cap="flat">
              <a:solidFill>
                <a:srgbClr val="B1000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58" name="path"/>
            <p:cNvSpPr/>
            <p:nvPr/>
          </p:nvSpPr>
          <p:spPr>
            <a:xfrm>
              <a:off x="271589" y="333819"/>
              <a:ext cx="504697" cy="380111"/>
            </a:xfrm>
            <a:custGeom>
              <a:avLst/>
              <a:gdLst/>
              <a:ahLst/>
              <a:cxnLst/>
              <a:rect l="0" t="0" r="0" b="0"/>
              <a:pathLst>
                <a:path w="794" h="598">
                  <a:moveTo>
                    <a:pt x="794" y="598"/>
                  </a:moveTo>
                  <a:lnTo>
                    <a:pt x="0" y="598"/>
                  </a:lnTo>
                  <a:lnTo>
                    <a:pt x="0" y="0"/>
                  </a:lnTo>
                  <a:lnTo>
                    <a:pt x="45" y="0"/>
                  </a:lnTo>
                  <a:lnTo>
                    <a:pt x="45" y="543"/>
                  </a:lnTo>
                  <a:lnTo>
                    <a:pt x="794" y="543"/>
                  </a:lnTo>
                  <a:lnTo>
                    <a:pt x="794" y="598"/>
                  </a:lnTo>
                  <a:close/>
                  <a:moveTo>
                    <a:pt x="251" y="497"/>
                  </a:moveTo>
                  <a:lnTo>
                    <a:pt x="145" y="497"/>
                  </a:lnTo>
                  <a:lnTo>
                    <a:pt x="145" y="301"/>
                  </a:lnTo>
                  <a:lnTo>
                    <a:pt x="251" y="301"/>
                  </a:lnTo>
                  <a:lnTo>
                    <a:pt x="251" y="497"/>
                  </a:lnTo>
                  <a:close/>
                  <a:moveTo>
                    <a:pt x="392" y="497"/>
                  </a:moveTo>
                  <a:lnTo>
                    <a:pt x="296" y="497"/>
                  </a:lnTo>
                  <a:lnTo>
                    <a:pt x="296" y="95"/>
                  </a:lnTo>
                  <a:lnTo>
                    <a:pt x="392" y="95"/>
                  </a:lnTo>
                  <a:lnTo>
                    <a:pt x="392" y="497"/>
                  </a:lnTo>
                  <a:close/>
                  <a:moveTo>
                    <a:pt x="548" y="497"/>
                  </a:moveTo>
                  <a:lnTo>
                    <a:pt x="447" y="497"/>
                  </a:lnTo>
                  <a:lnTo>
                    <a:pt x="447" y="196"/>
                  </a:lnTo>
                  <a:lnTo>
                    <a:pt x="548" y="196"/>
                  </a:lnTo>
                  <a:lnTo>
                    <a:pt x="548" y="497"/>
                  </a:lnTo>
                  <a:close/>
                  <a:moveTo>
                    <a:pt x="699" y="497"/>
                  </a:moveTo>
                  <a:lnTo>
                    <a:pt x="598" y="497"/>
                  </a:lnTo>
                  <a:lnTo>
                    <a:pt x="598" y="55"/>
                  </a:lnTo>
                  <a:lnTo>
                    <a:pt x="699" y="55"/>
                  </a:lnTo>
                  <a:lnTo>
                    <a:pt x="699" y="497"/>
                  </a:lnTo>
                  <a:close/>
                </a:path>
              </a:pathLst>
            </a:custGeom>
            <a:solidFill>
              <a:srgbClr val="B1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26" name="group 226"/>
          <p:cNvGrpSpPr/>
          <p:nvPr/>
        </p:nvGrpSpPr>
        <p:grpSpPr>
          <a:xfrm rot="21600000">
            <a:off x="1021194" y="2431986"/>
            <a:ext cx="1047699" cy="1047750"/>
            <a:chOff x="0" y="0"/>
            <a:chExt cx="1047699" cy="1047750"/>
          </a:xfrm>
        </p:grpSpPr>
        <p:sp>
          <p:nvSpPr>
            <p:cNvPr id="1459" name="path"/>
            <p:cNvSpPr/>
            <p:nvPr/>
          </p:nvSpPr>
          <p:spPr>
            <a:xfrm>
              <a:off x="0" y="0"/>
              <a:ext cx="1047699" cy="1047750"/>
            </a:xfrm>
            <a:custGeom>
              <a:avLst/>
              <a:gdLst/>
              <a:ahLst/>
              <a:cxnLst/>
              <a:rect l="0" t="0" r="0" b="0"/>
              <a:pathLst>
                <a:path w="1649" h="1650">
                  <a:moveTo>
                    <a:pt x="22" y="824"/>
                  </a:moveTo>
                  <a:cubicBezTo>
                    <a:pt x="22" y="381"/>
                    <a:pt x="381" y="22"/>
                    <a:pt x="825" y="22"/>
                  </a:cubicBezTo>
                  <a:cubicBezTo>
                    <a:pt x="825" y="22"/>
                    <a:pt x="825" y="22"/>
                    <a:pt x="825" y="22"/>
                  </a:cubicBezTo>
                  <a:lnTo>
                    <a:pt x="825" y="22"/>
                  </a:lnTo>
                  <a:cubicBezTo>
                    <a:pt x="1268" y="22"/>
                    <a:pt x="1627" y="381"/>
                    <a:pt x="1627" y="824"/>
                  </a:cubicBezTo>
                  <a:cubicBezTo>
                    <a:pt x="1627" y="824"/>
                    <a:pt x="1627" y="824"/>
                    <a:pt x="1627" y="824"/>
                  </a:cubicBezTo>
                  <a:lnTo>
                    <a:pt x="1627" y="824"/>
                  </a:lnTo>
                  <a:cubicBezTo>
                    <a:pt x="1627" y="1268"/>
                    <a:pt x="1268" y="1627"/>
                    <a:pt x="825" y="1627"/>
                  </a:cubicBezTo>
                  <a:cubicBezTo>
                    <a:pt x="825" y="1627"/>
                    <a:pt x="825" y="1627"/>
                    <a:pt x="825" y="1627"/>
                  </a:cubicBezTo>
                  <a:lnTo>
                    <a:pt x="825" y="1627"/>
                  </a:lnTo>
                  <a:cubicBezTo>
                    <a:pt x="381" y="1627"/>
                    <a:pt x="22" y="1268"/>
                    <a:pt x="22" y="824"/>
                  </a:cubicBezTo>
                  <a:cubicBezTo>
                    <a:pt x="22" y="824"/>
                    <a:pt x="22" y="824"/>
                    <a:pt x="22" y="824"/>
                  </a:cubicBezTo>
                </a:path>
              </a:pathLst>
            </a:custGeom>
            <a:noFill/>
            <a:ln w="28575" cap="flat">
              <a:solidFill>
                <a:srgbClr val="004E97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0" name="path"/>
            <p:cNvSpPr/>
            <p:nvPr/>
          </p:nvSpPr>
          <p:spPr>
            <a:xfrm>
              <a:off x="271538" y="306641"/>
              <a:ext cx="504698" cy="434466"/>
            </a:xfrm>
            <a:custGeom>
              <a:avLst/>
              <a:gdLst/>
              <a:ahLst/>
              <a:cxnLst/>
              <a:rect l="0" t="0" r="0" b="0"/>
              <a:pathLst>
                <a:path w="794" h="684">
                  <a:moveTo>
                    <a:pt x="794" y="510"/>
                  </a:moveTo>
                  <a:cubicBezTo>
                    <a:pt x="794" y="543"/>
                    <a:pt x="762" y="575"/>
                    <a:pt x="729" y="575"/>
                  </a:cubicBezTo>
                  <a:cubicBezTo>
                    <a:pt x="500" y="575"/>
                    <a:pt x="500" y="575"/>
                    <a:pt x="500" y="575"/>
                  </a:cubicBezTo>
                  <a:cubicBezTo>
                    <a:pt x="500" y="608"/>
                    <a:pt x="522" y="640"/>
                    <a:pt x="522" y="651"/>
                  </a:cubicBezTo>
                  <a:cubicBezTo>
                    <a:pt x="522" y="673"/>
                    <a:pt x="511" y="684"/>
                    <a:pt x="500" y="684"/>
                  </a:cubicBezTo>
                  <a:cubicBezTo>
                    <a:pt x="283" y="684"/>
                    <a:pt x="283" y="684"/>
                    <a:pt x="283" y="684"/>
                  </a:cubicBezTo>
                  <a:cubicBezTo>
                    <a:pt x="272" y="684"/>
                    <a:pt x="261" y="673"/>
                    <a:pt x="261" y="651"/>
                  </a:cubicBezTo>
                  <a:cubicBezTo>
                    <a:pt x="261" y="640"/>
                    <a:pt x="283" y="608"/>
                    <a:pt x="283" y="575"/>
                  </a:cubicBezTo>
                  <a:cubicBezTo>
                    <a:pt x="65" y="575"/>
                    <a:pt x="65" y="575"/>
                    <a:pt x="65" y="575"/>
                  </a:cubicBezTo>
                  <a:cubicBezTo>
                    <a:pt x="21" y="575"/>
                    <a:pt x="0" y="543"/>
                    <a:pt x="0" y="51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21"/>
                    <a:pt x="21" y="0"/>
                    <a:pt x="65" y="0"/>
                  </a:cubicBezTo>
                  <a:cubicBezTo>
                    <a:pt x="729" y="0"/>
                    <a:pt x="729" y="0"/>
                    <a:pt x="729" y="0"/>
                  </a:cubicBezTo>
                  <a:cubicBezTo>
                    <a:pt x="762" y="0"/>
                    <a:pt x="794" y="21"/>
                    <a:pt x="794" y="65"/>
                  </a:cubicBezTo>
                  <a:lnTo>
                    <a:pt x="794" y="510"/>
                  </a:lnTo>
                  <a:close/>
                  <a:moveTo>
                    <a:pt x="740" y="65"/>
                  </a:moveTo>
                  <a:cubicBezTo>
                    <a:pt x="740" y="54"/>
                    <a:pt x="729" y="54"/>
                    <a:pt x="729" y="54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4" y="54"/>
                    <a:pt x="54" y="54"/>
                    <a:pt x="54" y="65"/>
                  </a:cubicBezTo>
                  <a:cubicBezTo>
                    <a:pt x="54" y="401"/>
                    <a:pt x="54" y="401"/>
                    <a:pt x="54" y="401"/>
                  </a:cubicBezTo>
                  <a:cubicBezTo>
                    <a:pt x="54" y="412"/>
                    <a:pt x="54" y="423"/>
                    <a:pt x="65" y="423"/>
                  </a:cubicBezTo>
                  <a:cubicBezTo>
                    <a:pt x="729" y="423"/>
                    <a:pt x="729" y="423"/>
                    <a:pt x="729" y="423"/>
                  </a:cubicBezTo>
                  <a:cubicBezTo>
                    <a:pt x="729" y="423"/>
                    <a:pt x="740" y="412"/>
                    <a:pt x="740" y="401"/>
                  </a:cubicBezTo>
                  <a:lnTo>
                    <a:pt x="740" y="65"/>
                  </a:lnTo>
                  <a:close/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057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picture 9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pic>
        <p:nvPicPr>
          <p:cNvPr id="955" name="picture 9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7736" y="1395348"/>
            <a:ext cx="8874531" cy="3205086"/>
          </a:xfrm>
          <a:prstGeom prst="rect">
            <a:avLst/>
          </a:prstGeom>
        </p:spPr>
      </p:pic>
      <p:sp>
        <p:nvSpPr>
          <p:cNvPr id="956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7" name="textbox 957"/>
          <p:cNvSpPr/>
          <p:nvPr/>
        </p:nvSpPr>
        <p:spPr>
          <a:xfrm>
            <a:off x="-12700" y="124277"/>
            <a:ext cx="8827134" cy="12446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3000"/>
              </a:lnSpc>
              <a:spcBef>
                <a:spcPts val="116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7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r>
              <a:rPr sz="3100" spc="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7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行业发展经历了三个主要时</a:t>
            </a:r>
            <a:r>
              <a:rPr sz="3000" spc="6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950" dirty="0"/>
          </a:p>
          <a:p>
            <a:pPr marL="367665" algn="l" rtl="0" eaLnBrk="0">
              <a:lnSpc>
                <a:spcPct val="97000"/>
              </a:lnSpc>
              <a:spcBef>
                <a:spcPts val="915"/>
              </a:spcBef>
              <a:tabLst>
                <a:tab pos="4559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发展经历了早期萌芽、沉淀积累和2014年之后的快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发展阶段</a:t>
            </a:r>
            <a:endParaRPr lang="en-US" altLang="en-US" sz="1200" dirty="0"/>
          </a:p>
          <a:p>
            <a:pPr algn="l" rtl="0" eaLnBrk="0">
              <a:lnSpc>
                <a:spcPct val="110000"/>
              </a:lnSpc>
            </a:pPr>
            <a:endParaRPr lang="en-US" altLang="en-US" sz="400" dirty="0"/>
          </a:p>
          <a:p>
            <a:pPr marL="3216910" algn="l" rtl="0" eaLnBrk="0">
              <a:lnSpc>
                <a:spcPts val="116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图44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经历了大致三个阶段的演化发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endParaRPr lang="en-US" altLang="en-US" sz="900" dirty="0"/>
          </a:p>
        </p:txBody>
      </p:sp>
      <p:pic>
        <p:nvPicPr>
          <p:cNvPr id="958" name="picture 9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091" y="986663"/>
            <a:ext cx="88239" cy="100584"/>
          </a:xfrm>
          <a:prstGeom prst="rect">
            <a:avLst/>
          </a:prstGeom>
        </p:spPr>
      </p:pic>
      <p:sp>
        <p:nvSpPr>
          <p:cNvPr id="959" name="path"/>
          <p:cNvSpPr/>
          <p:nvPr/>
        </p:nvSpPr>
        <p:spPr>
          <a:xfrm>
            <a:off x="6119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60" name="table 960"/>
          <p:cNvGraphicFramePr>
            <a:graphicFrameLocks noGrp="1"/>
          </p:cNvGraphicFramePr>
          <p:nvPr/>
        </p:nvGraphicFramePr>
        <p:xfrm>
          <a:off x="4878832" y="1659655"/>
          <a:ext cx="4005577" cy="2084067"/>
        </p:xfrm>
        <a:graphic>
          <a:graphicData uri="http://schemas.openxmlformats.org/drawingml/2006/table">
            <a:tbl>
              <a:tblPr/>
              <a:tblGrid>
                <a:gridCol w="785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7000"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78000"/>
                        </a:lnSpc>
                      </a:pPr>
                      <a:endParaRPr lang="en-US" altLang="en-US" sz="100" dirty="0"/>
                    </a:p>
                    <a:p>
                      <a:pPr marL="207645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2014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28000"/>
                        </a:lnSpc>
                      </a:pPr>
                      <a:endParaRPr lang="en-US" altLang="en-US" sz="100" dirty="0"/>
                    </a:p>
                    <a:p>
                      <a:pPr marL="127635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2018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10185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2019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en-US" altLang="en-US" sz="800" dirty="0"/>
                    </a:p>
                  </a:txBody>
                  <a:tcPr marL="0" marR="0" marT="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254000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2021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804"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400" dirty="0"/>
                    </a:p>
                    <a:p>
                      <a:pPr marL="9334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OpenAI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提出</a:t>
                      </a:r>
                      <a:endParaRPr lang="en-US" altLang="en-US" sz="800" dirty="0"/>
                    </a:p>
                    <a:p>
                      <a:pPr marL="189865" algn="l" rtl="0" eaLnBrk="0">
                        <a:lnSpc>
                          <a:spcPct val="84000"/>
                        </a:lnSpc>
                        <a:spcBef>
                          <a:spcPts val="150"/>
                        </a:spcBef>
                      </a:pPr>
                      <a:r>
                        <a:rPr sz="80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DALL· 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sz="80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en-US" sz="800" dirty="0"/>
                    </a:p>
                    <a:p>
                      <a:pPr marL="71755" algn="l" rtl="0" eaLnBrk="0">
                        <a:lnSpc>
                          <a:spcPct val="97000"/>
                        </a:lnSpc>
                        <a:spcBef>
                          <a:spcPts val="1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输入文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字即可</a:t>
                      </a:r>
                      <a:endParaRPr lang="en-US" altLang="en-US" sz="800" dirty="0"/>
                    </a:p>
                    <a:p>
                      <a:pPr marL="71755" algn="l" rtl="0" eaLnBrk="0">
                        <a:lnSpc>
                          <a:spcPct val="98000"/>
                        </a:lnSpc>
                        <a:spcBef>
                          <a:spcPts val="2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生成极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高质量</a:t>
                      </a:r>
                      <a:endParaRPr lang="en-US" altLang="en-US" sz="800" dirty="0"/>
                    </a:p>
                    <a:p>
                      <a:pPr marL="71755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且风格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多样的</a:t>
                      </a:r>
                      <a:endParaRPr lang="en-US" altLang="en-US" sz="800" dirty="0"/>
                    </a:p>
                    <a:p>
                      <a:pPr marL="280035" algn="l" rtl="0" eaLnBrk="0">
                        <a:lnSpc>
                          <a:spcPct val="98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图片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300" dirty="0"/>
                    </a:p>
                    <a:p>
                      <a:pPr marL="40005" indent="24130" algn="r" rtl="0" eaLnBrk="0">
                        <a:lnSpc>
                          <a:spcPct val="101000"/>
                        </a:lnSpc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英伟达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   StyleGAN</a:t>
                      </a:r>
                      <a:r>
                        <a:rPr sz="8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8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其可以自</a:t>
                      </a:r>
                      <a:r>
                        <a:rPr sz="8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8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生成人眼</a:t>
                      </a: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难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8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以分辨真</a:t>
                      </a: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假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高质量图</a:t>
                      </a:r>
                      <a:endParaRPr lang="en-US" altLang="en-US" sz="800" dirty="0"/>
                    </a:p>
                    <a:p>
                      <a:pPr marL="219710" algn="l" rtl="0" eaLnBrk="0">
                        <a:lnSpc>
                          <a:spcPts val="855"/>
                        </a:lnSpc>
                        <a:spcBef>
                          <a:spcPts val="25"/>
                        </a:spcBef>
                      </a:pPr>
                      <a:r>
                        <a:rPr sz="7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</a:t>
                      </a:r>
                      <a:r>
                        <a:rPr sz="7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lang="en-US" altLang="en-US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lang="en-US" altLang="en-US" sz="500" dirty="0"/>
                    </a:p>
                    <a:p>
                      <a:pPr marL="26543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谷歌</a:t>
                      </a:r>
                      <a:endParaRPr lang="en-US" altLang="en-US" sz="800" dirty="0"/>
                    </a:p>
                    <a:p>
                      <a:pPr marL="120015" algn="l" rtl="0" eaLnBrk="0">
                        <a:lnSpc>
                          <a:spcPct val="88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DeepMin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</a:t>
                      </a:r>
                      <a:endParaRPr lang="en-US" altLang="en-US" sz="800" dirty="0"/>
                    </a:p>
                    <a:p>
                      <a:pPr marL="131445" algn="l" rtl="0" eaLnBrk="0">
                        <a:lnSpc>
                          <a:spcPct val="98000"/>
                        </a:lnSpc>
                        <a:spcBef>
                          <a:spcPts val="110"/>
                        </a:spcBef>
                      </a:pPr>
                      <a:r>
                        <a:rPr sz="8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</a:t>
                      </a: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DVD-</a:t>
                      </a:r>
                      <a:endParaRPr lang="en-US" altLang="en-US" sz="800" dirty="0"/>
                    </a:p>
                    <a:p>
                      <a:pPr marL="102870" algn="l" rtl="0" eaLnBrk="0">
                        <a:lnSpc>
                          <a:spcPct val="97000"/>
                        </a:lnSpc>
                        <a:spcBef>
                          <a:spcPts val="25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GAN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用AI</a:t>
                      </a:r>
                      <a:endParaRPr lang="en-US" altLang="en-US" sz="800" dirty="0"/>
                    </a:p>
                    <a:p>
                      <a:pPr marL="123825" algn="l" rtl="0" eaLnBrk="0">
                        <a:lnSpc>
                          <a:spcPct val="98000"/>
                        </a:lnSpc>
                        <a:spcBef>
                          <a:spcPts val="25"/>
                        </a:spcBef>
                      </a:pPr>
                      <a:r>
                        <a:rPr sz="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自动生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成连</a:t>
                      </a:r>
                      <a:endParaRPr lang="en-US" altLang="en-US" sz="800" dirty="0"/>
                    </a:p>
                    <a:p>
                      <a:pPr marL="213995" algn="l" rtl="0" eaLnBrk="0">
                        <a:lnSpc>
                          <a:spcPct val="97000"/>
                        </a:lnSpc>
                        <a:spcBef>
                          <a:spcPts val="2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续视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marL="88265" indent="10160" algn="l" rtl="0" eaLnBrk="0">
                        <a:lnSpc>
                          <a:spcPct val="102000"/>
                        </a:lnSpc>
                        <a:spcBef>
                          <a:spcPts val="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对抗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生成网络  GAN被提出，  GAN网络极大  </a:t>
                      </a:r>
                      <a:r>
                        <a:rPr sz="8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提高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sz="8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</a:t>
                      </a:r>
                      <a:r>
                        <a:rPr sz="8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</a:t>
                      </a:r>
                      <a:endParaRPr lang="en-US" altLang="en-US" sz="800" dirty="0"/>
                    </a:p>
                    <a:p>
                      <a:pPr marL="149860" algn="l" rtl="0" eaLnBrk="0">
                        <a:lnSpc>
                          <a:spcPct val="98000"/>
                        </a:lnSpc>
                        <a:spcBef>
                          <a:spcPts val="1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容的逼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真度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500" dirty="0"/>
                    </a:p>
                    <a:p>
                      <a:pPr marL="8699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微软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人工智能“小</a:t>
                      </a:r>
                      <a:endParaRPr lang="en-US" altLang="en-US" sz="800" dirty="0"/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冰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”创作世界首部</a:t>
                      </a:r>
                      <a:endParaRPr lang="en-US" altLang="en-US" sz="800" dirty="0"/>
                    </a:p>
                    <a:p>
                      <a:pPr marL="61595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0%由人工智能创</a:t>
                      </a:r>
                      <a:endParaRPr lang="en-US" altLang="en-US" sz="800" dirty="0"/>
                    </a:p>
                    <a:p>
                      <a:pPr marL="341630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作诗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</a:t>
                      </a:r>
                      <a:endParaRPr lang="en-US" altLang="en-US" sz="800" dirty="0"/>
                    </a:p>
                    <a:p>
                      <a:pPr marL="102235" algn="l" rtl="0" eaLnBrk="0">
                        <a:lnSpc>
                          <a:spcPct val="98000"/>
                        </a:lnSpc>
                        <a:spcBef>
                          <a:spcPts val="15"/>
                        </a:spcBef>
                      </a:pPr>
                      <a:r>
                        <a:rPr sz="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《阳光失了玻璃</a:t>
                      </a:r>
                      <a:r>
                        <a:rPr sz="80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窗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》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rowSpan="4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8904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88340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961" name="table 961"/>
          <p:cNvGraphicFramePr>
            <a:graphicFrameLocks noGrp="1"/>
          </p:cNvGraphicFramePr>
          <p:nvPr/>
        </p:nvGraphicFramePr>
        <p:xfrm>
          <a:off x="257866" y="1658131"/>
          <a:ext cx="2600324" cy="2207895"/>
        </p:xfrm>
        <a:graphic>
          <a:graphicData uri="http://schemas.openxmlformats.org/drawingml/2006/table">
            <a:tbl>
              <a:tblPr/>
              <a:tblGrid>
                <a:gridCol w="908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7895">
                <a:tc>
                  <a:txBody>
                    <a:bodyPr/>
                    <a:lstStyle/>
                    <a:p>
                      <a:pPr marL="269875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57年</a:t>
                      </a:r>
                      <a:endParaRPr lang="en-US" altLang="en-US" sz="800" dirty="0"/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lang="en-US" altLang="en-US" sz="1000" dirty="0"/>
                    </a:p>
                    <a:p>
                      <a:pPr marL="139065" algn="l" rtl="0" eaLnBrk="0">
                        <a:lnSpc>
                          <a:spcPct val="98000"/>
                        </a:lnSpc>
                        <a:spcBef>
                          <a:spcPts val="25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莱杰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伦·希勒</a:t>
                      </a:r>
                      <a:endParaRPr lang="en-US" altLang="en-US" sz="800" dirty="0"/>
                    </a:p>
                    <a:p>
                      <a:pPr marL="355600" algn="l" rtl="0" eaLnBrk="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endParaRPr lang="en-US" altLang="en-US" sz="800" dirty="0"/>
                    </a:p>
                    <a:p>
                      <a:pPr marL="38100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伦纳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德·艾萨克森</a:t>
                      </a:r>
                      <a:endParaRPr lang="en-US" altLang="en-US" sz="800" dirty="0"/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2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计算机完成世</a:t>
                      </a:r>
                      <a:endParaRPr lang="en-US" altLang="en-US" sz="800" dirty="0"/>
                    </a:p>
                    <a:p>
                      <a:pPr marL="0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界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首曲由计算机完</a:t>
                      </a:r>
                      <a:endParaRPr lang="en-US" altLang="en-US" sz="800" dirty="0"/>
                    </a:p>
                    <a:p>
                      <a:pPr marL="200660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成的音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乐</a:t>
                      </a:r>
                      <a:endParaRPr lang="en-US" altLang="en-US" sz="800" dirty="0"/>
                    </a:p>
                    <a:p>
                      <a:pPr marL="97155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《依利亚克组曲</a:t>
                      </a:r>
                      <a:endParaRPr lang="en-US" altLang="en-US" sz="800" dirty="0"/>
                    </a:p>
                    <a:p>
                      <a:pPr marL="50800" algn="l" rtl="0" eaLnBrk="0">
                        <a:lnSpc>
                          <a:spcPct val="95000"/>
                        </a:lnSpc>
                        <a:spcBef>
                          <a:spcPts val="1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 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Illiac Suite ) 》</a:t>
                      </a:r>
                      <a:endParaRPr lang="en-US" altLang="en-US" sz="800" dirty="0"/>
                    </a:p>
                  </a:txBody>
                  <a:tcPr marL="0" marR="0" marT="1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000"/>
                        </a:lnSpc>
                      </a:pPr>
                      <a:endParaRPr lang="en-US" altLang="en-US" sz="100" dirty="0"/>
                    </a:p>
                    <a:p>
                      <a:pPr marL="255905" algn="l" rtl="0" eaLnBrk="0">
                        <a:lnSpc>
                          <a:spcPct val="98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196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6年</a:t>
                      </a:r>
                      <a:endParaRPr lang="en-US" altLang="en-US" sz="8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marL="93980" algn="l" rtl="0" eaLnBrk="0">
                        <a:lnSpc>
                          <a:spcPct val="98000"/>
                        </a:lnSpc>
                        <a:spcBef>
                          <a:spcPts val="24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约瑟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夫·魏岑鲍姆</a:t>
                      </a:r>
                      <a:endParaRPr lang="en-US" altLang="en-US" sz="800" dirty="0"/>
                    </a:p>
                    <a:p>
                      <a:pPr marL="410845" algn="l" rtl="0" eaLnBrk="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endParaRPr lang="en-US" altLang="en-US" sz="800" dirty="0"/>
                    </a:p>
                    <a:p>
                      <a:pPr marL="14478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肯尼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斯·科尔比</a:t>
                      </a:r>
                      <a:endParaRPr lang="en-US" altLang="en-US" sz="800" dirty="0"/>
                    </a:p>
                    <a:p>
                      <a:pPr marL="104140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推出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世界首款人</a:t>
                      </a:r>
                      <a:endParaRPr lang="en-US" altLang="en-US" sz="800" dirty="0"/>
                    </a:p>
                    <a:p>
                      <a:pPr marL="104140" algn="l" rtl="0" eaLnBrk="0">
                        <a:lnSpc>
                          <a:spcPct val="98000"/>
                        </a:lnSpc>
                        <a:spcBef>
                          <a:spcPts val="1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机可对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话机器人</a:t>
                      </a:r>
                      <a:endParaRPr lang="en-US" altLang="en-US" sz="800" dirty="0"/>
                    </a:p>
                    <a:p>
                      <a:pPr marL="362585" algn="l" rtl="0" eaLnBrk="0">
                        <a:lnSpc>
                          <a:spcPct val="87000"/>
                        </a:lnSpc>
                        <a:spcBef>
                          <a:spcPts val="30"/>
                        </a:spcBef>
                      </a:pPr>
                      <a:r>
                        <a:rPr sz="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Eli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9000"/>
                        </a:lnSpc>
                      </a:pPr>
                      <a:endParaRPr lang="en-US" altLang="en-US" sz="100" dirty="0"/>
                    </a:p>
                    <a:p>
                      <a:pPr marL="227330" algn="l" rtl="0" eaLnBrk="0">
                        <a:lnSpc>
                          <a:spcPct val="97000"/>
                        </a:lnSpc>
                      </a:pPr>
                      <a:r>
                        <a:rPr sz="800" spc="1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80年</a:t>
                      </a:r>
                      <a:r>
                        <a:rPr sz="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代中期</a:t>
                      </a:r>
                      <a:endParaRPr lang="en-US" altLang="en-US" sz="800" dirty="0"/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marL="78740" algn="l" rtl="0" eaLnBrk="0">
                        <a:lnSpc>
                          <a:spcPct val="98000"/>
                        </a:lnSpc>
                        <a:spcBef>
                          <a:spcPts val="250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IBM</a:t>
                      </a: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推出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</a:t>
                      </a:r>
                      <a:endParaRPr lang="en-US" altLang="en-US" sz="800" dirty="0"/>
                    </a:p>
                    <a:p>
                      <a:pPr marL="95250" algn="l" rtl="0" eaLnBrk="0">
                        <a:lnSpc>
                          <a:spcPct val="98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架构的</a:t>
                      </a:r>
                      <a:endParaRPr lang="en-US" altLang="en-US" sz="800" dirty="0"/>
                    </a:p>
                    <a:p>
                      <a:pPr marL="22860" algn="l" rtl="0" eaLnBrk="0">
                        <a:lnSpc>
                          <a:spcPct val="98000"/>
                        </a:lnSpc>
                        <a:spcBef>
                          <a:spcPts val="1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控制打字机</a:t>
                      </a:r>
                      <a:endParaRPr lang="en-US" altLang="en-US" sz="800" dirty="0"/>
                    </a:p>
                    <a:p>
                      <a:pPr marL="26670" algn="l" rtl="0" eaLnBrk="0">
                        <a:lnSpc>
                          <a:spcPct val="88000"/>
                        </a:lnSpc>
                        <a:spcBef>
                          <a:spcPts val="20"/>
                        </a:spcBef>
                      </a:pPr>
                      <a:r>
                        <a:rPr sz="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</a:t>
                      </a:r>
                      <a:r>
                        <a:rPr sz="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gora</a:t>
                      </a:r>
                      <a:r>
                        <a:rPr sz="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，可处</a:t>
                      </a:r>
                      <a:endParaRPr lang="en-US" altLang="en-US" sz="800" dirty="0"/>
                    </a:p>
                    <a:p>
                      <a:pPr marL="23495" algn="l" rtl="0" eaLnBrk="0">
                        <a:lnSpc>
                          <a:spcPct val="98000"/>
                        </a:lnSpc>
                        <a:spcBef>
                          <a:spcPts val="115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理约20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000个单</a:t>
                      </a:r>
                      <a:endParaRPr lang="en-US" altLang="en-US" sz="800" dirty="0"/>
                    </a:p>
                    <a:p>
                      <a:pPr marL="329565" algn="l" rtl="0" eaLnBrk="0">
                        <a:lnSpc>
                          <a:spcPct val="99000"/>
                        </a:lnSpc>
                        <a:spcBef>
                          <a:spcPts val="20"/>
                        </a:spcBef>
                      </a:pP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4" name="textbox 964"/>
          <p:cNvSpPr/>
          <p:nvPr/>
        </p:nvSpPr>
        <p:spPr>
          <a:xfrm>
            <a:off x="5539104" y="3909167"/>
            <a:ext cx="2819400" cy="5619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005205" algn="l" rtl="0" eaLnBrk="0">
              <a:lnSpc>
                <a:spcPct val="9800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快速发展阶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endParaRPr lang="en-US" altLang="en-US" sz="900" dirty="0"/>
          </a:p>
          <a:p>
            <a:pPr marL="1051560" algn="l" rtl="0" eaLnBrk="0">
              <a:lnSpc>
                <a:spcPts val="1200"/>
              </a:lnSpc>
            </a:pP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2010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-至</a:t>
            </a:r>
            <a:r>
              <a:rPr sz="9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</a:t>
            </a:r>
            <a:endParaRPr lang="en-US" altLang="en-US" sz="900" dirty="0"/>
          </a:p>
          <a:p>
            <a:pPr algn="l" rtl="0" eaLnBrk="0">
              <a:lnSpc>
                <a:spcPct val="108000"/>
              </a:lnSpc>
            </a:pPr>
            <a:endParaRPr lang="en-US" altLang="en-US" sz="7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模型结构不断创新， A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IGC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内容多样性与逼真度不断提高</a:t>
            </a:r>
            <a:endParaRPr lang="en-US" altLang="en-US" sz="900" dirty="0"/>
          </a:p>
        </p:txBody>
      </p:sp>
      <p:sp>
        <p:nvSpPr>
          <p:cNvPr id="965" name="textbox 965"/>
          <p:cNvSpPr/>
          <p:nvPr/>
        </p:nvSpPr>
        <p:spPr>
          <a:xfrm>
            <a:off x="444614" y="3903071"/>
            <a:ext cx="2132964" cy="5537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321310" indent="383540" algn="l" rtl="0" eaLnBrk="0">
              <a:lnSpc>
                <a:spcPct val="11300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早期萌芽阶</a:t>
            </a:r>
            <a:r>
              <a:rPr sz="9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20世纪50年代-90年代中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900" dirty="0"/>
          </a:p>
          <a:p>
            <a:pPr algn="l" rtl="0" eaLnBrk="0">
              <a:lnSpc>
                <a:spcPct val="105000"/>
              </a:lnSpc>
            </a:pPr>
            <a:endParaRPr lang="en-US" altLang="en-US" sz="6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受限于科技水平，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仅限于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范围试验</a:t>
            </a:r>
            <a:endParaRPr lang="en-US" altLang="en-US" sz="900" dirty="0"/>
          </a:p>
        </p:txBody>
      </p:sp>
      <p:pic>
        <p:nvPicPr>
          <p:cNvPr id="966" name="picture 9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21679" y="2850045"/>
            <a:ext cx="702893" cy="867626"/>
          </a:xfrm>
          <a:prstGeom prst="rect">
            <a:avLst/>
          </a:prstGeom>
        </p:spPr>
      </p:pic>
      <p:sp>
        <p:nvSpPr>
          <p:cNvPr id="967" name="textbox 967"/>
          <p:cNvSpPr/>
          <p:nvPr/>
        </p:nvSpPr>
        <p:spPr>
          <a:xfrm>
            <a:off x="3329939" y="3903071"/>
            <a:ext cx="1161414" cy="5619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93040" indent="8890" algn="l" rtl="0" eaLnBrk="0">
              <a:lnSpc>
                <a:spcPct val="114000"/>
              </a:lnSpc>
            </a:pP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沉淀积累阶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1990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-201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lang="en-US" altLang="en-US" sz="900" dirty="0"/>
          </a:p>
          <a:p>
            <a:pPr algn="l" rtl="0" eaLnBrk="0">
              <a:lnSpc>
                <a:spcPct val="118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由实验性向实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用性转变</a:t>
            </a:r>
            <a:endParaRPr lang="en-US" altLang="en-US" sz="900" dirty="0"/>
          </a:p>
        </p:txBody>
      </p:sp>
      <p:pic>
        <p:nvPicPr>
          <p:cNvPr id="968" name="picture 9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47822" y="2670200"/>
            <a:ext cx="643267" cy="893800"/>
          </a:xfrm>
          <a:prstGeom prst="rect">
            <a:avLst/>
          </a:prstGeom>
        </p:spPr>
      </p:pic>
      <p:sp>
        <p:nvSpPr>
          <p:cNvPr id="969" name="textbox 969"/>
          <p:cNvSpPr/>
          <p:nvPr/>
        </p:nvSpPr>
        <p:spPr>
          <a:xfrm>
            <a:off x="4021437" y="2124602"/>
            <a:ext cx="640080" cy="7543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lang="en-US" altLang="en-US" sz="100" dirty="0"/>
          </a:p>
          <a:p>
            <a:pPr marL="12700" indent="40640" algn="r" rtl="0" eaLnBrk="0">
              <a:lnSpc>
                <a:spcPct val="101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微软公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  </a:t>
            </a:r>
            <a:r>
              <a:rPr sz="8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示全自动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8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声传译系统，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8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可讲英文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8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音自动转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中文语音</a:t>
            </a:r>
            <a:endParaRPr lang="en-US" altLang="en-US" sz="800" dirty="0"/>
          </a:p>
        </p:txBody>
      </p:sp>
      <p:pic>
        <p:nvPicPr>
          <p:cNvPr id="970" name="picture 9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87780" y="3052559"/>
            <a:ext cx="776135" cy="544461"/>
          </a:xfrm>
          <a:prstGeom prst="rect">
            <a:avLst/>
          </a:prstGeom>
        </p:spPr>
      </p:pic>
      <p:pic>
        <p:nvPicPr>
          <p:cNvPr id="971" name="picture 97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4187" y="3253854"/>
            <a:ext cx="670509" cy="612787"/>
          </a:xfrm>
          <a:prstGeom prst="rect">
            <a:avLst/>
          </a:prstGeom>
        </p:spPr>
      </p:pic>
      <p:sp>
        <p:nvSpPr>
          <p:cNvPr id="972" name="textbox 972"/>
          <p:cNvSpPr/>
          <p:nvPr/>
        </p:nvSpPr>
        <p:spPr>
          <a:xfrm>
            <a:off x="3163614" y="2123332"/>
            <a:ext cx="782955" cy="5118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6510" algn="l" rtl="0" eaLnBrk="0">
              <a:lnSpc>
                <a:spcPct val="98000"/>
              </a:lnSpc>
            </a:pP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界首部完全由</a:t>
            </a:r>
            <a:endParaRPr lang="en-US" altLang="en-US" sz="800" dirty="0"/>
          </a:p>
          <a:p>
            <a:pPr marL="15240" algn="l" rtl="0" eaLnBrk="0">
              <a:lnSpc>
                <a:spcPct val="98000"/>
              </a:lnSpc>
              <a:spcBef>
                <a:spcPts val="20"/>
              </a:spcBef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人工智能创作的</a:t>
            </a:r>
            <a:endParaRPr lang="en-US" altLang="en-US" sz="800" dirty="0"/>
          </a:p>
          <a:p>
            <a:pPr marL="268605" algn="l" rtl="0" eaLnBrk="0">
              <a:lnSpc>
                <a:spcPct val="99000"/>
              </a:lnSpc>
              <a:spcBef>
                <a:spcPts val="15"/>
              </a:spcBef>
            </a:pP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小说</a:t>
            </a:r>
            <a:endParaRPr lang="en-US" altLang="en-US" sz="800" dirty="0"/>
          </a:p>
          <a:p>
            <a:pPr marL="63500" algn="l" rtl="0" eaLnBrk="0">
              <a:lnSpc>
                <a:spcPct val="98000"/>
              </a:lnSpc>
              <a:spcBef>
                <a:spcPts val="20"/>
              </a:spcBef>
            </a:pPr>
            <a:r>
              <a:rPr sz="8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《1 The R</a:t>
            </a: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</a:t>
            </a:r>
            <a:r>
              <a:rPr sz="8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en-US" altLang="en-US" sz="800" dirty="0"/>
          </a:p>
        </p:txBody>
      </p:sp>
      <p:pic>
        <p:nvPicPr>
          <p:cNvPr id="973" name="picture 97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78832" y="2898978"/>
            <a:ext cx="924102" cy="285038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133091" y="3006496"/>
            <a:ext cx="725474" cy="338556"/>
          </a:xfrm>
          <a:prstGeom prst="rect">
            <a:avLst/>
          </a:prstGeom>
        </p:spPr>
      </p:pic>
      <p:pic>
        <p:nvPicPr>
          <p:cNvPr id="976" name="picture 9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016375" y="2981058"/>
            <a:ext cx="652081" cy="323989"/>
          </a:xfrm>
          <a:prstGeom prst="rect">
            <a:avLst/>
          </a:prstGeom>
        </p:spPr>
      </p:pic>
      <p:pic>
        <p:nvPicPr>
          <p:cNvPr id="977" name="picture 9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395591" y="3190201"/>
            <a:ext cx="613803" cy="304965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716141" y="3058375"/>
            <a:ext cx="487857" cy="366941"/>
          </a:xfrm>
          <a:prstGeom prst="rect">
            <a:avLst/>
          </a:prstGeom>
        </p:spPr>
      </p:pic>
      <p:sp>
        <p:nvSpPr>
          <p:cNvPr id="979" name="path"/>
          <p:cNvSpPr/>
          <p:nvPr/>
        </p:nvSpPr>
        <p:spPr>
          <a:xfrm>
            <a:off x="5210683" y="1869947"/>
            <a:ext cx="1066165" cy="144018"/>
          </a:xfrm>
          <a:custGeom>
            <a:avLst/>
            <a:gdLst/>
            <a:ahLst/>
            <a:cxnLst/>
            <a:rect l="0" t="0" r="0" b="0"/>
            <a:pathLst>
              <a:path w="1679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  <a:path w="1679" h="226">
                <a:moveTo>
                  <a:pt x="1452" y="113"/>
                </a:moveTo>
                <a:cubicBezTo>
                  <a:pt x="1452" y="50"/>
                  <a:pt x="1502" y="0"/>
                  <a:pt x="1565" y="0"/>
                </a:cubicBezTo>
                <a:cubicBezTo>
                  <a:pt x="1565" y="0"/>
                  <a:pt x="1565" y="0"/>
                  <a:pt x="1565" y="0"/>
                </a:cubicBezTo>
                <a:lnTo>
                  <a:pt x="1565" y="0"/>
                </a:lnTo>
                <a:cubicBezTo>
                  <a:pt x="1628" y="0"/>
                  <a:pt x="1679" y="50"/>
                  <a:pt x="1679" y="113"/>
                </a:cubicBezTo>
                <a:cubicBezTo>
                  <a:pt x="1679" y="113"/>
                  <a:pt x="1679" y="113"/>
                  <a:pt x="1679" y="113"/>
                </a:cubicBezTo>
                <a:lnTo>
                  <a:pt x="1679" y="113"/>
                </a:lnTo>
                <a:cubicBezTo>
                  <a:pt x="1679" y="176"/>
                  <a:pt x="1628" y="226"/>
                  <a:pt x="1565" y="226"/>
                </a:cubicBezTo>
                <a:cubicBezTo>
                  <a:pt x="1565" y="226"/>
                  <a:pt x="1565" y="226"/>
                  <a:pt x="1565" y="226"/>
                </a:cubicBezTo>
                <a:lnTo>
                  <a:pt x="1565" y="226"/>
                </a:lnTo>
                <a:cubicBezTo>
                  <a:pt x="1502" y="226"/>
                  <a:pt x="1452" y="176"/>
                  <a:pt x="1452" y="113"/>
                </a:cubicBezTo>
                <a:cubicBezTo>
                  <a:pt x="1452" y="113"/>
                  <a:pt x="1452" y="113"/>
                  <a:pt x="1452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80" name="picture 9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117458" y="2928251"/>
            <a:ext cx="767156" cy="188836"/>
          </a:xfrm>
          <a:prstGeom prst="rect">
            <a:avLst/>
          </a:prstGeom>
        </p:spPr>
      </p:pic>
      <p:sp>
        <p:nvSpPr>
          <p:cNvPr id="981" name="textbox 981"/>
          <p:cNvSpPr/>
          <p:nvPr/>
        </p:nvSpPr>
        <p:spPr>
          <a:xfrm>
            <a:off x="3344142" y="1652416"/>
            <a:ext cx="372109" cy="145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800" spc="2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8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8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7年</a:t>
            </a:r>
            <a:endParaRPr lang="en-US" altLang="en-US" sz="800" dirty="0"/>
          </a:p>
        </p:txBody>
      </p:sp>
      <p:sp>
        <p:nvSpPr>
          <p:cNvPr id="982" name="textbox 982"/>
          <p:cNvSpPr/>
          <p:nvPr/>
        </p:nvSpPr>
        <p:spPr>
          <a:xfrm>
            <a:off x="4108174" y="1652416"/>
            <a:ext cx="372109" cy="145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8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r>
              <a:rPr sz="8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lang="en-US" altLang="en-US" sz="800" dirty="0"/>
          </a:p>
        </p:txBody>
      </p:sp>
      <p:sp>
        <p:nvSpPr>
          <p:cNvPr id="983" name="textbox 983"/>
          <p:cNvSpPr/>
          <p:nvPr/>
        </p:nvSpPr>
        <p:spPr>
          <a:xfrm>
            <a:off x="6002887" y="1652416"/>
            <a:ext cx="372109" cy="1454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8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sz="8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lang="en-US" altLang="en-US" sz="800" dirty="0"/>
          </a:p>
        </p:txBody>
      </p:sp>
      <p:sp>
        <p:nvSpPr>
          <p:cNvPr id="984" name="path"/>
          <p:cNvSpPr/>
          <p:nvPr/>
        </p:nvSpPr>
        <p:spPr>
          <a:xfrm>
            <a:off x="1524508" y="1869947"/>
            <a:ext cx="144018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5" name="path"/>
          <p:cNvSpPr/>
          <p:nvPr/>
        </p:nvSpPr>
        <p:spPr>
          <a:xfrm>
            <a:off x="624446" y="1869947"/>
            <a:ext cx="144018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6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6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6" name="path"/>
          <p:cNvSpPr/>
          <p:nvPr/>
        </p:nvSpPr>
        <p:spPr>
          <a:xfrm>
            <a:off x="3455670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6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6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7" name="path"/>
          <p:cNvSpPr/>
          <p:nvPr/>
        </p:nvSpPr>
        <p:spPr>
          <a:xfrm>
            <a:off x="2423795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6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6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path"/>
          <p:cNvSpPr/>
          <p:nvPr/>
        </p:nvSpPr>
        <p:spPr>
          <a:xfrm>
            <a:off x="4231640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9" name="path"/>
          <p:cNvSpPr/>
          <p:nvPr/>
        </p:nvSpPr>
        <p:spPr>
          <a:xfrm>
            <a:off x="7601077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0" name="path"/>
          <p:cNvSpPr/>
          <p:nvPr/>
        </p:nvSpPr>
        <p:spPr>
          <a:xfrm>
            <a:off x="8414131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91" name="path"/>
          <p:cNvSpPr/>
          <p:nvPr/>
        </p:nvSpPr>
        <p:spPr>
          <a:xfrm>
            <a:off x="6866890" y="1869947"/>
            <a:ext cx="144017" cy="144018"/>
          </a:xfrm>
          <a:custGeom>
            <a:avLst/>
            <a:gdLst/>
            <a:ahLst/>
            <a:cxnLst/>
            <a:rect l="0" t="0" r="0" b="0"/>
            <a:pathLst>
              <a:path w="226" h="226">
                <a:moveTo>
                  <a:pt x="0" y="113"/>
                </a:moveTo>
                <a:cubicBezTo>
                  <a:pt x="0" y="50"/>
                  <a:pt x="50" y="0"/>
                  <a:pt x="113" y="0"/>
                </a:cubicBezTo>
                <a:cubicBezTo>
                  <a:pt x="113" y="0"/>
                  <a:pt x="113" y="0"/>
                  <a:pt x="113" y="0"/>
                </a:cubicBezTo>
                <a:lnTo>
                  <a:pt x="113" y="0"/>
                </a:lnTo>
                <a:cubicBezTo>
                  <a:pt x="175" y="0"/>
                  <a:pt x="226" y="50"/>
                  <a:pt x="226" y="113"/>
                </a:cubicBezTo>
                <a:cubicBezTo>
                  <a:pt x="226" y="113"/>
                  <a:pt x="226" y="113"/>
                  <a:pt x="226" y="113"/>
                </a:cubicBezTo>
                <a:lnTo>
                  <a:pt x="226" y="113"/>
                </a:lnTo>
                <a:cubicBezTo>
                  <a:pt x="226" y="176"/>
                  <a:pt x="175" y="226"/>
                  <a:pt x="113" y="226"/>
                </a:cubicBezTo>
                <a:cubicBezTo>
                  <a:pt x="113" y="226"/>
                  <a:pt x="113" y="226"/>
                  <a:pt x="113" y="226"/>
                </a:cubicBezTo>
                <a:lnTo>
                  <a:pt x="113" y="226"/>
                </a:lnTo>
                <a:cubicBezTo>
                  <a:pt x="50" y="226"/>
                  <a:pt x="0" y="176"/>
                  <a:pt x="0" y="113"/>
                </a:cubicBezTo>
                <a:cubicBezTo>
                  <a:pt x="0" y="113"/>
                  <a:pt x="0" y="113"/>
                  <a:pt x="0" y="113"/>
                </a:cubicBezTo>
              </a:path>
            </a:pathLst>
          </a:cu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6" name="picture 1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247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8" name="textbox 1248"/>
          <p:cNvSpPr/>
          <p:nvPr/>
        </p:nvSpPr>
        <p:spPr>
          <a:xfrm>
            <a:off x="-12700" y="124277"/>
            <a:ext cx="8827134" cy="10852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不同模态对应着各种生成技术及应用场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</a:t>
            </a:r>
            <a:endParaRPr lang="en-US" altLang="en-US" sz="2000" dirty="0"/>
          </a:p>
          <a:p>
            <a:pPr algn="l" rtl="0" eaLnBrk="0">
              <a:lnSpc>
                <a:spcPct val="103000"/>
              </a:lnSpc>
            </a:pPr>
            <a:endParaRPr lang="en-US" altLang="en-US" sz="1100" dirty="0"/>
          </a:p>
          <a:p>
            <a:pPr marL="459105" algn="l" rtl="0" eaLnBrk="0">
              <a:lnSpc>
                <a:spcPct val="97000"/>
              </a:lnSpc>
              <a:spcBef>
                <a:spcPts val="0"/>
              </a:spcBef>
              <a:tabLst>
                <a:tab pos="54610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不同模态对应的技术应用场景也有着各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的细分品类</a:t>
            </a:r>
            <a:endParaRPr lang="en-US" altLang="en-US" sz="1200" dirty="0"/>
          </a:p>
        </p:txBody>
      </p:sp>
      <p:pic>
        <p:nvPicPr>
          <p:cNvPr id="1249" name="picture 12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6227" y="1042415"/>
            <a:ext cx="88239" cy="100584"/>
          </a:xfrm>
          <a:prstGeom prst="rect">
            <a:avLst/>
          </a:prstGeom>
        </p:spPr>
      </p:pic>
      <p:sp>
        <p:nvSpPr>
          <p:cNvPr id="1250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76" name="group 176"/>
          <p:cNvGrpSpPr/>
          <p:nvPr/>
        </p:nvGrpSpPr>
        <p:grpSpPr>
          <a:xfrm rot="21600000">
            <a:off x="3445763" y="1918589"/>
            <a:ext cx="2383409" cy="2383523"/>
            <a:chOff x="0" y="0"/>
            <a:chExt cx="2383409" cy="2383523"/>
          </a:xfrm>
        </p:grpSpPr>
        <p:grpSp>
          <p:nvGrpSpPr>
            <p:cNvPr id="178" name="group 178"/>
            <p:cNvGrpSpPr/>
            <p:nvPr/>
          </p:nvGrpSpPr>
          <p:grpSpPr>
            <a:xfrm rot="21600000">
              <a:off x="0" y="0"/>
              <a:ext cx="2383409" cy="2383523"/>
              <a:chOff x="0" y="0"/>
              <a:chExt cx="2383409" cy="2383523"/>
            </a:xfrm>
          </p:grpSpPr>
          <p:sp>
            <p:nvSpPr>
              <p:cNvPr id="1251" name="path"/>
              <p:cNvSpPr/>
              <p:nvPr/>
            </p:nvSpPr>
            <p:spPr>
              <a:xfrm>
                <a:off x="124587" y="119888"/>
                <a:ext cx="2139441" cy="2139441"/>
              </a:xfrm>
              <a:custGeom>
                <a:avLst/>
                <a:gdLst/>
                <a:ahLst/>
                <a:cxnLst/>
                <a:rect l="0" t="0" r="0" b="0"/>
                <a:pathLst>
                  <a:path w="3369" h="3369">
                    <a:moveTo>
                      <a:pt x="1684" y="0"/>
                    </a:moveTo>
                    <a:cubicBezTo>
                      <a:pt x="2614" y="0"/>
                      <a:pt x="3369" y="754"/>
                      <a:pt x="3369" y="1684"/>
                    </a:cubicBezTo>
                    <a:cubicBezTo>
                      <a:pt x="3369" y="2615"/>
                      <a:pt x="2614" y="3369"/>
                      <a:pt x="1684" y="3369"/>
                    </a:cubicBezTo>
                    <a:cubicBezTo>
                      <a:pt x="754" y="3369"/>
                      <a:pt x="0" y="2615"/>
                      <a:pt x="0" y="1684"/>
                    </a:cubicBezTo>
                    <a:cubicBezTo>
                      <a:pt x="0" y="754"/>
                      <a:pt x="754" y="0"/>
                      <a:pt x="1684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2" name="path"/>
              <p:cNvSpPr/>
              <p:nvPr/>
            </p:nvSpPr>
            <p:spPr>
              <a:xfrm>
                <a:off x="722630" y="747648"/>
                <a:ext cx="892936" cy="816482"/>
              </a:xfrm>
              <a:custGeom>
                <a:avLst/>
                <a:gdLst/>
                <a:ahLst/>
                <a:cxnLst/>
                <a:rect l="0" t="0" r="0" b="0"/>
                <a:pathLst>
                  <a:path w="1406" h="1285">
                    <a:moveTo>
                      <a:pt x="0" y="0"/>
                    </a:moveTo>
                    <a:lnTo>
                      <a:pt x="0" y="892"/>
                    </a:lnTo>
                    <a:lnTo>
                      <a:pt x="2" y="892"/>
                    </a:lnTo>
                    <a:cubicBezTo>
                      <a:pt x="8" y="891"/>
                      <a:pt x="22" y="887"/>
                      <a:pt x="39" y="863"/>
                    </a:cubicBezTo>
                    <a:lnTo>
                      <a:pt x="41" y="861"/>
                    </a:lnTo>
                    <a:cubicBezTo>
                      <a:pt x="69" y="818"/>
                      <a:pt x="117" y="793"/>
                      <a:pt x="168" y="793"/>
                    </a:cubicBezTo>
                    <a:cubicBezTo>
                      <a:pt x="252" y="793"/>
                      <a:pt x="320" y="862"/>
                      <a:pt x="320" y="946"/>
                    </a:cubicBezTo>
                    <a:lnTo>
                      <a:pt x="320" y="1021"/>
                    </a:lnTo>
                    <a:cubicBezTo>
                      <a:pt x="320" y="1105"/>
                      <a:pt x="252" y="1174"/>
                      <a:pt x="168" y="1174"/>
                    </a:cubicBezTo>
                    <a:cubicBezTo>
                      <a:pt x="116" y="1174"/>
                      <a:pt x="68" y="1147"/>
                      <a:pt x="39" y="1103"/>
                    </a:cubicBezTo>
                    <a:cubicBezTo>
                      <a:pt x="28" y="1088"/>
                      <a:pt x="15" y="1078"/>
                      <a:pt x="5" y="1075"/>
                    </a:cubicBezTo>
                    <a:lnTo>
                      <a:pt x="0" y="1075"/>
                    </a:lnTo>
                    <a:lnTo>
                      <a:pt x="0" y="1285"/>
                    </a:lnTo>
                    <a:lnTo>
                      <a:pt x="1406" y="1285"/>
                    </a:lnTo>
                    <a:lnTo>
                      <a:pt x="14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9E3B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3" name="path"/>
              <p:cNvSpPr/>
              <p:nvPr/>
            </p:nvSpPr>
            <p:spPr>
              <a:xfrm>
                <a:off x="1630299" y="518540"/>
                <a:ext cx="580135" cy="1583156"/>
              </a:xfrm>
              <a:custGeom>
                <a:avLst/>
                <a:gdLst/>
                <a:ahLst/>
                <a:cxnLst/>
                <a:rect l="0" t="0" r="0" b="0"/>
                <a:pathLst>
                  <a:path w="913" h="2493">
                    <a:moveTo>
                      <a:pt x="753" y="364"/>
                    </a:moveTo>
                    <a:lnTo>
                      <a:pt x="171" y="364"/>
                    </a:lnTo>
                    <a:lnTo>
                      <a:pt x="171" y="255"/>
                    </a:lnTo>
                    <a:cubicBezTo>
                      <a:pt x="173" y="236"/>
                      <a:pt x="184" y="207"/>
                      <a:pt x="223" y="179"/>
                    </a:cubicBezTo>
                    <a:cubicBezTo>
                      <a:pt x="252" y="160"/>
                      <a:pt x="269" y="130"/>
                      <a:pt x="269" y="97"/>
                    </a:cubicBezTo>
                    <a:cubicBezTo>
                      <a:pt x="269" y="43"/>
                      <a:pt x="226" y="0"/>
                      <a:pt x="172" y="0"/>
                    </a:cubicBezTo>
                    <a:lnTo>
                      <a:pt x="97" y="0"/>
                    </a:lnTo>
                    <a:cubicBezTo>
                      <a:pt x="43" y="0"/>
                      <a:pt x="0" y="43"/>
                      <a:pt x="0" y="97"/>
                    </a:cubicBezTo>
                    <a:cubicBezTo>
                      <a:pt x="0" y="129"/>
                      <a:pt x="16" y="160"/>
                      <a:pt x="44" y="178"/>
                    </a:cubicBezTo>
                    <a:lnTo>
                      <a:pt x="47" y="180"/>
                    </a:lnTo>
                    <a:cubicBezTo>
                      <a:pt x="88" y="210"/>
                      <a:pt x="97" y="241"/>
                      <a:pt x="98" y="258"/>
                    </a:cubicBezTo>
                    <a:lnTo>
                      <a:pt x="98" y="261"/>
                    </a:lnTo>
                    <a:lnTo>
                      <a:pt x="98" y="364"/>
                    </a:lnTo>
                    <a:lnTo>
                      <a:pt x="42" y="364"/>
                    </a:lnTo>
                    <a:lnTo>
                      <a:pt x="42" y="1720"/>
                    </a:lnTo>
                    <a:lnTo>
                      <a:pt x="65" y="1720"/>
                    </a:lnTo>
                    <a:cubicBezTo>
                      <a:pt x="70" y="1719"/>
                      <a:pt x="85" y="1715"/>
                      <a:pt x="102" y="1692"/>
                    </a:cubicBezTo>
                    <a:lnTo>
                      <a:pt x="103" y="1689"/>
                    </a:lnTo>
                    <a:cubicBezTo>
                      <a:pt x="132" y="1647"/>
                      <a:pt x="179" y="1621"/>
                      <a:pt x="230" y="1621"/>
                    </a:cubicBezTo>
                    <a:cubicBezTo>
                      <a:pt x="314" y="1621"/>
                      <a:pt x="382" y="1690"/>
                      <a:pt x="382" y="1774"/>
                    </a:cubicBezTo>
                    <a:lnTo>
                      <a:pt x="382" y="1850"/>
                    </a:lnTo>
                    <a:cubicBezTo>
                      <a:pt x="382" y="1934"/>
                      <a:pt x="314" y="2002"/>
                      <a:pt x="230" y="2002"/>
                    </a:cubicBezTo>
                    <a:cubicBezTo>
                      <a:pt x="179" y="2002"/>
                      <a:pt x="131" y="1976"/>
                      <a:pt x="102" y="1931"/>
                    </a:cubicBezTo>
                    <a:cubicBezTo>
                      <a:pt x="90" y="1916"/>
                      <a:pt x="78" y="1906"/>
                      <a:pt x="67" y="1903"/>
                    </a:cubicBezTo>
                    <a:lnTo>
                      <a:pt x="42" y="1903"/>
                    </a:lnTo>
                    <a:lnTo>
                      <a:pt x="42" y="2493"/>
                    </a:lnTo>
                    <a:cubicBezTo>
                      <a:pt x="559" y="2225"/>
                      <a:pt x="913" y="1686"/>
                      <a:pt x="913" y="1063"/>
                    </a:cubicBezTo>
                    <a:cubicBezTo>
                      <a:pt x="913" y="813"/>
                      <a:pt x="856" y="576"/>
                      <a:pt x="753" y="364"/>
                    </a:cubicBezTo>
                  </a:path>
                </a:pathLst>
              </a:custGeom>
              <a:solidFill>
                <a:srgbClr val="B10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4" name="path"/>
              <p:cNvSpPr/>
              <p:nvPr/>
            </p:nvSpPr>
            <p:spPr>
              <a:xfrm>
                <a:off x="264541" y="1580514"/>
                <a:ext cx="1582674" cy="631913"/>
              </a:xfrm>
              <a:custGeom>
                <a:avLst/>
                <a:gdLst/>
                <a:ahLst/>
                <a:cxnLst/>
                <a:rect l="0" t="0" r="0" b="0"/>
                <a:pathLst>
                  <a:path w="2492" h="995">
                    <a:moveTo>
                      <a:pt x="2395" y="0"/>
                    </a:moveTo>
                    <a:cubicBezTo>
                      <a:pt x="2362" y="0"/>
                      <a:pt x="2332" y="16"/>
                      <a:pt x="2313" y="44"/>
                    </a:cubicBezTo>
                    <a:lnTo>
                      <a:pt x="2311" y="47"/>
                    </a:lnTo>
                    <a:cubicBezTo>
                      <a:pt x="2282" y="88"/>
                      <a:pt x="2250" y="97"/>
                      <a:pt x="2234" y="98"/>
                    </a:cubicBezTo>
                    <a:lnTo>
                      <a:pt x="2231" y="98"/>
                    </a:lnTo>
                    <a:lnTo>
                      <a:pt x="2140" y="98"/>
                    </a:lnTo>
                    <a:lnTo>
                      <a:pt x="2140" y="39"/>
                    </a:lnTo>
                    <a:lnTo>
                      <a:pt x="661" y="39"/>
                    </a:lnTo>
                    <a:lnTo>
                      <a:pt x="661" y="56"/>
                    </a:lnTo>
                    <a:cubicBezTo>
                      <a:pt x="662" y="61"/>
                      <a:pt x="666" y="76"/>
                      <a:pt x="689" y="92"/>
                    </a:cubicBezTo>
                    <a:lnTo>
                      <a:pt x="692" y="95"/>
                    </a:lnTo>
                    <a:cubicBezTo>
                      <a:pt x="735" y="123"/>
                      <a:pt x="760" y="170"/>
                      <a:pt x="760" y="221"/>
                    </a:cubicBezTo>
                    <a:cubicBezTo>
                      <a:pt x="760" y="305"/>
                      <a:pt x="692" y="374"/>
                      <a:pt x="607" y="374"/>
                    </a:cubicBezTo>
                    <a:lnTo>
                      <a:pt x="532" y="374"/>
                    </a:lnTo>
                    <a:cubicBezTo>
                      <a:pt x="447" y="374"/>
                      <a:pt x="379" y="305"/>
                      <a:pt x="379" y="221"/>
                    </a:cubicBezTo>
                    <a:cubicBezTo>
                      <a:pt x="379" y="170"/>
                      <a:pt x="405" y="122"/>
                      <a:pt x="450" y="93"/>
                    </a:cubicBezTo>
                    <a:cubicBezTo>
                      <a:pt x="465" y="81"/>
                      <a:pt x="475" y="69"/>
                      <a:pt x="478" y="58"/>
                    </a:cubicBezTo>
                    <a:lnTo>
                      <a:pt x="478" y="39"/>
                    </a:lnTo>
                    <a:lnTo>
                      <a:pt x="0" y="39"/>
                    </a:lnTo>
                    <a:cubicBezTo>
                      <a:pt x="250" y="602"/>
                      <a:pt x="813" y="995"/>
                      <a:pt x="1469" y="995"/>
                    </a:cubicBezTo>
                    <a:cubicBezTo>
                      <a:pt x="1709" y="995"/>
                      <a:pt x="1936" y="942"/>
                      <a:pt x="2140" y="848"/>
                    </a:cubicBezTo>
                    <a:lnTo>
                      <a:pt x="2140" y="170"/>
                    </a:lnTo>
                    <a:lnTo>
                      <a:pt x="2237" y="171"/>
                    </a:lnTo>
                    <a:cubicBezTo>
                      <a:pt x="2256" y="173"/>
                      <a:pt x="2284" y="184"/>
                      <a:pt x="2312" y="223"/>
                    </a:cubicBezTo>
                    <a:cubicBezTo>
                      <a:pt x="2331" y="253"/>
                      <a:pt x="2362" y="269"/>
                      <a:pt x="2395" y="269"/>
                    </a:cubicBezTo>
                    <a:cubicBezTo>
                      <a:pt x="2448" y="269"/>
                      <a:pt x="2492" y="226"/>
                      <a:pt x="2492" y="172"/>
                    </a:cubicBezTo>
                    <a:lnTo>
                      <a:pt x="2492" y="96"/>
                    </a:lnTo>
                    <a:cubicBezTo>
                      <a:pt x="2492" y="43"/>
                      <a:pt x="2448" y="0"/>
                      <a:pt x="2395" y="0"/>
                    </a:cubicBezTo>
                  </a:path>
                </a:pathLst>
              </a:custGeom>
              <a:solidFill>
                <a:srgbClr val="59C3F1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5" name="path"/>
              <p:cNvSpPr/>
              <p:nvPr/>
            </p:nvSpPr>
            <p:spPr>
              <a:xfrm>
                <a:off x="174371" y="309752"/>
                <a:ext cx="722629" cy="1476882"/>
              </a:xfrm>
              <a:custGeom>
                <a:avLst/>
                <a:gdLst/>
                <a:ahLst/>
                <a:cxnLst/>
                <a:rect l="0" t="0" r="0" b="0"/>
                <a:pathLst>
                  <a:path w="1137" h="2325">
                    <a:moveTo>
                      <a:pt x="1041" y="1543"/>
                    </a:moveTo>
                    <a:cubicBezTo>
                      <a:pt x="1008" y="1543"/>
                      <a:pt x="977" y="1560"/>
                      <a:pt x="959" y="1587"/>
                    </a:cubicBezTo>
                    <a:lnTo>
                      <a:pt x="957" y="1591"/>
                    </a:lnTo>
                    <a:cubicBezTo>
                      <a:pt x="927" y="1632"/>
                      <a:pt x="896" y="1641"/>
                      <a:pt x="880" y="1642"/>
                    </a:cubicBezTo>
                    <a:lnTo>
                      <a:pt x="877" y="1642"/>
                    </a:lnTo>
                    <a:lnTo>
                      <a:pt x="806" y="1642"/>
                    </a:lnTo>
                    <a:lnTo>
                      <a:pt x="806" y="631"/>
                    </a:lnTo>
                    <a:cubicBezTo>
                      <a:pt x="800" y="635"/>
                      <a:pt x="792" y="642"/>
                      <a:pt x="784" y="653"/>
                    </a:cubicBezTo>
                    <a:lnTo>
                      <a:pt x="782" y="656"/>
                    </a:lnTo>
                    <a:cubicBezTo>
                      <a:pt x="753" y="698"/>
                      <a:pt x="706" y="724"/>
                      <a:pt x="655" y="724"/>
                    </a:cubicBezTo>
                    <a:cubicBezTo>
                      <a:pt x="571" y="724"/>
                      <a:pt x="503" y="656"/>
                      <a:pt x="503" y="572"/>
                    </a:cubicBezTo>
                    <a:lnTo>
                      <a:pt x="503" y="496"/>
                    </a:lnTo>
                    <a:cubicBezTo>
                      <a:pt x="503" y="412"/>
                      <a:pt x="571" y="343"/>
                      <a:pt x="655" y="343"/>
                    </a:cubicBezTo>
                    <a:cubicBezTo>
                      <a:pt x="707" y="343"/>
                      <a:pt x="754" y="370"/>
                      <a:pt x="783" y="414"/>
                    </a:cubicBezTo>
                    <a:cubicBezTo>
                      <a:pt x="791" y="424"/>
                      <a:pt x="798" y="431"/>
                      <a:pt x="806" y="436"/>
                    </a:cubicBezTo>
                    <a:lnTo>
                      <a:pt x="806" y="0"/>
                    </a:lnTo>
                    <a:cubicBezTo>
                      <a:pt x="324" y="277"/>
                      <a:pt x="0" y="797"/>
                      <a:pt x="0" y="1393"/>
                    </a:cubicBezTo>
                    <a:cubicBezTo>
                      <a:pt x="0" y="1601"/>
                      <a:pt x="39" y="1798"/>
                      <a:pt x="111" y="1980"/>
                    </a:cubicBezTo>
                    <a:lnTo>
                      <a:pt x="672" y="1980"/>
                    </a:lnTo>
                    <a:lnTo>
                      <a:pt x="672" y="2070"/>
                    </a:lnTo>
                    <a:cubicBezTo>
                      <a:pt x="669" y="2089"/>
                      <a:pt x="658" y="2118"/>
                      <a:pt x="620" y="2146"/>
                    </a:cubicBezTo>
                    <a:cubicBezTo>
                      <a:pt x="590" y="2165"/>
                      <a:pt x="573" y="2195"/>
                      <a:pt x="573" y="2228"/>
                    </a:cubicBezTo>
                    <a:cubicBezTo>
                      <a:pt x="573" y="2282"/>
                      <a:pt x="617" y="2325"/>
                      <a:pt x="670" y="2325"/>
                    </a:cubicBezTo>
                    <a:lnTo>
                      <a:pt x="746" y="2325"/>
                    </a:lnTo>
                    <a:cubicBezTo>
                      <a:pt x="800" y="2325"/>
                      <a:pt x="843" y="2282"/>
                      <a:pt x="843" y="2228"/>
                    </a:cubicBezTo>
                    <a:cubicBezTo>
                      <a:pt x="843" y="2195"/>
                      <a:pt x="827" y="2165"/>
                      <a:pt x="799" y="2147"/>
                    </a:cubicBezTo>
                    <a:lnTo>
                      <a:pt x="796" y="2145"/>
                    </a:lnTo>
                    <a:cubicBezTo>
                      <a:pt x="755" y="2115"/>
                      <a:pt x="746" y="2084"/>
                      <a:pt x="744" y="2067"/>
                    </a:cubicBezTo>
                    <a:lnTo>
                      <a:pt x="744" y="2064"/>
                    </a:lnTo>
                    <a:lnTo>
                      <a:pt x="744" y="1980"/>
                    </a:lnTo>
                    <a:lnTo>
                      <a:pt x="806" y="1980"/>
                    </a:lnTo>
                    <a:lnTo>
                      <a:pt x="806" y="1714"/>
                    </a:lnTo>
                    <a:lnTo>
                      <a:pt x="882" y="1715"/>
                    </a:lnTo>
                    <a:cubicBezTo>
                      <a:pt x="902" y="1717"/>
                      <a:pt x="930" y="1728"/>
                      <a:pt x="958" y="1767"/>
                    </a:cubicBezTo>
                    <a:cubicBezTo>
                      <a:pt x="977" y="1796"/>
                      <a:pt x="1007" y="1813"/>
                      <a:pt x="1041" y="1813"/>
                    </a:cubicBezTo>
                    <a:cubicBezTo>
                      <a:pt x="1094" y="1813"/>
                      <a:pt x="1137" y="1770"/>
                      <a:pt x="1137" y="1716"/>
                    </a:cubicBezTo>
                    <a:lnTo>
                      <a:pt x="1137" y="1640"/>
                    </a:lnTo>
                    <a:cubicBezTo>
                      <a:pt x="1137" y="1587"/>
                      <a:pt x="1094" y="1543"/>
                      <a:pt x="1041" y="1543"/>
                    </a:cubicBezTo>
                  </a:path>
                </a:pathLst>
              </a:custGeom>
              <a:solidFill>
                <a:srgbClr val="0081F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6" name="path"/>
              <p:cNvSpPr/>
              <p:nvPr/>
            </p:nvSpPr>
            <p:spPr>
              <a:xfrm>
                <a:off x="518541" y="169671"/>
                <a:ext cx="1565275" cy="561213"/>
              </a:xfrm>
              <a:custGeom>
                <a:avLst/>
                <a:gdLst/>
                <a:ahLst/>
                <a:cxnLst/>
                <a:rect l="0" t="0" r="0" b="0"/>
                <a:pathLst>
                  <a:path w="2465" h="883">
                    <a:moveTo>
                      <a:pt x="1999" y="770"/>
                    </a:moveTo>
                    <a:cubicBezTo>
                      <a:pt x="1984" y="781"/>
                      <a:pt x="1974" y="793"/>
                      <a:pt x="1971" y="804"/>
                    </a:cubicBezTo>
                    <a:lnTo>
                      <a:pt x="1971" y="842"/>
                    </a:lnTo>
                    <a:lnTo>
                      <a:pt x="2465" y="842"/>
                    </a:lnTo>
                    <a:cubicBezTo>
                      <a:pt x="2192" y="341"/>
                      <a:pt x="1661" y="0"/>
                      <a:pt x="1050" y="0"/>
                    </a:cubicBezTo>
                    <a:cubicBezTo>
                      <a:pt x="784" y="0"/>
                      <a:pt x="535" y="64"/>
                      <a:pt x="314" y="178"/>
                    </a:cubicBezTo>
                    <a:lnTo>
                      <a:pt x="314" y="712"/>
                    </a:lnTo>
                    <a:lnTo>
                      <a:pt x="255" y="712"/>
                    </a:lnTo>
                    <a:cubicBezTo>
                      <a:pt x="235" y="710"/>
                      <a:pt x="207" y="698"/>
                      <a:pt x="179" y="660"/>
                    </a:cubicBezTo>
                    <a:cubicBezTo>
                      <a:pt x="160" y="630"/>
                      <a:pt x="130" y="613"/>
                      <a:pt x="97" y="613"/>
                    </a:cubicBezTo>
                    <a:cubicBezTo>
                      <a:pt x="43" y="613"/>
                      <a:pt x="0" y="657"/>
                      <a:pt x="0" y="711"/>
                    </a:cubicBezTo>
                    <a:lnTo>
                      <a:pt x="0" y="786"/>
                    </a:lnTo>
                    <a:cubicBezTo>
                      <a:pt x="0" y="840"/>
                      <a:pt x="43" y="883"/>
                      <a:pt x="97" y="883"/>
                    </a:cubicBezTo>
                    <a:cubicBezTo>
                      <a:pt x="129" y="883"/>
                      <a:pt x="160" y="867"/>
                      <a:pt x="178" y="839"/>
                    </a:cubicBezTo>
                    <a:lnTo>
                      <a:pt x="180" y="836"/>
                    </a:lnTo>
                    <a:cubicBezTo>
                      <a:pt x="210" y="795"/>
                      <a:pt x="241" y="786"/>
                      <a:pt x="257" y="785"/>
                    </a:cubicBezTo>
                    <a:lnTo>
                      <a:pt x="261" y="784"/>
                    </a:lnTo>
                    <a:lnTo>
                      <a:pt x="314" y="784"/>
                    </a:lnTo>
                    <a:lnTo>
                      <a:pt x="314" y="842"/>
                    </a:lnTo>
                    <a:lnTo>
                      <a:pt x="1788" y="842"/>
                    </a:lnTo>
                    <a:lnTo>
                      <a:pt x="1788" y="806"/>
                    </a:lnTo>
                    <a:cubicBezTo>
                      <a:pt x="1787" y="801"/>
                      <a:pt x="1783" y="787"/>
                      <a:pt x="1760" y="770"/>
                    </a:cubicBezTo>
                    <a:lnTo>
                      <a:pt x="1757" y="768"/>
                    </a:lnTo>
                    <a:cubicBezTo>
                      <a:pt x="1715" y="740"/>
                      <a:pt x="1689" y="692"/>
                      <a:pt x="1689" y="641"/>
                    </a:cubicBezTo>
                    <a:cubicBezTo>
                      <a:pt x="1689" y="557"/>
                      <a:pt x="1757" y="489"/>
                      <a:pt x="1842" y="489"/>
                    </a:cubicBezTo>
                    <a:lnTo>
                      <a:pt x="1917" y="489"/>
                    </a:lnTo>
                    <a:cubicBezTo>
                      <a:pt x="2001" y="489"/>
                      <a:pt x="2070" y="557"/>
                      <a:pt x="2070" y="641"/>
                    </a:cubicBezTo>
                    <a:cubicBezTo>
                      <a:pt x="2070" y="693"/>
                      <a:pt x="2043" y="741"/>
                      <a:pt x="1999" y="770"/>
                    </a:cubicBezTo>
                  </a:path>
                </a:pathLst>
              </a:custGeom>
              <a:solidFill>
                <a:srgbClr val="004E9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7" name="path"/>
              <p:cNvSpPr/>
              <p:nvPr/>
            </p:nvSpPr>
            <p:spPr>
              <a:xfrm>
                <a:off x="0" y="0"/>
                <a:ext cx="2383409" cy="2383523"/>
              </a:xfrm>
              <a:custGeom>
                <a:avLst/>
                <a:gdLst/>
                <a:ahLst/>
                <a:cxnLst/>
                <a:rect l="0" t="0" r="0" b="0"/>
                <a:pathLst>
                  <a:path w="3753" h="3753">
                    <a:moveTo>
                      <a:pt x="1876" y="0"/>
                    </a:moveTo>
                    <a:cubicBezTo>
                      <a:pt x="840" y="0"/>
                      <a:pt x="0" y="840"/>
                      <a:pt x="0" y="1876"/>
                    </a:cubicBezTo>
                    <a:cubicBezTo>
                      <a:pt x="0" y="2913"/>
                      <a:pt x="840" y="3753"/>
                      <a:pt x="1876" y="3753"/>
                    </a:cubicBezTo>
                    <a:cubicBezTo>
                      <a:pt x="2913" y="3753"/>
                      <a:pt x="3753" y="2913"/>
                      <a:pt x="3753" y="1876"/>
                    </a:cubicBezTo>
                    <a:cubicBezTo>
                      <a:pt x="3753" y="840"/>
                      <a:pt x="2913" y="0"/>
                      <a:pt x="1876" y="0"/>
                    </a:cubicBezTo>
                    <a:moveTo>
                      <a:pt x="1876" y="3543"/>
                    </a:moveTo>
                    <a:cubicBezTo>
                      <a:pt x="956" y="3543"/>
                      <a:pt x="209" y="2797"/>
                      <a:pt x="209" y="1876"/>
                    </a:cubicBezTo>
                    <a:cubicBezTo>
                      <a:pt x="209" y="956"/>
                      <a:pt x="956" y="209"/>
                      <a:pt x="1876" y="209"/>
                    </a:cubicBezTo>
                    <a:cubicBezTo>
                      <a:pt x="2797" y="209"/>
                      <a:pt x="3543" y="956"/>
                      <a:pt x="3543" y="1876"/>
                    </a:cubicBezTo>
                    <a:cubicBezTo>
                      <a:pt x="3543" y="2797"/>
                      <a:pt x="2797" y="3543"/>
                      <a:pt x="1876" y="3543"/>
                    </a:cubicBezTo>
                  </a:path>
                </a:pathLst>
              </a:custGeom>
              <a:solidFill>
                <a:srgbClr val="744818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58" name="textbox 1258"/>
            <p:cNvSpPr/>
            <p:nvPr/>
          </p:nvSpPr>
          <p:spPr>
            <a:xfrm>
              <a:off x="821293" y="853941"/>
              <a:ext cx="740409" cy="66103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lang="en-US" altLang="en-US" sz="100" dirty="0"/>
            </a:p>
            <a:p>
              <a:pPr marL="52705" algn="l" rtl="0" eaLnBrk="0">
                <a:lnSpc>
                  <a:spcPct val="99000"/>
                </a:lnSpc>
              </a:pPr>
              <a:r>
                <a:rPr sz="14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AIGC</a:t>
              </a:r>
              <a:r>
                <a:rPr sz="1400" spc="17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各</a:t>
              </a:r>
              <a:endParaRPr lang="en-US" altLang="en-US" sz="1400" dirty="0"/>
            </a:p>
            <a:p>
              <a:pPr marL="12700" algn="l" rtl="0" eaLnBrk="0">
                <a:lnSpc>
                  <a:spcPct val="97000"/>
                </a:lnSpc>
                <a:spcBef>
                  <a:spcPts val="30"/>
                </a:spcBef>
              </a:pPr>
              <a:r>
                <a:rPr sz="1400" spc="1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模态</a:t>
              </a:r>
              <a:r>
                <a:rPr sz="14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应用</a:t>
              </a:r>
              <a:endParaRPr lang="en-US" altLang="en-US" sz="1400" dirty="0"/>
            </a:p>
            <a:p>
              <a:pPr marL="189865" algn="l" rtl="0" eaLnBrk="0">
                <a:lnSpc>
                  <a:spcPct val="98000"/>
                </a:lnSpc>
                <a:spcBef>
                  <a:spcPts val="40"/>
                </a:spcBef>
              </a:pPr>
              <a:r>
                <a:rPr sz="1400" spc="0" dirty="0">
                  <a:ln w="317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领域</a:t>
              </a:r>
              <a:endParaRPr lang="en-US" altLang="en-US" sz="1400" dirty="0"/>
            </a:p>
          </p:txBody>
        </p:sp>
        <p:sp>
          <p:nvSpPr>
            <p:cNvPr id="1259" name="path"/>
            <p:cNvSpPr/>
            <p:nvPr/>
          </p:nvSpPr>
          <p:spPr>
            <a:xfrm>
              <a:off x="985647" y="278891"/>
              <a:ext cx="406019" cy="406146"/>
            </a:xfrm>
            <a:custGeom>
              <a:avLst/>
              <a:gdLst/>
              <a:ahLst/>
              <a:cxnLst/>
              <a:rect l="0" t="0" r="0" b="0"/>
              <a:pathLst>
                <a:path w="639" h="639">
                  <a:moveTo>
                    <a:pt x="399" y="439"/>
                  </a:moveTo>
                  <a:cubicBezTo>
                    <a:pt x="289" y="439"/>
                    <a:pt x="200" y="350"/>
                    <a:pt x="200" y="239"/>
                  </a:cubicBezTo>
                  <a:cubicBezTo>
                    <a:pt x="200" y="129"/>
                    <a:pt x="289" y="40"/>
                    <a:pt x="399" y="40"/>
                  </a:cubicBezTo>
                  <a:cubicBezTo>
                    <a:pt x="510" y="40"/>
                    <a:pt x="599" y="129"/>
                    <a:pt x="599" y="239"/>
                  </a:cubicBezTo>
                  <a:cubicBezTo>
                    <a:pt x="599" y="350"/>
                    <a:pt x="510" y="439"/>
                    <a:pt x="399" y="439"/>
                  </a:cubicBezTo>
                  <a:moveTo>
                    <a:pt x="96" y="593"/>
                  </a:moveTo>
                  <a:cubicBezTo>
                    <a:pt x="89" y="600"/>
                    <a:pt x="80" y="604"/>
                    <a:pt x="70" y="604"/>
                  </a:cubicBezTo>
                  <a:cubicBezTo>
                    <a:pt x="51" y="604"/>
                    <a:pt x="35" y="588"/>
                    <a:pt x="35" y="569"/>
                  </a:cubicBezTo>
                  <a:cubicBezTo>
                    <a:pt x="35" y="559"/>
                    <a:pt x="39" y="550"/>
                    <a:pt x="46" y="543"/>
                  </a:cubicBezTo>
                  <a:lnTo>
                    <a:pt x="46" y="543"/>
                  </a:lnTo>
                  <a:lnTo>
                    <a:pt x="207" y="382"/>
                  </a:lnTo>
                  <a:cubicBezTo>
                    <a:pt x="221" y="401"/>
                    <a:pt x="237" y="418"/>
                    <a:pt x="257" y="432"/>
                  </a:cubicBezTo>
                  <a:cubicBezTo>
                    <a:pt x="257" y="432"/>
                    <a:pt x="96" y="593"/>
                    <a:pt x="96" y="593"/>
                  </a:cubicBezTo>
                  <a:moveTo>
                    <a:pt x="399" y="0"/>
                  </a:moveTo>
                  <a:cubicBezTo>
                    <a:pt x="267" y="0"/>
                    <a:pt x="160" y="107"/>
                    <a:pt x="160" y="239"/>
                  </a:cubicBezTo>
                  <a:cubicBezTo>
                    <a:pt x="160" y="280"/>
                    <a:pt x="170" y="318"/>
                    <a:pt x="187" y="351"/>
                  </a:cubicBezTo>
                  <a:lnTo>
                    <a:pt x="20" y="518"/>
                  </a:lnTo>
                  <a:lnTo>
                    <a:pt x="21" y="518"/>
                  </a:lnTo>
                  <a:cubicBezTo>
                    <a:pt x="8" y="531"/>
                    <a:pt x="0" y="549"/>
                    <a:pt x="0" y="569"/>
                  </a:cubicBezTo>
                  <a:cubicBezTo>
                    <a:pt x="0" y="607"/>
                    <a:pt x="31" y="639"/>
                    <a:pt x="70" y="639"/>
                  </a:cubicBezTo>
                  <a:cubicBezTo>
                    <a:pt x="90" y="639"/>
                    <a:pt x="107" y="631"/>
                    <a:pt x="120" y="618"/>
                  </a:cubicBezTo>
                  <a:lnTo>
                    <a:pt x="120" y="618"/>
                  </a:lnTo>
                  <a:lnTo>
                    <a:pt x="287" y="451"/>
                  </a:lnTo>
                  <a:cubicBezTo>
                    <a:pt x="320" y="469"/>
                    <a:pt x="359" y="479"/>
                    <a:pt x="399" y="479"/>
                  </a:cubicBezTo>
                  <a:cubicBezTo>
                    <a:pt x="532" y="479"/>
                    <a:pt x="639" y="372"/>
                    <a:pt x="639" y="239"/>
                  </a:cubicBezTo>
                  <a:cubicBezTo>
                    <a:pt x="639" y="107"/>
                    <a:pt x="532" y="0"/>
                    <a:pt x="399" y="0"/>
                  </a:cubicBezTo>
                </a:path>
                <a:path w="639" h="639">
                  <a:moveTo>
                    <a:pt x="436" y="112"/>
                  </a:moveTo>
                  <a:cubicBezTo>
                    <a:pt x="359" y="112"/>
                    <a:pt x="297" y="175"/>
                    <a:pt x="297" y="252"/>
                  </a:cubicBezTo>
                  <a:cubicBezTo>
                    <a:pt x="297" y="257"/>
                    <a:pt x="301" y="262"/>
                    <a:pt x="306" y="262"/>
                  </a:cubicBezTo>
                  <a:cubicBezTo>
                    <a:pt x="312" y="262"/>
                    <a:pt x="316" y="257"/>
                    <a:pt x="316" y="252"/>
                  </a:cubicBezTo>
                  <a:cubicBezTo>
                    <a:pt x="316" y="185"/>
                    <a:pt x="370" y="132"/>
                    <a:pt x="436" y="132"/>
                  </a:cubicBezTo>
                  <a:cubicBezTo>
                    <a:pt x="442" y="132"/>
                    <a:pt x="446" y="127"/>
                    <a:pt x="446" y="122"/>
                  </a:cubicBezTo>
                  <a:cubicBezTo>
                    <a:pt x="446" y="116"/>
                    <a:pt x="442" y="112"/>
                    <a:pt x="436" y="112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260" name="picture 1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47333" y="4252176"/>
            <a:ext cx="1796541" cy="76200"/>
          </a:xfrm>
          <a:prstGeom prst="rect">
            <a:avLst/>
          </a:prstGeom>
        </p:spPr>
      </p:pic>
      <p:sp>
        <p:nvSpPr>
          <p:cNvPr id="1261" name="textbox 1261"/>
          <p:cNvSpPr/>
          <p:nvPr/>
        </p:nvSpPr>
        <p:spPr>
          <a:xfrm>
            <a:off x="6216599" y="4286046"/>
            <a:ext cx="2019300" cy="6343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22225" indent="-9525" algn="l" rtl="0" eaLnBrk="0">
              <a:lnSpc>
                <a:spcPct val="107000"/>
              </a:lnSpc>
            </a:pPr>
            <a:r>
              <a:rPr sz="90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指存在于非物理世界(如图片、   视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频、    </a:t>
            </a:r>
            <a:r>
              <a:rPr sz="9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直播、   一体服务机、  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VR</a:t>
            </a:r>
            <a:r>
              <a:rPr sz="9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)中，  并具</a:t>
            </a:r>
            <a:r>
              <a:rPr sz="90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endParaRPr lang="en-US" altLang="en-US" sz="900" dirty="0"/>
          </a:p>
          <a:p>
            <a:pPr marL="541655" algn="l" rtl="0" eaLnBrk="0">
              <a:lnSpc>
                <a:spcPct val="98000"/>
              </a:lnSpc>
              <a:spcBef>
                <a:spcPts val="280"/>
              </a:spcBef>
            </a:pPr>
            <a:r>
              <a:rPr sz="8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多重人类特征的综合产物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800" dirty="0"/>
          </a:p>
          <a:p>
            <a:pPr algn="r" rtl="0" eaLnBrk="0">
              <a:lnSpc>
                <a:spcPts val="1255"/>
              </a:lnSpc>
            </a:pPr>
            <a:endParaRPr sz="1000" spc="110" dirty="0">
              <a:solidFill>
                <a:srgbClr val="40404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2" name="textbox 1262"/>
          <p:cNvSpPr/>
          <p:nvPr/>
        </p:nvSpPr>
        <p:spPr>
          <a:xfrm>
            <a:off x="310832" y="4714506"/>
            <a:ext cx="3325495" cy="3714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lang="en-US" altLang="en-US" sz="200" dirty="0"/>
          </a:p>
          <a:p>
            <a:pPr algn="l" rtl="0" eaLnBrk="0">
              <a:lnSpc>
                <a:spcPct val="122000"/>
              </a:lnSpc>
            </a:pPr>
            <a:endParaRPr lang="en-US" altLang="en-US" sz="200" dirty="0"/>
          </a:p>
          <a:p>
            <a:pPr marL="7874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来源：量子位智库，国泰君安证券研究</a:t>
            </a:r>
            <a:endParaRPr lang="en-US" altLang="en-US" sz="800" dirty="0"/>
          </a:p>
        </p:txBody>
      </p:sp>
      <p:sp>
        <p:nvSpPr>
          <p:cNvPr id="1264" name="textbox 1264"/>
          <p:cNvSpPr/>
          <p:nvPr/>
        </p:nvSpPr>
        <p:spPr>
          <a:xfrm>
            <a:off x="6407822" y="3487826"/>
            <a:ext cx="1630045" cy="488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208915" indent="-196215" algn="r" rtl="0" eaLnBrk="0">
              <a:lnSpc>
                <a:spcPct val="113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游戏本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身为AI提供了最佳的研发 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场景，  有大量数据和贴近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 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际场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</a:t>
            </a:r>
            <a:endParaRPr lang="en-US" altLang="en-US" sz="900" dirty="0"/>
          </a:p>
        </p:txBody>
      </p:sp>
      <p:sp>
        <p:nvSpPr>
          <p:cNvPr id="1265" name="textbox 1265"/>
          <p:cNvSpPr/>
          <p:nvPr/>
        </p:nvSpPr>
        <p:spPr>
          <a:xfrm>
            <a:off x="3395569" y="1362868"/>
            <a:ext cx="2403475" cy="3244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626110" indent="-613410" algn="l" rtl="0" eaLnBrk="0">
              <a:lnSpc>
                <a:spcPct val="10900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图52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各技术应用场景对应的特征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细分品类如下图所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900" dirty="0"/>
          </a:p>
        </p:txBody>
      </p:sp>
      <p:sp>
        <p:nvSpPr>
          <p:cNvPr id="1266" name="textbox 1266"/>
          <p:cNvSpPr/>
          <p:nvPr/>
        </p:nvSpPr>
        <p:spPr>
          <a:xfrm>
            <a:off x="6023343" y="2627223"/>
            <a:ext cx="2126614" cy="3263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3335" indent="-635" algn="l" rtl="0" eaLnBrk="0">
              <a:lnSpc>
                <a:spcPct val="116000"/>
              </a:lnSpc>
            </a:pP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基于特定问题和场景，  </a:t>
            </a: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主提出解决方 </a:t>
            </a:r>
            <a:r>
              <a:rPr sz="8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案的过程。   此类技术在游戏、    自动驾驶</a:t>
            </a: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lang="en-US" altLang="en-US" sz="800" dirty="0"/>
          </a:p>
        </p:txBody>
      </p:sp>
      <p:sp>
        <p:nvSpPr>
          <p:cNvPr id="1267" name="textbox 1267"/>
          <p:cNvSpPr/>
          <p:nvPr/>
        </p:nvSpPr>
        <p:spPr>
          <a:xfrm>
            <a:off x="1228982" y="2631131"/>
            <a:ext cx="1629410" cy="3276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lang="en-US" altLang="en-US" sz="100" dirty="0"/>
          </a:p>
          <a:p>
            <a:pPr marL="13970" indent="-1270" algn="l" rtl="0" eaLnBrk="0">
              <a:lnSpc>
                <a:spcPct val="109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语音克隆、文本生成特定语 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，音乐生成</a:t>
            </a:r>
            <a:endParaRPr lang="en-US" altLang="en-US" sz="900" dirty="0"/>
          </a:p>
        </p:txBody>
      </p:sp>
      <p:sp>
        <p:nvSpPr>
          <p:cNvPr id="1268" name="textbox 1268"/>
          <p:cNvSpPr/>
          <p:nvPr/>
        </p:nvSpPr>
        <p:spPr>
          <a:xfrm>
            <a:off x="6446926" y="1788185"/>
            <a:ext cx="1629410" cy="3244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00" indent="-1257300" algn="l" rtl="0" eaLnBrk="0">
              <a:lnSpc>
                <a:spcPct val="109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分为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图像编辑工具和图像自主生 </a:t>
            </a: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lang="en-US" altLang="en-US" sz="900" dirty="0"/>
          </a:p>
        </p:txBody>
      </p:sp>
      <p:sp>
        <p:nvSpPr>
          <p:cNvPr id="1269" name="textbox 1269"/>
          <p:cNvSpPr/>
          <p:nvPr/>
        </p:nvSpPr>
        <p:spPr>
          <a:xfrm>
            <a:off x="1229991" y="3492210"/>
            <a:ext cx="1600835" cy="2990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112000"/>
              </a:lnSpc>
            </a:pP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视频属性编辑，视频自动剪辑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，视 </a:t>
            </a:r>
            <a:r>
              <a:rPr sz="8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频部分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辑</a:t>
            </a:r>
            <a:endParaRPr lang="en-US" altLang="en-US" sz="800" dirty="0"/>
          </a:p>
        </p:txBody>
      </p:sp>
      <p:sp>
        <p:nvSpPr>
          <p:cNvPr id="1270" name="textbox 1270"/>
          <p:cNvSpPr/>
          <p:nvPr/>
        </p:nvSpPr>
        <p:spPr>
          <a:xfrm>
            <a:off x="1229203" y="4338944"/>
            <a:ext cx="1600200" cy="2990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112000"/>
              </a:lnSpc>
            </a:pP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文字生成图像，文字生成视频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，图 </a:t>
            </a:r>
            <a:r>
              <a:rPr sz="8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像/视频到文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endParaRPr lang="en-US" altLang="en-US" sz="800" dirty="0"/>
          </a:p>
        </p:txBody>
      </p:sp>
      <p:grpSp>
        <p:nvGrpSpPr>
          <p:cNvPr id="180" name="group 180"/>
          <p:cNvGrpSpPr/>
          <p:nvPr/>
        </p:nvGrpSpPr>
        <p:grpSpPr>
          <a:xfrm rot="21600000">
            <a:off x="8137175" y="3143154"/>
            <a:ext cx="594042" cy="594042"/>
            <a:chOff x="0" y="0"/>
            <a:chExt cx="594042" cy="594042"/>
          </a:xfrm>
        </p:grpSpPr>
        <p:sp>
          <p:nvSpPr>
            <p:cNvPr id="1271" name="path"/>
            <p:cNvSpPr/>
            <p:nvPr/>
          </p:nvSpPr>
          <p:spPr>
            <a:xfrm>
              <a:off x="0" y="0"/>
              <a:ext cx="594042" cy="594042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1"/>
                    <a:pt x="972" y="613"/>
                    <a:pt x="793" y="793"/>
                  </a:cubicBezTo>
                  <a:cubicBezTo>
                    <a:pt x="613" y="972"/>
                    <a:pt x="322" y="972"/>
                    <a:pt x="142" y="793"/>
                  </a:cubicBezTo>
                  <a:cubicBezTo>
                    <a:pt x="-37" y="613"/>
                    <a:pt x="-37" y="321"/>
                    <a:pt x="142" y="142"/>
                  </a:cubicBezTo>
                  <a:cubicBezTo>
                    <a:pt x="322" y="-37"/>
                    <a:pt x="613" y="-37"/>
                    <a:pt x="793" y="142"/>
                  </a:cubicBezTo>
                </a:path>
              </a:pathLst>
            </a:custGeom>
            <a:solidFill>
              <a:srgbClr val="9DC362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2" name="path"/>
            <p:cNvSpPr/>
            <p:nvPr/>
          </p:nvSpPr>
          <p:spPr>
            <a:xfrm>
              <a:off x="161893" y="182975"/>
              <a:ext cx="262889" cy="262763"/>
            </a:xfrm>
            <a:custGeom>
              <a:avLst/>
              <a:gdLst/>
              <a:ahLst/>
              <a:cxnLst/>
              <a:rect l="0" t="0" r="0" b="0"/>
              <a:pathLst>
                <a:path w="413" h="413">
                  <a:moveTo>
                    <a:pt x="177" y="413"/>
                  </a:moveTo>
                  <a:lnTo>
                    <a:pt x="236" y="413"/>
                  </a:lnTo>
                  <a:lnTo>
                    <a:pt x="236" y="251"/>
                  </a:lnTo>
                  <a:lnTo>
                    <a:pt x="177" y="251"/>
                  </a:lnTo>
                  <a:lnTo>
                    <a:pt x="177" y="413"/>
                  </a:lnTo>
                  <a:close/>
                  <a:moveTo>
                    <a:pt x="340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340" y="133"/>
                  </a:lnTo>
                  <a:lnTo>
                    <a:pt x="340" y="0"/>
                  </a:lnTo>
                  <a:close/>
                  <a:moveTo>
                    <a:pt x="354" y="58"/>
                  </a:moveTo>
                  <a:lnTo>
                    <a:pt x="354" y="88"/>
                  </a:lnTo>
                  <a:lnTo>
                    <a:pt x="384" y="88"/>
                  </a:lnTo>
                  <a:lnTo>
                    <a:pt x="384" y="177"/>
                  </a:lnTo>
                  <a:lnTo>
                    <a:pt x="192" y="177"/>
                  </a:lnTo>
                  <a:lnTo>
                    <a:pt x="192" y="236"/>
                  </a:lnTo>
                  <a:lnTo>
                    <a:pt x="221" y="236"/>
                  </a:lnTo>
                  <a:lnTo>
                    <a:pt x="221" y="206"/>
                  </a:lnTo>
                  <a:lnTo>
                    <a:pt x="413" y="206"/>
                  </a:lnTo>
                  <a:lnTo>
                    <a:pt x="413" y="58"/>
                  </a:lnTo>
                  <a:lnTo>
                    <a:pt x="354" y="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2" name="group 182"/>
          <p:cNvGrpSpPr/>
          <p:nvPr/>
        </p:nvGrpSpPr>
        <p:grpSpPr>
          <a:xfrm rot="21600000">
            <a:off x="8133492" y="1450117"/>
            <a:ext cx="594042" cy="594042"/>
            <a:chOff x="0" y="0"/>
            <a:chExt cx="594042" cy="594042"/>
          </a:xfrm>
        </p:grpSpPr>
        <p:sp>
          <p:nvSpPr>
            <p:cNvPr id="1273" name="path"/>
            <p:cNvSpPr/>
            <p:nvPr/>
          </p:nvSpPr>
          <p:spPr>
            <a:xfrm>
              <a:off x="0" y="0"/>
              <a:ext cx="594042" cy="594042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1"/>
                    <a:pt x="972" y="613"/>
                    <a:pt x="793" y="793"/>
                  </a:cubicBezTo>
                  <a:cubicBezTo>
                    <a:pt x="613" y="972"/>
                    <a:pt x="321" y="972"/>
                    <a:pt x="142" y="793"/>
                  </a:cubicBezTo>
                  <a:cubicBezTo>
                    <a:pt x="-37" y="613"/>
                    <a:pt x="-37" y="321"/>
                    <a:pt x="142" y="142"/>
                  </a:cubicBezTo>
                  <a:cubicBezTo>
                    <a:pt x="321" y="-37"/>
                    <a:pt x="613" y="-37"/>
                    <a:pt x="793" y="142"/>
                  </a:cubicBezTo>
                </a:path>
              </a:pathLst>
            </a:custGeom>
            <a:solidFill>
              <a:srgbClr val="26C6DA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4" name="path"/>
            <p:cNvSpPr/>
            <p:nvPr/>
          </p:nvSpPr>
          <p:spPr>
            <a:xfrm>
              <a:off x="165576" y="153130"/>
              <a:ext cx="262889" cy="262763"/>
            </a:xfrm>
            <a:custGeom>
              <a:avLst/>
              <a:gdLst/>
              <a:ahLst/>
              <a:cxnLst/>
              <a:rect l="0" t="0" r="0" b="0"/>
              <a:pathLst>
                <a:path w="413" h="413">
                  <a:moveTo>
                    <a:pt x="358" y="369"/>
                  </a:moveTo>
                  <a:lnTo>
                    <a:pt x="285" y="126"/>
                  </a:lnTo>
                  <a:lnTo>
                    <a:pt x="213" y="365"/>
                  </a:lnTo>
                  <a:lnTo>
                    <a:pt x="135" y="0"/>
                  </a:lnTo>
                  <a:lnTo>
                    <a:pt x="55" y="369"/>
                  </a:lnTo>
                  <a:lnTo>
                    <a:pt x="0" y="369"/>
                  </a:lnTo>
                  <a:lnTo>
                    <a:pt x="0" y="413"/>
                  </a:lnTo>
                  <a:lnTo>
                    <a:pt x="93" y="413"/>
                  </a:lnTo>
                  <a:lnTo>
                    <a:pt x="135" y="218"/>
                  </a:lnTo>
                  <a:lnTo>
                    <a:pt x="176" y="413"/>
                  </a:lnTo>
                  <a:lnTo>
                    <a:pt x="246" y="413"/>
                  </a:lnTo>
                  <a:lnTo>
                    <a:pt x="285" y="284"/>
                  </a:lnTo>
                  <a:lnTo>
                    <a:pt x="324" y="413"/>
                  </a:lnTo>
                  <a:lnTo>
                    <a:pt x="413" y="413"/>
                  </a:lnTo>
                  <a:lnTo>
                    <a:pt x="413" y="369"/>
                  </a:lnTo>
                  <a:lnTo>
                    <a:pt x="358" y="3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8135652" y="2296572"/>
            <a:ext cx="594042" cy="594042"/>
            <a:chOff x="0" y="0"/>
            <a:chExt cx="594042" cy="594042"/>
          </a:xfrm>
        </p:grpSpPr>
        <p:sp>
          <p:nvSpPr>
            <p:cNvPr id="1275" name="path"/>
            <p:cNvSpPr/>
            <p:nvPr/>
          </p:nvSpPr>
          <p:spPr>
            <a:xfrm>
              <a:off x="0" y="0"/>
              <a:ext cx="594042" cy="594042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2"/>
                    <a:pt x="972" y="613"/>
                    <a:pt x="793" y="793"/>
                  </a:cubicBezTo>
                  <a:cubicBezTo>
                    <a:pt x="613" y="972"/>
                    <a:pt x="321" y="972"/>
                    <a:pt x="142" y="793"/>
                  </a:cubicBezTo>
                  <a:cubicBezTo>
                    <a:pt x="-37" y="613"/>
                    <a:pt x="-37" y="322"/>
                    <a:pt x="142" y="142"/>
                  </a:cubicBezTo>
                  <a:cubicBezTo>
                    <a:pt x="321" y="-37"/>
                    <a:pt x="613" y="-37"/>
                    <a:pt x="793" y="142"/>
                  </a:cubicBezTo>
                </a:path>
              </a:pathLst>
            </a:custGeom>
            <a:solidFill>
              <a:srgbClr val="FFC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6" name="path"/>
            <p:cNvSpPr/>
            <p:nvPr/>
          </p:nvSpPr>
          <p:spPr>
            <a:xfrm>
              <a:off x="163417" y="167354"/>
              <a:ext cx="211264" cy="262889"/>
            </a:xfrm>
            <a:custGeom>
              <a:avLst/>
              <a:gdLst/>
              <a:ahLst/>
              <a:cxnLst/>
              <a:rect l="0" t="0" r="0" b="0"/>
              <a:pathLst>
                <a:path w="332" h="413">
                  <a:moveTo>
                    <a:pt x="0" y="413"/>
                  </a:moveTo>
                  <a:moveTo>
                    <a:pt x="0" y="413"/>
                  </a:moveTo>
                  <a:lnTo>
                    <a:pt x="59" y="413"/>
                  </a:lnTo>
                  <a:lnTo>
                    <a:pt x="59" y="0"/>
                  </a:lnTo>
                  <a:lnTo>
                    <a:pt x="0" y="0"/>
                  </a:lnTo>
                  <a:lnTo>
                    <a:pt x="0" y="413"/>
                  </a:lnTo>
                  <a:close/>
                </a:path>
                <a:path w="332" h="413">
                  <a:moveTo>
                    <a:pt x="73" y="413"/>
                  </a:moveTo>
                  <a:moveTo>
                    <a:pt x="73" y="413"/>
                  </a:moveTo>
                  <a:lnTo>
                    <a:pt x="325" y="413"/>
                  </a:lnTo>
                  <a:lnTo>
                    <a:pt x="325" y="0"/>
                  </a:lnTo>
                  <a:lnTo>
                    <a:pt x="73" y="0"/>
                  </a:lnTo>
                  <a:lnTo>
                    <a:pt x="73" y="413"/>
                  </a:lnTo>
                  <a:close/>
                  <a:moveTo>
                    <a:pt x="118" y="44"/>
                  </a:moveTo>
                  <a:moveTo>
                    <a:pt x="118" y="44"/>
                  </a:moveTo>
                  <a:lnTo>
                    <a:pt x="280" y="44"/>
                  </a:lnTo>
                  <a:lnTo>
                    <a:pt x="280" y="133"/>
                  </a:lnTo>
                  <a:lnTo>
                    <a:pt x="118" y="133"/>
                  </a:lnTo>
                  <a:lnTo>
                    <a:pt x="118" y="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77" name="rect"/>
          <p:cNvSpPr/>
          <p:nvPr/>
        </p:nvSpPr>
        <p:spPr>
          <a:xfrm>
            <a:off x="743724" y="3453216"/>
            <a:ext cx="37542" cy="65699"/>
          </a:xfrm>
          <a:prstGeom prst="rect">
            <a:avLst/>
          </a:pr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86" name="group 186"/>
          <p:cNvGrpSpPr/>
          <p:nvPr/>
        </p:nvGrpSpPr>
        <p:grpSpPr>
          <a:xfrm rot="21600000">
            <a:off x="544271" y="3144805"/>
            <a:ext cx="594029" cy="594042"/>
            <a:chOff x="0" y="0"/>
            <a:chExt cx="594029" cy="594042"/>
          </a:xfrm>
        </p:grpSpPr>
        <p:sp>
          <p:nvSpPr>
            <p:cNvPr id="1278" name="path"/>
            <p:cNvSpPr/>
            <p:nvPr/>
          </p:nvSpPr>
          <p:spPr>
            <a:xfrm>
              <a:off x="0" y="0"/>
              <a:ext cx="594029" cy="594042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2"/>
                    <a:pt x="972" y="613"/>
                    <a:pt x="793" y="793"/>
                  </a:cubicBezTo>
                  <a:cubicBezTo>
                    <a:pt x="613" y="972"/>
                    <a:pt x="322" y="972"/>
                    <a:pt x="142" y="793"/>
                  </a:cubicBezTo>
                  <a:cubicBezTo>
                    <a:pt x="-37" y="613"/>
                    <a:pt x="-37" y="322"/>
                    <a:pt x="142" y="142"/>
                  </a:cubicBezTo>
                  <a:cubicBezTo>
                    <a:pt x="322" y="-37"/>
                    <a:pt x="613" y="-37"/>
                    <a:pt x="793" y="142"/>
                  </a:cubicBezTo>
                </a:path>
              </a:pathLst>
            </a:custGeom>
            <a:solidFill>
              <a:srgbClr val="B10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79" name="path"/>
            <p:cNvSpPr/>
            <p:nvPr/>
          </p:nvSpPr>
          <p:spPr>
            <a:xfrm>
              <a:off x="161912" y="270859"/>
              <a:ext cx="262801" cy="159512"/>
            </a:xfrm>
            <a:custGeom>
              <a:avLst/>
              <a:gdLst/>
              <a:ahLst/>
              <a:cxnLst/>
              <a:rect l="0" t="0" r="0" b="0"/>
              <a:pathLst>
                <a:path w="413" h="251">
                  <a:moveTo>
                    <a:pt x="369" y="177"/>
                  </a:moveTo>
                  <a:lnTo>
                    <a:pt x="44" y="177"/>
                  </a:lnTo>
                  <a:lnTo>
                    <a:pt x="44" y="0"/>
                  </a:lnTo>
                  <a:lnTo>
                    <a:pt x="0" y="0"/>
                  </a:lnTo>
                  <a:lnTo>
                    <a:pt x="0" y="251"/>
                  </a:lnTo>
                  <a:lnTo>
                    <a:pt x="44" y="251"/>
                  </a:lnTo>
                  <a:lnTo>
                    <a:pt x="44" y="236"/>
                  </a:lnTo>
                  <a:lnTo>
                    <a:pt x="369" y="236"/>
                  </a:lnTo>
                  <a:lnTo>
                    <a:pt x="369" y="251"/>
                  </a:lnTo>
                  <a:lnTo>
                    <a:pt x="413" y="251"/>
                  </a:lnTo>
                  <a:lnTo>
                    <a:pt x="413" y="88"/>
                  </a:lnTo>
                  <a:lnTo>
                    <a:pt x="369" y="88"/>
                  </a:lnTo>
                  <a:lnTo>
                    <a:pt x="369" y="177"/>
                  </a:lnTo>
                  <a:close/>
                </a:path>
                <a:path w="413" h="251">
                  <a:moveTo>
                    <a:pt x="133" y="58"/>
                  </a:moveTo>
                  <a:lnTo>
                    <a:pt x="133" y="162"/>
                  </a:lnTo>
                  <a:lnTo>
                    <a:pt x="354" y="162"/>
                  </a:lnTo>
                  <a:lnTo>
                    <a:pt x="354" y="81"/>
                  </a:lnTo>
                  <a:cubicBezTo>
                    <a:pt x="354" y="66"/>
                    <a:pt x="337" y="58"/>
                    <a:pt x="322" y="58"/>
                  </a:cubicBezTo>
                  <a:lnTo>
                    <a:pt x="133" y="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8" name="group 188"/>
          <p:cNvGrpSpPr/>
          <p:nvPr/>
        </p:nvGrpSpPr>
        <p:grpSpPr>
          <a:xfrm rot="21600000">
            <a:off x="542683" y="2298350"/>
            <a:ext cx="594029" cy="594042"/>
            <a:chOff x="0" y="0"/>
            <a:chExt cx="594029" cy="594042"/>
          </a:xfrm>
        </p:grpSpPr>
        <p:sp>
          <p:nvSpPr>
            <p:cNvPr id="1280" name="path"/>
            <p:cNvSpPr/>
            <p:nvPr/>
          </p:nvSpPr>
          <p:spPr>
            <a:xfrm>
              <a:off x="0" y="0"/>
              <a:ext cx="594029" cy="594042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1"/>
                    <a:pt x="972" y="613"/>
                    <a:pt x="793" y="793"/>
                  </a:cubicBezTo>
                  <a:cubicBezTo>
                    <a:pt x="613" y="972"/>
                    <a:pt x="322" y="972"/>
                    <a:pt x="142" y="793"/>
                  </a:cubicBezTo>
                  <a:cubicBezTo>
                    <a:pt x="-37" y="613"/>
                    <a:pt x="-37" y="321"/>
                    <a:pt x="142" y="142"/>
                  </a:cubicBezTo>
                  <a:cubicBezTo>
                    <a:pt x="322" y="-37"/>
                    <a:pt x="613" y="-37"/>
                    <a:pt x="793" y="142"/>
                  </a:cubicBezTo>
                </a:path>
              </a:pathLst>
            </a:custGeom>
            <a:solidFill>
              <a:srgbClr val="B3DE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1" name="path"/>
            <p:cNvSpPr/>
            <p:nvPr/>
          </p:nvSpPr>
          <p:spPr>
            <a:xfrm>
              <a:off x="153974" y="165576"/>
              <a:ext cx="262813" cy="262889"/>
            </a:xfrm>
            <a:custGeom>
              <a:avLst/>
              <a:gdLst/>
              <a:ahLst/>
              <a:cxnLst/>
              <a:rect l="0" t="0" r="0" b="0"/>
              <a:pathLst>
                <a:path w="413" h="413">
                  <a:moveTo>
                    <a:pt x="82" y="143"/>
                  </a:moveTo>
                  <a:cubicBezTo>
                    <a:pt x="82" y="143"/>
                    <a:pt x="67" y="262"/>
                    <a:pt x="67" y="272"/>
                  </a:cubicBezTo>
                  <a:cubicBezTo>
                    <a:pt x="67" y="294"/>
                    <a:pt x="88" y="305"/>
                    <a:pt x="99" y="305"/>
                  </a:cubicBezTo>
                  <a:cubicBezTo>
                    <a:pt x="109" y="305"/>
                    <a:pt x="126" y="294"/>
                    <a:pt x="126" y="272"/>
                  </a:cubicBezTo>
                  <a:cubicBezTo>
                    <a:pt x="126" y="230"/>
                    <a:pt x="81" y="122"/>
                    <a:pt x="128" y="122"/>
                  </a:cubicBezTo>
                  <a:cubicBezTo>
                    <a:pt x="129" y="122"/>
                    <a:pt x="130" y="122"/>
                    <a:pt x="131" y="123"/>
                  </a:cubicBezTo>
                  <a:cubicBezTo>
                    <a:pt x="142" y="125"/>
                    <a:pt x="154" y="126"/>
                    <a:pt x="167" y="127"/>
                  </a:cubicBezTo>
                  <a:cubicBezTo>
                    <a:pt x="174" y="128"/>
                    <a:pt x="188" y="132"/>
                    <a:pt x="178" y="166"/>
                  </a:cubicBezTo>
                  <a:cubicBezTo>
                    <a:pt x="172" y="189"/>
                    <a:pt x="167" y="204"/>
                    <a:pt x="167" y="213"/>
                  </a:cubicBezTo>
                  <a:cubicBezTo>
                    <a:pt x="167" y="231"/>
                    <a:pt x="179" y="245"/>
                    <a:pt x="195" y="245"/>
                  </a:cubicBezTo>
                  <a:cubicBezTo>
                    <a:pt x="210" y="245"/>
                    <a:pt x="223" y="231"/>
                    <a:pt x="223" y="213"/>
                  </a:cubicBezTo>
                  <a:cubicBezTo>
                    <a:pt x="223" y="204"/>
                    <a:pt x="215" y="176"/>
                    <a:pt x="207" y="153"/>
                  </a:cubicBezTo>
                  <a:cubicBezTo>
                    <a:pt x="206" y="143"/>
                    <a:pt x="207" y="130"/>
                    <a:pt x="224" y="129"/>
                  </a:cubicBezTo>
                  <a:cubicBezTo>
                    <a:pt x="311" y="125"/>
                    <a:pt x="379" y="113"/>
                    <a:pt x="379" y="80"/>
                  </a:cubicBezTo>
                  <a:cubicBezTo>
                    <a:pt x="379" y="44"/>
                    <a:pt x="302" y="0"/>
                    <a:pt x="206" y="0"/>
                  </a:cubicBezTo>
                  <a:cubicBezTo>
                    <a:pt x="111" y="0"/>
                    <a:pt x="36" y="44"/>
                    <a:pt x="34" y="80"/>
                  </a:cubicBezTo>
                  <a:cubicBezTo>
                    <a:pt x="33" y="113"/>
                    <a:pt x="84" y="100"/>
                    <a:pt x="82" y="143"/>
                  </a:cubicBezTo>
                  <a:moveTo>
                    <a:pt x="143" y="60"/>
                  </a:moveTo>
                  <a:lnTo>
                    <a:pt x="158" y="26"/>
                  </a:lnTo>
                  <a:cubicBezTo>
                    <a:pt x="161" y="21"/>
                    <a:pt x="166" y="14"/>
                    <a:pt x="172" y="14"/>
                  </a:cubicBezTo>
                  <a:lnTo>
                    <a:pt x="241" y="14"/>
                  </a:lnTo>
                  <a:cubicBezTo>
                    <a:pt x="247" y="14"/>
                    <a:pt x="252" y="21"/>
                    <a:pt x="255" y="26"/>
                  </a:cubicBezTo>
                  <a:lnTo>
                    <a:pt x="270" y="58"/>
                  </a:lnTo>
                  <a:cubicBezTo>
                    <a:pt x="272" y="63"/>
                    <a:pt x="272" y="72"/>
                    <a:pt x="269" y="77"/>
                  </a:cubicBezTo>
                  <a:cubicBezTo>
                    <a:pt x="266" y="81"/>
                    <a:pt x="262" y="88"/>
                    <a:pt x="256" y="88"/>
                  </a:cubicBezTo>
                  <a:lnTo>
                    <a:pt x="157" y="88"/>
                  </a:lnTo>
                  <a:cubicBezTo>
                    <a:pt x="151" y="88"/>
                    <a:pt x="146" y="82"/>
                    <a:pt x="144" y="78"/>
                  </a:cubicBezTo>
                  <a:cubicBezTo>
                    <a:pt x="141" y="73"/>
                    <a:pt x="141" y="65"/>
                    <a:pt x="143" y="60"/>
                  </a:cubicBezTo>
                  <a:moveTo>
                    <a:pt x="241" y="29"/>
                  </a:moveTo>
                  <a:lnTo>
                    <a:pt x="172" y="29"/>
                  </a:lnTo>
                  <a:lnTo>
                    <a:pt x="157" y="73"/>
                  </a:lnTo>
                  <a:lnTo>
                    <a:pt x="256" y="73"/>
                  </a:lnTo>
                  <a:lnTo>
                    <a:pt x="241" y="29"/>
                  </a:lnTo>
                  <a:close/>
                  <a:moveTo>
                    <a:pt x="129" y="138"/>
                  </a:moveTo>
                  <a:cubicBezTo>
                    <a:pt x="129" y="138"/>
                    <a:pt x="128" y="138"/>
                    <a:pt x="128" y="138"/>
                  </a:cubicBezTo>
                  <a:cubicBezTo>
                    <a:pt x="126" y="138"/>
                    <a:pt x="125" y="138"/>
                    <a:pt x="125" y="138"/>
                  </a:cubicBezTo>
                  <a:cubicBezTo>
                    <a:pt x="118" y="147"/>
                    <a:pt x="125" y="185"/>
                    <a:pt x="131" y="209"/>
                  </a:cubicBezTo>
                  <a:cubicBezTo>
                    <a:pt x="138" y="210"/>
                    <a:pt x="145" y="211"/>
                    <a:pt x="152" y="212"/>
                  </a:cubicBezTo>
                  <a:cubicBezTo>
                    <a:pt x="152" y="202"/>
                    <a:pt x="155" y="191"/>
                    <a:pt x="160" y="174"/>
                  </a:cubicBezTo>
                  <a:cubicBezTo>
                    <a:pt x="161" y="170"/>
                    <a:pt x="163" y="166"/>
                    <a:pt x="164" y="162"/>
                  </a:cubicBezTo>
                  <a:cubicBezTo>
                    <a:pt x="167" y="150"/>
                    <a:pt x="167" y="145"/>
                    <a:pt x="166" y="143"/>
                  </a:cubicBezTo>
                  <a:cubicBezTo>
                    <a:pt x="166" y="143"/>
                    <a:pt x="166" y="143"/>
                    <a:pt x="166" y="143"/>
                  </a:cubicBezTo>
                  <a:cubicBezTo>
                    <a:pt x="153" y="142"/>
                    <a:pt x="141" y="140"/>
                    <a:pt x="129" y="138"/>
                  </a:cubicBezTo>
                  <a:moveTo>
                    <a:pt x="222" y="145"/>
                  </a:moveTo>
                  <a:cubicBezTo>
                    <a:pt x="222" y="145"/>
                    <a:pt x="222" y="147"/>
                    <a:pt x="222" y="150"/>
                  </a:cubicBezTo>
                  <a:cubicBezTo>
                    <a:pt x="238" y="200"/>
                    <a:pt x="238" y="209"/>
                    <a:pt x="238" y="213"/>
                  </a:cubicBezTo>
                  <a:cubicBezTo>
                    <a:pt x="238" y="213"/>
                    <a:pt x="238" y="213"/>
                    <a:pt x="238" y="214"/>
                  </a:cubicBezTo>
                  <a:cubicBezTo>
                    <a:pt x="337" y="208"/>
                    <a:pt x="413" y="173"/>
                    <a:pt x="413" y="132"/>
                  </a:cubicBezTo>
                  <a:cubicBezTo>
                    <a:pt x="413" y="118"/>
                    <a:pt x="405" y="106"/>
                    <a:pt x="391" y="95"/>
                  </a:cubicBezTo>
                  <a:cubicBezTo>
                    <a:pt x="375" y="133"/>
                    <a:pt x="295" y="141"/>
                    <a:pt x="225" y="144"/>
                  </a:cubicBezTo>
                  <a:cubicBezTo>
                    <a:pt x="224" y="144"/>
                    <a:pt x="223" y="145"/>
                    <a:pt x="222" y="145"/>
                  </a:cubicBezTo>
                  <a:moveTo>
                    <a:pt x="206" y="299"/>
                  </a:moveTo>
                  <a:cubicBezTo>
                    <a:pt x="183" y="299"/>
                    <a:pt x="159" y="298"/>
                    <a:pt x="136" y="295"/>
                  </a:cubicBezTo>
                  <a:cubicBezTo>
                    <a:pt x="129" y="311"/>
                    <a:pt x="113" y="321"/>
                    <a:pt x="99" y="321"/>
                  </a:cubicBezTo>
                  <a:cubicBezTo>
                    <a:pt x="79" y="321"/>
                    <a:pt x="52" y="302"/>
                    <a:pt x="52" y="273"/>
                  </a:cubicBezTo>
                  <a:cubicBezTo>
                    <a:pt x="33" y="265"/>
                    <a:pt x="17" y="256"/>
                    <a:pt x="5" y="245"/>
                  </a:cubicBezTo>
                  <a:cubicBezTo>
                    <a:pt x="1" y="251"/>
                    <a:pt x="0" y="258"/>
                    <a:pt x="0" y="265"/>
                  </a:cubicBezTo>
                  <a:cubicBezTo>
                    <a:pt x="0" y="310"/>
                    <a:pt x="92" y="347"/>
                    <a:pt x="206" y="347"/>
                  </a:cubicBezTo>
                  <a:cubicBezTo>
                    <a:pt x="321" y="347"/>
                    <a:pt x="413" y="310"/>
                    <a:pt x="413" y="265"/>
                  </a:cubicBezTo>
                  <a:cubicBezTo>
                    <a:pt x="413" y="258"/>
                    <a:pt x="411" y="251"/>
                    <a:pt x="408" y="245"/>
                  </a:cubicBezTo>
                  <a:cubicBezTo>
                    <a:pt x="368" y="281"/>
                    <a:pt x="286" y="299"/>
                    <a:pt x="206" y="299"/>
                  </a:cubicBezTo>
                  <a:moveTo>
                    <a:pt x="206" y="366"/>
                  </a:moveTo>
                  <a:cubicBezTo>
                    <a:pt x="127" y="366"/>
                    <a:pt x="45" y="347"/>
                    <a:pt x="5" y="312"/>
                  </a:cubicBezTo>
                  <a:cubicBezTo>
                    <a:pt x="1" y="318"/>
                    <a:pt x="0" y="324"/>
                    <a:pt x="0" y="331"/>
                  </a:cubicBezTo>
                  <a:cubicBezTo>
                    <a:pt x="0" y="376"/>
                    <a:pt x="92" y="413"/>
                    <a:pt x="206" y="413"/>
                  </a:cubicBezTo>
                  <a:cubicBezTo>
                    <a:pt x="321" y="413"/>
                    <a:pt x="413" y="376"/>
                    <a:pt x="413" y="331"/>
                  </a:cubicBezTo>
                  <a:cubicBezTo>
                    <a:pt x="413" y="324"/>
                    <a:pt x="411" y="318"/>
                    <a:pt x="408" y="312"/>
                  </a:cubicBezTo>
                  <a:cubicBezTo>
                    <a:pt x="368" y="347"/>
                    <a:pt x="286" y="366"/>
                    <a:pt x="206" y="366"/>
                  </a:cubicBezTo>
                  <a:moveTo>
                    <a:pt x="234" y="232"/>
                  </a:moveTo>
                  <a:cubicBezTo>
                    <a:pt x="227" y="249"/>
                    <a:pt x="212" y="260"/>
                    <a:pt x="195" y="260"/>
                  </a:cubicBezTo>
                  <a:cubicBezTo>
                    <a:pt x="177" y="260"/>
                    <a:pt x="161" y="248"/>
                    <a:pt x="155" y="231"/>
                  </a:cubicBezTo>
                  <a:cubicBezTo>
                    <a:pt x="148" y="230"/>
                    <a:pt x="142" y="229"/>
                    <a:pt x="135" y="228"/>
                  </a:cubicBezTo>
                  <a:cubicBezTo>
                    <a:pt x="139" y="245"/>
                    <a:pt x="142" y="260"/>
                    <a:pt x="142" y="272"/>
                  </a:cubicBezTo>
                  <a:cubicBezTo>
                    <a:pt x="142" y="274"/>
                    <a:pt x="142" y="275"/>
                    <a:pt x="141" y="277"/>
                  </a:cubicBezTo>
                  <a:cubicBezTo>
                    <a:pt x="162" y="280"/>
                    <a:pt x="184" y="281"/>
                    <a:pt x="206" y="281"/>
                  </a:cubicBezTo>
                  <a:cubicBezTo>
                    <a:pt x="321" y="281"/>
                    <a:pt x="413" y="244"/>
                    <a:pt x="413" y="198"/>
                  </a:cubicBezTo>
                  <a:cubicBezTo>
                    <a:pt x="413" y="192"/>
                    <a:pt x="411" y="185"/>
                    <a:pt x="408" y="179"/>
                  </a:cubicBezTo>
                  <a:cubicBezTo>
                    <a:pt x="373" y="211"/>
                    <a:pt x="304" y="229"/>
                    <a:pt x="234" y="232"/>
                  </a:cubicBezTo>
                  <a:moveTo>
                    <a:pt x="53" y="254"/>
                  </a:moveTo>
                  <a:cubicBezTo>
                    <a:pt x="54" y="242"/>
                    <a:pt x="56" y="226"/>
                    <a:pt x="58" y="209"/>
                  </a:cubicBezTo>
                  <a:cubicBezTo>
                    <a:pt x="37" y="201"/>
                    <a:pt x="18" y="191"/>
                    <a:pt x="5" y="179"/>
                  </a:cubicBezTo>
                  <a:cubicBezTo>
                    <a:pt x="1" y="185"/>
                    <a:pt x="0" y="192"/>
                    <a:pt x="0" y="198"/>
                  </a:cubicBezTo>
                  <a:cubicBezTo>
                    <a:pt x="0" y="220"/>
                    <a:pt x="20" y="239"/>
                    <a:pt x="53" y="254"/>
                  </a:cubicBezTo>
                  <a:moveTo>
                    <a:pt x="61" y="191"/>
                  </a:moveTo>
                  <a:cubicBezTo>
                    <a:pt x="63" y="171"/>
                    <a:pt x="65" y="152"/>
                    <a:pt x="67" y="141"/>
                  </a:cubicBezTo>
                  <a:cubicBezTo>
                    <a:pt x="67" y="130"/>
                    <a:pt x="62" y="127"/>
                    <a:pt x="49" y="120"/>
                  </a:cubicBezTo>
                  <a:cubicBezTo>
                    <a:pt x="40" y="115"/>
                    <a:pt x="27" y="109"/>
                    <a:pt x="21" y="95"/>
                  </a:cubicBezTo>
                  <a:cubicBezTo>
                    <a:pt x="7" y="106"/>
                    <a:pt x="0" y="119"/>
                    <a:pt x="0" y="132"/>
                  </a:cubicBezTo>
                  <a:cubicBezTo>
                    <a:pt x="0" y="155"/>
                    <a:pt x="23" y="176"/>
                    <a:pt x="61" y="191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282" name="picture 1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35652" y="3989628"/>
            <a:ext cx="594042" cy="594029"/>
          </a:xfrm>
          <a:prstGeom prst="rect">
            <a:avLst/>
          </a:prstGeom>
        </p:spPr>
      </p:pic>
      <p:grpSp>
        <p:nvGrpSpPr>
          <p:cNvPr id="190" name="group 190"/>
          <p:cNvGrpSpPr/>
          <p:nvPr/>
        </p:nvGrpSpPr>
        <p:grpSpPr>
          <a:xfrm rot="21600000">
            <a:off x="542683" y="3991355"/>
            <a:ext cx="594029" cy="594029"/>
            <a:chOff x="0" y="0"/>
            <a:chExt cx="594029" cy="594029"/>
          </a:xfrm>
        </p:grpSpPr>
        <p:sp>
          <p:nvSpPr>
            <p:cNvPr id="1283" name="path"/>
            <p:cNvSpPr/>
            <p:nvPr/>
          </p:nvSpPr>
          <p:spPr>
            <a:xfrm>
              <a:off x="0" y="0"/>
              <a:ext cx="594029" cy="594029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2"/>
                    <a:pt x="972" y="613"/>
                    <a:pt x="793" y="793"/>
                  </a:cubicBezTo>
                  <a:cubicBezTo>
                    <a:pt x="613" y="972"/>
                    <a:pt x="322" y="972"/>
                    <a:pt x="142" y="793"/>
                  </a:cubicBezTo>
                  <a:cubicBezTo>
                    <a:pt x="-37" y="613"/>
                    <a:pt x="-37" y="322"/>
                    <a:pt x="142" y="142"/>
                  </a:cubicBezTo>
                  <a:cubicBezTo>
                    <a:pt x="322" y="-37"/>
                    <a:pt x="613" y="-37"/>
                    <a:pt x="793" y="142"/>
                  </a:cubicBezTo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4" name="path"/>
            <p:cNvSpPr/>
            <p:nvPr/>
          </p:nvSpPr>
          <p:spPr>
            <a:xfrm>
              <a:off x="165620" y="163893"/>
              <a:ext cx="262813" cy="262813"/>
            </a:xfrm>
            <a:custGeom>
              <a:avLst/>
              <a:gdLst/>
              <a:ahLst/>
              <a:cxnLst/>
              <a:rect l="0" t="0" r="0" b="0"/>
              <a:pathLst>
                <a:path w="413" h="413">
                  <a:moveTo>
                    <a:pt x="0" y="177"/>
                  </a:moveTo>
                  <a:lnTo>
                    <a:pt x="103" y="177"/>
                  </a:lnTo>
                  <a:lnTo>
                    <a:pt x="103" y="73"/>
                  </a:lnTo>
                  <a:lnTo>
                    <a:pt x="0" y="73"/>
                  </a:lnTo>
                  <a:lnTo>
                    <a:pt x="0" y="177"/>
                  </a:lnTo>
                  <a:close/>
                  <a:moveTo>
                    <a:pt x="310" y="103"/>
                  </a:moveTo>
                  <a:lnTo>
                    <a:pt x="413" y="103"/>
                  </a:lnTo>
                  <a:lnTo>
                    <a:pt x="413" y="0"/>
                  </a:lnTo>
                  <a:lnTo>
                    <a:pt x="310" y="0"/>
                  </a:lnTo>
                  <a:lnTo>
                    <a:pt x="310" y="103"/>
                  </a:lnTo>
                  <a:close/>
                  <a:moveTo>
                    <a:pt x="0" y="413"/>
                  </a:moveTo>
                  <a:lnTo>
                    <a:pt x="103" y="413"/>
                  </a:lnTo>
                  <a:lnTo>
                    <a:pt x="103" y="310"/>
                  </a:lnTo>
                  <a:lnTo>
                    <a:pt x="0" y="310"/>
                  </a:lnTo>
                  <a:lnTo>
                    <a:pt x="0" y="413"/>
                  </a:lnTo>
                  <a:close/>
                  <a:moveTo>
                    <a:pt x="118" y="413"/>
                  </a:moveTo>
                  <a:lnTo>
                    <a:pt x="221" y="413"/>
                  </a:lnTo>
                  <a:lnTo>
                    <a:pt x="221" y="310"/>
                  </a:lnTo>
                  <a:lnTo>
                    <a:pt x="118" y="310"/>
                  </a:lnTo>
                  <a:lnTo>
                    <a:pt x="118" y="413"/>
                  </a:lnTo>
                  <a:close/>
                  <a:moveTo>
                    <a:pt x="0" y="295"/>
                  </a:moveTo>
                  <a:lnTo>
                    <a:pt x="103" y="295"/>
                  </a:lnTo>
                  <a:lnTo>
                    <a:pt x="103" y="192"/>
                  </a:lnTo>
                  <a:lnTo>
                    <a:pt x="0" y="192"/>
                  </a:lnTo>
                  <a:lnTo>
                    <a:pt x="0" y="295"/>
                  </a:lnTo>
                  <a:close/>
                  <a:moveTo>
                    <a:pt x="236" y="413"/>
                  </a:moveTo>
                  <a:lnTo>
                    <a:pt x="339" y="413"/>
                  </a:lnTo>
                  <a:lnTo>
                    <a:pt x="339" y="310"/>
                  </a:lnTo>
                  <a:lnTo>
                    <a:pt x="236" y="310"/>
                  </a:lnTo>
                  <a:lnTo>
                    <a:pt x="236" y="413"/>
                  </a:lnTo>
                  <a:close/>
                  <a:moveTo>
                    <a:pt x="236" y="295"/>
                  </a:moveTo>
                  <a:lnTo>
                    <a:pt x="339" y="295"/>
                  </a:lnTo>
                  <a:lnTo>
                    <a:pt x="339" y="192"/>
                  </a:lnTo>
                  <a:lnTo>
                    <a:pt x="236" y="192"/>
                  </a:lnTo>
                  <a:lnTo>
                    <a:pt x="236" y="295"/>
                  </a:lnTo>
                  <a:close/>
                  <a:moveTo>
                    <a:pt x="118" y="177"/>
                  </a:moveTo>
                  <a:lnTo>
                    <a:pt x="221" y="177"/>
                  </a:lnTo>
                  <a:lnTo>
                    <a:pt x="221" y="73"/>
                  </a:lnTo>
                  <a:lnTo>
                    <a:pt x="118" y="73"/>
                  </a:lnTo>
                  <a:lnTo>
                    <a:pt x="118" y="177"/>
                  </a:lnTo>
                  <a:close/>
                  <a:moveTo>
                    <a:pt x="118" y="295"/>
                  </a:moveTo>
                  <a:lnTo>
                    <a:pt x="221" y="295"/>
                  </a:lnTo>
                  <a:lnTo>
                    <a:pt x="221" y="192"/>
                  </a:lnTo>
                  <a:lnTo>
                    <a:pt x="118" y="192"/>
                  </a:lnTo>
                  <a:lnTo>
                    <a:pt x="118" y="2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92" name="group 192"/>
          <p:cNvGrpSpPr/>
          <p:nvPr/>
        </p:nvGrpSpPr>
        <p:grpSpPr>
          <a:xfrm rot="21600000">
            <a:off x="540562" y="1451864"/>
            <a:ext cx="594029" cy="593978"/>
            <a:chOff x="0" y="0"/>
            <a:chExt cx="594029" cy="593978"/>
          </a:xfrm>
        </p:grpSpPr>
        <p:sp>
          <p:nvSpPr>
            <p:cNvPr id="1285" name="path"/>
            <p:cNvSpPr/>
            <p:nvPr/>
          </p:nvSpPr>
          <p:spPr>
            <a:xfrm>
              <a:off x="0" y="0"/>
              <a:ext cx="594029" cy="593978"/>
            </a:xfrm>
            <a:custGeom>
              <a:avLst/>
              <a:gdLst/>
              <a:ahLst/>
              <a:cxnLst/>
              <a:rect l="0" t="0" r="0" b="0"/>
              <a:pathLst>
                <a:path w="935" h="935">
                  <a:moveTo>
                    <a:pt x="793" y="142"/>
                  </a:moveTo>
                  <a:cubicBezTo>
                    <a:pt x="972" y="322"/>
                    <a:pt x="972" y="613"/>
                    <a:pt x="793" y="793"/>
                  </a:cubicBezTo>
                  <a:cubicBezTo>
                    <a:pt x="613" y="972"/>
                    <a:pt x="322" y="972"/>
                    <a:pt x="142" y="793"/>
                  </a:cubicBezTo>
                  <a:cubicBezTo>
                    <a:pt x="-37" y="613"/>
                    <a:pt x="-37" y="322"/>
                    <a:pt x="142" y="142"/>
                  </a:cubicBezTo>
                  <a:cubicBezTo>
                    <a:pt x="322" y="-37"/>
                    <a:pt x="613" y="-37"/>
                    <a:pt x="793" y="142"/>
                  </a:cubicBezTo>
                </a:path>
              </a:pathLst>
            </a:custGeom>
            <a:solidFill>
              <a:srgbClr val="26C6DA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6" name="path"/>
            <p:cNvSpPr/>
            <p:nvPr/>
          </p:nvSpPr>
          <p:spPr>
            <a:xfrm>
              <a:off x="160946" y="151383"/>
              <a:ext cx="272151" cy="262763"/>
            </a:xfrm>
            <a:custGeom>
              <a:avLst/>
              <a:gdLst/>
              <a:ahLst/>
              <a:cxnLst/>
              <a:rect l="0" t="0" r="0" b="0"/>
              <a:pathLst>
                <a:path w="428" h="413">
                  <a:moveTo>
                    <a:pt x="379" y="0"/>
                  </a:moveTo>
                  <a:cubicBezTo>
                    <a:pt x="383" y="0"/>
                    <a:pt x="387" y="5"/>
                    <a:pt x="387" y="5"/>
                  </a:cubicBezTo>
                  <a:cubicBezTo>
                    <a:pt x="387" y="5"/>
                    <a:pt x="474" y="162"/>
                    <a:pt x="370" y="204"/>
                  </a:cubicBezTo>
                  <a:lnTo>
                    <a:pt x="313" y="183"/>
                  </a:lnTo>
                  <a:cubicBezTo>
                    <a:pt x="304" y="164"/>
                    <a:pt x="289" y="105"/>
                    <a:pt x="339" y="74"/>
                  </a:cubicBezTo>
                  <a:cubicBezTo>
                    <a:pt x="339" y="74"/>
                    <a:pt x="378" y="46"/>
                    <a:pt x="371" y="10"/>
                  </a:cubicBezTo>
                  <a:cubicBezTo>
                    <a:pt x="371" y="10"/>
                    <a:pt x="370" y="3"/>
                    <a:pt x="376" y="0"/>
                  </a:cubicBezTo>
                  <a:cubicBezTo>
                    <a:pt x="377" y="0"/>
                    <a:pt x="378" y="0"/>
                    <a:pt x="379" y="0"/>
                  </a:cubicBezTo>
                  <a:moveTo>
                    <a:pt x="213" y="25"/>
                  </a:moveTo>
                  <a:cubicBezTo>
                    <a:pt x="240" y="25"/>
                    <a:pt x="266" y="34"/>
                    <a:pt x="271" y="64"/>
                  </a:cubicBezTo>
                  <a:cubicBezTo>
                    <a:pt x="275" y="90"/>
                    <a:pt x="242" y="127"/>
                    <a:pt x="243" y="169"/>
                  </a:cubicBezTo>
                  <a:cubicBezTo>
                    <a:pt x="244" y="188"/>
                    <a:pt x="271" y="205"/>
                    <a:pt x="288" y="208"/>
                  </a:cubicBezTo>
                  <a:lnTo>
                    <a:pt x="230" y="386"/>
                  </a:lnTo>
                  <a:lnTo>
                    <a:pt x="213" y="396"/>
                  </a:lnTo>
                  <a:cubicBezTo>
                    <a:pt x="189" y="406"/>
                    <a:pt x="160" y="413"/>
                    <a:pt x="133" y="413"/>
                  </a:cubicBezTo>
                  <a:cubicBezTo>
                    <a:pt x="110" y="413"/>
                    <a:pt x="88" y="408"/>
                    <a:pt x="70" y="395"/>
                  </a:cubicBezTo>
                  <a:cubicBezTo>
                    <a:pt x="-8" y="339"/>
                    <a:pt x="-4" y="216"/>
                    <a:pt x="33" y="138"/>
                  </a:cubicBezTo>
                  <a:cubicBezTo>
                    <a:pt x="58" y="86"/>
                    <a:pt x="103" y="51"/>
                    <a:pt x="158" y="34"/>
                  </a:cubicBezTo>
                  <a:cubicBezTo>
                    <a:pt x="172" y="29"/>
                    <a:pt x="193" y="25"/>
                    <a:pt x="213" y="25"/>
                  </a:cubicBezTo>
                  <a:moveTo>
                    <a:pt x="184" y="236"/>
                  </a:moveTo>
                  <a:cubicBezTo>
                    <a:pt x="201" y="236"/>
                    <a:pt x="214" y="223"/>
                    <a:pt x="214" y="206"/>
                  </a:cubicBezTo>
                  <a:cubicBezTo>
                    <a:pt x="214" y="190"/>
                    <a:pt x="201" y="177"/>
                    <a:pt x="184" y="177"/>
                  </a:cubicBezTo>
                  <a:cubicBezTo>
                    <a:pt x="168" y="177"/>
                    <a:pt x="155" y="190"/>
                    <a:pt x="155" y="206"/>
                  </a:cubicBezTo>
                  <a:cubicBezTo>
                    <a:pt x="155" y="223"/>
                    <a:pt x="168" y="236"/>
                    <a:pt x="184" y="236"/>
                  </a:cubicBezTo>
                  <a:moveTo>
                    <a:pt x="308" y="197"/>
                  </a:moveTo>
                  <a:lnTo>
                    <a:pt x="364" y="218"/>
                  </a:lnTo>
                  <a:lnTo>
                    <a:pt x="285" y="413"/>
                  </a:lnTo>
                  <a:lnTo>
                    <a:pt x="243" y="398"/>
                  </a:lnTo>
                  <a:lnTo>
                    <a:pt x="308" y="197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87" name="textbox 1287"/>
          <p:cNvSpPr/>
          <p:nvPr/>
        </p:nvSpPr>
        <p:spPr>
          <a:xfrm>
            <a:off x="1176019" y="1837842"/>
            <a:ext cx="1629410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分为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非交互式文本和交互式文本</a:t>
            </a:r>
            <a:endParaRPr lang="en-US" altLang="en-US" sz="900" dirty="0"/>
          </a:p>
        </p:txBody>
      </p:sp>
      <p:sp>
        <p:nvSpPr>
          <p:cNvPr id="1288" name="textbox 1288"/>
          <p:cNvSpPr/>
          <p:nvPr/>
        </p:nvSpPr>
        <p:spPr>
          <a:xfrm>
            <a:off x="6857457" y="2960528"/>
            <a:ext cx="1286510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人控制等领域有极高</a:t>
            </a:r>
            <a:endParaRPr lang="en-US" altLang="en-US" sz="900" dirty="0"/>
          </a:p>
        </p:txBody>
      </p:sp>
      <p:pic>
        <p:nvPicPr>
          <p:cNvPr id="1289" name="picture 12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37808" y="1710816"/>
            <a:ext cx="1796541" cy="76200"/>
          </a:xfrm>
          <a:prstGeom prst="rect">
            <a:avLst/>
          </a:prstGeom>
        </p:spPr>
      </p:pic>
      <p:pic>
        <p:nvPicPr>
          <p:cNvPr id="1290" name="picture 12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30122" y="2557272"/>
            <a:ext cx="1796465" cy="76200"/>
          </a:xfrm>
          <a:prstGeom prst="rect">
            <a:avLst/>
          </a:prstGeom>
        </p:spPr>
      </p:pic>
      <p:pic>
        <p:nvPicPr>
          <p:cNvPr id="1291" name="picture 12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30122" y="4250283"/>
            <a:ext cx="1796465" cy="76200"/>
          </a:xfrm>
          <a:prstGeom prst="rect">
            <a:avLst/>
          </a:prstGeom>
        </p:spPr>
      </p:pic>
      <p:pic>
        <p:nvPicPr>
          <p:cNvPr id="1292" name="picture 12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28001" y="1710816"/>
            <a:ext cx="1796427" cy="76200"/>
          </a:xfrm>
          <a:prstGeom prst="rect">
            <a:avLst/>
          </a:prstGeom>
        </p:spPr>
      </p:pic>
      <p:pic>
        <p:nvPicPr>
          <p:cNvPr id="1293" name="picture 1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347205" y="3405632"/>
            <a:ext cx="1796415" cy="76200"/>
          </a:xfrm>
          <a:prstGeom prst="rect">
            <a:avLst/>
          </a:prstGeom>
        </p:spPr>
      </p:pic>
      <p:pic>
        <p:nvPicPr>
          <p:cNvPr id="1294" name="picture 12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52032" y="2557272"/>
            <a:ext cx="1796414" cy="76200"/>
          </a:xfrm>
          <a:prstGeom prst="rect">
            <a:avLst/>
          </a:prstGeom>
        </p:spPr>
      </p:pic>
      <p:pic>
        <p:nvPicPr>
          <p:cNvPr id="1295" name="picture 129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31709" y="3403727"/>
            <a:ext cx="1796402" cy="76200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6354550" y="4041502"/>
            <a:ext cx="790575" cy="204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人生成</a:t>
            </a:r>
            <a:endParaRPr lang="en-US" altLang="en-US" sz="1200" dirty="0"/>
          </a:p>
        </p:txBody>
      </p:sp>
      <p:sp>
        <p:nvSpPr>
          <p:cNvPr id="1297" name="textbox 1297"/>
          <p:cNvSpPr/>
          <p:nvPr/>
        </p:nvSpPr>
        <p:spPr>
          <a:xfrm>
            <a:off x="1232560" y="4039616"/>
            <a:ext cx="789305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模态生成</a:t>
            </a:r>
            <a:endParaRPr lang="en-US" altLang="en-US" sz="1200" dirty="0"/>
          </a:p>
        </p:txBody>
      </p:sp>
      <p:sp>
        <p:nvSpPr>
          <p:cNvPr id="1298" name="textbox 1298"/>
          <p:cNvSpPr/>
          <p:nvPr/>
        </p:nvSpPr>
        <p:spPr>
          <a:xfrm>
            <a:off x="6354241" y="2358593"/>
            <a:ext cx="638175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en-US" altLang="en-US" sz="1200" dirty="0"/>
          </a:p>
        </p:txBody>
      </p:sp>
      <p:sp>
        <p:nvSpPr>
          <p:cNvPr id="1299" name="textbox 1299"/>
          <p:cNvSpPr/>
          <p:nvPr/>
        </p:nvSpPr>
        <p:spPr>
          <a:xfrm>
            <a:off x="1233779" y="3192856"/>
            <a:ext cx="637540" cy="2032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频生成</a:t>
            </a:r>
            <a:endParaRPr lang="en-US" altLang="en-US" sz="1200" dirty="0"/>
          </a:p>
        </p:txBody>
      </p:sp>
      <p:sp>
        <p:nvSpPr>
          <p:cNvPr id="1300" name="textbox 1300"/>
          <p:cNvSpPr/>
          <p:nvPr/>
        </p:nvSpPr>
        <p:spPr>
          <a:xfrm>
            <a:off x="1230274" y="1499438"/>
            <a:ext cx="63754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本生成</a:t>
            </a:r>
            <a:endParaRPr lang="en-US" altLang="en-US" sz="1200" dirty="0"/>
          </a:p>
        </p:txBody>
      </p:sp>
      <p:sp>
        <p:nvSpPr>
          <p:cNvPr id="1301" name="textbox 1301"/>
          <p:cNvSpPr/>
          <p:nvPr/>
        </p:nvSpPr>
        <p:spPr>
          <a:xfrm>
            <a:off x="1233017" y="2346147"/>
            <a:ext cx="636905" cy="2032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频生成</a:t>
            </a:r>
            <a:endParaRPr lang="en-US" altLang="en-US" sz="1200" dirty="0"/>
          </a:p>
        </p:txBody>
      </p:sp>
      <p:sp>
        <p:nvSpPr>
          <p:cNvPr id="1302" name="textbox 1302"/>
          <p:cNvSpPr/>
          <p:nvPr/>
        </p:nvSpPr>
        <p:spPr>
          <a:xfrm>
            <a:off x="6361252" y="1510106"/>
            <a:ext cx="63119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-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1200" dirty="0"/>
          </a:p>
        </p:txBody>
      </p:sp>
      <p:sp>
        <p:nvSpPr>
          <p:cNvPr id="1303" name="textbox 1303"/>
          <p:cNvSpPr/>
          <p:nvPr/>
        </p:nvSpPr>
        <p:spPr>
          <a:xfrm>
            <a:off x="6358509" y="3207207"/>
            <a:ext cx="622300" cy="2228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7000"/>
              </a:lnSpc>
            </a:pPr>
            <a:r>
              <a:rPr sz="1200" spc="3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GameA</a:t>
            </a:r>
            <a:r>
              <a:rPr sz="1200" spc="2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endParaRPr lang="en-US" altLang="en-US" sz="1200" dirty="0"/>
          </a:p>
        </p:txBody>
      </p:sp>
      <p:sp>
        <p:nvSpPr>
          <p:cNvPr id="1304" name="textbox 1304"/>
          <p:cNvSpPr/>
          <p:nvPr/>
        </p:nvSpPr>
        <p:spPr>
          <a:xfrm>
            <a:off x="7542224" y="3125368"/>
            <a:ext cx="579119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应用价值</a:t>
            </a:r>
            <a:r>
              <a:rPr sz="90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900" dirty="0"/>
          </a:p>
        </p:txBody>
      </p:sp>
      <p:sp>
        <p:nvSpPr>
          <p:cNvPr id="1305" name="path"/>
          <p:cNvSpPr/>
          <p:nvPr/>
        </p:nvSpPr>
        <p:spPr>
          <a:xfrm>
            <a:off x="753109" y="3312414"/>
            <a:ext cx="215887" cy="93853"/>
          </a:xfrm>
          <a:custGeom>
            <a:avLst/>
            <a:gdLst/>
            <a:ahLst/>
            <a:cxnLst/>
            <a:rect l="0" t="0" r="0" b="0"/>
            <a:pathLst>
              <a:path w="339" h="147">
                <a:moveTo>
                  <a:pt x="73" y="103"/>
                </a:moveTo>
                <a:lnTo>
                  <a:pt x="103" y="118"/>
                </a:lnTo>
                <a:lnTo>
                  <a:pt x="133" y="103"/>
                </a:lnTo>
                <a:lnTo>
                  <a:pt x="162" y="118"/>
                </a:lnTo>
                <a:lnTo>
                  <a:pt x="207" y="118"/>
                </a:lnTo>
                <a:cubicBezTo>
                  <a:pt x="220" y="136"/>
                  <a:pt x="241" y="147"/>
                  <a:pt x="266" y="147"/>
                </a:cubicBezTo>
                <a:cubicBezTo>
                  <a:pt x="306" y="147"/>
                  <a:pt x="339" y="114"/>
                  <a:pt x="339" y="73"/>
                </a:cubicBezTo>
                <a:cubicBezTo>
                  <a:pt x="339" y="33"/>
                  <a:pt x="306" y="0"/>
                  <a:pt x="266" y="0"/>
                </a:cubicBezTo>
                <a:cubicBezTo>
                  <a:pt x="235" y="0"/>
                  <a:pt x="209" y="18"/>
                  <a:pt x="198" y="44"/>
                </a:cubicBezTo>
                <a:lnTo>
                  <a:pt x="44" y="44"/>
                </a:lnTo>
                <a:lnTo>
                  <a:pt x="0" y="73"/>
                </a:lnTo>
                <a:lnTo>
                  <a:pt x="44" y="118"/>
                </a:lnTo>
                <a:lnTo>
                  <a:pt x="73" y="103"/>
                </a:lnTo>
                <a:close/>
                <a:moveTo>
                  <a:pt x="273" y="51"/>
                </a:moveTo>
                <a:cubicBezTo>
                  <a:pt x="285" y="51"/>
                  <a:pt x="295" y="61"/>
                  <a:pt x="295" y="73"/>
                </a:cubicBezTo>
                <a:cubicBezTo>
                  <a:pt x="295" y="86"/>
                  <a:pt x="285" y="96"/>
                  <a:pt x="273" y="96"/>
                </a:cubicBezTo>
                <a:cubicBezTo>
                  <a:pt x="261" y="96"/>
                  <a:pt x="251" y="86"/>
                  <a:pt x="251" y="73"/>
                </a:cubicBezTo>
                <a:cubicBezTo>
                  <a:pt x="251" y="61"/>
                  <a:pt x="261" y="51"/>
                  <a:pt x="273" y="51"/>
                </a:cubicBezTo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6" name="path"/>
          <p:cNvSpPr/>
          <p:nvPr/>
        </p:nvSpPr>
        <p:spPr>
          <a:xfrm>
            <a:off x="8510206" y="2463927"/>
            <a:ext cx="51751" cy="262889"/>
          </a:xfrm>
          <a:custGeom>
            <a:avLst/>
            <a:gdLst/>
            <a:ahLst/>
            <a:cxnLst/>
            <a:rect l="0" t="0" r="0" b="0"/>
            <a:pathLst>
              <a:path w="81" h="413">
                <a:moveTo>
                  <a:pt x="51" y="413"/>
                </a:moveTo>
                <a:moveTo>
                  <a:pt x="51" y="413"/>
                </a:moveTo>
                <a:lnTo>
                  <a:pt x="81" y="413"/>
                </a:lnTo>
                <a:lnTo>
                  <a:pt x="81" y="0"/>
                </a:lnTo>
                <a:lnTo>
                  <a:pt x="51" y="0"/>
                </a:lnTo>
                <a:lnTo>
                  <a:pt x="51" y="413"/>
                </a:lnTo>
                <a:close/>
                <a:moveTo>
                  <a:pt x="7" y="413"/>
                </a:moveTo>
                <a:moveTo>
                  <a:pt x="7" y="413"/>
                </a:moveTo>
                <a:lnTo>
                  <a:pt x="37" y="413"/>
                </a:lnTo>
                <a:lnTo>
                  <a:pt x="37" y="0"/>
                </a:lnTo>
                <a:lnTo>
                  <a:pt x="7" y="0"/>
                </a:lnTo>
                <a:lnTo>
                  <a:pt x="7" y="41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picture 10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086" name="rect"/>
          <p:cNvSpPr/>
          <p:nvPr/>
        </p:nvSpPr>
        <p:spPr>
          <a:xfrm>
            <a:off x="948689" y="2332100"/>
            <a:ext cx="7337552" cy="1762937"/>
          </a:xfrm>
          <a:prstGeom prst="rect">
            <a:avLst/>
          </a:prstGeom>
          <a:solidFill>
            <a:srgbClr val="0081F0">
              <a:alpha val="2196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7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8" name="textbox 1088"/>
          <p:cNvSpPr/>
          <p:nvPr/>
        </p:nvSpPr>
        <p:spPr>
          <a:xfrm>
            <a:off x="-12700" y="124277"/>
            <a:ext cx="8827134" cy="14630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3000"/>
              </a:lnSpc>
              <a:spcBef>
                <a:spcPts val="116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产业链上下游玩家百花</a:t>
            </a:r>
            <a:r>
              <a:rPr sz="3000" spc="1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齐</a:t>
            </a:r>
            <a:r>
              <a:rPr sz="3000" spc="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endParaRPr lang="en-US" altLang="en-US" sz="1950" dirty="0"/>
          </a:p>
          <a:p>
            <a:pPr marL="527050" algn="l" rtl="0" eaLnBrk="0">
              <a:lnSpc>
                <a:spcPct val="99000"/>
              </a:lnSpc>
              <a:spcBef>
                <a:spcPts val="830"/>
              </a:spcBef>
              <a:tabLst>
                <a:tab pos="607060" algn="l"/>
              </a:tabLst>
            </a:pPr>
            <a:r>
              <a:rPr sz="11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1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上游主要包括数据供给方、算法机构、创作者生态以及底层配合工具等，中游主要是文字、图像、音频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和视频处理厂商，其中</a:t>
            </a:r>
            <a:endParaRPr lang="en-US" altLang="en-US" sz="1100" dirty="0"/>
          </a:p>
          <a:p>
            <a:pPr marL="689610" algn="l" rtl="0" eaLnBrk="0">
              <a:lnSpc>
                <a:spcPct val="97000"/>
              </a:lnSpc>
              <a:spcBef>
                <a:spcPts val="705"/>
              </a:spcBef>
            </a:pPr>
            <a:r>
              <a:rPr sz="11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玩家众多；下游主要是各类内容创作及分</a:t>
            </a:r>
            <a:r>
              <a:rPr sz="11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发平台以及内容服务机构等。</a:t>
            </a:r>
            <a:endParaRPr lang="en-US" altLang="en-US" sz="1100" dirty="0"/>
          </a:p>
          <a:p>
            <a:pPr algn="l" rtl="0" eaLnBrk="0">
              <a:lnSpc>
                <a:spcPct val="100000"/>
              </a:lnSpc>
            </a:pPr>
            <a:endParaRPr lang="en-US" altLang="en-US" sz="300" dirty="0"/>
          </a:p>
          <a:p>
            <a:pPr marL="3180080" algn="l" rtl="0" eaLnBrk="0">
              <a:lnSpc>
                <a:spcPts val="1240"/>
              </a:lnSpc>
              <a:spcBef>
                <a:spcPts val="0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图48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产业链上下游参与者分类如下图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所示</a:t>
            </a:r>
            <a:endParaRPr lang="en-US" altLang="en-US" sz="1000" dirty="0"/>
          </a:p>
        </p:txBody>
      </p:sp>
      <p:pic>
        <p:nvPicPr>
          <p:cNvPr id="1089" name="picture 10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4392" y="977564"/>
            <a:ext cx="81180" cy="92537"/>
          </a:xfrm>
          <a:prstGeom prst="rect">
            <a:avLst/>
          </a:prstGeom>
        </p:spPr>
      </p:pic>
      <p:sp>
        <p:nvSpPr>
          <p:cNvPr id="1090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2" name="group 162"/>
          <p:cNvGrpSpPr/>
          <p:nvPr/>
        </p:nvGrpSpPr>
        <p:grpSpPr>
          <a:xfrm rot="21600000">
            <a:off x="944638" y="4143641"/>
            <a:ext cx="7337538" cy="777892"/>
            <a:chOff x="621106" y="0"/>
            <a:chExt cx="7337538" cy="777892"/>
          </a:xfrm>
        </p:grpSpPr>
        <p:sp>
          <p:nvSpPr>
            <p:cNvPr id="1091" name="rect"/>
            <p:cNvSpPr/>
            <p:nvPr/>
          </p:nvSpPr>
          <p:spPr>
            <a:xfrm>
              <a:off x="621106" y="0"/>
              <a:ext cx="7337538" cy="644804"/>
            </a:xfrm>
            <a:prstGeom prst="rect">
              <a:avLst/>
            </a:prstGeom>
            <a:solidFill>
              <a:srgbClr val="004E97">
                <a:alpha val="2196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2" name="rect"/>
            <p:cNvSpPr/>
            <p:nvPr/>
          </p:nvSpPr>
          <p:spPr>
            <a:xfrm>
              <a:off x="1405953" y="47624"/>
              <a:ext cx="2113406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3" name="rect"/>
            <p:cNvSpPr/>
            <p:nvPr/>
          </p:nvSpPr>
          <p:spPr>
            <a:xfrm>
              <a:off x="4967287" y="325983"/>
              <a:ext cx="2809747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4" name="textbox 1094"/>
            <p:cNvSpPr/>
            <p:nvPr/>
          </p:nvSpPr>
          <p:spPr>
            <a:xfrm>
              <a:off x="1887435" y="85108"/>
              <a:ext cx="6024879" cy="69278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85725" algn="l" rtl="0" eaLnBrk="0">
                <a:lnSpc>
                  <a:spcPts val="740"/>
                </a:lnSpc>
              </a:pPr>
              <a:r>
                <a:rPr sz="60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各类内容创作及分发平</a:t>
              </a:r>
              <a:r>
                <a:rPr sz="60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台</a:t>
              </a:r>
              <a:endParaRPr lang="en-US" altLang="en-US" sz="600" dirty="0"/>
            </a:p>
            <a:p>
              <a:pPr marL="50800" algn="l" rtl="0" eaLnBrk="0">
                <a:lnSpc>
                  <a:spcPct val="94000"/>
                </a:lnSpc>
                <a:spcBef>
                  <a:spcPts val="230"/>
                </a:spcBef>
              </a:pPr>
              <a:r>
                <a:rPr sz="6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(基于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AIGC</a:t>
              </a:r>
              <a:r>
                <a:rPr sz="6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激发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PGC</a:t>
              </a:r>
              <a:r>
                <a:rPr sz="6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UGC</a:t>
              </a:r>
              <a:r>
                <a:rPr sz="6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力</a:t>
              </a:r>
              <a:endParaRPr lang="en-US" altLang="en-US" sz="600" dirty="0"/>
            </a:p>
            <a:p>
              <a:pPr marL="4083685" algn="l" rtl="0" eaLnBrk="0">
                <a:lnSpc>
                  <a:spcPts val="740"/>
                </a:lnSpc>
                <a:spcBef>
                  <a:spcPts val="420"/>
                </a:spcBef>
              </a:pPr>
              <a:r>
                <a:rPr sz="60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第三方内容服务机</a:t>
              </a:r>
              <a:r>
                <a:rPr sz="60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</a:t>
              </a:r>
              <a:endParaRPr lang="en-US" altLang="en-US" sz="600" dirty="0"/>
            </a:p>
            <a:p>
              <a:pPr marL="4067810" algn="l" rtl="0" eaLnBrk="0">
                <a:lnSpc>
                  <a:spcPts val="740"/>
                </a:lnSpc>
                <a:spcBef>
                  <a:spcPts val="100"/>
                </a:spcBef>
              </a:pPr>
              <a:r>
                <a:rPr sz="600" spc="1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如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MCN</a:t>
              </a:r>
              <a:r>
                <a:rPr sz="600" spc="1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、公关公司</a:t>
              </a:r>
              <a:r>
                <a:rPr sz="60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</a:t>
              </a:r>
              <a:endParaRPr lang="en-US" altLang="en-US" sz="600" dirty="0"/>
            </a:p>
            <a:p>
              <a:pPr algn="r" rtl="0" eaLnBrk="0">
                <a:lnSpc>
                  <a:spcPct val="97000"/>
                </a:lnSpc>
                <a:spcBef>
                  <a:spcPts val="325"/>
                </a:spcBef>
              </a:pPr>
              <a:endParaRPr sz="110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95" name="rect"/>
            <p:cNvSpPr/>
            <p:nvPr/>
          </p:nvSpPr>
          <p:spPr>
            <a:xfrm>
              <a:off x="1582102" y="327278"/>
              <a:ext cx="3075305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6" name="rect"/>
            <p:cNvSpPr/>
            <p:nvPr/>
          </p:nvSpPr>
          <p:spPr>
            <a:xfrm>
              <a:off x="4952428" y="47624"/>
              <a:ext cx="1712468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7" name="rect"/>
            <p:cNvSpPr/>
            <p:nvPr/>
          </p:nvSpPr>
          <p:spPr>
            <a:xfrm>
              <a:off x="3623119" y="47624"/>
              <a:ext cx="1225550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98" name="rect"/>
            <p:cNvSpPr/>
            <p:nvPr/>
          </p:nvSpPr>
          <p:spPr>
            <a:xfrm>
              <a:off x="6768655" y="47624"/>
              <a:ext cx="1036701" cy="252006"/>
            </a:xfrm>
            <a:prstGeom prst="rect">
              <a:avLst/>
            </a:pr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0" name="rect"/>
            <p:cNvSpPr/>
            <p:nvPr/>
          </p:nvSpPr>
          <p:spPr>
            <a:xfrm>
              <a:off x="1331721" y="583564"/>
              <a:ext cx="9525" cy="179997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01" name="rect"/>
          <p:cNvSpPr/>
          <p:nvPr/>
        </p:nvSpPr>
        <p:spPr>
          <a:xfrm>
            <a:off x="944638" y="1558797"/>
            <a:ext cx="7337538" cy="750570"/>
          </a:xfrm>
          <a:prstGeom prst="rect">
            <a:avLst/>
          </a:prstGeom>
          <a:solidFill>
            <a:srgbClr val="59C3F1">
              <a:alpha val="2745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4" name="group 164"/>
          <p:cNvGrpSpPr/>
          <p:nvPr/>
        </p:nvGrpSpPr>
        <p:grpSpPr>
          <a:xfrm rot="21600000">
            <a:off x="1388110" y="1642109"/>
            <a:ext cx="6752209" cy="369150"/>
            <a:chOff x="0" y="0"/>
            <a:chExt cx="6752209" cy="369150"/>
          </a:xfrm>
        </p:grpSpPr>
        <p:sp>
          <p:nvSpPr>
            <p:cNvPr id="1102" name="path"/>
            <p:cNvSpPr/>
            <p:nvPr/>
          </p:nvSpPr>
          <p:spPr>
            <a:xfrm>
              <a:off x="0" y="0"/>
              <a:ext cx="6752209" cy="360680"/>
            </a:xfrm>
            <a:custGeom>
              <a:avLst/>
              <a:gdLst/>
              <a:ahLst/>
              <a:cxnLst/>
              <a:rect l="0" t="0" r="0" b="0"/>
              <a:pathLst>
                <a:path w="10633" h="568">
                  <a:moveTo>
                    <a:pt x="0" y="1"/>
                  </a:moveTo>
                  <a:lnTo>
                    <a:pt x="0" y="1"/>
                  </a:lnTo>
                  <a:lnTo>
                    <a:pt x="3158" y="1"/>
                  </a:lnTo>
                  <a:lnTo>
                    <a:pt x="3158" y="1"/>
                  </a:lnTo>
                  <a:lnTo>
                    <a:pt x="3158" y="568"/>
                  </a:lnTo>
                  <a:lnTo>
                    <a:pt x="3158" y="568"/>
                  </a:lnTo>
                  <a:lnTo>
                    <a:pt x="0" y="568"/>
                  </a:lnTo>
                  <a:lnTo>
                    <a:pt x="0" y="568"/>
                  </a:lnTo>
                  <a:lnTo>
                    <a:pt x="0" y="1"/>
                  </a:lnTo>
                  <a:close/>
                </a:path>
                <a:path w="10633" h="568">
                  <a:moveTo>
                    <a:pt x="3507" y="1"/>
                  </a:moveTo>
                  <a:lnTo>
                    <a:pt x="3507" y="1"/>
                  </a:lnTo>
                  <a:lnTo>
                    <a:pt x="5148" y="1"/>
                  </a:lnTo>
                  <a:lnTo>
                    <a:pt x="5148" y="1"/>
                  </a:lnTo>
                  <a:lnTo>
                    <a:pt x="5148" y="568"/>
                  </a:lnTo>
                  <a:lnTo>
                    <a:pt x="5148" y="568"/>
                  </a:lnTo>
                  <a:lnTo>
                    <a:pt x="3507" y="568"/>
                  </a:lnTo>
                  <a:lnTo>
                    <a:pt x="3507" y="568"/>
                  </a:lnTo>
                  <a:lnTo>
                    <a:pt x="3507" y="1"/>
                  </a:lnTo>
                  <a:close/>
                </a:path>
                <a:path w="10633" h="568">
                  <a:moveTo>
                    <a:pt x="5497" y="1"/>
                  </a:moveTo>
                  <a:lnTo>
                    <a:pt x="5497" y="1"/>
                  </a:lnTo>
                  <a:lnTo>
                    <a:pt x="7970" y="1"/>
                  </a:lnTo>
                  <a:lnTo>
                    <a:pt x="7970" y="1"/>
                  </a:lnTo>
                  <a:lnTo>
                    <a:pt x="7970" y="568"/>
                  </a:lnTo>
                  <a:lnTo>
                    <a:pt x="7970" y="568"/>
                  </a:lnTo>
                  <a:lnTo>
                    <a:pt x="5497" y="568"/>
                  </a:lnTo>
                  <a:lnTo>
                    <a:pt x="5497" y="568"/>
                  </a:lnTo>
                  <a:lnTo>
                    <a:pt x="5497" y="1"/>
                  </a:lnTo>
                  <a:close/>
                </a:path>
                <a:path w="10633" h="568">
                  <a:moveTo>
                    <a:pt x="8320" y="0"/>
                  </a:moveTo>
                  <a:lnTo>
                    <a:pt x="8320" y="0"/>
                  </a:lnTo>
                  <a:lnTo>
                    <a:pt x="10633" y="0"/>
                  </a:lnTo>
                  <a:lnTo>
                    <a:pt x="10633" y="0"/>
                  </a:lnTo>
                  <a:lnTo>
                    <a:pt x="10633" y="567"/>
                  </a:lnTo>
                  <a:lnTo>
                    <a:pt x="10633" y="567"/>
                  </a:lnTo>
                  <a:lnTo>
                    <a:pt x="8320" y="567"/>
                  </a:lnTo>
                  <a:lnTo>
                    <a:pt x="8320" y="567"/>
                  </a:lnTo>
                  <a:lnTo>
                    <a:pt x="8320" y="0"/>
                  </a:lnTo>
                  <a:close/>
                </a:path>
              </a:pathLst>
            </a:cu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3" name="textbox 1103"/>
            <p:cNvSpPr/>
            <p:nvPr/>
          </p:nvSpPr>
          <p:spPr>
            <a:xfrm>
              <a:off x="2423359" y="56495"/>
              <a:ext cx="4050665" cy="2876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lang="en-US" altLang="en-US" sz="100" dirty="0"/>
            </a:p>
            <a:p>
              <a:pPr algn="r" rtl="0" eaLnBrk="0">
                <a:lnSpc>
                  <a:spcPct val="96000"/>
                </a:lnSpc>
              </a:pPr>
              <a:r>
                <a:rPr sz="60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底层配合工</a:t>
              </a:r>
              <a:r>
                <a:rPr sz="60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具</a:t>
              </a:r>
              <a:endParaRPr lang="en-US" altLang="en-US" sz="600" dirty="0"/>
            </a:p>
            <a:p>
              <a:pPr marL="12700" algn="l" rtl="0" eaLnBrk="0">
                <a:lnSpc>
                  <a:spcPts val="630"/>
                </a:lnSpc>
              </a:pPr>
              <a:r>
                <a:rPr sz="500" spc="2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数据拆分及标</a:t>
              </a:r>
              <a:r>
                <a:rPr sz="500" spc="1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</a:t>
              </a:r>
              <a:endParaRPr lang="en-US" altLang="en-US" sz="500" dirty="0"/>
            </a:p>
            <a:p>
              <a:pPr algn="r" rtl="0" eaLnBrk="0">
                <a:lnSpc>
                  <a:spcPts val="745"/>
                </a:lnSpc>
              </a:pPr>
              <a:r>
                <a:rPr sz="600" spc="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渲染引擎、混音设备</a:t>
              </a:r>
              <a:r>
                <a:rPr sz="60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</a:t>
              </a:r>
              <a:endParaRPr lang="en-US" altLang="en-US" sz="600" dirty="0"/>
            </a:p>
          </p:txBody>
        </p:sp>
      </p:grpSp>
      <p:grpSp>
        <p:nvGrpSpPr>
          <p:cNvPr id="166" name="group 166"/>
          <p:cNvGrpSpPr/>
          <p:nvPr/>
        </p:nvGrpSpPr>
        <p:grpSpPr>
          <a:xfrm rot="21600000">
            <a:off x="1395730" y="3497579"/>
            <a:ext cx="6750050" cy="253720"/>
            <a:chOff x="0" y="0"/>
            <a:chExt cx="6750050" cy="253720"/>
          </a:xfrm>
        </p:grpSpPr>
        <p:sp>
          <p:nvSpPr>
            <p:cNvPr id="1104" name="path"/>
            <p:cNvSpPr/>
            <p:nvPr/>
          </p:nvSpPr>
          <p:spPr>
            <a:xfrm>
              <a:off x="0" y="0"/>
              <a:ext cx="6750050" cy="251968"/>
            </a:xfrm>
            <a:custGeom>
              <a:avLst/>
              <a:gdLst/>
              <a:ahLst/>
              <a:cxnLst/>
              <a:rect l="0" t="0" r="0" b="0"/>
              <a:pathLst>
                <a:path w="10630" h="396">
                  <a:moveTo>
                    <a:pt x="0" y="0"/>
                  </a:moveTo>
                  <a:lnTo>
                    <a:pt x="0" y="0"/>
                  </a:lnTo>
                  <a:lnTo>
                    <a:pt x="2979" y="0"/>
                  </a:lnTo>
                  <a:lnTo>
                    <a:pt x="2979" y="0"/>
                  </a:lnTo>
                  <a:lnTo>
                    <a:pt x="2979" y="396"/>
                  </a:lnTo>
                  <a:lnTo>
                    <a:pt x="2979" y="396"/>
                  </a:lnTo>
                  <a:lnTo>
                    <a:pt x="0" y="396"/>
                  </a:lnTo>
                  <a:lnTo>
                    <a:pt x="0" y="396"/>
                  </a:lnTo>
                  <a:lnTo>
                    <a:pt x="0" y="0"/>
                  </a:lnTo>
                  <a:close/>
                </a:path>
                <a:path w="10630" h="396">
                  <a:moveTo>
                    <a:pt x="3073" y="0"/>
                  </a:moveTo>
                  <a:lnTo>
                    <a:pt x="3073" y="0"/>
                  </a:lnTo>
                  <a:lnTo>
                    <a:pt x="6491" y="0"/>
                  </a:lnTo>
                  <a:lnTo>
                    <a:pt x="6491" y="0"/>
                  </a:lnTo>
                  <a:lnTo>
                    <a:pt x="6491" y="396"/>
                  </a:lnTo>
                  <a:lnTo>
                    <a:pt x="6491" y="396"/>
                  </a:lnTo>
                  <a:lnTo>
                    <a:pt x="3073" y="396"/>
                  </a:lnTo>
                  <a:lnTo>
                    <a:pt x="3073" y="396"/>
                  </a:lnTo>
                  <a:lnTo>
                    <a:pt x="3073" y="0"/>
                  </a:lnTo>
                  <a:close/>
                </a:path>
                <a:path w="10630" h="396">
                  <a:moveTo>
                    <a:pt x="6585" y="0"/>
                  </a:moveTo>
                  <a:lnTo>
                    <a:pt x="6585" y="0"/>
                  </a:lnTo>
                  <a:lnTo>
                    <a:pt x="8448" y="0"/>
                  </a:lnTo>
                  <a:lnTo>
                    <a:pt x="8448" y="0"/>
                  </a:lnTo>
                  <a:lnTo>
                    <a:pt x="8448" y="396"/>
                  </a:lnTo>
                  <a:lnTo>
                    <a:pt x="8448" y="396"/>
                  </a:lnTo>
                  <a:lnTo>
                    <a:pt x="6585" y="396"/>
                  </a:lnTo>
                  <a:lnTo>
                    <a:pt x="6585" y="396"/>
                  </a:lnTo>
                  <a:lnTo>
                    <a:pt x="6585" y="0"/>
                  </a:lnTo>
                  <a:close/>
                </a:path>
                <a:path w="10630" h="396">
                  <a:moveTo>
                    <a:pt x="8543" y="0"/>
                  </a:moveTo>
                  <a:lnTo>
                    <a:pt x="8543" y="0"/>
                  </a:lnTo>
                  <a:lnTo>
                    <a:pt x="10630" y="0"/>
                  </a:lnTo>
                  <a:lnTo>
                    <a:pt x="10630" y="0"/>
                  </a:lnTo>
                  <a:lnTo>
                    <a:pt x="10630" y="396"/>
                  </a:lnTo>
                  <a:lnTo>
                    <a:pt x="10630" y="396"/>
                  </a:lnTo>
                  <a:lnTo>
                    <a:pt x="8543" y="396"/>
                  </a:lnTo>
                  <a:lnTo>
                    <a:pt x="8543" y="396"/>
                  </a:lnTo>
                  <a:lnTo>
                    <a:pt x="8543" y="0"/>
                  </a:lnTo>
                  <a:close/>
                </a:path>
              </a:pathLst>
            </a:cu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5" name="textbox 1105"/>
            <p:cNvSpPr/>
            <p:nvPr/>
          </p:nvSpPr>
          <p:spPr>
            <a:xfrm>
              <a:off x="2324557" y="37191"/>
              <a:ext cx="1427480" cy="23685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494665" algn="l" rtl="0" eaLnBrk="0">
                <a:lnSpc>
                  <a:spcPts val="740"/>
                </a:lnSpc>
              </a:pPr>
              <a:r>
                <a:rPr sz="600" spc="1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内容制工</a:t>
              </a:r>
              <a:r>
                <a:rPr sz="60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具</a:t>
              </a:r>
              <a:endParaRPr lang="en-US" altLang="en-US" sz="600" dirty="0"/>
            </a:p>
            <a:p>
              <a:pPr algn="l" rtl="0" eaLnBrk="0">
                <a:lnSpc>
                  <a:spcPct val="186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6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音频</a:t>
              </a:r>
              <a:r>
                <a:rPr sz="6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/视频编辑工具、新闻采编、游戏制作</a:t>
              </a:r>
              <a:endParaRPr lang="en-US" altLang="en-US" sz="600" dirty="0"/>
            </a:p>
          </p:txBody>
        </p:sp>
      </p:grpSp>
      <p:sp>
        <p:nvSpPr>
          <p:cNvPr id="1106" name="textbox 1106"/>
          <p:cNvSpPr/>
          <p:nvPr/>
        </p:nvSpPr>
        <p:spPr>
          <a:xfrm>
            <a:off x="1398269" y="3785616"/>
            <a:ext cx="2924175" cy="252095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300" dirty="0"/>
          </a:p>
          <a:p>
            <a:pPr marL="1150620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个性化市场营</a:t>
            </a:r>
            <a:r>
              <a:rPr sz="60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</a:t>
            </a:r>
            <a:endParaRPr lang="en-US" altLang="en-US" sz="600" dirty="0"/>
          </a:p>
          <a:p>
            <a:pPr algn="l" rtl="0" eaLnBrk="0">
              <a:lnSpc>
                <a:spcPct val="187000"/>
              </a:lnSpc>
            </a:pPr>
            <a:endParaRPr lang="en-US" altLang="en-US" sz="100" dirty="0"/>
          </a:p>
          <a:p>
            <a:pPr marL="586105" algn="l" rtl="0" eaLnBrk="0">
              <a:lnSpc>
                <a:spcPts val="625"/>
              </a:lnSpc>
            </a:pPr>
            <a:r>
              <a:rPr sz="5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广告植入、品牌虚拟形象打造、  各模态营销内</a:t>
            </a:r>
            <a:r>
              <a:rPr sz="50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</a:t>
            </a:r>
            <a:r>
              <a:rPr sz="5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en-US" altLang="en-US" sz="500" dirty="0"/>
          </a:p>
        </p:txBody>
      </p:sp>
      <p:sp>
        <p:nvSpPr>
          <p:cNvPr id="1107" name="textbox 1107"/>
          <p:cNvSpPr/>
          <p:nvPr/>
        </p:nvSpPr>
        <p:spPr>
          <a:xfrm>
            <a:off x="4433315" y="3785616"/>
            <a:ext cx="2610485" cy="252095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300" dirty="0"/>
          </a:p>
          <a:p>
            <a:pPr marL="1126490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数据梳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endParaRPr lang="en-US" altLang="en-US" sz="600" dirty="0"/>
          </a:p>
          <a:p>
            <a:pPr algn="l" rtl="0" eaLnBrk="0">
              <a:lnSpc>
                <a:spcPct val="187000"/>
              </a:lnSpc>
            </a:pPr>
            <a:endParaRPr lang="en-US" altLang="en-US" sz="100" dirty="0"/>
          </a:p>
          <a:p>
            <a:pPr marL="550545" algn="l" rtl="0" eaLnBrk="0">
              <a:lnSpc>
                <a:spcPts val="625"/>
              </a:lnSpc>
            </a:pPr>
            <a:r>
              <a:rPr sz="5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内外部数据分享及更新、数据分析及算法训</a:t>
            </a:r>
            <a:r>
              <a:rPr sz="50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</a:t>
            </a:r>
            <a:endParaRPr lang="en-US" altLang="en-US" sz="500" dirty="0"/>
          </a:p>
        </p:txBody>
      </p:sp>
      <p:sp>
        <p:nvSpPr>
          <p:cNvPr id="1108" name="textbox 1108"/>
          <p:cNvSpPr/>
          <p:nvPr/>
        </p:nvSpPr>
        <p:spPr>
          <a:xfrm>
            <a:off x="1443074" y="1672443"/>
            <a:ext cx="1890395" cy="3568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723265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数据供给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</a:t>
            </a:r>
            <a:endParaRPr lang="en-US" altLang="en-US" sz="600" dirty="0"/>
          </a:p>
          <a:p>
            <a:pPr marL="507365" indent="-453390" algn="l" rtl="0" eaLnBrk="0">
              <a:lnSpc>
                <a:spcPct val="119000"/>
              </a:lnSpc>
              <a:spcBef>
                <a:spcPts val="155"/>
              </a:spcBef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(业务数据联通、素材数据收集等，如第三</a:t>
            </a:r>
            <a:r>
              <a:rPr sz="60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</a:t>
            </a: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 </a:t>
            </a: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销公司、版权图库方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en-US" sz="600" dirty="0"/>
          </a:p>
        </p:txBody>
      </p:sp>
      <p:sp>
        <p:nvSpPr>
          <p:cNvPr id="1109" name="textbox 1109"/>
          <p:cNvSpPr/>
          <p:nvPr/>
        </p:nvSpPr>
        <p:spPr>
          <a:xfrm>
            <a:off x="5634354" y="2032635"/>
            <a:ext cx="2518410" cy="216534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551815" algn="l" rtl="0" eaLnBrk="0">
              <a:lnSpc>
                <a:spcPts val="740"/>
              </a:lnSpc>
              <a:spcBef>
                <a:spcPts val="5"/>
              </a:spcBef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嵌入/结合能力的业务平台/业务生</a:t>
            </a:r>
            <a:r>
              <a:rPr sz="60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</a:t>
            </a:r>
            <a:endParaRPr lang="en-US" altLang="en-US" sz="600" dirty="0"/>
          </a:p>
        </p:txBody>
      </p:sp>
      <p:sp>
        <p:nvSpPr>
          <p:cNvPr id="1110" name="textbox 1110"/>
          <p:cNvSpPr/>
          <p:nvPr/>
        </p:nvSpPr>
        <p:spPr>
          <a:xfrm>
            <a:off x="1388110" y="2033904"/>
            <a:ext cx="2339975" cy="215900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703580" algn="l" rtl="0" eaLnBrk="0">
              <a:lnSpc>
                <a:spcPts val="740"/>
              </a:lnSpc>
              <a:spcBef>
                <a:spcPts val="5"/>
              </a:spcBef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相关算法/模型研究机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</a:t>
            </a:r>
            <a:endParaRPr lang="en-US" altLang="en-US" sz="600" dirty="0"/>
          </a:p>
        </p:txBody>
      </p:sp>
      <p:pic>
        <p:nvPicPr>
          <p:cNvPr id="1111" name="picture 11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63717" y="3151987"/>
            <a:ext cx="1536674" cy="291236"/>
          </a:xfrm>
          <a:prstGeom prst="rect">
            <a:avLst/>
          </a:prstGeom>
        </p:spPr>
      </p:pic>
      <p:sp>
        <p:nvSpPr>
          <p:cNvPr id="1112" name="textbox 1112"/>
          <p:cNvSpPr/>
          <p:nvPr/>
        </p:nvSpPr>
        <p:spPr>
          <a:xfrm>
            <a:off x="3928998" y="2033904"/>
            <a:ext cx="1504314" cy="215900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484505" algn="l" rtl="0" eaLnBrk="0">
              <a:lnSpc>
                <a:spcPts val="740"/>
              </a:lnSpc>
              <a:spcBef>
                <a:spcPts val="5"/>
              </a:spcBef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相关开源算</a:t>
            </a:r>
            <a:r>
              <a:rPr sz="6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</a:t>
            </a:r>
            <a:endParaRPr lang="en-US" altLang="en-US" sz="600" dirty="0"/>
          </a:p>
        </p:txBody>
      </p:sp>
      <p:pic>
        <p:nvPicPr>
          <p:cNvPr id="1113" name="picture 11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08471" y="2792259"/>
            <a:ext cx="2296528" cy="139534"/>
          </a:xfrm>
          <a:prstGeom prst="rect">
            <a:avLst/>
          </a:prstGeom>
        </p:spPr>
      </p:pic>
      <p:pic>
        <p:nvPicPr>
          <p:cNvPr id="1114" name="picture 1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63971" y="2605544"/>
            <a:ext cx="2150821" cy="144005"/>
          </a:xfrm>
          <a:prstGeom prst="rect">
            <a:avLst/>
          </a:prstGeom>
        </p:spPr>
      </p:pic>
      <p:sp>
        <p:nvSpPr>
          <p:cNvPr id="1115" name="textbox 1115"/>
          <p:cNvSpPr/>
          <p:nvPr/>
        </p:nvSpPr>
        <p:spPr>
          <a:xfrm>
            <a:off x="1751922" y="4741107"/>
            <a:ext cx="1884679" cy="1892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100" dirty="0"/>
          </a:p>
        </p:txBody>
      </p:sp>
      <p:sp>
        <p:nvSpPr>
          <p:cNvPr id="1116" name="textbox 1116"/>
          <p:cNvSpPr/>
          <p:nvPr/>
        </p:nvSpPr>
        <p:spPr>
          <a:xfrm>
            <a:off x="7154164" y="3780917"/>
            <a:ext cx="986789" cy="252095"/>
          </a:xfrm>
          <a:prstGeom prst="rect">
            <a:avLst/>
          </a:prstGeom>
          <a:solidFill>
            <a:srgbClr val="0061B4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600" dirty="0"/>
          </a:p>
          <a:p>
            <a:pPr marL="234315" algn="l" rtl="0" eaLnBrk="0">
              <a:lnSpc>
                <a:spcPts val="740"/>
              </a:lnSpc>
              <a:spcBef>
                <a:spcPts val="5"/>
              </a:spcBef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自动实时交</a:t>
            </a:r>
            <a:r>
              <a:rPr sz="60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</a:t>
            </a:r>
            <a:endParaRPr lang="en-US" altLang="en-US" sz="600" dirty="0"/>
          </a:p>
        </p:txBody>
      </p:sp>
      <p:sp>
        <p:nvSpPr>
          <p:cNvPr id="1117" name="textbox 1117"/>
          <p:cNvSpPr/>
          <p:nvPr/>
        </p:nvSpPr>
        <p:spPr>
          <a:xfrm>
            <a:off x="1758924" y="3534771"/>
            <a:ext cx="1167764" cy="236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410210" algn="l" rtl="0" eaLnBrk="0">
              <a:lnSpc>
                <a:spcPts val="740"/>
              </a:lnSpc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内容设</a:t>
            </a:r>
            <a:r>
              <a:rPr sz="60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</a:t>
            </a:r>
            <a:endParaRPr lang="en-US" altLang="en-US" sz="600" dirty="0"/>
          </a:p>
          <a:p>
            <a:pPr algn="l" rtl="0" eaLnBrk="0">
              <a:lnSpc>
                <a:spcPct val="1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6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觉设计、文案设计、结构设计等</a:t>
            </a:r>
            <a:endParaRPr lang="en-US" altLang="en-US" sz="600" dirty="0"/>
          </a:p>
        </p:txBody>
      </p:sp>
      <p:sp>
        <p:nvSpPr>
          <p:cNvPr id="1118" name="textbox 1118"/>
          <p:cNvSpPr/>
          <p:nvPr/>
        </p:nvSpPr>
        <p:spPr>
          <a:xfrm>
            <a:off x="5635211" y="4218390"/>
            <a:ext cx="996950" cy="2476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100" dirty="0"/>
          </a:p>
          <a:p>
            <a:pPr marL="146050" algn="l" rtl="0" eaLnBrk="0">
              <a:lnSpc>
                <a:spcPts val="740"/>
              </a:lnSpc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内容终端生产厂</a:t>
            </a:r>
            <a:r>
              <a:rPr sz="6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</a:t>
            </a:r>
            <a:endParaRPr lang="en-US" altLang="en-US" sz="600" dirty="0"/>
          </a:p>
          <a:p>
            <a:pPr algn="l" rtl="0" eaLnBrk="0">
              <a:lnSpc>
                <a:spcPct val="101000"/>
              </a:lnSpc>
            </a:pPr>
            <a:endParaRPr lang="en-US" altLang="en-US" sz="200" dirty="0"/>
          </a:p>
          <a:p>
            <a:pPr marL="12700" algn="l" rtl="0" eaLnBrk="0">
              <a:lnSpc>
                <a:spcPts val="740"/>
              </a:lnSpc>
            </a:pPr>
            <a:r>
              <a:rPr sz="60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新闻媒体机构、  金融</a:t>
            </a:r>
            <a:r>
              <a:rPr sz="6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</a:t>
            </a: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</a:t>
            </a:r>
            <a:endParaRPr lang="en-US" altLang="en-US" sz="600" dirty="0"/>
          </a:p>
        </p:txBody>
      </p:sp>
      <p:sp>
        <p:nvSpPr>
          <p:cNvPr id="1119" name="textbox 1119"/>
          <p:cNvSpPr/>
          <p:nvPr/>
        </p:nvSpPr>
        <p:spPr>
          <a:xfrm>
            <a:off x="5167001" y="1725783"/>
            <a:ext cx="996950" cy="245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274320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创作者生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态</a:t>
            </a:r>
            <a:endParaRPr lang="en-US" altLang="en-US" sz="600" dirty="0"/>
          </a:p>
          <a:p>
            <a:pPr algn="l" rtl="0" eaLnBrk="0">
              <a:lnSpc>
                <a:spcPct val="101000"/>
              </a:lnSpc>
            </a:pPr>
            <a:endParaRPr lang="en-US" altLang="en-US" sz="200" dirty="0"/>
          </a:p>
          <a:p>
            <a:pPr marL="12700" algn="l" rtl="0" eaLnBrk="0">
              <a:lnSpc>
                <a:spcPts val="740"/>
              </a:lnSpc>
            </a:pPr>
            <a:r>
              <a:rPr sz="6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生物资产及内容素材提</a:t>
            </a:r>
            <a:r>
              <a:rPr sz="60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</a:t>
            </a:r>
            <a:endParaRPr lang="en-US" altLang="en-US" sz="600" dirty="0"/>
          </a:p>
        </p:txBody>
      </p:sp>
      <p:sp>
        <p:nvSpPr>
          <p:cNvPr id="1120" name="textbox 1120"/>
          <p:cNvSpPr/>
          <p:nvPr/>
        </p:nvSpPr>
        <p:spPr>
          <a:xfrm>
            <a:off x="591117" y="4936941"/>
            <a:ext cx="19589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来源：中国信通院，国泰君安证券研究</a:t>
            </a:r>
            <a:endParaRPr lang="en-US" altLang="en-US" sz="800" dirty="0"/>
          </a:p>
        </p:txBody>
      </p:sp>
      <p:sp>
        <p:nvSpPr>
          <p:cNvPr id="1121" name="textbox 1121"/>
          <p:cNvSpPr/>
          <p:nvPr/>
        </p:nvSpPr>
        <p:spPr>
          <a:xfrm>
            <a:off x="4936731" y="2381910"/>
            <a:ext cx="828675" cy="298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359410" indent="-346710" algn="l" rtl="0" eaLnBrk="0">
              <a:lnSpc>
                <a:spcPct val="99000"/>
              </a:lnSpc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赛道初创公 司</a:t>
            </a:r>
            <a:endParaRPr lang="en-US" altLang="en-US" sz="900" dirty="0"/>
          </a:p>
        </p:txBody>
      </p:sp>
      <p:pic>
        <p:nvPicPr>
          <p:cNvPr id="1122" name="picture 11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41084" y="2951810"/>
            <a:ext cx="1191438" cy="167055"/>
          </a:xfrm>
          <a:prstGeom prst="rect">
            <a:avLst/>
          </a:prstGeom>
        </p:spPr>
      </p:pic>
      <p:pic>
        <p:nvPicPr>
          <p:cNvPr id="1123" name="picture 11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55826" y="2859608"/>
            <a:ext cx="1263332" cy="142163"/>
          </a:xfrm>
          <a:prstGeom prst="rect">
            <a:avLst/>
          </a:prstGeom>
        </p:spPr>
      </p:pic>
      <p:pic>
        <p:nvPicPr>
          <p:cNvPr id="1124" name="picture 11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627754" y="3032556"/>
            <a:ext cx="1141222" cy="151587"/>
          </a:xfrm>
          <a:prstGeom prst="rect">
            <a:avLst/>
          </a:prstGeom>
        </p:spPr>
      </p:pic>
      <p:pic>
        <p:nvPicPr>
          <p:cNvPr id="1125" name="picture 11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78145" y="2705112"/>
            <a:ext cx="713511" cy="233159"/>
          </a:xfrm>
          <a:prstGeom prst="rect">
            <a:avLst/>
          </a:prstGeom>
        </p:spPr>
      </p:pic>
      <p:sp>
        <p:nvSpPr>
          <p:cNvPr id="1126" name="textbox 1126"/>
          <p:cNvSpPr/>
          <p:nvPr/>
        </p:nvSpPr>
        <p:spPr>
          <a:xfrm>
            <a:off x="7091426" y="3526516"/>
            <a:ext cx="786765" cy="219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213995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运营增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endParaRPr lang="en-US" altLang="en-US" sz="600" dirty="0"/>
          </a:p>
          <a:p>
            <a:pPr marL="12700" algn="l" rtl="0" eaLnBrk="0">
              <a:lnSpc>
                <a:spcPct val="98000"/>
              </a:lnSpc>
              <a:spcBef>
                <a:spcPts val="80"/>
              </a:spcBef>
            </a:pPr>
            <a:r>
              <a:rPr sz="6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能客服、简单决策等</a:t>
            </a:r>
            <a:endParaRPr lang="en-US" altLang="en-US" sz="600" dirty="0"/>
          </a:p>
        </p:txBody>
      </p:sp>
      <p:sp>
        <p:nvSpPr>
          <p:cNvPr id="1127" name="textbox 1127"/>
          <p:cNvSpPr/>
          <p:nvPr/>
        </p:nvSpPr>
        <p:spPr>
          <a:xfrm>
            <a:off x="1467540" y="2643231"/>
            <a:ext cx="202564" cy="7442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740"/>
              </a:lnSpc>
            </a:pPr>
            <a:r>
              <a:rPr sz="600" spc="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6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endParaRPr lang="en-US" altLang="en-US" sz="600" dirty="0"/>
          </a:p>
          <a:p>
            <a:pPr algn="l" rtl="0" eaLnBrk="0">
              <a:lnSpc>
                <a:spcPct val="118000"/>
              </a:lnSpc>
            </a:pPr>
            <a:endParaRPr lang="en-US" altLang="en-US" sz="300" dirty="0"/>
          </a:p>
          <a:p>
            <a:pPr marL="12700" indent="3810" algn="l" rtl="0" eaLnBrk="0">
              <a:lnSpc>
                <a:spcPct val="208000"/>
              </a:lnSpc>
              <a:spcBef>
                <a:spcPts val="0"/>
              </a:spcBef>
            </a:pPr>
            <a:r>
              <a:rPr sz="6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sz="600" spc="7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</a:t>
            </a:r>
            <a:r>
              <a:rPr sz="6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spc="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6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r>
              <a:rPr sz="6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spc="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6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endParaRPr lang="en-US" altLang="en-US" sz="600" dirty="0"/>
          </a:p>
        </p:txBody>
      </p:sp>
      <p:sp>
        <p:nvSpPr>
          <p:cNvPr id="1128" name="textbox 1128"/>
          <p:cNvSpPr/>
          <p:nvPr/>
        </p:nvSpPr>
        <p:spPr>
          <a:xfrm>
            <a:off x="5862421" y="3534771"/>
            <a:ext cx="623569" cy="2374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635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周边售</a:t>
            </a:r>
            <a:r>
              <a:rPr sz="6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</a:t>
            </a:r>
            <a:endParaRPr lang="en-US" altLang="en-US" sz="600" dirty="0"/>
          </a:p>
          <a:p>
            <a:pPr algn="l" rtl="0" eaLnBrk="0">
              <a:lnSpc>
                <a:spcPct val="1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NFT</a:t>
            </a:r>
            <a:r>
              <a:rPr sz="6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个性化产品</a:t>
            </a: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en-US" sz="600" dirty="0"/>
          </a:p>
        </p:txBody>
      </p:sp>
      <p:sp>
        <p:nvSpPr>
          <p:cNvPr id="1129" name="textbox 1129"/>
          <p:cNvSpPr/>
          <p:nvPr/>
        </p:nvSpPr>
        <p:spPr>
          <a:xfrm>
            <a:off x="2645575" y="2388069"/>
            <a:ext cx="942339" cy="1631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垂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直赛道初创公司</a:t>
            </a:r>
            <a:endParaRPr lang="en-US" altLang="en-US" sz="900" dirty="0"/>
          </a:p>
        </p:txBody>
      </p:sp>
      <p:pic>
        <p:nvPicPr>
          <p:cNvPr id="1130" name="picture 11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460615" y="3195142"/>
            <a:ext cx="679704" cy="167055"/>
          </a:xfrm>
          <a:prstGeom prst="rect">
            <a:avLst/>
          </a:prstGeom>
        </p:spPr>
      </p:pic>
      <p:pic>
        <p:nvPicPr>
          <p:cNvPr id="1131" name="picture 11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687956" y="3236582"/>
            <a:ext cx="760818" cy="131838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696847" y="2609862"/>
            <a:ext cx="647928" cy="143497"/>
          </a:xfrm>
          <a:prstGeom prst="rect">
            <a:avLst/>
          </a:prstGeom>
        </p:spPr>
      </p:pic>
      <p:pic>
        <p:nvPicPr>
          <p:cNvPr id="1133" name="picture 11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484882" y="3236582"/>
            <a:ext cx="699389" cy="131838"/>
          </a:xfrm>
          <a:prstGeom prst="rect">
            <a:avLst/>
          </a:prstGeom>
        </p:spPr>
      </p:pic>
      <p:pic>
        <p:nvPicPr>
          <p:cNvPr id="1134" name="picture 11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859525" y="2959811"/>
            <a:ext cx="520471" cy="162102"/>
          </a:xfrm>
          <a:prstGeom prst="rect">
            <a:avLst/>
          </a:prstGeom>
        </p:spPr>
      </p:pic>
      <p:pic>
        <p:nvPicPr>
          <p:cNvPr id="1135" name="picture 11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228591" y="2588094"/>
            <a:ext cx="534847" cy="139230"/>
          </a:xfrm>
          <a:prstGeom prst="rect">
            <a:avLst/>
          </a:prstGeom>
        </p:spPr>
      </p:pic>
      <p:sp>
        <p:nvSpPr>
          <p:cNvPr id="1136" name="textbox 1136"/>
          <p:cNvSpPr/>
          <p:nvPr/>
        </p:nvSpPr>
        <p:spPr>
          <a:xfrm>
            <a:off x="1114172" y="1818621"/>
            <a:ext cx="203200" cy="4165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marL="12700" indent="4445" algn="l" rtl="0" eaLnBrk="0">
              <a:lnSpc>
                <a:spcPct val="92000"/>
              </a:lnSpc>
            </a:pPr>
            <a:r>
              <a:rPr sz="1400" spc="-4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14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</a:t>
            </a:r>
            <a:endParaRPr lang="en-US" altLang="en-US" sz="1400" dirty="0"/>
          </a:p>
        </p:txBody>
      </p:sp>
      <p:pic>
        <p:nvPicPr>
          <p:cNvPr id="1137" name="picture 11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694052" y="3049291"/>
            <a:ext cx="549922" cy="118469"/>
          </a:xfrm>
          <a:prstGeom prst="rect">
            <a:avLst/>
          </a:prstGeom>
        </p:spPr>
      </p:pic>
      <p:sp>
        <p:nvSpPr>
          <p:cNvPr id="1138" name="textbox 1138"/>
          <p:cNvSpPr/>
          <p:nvPr/>
        </p:nvSpPr>
        <p:spPr>
          <a:xfrm>
            <a:off x="1114172" y="3049898"/>
            <a:ext cx="203200" cy="4121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indent="10160" algn="l" rtl="0" eaLnBrk="0">
              <a:lnSpc>
                <a:spcPct val="91000"/>
              </a:lnSpc>
            </a:pPr>
            <a:r>
              <a:rPr sz="1400" spc="-9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</a:t>
            </a:r>
            <a:endParaRPr lang="en-US" altLang="en-US" sz="1400" dirty="0"/>
          </a:p>
        </p:txBody>
      </p:sp>
      <p:sp>
        <p:nvSpPr>
          <p:cNvPr id="1139" name="textbox 1139"/>
          <p:cNvSpPr/>
          <p:nvPr/>
        </p:nvSpPr>
        <p:spPr>
          <a:xfrm>
            <a:off x="1133680" y="4321219"/>
            <a:ext cx="203200" cy="4121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lang="en-US" altLang="en-US" sz="100" dirty="0"/>
          </a:p>
          <a:p>
            <a:pPr marL="12700" indent="3810" algn="l" rtl="0" eaLnBrk="0">
              <a:lnSpc>
                <a:spcPct val="91000"/>
              </a:lnSpc>
            </a:pPr>
            <a:r>
              <a:rPr sz="1400" spc="-4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sz="14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-1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</a:t>
            </a:r>
            <a:endParaRPr lang="en-US" altLang="en-US" sz="1400" dirty="0"/>
          </a:p>
        </p:txBody>
      </p:sp>
      <p:pic>
        <p:nvPicPr>
          <p:cNvPr id="1140" name="picture 114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327529" y="3045629"/>
            <a:ext cx="492188" cy="123148"/>
          </a:xfrm>
          <a:prstGeom prst="rect">
            <a:avLst/>
          </a:prstGeom>
        </p:spPr>
      </p:pic>
      <p:sp>
        <p:nvSpPr>
          <p:cNvPr id="1141" name="textbox 1141"/>
          <p:cNvSpPr/>
          <p:nvPr/>
        </p:nvSpPr>
        <p:spPr>
          <a:xfrm>
            <a:off x="4233517" y="4274470"/>
            <a:ext cx="650875" cy="120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第三方分发渠</a:t>
            </a:r>
            <a:r>
              <a:rPr sz="60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</a:t>
            </a:r>
            <a:endParaRPr lang="en-US" altLang="en-US" sz="600" dirty="0"/>
          </a:p>
        </p:txBody>
      </p:sp>
      <p:pic>
        <p:nvPicPr>
          <p:cNvPr id="1142" name="picture 11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713988" y="3233361"/>
            <a:ext cx="534847" cy="107881"/>
          </a:xfrm>
          <a:prstGeom prst="rect">
            <a:avLst/>
          </a:prstGeom>
        </p:spPr>
      </p:pic>
      <p:pic>
        <p:nvPicPr>
          <p:cNvPr id="1143" name="picture 114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498977" y="2522209"/>
            <a:ext cx="668515" cy="85100"/>
          </a:xfrm>
          <a:prstGeom prst="rect">
            <a:avLst/>
          </a:prstGeom>
        </p:spPr>
      </p:pic>
      <p:sp>
        <p:nvSpPr>
          <p:cNvPr id="1144" name="textbox 1144"/>
          <p:cNvSpPr/>
          <p:nvPr/>
        </p:nvSpPr>
        <p:spPr>
          <a:xfrm>
            <a:off x="6552183" y="2415438"/>
            <a:ext cx="485140" cy="1593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他机构</a:t>
            </a:r>
            <a:endParaRPr lang="en-US" altLang="en-US" sz="900" dirty="0"/>
          </a:p>
        </p:txBody>
      </p:sp>
      <p:sp>
        <p:nvSpPr>
          <p:cNvPr id="1145" name="textbox 1145"/>
          <p:cNvSpPr/>
          <p:nvPr/>
        </p:nvSpPr>
        <p:spPr>
          <a:xfrm>
            <a:off x="3140732" y="4553972"/>
            <a:ext cx="605790" cy="120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740"/>
              </a:lnSpc>
            </a:pPr>
            <a:r>
              <a:rPr sz="6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600" spc="1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内容检</a:t>
            </a:r>
            <a:r>
              <a:rPr sz="60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</a:t>
            </a:r>
            <a:endParaRPr lang="en-US" altLang="en-US" sz="600" dirty="0"/>
          </a:p>
        </p:txBody>
      </p:sp>
      <p:pic>
        <p:nvPicPr>
          <p:cNvPr id="1146" name="picture 114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020822" y="2603875"/>
            <a:ext cx="420763" cy="119385"/>
          </a:xfrm>
          <a:prstGeom prst="rect">
            <a:avLst/>
          </a:prstGeom>
        </p:spPr>
      </p:pic>
      <p:pic>
        <p:nvPicPr>
          <p:cNvPr id="1147" name="picture 114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498977" y="2686258"/>
            <a:ext cx="673786" cy="72943"/>
          </a:xfrm>
          <a:prstGeom prst="rect">
            <a:avLst/>
          </a:prstGeom>
        </p:spPr>
      </p:pic>
      <p:pic>
        <p:nvPicPr>
          <p:cNvPr id="1148" name="picture 114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986151" y="2887244"/>
            <a:ext cx="486384" cy="86714"/>
          </a:xfrm>
          <a:prstGeom prst="rect">
            <a:avLst/>
          </a:prstGeom>
        </p:spPr>
      </p:pic>
      <p:sp>
        <p:nvSpPr>
          <p:cNvPr id="1149" name="textbox 1149"/>
          <p:cNvSpPr/>
          <p:nvPr/>
        </p:nvSpPr>
        <p:spPr>
          <a:xfrm>
            <a:off x="7376000" y="4274470"/>
            <a:ext cx="472440" cy="120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740"/>
              </a:lnSpc>
            </a:pPr>
            <a:r>
              <a:rPr sz="6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消费品厂</a:t>
            </a:r>
            <a:r>
              <a:rPr sz="6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</a:t>
            </a:r>
            <a:endParaRPr lang="en-US" altLang="en-US" sz="600" dirty="0"/>
          </a:p>
        </p:txBody>
      </p:sp>
      <p:sp>
        <p:nvSpPr>
          <p:cNvPr id="1150" name="textbox 1150"/>
          <p:cNvSpPr/>
          <p:nvPr/>
        </p:nvSpPr>
        <p:spPr>
          <a:xfrm>
            <a:off x="3288995" y="3217265"/>
            <a:ext cx="450215" cy="1149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6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600" spc="4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</a:t>
            </a:r>
            <a:r>
              <a:rPr sz="600" spc="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lang="en-US" altLang="en-US" sz="600" dirty="0"/>
          </a:p>
        </p:txBody>
      </p:sp>
      <p:sp>
        <p:nvSpPr>
          <p:cNvPr id="1151" name="textbox 1151"/>
          <p:cNvSpPr/>
          <p:nvPr/>
        </p:nvSpPr>
        <p:spPr>
          <a:xfrm>
            <a:off x="2403493" y="2730556"/>
            <a:ext cx="540384" cy="882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95"/>
              </a:lnSpc>
            </a:pPr>
            <a:r>
              <a:rPr sz="3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彩云小梦         赅</a:t>
            </a:r>
            <a:r>
              <a:rPr sz="3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</a:t>
            </a:r>
            <a:r>
              <a:rPr sz="3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endParaRPr lang="en-US" altLang="en-US" sz="300" dirty="0"/>
          </a:p>
        </p:txBody>
      </p:sp>
      <p:pic>
        <p:nvPicPr>
          <p:cNvPr id="1152" name="picture 115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726563" y="2593505"/>
            <a:ext cx="222440" cy="131533"/>
          </a:xfrm>
          <a:prstGeom prst="rect">
            <a:avLst/>
          </a:prstGeom>
        </p:spPr>
      </p:pic>
      <p:pic>
        <p:nvPicPr>
          <p:cNvPr id="1153" name="picture 115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2427097" y="2590126"/>
            <a:ext cx="206159" cy="139230"/>
          </a:xfrm>
          <a:prstGeom prst="rect">
            <a:avLst/>
          </a:prstGeom>
        </p:spPr>
      </p:pic>
      <p:sp>
        <p:nvSpPr>
          <p:cNvPr id="1154" name="textbox 1154"/>
          <p:cNvSpPr/>
          <p:nvPr/>
        </p:nvSpPr>
        <p:spPr>
          <a:xfrm>
            <a:off x="3578802" y="2774371"/>
            <a:ext cx="508000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香侬慧语 -火龙果写</a:t>
            </a:r>
            <a:r>
              <a:rPr sz="3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300" dirty="0"/>
          </a:p>
        </p:txBody>
      </p:sp>
      <p:sp>
        <p:nvSpPr>
          <p:cNvPr id="1155" name="textbox 1155"/>
          <p:cNvSpPr/>
          <p:nvPr/>
        </p:nvSpPr>
        <p:spPr>
          <a:xfrm>
            <a:off x="3578953" y="2614097"/>
            <a:ext cx="508000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秘塔科技 -秘塔写作</a:t>
            </a:r>
            <a:r>
              <a:rPr sz="30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猫</a:t>
            </a:r>
            <a:endParaRPr lang="en-US" altLang="en-US" sz="300" dirty="0"/>
          </a:p>
        </p:txBody>
      </p:sp>
      <p:sp>
        <p:nvSpPr>
          <p:cNvPr id="1156" name="textbox 1156"/>
          <p:cNvSpPr/>
          <p:nvPr/>
        </p:nvSpPr>
        <p:spPr>
          <a:xfrm>
            <a:off x="4293020" y="2743002"/>
            <a:ext cx="407034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黑狐科技 -写作</a:t>
            </a:r>
            <a:r>
              <a:rPr sz="3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狐</a:t>
            </a:r>
            <a:endParaRPr lang="en-US" altLang="en-US" sz="300" dirty="0"/>
          </a:p>
        </p:txBody>
      </p:sp>
      <p:sp>
        <p:nvSpPr>
          <p:cNvPr id="1157" name="textbox 1157"/>
          <p:cNvSpPr/>
          <p:nvPr/>
        </p:nvSpPr>
        <p:spPr>
          <a:xfrm>
            <a:off x="3288891" y="3075412"/>
            <a:ext cx="203834" cy="12001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740"/>
              </a:lnSpc>
            </a:pPr>
            <a:r>
              <a:rPr sz="600" spc="11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</a:t>
            </a:r>
            <a:r>
              <a:rPr sz="6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戏</a:t>
            </a:r>
            <a:endParaRPr lang="en-US" altLang="en-US" sz="600" dirty="0"/>
          </a:p>
        </p:txBody>
      </p:sp>
      <p:sp>
        <p:nvSpPr>
          <p:cNvPr id="1158" name="textbox 1158"/>
          <p:cNvSpPr/>
          <p:nvPr/>
        </p:nvSpPr>
        <p:spPr>
          <a:xfrm>
            <a:off x="1884595" y="3363017"/>
            <a:ext cx="282575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灵动音科</a:t>
            </a: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endParaRPr lang="en-US" altLang="en-US" sz="300" dirty="0"/>
          </a:p>
        </p:txBody>
      </p:sp>
      <p:sp>
        <p:nvSpPr>
          <p:cNvPr id="1160" name="path"/>
          <p:cNvSpPr/>
          <p:nvPr/>
        </p:nvSpPr>
        <p:spPr>
          <a:xfrm>
            <a:off x="5767006" y="2457056"/>
            <a:ext cx="12191" cy="982751"/>
          </a:xfrm>
          <a:custGeom>
            <a:avLst/>
            <a:gdLst/>
            <a:ahLst/>
            <a:cxnLst/>
            <a:rect l="0" t="0" r="0" b="0"/>
            <a:pathLst>
              <a:path w="19" h="1547">
                <a:moveTo>
                  <a:pt x="11" y="0"/>
                </a:moveTo>
                <a:lnTo>
                  <a:pt x="7" y="1547"/>
                </a:lnTo>
              </a:path>
            </a:pathLst>
          </a:custGeom>
          <a:noFill/>
          <a:ln w="9525" cap="flat">
            <a:solidFill>
              <a:srgbClr val="004C97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1" name="textbox 1161"/>
          <p:cNvSpPr/>
          <p:nvPr/>
        </p:nvSpPr>
        <p:spPr>
          <a:xfrm>
            <a:off x="3115304" y="2727127"/>
            <a:ext cx="231140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智搜科</a:t>
            </a: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endParaRPr lang="en-US" altLang="en-US" sz="300" dirty="0"/>
          </a:p>
        </p:txBody>
      </p:sp>
      <p:sp>
        <p:nvSpPr>
          <p:cNvPr id="1162" name="textbox 1162"/>
          <p:cNvSpPr/>
          <p:nvPr/>
        </p:nvSpPr>
        <p:spPr>
          <a:xfrm>
            <a:off x="2452359" y="2977698"/>
            <a:ext cx="230504" cy="793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20"/>
              </a:lnSpc>
            </a:pPr>
            <a:r>
              <a:rPr sz="3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诗云科</a:t>
            </a:r>
            <a:r>
              <a:rPr sz="3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endParaRPr lang="en-US" altLang="en-US" sz="300" dirty="0"/>
          </a:p>
        </p:txBody>
      </p:sp>
      <p:sp>
        <p:nvSpPr>
          <p:cNvPr id="1163" name="rect"/>
          <p:cNvSpPr/>
          <p:nvPr/>
        </p:nvSpPr>
        <p:spPr>
          <a:xfrm>
            <a:off x="4875720" y="2453385"/>
            <a:ext cx="9525" cy="982726"/>
          </a:xfrm>
          <a:prstGeom prst="rect">
            <a:avLst/>
          </a:prstGeom>
          <a:solidFill>
            <a:srgbClr val="004C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picture 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aphicFrame>
        <p:nvGraphicFramePr>
          <p:cNvPr id="365" name="table 365"/>
          <p:cNvGraphicFramePr>
            <a:graphicFrameLocks noGrp="1"/>
          </p:cNvGraphicFramePr>
          <p:nvPr/>
        </p:nvGraphicFramePr>
        <p:xfrm>
          <a:off x="518794" y="1473708"/>
          <a:ext cx="8307704" cy="2976238"/>
        </p:xfrm>
        <a:graphic>
          <a:graphicData uri="http://schemas.openxmlformats.org/drawingml/2006/table">
            <a:tbl>
              <a:tblPr/>
              <a:tblGrid>
                <a:gridCol w="1532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marL="515620" algn="l" rtl="0" eaLnBrk="0">
                        <a:lnSpc>
                          <a:spcPts val="1155"/>
                        </a:lnSpc>
                      </a:pPr>
                      <a:r>
                        <a:rPr sz="90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公司名</a:t>
                      </a:r>
                      <a:r>
                        <a:rPr sz="90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称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marL="1625600" algn="l" rtl="0" eaLnBrk="0">
                        <a:lnSpc>
                          <a:spcPts val="1155"/>
                        </a:lnSpc>
                      </a:pPr>
                      <a:r>
                        <a:rPr sz="90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</a:t>
                      </a:r>
                      <a:r>
                        <a:rPr sz="9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AIGC</a:t>
                      </a:r>
                      <a:r>
                        <a:rPr sz="90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</a:t>
                      </a:r>
                      <a:r>
                        <a:rPr sz="900" spc="1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品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marL="1091565" algn="l" rtl="0" eaLnBrk="0">
                        <a:lnSpc>
                          <a:spcPts val="1155"/>
                        </a:lnSpc>
                      </a:pPr>
                      <a:r>
                        <a:rPr sz="90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产品领</a:t>
                      </a:r>
                      <a:r>
                        <a:rPr sz="9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域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marL="54673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OpenA</a:t>
                      </a:r>
                      <a:r>
                        <a:rPr sz="9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1531620" algn="l" rtl="0" eaLnBrk="0">
                        <a:lnSpc>
                          <a:spcPts val="1120"/>
                        </a:lnSpc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</a:t>
                      </a: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-3、 </a:t>
                      </a:r>
                      <a:r>
                        <a:rPr sz="90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ChatGPT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1028700" algn="l" rtl="0" eaLnBrk="0">
                        <a:lnSpc>
                          <a:spcPts val="1160"/>
                        </a:lnSpc>
                      </a:pPr>
                      <a:r>
                        <a:rPr sz="90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文本、图</a:t>
                      </a:r>
                      <a:r>
                        <a:rPr sz="9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45402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Stability</a:t>
                      </a:r>
                      <a:r>
                        <a:rPr sz="900" spc="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112520" algn="l" rtl="0" eaLnBrk="0">
                        <a:lnSpc>
                          <a:spcPts val="1265"/>
                        </a:lnSpc>
                        <a:spcBef>
                          <a:spcPts val="0"/>
                        </a:spcBef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Stable</a:t>
                      </a:r>
                      <a:r>
                        <a:rPr sz="90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Diffusion</a:t>
                      </a:r>
                      <a:r>
                        <a:rPr sz="90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  </a:t>
                      </a:r>
                      <a:r>
                        <a:rPr sz="9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Dreamstudio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034415" algn="l" rtl="0" eaLnBrk="0">
                        <a:lnSpc>
                          <a:spcPts val="1150"/>
                        </a:lnSpc>
                        <a:spcBef>
                          <a:spcPts val="0"/>
                        </a:spcBef>
                      </a:pPr>
                      <a:r>
                        <a:rPr sz="9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图片、音</a:t>
                      </a:r>
                      <a:r>
                        <a:rPr sz="9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43370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Midjourn</a:t>
                      </a:r>
                      <a:r>
                        <a:rPr sz="9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70497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Midjourn</a:t>
                      </a:r>
                      <a:r>
                        <a:rPr sz="9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226820" algn="l" rtl="0" eaLnBrk="0">
                        <a:lnSpc>
                          <a:spcPts val="1160"/>
                        </a:lnSpc>
                        <a:spcBef>
                          <a:spcPts val="0"/>
                        </a:spcBef>
                      </a:pPr>
                      <a:r>
                        <a:rPr sz="90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</a:t>
                      </a:r>
                      <a:r>
                        <a:rPr sz="90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5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581660" algn="l" rtl="0" eaLnBrk="0">
                        <a:lnSpc>
                          <a:spcPct val="98000"/>
                        </a:lnSpc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Jaspe</a:t>
                      </a:r>
                      <a:r>
                        <a:rPr sz="9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1851025" algn="l" rtl="0" eaLnBrk="0">
                        <a:lnSpc>
                          <a:spcPct val="98000"/>
                        </a:lnSpc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Jaspe</a:t>
                      </a:r>
                      <a:r>
                        <a:rPr sz="90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220470" algn="l" rtl="0" eaLnBrk="0">
                        <a:lnSpc>
                          <a:spcPts val="1160"/>
                        </a:lnSpc>
                        <a:spcBef>
                          <a:spcPts val="0"/>
                        </a:spcBef>
                      </a:pPr>
                      <a:r>
                        <a:rPr sz="9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r>
                        <a:rPr sz="9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567690" algn="l" rtl="0" eaLnBrk="0">
                        <a:lnSpc>
                          <a:spcPct val="98000"/>
                        </a:lnSpc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Copi</a:t>
                      </a:r>
                      <a:r>
                        <a:rPr sz="9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1838960" algn="l" rtl="0" eaLnBrk="0">
                        <a:lnSpc>
                          <a:spcPct val="98000"/>
                        </a:lnSpc>
                      </a:pP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Copi</a:t>
                      </a:r>
                      <a:r>
                        <a:rPr sz="90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.</a:t>
                      </a:r>
                      <a:r>
                        <a:rPr sz="9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220470" algn="l" rtl="0" eaLnBrk="0">
                        <a:lnSpc>
                          <a:spcPts val="1160"/>
                        </a:lnSpc>
                        <a:spcBef>
                          <a:spcPts val="5"/>
                        </a:spcBef>
                      </a:pPr>
                      <a:r>
                        <a:rPr sz="9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r>
                        <a:rPr sz="9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8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450850" algn="l" rtl="0" eaLnBrk="0">
                        <a:lnSpc>
                          <a:spcPct val="97000"/>
                        </a:lnSpc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Copysmit</a:t>
                      </a:r>
                      <a:r>
                        <a:rPr sz="9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lang="en-US" altLang="en-US" sz="100" dirty="0"/>
                    </a:p>
                    <a:p>
                      <a:pPr marL="1722120" algn="l" rtl="0" eaLnBrk="0">
                        <a:lnSpc>
                          <a:spcPct val="97000"/>
                        </a:lnSpc>
                      </a:pPr>
                      <a:r>
                        <a:rPr sz="90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Copysmit</a:t>
                      </a:r>
                      <a:r>
                        <a:rPr sz="90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1000" dirty="0"/>
                    </a:p>
                    <a:p>
                      <a:pPr marL="1220470" algn="l" rtl="0" eaLnBrk="0">
                        <a:lnSpc>
                          <a:spcPts val="1160"/>
                        </a:lnSpc>
                        <a:spcBef>
                          <a:spcPts val="5"/>
                        </a:spcBef>
                      </a:pPr>
                      <a:r>
                        <a:rPr sz="90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</a:t>
                      </a:r>
                      <a:r>
                        <a:rPr sz="90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</a:t>
                      </a:r>
                      <a:endParaRPr lang="en-US" altLang="en-US" sz="9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6" name="textbox 366"/>
          <p:cNvSpPr/>
          <p:nvPr/>
        </p:nvSpPr>
        <p:spPr>
          <a:xfrm>
            <a:off x="837138" y="124277"/>
            <a:ext cx="7977505" cy="6350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2000" b="1" spc="0" dirty="0" err="1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10" dirty="0" err="1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创业</a:t>
            </a:r>
            <a:r>
              <a:rPr sz="2000" spc="0" dirty="0" err="1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公司大比拼</a:t>
            </a:r>
            <a:endParaRPr lang="en-US" altLang="en-US" sz="2000" dirty="0"/>
          </a:p>
        </p:txBody>
      </p:sp>
      <p:sp>
        <p:nvSpPr>
          <p:cNvPr id="367" name="textbox 367"/>
          <p:cNvSpPr/>
          <p:nvPr/>
        </p:nvSpPr>
        <p:spPr>
          <a:xfrm>
            <a:off x="310832" y="4529118"/>
            <a:ext cx="8250555" cy="4044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278765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来源：各公司官网，国泰君安证券研究</a:t>
            </a:r>
            <a:endParaRPr lang="en-US" altLang="en-US" sz="800" dirty="0"/>
          </a:p>
          <a:p>
            <a:pPr algn="l" rtl="0" eaLnBrk="0">
              <a:lnSpc>
                <a:spcPct val="111000"/>
              </a:lnSpc>
            </a:pPr>
            <a:endParaRPr lang="en-US" altLang="en-US" sz="500" dirty="0"/>
          </a:p>
        </p:txBody>
      </p:sp>
      <p:sp>
        <p:nvSpPr>
          <p:cNvPr id="369" name="textbox 369"/>
          <p:cNvSpPr/>
          <p:nvPr/>
        </p:nvSpPr>
        <p:spPr>
          <a:xfrm>
            <a:off x="481506" y="1197369"/>
            <a:ext cx="6162675" cy="3943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l" rtl="0" eaLnBrk="0">
              <a:lnSpc>
                <a:spcPct val="126000"/>
              </a:lnSpc>
            </a:pPr>
            <a:endParaRPr lang="en-US" altLang="en-US" sz="300" dirty="0"/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9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表2 ：国外创业公司涉及的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AIGC产品领域十分丰富，相关应用日渐成熟</a:t>
            </a:r>
            <a:endParaRPr lang="en-US" altLang="en-US" sz="900" dirty="0"/>
          </a:p>
        </p:txBody>
      </p:sp>
      <p:pic>
        <p:nvPicPr>
          <p:cNvPr id="370" name="picture 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7387" y="1066800"/>
            <a:ext cx="88239" cy="100584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0" y="411531"/>
            <a:ext cx="755581" cy="432003"/>
            <a:chOff x="0" y="0"/>
            <a:chExt cx="755581" cy="432003"/>
          </a:xfrm>
        </p:grpSpPr>
        <p:sp>
          <p:nvSpPr>
            <p:cNvPr id="371" name="path"/>
            <p:cNvSpPr/>
            <p:nvPr/>
          </p:nvSpPr>
          <p:spPr>
            <a:xfrm>
              <a:off x="0" y="0"/>
              <a:ext cx="755581" cy="432003"/>
            </a:xfrm>
            <a:custGeom>
              <a:avLst/>
              <a:gdLst/>
              <a:ahLst/>
              <a:cxnLst/>
              <a:rect l="0" t="0" r="0" b="0"/>
              <a:pathLst>
                <a:path w="1189" h="680">
                  <a:moveTo>
                    <a:pt x="0" y="680"/>
                  </a:moveTo>
                  <a:lnTo>
                    <a:pt x="1077" y="680"/>
                  </a:lnTo>
                  <a:lnTo>
                    <a:pt x="1077" y="0"/>
                  </a:lnTo>
                  <a:lnTo>
                    <a:pt x="0" y="0"/>
                  </a:lnTo>
                  <a:lnTo>
                    <a:pt x="0" y="680"/>
                  </a:lnTo>
                  <a:close/>
                </a:path>
                <a:path w="1189" h="680">
                  <a:moveTo>
                    <a:pt x="1121" y="680"/>
                  </a:moveTo>
                  <a:lnTo>
                    <a:pt x="1189" y="680"/>
                  </a:lnTo>
                  <a:lnTo>
                    <a:pt x="1189" y="0"/>
                  </a:lnTo>
                  <a:lnTo>
                    <a:pt x="1121" y="0"/>
                  </a:lnTo>
                  <a:lnTo>
                    <a:pt x="1121" y="680"/>
                  </a:lnTo>
                  <a:close/>
                </a:path>
              </a:pathLst>
            </a:custGeom>
            <a:solidFill>
              <a:srgbClr val="0677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72" name="textbox 372"/>
            <p:cNvSpPr/>
            <p:nvPr/>
          </p:nvSpPr>
          <p:spPr>
            <a:xfrm>
              <a:off x="-12700" y="-12700"/>
              <a:ext cx="781050" cy="5505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6050" algn="l" rtl="0" eaLnBrk="0">
                <a:lnSpc>
                  <a:spcPct val="80000"/>
                </a:lnSpc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altLang="zh-CN"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3738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picture 1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325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6" name="textbox 1326"/>
          <p:cNvSpPr/>
          <p:nvPr/>
        </p:nvSpPr>
        <p:spPr>
          <a:xfrm>
            <a:off x="-12700" y="124277"/>
            <a:ext cx="8827134" cy="16979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3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3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文本生成技术商业化落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有望优势先发</a:t>
            </a:r>
            <a:endParaRPr lang="en-US" altLang="en-US" sz="2000" dirty="0"/>
          </a:p>
          <a:p>
            <a:pPr marL="448310" algn="l" rtl="0" eaLnBrk="0">
              <a:lnSpc>
                <a:spcPct val="151000"/>
              </a:lnSpc>
              <a:spcBef>
                <a:spcPts val="1025"/>
              </a:spcBef>
              <a:tabLst>
                <a:tab pos="53594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文本领域预训练大模型技术成熟，文本领域细分垂类较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多，产品数量居首位，模型数量发展超过其他模态技术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数字内容中，文字模态数据远大于图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/视频/音频等，发展前景相对较大</a:t>
            </a:r>
            <a:endParaRPr lang="en-US" altLang="en-US" sz="1200" dirty="0"/>
          </a:p>
          <a:p>
            <a:pPr algn="l" rtl="0" eaLnBrk="0">
              <a:lnSpc>
                <a:spcPct val="105000"/>
              </a:lnSpc>
            </a:pPr>
            <a:endParaRPr lang="en-US" altLang="en-US" sz="600" dirty="0"/>
          </a:p>
          <a:p>
            <a:pPr marL="448310" algn="l" rtl="0" eaLnBrk="0">
              <a:lnSpc>
                <a:spcPct val="100000"/>
              </a:lnSpc>
              <a:spcBef>
                <a:spcPts val="5"/>
              </a:spcBef>
              <a:tabLst>
                <a:tab pos="53657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5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-3的文字生成功能已嵌入如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Writesonic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Conversion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Copysmith</a:t>
            </a:r>
            <a:r>
              <a:rPr sz="1200" spc="5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等软件中，商业化前景相</a:t>
            </a:r>
            <a:r>
              <a:rPr sz="1200" spc="3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</a:t>
            </a:r>
            <a:endParaRPr lang="en-US" altLang="en-US" sz="1200" dirty="0"/>
          </a:p>
        </p:txBody>
      </p:sp>
      <p:pic>
        <p:nvPicPr>
          <p:cNvPr id="1327" name="picture 13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5584" y="1650290"/>
            <a:ext cx="88416" cy="100785"/>
          </a:xfrm>
          <a:prstGeom prst="rect">
            <a:avLst/>
          </a:prstGeom>
        </p:spPr>
      </p:pic>
      <p:pic>
        <p:nvPicPr>
          <p:cNvPr id="1328" name="picture 1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5559" y="1375917"/>
            <a:ext cx="88239" cy="100584"/>
          </a:xfrm>
          <a:prstGeom prst="rect">
            <a:avLst/>
          </a:prstGeom>
        </p:spPr>
      </p:pic>
      <p:pic>
        <p:nvPicPr>
          <p:cNvPr id="1329" name="picture 13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5559" y="1101597"/>
            <a:ext cx="88239" cy="100584"/>
          </a:xfrm>
          <a:prstGeom prst="rect">
            <a:avLst/>
          </a:prstGeom>
        </p:spPr>
      </p:pic>
      <p:sp>
        <p:nvSpPr>
          <p:cNvPr id="1330" name="path"/>
          <p:cNvSpPr/>
          <p:nvPr/>
        </p:nvSpPr>
        <p:spPr>
          <a:xfrm>
            <a:off x="6018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31" name="picture 13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48327" y="2545651"/>
            <a:ext cx="4092956" cy="1685289"/>
          </a:xfrm>
          <a:prstGeom prst="rect">
            <a:avLst/>
          </a:prstGeom>
        </p:spPr>
      </p:pic>
      <p:sp>
        <p:nvSpPr>
          <p:cNvPr id="1332" name="textbox 1332"/>
          <p:cNvSpPr/>
          <p:nvPr/>
        </p:nvSpPr>
        <p:spPr>
          <a:xfrm>
            <a:off x="459744" y="2366549"/>
            <a:ext cx="2520950" cy="18719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45085" algn="l" rtl="0" eaLnBrk="0">
              <a:lnSpc>
                <a:spcPts val="1150"/>
              </a:lnSpc>
              <a:tabLst>
                <a:tab pos="130175" algn="l"/>
              </a:tabLst>
            </a:pP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9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文本易于获</a:t>
            </a:r>
            <a:r>
              <a:rPr sz="900" spc="8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</a:t>
            </a:r>
            <a:endParaRPr lang="en-US" altLang="en-US" sz="900" dirty="0"/>
          </a:p>
          <a:p>
            <a:pPr marL="37465" indent="0" algn="l" rtl="0" eaLnBrk="0">
              <a:lnSpc>
                <a:spcPct val="98000"/>
              </a:lnSpc>
              <a:spcBef>
                <a:spcPts val="40"/>
              </a:spcBef>
            </a:pPr>
            <a:r>
              <a:rPr sz="9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相较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于其他模态数据，文本数据易于获得且数量  庞大，满足大规模预训练模型对数据量的需求</a:t>
            </a:r>
            <a:endParaRPr lang="en-US" altLang="en-US" sz="900" dirty="0"/>
          </a:p>
          <a:p>
            <a:pPr marL="22225" algn="l" rtl="0" eaLnBrk="0">
              <a:lnSpc>
                <a:spcPts val="1150"/>
              </a:lnSpc>
              <a:spcBef>
                <a:spcPts val="1320"/>
              </a:spcBef>
              <a:tabLst>
                <a:tab pos="106680" algn="l"/>
              </a:tabLst>
            </a:pP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文本表达信息更为高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endParaRPr lang="en-US" altLang="en-US" sz="900" dirty="0"/>
          </a:p>
          <a:p>
            <a:pPr marL="13970" indent="635" algn="l" rtl="0" eaLnBrk="0">
              <a:lnSpc>
                <a:spcPct val="99000"/>
              </a:lnSpc>
              <a:spcBef>
                <a:spcPts val="55"/>
              </a:spcBef>
            </a:pPr>
            <a:r>
              <a:rPr sz="90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相比图片，语音，视频等模态，文本信息在存</a:t>
            </a:r>
            <a:r>
              <a:rPr sz="90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储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 </a:t>
            </a:r>
            <a:r>
              <a:rPr sz="9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处理、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传输时占用资源少，而信息量不逊色于图   </a:t>
            </a:r>
            <a:r>
              <a:rPr sz="9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片等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。在这种优势文本将成为人机交互等领域的   </a:t>
            </a:r>
            <a:r>
              <a:rPr sz="9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</a:t>
            </a:r>
            <a:endParaRPr lang="en-US" altLang="en-US" sz="900" dirty="0"/>
          </a:p>
          <a:p>
            <a:pPr marL="19685" algn="l" rtl="0" eaLnBrk="0">
              <a:lnSpc>
                <a:spcPts val="1165"/>
              </a:lnSpc>
              <a:spcBef>
                <a:spcPts val="1110"/>
              </a:spcBef>
              <a:tabLst>
                <a:tab pos="105410" algn="l"/>
              </a:tabLst>
            </a:pP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10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大模型趋势下文本预训练实现难度</a:t>
            </a:r>
            <a:r>
              <a:rPr sz="9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endParaRPr lang="en-US" altLang="en-US" sz="900" dirty="0"/>
          </a:p>
          <a:p>
            <a:pPr marL="13335" indent="-635" algn="l" rtl="0" eaLnBrk="0">
              <a:lnSpc>
                <a:spcPct val="99000"/>
              </a:lnSpc>
              <a:spcBef>
                <a:spcPts val="20"/>
              </a:spcBef>
            </a:pPr>
            <a:r>
              <a:rPr sz="9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数据其离散的性质使得相同模型架构下大模   </a:t>
            </a:r>
            <a:r>
              <a:rPr sz="900" spc="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型训练消耗资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源低与图片/视频</a:t>
            </a:r>
            <a:endParaRPr lang="en-US" altLang="en-US" sz="900" dirty="0"/>
          </a:p>
        </p:txBody>
      </p:sp>
      <p:pic>
        <p:nvPicPr>
          <p:cNvPr id="1333" name="picture 13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9718" y="3809556"/>
            <a:ext cx="85761" cy="98284"/>
          </a:xfrm>
          <a:prstGeom prst="rect">
            <a:avLst/>
          </a:prstGeom>
        </p:spPr>
      </p:pic>
      <p:pic>
        <p:nvPicPr>
          <p:cNvPr id="1334" name="picture 13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1852" y="2971051"/>
            <a:ext cx="85761" cy="98284"/>
          </a:xfrm>
          <a:prstGeom prst="rect">
            <a:avLst/>
          </a:prstGeom>
        </p:spPr>
      </p:pic>
      <p:pic>
        <p:nvPicPr>
          <p:cNvPr id="1335" name="picture 13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04712" y="2383676"/>
            <a:ext cx="85761" cy="98284"/>
          </a:xfrm>
          <a:prstGeom prst="rect">
            <a:avLst/>
          </a:prstGeom>
        </p:spPr>
      </p:pic>
      <p:grpSp>
        <p:nvGrpSpPr>
          <p:cNvPr id="194" name="group 194"/>
          <p:cNvGrpSpPr/>
          <p:nvPr/>
        </p:nvGrpSpPr>
        <p:grpSpPr>
          <a:xfrm rot="21600000">
            <a:off x="2951352" y="2610358"/>
            <a:ext cx="1571117" cy="1582788"/>
            <a:chOff x="0" y="0"/>
            <a:chExt cx="1571117" cy="1582788"/>
          </a:xfrm>
        </p:grpSpPr>
        <p:grpSp>
          <p:nvGrpSpPr>
            <p:cNvPr id="196" name="group 196"/>
            <p:cNvGrpSpPr/>
            <p:nvPr/>
          </p:nvGrpSpPr>
          <p:grpSpPr>
            <a:xfrm rot="21600000">
              <a:off x="0" y="0"/>
              <a:ext cx="1571117" cy="1582788"/>
              <a:chOff x="0" y="0"/>
              <a:chExt cx="1571117" cy="1582788"/>
            </a:xfrm>
          </p:grpSpPr>
          <p:sp>
            <p:nvSpPr>
              <p:cNvPr id="1336" name="path"/>
              <p:cNvSpPr/>
              <p:nvPr/>
            </p:nvSpPr>
            <p:spPr>
              <a:xfrm>
                <a:off x="256921" y="0"/>
                <a:ext cx="1314195" cy="1582788"/>
              </a:xfrm>
              <a:custGeom>
                <a:avLst/>
                <a:gdLst/>
                <a:ahLst/>
                <a:cxnLst/>
                <a:rect l="0" t="0" r="0" b="0"/>
                <a:pathLst>
                  <a:path w="2069" h="2492">
                    <a:moveTo>
                      <a:pt x="0" y="1246"/>
                    </a:moveTo>
                    <a:cubicBezTo>
                      <a:pt x="0" y="557"/>
                      <a:pt x="463" y="0"/>
                      <a:pt x="1034" y="0"/>
                    </a:cubicBezTo>
                    <a:cubicBezTo>
                      <a:pt x="1034" y="0"/>
                      <a:pt x="1034" y="0"/>
                      <a:pt x="1034" y="0"/>
                    </a:cubicBezTo>
                    <a:lnTo>
                      <a:pt x="1034" y="0"/>
                    </a:lnTo>
                    <a:cubicBezTo>
                      <a:pt x="1606" y="0"/>
                      <a:pt x="2069" y="557"/>
                      <a:pt x="2069" y="1246"/>
                    </a:cubicBezTo>
                    <a:lnTo>
                      <a:pt x="2069" y="1246"/>
                    </a:lnTo>
                    <a:cubicBezTo>
                      <a:pt x="2069" y="1934"/>
                      <a:pt x="1606" y="2492"/>
                      <a:pt x="1034" y="2492"/>
                    </a:cubicBezTo>
                    <a:cubicBezTo>
                      <a:pt x="1034" y="2492"/>
                      <a:pt x="1034" y="2492"/>
                      <a:pt x="1034" y="2492"/>
                    </a:cubicBezTo>
                    <a:lnTo>
                      <a:pt x="1034" y="2492"/>
                    </a:lnTo>
                    <a:cubicBezTo>
                      <a:pt x="463" y="2492"/>
                      <a:pt x="0" y="1934"/>
                      <a:pt x="0" y="1246"/>
                    </a:cubicBezTo>
                    <a:cubicBezTo>
                      <a:pt x="0" y="1246"/>
                      <a:pt x="0" y="1246"/>
                      <a:pt x="0" y="1246"/>
                    </a:cubicBezTo>
                  </a:path>
                </a:pathLst>
              </a:custGeom>
              <a:solidFill>
                <a:srgbClr val="13A5E4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7" name="path"/>
              <p:cNvSpPr/>
              <p:nvPr/>
            </p:nvSpPr>
            <p:spPr>
              <a:xfrm>
                <a:off x="0" y="574039"/>
                <a:ext cx="229869" cy="228502"/>
              </a:xfrm>
              <a:custGeom>
                <a:avLst/>
                <a:gdLst/>
                <a:ahLst/>
                <a:cxnLst/>
                <a:rect l="0" t="0" r="0" b="0"/>
                <a:pathLst>
                  <a:path w="361" h="359">
                    <a:moveTo>
                      <a:pt x="203" y="0"/>
                    </a:moveTo>
                    <a:cubicBezTo>
                      <a:pt x="208" y="0"/>
                      <a:pt x="214" y="4"/>
                      <a:pt x="221" y="11"/>
                    </a:cubicBezTo>
                    <a:cubicBezTo>
                      <a:pt x="221" y="11"/>
                      <a:pt x="221" y="11"/>
                      <a:pt x="343" y="141"/>
                    </a:cubicBezTo>
                    <a:cubicBezTo>
                      <a:pt x="361" y="160"/>
                      <a:pt x="361" y="191"/>
                      <a:pt x="343" y="211"/>
                    </a:cubicBezTo>
                    <a:lnTo>
                      <a:pt x="221" y="341"/>
                    </a:lnTo>
                    <a:cubicBezTo>
                      <a:pt x="203" y="360"/>
                      <a:pt x="188" y="354"/>
                      <a:pt x="188" y="326"/>
                    </a:cubicBezTo>
                    <a:cubicBezTo>
                      <a:pt x="188" y="299"/>
                      <a:pt x="167" y="277"/>
                      <a:pt x="141" y="277"/>
                    </a:cubicBezTo>
                    <a:cubicBezTo>
                      <a:pt x="141" y="277"/>
                      <a:pt x="141" y="277"/>
                      <a:pt x="0" y="277"/>
                    </a:cubicBezTo>
                    <a:lnTo>
                      <a:pt x="0" y="277"/>
                    </a:lnTo>
                    <a:lnTo>
                      <a:pt x="1" y="277"/>
                    </a:lnTo>
                    <a:cubicBezTo>
                      <a:pt x="9" y="277"/>
                      <a:pt x="9" y="277"/>
                      <a:pt x="9" y="277"/>
                    </a:cubicBezTo>
                    <a:cubicBezTo>
                      <a:pt x="69" y="211"/>
                      <a:pt x="69" y="211"/>
                      <a:pt x="69" y="211"/>
                    </a:cubicBezTo>
                    <a:cubicBezTo>
                      <a:pt x="88" y="191"/>
                      <a:pt x="88" y="160"/>
                      <a:pt x="69" y="141"/>
                    </a:cubicBezTo>
                    <a:cubicBezTo>
                      <a:pt x="16" y="85"/>
                      <a:pt x="10" y="77"/>
                      <a:pt x="9" y="77"/>
                    </a:cubicBezTo>
                    <a:lnTo>
                      <a:pt x="9" y="77"/>
                    </a:lnTo>
                    <a:lnTo>
                      <a:pt x="12" y="77"/>
                    </a:lnTo>
                    <a:cubicBezTo>
                      <a:pt x="27" y="77"/>
                      <a:pt x="62" y="77"/>
                      <a:pt x="141" y="77"/>
                    </a:cubicBezTo>
                    <a:cubicBezTo>
                      <a:pt x="167" y="77"/>
                      <a:pt x="188" y="53"/>
                      <a:pt x="188" y="26"/>
                    </a:cubicBezTo>
                    <a:cubicBezTo>
                      <a:pt x="188" y="8"/>
                      <a:pt x="194" y="0"/>
                      <a:pt x="203" y="0"/>
                    </a:cubicBezTo>
                  </a:path>
                </a:pathLst>
              </a:custGeom>
              <a:solidFill>
                <a:srgbClr val="197CC4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38" name="textbox 1338"/>
            <p:cNvSpPr/>
            <p:nvPr/>
          </p:nvSpPr>
          <p:spPr>
            <a:xfrm>
              <a:off x="-12700" y="-12700"/>
              <a:ext cx="1597025" cy="163576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2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8000"/>
                </a:lnSpc>
              </a:pPr>
              <a:endParaRPr lang="en-US" altLang="en-US" sz="100" dirty="0"/>
            </a:p>
            <a:p>
              <a:pPr marL="542290" algn="l" rtl="0" eaLnBrk="0">
                <a:lnSpc>
                  <a:spcPct val="84000"/>
                </a:lnSpc>
              </a:pP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ELM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</a:t>
              </a: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2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BERT</a:t>
              </a:r>
              <a:endParaRPr lang="en-US" altLang="en-US" sz="1200" dirty="0"/>
            </a:p>
            <a:p>
              <a:pPr marL="340995" algn="l" rtl="0" eaLnBrk="0">
                <a:lnSpc>
                  <a:spcPts val="1440"/>
                </a:lnSpc>
                <a:spcBef>
                  <a:spcPts val="940"/>
                </a:spcBef>
              </a:pPr>
              <a:r>
                <a:rPr sz="1600" spc="0" baseline="-12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ALBE</a:t>
              </a:r>
              <a:r>
                <a:rPr sz="1000" spc="1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1600" spc="0" baseline="5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word</a:t>
              </a:r>
              <a:r>
                <a:rPr sz="1600" spc="80" baseline="5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sz="1600" spc="0" baseline="5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vec</a:t>
              </a:r>
              <a:endParaRPr lang="en-US" altLang="en-US" sz="1040" dirty="0"/>
            </a:p>
            <a:p>
              <a:pPr marL="480060" indent="-127000" algn="l" rtl="0" eaLnBrk="0">
                <a:lnSpc>
                  <a:spcPct val="68000"/>
                </a:lnSpc>
                <a:spcBef>
                  <a:spcPts val="230"/>
                </a:spcBef>
              </a:pPr>
              <a:r>
                <a:rPr sz="1600" spc="0" baseline="3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RT</a:t>
              </a:r>
              <a:r>
                <a:rPr sz="1000" spc="5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10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8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ALBERT      </a:t>
              </a:r>
              <a:r>
                <a:rPr sz="1500" spc="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</a:t>
              </a:r>
              <a:r>
                <a:rPr sz="1500" spc="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</a:t>
              </a:r>
              <a:endParaRPr lang="en-US" altLang="en-US" sz="1500" dirty="0"/>
            </a:p>
            <a:p>
              <a:pPr marL="890905" algn="l" rtl="0" eaLnBrk="0">
                <a:lnSpc>
                  <a:spcPct val="91000"/>
                </a:lnSpc>
                <a:spcBef>
                  <a:spcPts val="45"/>
                </a:spcBef>
              </a:pPr>
              <a:r>
                <a:rPr sz="700" spc="1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XLNe</a:t>
              </a:r>
              <a:r>
                <a:rPr sz="70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</a:t>
              </a:r>
              <a:endParaRPr lang="en-US" altLang="en-US" sz="700" dirty="0"/>
            </a:p>
            <a:p>
              <a:pPr marL="588010" algn="l" rtl="0" eaLnBrk="0">
                <a:lnSpc>
                  <a:spcPct val="90000"/>
                </a:lnSpc>
                <a:spcBef>
                  <a:spcPts val="750"/>
                </a:spcBef>
              </a:pP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niLM</a:t>
              </a: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</a:t>
              </a: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  <a:endParaRPr lang="en-US" altLang="en-US" sz="900" dirty="0"/>
            </a:p>
            <a:p>
              <a:pPr algn="l" rtl="0" eaLnBrk="0">
                <a:lnSpc>
                  <a:spcPct val="120000"/>
                </a:lnSpc>
              </a:pPr>
              <a:endParaRPr lang="en-US" altLang="en-US" sz="400" dirty="0"/>
            </a:p>
            <a:p>
              <a:pPr marL="795655" algn="l" rtl="0" eaLnBrk="0">
                <a:lnSpc>
                  <a:spcPct val="83000"/>
                </a:lnSpc>
                <a:spcBef>
                  <a:spcPts val="0"/>
                </a:spcBef>
              </a:pPr>
              <a:r>
                <a:rPr sz="90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BAR</a:t>
              </a:r>
              <a:r>
                <a:rPr sz="90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</a:t>
              </a:r>
              <a:endParaRPr lang="en-US" altLang="en-US" sz="900" dirty="0"/>
            </a:p>
          </p:txBody>
        </p:sp>
      </p:grpSp>
      <p:sp>
        <p:nvSpPr>
          <p:cNvPr id="1339" name="textbox 1339"/>
          <p:cNvSpPr/>
          <p:nvPr/>
        </p:nvSpPr>
        <p:spPr>
          <a:xfrm>
            <a:off x="214385" y="4496200"/>
            <a:ext cx="3422015" cy="4381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来源：量子位智库，国泰君安证券研究</a:t>
            </a:r>
            <a:endParaRPr lang="en-US" altLang="en-US" sz="800" dirty="0"/>
          </a:p>
          <a:p>
            <a:pPr algn="l" rtl="0" eaLnBrk="0">
              <a:lnSpc>
                <a:spcPct val="104000"/>
              </a:lnSpc>
            </a:pPr>
            <a:endParaRPr lang="en-US" altLang="en-US" sz="800" dirty="0"/>
          </a:p>
        </p:txBody>
      </p:sp>
      <p:sp>
        <p:nvSpPr>
          <p:cNvPr id="1341" name="textbox 1341"/>
          <p:cNvSpPr/>
          <p:nvPr/>
        </p:nvSpPr>
        <p:spPr>
          <a:xfrm>
            <a:off x="5145121" y="2153451"/>
            <a:ext cx="2911475" cy="3257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lang="en-US" altLang="en-US" sz="100" dirty="0"/>
          </a:p>
          <a:p>
            <a:pPr marL="723265" indent="-710565" algn="l" rtl="0" eaLnBrk="0">
              <a:lnSpc>
                <a:spcPct val="109000"/>
              </a:lnSpc>
            </a:pPr>
            <a:r>
              <a:rPr sz="90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图55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文本模态技术(包括文本与代码)</a:t>
            </a:r>
            <a:r>
              <a:rPr sz="90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化领跑视频/图像模态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</a:t>
            </a:r>
            <a:endParaRPr lang="en-US" altLang="en-US" sz="900" dirty="0"/>
          </a:p>
        </p:txBody>
      </p:sp>
      <p:sp>
        <p:nvSpPr>
          <p:cNvPr id="1342" name="textbox 1342"/>
          <p:cNvSpPr/>
          <p:nvPr/>
        </p:nvSpPr>
        <p:spPr>
          <a:xfrm>
            <a:off x="1507079" y="2118772"/>
            <a:ext cx="2463164" cy="1720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0"/>
              </a:lnSpc>
            </a:pPr>
            <a:r>
              <a:rPr sz="90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图54 ：文本生成技术商业化落地有比较优</a:t>
            </a: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势</a:t>
            </a:r>
            <a:endParaRPr lang="en-US" altLang="en-US" sz="900" dirty="0"/>
          </a:p>
        </p:txBody>
      </p:sp>
      <p:sp>
        <p:nvSpPr>
          <p:cNvPr id="1344" name="textbox 1344"/>
          <p:cNvSpPr/>
          <p:nvPr/>
        </p:nvSpPr>
        <p:spPr>
          <a:xfrm>
            <a:off x="4823519" y="4290460"/>
            <a:ext cx="16541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来源：红杉，国泰君安证券研究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picture 13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37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3" name="textbox 1373"/>
          <p:cNvSpPr/>
          <p:nvPr/>
        </p:nvSpPr>
        <p:spPr>
          <a:xfrm>
            <a:off x="-12700" y="124277"/>
            <a:ext cx="8827134" cy="18319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19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20" baseline="-1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音频生成技术正朝更富情感等人类特征演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endParaRPr lang="en-US" altLang="en-US" sz="2000" dirty="0"/>
          </a:p>
          <a:p>
            <a:pPr marL="513715" indent="-168910" algn="l" rtl="0" eaLnBrk="0">
              <a:lnSpc>
                <a:spcPct val="151000"/>
              </a:lnSpc>
              <a:spcBef>
                <a:spcPts val="500"/>
              </a:spcBef>
              <a:tabLst>
                <a:tab pos="432435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文本到语音任务已比较成熟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，语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音质量已达到自然的标准，未来将朝更富情感、富韵律的语音合成以及小样本语音学习方</a:t>
            </a: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spc="-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向发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</a:t>
            </a:r>
            <a:endParaRPr lang="en-US" altLang="en-US" sz="1200" dirty="0"/>
          </a:p>
          <a:p>
            <a:pPr marL="341630" algn="l" rtl="0" eaLnBrk="0">
              <a:lnSpc>
                <a:spcPts val="1220"/>
              </a:lnSpc>
              <a:spcBef>
                <a:spcPts val="670"/>
              </a:spcBef>
              <a:tabLst>
                <a:tab pos="43180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音乐生成任务中仍需解决音乐数据难以标注的问题，数据标注其颗粒度大小影响音乐生成任务的可控性。若可控性得以解决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则可指定风格、</a:t>
            </a: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500" dirty="0"/>
          </a:p>
          <a:p>
            <a:pPr marL="506095" algn="l" rtl="0" eaLnBrk="0">
              <a:lnSpc>
                <a:spcPts val="1225"/>
              </a:lnSpc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情绪等因素的音乐生成任务有希望在影视、游戏等场景下的到大量应用</a:t>
            </a: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000" dirty="0"/>
          </a:p>
        </p:txBody>
      </p:sp>
      <p:pic>
        <p:nvPicPr>
          <p:cNvPr id="1374" name="picture 1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9086" y="1551494"/>
            <a:ext cx="90927" cy="104204"/>
          </a:xfrm>
          <a:prstGeom prst="rect">
            <a:avLst/>
          </a:prstGeom>
        </p:spPr>
      </p:pic>
      <p:pic>
        <p:nvPicPr>
          <p:cNvPr id="1375" name="picture 137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2231" y="1032382"/>
            <a:ext cx="88239" cy="100584"/>
          </a:xfrm>
          <a:prstGeom prst="rect">
            <a:avLst/>
          </a:prstGeom>
        </p:spPr>
      </p:pic>
      <p:sp>
        <p:nvSpPr>
          <p:cNvPr id="1376" name="path"/>
          <p:cNvSpPr/>
          <p:nvPr/>
        </p:nvSpPr>
        <p:spPr>
          <a:xfrm>
            <a:off x="59929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98" name="group 198"/>
          <p:cNvGrpSpPr/>
          <p:nvPr/>
        </p:nvGrpSpPr>
        <p:grpSpPr>
          <a:xfrm rot="21600000">
            <a:off x="6168517" y="2147823"/>
            <a:ext cx="796290" cy="927861"/>
            <a:chOff x="0" y="0"/>
            <a:chExt cx="796290" cy="927861"/>
          </a:xfrm>
        </p:grpSpPr>
        <p:grpSp>
          <p:nvGrpSpPr>
            <p:cNvPr id="200" name="group 200"/>
            <p:cNvGrpSpPr/>
            <p:nvPr/>
          </p:nvGrpSpPr>
          <p:grpSpPr>
            <a:xfrm rot="21600000">
              <a:off x="0" y="0"/>
              <a:ext cx="796290" cy="927861"/>
              <a:chOff x="0" y="0"/>
              <a:chExt cx="796290" cy="927861"/>
            </a:xfrm>
          </p:grpSpPr>
          <p:sp>
            <p:nvSpPr>
              <p:cNvPr id="1377" name="path"/>
              <p:cNvSpPr/>
              <p:nvPr/>
            </p:nvSpPr>
            <p:spPr>
              <a:xfrm>
                <a:off x="0" y="0"/>
                <a:ext cx="796290" cy="927861"/>
              </a:xfrm>
              <a:custGeom>
                <a:avLst/>
                <a:gdLst/>
                <a:ahLst/>
                <a:cxnLst/>
                <a:rect l="0" t="0" r="0" b="0"/>
                <a:pathLst>
                  <a:path w="1254" h="1461">
                    <a:moveTo>
                      <a:pt x="626" y="1461"/>
                    </a:moveTo>
                    <a:lnTo>
                      <a:pt x="0" y="1109"/>
                    </a:lnTo>
                    <a:lnTo>
                      <a:pt x="0" y="351"/>
                    </a:lnTo>
                    <a:lnTo>
                      <a:pt x="626" y="0"/>
                    </a:lnTo>
                    <a:lnTo>
                      <a:pt x="1254" y="351"/>
                    </a:lnTo>
                    <a:lnTo>
                      <a:pt x="1254" y="1109"/>
                    </a:lnTo>
                    <a:lnTo>
                      <a:pt x="626" y="1461"/>
                    </a:lnTo>
                    <a:close/>
                  </a:path>
                </a:pathLst>
              </a:custGeom>
              <a:solidFill>
                <a:srgbClr val="0081F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8" name="path"/>
              <p:cNvSpPr/>
              <p:nvPr/>
            </p:nvSpPr>
            <p:spPr>
              <a:xfrm>
                <a:off x="39623" y="103632"/>
                <a:ext cx="717042" cy="720471"/>
              </a:xfrm>
              <a:custGeom>
                <a:avLst/>
                <a:gdLst/>
                <a:ahLst/>
                <a:cxnLst/>
                <a:rect l="0" t="0" r="0" b="0"/>
                <a:pathLst>
                  <a:path w="1129" h="1134">
                    <a:moveTo>
                      <a:pt x="564" y="1134"/>
                    </a:moveTo>
                    <a:cubicBezTo>
                      <a:pt x="252" y="1134"/>
                      <a:pt x="0" y="880"/>
                      <a:pt x="0" y="567"/>
                    </a:cubicBezTo>
                    <a:cubicBezTo>
                      <a:pt x="0" y="567"/>
                      <a:pt x="0" y="567"/>
                      <a:pt x="0" y="567"/>
                    </a:cubicBezTo>
                    <a:lnTo>
                      <a:pt x="0" y="567"/>
                    </a:lnTo>
                    <a:cubicBezTo>
                      <a:pt x="0" y="253"/>
                      <a:pt x="252" y="0"/>
                      <a:pt x="564" y="0"/>
                    </a:cubicBezTo>
                    <a:cubicBezTo>
                      <a:pt x="564" y="0"/>
                      <a:pt x="564" y="0"/>
                      <a:pt x="564" y="0"/>
                    </a:cubicBezTo>
                    <a:lnTo>
                      <a:pt x="564" y="0"/>
                    </a:lnTo>
                    <a:cubicBezTo>
                      <a:pt x="876" y="0"/>
                      <a:pt x="1129" y="253"/>
                      <a:pt x="1129" y="567"/>
                    </a:cubicBezTo>
                    <a:cubicBezTo>
                      <a:pt x="1129" y="567"/>
                      <a:pt x="1129" y="567"/>
                      <a:pt x="1129" y="567"/>
                    </a:cubicBezTo>
                    <a:lnTo>
                      <a:pt x="1129" y="567"/>
                    </a:lnTo>
                    <a:cubicBezTo>
                      <a:pt x="1129" y="880"/>
                      <a:pt x="876" y="1134"/>
                      <a:pt x="564" y="1134"/>
                    </a:cubicBezTo>
                    <a:cubicBezTo>
                      <a:pt x="564" y="1134"/>
                      <a:pt x="564" y="1134"/>
                      <a:pt x="564" y="1134"/>
                    </a:cubicBezTo>
                  </a:path>
                </a:pathLst>
              </a:custGeom>
              <a:solidFill>
                <a:srgbClr val="59C3F1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9" name="path"/>
              <p:cNvSpPr/>
              <p:nvPr/>
            </p:nvSpPr>
            <p:spPr>
              <a:xfrm>
                <a:off x="20573" y="84582"/>
                <a:ext cx="755142" cy="758571"/>
              </a:xfrm>
              <a:custGeom>
                <a:avLst/>
                <a:gdLst/>
                <a:ahLst/>
                <a:cxnLst/>
                <a:rect l="0" t="0" r="0" b="0"/>
                <a:pathLst>
                  <a:path w="1189" h="1194">
                    <a:moveTo>
                      <a:pt x="594" y="1164"/>
                    </a:moveTo>
                    <a:cubicBezTo>
                      <a:pt x="282" y="1164"/>
                      <a:pt x="30" y="910"/>
                      <a:pt x="30" y="597"/>
                    </a:cubicBezTo>
                    <a:cubicBezTo>
                      <a:pt x="30" y="597"/>
                      <a:pt x="30" y="597"/>
                      <a:pt x="30" y="597"/>
                    </a:cubicBezTo>
                    <a:lnTo>
                      <a:pt x="30" y="597"/>
                    </a:lnTo>
                    <a:cubicBezTo>
                      <a:pt x="30" y="283"/>
                      <a:pt x="282" y="30"/>
                      <a:pt x="594" y="30"/>
                    </a:cubicBezTo>
                    <a:cubicBezTo>
                      <a:pt x="594" y="30"/>
                      <a:pt x="594" y="30"/>
                      <a:pt x="594" y="30"/>
                    </a:cubicBezTo>
                    <a:lnTo>
                      <a:pt x="594" y="30"/>
                    </a:lnTo>
                    <a:cubicBezTo>
                      <a:pt x="906" y="30"/>
                      <a:pt x="1159" y="283"/>
                      <a:pt x="1159" y="597"/>
                    </a:cubicBezTo>
                    <a:cubicBezTo>
                      <a:pt x="1159" y="597"/>
                      <a:pt x="1159" y="597"/>
                      <a:pt x="1159" y="597"/>
                    </a:cubicBezTo>
                    <a:lnTo>
                      <a:pt x="1159" y="597"/>
                    </a:lnTo>
                    <a:cubicBezTo>
                      <a:pt x="1159" y="910"/>
                      <a:pt x="906" y="1164"/>
                      <a:pt x="594" y="1164"/>
                    </a:cubicBezTo>
                    <a:cubicBezTo>
                      <a:pt x="594" y="1164"/>
                      <a:pt x="594" y="1164"/>
                      <a:pt x="594" y="1164"/>
                    </a:cubicBezTo>
                  </a:path>
                </a:pathLst>
              </a:custGeom>
              <a:noFill/>
              <a:ln w="3810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80" name="textbox 1380"/>
            <p:cNvSpPr/>
            <p:nvPr/>
          </p:nvSpPr>
          <p:spPr>
            <a:xfrm>
              <a:off x="-12700" y="-12700"/>
              <a:ext cx="822325" cy="96520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49000"/>
                </a:lnSpc>
              </a:pPr>
              <a:endParaRPr lang="en-US" altLang="en-US" sz="1000" dirty="0"/>
            </a:p>
            <a:p>
              <a:pPr marL="221615" indent="-64135" algn="l" rtl="0" eaLnBrk="0">
                <a:lnSpc>
                  <a:spcPct val="114000"/>
                </a:lnSpc>
                <a:spcBef>
                  <a:spcPts val="5"/>
                </a:spcBef>
              </a:pPr>
              <a:r>
                <a:rPr sz="900" spc="100" dirty="0">
                  <a:ln w="3614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文本到</a:t>
              </a:r>
              <a:r>
                <a:rPr sz="900" spc="70" dirty="0">
                  <a:ln w="3614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语</a:t>
              </a:r>
              <a:r>
                <a:rPr sz="90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900" spc="90" dirty="0">
                  <a:ln w="3614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音合</a:t>
              </a:r>
              <a:r>
                <a:rPr sz="900" spc="80" dirty="0">
                  <a:ln w="3614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</a:t>
              </a:r>
              <a:endParaRPr lang="en-US" altLang="en-US" sz="900" dirty="0"/>
            </a:p>
          </p:txBody>
        </p:sp>
      </p:grpSp>
      <p:grpSp>
        <p:nvGrpSpPr>
          <p:cNvPr id="202" name="group 202"/>
          <p:cNvGrpSpPr/>
          <p:nvPr/>
        </p:nvGrpSpPr>
        <p:grpSpPr>
          <a:xfrm rot="21600000">
            <a:off x="6237223" y="2607690"/>
            <a:ext cx="1380870" cy="1893989"/>
            <a:chOff x="0" y="0"/>
            <a:chExt cx="1380870" cy="1893989"/>
          </a:xfrm>
        </p:grpSpPr>
        <p:sp>
          <p:nvSpPr>
            <p:cNvPr id="1381" name="path"/>
            <p:cNvSpPr/>
            <p:nvPr/>
          </p:nvSpPr>
          <p:spPr>
            <a:xfrm>
              <a:off x="1141222" y="0"/>
              <a:ext cx="239648" cy="1423987"/>
            </a:xfrm>
            <a:custGeom>
              <a:avLst/>
              <a:gdLst/>
              <a:ahLst/>
              <a:cxnLst/>
              <a:rect l="0" t="0" r="0" b="0"/>
              <a:pathLst>
                <a:path w="377" h="2242">
                  <a:moveTo>
                    <a:pt x="20" y="20"/>
                  </a:moveTo>
                  <a:cubicBezTo>
                    <a:pt x="113" y="20"/>
                    <a:pt x="188" y="32"/>
                    <a:pt x="188" y="48"/>
                  </a:cubicBezTo>
                  <a:cubicBezTo>
                    <a:pt x="188" y="48"/>
                    <a:pt x="188" y="48"/>
                    <a:pt x="188" y="48"/>
                  </a:cubicBezTo>
                  <a:lnTo>
                    <a:pt x="188" y="48"/>
                  </a:lnTo>
                  <a:lnTo>
                    <a:pt x="188" y="1093"/>
                  </a:lnTo>
                  <a:lnTo>
                    <a:pt x="188" y="1093"/>
                  </a:lnTo>
                  <a:cubicBezTo>
                    <a:pt x="188" y="1108"/>
                    <a:pt x="264" y="1121"/>
                    <a:pt x="357" y="1121"/>
                  </a:cubicBezTo>
                  <a:cubicBezTo>
                    <a:pt x="357" y="1121"/>
                    <a:pt x="357" y="1121"/>
                    <a:pt x="357" y="1121"/>
                  </a:cubicBezTo>
                  <a:lnTo>
                    <a:pt x="357" y="1121"/>
                  </a:lnTo>
                  <a:cubicBezTo>
                    <a:pt x="264" y="1121"/>
                    <a:pt x="188" y="1133"/>
                    <a:pt x="188" y="1149"/>
                  </a:cubicBezTo>
                  <a:lnTo>
                    <a:pt x="188" y="1149"/>
                  </a:lnTo>
                  <a:lnTo>
                    <a:pt x="188" y="2194"/>
                  </a:lnTo>
                  <a:lnTo>
                    <a:pt x="188" y="2194"/>
                  </a:lnTo>
                  <a:cubicBezTo>
                    <a:pt x="188" y="2209"/>
                    <a:pt x="113" y="2222"/>
                    <a:pt x="20" y="2222"/>
                  </a:cubicBezTo>
                </a:path>
              </a:pathLst>
            </a:custGeom>
            <a:noFill/>
            <a:ln w="25400" cap="flat">
              <a:solidFill>
                <a:srgbClr val="004C97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2" name="path"/>
            <p:cNvSpPr/>
            <p:nvPr/>
          </p:nvSpPr>
          <p:spPr>
            <a:xfrm>
              <a:off x="0" y="1057783"/>
              <a:ext cx="742442" cy="836206"/>
            </a:xfrm>
            <a:custGeom>
              <a:avLst/>
              <a:gdLst/>
              <a:ahLst/>
              <a:cxnLst/>
              <a:rect l="0" t="0" r="0" b="0"/>
              <a:pathLst>
                <a:path w="1169" h="1316">
                  <a:moveTo>
                    <a:pt x="584" y="1316"/>
                  </a:moveTo>
                  <a:lnTo>
                    <a:pt x="0" y="988"/>
                  </a:lnTo>
                  <a:lnTo>
                    <a:pt x="0" y="327"/>
                  </a:lnTo>
                  <a:lnTo>
                    <a:pt x="584" y="0"/>
                  </a:lnTo>
                  <a:lnTo>
                    <a:pt x="1169" y="327"/>
                  </a:lnTo>
                  <a:lnTo>
                    <a:pt x="1169" y="988"/>
                  </a:lnTo>
                  <a:lnTo>
                    <a:pt x="584" y="1316"/>
                  </a:lnTo>
                  <a:close/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3" name="path"/>
            <p:cNvSpPr/>
            <p:nvPr/>
          </p:nvSpPr>
          <p:spPr>
            <a:xfrm>
              <a:off x="37210" y="1150874"/>
              <a:ext cx="668019" cy="649973"/>
            </a:xfrm>
            <a:custGeom>
              <a:avLst/>
              <a:gdLst/>
              <a:ahLst/>
              <a:cxnLst/>
              <a:rect l="0" t="0" r="0" b="0"/>
              <a:pathLst>
                <a:path w="1051" h="1023">
                  <a:moveTo>
                    <a:pt x="525" y="1023"/>
                  </a:moveTo>
                  <a:cubicBezTo>
                    <a:pt x="235" y="1023"/>
                    <a:pt x="0" y="794"/>
                    <a:pt x="0" y="511"/>
                  </a:cubicBezTo>
                  <a:cubicBezTo>
                    <a:pt x="0" y="511"/>
                    <a:pt x="0" y="511"/>
                    <a:pt x="0" y="511"/>
                  </a:cubicBezTo>
                  <a:lnTo>
                    <a:pt x="0" y="511"/>
                  </a:lnTo>
                  <a:cubicBezTo>
                    <a:pt x="0" y="229"/>
                    <a:pt x="235" y="0"/>
                    <a:pt x="525" y="0"/>
                  </a:cubicBezTo>
                  <a:cubicBezTo>
                    <a:pt x="525" y="0"/>
                    <a:pt x="525" y="0"/>
                    <a:pt x="525" y="0"/>
                  </a:cubicBezTo>
                  <a:lnTo>
                    <a:pt x="525" y="0"/>
                  </a:lnTo>
                  <a:cubicBezTo>
                    <a:pt x="816" y="0"/>
                    <a:pt x="1051" y="229"/>
                    <a:pt x="1051" y="511"/>
                  </a:cubicBezTo>
                  <a:cubicBezTo>
                    <a:pt x="1051" y="511"/>
                    <a:pt x="1051" y="511"/>
                    <a:pt x="1051" y="511"/>
                  </a:cubicBezTo>
                  <a:lnTo>
                    <a:pt x="1051" y="511"/>
                  </a:lnTo>
                  <a:cubicBezTo>
                    <a:pt x="1051" y="794"/>
                    <a:pt x="816" y="1023"/>
                    <a:pt x="525" y="1023"/>
                  </a:cubicBezTo>
                  <a:cubicBezTo>
                    <a:pt x="525" y="1023"/>
                    <a:pt x="525" y="1023"/>
                    <a:pt x="525" y="1023"/>
                  </a:cubicBezTo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4" name="path"/>
            <p:cNvSpPr/>
            <p:nvPr/>
          </p:nvSpPr>
          <p:spPr>
            <a:xfrm>
              <a:off x="18160" y="1131824"/>
              <a:ext cx="706119" cy="688073"/>
            </a:xfrm>
            <a:custGeom>
              <a:avLst/>
              <a:gdLst/>
              <a:ahLst/>
              <a:cxnLst/>
              <a:rect l="0" t="0" r="0" b="0"/>
              <a:pathLst>
                <a:path w="1111" h="1083">
                  <a:moveTo>
                    <a:pt x="555" y="1053"/>
                  </a:moveTo>
                  <a:cubicBezTo>
                    <a:pt x="265" y="1053"/>
                    <a:pt x="30" y="824"/>
                    <a:pt x="30" y="541"/>
                  </a:cubicBezTo>
                  <a:cubicBezTo>
                    <a:pt x="30" y="541"/>
                    <a:pt x="30" y="541"/>
                    <a:pt x="30" y="541"/>
                  </a:cubicBezTo>
                  <a:lnTo>
                    <a:pt x="30" y="541"/>
                  </a:lnTo>
                  <a:cubicBezTo>
                    <a:pt x="30" y="259"/>
                    <a:pt x="265" y="30"/>
                    <a:pt x="555" y="30"/>
                  </a:cubicBezTo>
                  <a:cubicBezTo>
                    <a:pt x="555" y="30"/>
                    <a:pt x="555" y="30"/>
                    <a:pt x="555" y="30"/>
                  </a:cubicBezTo>
                  <a:lnTo>
                    <a:pt x="555" y="30"/>
                  </a:lnTo>
                  <a:cubicBezTo>
                    <a:pt x="846" y="30"/>
                    <a:pt x="1081" y="259"/>
                    <a:pt x="1081" y="541"/>
                  </a:cubicBezTo>
                  <a:cubicBezTo>
                    <a:pt x="1081" y="541"/>
                    <a:pt x="1081" y="541"/>
                    <a:pt x="1081" y="541"/>
                  </a:cubicBezTo>
                  <a:lnTo>
                    <a:pt x="1081" y="541"/>
                  </a:lnTo>
                  <a:cubicBezTo>
                    <a:pt x="1081" y="824"/>
                    <a:pt x="846" y="1053"/>
                    <a:pt x="555" y="1053"/>
                  </a:cubicBezTo>
                  <a:cubicBezTo>
                    <a:pt x="555" y="1053"/>
                    <a:pt x="555" y="1053"/>
                    <a:pt x="555" y="1053"/>
                  </a:cubicBezTo>
                </a:path>
              </a:pathLst>
            </a:custGeom>
            <a:noFill/>
            <a:ln w="3810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5" name="path"/>
            <p:cNvSpPr/>
            <p:nvPr/>
          </p:nvSpPr>
          <p:spPr>
            <a:xfrm>
              <a:off x="262255" y="1255293"/>
              <a:ext cx="225297" cy="189306"/>
            </a:xfrm>
            <a:custGeom>
              <a:avLst/>
              <a:gdLst/>
              <a:ahLst/>
              <a:cxnLst/>
              <a:rect l="0" t="0" r="0" b="0"/>
              <a:pathLst>
                <a:path w="354" h="298">
                  <a:moveTo>
                    <a:pt x="84" y="31"/>
                  </a:moveTo>
                  <a:cubicBezTo>
                    <a:pt x="84" y="24"/>
                    <a:pt x="89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lnTo>
                    <a:pt x="95" y="20"/>
                  </a:lnTo>
                  <a:lnTo>
                    <a:pt x="261" y="20"/>
                  </a:lnTo>
                  <a:lnTo>
                    <a:pt x="261" y="20"/>
                  </a:lnTo>
                  <a:cubicBezTo>
                    <a:pt x="267" y="20"/>
                    <a:pt x="272" y="24"/>
                    <a:pt x="272" y="31"/>
                  </a:cubicBezTo>
                  <a:cubicBezTo>
                    <a:pt x="272" y="31"/>
                    <a:pt x="272" y="31"/>
                    <a:pt x="272" y="31"/>
                  </a:cubicBezTo>
                  <a:lnTo>
                    <a:pt x="272" y="31"/>
                  </a:lnTo>
                  <a:lnTo>
                    <a:pt x="272" y="186"/>
                  </a:lnTo>
                  <a:lnTo>
                    <a:pt x="272" y="186"/>
                  </a:lnTo>
                  <a:cubicBezTo>
                    <a:pt x="272" y="192"/>
                    <a:pt x="267" y="197"/>
                    <a:pt x="261" y="197"/>
                  </a:cubicBezTo>
                  <a:cubicBezTo>
                    <a:pt x="261" y="197"/>
                    <a:pt x="261" y="197"/>
                    <a:pt x="261" y="197"/>
                  </a:cubicBezTo>
                  <a:lnTo>
                    <a:pt x="261" y="197"/>
                  </a:lnTo>
                  <a:lnTo>
                    <a:pt x="95" y="197"/>
                  </a:lnTo>
                  <a:lnTo>
                    <a:pt x="95" y="197"/>
                  </a:lnTo>
                  <a:cubicBezTo>
                    <a:pt x="89" y="197"/>
                    <a:pt x="84" y="192"/>
                    <a:pt x="84" y="186"/>
                  </a:cubicBezTo>
                  <a:cubicBezTo>
                    <a:pt x="84" y="186"/>
                    <a:pt x="84" y="186"/>
                    <a:pt x="84" y="186"/>
                  </a:cubicBezTo>
                  <a:lnTo>
                    <a:pt x="84" y="31"/>
                  </a:lnTo>
                  <a:close/>
                  <a:moveTo>
                    <a:pt x="20" y="212"/>
                  </a:moveTo>
                  <a:cubicBezTo>
                    <a:pt x="20" y="205"/>
                    <a:pt x="25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lnTo>
                    <a:pt x="33" y="199"/>
                  </a:lnTo>
                  <a:lnTo>
                    <a:pt x="321" y="199"/>
                  </a:lnTo>
                  <a:lnTo>
                    <a:pt x="321" y="199"/>
                  </a:lnTo>
                  <a:cubicBezTo>
                    <a:pt x="328" y="199"/>
                    <a:pt x="334" y="205"/>
                    <a:pt x="334" y="212"/>
                  </a:cubicBezTo>
                  <a:cubicBezTo>
                    <a:pt x="334" y="212"/>
                    <a:pt x="334" y="212"/>
                    <a:pt x="334" y="212"/>
                  </a:cubicBezTo>
                  <a:lnTo>
                    <a:pt x="334" y="212"/>
                  </a:lnTo>
                  <a:lnTo>
                    <a:pt x="334" y="265"/>
                  </a:lnTo>
                  <a:lnTo>
                    <a:pt x="334" y="265"/>
                  </a:lnTo>
                  <a:cubicBezTo>
                    <a:pt x="334" y="272"/>
                    <a:pt x="328" y="278"/>
                    <a:pt x="321" y="278"/>
                  </a:cubicBezTo>
                  <a:cubicBezTo>
                    <a:pt x="321" y="278"/>
                    <a:pt x="321" y="278"/>
                    <a:pt x="321" y="278"/>
                  </a:cubicBezTo>
                  <a:lnTo>
                    <a:pt x="321" y="278"/>
                  </a:lnTo>
                  <a:lnTo>
                    <a:pt x="33" y="278"/>
                  </a:lnTo>
                  <a:lnTo>
                    <a:pt x="33" y="278"/>
                  </a:lnTo>
                  <a:cubicBezTo>
                    <a:pt x="25" y="278"/>
                    <a:pt x="20" y="272"/>
                    <a:pt x="20" y="265"/>
                  </a:cubicBezTo>
                  <a:cubicBezTo>
                    <a:pt x="20" y="265"/>
                    <a:pt x="20" y="265"/>
                    <a:pt x="20" y="265"/>
                  </a:cubicBezTo>
                  <a:lnTo>
                    <a:pt x="20" y="212"/>
                  </a:lnTo>
                  <a:close/>
                </a:path>
              </a:pathLst>
            </a:custGeom>
            <a:noFill/>
            <a:ln w="2540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6" name="path"/>
            <p:cNvSpPr/>
            <p:nvPr/>
          </p:nvSpPr>
          <p:spPr>
            <a:xfrm>
              <a:off x="338835" y="278638"/>
              <a:ext cx="796290" cy="954912"/>
            </a:xfrm>
            <a:custGeom>
              <a:avLst/>
              <a:gdLst/>
              <a:ahLst/>
              <a:cxnLst/>
              <a:rect l="0" t="0" r="0" b="0"/>
              <a:pathLst>
                <a:path w="1254" h="1503">
                  <a:moveTo>
                    <a:pt x="626" y="1503"/>
                  </a:moveTo>
                  <a:lnTo>
                    <a:pt x="0" y="1151"/>
                  </a:lnTo>
                  <a:lnTo>
                    <a:pt x="0" y="351"/>
                  </a:lnTo>
                  <a:lnTo>
                    <a:pt x="626" y="0"/>
                  </a:lnTo>
                  <a:lnTo>
                    <a:pt x="1254" y="351"/>
                  </a:lnTo>
                  <a:lnTo>
                    <a:pt x="1254" y="1151"/>
                  </a:lnTo>
                  <a:lnTo>
                    <a:pt x="626" y="15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7" name="path"/>
            <p:cNvSpPr/>
            <p:nvPr/>
          </p:nvSpPr>
          <p:spPr>
            <a:xfrm>
              <a:off x="378841" y="384937"/>
              <a:ext cx="716406" cy="742188"/>
            </a:xfrm>
            <a:custGeom>
              <a:avLst/>
              <a:gdLst/>
              <a:ahLst/>
              <a:cxnLst/>
              <a:rect l="0" t="0" r="0" b="0"/>
              <a:pathLst>
                <a:path w="1128" h="1168">
                  <a:moveTo>
                    <a:pt x="563" y="1168"/>
                  </a:moveTo>
                  <a:cubicBezTo>
                    <a:pt x="252" y="1168"/>
                    <a:pt x="0" y="907"/>
                    <a:pt x="0" y="584"/>
                  </a:cubicBezTo>
                  <a:cubicBezTo>
                    <a:pt x="0" y="584"/>
                    <a:pt x="0" y="584"/>
                    <a:pt x="0" y="584"/>
                  </a:cubicBezTo>
                  <a:lnTo>
                    <a:pt x="0" y="584"/>
                  </a:lnTo>
                  <a:cubicBezTo>
                    <a:pt x="0" y="261"/>
                    <a:pt x="252" y="0"/>
                    <a:pt x="563" y="0"/>
                  </a:cubicBezTo>
                  <a:cubicBezTo>
                    <a:pt x="563" y="0"/>
                    <a:pt x="563" y="0"/>
                    <a:pt x="563" y="0"/>
                  </a:cubicBezTo>
                  <a:lnTo>
                    <a:pt x="563" y="0"/>
                  </a:lnTo>
                  <a:cubicBezTo>
                    <a:pt x="875" y="0"/>
                    <a:pt x="1128" y="261"/>
                    <a:pt x="1128" y="584"/>
                  </a:cubicBezTo>
                  <a:cubicBezTo>
                    <a:pt x="1128" y="584"/>
                    <a:pt x="1128" y="584"/>
                    <a:pt x="1128" y="584"/>
                  </a:cubicBezTo>
                  <a:lnTo>
                    <a:pt x="1128" y="584"/>
                  </a:lnTo>
                  <a:cubicBezTo>
                    <a:pt x="1128" y="907"/>
                    <a:pt x="875" y="1168"/>
                    <a:pt x="563" y="1168"/>
                  </a:cubicBezTo>
                  <a:cubicBezTo>
                    <a:pt x="563" y="1168"/>
                    <a:pt x="563" y="1168"/>
                    <a:pt x="563" y="1168"/>
                  </a:cubicBezTo>
                </a:path>
              </a:pathLst>
            </a:custGeom>
            <a:solidFill>
              <a:srgbClr val="A6A6A6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8" name="path"/>
            <p:cNvSpPr/>
            <p:nvPr/>
          </p:nvSpPr>
          <p:spPr>
            <a:xfrm>
              <a:off x="359791" y="365887"/>
              <a:ext cx="754506" cy="780288"/>
            </a:xfrm>
            <a:custGeom>
              <a:avLst/>
              <a:gdLst/>
              <a:ahLst/>
              <a:cxnLst/>
              <a:rect l="0" t="0" r="0" b="0"/>
              <a:pathLst>
                <a:path w="1188" h="1228">
                  <a:moveTo>
                    <a:pt x="593" y="1198"/>
                  </a:moveTo>
                  <a:cubicBezTo>
                    <a:pt x="282" y="1198"/>
                    <a:pt x="30" y="937"/>
                    <a:pt x="30" y="614"/>
                  </a:cubicBezTo>
                  <a:cubicBezTo>
                    <a:pt x="30" y="614"/>
                    <a:pt x="30" y="614"/>
                    <a:pt x="30" y="614"/>
                  </a:cubicBezTo>
                  <a:lnTo>
                    <a:pt x="30" y="614"/>
                  </a:lnTo>
                  <a:cubicBezTo>
                    <a:pt x="30" y="291"/>
                    <a:pt x="282" y="30"/>
                    <a:pt x="593" y="30"/>
                  </a:cubicBezTo>
                  <a:cubicBezTo>
                    <a:pt x="593" y="30"/>
                    <a:pt x="593" y="30"/>
                    <a:pt x="593" y="30"/>
                  </a:cubicBezTo>
                  <a:lnTo>
                    <a:pt x="593" y="30"/>
                  </a:lnTo>
                  <a:cubicBezTo>
                    <a:pt x="905" y="30"/>
                    <a:pt x="1158" y="291"/>
                    <a:pt x="1158" y="614"/>
                  </a:cubicBezTo>
                  <a:cubicBezTo>
                    <a:pt x="1158" y="614"/>
                    <a:pt x="1158" y="614"/>
                    <a:pt x="1158" y="614"/>
                  </a:cubicBezTo>
                  <a:lnTo>
                    <a:pt x="1158" y="614"/>
                  </a:lnTo>
                  <a:cubicBezTo>
                    <a:pt x="1158" y="937"/>
                    <a:pt x="905" y="1198"/>
                    <a:pt x="593" y="1198"/>
                  </a:cubicBezTo>
                  <a:cubicBezTo>
                    <a:pt x="593" y="1198"/>
                    <a:pt x="593" y="1198"/>
                    <a:pt x="593" y="1198"/>
                  </a:cubicBezTo>
                </a:path>
              </a:pathLst>
            </a:custGeom>
            <a:noFill/>
            <a:ln w="3810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89" name="textbox 1389"/>
          <p:cNvSpPr/>
          <p:nvPr/>
        </p:nvSpPr>
        <p:spPr>
          <a:xfrm>
            <a:off x="1530140" y="3413703"/>
            <a:ext cx="4832984" cy="5251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3335" indent="-635" algn="l" rtl="0" eaLnBrk="0">
              <a:lnSpc>
                <a:spcPct val="99000"/>
              </a:lnSpc>
            </a:pP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给定一段目标语音 ，将输入的语音或文字转换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为目标语音中说话人的语音 ，其 </a:t>
            </a:r>
            <a:r>
              <a:rPr sz="110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可视为指定说话人的语音合成任务 ，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主要应用于智能配音等场景</a:t>
            </a:r>
            <a:endParaRPr lang="en-US" altLang="en-US" sz="1100" dirty="0"/>
          </a:p>
          <a:p>
            <a:pPr marL="12700" algn="l" rtl="0" eaLnBrk="0">
              <a:lnSpc>
                <a:spcPct val="98000"/>
              </a:lnSpc>
              <a:spcBef>
                <a:spcPts val="35"/>
              </a:spcBef>
            </a:pPr>
            <a:r>
              <a:rPr sz="110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现有产品/厂商如： Resem</a:t>
            </a: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leAI</a:t>
            </a:r>
            <a:r>
              <a:rPr sz="110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Replica</a:t>
            </a:r>
            <a:r>
              <a:rPr sz="1100" spc="-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en-US" sz="1100" dirty="0"/>
          </a:p>
        </p:txBody>
      </p:sp>
      <p:sp>
        <p:nvSpPr>
          <p:cNvPr id="1390" name="textbox 1390"/>
          <p:cNvSpPr/>
          <p:nvPr/>
        </p:nvSpPr>
        <p:spPr>
          <a:xfrm>
            <a:off x="1315891" y="2612968"/>
            <a:ext cx="4495800" cy="3575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indent="635" algn="l" rtl="0" eaLnBrk="0">
              <a:lnSpc>
                <a:spcPct val="99000"/>
              </a:lnSpc>
            </a:pPr>
            <a:r>
              <a:rPr sz="110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输入文字 ，输出特定说话人的语音 ，主要应用于机器人 ，语音播报等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</a:t>
            </a: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有产品/厂商如：科大讯飞、思必驰、ReadSpeaker等</a:t>
            </a:r>
            <a:endParaRPr lang="en-US" altLang="en-US" sz="1100" dirty="0"/>
          </a:p>
        </p:txBody>
      </p:sp>
      <p:sp>
        <p:nvSpPr>
          <p:cNvPr id="1391" name="textbox 1391"/>
          <p:cNvSpPr/>
          <p:nvPr/>
        </p:nvSpPr>
        <p:spPr>
          <a:xfrm>
            <a:off x="1411907" y="4334504"/>
            <a:ext cx="3582034" cy="3416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据开头旋律或文字描述等利用AI自动生成特定乐曲</a:t>
            </a:r>
            <a:endParaRPr lang="en-US" altLang="en-US" sz="1100" dirty="0"/>
          </a:p>
          <a:p>
            <a:pPr marL="12700" algn="l" rtl="0" eaLnBrk="0">
              <a:lnSpc>
                <a:spcPct val="89000"/>
              </a:lnSpc>
              <a:spcBef>
                <a:spcPts val="30"/>
              </a:spcBef>
            </a:pP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现有产品/厂商如： AmperMusic、IBM Watson </a:t>
            </a:r>
            <a:r>
              <a:rPr sz="11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Music</a:t>
            </a:r>
            <a:r>
              <a:rPr sz="110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en-US" sz="1100" dirty="0"/>
          </a:p>
        </p:txBody>
      </p:sp>
      <p:sp>
        <p:nvSpPr>
          <p:cNvPr id="1392" name="textbox 1392"/>
          <p:cNvSpPr/>
          <p:nvPr/>
        </p:nvSpPr>
        <p:spPr>
          <a:xfrm>
            <a:off x="6451680" y="3441051"/>
            <a:ext cx="807719" cy="9467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262255" algn="l" rtl="0" eaLnBrk="0">
              <a:lnSpc>
                <a:spcPct val="97000"/>
              </a:lnSpc>
            </a:pPr>
            <a:r>
              <a:rPr sz="1000" spc="5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语音克</a:t>
            </a:r>
            <a:r>
              <a:rPr sz="1000" spc="4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隆</a:t>
            </a:r>
            <a:endParaRPr lang="en-US" altLang="en-US" sz="1000" dirty="0"/>
          </a:p>
          <a:p>
            <a:pPr algn="l" rtl="0" eaLnBrk="0">
              <a:lnSpc>
                <a:spcPct val="144000"/>
              </a:lnSpc>
            </a:pPr>
            <a:endParaRPr lang="en-US" altLang="en-US" sz="1000" dirty="0"/>
          </a:p>
          <a:p>
            <a:pPr algn="l" rtl="0" eaLnBrk="0">
              <a:lnSpc>
                <a:spcPct val="145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88000"/>
              </a:lnSpc>
              <a:spcBef>
                <a:spcPts val="310"/>
              </a:spcBef>
            </a:pPr>
            <a:r>
              <a:rPr sz="1000" spc="4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r>
              <a:rPr sz="1000" spc="3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乐</a:t>
            </a:r>
            <a:endParaRPr lang="en-US" altLang="en-US" sz="1000" dirty="0"/>
          </a:p>
          <a:p>
            <a:pPr marL="12700" algn="l" rtl="0" eaLnBrk="0">
              <a:lnSpc>
                <a:spcPts val="1260"/>
              </a:lnSpc>
            </a:pPr>
            <a:r>
              <a:rPr sz="1000" spc="4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000" spc="30" dirty="0">
                <a:ln w="3831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1000" dirty="0"/>
          </a:p>
        </p:txBody>
      </p:sp>
      <p:sp>
        <p:nvSpPr>
          <p:cNvPr id="1393" name="textbox 1393"/>
          <p:cNvSpPr/>
          <p:nvPr/>
        </p:nvSpPr>
        <p:spPr>
          <a:xfrm>
            <a:off x="3267299" y="2005107"/>
            <a:ext cx="2402839" cy="3251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071245" indent="-1058545" algn="l" rtl="0" eaLnBrk="0">
              <a:lnSpc>
                <a:spcPct val="10900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图58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音频细分生成技术特点如下</a:t>
            </a:r>
            <a:r>
              <a:rPr sz="90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</a:t>
            </a:r>
            <a:r>
              <a:rPr sz="90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900" dirty="0"/>
          </a:p>
        </p:txBody>
      </p:sp>
      <p:sp>
        <p:nvSpPr>
          <p:cNvPr id="1394" name="path"/>
          <p:cNvSpPr/>
          <p:nvPr/>
        </p:nvSpPr>
        <p:spPr>
          <a:xfrm>
            <a:off x="3179560" y="3240278"/>
            <a:ext cx="3396638" cy="73659"/>
          </a:xfrm>
          <a:custGeom>
            <a:avLst/>
            <a:gdLst/>
            <a:ahLst/>
            <a:cxnLst/>
            <a:rect l="0" t="0" r="0" b="0"/>
            <a:pathLst>
              <a:path w="5349" h="115">
                <a:moveTo>
                  <a:pt x="0" y="44"/>
                </a:moveTo>
                <a:lnTo>
                  <a:pt x="5348" y="70"/>
                </a:lnTo>
              </a:path>
            </a:pathLst>
          </a:custGeom>
          <a:noFill/>
          <a:ln w="57150" cap="flat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04" name="group 204"/>
          <p:cNvGrpSpPr/>
          <p:nvPr/>
        </p:nvGrpSpPr>
        <p:grpSpPr>
          <a:xfrm rot="21600000">
            <a:off x="1657222" y="3028645"/>
            <a:ext cx="1850516" cy="245414"/>
            <a:chOff x="0" y="0"/>
            <a:chExt cx="1850516" cy="245414"/>
          </a:xfrm>
        </p:grpSpPr>
        <p:grpSp>
          <p:nvGrpSpPr>
            <p:cNvPr id="206" name="group 206"/>
            <p:cNvGrpSpPr/>
            <p:nvPr/>
          </p:nvGrpSpPr>
          <p:grpSpPr>
            <a:xfrm rot="21600000">
              <a:off x="0" y="28575"/>
              <a:ext cx="1850516" cy="216839"/>
              <a:chOff x="0" y="0"/>
              <a:chExt cx="1850516" cy="216839"/>
            </a:xfrm>
          </p:grpSpPr>
          <p:sp>
            <p:nvSpPr>
              <p:cNvPr id="1395" name="path"/>
              <p:cNvSpPr/>
              <p:nvPr/>
            </p:nvSpPr>
            <p:spPr>
              <a:xfrm>
                <a:off x="28575" y="0"/>
                <a:ext cx="1793366" cy="216839"/>
              </a:xfrm>
              <a:custGeom>
                <a:avLst/>
                <a:gdLst/>
                <a:ahLst/>
                <a:cxnLst/>
                <a:rect l="0" t="0" r="0" b="0"/>
                <a:pathLst>
                  <a:path w="2824" h="341">
                    <a:moveTo>
                      <a:pt x="0" y="341"/>
                    </a:moveTo>
                    <a:lnTo>
                      <a:pt x="2824" y="341"/>
                    </a:lnTo>
                    <a:lnTo>
                      <a:pt x="2824" y="0"/>
                    </a:lnTo>
                    <a:lnTo>
                      <a:pt x="0" y="0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BFBFBF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6" name="path"/>
              <p:cNvSpPr/>
              <p:nvPr/>
            </p:nvSpPr>
            <p:spPr>
              <a:xfrm>
                <a:off x="0" y="0"/>
                <a:ext cx="1850516" cy="216839"/>
              </a:xfrm>
              <a:custGeom>
                <a:avLst/>
                <a:gdLst/>
                <a:ahLst/>
                <a:cxnLst/>
                <a:rect l="0" t="0" r="0" b="0"/>
                <a:pathLst>
                  <a:path w="2914" h="341">
                    <a:moveTo>
                      <a:pt x="2869" y="341"/>
                    </a:moveTo>
                    <a:lnTo>
                      <a:pt x="2869" y="0"/>
                    </a:lnTo>
                    <a:moveTo>
                      <a:pt x="45" y="0"/>
                    </a:moveTo>
                    <a:lnTo>
                      <a:pt x="45" y="341"/>
                    </a:lnTo>
                    <a:close/>
                  </a:path>
                </a:pathLst>
              </a:custGeom>
              <a:noFill/>
              <a:ln w="57150" cap="flat">
                <a:solidFill>
                  <a:srgbClr val="BFBFBF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97" name="path"/>
            <p:cNvSpPr/>
            <p:nvPr/>
          </p:nvSpPr>
          <p:spPr>
            <a:xfrm>
              <a:off x="28575" y="0"/>
              <a:ext cx="1793366" cy="57150"/>
            </a:xfrm>
            <a:custGeom>
              <a:avLst/>
              <a:gdLst/>
              <a:ahLst/>
              <a:cxnLst/>
              <a:rect l="0" t="0" r="0" b="0"/>
              <a:pathLst>
                <a:path w="2824" h="90">
                  <a:moveTo>
                    <a:pt x="2824" y="45"/>
                  </a:moveTo>
                  <a:lnTo>
                    <a:pt x="0" y="45"/>
                  </a:lnTo>
                </a:path>
              </a:pathLst>
            </a:custGeom>
            <a:noFill/>
            <a:ln w="57150" cap="flat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8" name="textbox 1398"/>
            <p:cNvSpPr/>
            <p:nvPr/>
          </p:nvSpPr>
          <p:spPr>
            <a:xfrm>
              <a:off x="636150" y="55126"/>
              <a:ext cx="584200" cy="18097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ct val="93000"/>
                </a:lnSpc>
              </a:pPr>
              <a:r>
                <a:rPr sz="1100" spc="-10" dirty="0">
                  <a:ln w="400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语</a:t>
              </a:r>
              <a:r>
                <a:rPr sz="1100" spc="0" dirty="0">
                  <a:ln w="400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音克隆</a:t>
              </a:r>
              <a:endParaRPr lang="en-US" altLang="en-US" sz="1100" dirty="0"/>
            </a:p>
          </p:txBody>
        </p:sp>
      </p:grpSp>
      <p:grpSp>
        <p:nvGrpSpPr>
          <p:cNvPr id="208" name="group 208"/>
          <p:cNvGrpSpPr/>
          <p:nvPr/>
        </p:nvGrpSpPr>
        <p:grpSpPr>
          <a:xfrm rot="21600000">
            <a:off x="1242948" y="2332558"/>
            <a:ext cx="1850516" cy="216839"/>
            <a:chOff x="0" y="0"/>
            <a:chExt cx="1850516" cy="216839"/>
          </a:xfrm>
        </p:grpSpPr>
        <p:sp>
          <p:nvSpPr>
            <p:cNvPr id="1399" name="path"/>
            <p:cNvSpPr/>
            <p:nvPr/>
          </p:nvSpPr>
          <p:spPr>
            <a:xfrm>
              <a:off x="28575" y="0"/>
              <a:ext cx="1793366" cy="216839"/>
            </a:xfrm>
            <a:custGeom>
              <a:avLst/>
              <a:gdLst/>
              <a:ahLst/>
              <a:cxnLst/>
              <a:rect l="0" t="0" r="0" b="0"/>
              <a:pathLst>
                <a:path w="2824" h="341">
                  <a:moveTo>
                    <a:pt x="0" y="341"/>
                  </a:moveTo>
                  <a:lnTo>
                    <a:pt x="2824" y="341"/>
                  </a:lnTo>
                  <a:lnTo>
                    <a:pt x="2824" y="0"/>
                  </a:lnTo>
                  <a:lnTo>
                    <a:pt x="0" y="0"/>
                  </a:lnTo>
                  <a:lnTo>
                    <a:pt x="0" y="341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0" name="path"/>
            <p:cNvSpPr/>
            <p:nvPr/>
          </p:nvSpPr>
          <p:spPr>
            <a:xfrm>
              <a:off x="0" y="0"/>
              <a:ext cx="1850516" cy="216839"/>
            </a:xfrm>
            <a:custGeom>
              <a:avLst/>
              <a:gdLst/>
              <a:ahLst/>
              <a:cxnLst/>
              <a:rect l="0" t="0" r="0" b="0"/>
              <a:pathLst>
                <a:path w="2914" h="341">
                  <a:moveTo>
                    <a:pt x="2869" y="341"/>
                  </a:moveTo>
                  <a:lnTo>
                    <a:pt x="2869" y="0"/>
                  </a:lnTo>
                  <a:moveTo>
                    <a:pt x="45" y="0"/>
                  </a:moveTo>
                  <a:lnTo>
                    <a:pt x="45" y="341"/>
                  </a:lnTo>
                  <a:close/>
                </a:path>
              </a:pathLst>
            </a:custGeom>
            <a:noFill/>
            <a:ln w="57150" cap="flat">
              <a:solidFill>
                <a:srgbClr val="0081F0">
                  <a:alpha val="10000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10" name="group 210"/>
          <p:cNvGrpSpPr/>
          <p:nvPr/>
        </p:nvGrpSpPr>
        <p:grpSpPr>
          <a:xfrm rot="21600000">
            <a:off x="1324991" y="3999687"/>
            <a:ext cx="1850516" cy="216839"/>
            <a:chOff x="0" y="0"/>
            <a:chExt cx="1850516" cy="216839"/>
          </a:xfrm>
        </p:grpSpPr>
        <p:grpSp>
          <p:nvGrpSpPr>
            <p:cNvPr id="212" name="group 212"/>
            <p:cNvGrpSpPr/>
            <p:nvPr/>
          </p:nvGrpSpPr>
          <p:grpSpPr>
            <a:xfrm rot="21600000">
              <a:off x="0" y="0"/>
              <a:ext cx="1850516" cy="216839"/>
              <a:chOff x="0" y="0"/>
              <a:chExt cx="1850516" cy="216839"/>
            </a:xfrm>
          </p:grpSpPr>
          <p:sp>
            <p:nvSpPr>
              <p:cNvPr id="1401" name="path"/>
              <p:cNvSpPr/>
              <p:nvPr/>
            </p:nvSpPr>
            <p:spPr>
              <a:xfrm>
                <a:off x="28575" y="0"/>
                <a:ext cx="1793366" cy="216839"/>
              </a:xfrm>
              <a:custGeom>
                <a:avLst/>
                <a:gdLst/>
                <a:ahLst/>
                <a:cxnLst/>
                <a:rect l="0" t="0" r="0" b="0"/>
                <a:pathLst>
                  <a:path w="2824" h="341">
                    <a:moveTo>
                      <a:pt x="0" y="341"/>
                    </a:moveTo>
                    <a:lnTo>
                      <a:pt x="2824" y="341"/>
                    </a:lnTo>
                    <a:lnTo>
                      <a:pt x="2824" y="0"/>
                    </a:lnTo>
                    <a:lnTo>
                      <a:pt x="0" y="0"/>
                    </a:lnTo>
                    <a:lnTo>
                      <a:pt x="0" y="341"/>
                    </a:lnTo>
                    <a:close/>
                  </a:path>
                </a:pathLst>
              </a:custGeom>
              <a:solidFill>
                <a:srgbClr val="004E97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2" name="path"/>
              <p:cNvSpPr/>
              <p:nvPr/>
            </p:nvSpPr>
            <p:spPr>
              <a:xfrm>
                <a:off x="0" y="0"/>
                <a:ext cx="1850516" cy="216839"/>
              </a:xfrm>
              <a:custGeom>
                <a:avLst/>
                <a:gdLst/>
                <a:ahLst/>
                <a:cxnLst/>
                <a:rect l="0" t="0" r="0" b="0"/>
                <a:pathLst>
                  <a:path w="2914" h="341">
                    <a:moveTo>
                      <a:pt x="2869" y="341"/>
                    </a:moveTo>
                    <a:lnTo>
                      <a:pt x="2869" y="0"/>
                    </a:lnTo>
                    <a:moveTo>
                      <a:pt x="45" y="0"/>
                    </a:moveTo>
                    <a:lnTo>
                      <a:pt x="45" y="341"/>
                    </a:lnTo>
                    <a:close/>
                  </a:path>
                </a:pathLst>
              </a:custGeom>
              <a:noFill/>
              <a:ln w="57150" cap="flat">
                <a:solidFill>
                  <a:srgbClr val="004E97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03" name="textbox 1403"/>
            <p:cNvSpPr/>
            <p:nvPr/>
          </p:nvSpPr>
          <p:spPr>
            <a:xfrm>
              <a:off x="-12700" y="-12700"/>
              <a:ext cx="1876425" cy="25717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lang="en-US" altLang="en-US" sz="300" dirty="0"/>
            </a:p>
            <a:p>
              <a:pPr marL="662940" algn="l" rtl="0" eaLnBrk="0">
                <a:lnSpc>
                  <a:spcPct val="92000"/>
                </a:lnSpc>
                <a:spcBef>
                  <a:spcPts val="0"/>
                </a:spcBef>
              </a:pPr>
              <a:r>
                <a:rPr sz="1100" spc="-10" dirty="0">
                  <a:ln w="400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音乐</a:t>
              </a:r>
              <a:r>
                <a:rPr sz="1100" spc="0" dirty="0">
                  <a:ln w="4005" cap="flat" cmpd="sng">
                    <a:solidFill>
                      <a:srgbClr val="FFFFFF">
                        <a:alpha val="100000"/>
                      </a:srgbClr>
                    </a:solidFill>
                    <a:prstDash val="solid"/>
                    <a:round/>
                  </a:ln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生成</a:t>
              </a:r>
              <a:endParaRPr lang="en-US" altLang="en-US" sz="1100" dirty="0"/>
            </a:p>
          </p:txBody>
        </p:sp>
      </p:grpSp>
      <p:sp>
        <p:nvSpPr>
          <p:cNvPr id="1404" name="path"/>
          <p:cNvSpPr/>
          <p:nvPr/>
        </p:nvSpPr>
        <p:spPr>
          <a:xfrm>
            <a:off x="1271523" y="2513964"/>
            <a:ext cx="4894598" cy="64008"/>
          </a:xfrm>
          <a:custGeom>
            <a:avLst/>
            <a:gdLst/>
            <a:ahLst/>
            <a:cxnLst/>
            <a:rect l="0" t="0" r="0" b="0"/>
            <a:pathLst>
              <a:path w="7708" h="100">
                <a:moveTo>
                  <a:pt x="1651" y="48"/>
                </a:moveTo>
                <a:lnTo>
                  <a:pt x="7707" y="45"/>
                </a:lnTo>
                <a:moveTo>
                  <a:pt x="0" y="55"/>
                </a:moveTo>
                <a:lnTo>
                  <a:pt x="2824" y="55"/>
                </a:lnTo>
              </a:path>
            </a:pathLst>
          </a:custGeom>
          <a:noFill/>
          <a:ln w="57150" cap="flat">
            <a:solidFill>
              <a:srgbClr val="0081F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5" name="path"/>
          <p:cNvSpPr/>
          <p:nvPr/>
        </p:nvSpPr>
        <p:spPr>
          <a:xfrm>
            <a:off x="1353566" y="4181094"/>
            <a:ext cx="4890407" cy="64008"/>
          </a:xfrm>
          <a:custGeom>
            <a:avLst/>
            <a:gdLst/>
            <a:ahLst/>
            <a:cxnLst/>
            <a:rect l="0" t="0" r="0" b="0"/>
            <a:pathLst>
              <a:path w="7701" h="100">
                <a:moveTo>
                  <a:pt x="1641" y="49"/>
                </a:moveTo>
                <a:lnTo>
                  <a:pt x="7701" y="45"/>
                </a:lnTo>
                <a:moveTo>
                  <a:pt x="0" y="55"/>
                </a:moveTo>
                <a:lnTo>
                  <a:pt x="2824" y="55"/>
                </a:lnTo>
              </a:path>
            </a:pathLst>
          </a:custGeom>
          <a:noFill/>
          <a:ln w="57150" cap="flat">
            <a:solidFill>
              <a:srgbClr val="004E97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7" name="textbox 1407"/>
          <p:cNvSpPr/>
          <p:nvPr/>
        </p:nvSpPr>
        <p:spPr>
          <a:xfrm>
            <a:off x="7725536" y="3188512"/>
            <a:ext cx="788669" cy="3911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63830" indent="-151130" algn="l" rtl="0" eaLnBrk="0">
              <a:lnSpc>
                <a:spcPct val="99000"/>
              </a:lnSpc>
            </a:pPr>
            <a:r>
              <a:rPr sz="1200" spc="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音频生成细</a:t>
            </a:r>
            <a:r>
              <a:rPr sz="12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1200" spc="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lang="en-US" altLang="en-US" sz="1200" dirty="0"/>
          </a:p>
        </p:txBody>
      </p:sp>
      <p:sp>
        <p:nvSpPr>
          <p:cNvPr id="1410" name="textbox 1410"/>
          <p:cNvSpPr/>
          <p:nvPr/>
        </p:nvSpPr>
        <p:spPr>
          <a:xfrm>
            <a:off x="475598" y="4978089"/>
            <a:ext cx="1958975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来源：量子位智库，国泰君安证券研究</a:t>
            </a:r>
            <a:endParaRPr lang="en-US" altLang="en-US" sz="800" dirty="0"/>
          </a:p>
        </p:txBody>
      </p:sp>
      <p:sp>
        <p:nvSpPr>
          <p:cNvPr id="1411" name="textbox 1411"/>
          <p:cNvSpPr/>
          <p:nvPr/>
        </p:nvSpPr>
        <p:spPr>
          <a:xfrm>
            <a:off x="1670035" y="2369523"/>
            <a:ext cx="1002030" cy="1803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2000"/>
              </a:lnSpc>
            </a:pPr>
            <a:r>
              <a:rPr sz="1100" spc="-10" dirty="0">
                <a:ln w="400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  <a:r>
              <a:rPr sz="1100" spc="0" dirty="0">
                <a:ln w="400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round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到语音合成</a:t>
            </a:r>
            <a:endParaRPr lang="en-US" altLang="en-US" sz="1100" dirty="0"/>
          </a:p>
        </p:txBody>
      </p:sp>
      <p:sp>
        <p:nvSpPr>
          <p:cNvPr id="1412" name="path"/>
          <p:cNvSpPr/>
          <p:nvPr/>
        </p:nvSpPr>
        <p:spPr>
          <a:xfrm>
            <a:off x="1271523" y="2303983"/>
            <a:ext cx="1793366" cy="57150"/>
          </a:xfrm>
          <a:custGeom>
            <a:avLst/>
            <a:gdLst/>
            <a:ahLst/>
            <a:cxnLst/>
            <a:rect l="0" t="0" r="0" b="0"/>
            <a:pathLst>
              <a:path w="2824" h="90">
                <a:moveTo>
                  <a:pt x="2824" y="45"/>
                </a:moveTo>
                <a:lnTo>
                  <a:pt x="0" y="45"/>
                </a:lnTo>
              </a:path>
            </a:pathLst>
          </a:custGeom>
          <a:noFill/>
          <a:ln w="57150" cap="flat">
            <a:solidFill>
              <a:srgbClr val="0081F0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3" name="path"/>
          <p:cNvSpPr/>
          <p:nvPr/>
        </p:nvSpPr>
        <p:spPr>
          <a:xfrm>
            <a:off x="1685797" y="3245485"/>
            <a:ext cx="1793366" cy="57150"/>
          </a:xfrm>
          <a:custGeom>
            <a:avLst/>
            <a:gdLst/>
            <a:ahLst/>
            <a:cxnLst/>
            <a:rect l="0" t="0" r="0" b="0"/>
            <a:pathLst>
              <a:path w="2824" h="90">
                <a:moveTo>
                  <a:pt x="0" y="45"/>
                </a:moveTo>
                <a:lnTo>
                  <a:pt x="2824" y="45"/>
                </a:lnTo>
              </a:path>
            </a:pathLst>
          </a:custGeom>
          <a:noFill/>
          <a:ln w="57150" cap="flat">
            <a:solidFill>
              <a:srgbClr val="BFBFB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4" name="rect"/>
          <p:cNvSpPr/>
          <p:nvPr/>
        </p:nvSpPr>
        <p:spPr>
          <a:xfrm>
            <a:off x="1353566" y="3971112"/>
            <a:ext cx="1793366" cy="57150"/>
          </a:xfrm>
          <a:prstGeom prst="rect">
            <a:avLst/>
          </a:prstGeom>
          <a:solidFill>
            <a:srgbClr val="004E97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5" name="path"/>
          <p:cNvSpPr/>
          <p:nvPr/>
        </p:nvSpPr>
        <p:spPr>
          <a:xfrm>
            <a:off x="6844792" y="3087750"/>
            <a:ext cx="271906" cy="274193"/>
          </a:xfrm>
          <a:custGeom>
            <a:avLst/>
            <a:gdLst/>
            <a:ahLst/>
            <a:cxnLst/>
            <a:rect l="0" t="0" r="0" b="0"/>
            <a:pathLst>
              <a:path w="428" h="431">
                <a:moveTo>
                  <a:pt x="20" y="214"/>
                </a:moveTo>
                <a:cubicBezTo>
                  <a:pt x="20" y="107"/>
                  <a:pt x="106" y="20"/>
                  <a:pt x="214" y="20"/>
                </a:cubicBezTo>
                <a:cubicBezTo>
                  <a:pt x="214" y="20"/>
                  <a:pt x="214" y="20"/>
                  <a:pt x="214" y="20"/>
                </a:cubicBezTo>
                <a:lnTo>
                  <a:pt x="214" y="20"/>
                </a:lnTo>
                <a:cubicBezTo>
                  <a:pt x="321" y="20"/>
                  <a:pt x="408" y="107"/>
                  <a:pt x="408" y="214"/>
                </a:cubicBezTo>
                <a:cubicBezTo>
                  <a:pt x="408" y="214"/>
                  <a:pt x="408" y="214"/>
                  <a:pt x="408" y="214"/>
                </a:cubicBezTo>
                <a:lnTo>
                  <a:pt x="408" y="214"/>
                </a:lnTo>
                <a:cubicBezTo>
                  <a:pt x="408" y="322"/>
                  <a:pt x="321" y="409"/>
                  <a:pt x="214" y="409"/>
                </a:cubicBezTo>
                <a:cubicBezTo>
                  <a:pt x="214" y="409"/>
                  <a:pt x="214" y="409"/>
                  <a:pt x="214" y="409"/>
                </a:cubicBezTo>
                <a:lnTo>
                  <a:pt x="214" y="409"/>
                </a:lnTo>
                <a:cubicBezTo>
                  <a:pt x="106" y="409"/>
                  <a:pt x="20" y="322"/>
                  <a:pt x="20" y="214"/>
                </a:cubicBezTo>
                <a:cubicBezTo>
                  <a:pt x="20" y="214"/>
                  <a:pt x="20" y="214"/>
                  <a:pt x="20" y="214"/>
                </a:cubicBezTo>
                <a:moveTo>
                  <a:pt x="215" y="20"/>
                </a:moveTo>
                <a:lnTo>
                  <a:pt x="215" y="406"/>
                </a:lnTo>
                <a:moveTo>
                  <a:pt x="20" y="213"/>
                </a:moveTo>
                <a:lnTo>
                  <a:pt x="408" y="213"/>
                </a:lnTo>
                <a:moveTo>
                  <a:pt x="241" y="22"/>
                </a:moveTo>
                <a:cubicBezTo>
                  <a:pt x="267" y="62"/>
                  <a:pt x="322" y="101"/>
                  <a:pt x="322" y="215"/>
                </a:cubicBezTo>
                <a:cubicBezTo>
                  <a:pt x="322" y="330"/>
                  <a:pt x="272" y="378"/>
                  <a:pt x="244" y="406"/>
                </a:cubicBezTo>
                <a:moveTo>
                  <a:pt x="183" y="25"/>
                </a:moveTo>
                <a:cubicBezTo>
                  <a:pt x="161" y="53"/>
                  <a:pt x="110" y="104"/>
                  <a:pt x="110" y="219"/>
                </a:cubicBezTo>
                <a:cubicBezTo>
                  <a:pt x="110" y="333"/>
                  <a:pt x="165" y="366"/>
                  <a:pt x="197" y="411"/>
                </a:cubicBezTo>
                <a:moveTo>
                  <a:pt x="356" y="84"/>
                </a:moveTo>
                <a:cubicBezTo>
                  <a:pt x="335" y="97"/>
                  <a:pt x="297" y="127"/>
                  <a:pt x="211" y="127"/>
                </a:cubicBezTo>
                <a:cubicBezTo>
                  <a:pt x="126" y="127"/>
                  <a:pt x="101" y="95"/>
                  <a:pt x="67" y="77"/>
                </a:cubicBezTo>
              </a:path>
            </a:pathLst>
          </a:cu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6" name="rect"/>
          <p:cNvSpPr/>
          <p:nvPr/>
        </p:nvSpPr>
        <p:spPr>
          <a:xfrm>
            <a:off x="6446011" y="2375789"/>
            <a:ext cx="241300" cy="176783"/>
          </a:xfrm>
          <a:prstGeom prst="rect">
            <a:avLst/>
          </a:prstGeom>
          <a:solidFill>
            <a:srgbClr val="FFFFFF">
              <a:alpha val="99607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7" name="path"/>
          <p:cNvSpPr/>
          <p:nvPr/>
        </p:nvSpPr>
        <p:spPr>
          <a:xfrm>
            <a:off x="6872858" y="3265804"/>
            <a:ext cx="209168" cy="57530"/>
          </a:xfrm>
          <a:custGeom>
            <a:avLst/>
            <a:gdLst/>
            <a:ahLst/>
            <a:cxnLst/>
            <a:rect l="0" t="0" r="0" b="0"/>
            <a:pathLst>
              <a:path w="329" h="90">
                <a:moveTo>
                  <a:pt x="309" y="63"/>
                </a:moveTo>
                <a:cubicBezTo>
                  <a:pt x="288" y="50"/>
                  <a:pt x="250" y="20"/>
                  <a:pt x="164" y="20"/>
                </a:cubicBezTo>
                <a:cubicBezTo>
                  <a:pt x="78" y="20"/>
                  <a:pt x="53" y="52"/>
                  <a:pt x="20" y="70"/>
                </a:cubicBezTo>
              </a:path>
            </a:pathLst>
          </a:cu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8" name="path"/>
          <p:cNvSpPr/>
          <p:nvPr/>
        </p:nvSpPr>
        <p:spPr>
          <a:xfrm>
            <a:off x="6593077" y="3898201"/>
            <a:ext cx="90424" cy="126568"/>
          </a:xfrm>
          <a:custGeom>
            <a:avLst/>
            <a:gdLst/>
            <a:ahLst/>
            <a:cxnLst/>
            <a:rect l="0" t="0" r="0" b="0"/>
            <a:pathLst>
              <a:path w="142" h="199">
                <a:moveTo>
                  <a:pt x="142" y="179"/>
                </a:moveTo>
                <a:lnTo>
                  <a:pt x="94" y="179"/>
                </a:lnTo>
                <a:moveTo>
                  <a:pt x="78" y="20"/>
                </a:moveTo>
                <a:lnTo>
                  <a:pt x="0" y="20"/>
                </a:lnTo>
                <a:moveTo>
                  <a:pt x="78" y="46"/>
                </a:moveTo>
                <a:lnTo>
                  <a:pt x="30" y="46"/>
                </a:lnTo>
                <a:moveTo>
                  <a:pt x="78" y="95"/>
                </a:moveTo>
                <a:lnTo>
                  <a:pt x="43" y="95"/>
                </a:lnTo>
              </a:path>
            </a:pathLst>
          </a:cu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9" name="path"/>
          <p:cNvSpPr/>
          <p:nvPr/>
        </p:nvSpPr>
        <p:spPr>
          <a:xfrm>
            <a:off x="6519164" y="2330323"/>
            <a:ext cx="89153" cy="40131"/>
          </a:xfrm>
          <a:custGeom>
            <a:avLst/>
            <a:gdLst/>
            <a:ahLst/>
            <a:cxnLst/>
            <a:rect l="0" t="0" r="0" b="0"/>
            <a:pathLst>
              <a:path w="140" h="63">
                <a:moveTo>
                  <a:pt x="35" y="63"/>
                </a:moveTo>
                <a:cubicBezTo>
                  <a:pt x="35" y="45"/>
                  <a:pt x="50" y="31"/>
                  <a:pt x="70" y="31"/>
                </a:cubicBezTo>
                <a:cubicBezTo>
                  <a:pt x="89" y="31"/>
                  <a:pt x="105" y="45"/>
                  <a:pt x="105" y="63"/>
                </a:cubicBezTo>
                <a:lnTo>
                  <a:pt x="140" y="63"/>
                </a:lnTo>
                <a:cubicBezTo>
                  <a:pt x="140" y="28"/>
                  <a:pt x="109" y="0"/>
                  <a:pt x="70" y="0"/>
                </a:cubicBezTo>
                <a:cubicBezTo>
                  <a:pt x="31" y="0"/>
                  <a:pt x="0" y="28"/>
                  <a:pt x="0" y="63"/>
                </a:cubicBezTo>
                <a:lnTo>
                  <a:pt x="35" y="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0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1" name="picture 14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grpSp>
        <p:nvGrpSpPr>
          <p:cNvPr id="214" name="group 214"/>
          <p:cNvGrpSpPr/>
          <p:nvPr/>
        </p:nvGrpSpPr>
        <p:grpSpPr>
          <a:xfrm rot="21600000">
            <a:off x="3676522" y="2972816"/>
            <a:ext cx="3970528" cy="1830743"/>
            <a:chOff x="0" y="0"/>
            <a:chExt cx="3970528" cy="1830743"/>
          </a:xfrm>
        </p:grpSpPr>
        <p:sp>
          <p:nvSpPr>
            <p:cNvPr id="1422" name="path"/>
            <p:cNvSpPr/>
            <p:nvPr/>
          </p:nvSpPr>
          <p:spPr>
            <a:xfrm>
              <a:off x="878078" y="887260"/>
              <a:ext cx="3092450" cy="707262"/>
            </a:xfrm>
            <a:custGeom>
              <a:avLst/>
              <a:gdLst/>
              <a:ahLst/>
              <a:cxnLst/>
              <a:rect l="0" t="0" r="0" b="0"/>
              <a:pathLst>
                <a:path w="4870" h="1113">
                  <a:moveTo>
                    <a:pt x="0" y="1113"/>
                  </a:moveTo>
                  <a:lnTo>
                    <a:pt x="4870" y="1113"/>
                  </a:lnTo>
                  <a:lnTo>
                    <a:pt x="4870" y="0"/>
                  </a:lnTo>
                  <a:lnTo>
                    <a:pt x="0" y="0"/>
                  </a:lnTo>
                  <a:lnTo>
                    <a:pt x="0" y="1113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3" name="path"/>
            <p:cNvSpPr/>
            <p:nvPr/>
          </p:nvSpPr>
          <p:spPr>
            <a:xfrm>
              <a:off x="0" y="886586"/>
              <a:ext cx="878078" cy="944156"/>
            </a:xfrm>
            <a:custGeom>
              <a:avLst/>
              <a:gdLst/>
              <a:ahLst/>
              <a:cxnLst/>
              <a:rect l="0" t="0" r="0" b="0"/>
              <a:pathLst>
                <a:path w="1382" h="1486">
                  <a:moveTo>
                    <a:pt x="1382" y="0"/>
                  </a:moveTo>
                  <a:lnTo>
                    <a:pt x="0" y="1376"/>
                  </a:lnTo>
                  <a:lnTo>
                    <a:pt x="179" y="1486"/>
                  </a:lnTo>
                  <a:lnTo>
                    <a:pt x="1382" y="1113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0061B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4" name="path"/>
            <p:cNvSpPr/>
            <p:nvPr/>
          </p:nvSpPr>
          <p:spPr>
            <a:xfrm>
              <a:off x="225679" y="0"/>
              <a:ext cx="3727068" cy="944130"/>
            </a:xfrm>
            <a:custGeom>
              <a:avLst/>
              <a:gdLst/>
              <a:ahLst/>
              <a:cxnLst/>
              <a:rect l="0" t="0" r="0" b="0"/>
              <a:pathLst>
                <a:path w="5869" h="1486">
                  <a:moveTo>
                    <a:pt x="1033" y="1114"/>
                  </a:moveTo>
                  <a:lnTo>
                    <a:pt x="5869" y="1114"/>
                  </a:lnTo>
                  <a:lnTo>
                    <a:pt x="5869" y="1"/>
                  </a:lnTo>
                  <a:lnTo>
                    <a:pt x="1033" y="1"/>
                  </a:lnTo>
                  <a:lnTo>
                    <a:pt x="1033" y="1114"/>
                  </a:lnTo>
                  <a:close/>
                </a:path>
                <a:path w="5869" h="1486">
                  <a:moveTo>
                    <a:pt x="1033" y="0"/>
                  </a:moveTo>
                  <a:lnTo>
                    <a:pt x="0" y="1376"/>
                  </a:lnTo>
                  <a:lnTo>
                    <a:pt x="133" y="1486"/>
                  </a:lnTo>
                  <a:lnTo>
                    <a:pt x="1033" y="1113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13A5E4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5" name="path"/>
            <p:cNvSpPr/>
            <p:nvPr/>
          </p:nvSpPr>
          <p:spPr>
            <a:xfrm>
              <a:off x="1085977" y="168782"/>
              <a:ext cx="459485" cy="1287792"/>
            </a:xfrm>
            <a:custGeom>
              <a:avLst/>
              <a:gdLst/>
              <a:ahLst/>
              <a:cxnLst/>
              <a:rect l="0" t="0" r="0" b="0"/>
              <a:pathLst>
                <a:path w="723" h="2028">
                  <a:moveTo>
                    <a:pt x="688" y="1625"/>
                  </a:moveTo>
                  <a:cubicBezTo>
                    <a:pt x="693" y="1625"/>
                    <a:pt x="697" y="1627"/>
                    <a:pt x="700" y="1630"/>
                  </a:cubicBezTo>
                  <a:cubicBezTo>
                    <a:pt x="704" y="1633"/>
                    <a:pt x="706" y="1637"/>
                    <a:pt x="706" y="1642"/>
                  </a:cubicBezTo>
                  <a:lnTo>
                    <a:pt x="706" y="1712"/>
                  </a:lnTo>
                  <a:cubicBezTo>
                    <a:pt x="706" y="1724"/>
                    <a:pt x="700" y="1730"/>
                    <a:pt x="688" y="1730"/>
                  </a:cubicBezTo>
                  <a:lnTo>
                    <a:pt x="612" y="1730"/>
                  </a:lnTo>
                  <a:cubicBezTo>
                    <a:pt x="607" y="1755"/>
                    <a:pt x="598" y="1780"/>
                    <a:pt x="585" y="1802"/>
                  </a:cubicBezTo>
                  <a:cubicBezTo>
                    <a:pt x="573" y="1825"/>
                    <a:pt x="557" y="1845"/>
                    <a:pt x="540" y="1863"/>
                  </a:cubicBezTo>
                  <a:cubicBezTo>
                    <a:pt x="522" y="1880"/>
                    <a:pt x="501" y="1896"/>
                    <a:pt x="478" y="1908"/>
                  </a:cubicBezTo>
                  <a:cubicBezTo>
                    <a:pt x="455" y="1921"/>
                    <a:pt x="431" y="1930"/>
                    <a:pt x="405" y="1935"/>
                  </a:cubicBezTo>
                  <a:lnTo>
                    <a:pt x="405" y="2010"/>
                  </a:lnTo>
                  <a:cubicBezTo>
                    <a:pt x="405" y="2015"/>
                    <a:pt x="404" y="2019"/>
                    <a:pt x="401" y="2022"/>
                  </a:cubicBezTo>
                  <a:cubicBezTo>
                    <a:pt x="397" y="2026"/>
                    <a:pt x="394" y="2028"/>
                    <a:pt x="388" y="2028"/>
                  </a:cubicBezTo>
                  <a:lnTo>
                    <a:pt x="318" y="2028"/>
                  </a:lnTo>
                  <a:cubicBezTo>
                    <a:pt x="306" y="2028"/>
                    <a:pt x="300" y="2022"/>
                    <a:pt x="300" y="2010"/>
                  </a:cubicBezTo>
                  <a:lnTo>
                    <a:pt x="300" y="1935"/>
                  </a:lnTo>
                  <a:cubicBezTo>
                    <a:pt x="274" y="1930"/>
                    <a:pt x="250" y="1921"/>
                    <a:pt x="227" y="1908"/>
                  </a:cubicBezTo>
                  <a:cubicBezTo>
                    <a:pt x="204" y="1896"/>
                    <a:pt x="184" y="1880"/>
                    <a:pt x="166" y="1863"/>
                  </a:cubicBezTo>
                  <a:cubicBezTo>
                    <a:pt x="148" y="1845"/>
                    <a:pt x="132" y="1825"/>
                    <a:pt x="120" y="1802"/>
                  </a:cubicBezTo>
                  <a:cubicBezTo>
                    <a:pt x="107" y="1780"/>
                    <a:pt x="98" y="1755"/>
                    <a:pt x="93" y="1730"/>
                  </a:cubicBezTo>
                  <a:lnTo>
                    <a:pt x="17" y="1730"/>
                  </a:lnTo>
                  <a:cubicBezTo>
                    <a:pt x="6" y="1730"/>
                    <a:pt x="0" y="1724"/>
                    <a:pt x="0" y="1712"/>
                  </a:cubicBezTo>
                  <a:lnTo>
                    <a:pt x="0" y="1642"/>
                  </a:lnTo>
                  <a:cubicBezTo>
                    <a:pt x="0" y="1637"/>
                    <a:pt x="1" y="1633"/>
                    <a:pt x="5" y="1630"/>
                  </a:cubicBezTo>
                  <a:cubicBezTo>
                    <a:pt x="8" y="1627"/>
                    <a:pt x="13" y="1625"/>
                    <a:pt x="17" y="1625"/>
                  </a:cubicBezTo>
                  <a:lnTo>
                    <a:pt x="93" y="1625"/>
                  </a:lnTo>
                  <a:cubicBezTo>
                    <a:pt x="98" y="1600"/>
                    <a:pt x="107" y="1576"/>
                    <a:pt x="120" y="1553"/>
                  </a:cubicBezTo>
                  <a:cubicBezTo>
                    <a:pt x="132" y="1530"/>
                    <a:pt x="148" y="1510"/>
                    <a:pt x="166" y="1492"/>
                  </a:cubicBezTo>
                  <a:cubicBezTo>
                    <a:pt x="184" y="1474"/>
                    <a:pt x="204" y="1459"/>
                    <a:pt x="227" y="1447"/>
                  </a:cubicBezTo>
                  <a:cubicBezTo>
                    <a:pt x="250" y="1434"/>
                    <a:pt x="274" y="1426"/>
                    <a:pt x="300" y="1420"/>
                  </a:cubicBezTo>
                  <a:lnTo>
                    <a:pt x="300" y="1345"/>
                  </a:lnTo>
                  <a:cubicBezTo>
                    <a:pt x="300" y="1333"/>
                    <a:pt x="306" y="1328"/>
                    <a:pt x="318" y="1328"/>
                  </a:cubicBezTo>
                  <a:lnTo>
                    <a:pt x="388" y="1328"/>
                  </a:lnTo>
                  <a:cubicBezTo>
                    <a:pt x="394" y="1328"/>
                    <a:pt x="397" y="1329"/>
                    <a:pt x="401" y="1333"/>
                  </a:cubicBezTo>
                  <a:cubicBezTo>
                    <a:pt x="404" y="1336"/>
                    <a:pt x="405" y="1340"/>
                    <a:pt x="405" y="1345"/>
                  </a:cubicBezTo>
                  <a:lnTo>
                    <a:pt x="405" y="1420"/>
                  </a:lnTo>
                  <a:cubicBezTo>
                    <a:pt x="431" y="1426"/>
                    <a:pt x="455" y="1434"/>
                    <a:pt x="478" y="1447"/>
                  </a:cubicBezTo>
                  <a:cubicBezTo>
                    <a:pt x="501" y="1459"/>
                    <a:pt x="522" y="1474"/>
                    <a:pt x="540" y="1492"/>
                  </a:cubicBezTo>
                  <a:cubicBezTo>
                    <a:pt x="557" y="1510"/>
                    <a:pt x="573" y="1530"/>
                    <a:pt x="585" y="1553"/>
                  </a:cubicBezTo>
                  <a:cubicBezTo>
                    <a:pt x="598" y="1576"/>
                    <a:pt x="607" y="1600"/>
                    <a:pt x="612" y="1625"/>
                  </a:cubicBezTo>
                  <a:lnTo>
                    <a:pt x="688" y="1625"/>
                  </a:lnTo>
                  <a:close/>
                  <a:moveTo>
                    <a:pt x="405" y="1861"/>
                  </a:moveTo>
                  <a:cubicBezTo>
                    <a:pt x="438" y="1852"/>
                    <a:pt x="466" y="1836"/>
                    <a:pt x="490" y="1813"/>
                  </a:cubicBezTo>
                  <a:cubicBezTo>
                    <a:pt x="513" y="1790"/>
                    <a:pt x="529" y="1762"/>
                    <a:pt x="538" y="1730"/>
                  </a:cubicBezTo>
                  <a:lnTo>
                    <a:pt x="459" y="1730"/>
                  </a:lnTo>
                  <a:cubicBezTo>
                    <a:pt x="447" y="1730"/>
                    <a:pt x="441" y="1724"/>
                    <a:pt x="441" y="1712"/>
                  </a:cubicBezTo>
                  <a:lnTo>
                    <a:pt x="441" y="1642"/>
                  </a:lnTo>
                  <a:cubicBezTo>
                    <a:pt x="441" y="1637"/>
                    <a:pt x="443" y="1633"/>
                    <a:pt x="446" y="1630"/>
                  </a:cubicBezTo>
                  <a:cubicBezTo>
                    <a:pt x="450" y="1627"/>
                    <a:pt x="454" y="1625"/>
                    <a:pt x="459" y="1625"/>
                  </a:cubicBezTo>
                  <a:lnTo>
                    <a:pt x="538" y="1625"/>
                  </a:lnTo>
                  <a:cubicBezTo>
                    <a:pt x="529" y="1593"/>
                    <a:pt x="513" y="1565"/>
                    <a:pt x="489" y="1542"/>
                  </a:cubicBezTo>
                  <a:cubicBezTo>
                    <a:pt x="466" y="1518"/>
                    <a:pt x="438" y="1502"/>
                    <a:pt x="405" y="1494"/>
                  </a:cubicBezTo>
                  <a:lnTo>
                    <a:pt x="405" y="1572"/>
                  </a:lnTo>
                  <a:cubicBezTo>
                    <a:pt x="405" y="1577"/>
                    <a:pt x="404" y="1581"/>
                    <a:pt x="401" y="1584"/>
                  </a:cubicBezTo>
                  <a:cubicBezTo>
                    <a:pt x="397" y="1588"/>
                    <a:pt x="394" y="1589"/>
                    <a:pt x="388" y="1589"/>
                  </a:cubicBezTo>
                  <a:lnTo>
                    <a:pt x="318" y="1589"/>
                  </a:lnTo>
                  <a:cubicBezTo>
                    <a:pt x="306" y="1589"/>
                    <a:pt x="300" y="1584"/>
                    <a:pt x="300" y="1572"/>
                  </a:cubicBezTo>
                  <a:lnTo>
                    <a:pt x="300" y="1494"/>
                  </a:lnTo>
                  <a:cubicBezTo>
                    <a:pt x="267" y="1503"/>
                    <a:pt x="239" y="1519"/>
                    <a:pt x="215" y="1542"/>
                  </a:cubicBezTo>
                  <a:cubicBezTo>
                    <a:pt x="192" y="1565"/>
                    <a:pt x="176" y="1593"/>
                    <a:pt x="167" y="1625"/>
                  </a:cubicBezTo>
                  <a:lnTo>
                    <a:pt x="247" y="1625"/>
                  </a:lnTo>
                  <a:cubicBezTo>
                    <a:pt x="252" y="1625"/>
                    <a:pt x="256" y="1627"/>
                    <a:pt x="259" y="1630"/>
                  </a:cubicBezTo>
                  <a:cubicBezTo>
                    <a:pt x="262" y="1633"/>
                    <a:pt x="264" y="1637"/>
                    <a:pt x="264" y="1642"/>
                  </a:cubicBezTo>
                  <a:lnTo>
                    <a:pt x="264" y="1712"/>
                  </a:lnTo>
                  <a:cubicBezTo>
                    <a:pt x="264" y="1717"/>
                    <a:pt x="262" y="1721"/>
                    <a:pt x="259" y="1725"/>
                  </a:cubicBezTo>
                  <a:cubicBezTo>
                    <a:pt x="256" y="1728"/>
                    <a:pt x="252" y="1730"/>
                    <a:pt x="247" y="1730"/>
                  </a:cubicBezTo>
                  <a:lnTo>
                    <a:pt x="167" y="1730"/>
                  </a:lnTo>
                  <a:cubicBezTo>
                    <a:pt x="176" y="1762"/>
                    <a:pt x="192" y="1790"/>
                    <a:pt x="216" y="1813"/>
                  </a:cubicBezTo>
                  <a:cubicBezTo>
                    <a:pt x="239" y="1837"/>
                    <a:pt x="267" y="1853"/>
                    <a:pt x="300" y="1861"/>
                  </a:cubicBezTo>
                  <a:lnTo>
                    <a:pt x="300" y="1782"/>
                  </a:lnTo>
                  <a:cubicBezTo>
                    <a:pt x="300" y="1777"/>
                    <a:pt x="302" y="1773"/>
                    <a:pt x="305" y="1770"/>
                  </a:cubicBezTo>
                  <a:cubicBezTo>
                    <a:pt x="308" y="1767"/>
                    <a:pt x="313" y="1765"/>
                    <a:pt x="318" y="1765"/>
                  </a:cubicBezTo>
                  <a:lnTo>
                    <a:pt x="388" y="1765"/>
                  </a:lnTo>
                  <a:cubicBezTo>
                    <a:pt x="394" y="1765"/>
                    <a:pt x="397" y="1767"/>
                    <a:pt x="401" y="1770"/>
                  </a:cubicBezTo>
                  <a:cubicBezTo>
                    <a:pt x="404" y="1773"/>
                    <a:pt x="405" y="1777"/>
                    <a:pt x="405" y="1782"/>
                  </a:cubicBezTo>
                  <a:lnTo>
                    <a:pt x="405" y="1861"/>
                  </a:lnTo>
                  <a:close/>
                </a:path>
                <a:path w="723" h="2028">
                  <a:moveTo>
                    <a:pt x="529" y="516"/>
                  </a:moveTo>
                  <a:cubicBezTo>
                    <a:pt x="520" y="516"/>
                    <a:pt x="512" y="524"/>
                    <a:pt x="512" y="537"/>
                  </a:cubicBezTo>
                  <a:cubicBezTo>
                    <a:pt x="512" y="546"/>
                    <a:pt x="520" y="554"/>
                    <a:pt x="529" y="554"/>
                  </a:cubicBezTo>
                  <a:cubicBezTo>
                    <a:pt x="538" y="554"/>
                    <a:pt x="546" y="546"/>
                    <a:pt x="546" y="537"/>
                  </a:cubicBezTo>
                  <a:cubicBezTo>
                    <a:pt x="546" y="524"/>
                    <a:pt x="538" y="516"/>
                    <a:pt x="529" y="516"/>
                  </a:cubicBezTo>
                  <a:moveTo>
                    <a:pt x="267" y="379"/>
                  </a:moveTo>
                  <a:lnTo>
                    <a:pt x="324" y="379"/>
                  </a:lnTo>
                  <a:lnTo>
                    <a:pt x="324" y="435"/>
                  </a:lnTo>
                  <a:lnTo>
                    <a:pt x="267" y="435"/>
                  </a:lnTo>
                  <a:lnTo>
                    <a:pt x="267" y="379"/>
                  </a:lnTo>
                  <a:close/>
                  <a:moveTo>
                    <a:pt x="167" y="379"/>
                  </a:moveTo>
                  <a:lnTo>
                    <a:pt x="228" y="379"/>
                  </a:lnTo>
                  <a:lnTo>
                    <a:pt x="228" y="435"/>
                  </a:lnTo>
                  <a:lnTo>
                    <a:pt x="167" y="435"/>
                  </a:lnTo>
                  <a:lnTo>
                    <a:pt x="167" y="379"/>
                  </a:lnTo>
                  <a:close/>
                  <a:moveTo>
                    <a:pt x="685" y="361"/>
                  </a:moveTo>
                  <a:cubicBezTo>
                    <a:pt x="676" y="361"/>
                    <a:pt x="667" y="369"/>
                    <a:pt x="667" y="378"/>
                  </a:cubicBezTo>
                  <a:cubicBezTo>
                    <a:pt x="667" y="391"/>
                    <a:pt x="676" y="395"/>
                    <a:pt x="685" y="395"/>
                  </a:cubicBezTo>
                  <a:cubicBezTo>
                    <a:pt x="697" y="395"/>
                    <a:pt x="706" y="391"/>
                    <a:pt x="706" y="378"/>
                  </a:cubicBezTo>
                  <a:cubicBezTo>
                    <a:pt x="706" y="369"/>
                    <a:pt x="697" y="361"/>
                    <a:pt x="685" y="361"/>
                  </a:cubicBezTo>
                  <a:moveTo>
                    <a:pt x="374" y="361"/>
                  </a:moveTo>
                  <a:cubicBezTo>
                    <a:pt x="365" y="361"/>
                    <a:pt x="357" y="369"/>
                    <a:pt x="357" y="378"/>
                  </a:cubicBezTo>
                  <a:cubicBezTo>
                    <a:pt x="357" y="391"/>
                    <a:pt x="365" y="395"/>
                    <a:pt x="374" y="395"/>
                  </a:cubicBezTo>
                  <a:cubicBezTo>
                    <a:pt x="383" y="395"/>
                    <a:pt x="391" y="391"/>
                    <a:pt x="391" y="378"/>
                  </a:cubicBezTo>
                  <a:cubicBezTo>
                    <a:pt x="391" y="369"/>
                    <a:pt x="383" y="361"/>
                    <a:pt x="374" y="361"/>
                  </a:cubicBezTo>
                  <a:moveTo>
                    <a:pt x="267" y="288"/>
                  </a:moveTo>
                  <a:lnTo>
                    <a:pt x="324" y="288"/>
                  </a:lnTo>
                  <a:lnTo>
                    <a:pt x="324" y="344"/>
                  </a:lnTo>
                  <a:lnTo>
                    <a:pt x="267" y="344"/>
                  </a:lnTo>
                  <a:lnTo>
                    <a:pt x="267" y="288"/>
                  </a:lnTo>
                  <a:close/>
                  <a:moveTo>
                    <a:pt x="167" y="288"/>
                  </a:moveTo>
                  <a:lnTo>
                    <a:pt x="228" y="288"/>
                  </a:lnTo>
                  <a:lnTo>
                    <a:pt x="228" y="344"/>
                  </a:lnTo>
                  <a:lnTo>
                    <a:pt x="167" y="344"/>
                  </a:lnTo>
                  <a:lnTo>
                    <a:pt x="167" y="288"/>
                  </a:lnTo>
                  <a:close/>
                  <a:moveTo>
                    <a:pt x="615" y="279"/>
                  </a:moveTo>
                  <a:cubicBezTo>
                    <a:pt x="615" y="279"/>
                    <a:pt x="615" y="279"/>
                    <a:pt x="546" y="348"/>
                  </a:cubicBezTo>
                  <a:cubicBezTo>
                    <a:pt x="542" y="348"/>
                    <a:pt x="538" y="344"/>
                    <a:pt x="529" y="344"/>
                  </a:cubicBezTo>
                  <a:cubicBezTo>
                    <a:pt x="520" y="344"/>
                    <a:pt x="512" y="348"/>
                    <a:pt x="507" y="352"/>
                  </a:cubicBezTo>
                  <a:cubicBezTo>
                    <a:pt x="507" y="352"/>
                    <a:pt x="507" y="352"/>
                    <a:pt x="434" y="300"/>
                  </a:cubicBezTo>
                  <a:cubicBezTo>
                    <a:pt x="430" y="292"/>
                    <a:pt x="417" y="296"/>
                    <a:pt x="413" y="300"/>
                  </a:cubicBezTo>
                  <a:cubicBezTo>
                    <a:pt x="408" y="305"/>
                    <a:pt x="413" y="318"/>
                    <a:pt x="417" y="322"/>
                  </a:cubicBezTo>
                  <a:cubicBezTo>
                    <a:pt x="417" y="322"/>
                    <a:pt x="417" y="322"/>
                    <a:pt x="495" y="382"/>
                  </a:cubicBezTo>
                  <a:cubicBezTo>
                    <a:pt x="495" y="400"/>
                    <a:pt x="512" y="413"/>
                    <a:pt x="529" y="413"/>
                  </a:cubicBezTo>
                  <a:cubicBezTo>
                    <a:pt x="551" y="413"/>
                    <a:pt x="564" y="400"/>
                    <a:pt x="564" y="378"/>
                  </a:cubicBezTo>
                  <a:lnTo>
                    <a:pt x="564" y="374"/>
                  </a:lnTo>
                  <a:cubicBezTo>
                    <a:pt x="564" y="374"/>
                    <a:pt x="564" y="374"/>
                    <a:pt x="637" y="300"/>
                  </a:cubicBezTo>
                  <a:cubicBezTo>
                    <a:pt x="642" y="292"/>
                    <a:pt x="646" y="284"/>
                    <a:pt x="637" y="279"/>
                  </a:cubicBezTo>
                  <a:cubicBezTo>
                    <a:pt x="633" y="275"/>
                    <a:pt x="624" y="275"/>
                    <a:pt x="615" y="279"/>
                  </a:cubicBezTo>
                  <a:moveTo>
                    <a:pt x="529" y="206"/>
                  </a:moveTo>
                  <a:cubicBezTo>
                    <a:pt x="520" y="206"/>
                    <a:pt x="512" y="215"/>
                    <a:pt x="512" y="223"/>
                  </a:cubicBezTo>
                  <a:cubicBezTo>
                    <a:pt x="512" y="232"/>
                    <a:pt x="520" y="240"/>
                    <a:pt x="529" y="240"/>
                  </a:cubicBezTo>
                  <a:cubicBezTo>
                    <a:pt x="538" y="240"/>
                    <a:pt x="546" y="232"/>
                    <a:pt x="546" y="223"/>
                  </a:cubicBezTo>
                  <a:cubicBezTo>
                    <a:pt x="546" y="215"/>
                    <a:pt x="538" y="206"/>
                    <a:pt x="529" y="206"/>
                  </a:cubicBezTo>
                  <a:moveTo>
                    <a:pt x="267" y="197"/>
                  </a:moveTo>
                  <a:lnTo>
                    <a:pt x="324" y="197"/>
                  </a:lnTo>
                  <a:lnTo>
                    <a:pt x="324" y="254"/>
                  </a:lnTo>
                  <a:lnTo>
                    <a:pt x="267" y="254"/>
                  </a:lnTo>
                  <a:lnTo>
                    <a:pt x="267" y="197"/>
                  </a:lnTo>
                  <a:close/>
                  <a:moveTo>
                    <a:pt x="124" y="129"/>
                  </a:moveTo>
                  <a:lnTo>
                    <a:pt x="124" y="473"/>
                  </a:lnTo>
                  <a:cubicBezTo>
                    <a:pt x="124" y="473"/>
                    <a:pt x="124" y="473"/>
                    <a:pt x="365" y="473"/>
                  </a:cubicBezTo>
                  <a:cubicBezTo>
                    <a:pt x="348" y="447"/>
                    <a:pt x="340" y="413"/>
                    <a:pt x="340" y="378"/>
                  </a:cubicBezTo>
                  <a:cubicBezTo>
                    <a:pt x="340" y="331"/>
                    <a:pt x="357" y="288"/>
                    <a:pt x="387" y="254"/>
                  </a:cubicBezTo>
                  <a:cubicBezTo>
                    <a:pt x="387" y="254"/>
                    <a:pt x="387" y="254"/>
                    <a:pt x="361" y="254"/>
                  </a:cubicBezTo>
                  <a:cubicBezTo>
                    <a:pt x="361" y="254"/>
                    <a:pt x="361" y="254"/>
                    <a:pt x="361" y="198"/>
                  </a:cubicBezTo>
                  <a:cubicBezTo>
                    <a:pt x="361" y="198"/>
                    <a:pt x="361" y="198"/>
                    <a:pt x="417" y="198"/>
                  </a:cubicBezTo>
                  <a:cubicBezTo>
                    <a:pt x="417" y="198"/>
                    <a:pt x="417" y="198"/>
                    <a:pt x="417" y="223"/>
                  </a:cubicBezTo>
                  <a:cubicBezTo>
                    <a:pt x="447" y="202"/>
                    <a:pt x="486" y="189"/>
                    <a:pt x="529" y="189"/>
                  </a:cubicBezTo>
                  <a:cubicBezTo>
                    <a:pt x="538" y="189"/>
                    <a:pt x="551" y="189"/>
                    <a:pt x="560" y="189"/>
                  </a:cubicBezTo>
                  <a:cubicBezTo>
                    <a:pt x="560" y="189"/>
                    <a:pt x="560" y="189"/>
                    <a:pt x="560" y="129"/>
                  </a:cubicBezTo>
                  <a:cubicBezTo>
                    <a:pt x="560" y="129"/>
                    <a:pt x="560" y="129"/>
                    <a:pt x="124" y="129"/>
                  </a:cubicBezTo>
                  <a:moveTo>
                    <a:pt x="249" y="38"/>
                  </a:moveTo>
                  <a:lnTo>
                    <a:pt x="249" y="86"/>
                  </a:lnTo>
                  <a:cubicBezTo>
                    <a:pt x="249" y="86"/>
                    <a:pt x="249" y="86"/>
                    <a:pt x="434" y="86"/>
                  </a:cubicBezTo>
                  <a:cubicBezTo>
                    <a:pt x="434" y="86"/>
                    <a:pt x="434" y="86"/>
                    <a:pt x="434" y="38"/>
                  </a:cubicBezTo>
                  <a:cubicBezTo>
                    <a:pt x="434" y="38"/>
                    <a:pt x="434" y="38"/>
                    <a:pt x="249" y="38"/>
                  </a:cubicBezTo>
                  <a:moveTo>
                    <a:pt x="115" y="0"/>
                  </a:moveTo>
                  <a:cubicBezTo>
                    <a:pt x="115" y="0"/>
                    <a:pt x="115" y="0"/>
                    <a:pt x="568" y="0"/>
                  </a:cubicBezTo>
                  <a:cubicBezTo>
                    <a:pt x="590" y="0"/>
                    <a:pt x="607" y="17"/>
                    <a:pt x="607" y="38"/>
                  </a:cubicBezTo>
                  <a:cubicBezTo>
                    <a:pt x="607" y="38"/>
                    <a:pt x="607" y="38"/>
                    <a:pt x="607" y="206"/>
                  </a:cubicBezTo>
                  <a:cubicBezTo>
                    <a:pt x="676" y="236"/>
                    <a:pt x="723" y="300"/>
                    <a:pt x="723" y="378"/>
                  </a:cubicBezTo>
                  <a:cubicBezTo>
                    <a:pt x="723" y="486"/>
                    <a:pt x="637" y="571"/>
                    <a:pt x="529" y="571"/>
                  </a:cubicBezTo>
                  <a:cubicBezTo>
                    <a:pt x="486" y="571"/>
                    <a:pt x="443" y="554"/>
                    <a:pt x="408" y="529"/>
                  </a:cubicBezTo>
                  <a:cubicBezTo>
                    <a:pt x="408" y="529"/>
                    <a:pt x="408" y="529"/>
                    <a:pt x="115" y="529"/>
                  </a:cubicBezTo>
                  <a:cubicBezTo>
                    <a:pt x="94" y="529"/>
                    <a:pt x="76" y="511"/>
                    <a:pt x="76" y="490"/>
                  </a:cubicBezTo>
                  <a:cubicBezTo>
                    <a:pt x="76" y="490"/>
                    <a:pt x="76" y="490"/>
                    <a:pt x="76" y="38"/>
                  </a:cubicBezTo>
                  <a:cubicBezTo>
                    <a:pt x="76" y="17"/>
                    <a:pt x="94" y="0"/>
                    <a:pt x="115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26" name="textbox 1426"/>
          <p:cNvSpPr/>
          <p:nvPr/>
        </p:nvSpPr>
        <p:spPr>
          <a:xfrm>
            <a:off x="430381" y="1044244"/>
            <a:ext cx="8062594" cy="9391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lang="en-US" altLang="en-US" sz="100" dirty="0"/>
          </a:p>
          <a:p>
            <a:pPr marL="15875" algn="l" rtl="0" eaLnBrk="0">
              <a:lnSpc>
                <a:spcPct val="97000"/>
              </a:lnSpc>
              <a:tabLst>
                <a:tab pos="10287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视频生成本质上与图片生成类似，通过对视频进行帧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数级别的切割，实现对每一帧的处理</a:t>
            </a:r>
            <a:endParaRPr lang="en-US" altLang="en-US" sz="1200" dirty="0"/>
          </a:p>
          <a:p>
            <a:pPr marL="12700" algn="l" rtl="0" eaLnBrk="0">
              <a:lnSpc>
                <a:spcPts val="1220"/>
              </a:lnSpc>
              <a:spcBef>
                <a:spcPts val="680"/>
              </a:spcBef>
              <a:tabLst>
                <a:tab pos="102870" algn="l"/>
              </a:tabLst>
            </a:pP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视频生成过程包括三个阶段： 数据的提取、训练和转换 ，当前技术正在着重提升视频修改精准度和实时性两个维度</a:t>
            </a:r>
            <a:r>
              <a:rPr sz="10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鉴于视频本身的文</a:t>
            </a:r>
            <a:endParaRPr lang="en-US" altLang="en-US" sz="1000" dirty="0"/>
          </a:p>
          <a:p>
            <a:pPr marL="177165" algn="l" rtl="0" eaLnBrk="0">
              <a:lnSpc>
                <a:spcPts val="1220"/>
              </a:lnSpc>
              <a:spcBef>
                <a:spcPts val="675"/>
              </a:spcBef>
            </a:pPr>
            <a:r>
              <a:rPr sz="100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本、图像和音频的综合属性，视频生成也是跨模态生成领域的重要应用场景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000" dirty="0"/>
          </a:p>
          <a:p>
            <a:pPr algn="l" rtl="0" eaLnBrk="0">
              <a:lnSpc>
                <a:spcPct val="113000"/>
              </a:lnSpc>
            </a:pPr>
            <a:endParaRPr lang="en-US" altLang="en-US" sz="600" dirty="0"/>
          </a:p>
          <a:p>
            <a:pPr marL="1770380" algn="l" rtl="0" eaLnBrk="0">
              <a:lnSpc>
                <a:spcPts val="1150"/>
              </a:lnSpc>
              <a:spcBef>
                <a:spcPts val="0"/>
              </a:spcBef>
            </a:pPr>
            <a:r>
              <a:rPr sz="90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图59 ：视频生成技术具体包括视频属性编辑、   视频自动剪辑、  </a:t>
            </a:r>
            <a:r>
              <a:rPr sz="90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视频部分编辑</a:t>
            </a:r>
            <a:endParaRPr lang="en-US" altLang="en-US" sz="900" dirty="0"/>
          </a:p>
        </p:txBody>
      </p:sp>
      <p:pic>
        <p:nvPicPr>
          <p:cNvPr id="1427" name="picture 14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3081" y="1329625"/>
            <a:ext cx="90927" cy="104204"/>
          </a:xfrm>
          <a:prstGeom prst="rect">
            <a:avLst/>
          </a:prstGeom>
        </p:spPr>
      </p:pic>
      <p:pic>
        <p:nvPicPr>
          <p:cNvPr id="1428" name="picture 1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6227" y="1084833"/>
            <a:ext cx="88239" cy="100584"/>
          </a:xfrm>
          <a:prstGeom prst="rect">
            <a:avLst/>
          </a:prstGeom>
        </p:spPr>
      </p:pic>
      <p:sp>
        <p:nvSpPr>
          <p:cNvPr id="1430" name="path"/>
          <p:cNvSpPr/>
          <p:nvPr/>
        </p:nvSpPr>
        <p:spPr>
          <a:xfrm>
            <a:off x="1655254" y="4727206"/>
            <a:ext cx="9525" cy="179997"/>
          </a:xfrm>
          <a:custGeom>
            <a:avLst/>
            <a:gdLst/>
            <a:ahLst/>
            <a:cxnLst/>
            <a:rect l="0" t="0" r="0" b="0"/>
            <a:pathLst>
              <a:path w="15" h="283">
                <a:moveTo>
                  <a:pt x="7" y="0"/>
                </a:moveTo>
                <a:lnTo>
                  <a:pt x="7" y="283"/>
                </a:lnTo>
              </a:path>
            </a:pathLst>
          </a:custGeom>
          <a:noFill/>
          <a:ln w="9525" cap="flat">
            <a:solidFill>
              <a:srgbClr val="999999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16" name="group 216"/>
          <p:cNvGrpSpPr/>
          <p:nvPr/>
        </p:nvGrpSpPr>
        <p:grpSpPr>
          <a:xfrm rot="21600000">
            <a:off x="4554601" y="2065248"/>
            <a:ext cx="3074669" cy="773836"/>
            <a:chOff x="0" y="0"/>
            <a:chExt cx="3074669" cy="773836"/>
          </a:xfrm>
        </p:grpSpPr>
        <p:sp>
          <p:nvSpPr>
            <p:cNvPr id="1431" name="rect"/>
            <p:cNvSpPr/>
            <p:nvPr/>
          </p:nvSpPr>
          <p:spPr>
            <a:xfrm>
              <a:off x="0" y="0"/>
              <a:ext cx="3074669" cy="77383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32" name="textbox 1432"/>
            <p:cNvSpPr/>
            <p:nvPr/>
          </p:nvSpPr>
          <p:spPr>
            <a:xfrm>
              <a:off x="691095" y="92811"/>
              <a:ext cx="2195829" cy="500380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lang="en-US" altLang="en-US" sz="100" dirty="0"/>
            </a:p>
            <a:p>
              <a:pPr marL="140335" algn="l" rtl="0" eaLnBrk="0">
                <a:lnSpc>
                  <a:spcPct val="97000"/>
                </a:lnSpc>
              </a:pPr>
              <a:r>
                <a:rPr sz="1200" spc="10" dirty="0">
                  <a:ln w="3175" cap="flat" cmpd="sng">
                    <a:solidFill>
                      <a:srgbClr val="003B71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</a:t>
              </a:r>
              <a:r>
                <a:rPr sz="1200" spc="0" dirty="0">
                  <a:ln w="3175" cap="flat" cmpd="sng">
                    <a:solidFill>
                      <a:srgbClr val="003B71">
                        <a:alpha val="100000"/>
                      </a:srgbClr>
                    </a:solidFill>
                    <a:prstDash val="solid"/>
                    <a:miter lim="0"/>
                  </a:ln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频属性编辑</a:t>
              </a:r>
              <a:endParaRPr lang="en-US" altLang="en-US" sz="1200" dirty="0"/>
            </a:p>
            <a:p>
              <a:pPr marL="12700" indent="0" algn="l" rtl="0" eaLnBrk="0">
                <a:lnSpc>
                  <a:spcPct val="99000"/>
                </a:lnSpc>
                <a:spcBef>
                  <a:spcPts val="200"/>
                </a:spcBef>
              </a:pPr>
              <a:r>
                <a:rPr sz="900" spc="-1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视频</a:t>
              </a:r>
              <a:r>
                <a:rPr sz="900" spc="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画质修复，添加特定内容，视频美颜等 </a:t>
              </a:r>
              <a:r>
                <a:rPr sz="900" spc="-2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其产品如： Runway </a:t>
              </a:r>
              <a:r>
                <a:rPr sz="900" spc="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ML</a:t>
              </a:r>
              <a:r>
                <a:rPr sz="900" spc="-2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sz="900" spc="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Wisecut</a:t>
              </a:r>
              <a:r>
                <a:rPr sz="900" spc="-20" dirty="0">
                  <a:solidFill>
                    <a:srgbClr val="004E9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</a:t>
              </a:r>
              <a:endParaRPr lang="en-US" altLang="en-US" sz="900" dirty="0"/>
            </a:p>
          </p:txBody>
        </p:sp>
        <p:pic>
          <p:nvPicPr>
            <p:cNvPr id="1433" name="picture 14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01676" y="129120"/>
              <a:ext cx="374650" cy="360362"/>
            </a:xfrm>
            <a:prstGeom prst="rect">
              <a:avLst/>
            </a:prstGeom>
          </p:spPr>
        </p:pic>
        <p:sp>
          <p:nvSpPr>
            <p:cNvPr id="1434" name="rect"/>
            <p:cNvSpPr/>
            <p:nvPr/>
          </p:nvSpPr>
          <p:spPr>
            <a:xfrm>
              <a:off x="4063" y="22898"/>
              <a:ext cx="45718" cy="750938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35" name="path"/>
          <p:cNvSpPr/>
          <p:nvPr/>
        </p:nvSpPr>
        <p:spPr>
          <a:xfrm>
            <a:off x="3908933" y="2077593"/>
            <a:ext cx="656081" cy="1004315"/>
          </a:xfrm>
          <a:custGeom>
            <a:avLst/>
            <a:gdLst/>
            <a:ahLst/>
            <a:cxnLst/>
            <a:rect l="0" t="0" r="0" b="0"/>
            <a:pathLst>
              <a:path w="1033" h="1581">
                <a:moveTo>
                  <a:pt x="1033" y="0"/>
                </a:moveTo>
                <a:lnTo>
                  <a:pt x="0" y="1464"/>
                </a:lnTo>
                <a:lnTo>
                  <a:pt x="133" y="1581"/>
                </a:lnTo>
                <a:lnTo>
                  <a:pt x="1033" y="1184"/>
                </a:lnTo>
                <a:lnTo>
                  <a:pt x="1033" y="0"/>
                </a:lnTo>
                <a:close/>
              </a:path>
            </a:pathLst>
          </a:custGeom>
          <a:solidFill>
            <a:srgbClr val="BFBFB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37" name="picture 14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80922" y="2488222"/>
            <a:ext cx="2689097" cy="2323338"/>
          </a:xfrm>
          <a:prstGeom prst="rect">
            <a:avLst/>
          </a:prstGeom>
        </p:spPr>
      </p:pic>
      <p:sp>
        <p:nvSpPr>
          <p:cNvPr id="1438" name="textbox 1438"/>
          <p:cNvSpPr/>
          <p:nvPr/>
        </p:nvSpPr>
        <p:spPr>
          <a:xfrm>
            <a:off x="838156" y="124277"/>
            <a:ext cx="7976234" cy="6343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algn="l" rtl="0" eaLnBrk="0">
              <a:lnSpc>
                <a:spcPct val="100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</a:pP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视频生成</a:t>
            </a:r>
            <a:r>
              <a:rPr sz="20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20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20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应用生态</a:t>
            </a:r>
            <a:r>
              <a:rPr sz="20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中的高潜力场景</a:t>
            </a:r>
            <a:endParaRPr lang="en-US" altLang="en-US" sz="2000" dirty="0"/>
          </a:p>
        </p:txBody>
      </p:sp>
      <p:sp>
        <p:nvSpPr>
          <p:cNvPr id="1439" name="textbox 1439"/>
          <p:cNvSpPr/>
          <p:nvPr/>
        </p:nvSpPr>
        <p:spPr>
          <a:xfrm>
            <a:off x="5326638" y="2999060"/>
            <a:ext cx="2150745" cy="15671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32385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频自动剪辑</a:t>
            </a:r>
            <a:endParaRPr lang="en-US" altLang="en-US" sz="1200" dirty="0"/>
          </a:p>
          <a:p>
            <a:pPr marL="33020" indent="-1270" algn="l" rtl="0" eaLnBrk="0">
              <a:lnSpc>
                <a:spcPct val="108000"/>
              </a:lnSpc>
              <a:spcBef>
                <a:spcPts val="195"/>
              </a:spcBef>
            </a:pP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技术检测视频片段，生成预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告片，   宣传视频等</a:t>
            </a:r>
            <a:endParaRPr lang="en-US" altLang="en-US" sz="900" dirty="0"/>
          </a:p>
          <a:p>
            <a:pPr marL="31750" algn="l" rtl="0" eaLnBrk="0">
              <a:lnSpc>
                <a:spcPct val="97000"/>
              </a:lnSpc>
              <a:spcBef>
                <a:spcPts val="255"/>
              </a:spcBef>
            </a:pPr>
            <a:r>
              <a:rPr sz="90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其产品如： IBM Watso</a:t>
            </a:r>
            <a:r>
              <a:rPr sz="9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en-US" sz="900" dirty="0"/>
          </a:p>
          <a:p>
            <a:pPr algn="l" rtl="0" eaLnBrk="0">
              <a:lnSpc>
                <a:spcPct val="113000"/>
              </a:lnSpc>
            </a:pPr>
            <a:endParaRPr lang="en-US" altLang="en-US" sz="1000" dirty="0"/>
          </a:p>
          <a:p>
            <a:pPr marL="12700" algn="l" rtl="0" eaLnBrk="0">
              <a:lnSpc>
                <a:spcPct val="97000"/>
              </a:lnSpc>
              <a:spcBef>
                <a:spcPts val="370"/>
              </a:spcBef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频内容动态编辑</a:t>
            </a:r>
            <a:endParaRPr lang="en-US" altLang="en-US" sz="1200" dirty="0"/>
          </a:p>
          <a:p>
            <a:pPr marL="16510" indent="-635" algn="l" rtl="0" eaLnBrk="0">
              <a:lnSpc>
                <a:spcPct val="106000"/>
              </a:lnSpc>
              <a:spcBef>
                <a:spcPts val="140"/>
              </a:spcBef>
            </a:pPr>
            <a:r>
              <a:rPr sz="90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</a:t>
            </a:r>
            <a:r>
              <a:rPr sz="90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技术对视频中的内容进行动态编辑</a:t>
            </a:r>
            <a:r>
              <a:rPr sz="9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更换演员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面部等</a:t>
            </a:r>
            <a:endParaRPr lang="en-US" altLang="en-US" sz="900" dirty="0"/>
          </a:p>
          <a:p>
            <a:pPr algn="l" rtl="0" eaLnBrk="0">
              <a:lnSpc>
                <a:spcPct val="126000"/>
              </a:lnSpc>
            </a:pPr>
            <a:endParaRPr lang="en-US" altLang="en-US" sz="200" dirty="0"/>
          </a:p>
          <a:p>
            <a:pPr marL="15240" algn="l" rtl="0" eaLnBrk="0">
              <a:lnSpc>
                <a:spcPct val="98000"/>
              </a:lnSpc>
              <a:spcBef>
                <a:spcPts val="0"/>
              </a:spcBef>
            </a:pP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其产品如：  </a:t>
            </a: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Faceswap </a:t>
            </a: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Deepfakes</a:t>
            </a:r>
            <a:r>
              <a:rPr sz="90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en-US" sz="900" dirty="0"/>
          </a:p>
        </p:txBody>
      </p:sp>
      <p:grpSp>
        <p:nvGrpSpPr>
          <p:cNvPr id="218" name="group 218"/>
          <p:cNvGrpSpPr/>
          <p:nvPr/>
        </p:nvGrpSpPr>
        <p:grpSpPr>
          <a:xfrm rot="21600000">
            <a:off x="0" y="411531"/>
            <a:ext cx="755581" cy="432003"/>
            <a:chOff x="0" y="0"/>
            <a:chExt cx="755581" cy="432003"/>
          </a:xfrm>
        </p:grpSpPr>
        <p:sp>
          <p:nvSpPr>
            <p:cNvPr id="1440" name="path"/>
            <p:cNvSpPr/>
            <p:nvPr/>
          </p:nvSpPr>
          <p:spPr>
            <a:xfrm>
              <a:off x="0" y="0"/>
              <a:ext cx="755581" cy="432003"/>
            </a:xfrm>
            <a:custGeom>
              <a:avLst/>
              <a:gdLst/>
              <a:ahLst/>
              <a:cxnLst/>
              <a:rect l="0" t="0" r="0" b="0"/>
              <a:pathLst>
                <a:path w="1189" h="680">
                  <a:moveTo>
                    <a:pt x="0" y="680"/>
                  </a:moveTo>
                  <a:lnTo>
                    <a:pt x="1077" y="680"/>
                  </a:lnTo>
                  <a:lnTo>
                    <a:pt x="1077" y="0"/>
                  </a:lnTo>
                  <a:lnTo>
                    <a:pt x="0" y="0"/>
                  </a:lnTo>
                  <a:lnTo>
                    <a:pt x="0" y="680"/>
                  </a:lnTo>
                  <a:close/>
                </a:path>
                <a:path w="1189" h="680">
                  <a:moveTo>
                    <a:pt x="1121" y="680"/>
                  </a:moveTo>
                  <a:lnTo>
                    <a:pt x="1189" y="680"/>
                  </a:lnTo>
                  <a:lnTo>
                    <a:pt x="1189" y="0"/>
                  </a:lnTo>
                  <a:lnTo>
                    <a:pt x="1121" y="0"/>
                  </a:lnTo>
                  <a:lnTo>
                    <a:pt x="1121" y="680"/>
                  </a:lnTo>
                  <a:close/>
                </a:path>
              </a:pathLst>
            </a:custGeom>
            <a:solidFill>
              <a:srgbClr val="0677D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1" name="textbox 1441"/>
            <p:cNvSpPr/>
            <p:nvPr/>
          </p:nvSpPr>
          <p:spPr>
            <a:xfrm>
              <a:off x="-12700" y="-12700"/>
              <a:ext cx="781050" cy="54990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</a:pPr>
              <a:endParaRPr lang="en-US" altLang="en-US" sz="500" dirty="0"/>
            </a:p>
            <a:p>
              <a:pPr marL="146050" algn="l" rtl="0" eaLnBrk="0">
                <a:lnSpc>
                  <a:spcPct val="80000"/>
                </a:lnSpc>
                <a:spcBef>
                  <a:spcPts val="0"/>
                </a:spcBef>
              </a:pPr>
              <a:r>
                <a:rPr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altLang="zh-CN" sz="3200" spc="-4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en-US" altLang="en-US" sz="3200" dirty="0"/>
            </a:p>
          </p:txBody>
        </p:sp>
      </p:grpSp>
      <p:sp>
        <p:nvSpPr>
          <p:cNvPr id="1443" name="textbox 1443"/>
          <p:cNvSpPr/>
          <p:nvPr/>
        </p:nvSpPr>
        <p:spPr>
          <a:xfrm>
            <a:off x="285708" y="4981137"/>
            <a:ext cx="1959610" cy="1447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80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 量子位智</a:t>
            </a:r>
            <a:r>
              <a:rPr sz="80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，国泰君安证券研究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picture 1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pic>
        <p:nvPicPr>
          <p:cNvPr id="1463" name="picture 14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85872" y="2488691"/>
            <a:ext cx="1004316" cy="1001268"/>
          </a:xfrm>
          <a:prstGeom prst="rect">
            <a:avLst/>
          </a:prstGeom>
        </p:spPr>
      </p:pic>
      <p:pic>
        <p:nvPicPr>
          <p:cNvPr id="1464" name="picture 14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39339" y="2504439"/>
            <a:ext cx="897254" cy="894207"/>
          </a:xfrm>
          <a:prstGeom prst="rect">
            <a:avLst/>
          </a:prstGeom>
        </p:spPr>
      </p:pic>
      <p:graphicFrame>
        <p:nvGraphicFramePr>
          <p:cNvPr id="1465" name="table 1465"/>
          <p:cNvGraphicFramePr>
            <a:graphicFrameLocks noGrp="1"/>
          </p:cNvGraphicFramePr>
          <p:nvPr/>
        </p:nvGraphicFramePr>
        <p:xfrm>
          <a:off x="1040580" y="1632204"/>
          <a:ext cx="5434964" cy="1919604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96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marL="69786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剧本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创作</a:t>
                      </a:r>
                      <a:r>
                        <a:rPr sz="110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89000"/>
                        </a:lnSpc>
                        <a:spcBef>
                          <a:spcPts val="290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拓展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角色与创作空间</a:t>
                      </a:r>
                      <a:endParaRPr lang="en-US" altLang="en-US" sz="1100" dirty="0"/>
                    </a:p>
                    <a:p>
                      <a:pPr marL="419100" algn="l" rtl="0" eaLnBrk="0">
                        <a:lnSpc>
                          <a:spcPts val="1585"/>
                        </a:lnSpc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助力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影片剪辑</a:t>
                      </a:r>
                      <a:endParaRPr lang="en-US" altLang="en-US" sz="1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lang="en-US" altLang="en-US" sz="1000" dirty="0"/>
                    </a:p>
                    <a:p>
                      <a:pPr marL="266636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商品虚拟化</a:t>
                      </a:r>
                      <a:endParaRPr lang="en-US" altLang="en-US" sz="1100" dirty="0"/>
                    </a:p>
                    <a:p>
                      <a:pPr marL="2663190" algn="l" rtl="0" eaLnBrk="0">
                        <a:lnSpc>
                          <a:spcPct val="98000"/>
                        </a:lnSpc>
                        <a:spcBef>
                          <a:spcPts val="290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虚拟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主播</a:t>
                      </a:r>
                      <a:endParaRPr lang="en-US" altLang="en-US" sz="1100" dirty="0"/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290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购物会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场虚拟化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lang="en-US" altLang="en-US" sz="1000" dirty="0"/>
                    </a:p>
                    <a:p>
                      <a:pPr marL="403860" algn="l" rtl="0" eaLnBrk="0">
                        <a:lnSpc>
                          <a:spcPct val="97000"/>
                        </a:lnSpc>
                        <a:spcBef>
                          <a:spcPts val="425"/>
                        </a:spcBef>
                      </a:pPr>
                      <a:r>
                        <a:rPr sz="14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影视</a:t>
                      </a:r>
                      <a:endParaRPr lang="en-US" altLang="en-US" sz="14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100" dirty="0"/>
                    </a:p>
                    <a:p>
                      <a:pPr marL="15824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800" spc="60" dirty="0">
                          <a:ln w="3175" cap="flat" cmpd="sng">
                            <a:solidFill>
                              <a:srgbClr val="004E97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AIG</a:t>
                      </a:r>
                      <a:r>
                        <a:rPr sz="1800" spc="20" dirty="0">
                          <a:ln w="3175" cap="flat" cmpd="sng">
                            <a:solidFill>
                              <a:srgbClr val="004E97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sz="1800" spc="0" dirty="0">
                          <a:solidFill>
                            <a:srgbClr val="004E9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endParaRPr lang="en-US" altLang="en-US" sz="1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6" name="path"/>
          <p:cNvSpPr/>
          <p:nvPr/>
        </p:nvSpPr>
        <p:spPr>
          <a:xfrm>
            <a:off x="5033517" y="3286759"/>
            <a:ext cx="58546" cy="161544"/>
          </a:xfrm>
          <a:custGeom>
            <a:avLst/>
            <a:gdLst/>
            <a:ahLst/>
            <a:cxnLst/>
            <a:rect l="0" t="0" r="0" b="0"/>
            <a:pathLst>
              <a:path w="92" h="254">
                <a:moveTo>
                  <a:pt x="0" y="213"/>
                </a:moveTo>
                <a:cubicBezTo>
                  <a:pt x="0" y="234"/>
                  <a:pt x="20" y="254"/>
                  <a:pt x="46" y="254"/>
                </a:cubicBezTo>
                <a:cubicBezTo>
                  <a:pt x="71" y="254"/>
                  <a:pt x="92" y="234"/>
                  <a:pt x="92" y="213"/>
                </a:cubicBezTo>
                <a:cubicBezTo>
                  <a:pt x="92" y="189"/>
                  <a:pt x="71" y="168"/>
                  <a:pt x="46" y="168"/>
                </a:cubicBezTo>
                <a:cubicBezTo>
                  <a:pt x="20" y="168"/>
                  <a:pt x="0" y="189"/>
                  <a:pt x="0" y="213"/>
                </a:cubicBezTo>
                <a:moveTo>
                  <a:pt x="46" y="185"/>
                </a:moveTo>
                <a:cubicBezTo>
                  <a:pt x="62" y="185"/>
                  <a:pt x="75" y="197"/>
                  <a:pt x="75" y="213"/>
                </a:cubicBezTo>
                <a:cubicBezTo>
                  <a:pt x="75" y="226"/>
                  <a:pt x="62" y="238"/>
                  <a:pt x="46" y="238"/>
                </a:cubicBezTo>
                <a:cubicBezTo>
                  <a:pt x="33" y="238"/>
                  <a:pt x="20" y="226"/>
                  <a:pt x="20" y="213"/>
                </a:cubicBezTo>
                <a:cubicBezTo>
                  <a:pt x="20" y="197"/>
                  <a:pt x="33" y="185"/>
                  <a:pt x="46" y="185"/>
                </a:cubicBezTo>
              </a:path>
              <a:path w="92" h="254">
                <a:moveTo>
                  <a:pt x="0" y="44"/>
                </a:moveTo>
                <a:cubicBezTo>
                  <a:pt x="0" y="69"/>
                  <a:pt x="20" y="85"/>
                  <a:pt x="46" y="85"/>
                </a:cubicBezTo>
                <a:cubicBezTo>
                  <a:pt x="71" y="85"/>
                  <a:pt x="92" y="65"/>
                  <a:pt x="92" y="44"/>
                </a:cubicBezTo>
                <a:cubicBezTo>
                  <a:pt x="92" y="20"/>
                  <a:pt x="71" y="0"/>
                  <a:pt x="46" y="0"/>
                </a:cubicBezTo>
                <a:cubicBezTo>
                  <a:pt x="20" y="0"/>
                  <a:pt x="0" y="20"/>
                  <a:pt x="0" y="44"/>
                </a:cubicBezTo>
                <a:moveTo>
                  <a:pt x="46" y="16"/>
                </a:moveTo>
                <a:cubicBezTo>
                  <a:pt x="62" y="16"/>
                  <a:pt x="75" y="28"/>
                  <a:pt x="75" y="44"/>
                </a:cubicBezTo>
                <a:cubicBezTo>
                  <a:pt x="75" y="56"/>
                  <a:pt x="62" y="69"/>
                  <a:pt x="46" y="69"/>
                </a:cubicBezTo>
                <a:cubicBezTo>
                  <a:pt x="33" y="69"/>
                  <a:pt x="20" y="56"/>
                  <a:pt x="20" y="44"/>
                </a:cubicBezTo>
                <a:cubicBezTo>
                  <a:pt x="20" y="28"/>
                  <a:pt x="33" y="16"/>
                  <a:pt x="46" y="16"/>
                </a:cubicBezTo>
              </a:path>
            </a:pathLst>
          </a:cu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7" name="path"/>
          <p:cNvSpPr/>
          <p:nvPr/>
        </p:nvSpPr>
        <p:spPr>
          <a:xfrm>
            <a:off x="2495295" y="2663698"/>
            <a:ext cx="134620" cy="133985"/>
          </a:xfrm>
          <a:custGeom>
            <a:avLst/>
            <a:gdLst/>
            <a:ahLst/>
            <a:cxnLst/>
            <a:rect l="0" t="0" r="0" b="0"/>
            <a:pathLst>
              <a:path w="212" h="211">
                <a:moveTo>
                  <a:pt x="106" y="211"/>
                </a:moveTo>
                <a:lnTo>
                  <a:pt x="106" y="211"/>
                </a:lnTo>
                <a:lnTo>
                  <a:pt x="117" y="211"/>
                </a:lnTo>
                <a:lnTo>
                  <a:pt x="127" y="208"/>
                </a:lnTo>
                <a:lnTo>
                  <a:pt x="138" y="206"/>
                </a:lnTo>
                <a:lnTo>
                  <a:pt x="147" y="202"/>
                </a:lnTo>
                <a:lnTo>
                  <a:pt x="156" y="198"/>
                </a:lnTo>
                <a:lnTo>
                  <a:pt x="165" y="193"/>
                </a:lnTo>
                <a:lnTo>
                  <a:pt x="173" y="187"/>
                </a:lnTo>
                <a:lnTo>
                  <a:pt x="181" y="180"/>
                </a:lnTo>
                <a:lnTo>
                  <a:pt x="187" y="172"/>
                </a:lnTo>
                <a:lnTo>
                  <a:pt x="193" y="164"/>
                </a:lnTo>
                <a:lnTo>
                  <a:pt x="198" y="155"/>
                </a:lnTo>
                <a:lnTo>
                  <a:pt x="203" y="146"/>
                </a:lnTo>
                <a:lnTo>
                  <a:pt x="206" y="136"/>
                </a:lnTo>
                <a:lnTo>
                  <a:pt x="210" y="126"/>
                </a:lnTo>
                <a:lnTo>
                  <a:pt x="211" y="116"/>
                </a:lnTo>
                <a:lnTo>
                  <a:pt x="212" y="105"/>
                </a:lnTo>
                <a:lnTo>
                  <a:pt x="212" y="105"/>
                </a:lnTo>
                <a:lnTo>
                  <a:pt x="211" y="94"/>
                </a:lnTo>
                <a:lnTo>
                  <a:pt x="210" y="84"/>
                </a:lnTo>
                <a:lnTo>
                  <a:pt x="206" y="73"/>
                </a:lnTo>
                <a:lnTo>
                  <a:pt x="203" y="63"/>
                </a:lnTo>
                <a:lnTo>
                  <a:pt x="198" y="54"/>
                </a:lnTo>
                <a:lnTo>
                  <a:pt x="193" y="46"/>
                </a:lnTo>
                <a:lnTo>
                  <a:pt x="187" y="37"/>
                </a:lnTo>
                <a:lnTo>
                  <a:pt x="181" y="30"/>
                </a:lnTo>
                <a:lnTo>
                  <a:pt x="173" y="23"/>
                </a:lnTo>
                <a:lnTo>
                  <a:pt x="165" y="17"/>
                </a:lnTo>
                <a:lnTo>
                  <a:pt x="156" y="12"/>
                </a:lnTo>
                <a:lnTo>
                  <a:pt x="147" y="8"/>
                </a:lnTo>
                <a:lnTo>
                  <a:pt x="138" y="3"/>
                </a:lnTo>
                <a:lnTo>
                  <a:pt x="127" y="1"/>
                </a:lnTo>
                <a:lnTo>
                  <a:pt x="117" y="0"/>
                </a:lnTo>
                <a:lnTo>
                  <a:pt x="106" y="0"/>
                </a:lnTo>
                <a:lnTo>
                  <a:pt x="106" y="0"/>
                </a:lnTo>
                <a:lnTo>
                  <a:pt x="95" y="0"/>
                </a:lnTo>
                <a:lnTo>
                  <a:pt x="84" y="1"/>
                </a:lnTo>
                <a:lnTo>
                  <a:pt x="74" y="3"/>
                </a:lnTo>
                <a:lnTo>
                  <a:pt x="64" y="8"/>
                </a:lnTo>
                <a:lnTo>
                  <a:pt x="55" y="12"/>
                </a:lnTo>
                <a:lnTo>
                  <a:pt x="47" y="17"/>
                </a:lnTo>
                <a:lnTo>
                  <a:pt x="39" y="23"/>
                </a:lnTo>
                <a:lnTo>
                  <a:pt x="31" y="30"/>
                </a:lnTo>
                <a:lnTo>
                  <a:pt x="24" y="37"/>
                </a:lnTo>
                <a:lnTo>
                  <a:pt x="18" y="46"/>
                </a:lnTo>
                <a:lnTo>
                  <a:pt x="13" y="54"/>
                </a:lnTo>
                <a:lnTo>
                  <a:pt x="8" y="63"/>
                </a:lnTo>
                <a:lnTo>
                  <a:pt x="5" y="73"/>
                </a:lnTo>
                <a:lnTo>
                  <a:pt x="2" y="84"/>
                </a:lnTo>
                <a:lnTo>
                  <a:pt x="1" y="94"/>
                </a:lnTo>
                <a:lnTo>
                  <a:pt x="0" y="105"/>
                </a:lnTo>
                <a:lnTo>
                  <a:pt x="0" y="105"/>
                </a:lnTo>
                <a:lnTo>
                  <a:pt x="1" y="116"/>
                </a:lnTo>
                <a:lnTo>
                  <a:pt x="2" y="126"/>
                </a:lnTo>
                <a:lnTo>
                  <a:pt x="5" y="136"/>
                </a:lnTo>
                <a:lnTo>
                  <a:pt x="8" y="146"/>
                </a:lnTo>
                <a:lnTo>
                  <a:pt x="13" y="155"/>
                </a:lnTo>
                <a:lnTo>
                  <a:pt x="18" y="164"/>
                </a:lnTo>
                <a:lnTo>
                  <a:pt x="24" y="172"/>
                </a:lnTo>
                <a:lnTo>
                  <a:pt x="31" y="180"/>
                </a:lnTo>
                <a:lnTo>
                  <a:pt x="39" y="187"/>
                </a:lnTo>
                <a:lnTo>
                  <a:pt x="47" y="193"/>
                </a:lnTo>
                <a:lnTo>
                  <a:pt x="55" y="198"/>
                </a:lnTo>
                <a:lnTo>
                  <a:pt x="64" y="202"/>
                </a:lnTo>
                <a:lnTo>
                  <a:pt x="74" y="206"/>
                </a:lnTo>
                <a:lnTo>
                  <a:pt x="84" y="208"/>
                </a:lnTo>
                <a:lnTo>
                  <a:pt x="95" y="211"/>
                </a:lnTo>
                <a:lnTo>
                  <a:pt x="106" y="211"/>
                </a:lnTo>
                <a:lnTo>
                  <a:pt x="106" y="211"/>
                </a:lnTo>
                <a:close/>
                <a:moveTo>
                  <a:pt x="50" y="111"/>
                </a:moveTo>
                <a:lnTo>
                  <a:pt x="50" y="111"/>
                </a:lnTo>
                <a:lnTo>
                  <a:pt x="48" y="108"/>
                </a:lnTo>
                <a:lnTo>
                  <a:pt x="48" y="105"/>
                </a:lnTo>
                <a:lnTo>
                  <a:pt x="48" y="101"/>
                </a:lnTo>
                <a:lnTo>
                  <a:pt x="50" y="98"/>
                </a:lnTo>
                <a:lnTo>
                  <a:pt x="113" y="37"/>
                </a:lnTo>
                <a:lnTo>
                  <a:pt x="113" y="37"/>
                </a:lnTo>
                <a:lnTo>
                  <a:pt x="116" y="35"/>
                </a:lnTo>
                <a:lnTo>
                  <a:pt x="119" y="33"/>
                </a:lnTo>
                <a:lnTo>
                  <a:pt x="122" y="35"/>
                </a:lnTo>
                <a:lnTo>
                  <a:pt x="125" y="37"/>
                </a:lnTo>
                <a:lnTo>
                  <a:pt x="140" y="50"/>
                </a:lnTo>
                <a:lnTo>
                  <a:pt x="140" y="50"/>
                </a:lnTo>
                <a:lnTo>
                  <a:pt x="141" y="53"/>
                </a:lnTo>
                <a:lnTo>
                  <a:pt x="142" y="56"/>
                </a:lnTo>
                <a:lnTo>
                  <a:pt x="141" y="59"/>
                </a:lnTo>
                <a:lnTo>
                  <a:pt x="140" y="62"/>
                </a:lnTo>
                <a:lnTo>
                  <a:pt x="96" y="105"/>
                </a:lnTo>
                <a:lnTo>
                  <a:pt x="140" y="147"/>
                </a:lnTo>
                <a:lnTo>
                  <a:pt x="140" y="147"/>
                </a:lnTo>
                <a:lnTo>
                  <a:pt x="141" y="150"/>
                </a:lnTo>
                <a:lnTo>
                  <a:pt x="142" y="154"/>
                </a:lnTo>
                <a:lnTo>
                  <a:pt x="141" y="157"/>
                </a:lnTo>
                <a:lnTo>
                  <a:pt x="140" y="160"/>
                </a:lnTo>
                <a:lnTo>
                  <a:pt x="125" y="173"/>
                </a:lnTo>
                <a:lnTo>
                  <a:pt x="125" y="173"/>
                </a:lnTo>
                <a:lnTo>
                  <a:pt x="122" y="176"/>
                </a:lnTo>
                <a:lnTo>
                  <a:pt x="119" y="177"/>
                </a:lnTo>
                <a:lnTo>
                  <a:pt x="116" y="176"/>
                </a:lnTo>
                <a:lnTo>
                  <a:pt x="113" y="173"/>
                </a:lnTo>
                <a:lnTo>
                  <a:pt x="50" y="111"/>
                </a:lnTo>
                <a:close/>
              </a:path>
            </a:pathLst>
          </a:custGeom>
          <a:solidFill>
            <a:srgbClr val="00978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68" name="picture 14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85744" y="3953255"/>
            <a:ext cx="1004315" cy="1001268"/>
          </a:xfrm>
          <a:prstGeom prst="rect">
            <a:avLst/>
          </a:prstGeom>
        </p:spPr>
      </p:pic>
      <p:pic>
        <p:nvPicPr>
          <p:cNvPr id="1469" name="picture 146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34128" y="3976115"/>
            <a:ext cx="1002791" cy="1001268"/>
          </a:xfrm>
          <a:prstGeom prst="rect">
            <a:avLst/>
          </a:prstGeom>
        </p:spPr>
      </p:pic>
      <p:graphicFrame>
        <p:nvGraphicFramePr>
          <p:cNvPr id="1470" name="table 14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31957"/>
              </p:ext>
            </p:extLst>
          </p:nvPr>
        </p:nvGraphicFramePr>
        <p:xfrm>
          <a:off x="323532" y="3596385"/>
          <a:ext cx="6367630" cy="1488439"/>
        </p:xfrm>
        <a:graphic>
          <a:graphicData uri="http://schemas.openxmlformats.org/drawingml/2006/table">
            <a:tbl>
              <a:tblPr/>
              <a:tblGrid>
                <a:gridCol w="4511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8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00" dirty="0"/>
                    </a:p>
                    <a:p>
                      <a:pPr marL="1583690" algn="l" rtl="0" eaLnBrk="0">
                        <a:lnSpc>
                          <a:spcPct val="98000"/>
                        </a:lnSpc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虚拟偶像</a:t>
                      </a:r>
                      <a:endParaRPr lang="en-US" altLang="en-US" sz="1100" dirty="0"/>
                    </a:p>
                    <a:p>
                      <a:pPr marL="1351280" algn="l" rtl="0" eaLnBrk="0">
                        <a:lnSpc>
                          <a:spcPct val="97000"/>
                        </a:lnSpc>
                        <a:spcBef>
                          <a:spcPts val="295"/>
                        </a:spcBef>
                      </a:pP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C端数字化身</a:t>
                      </a:r>
                      <a:endParaRPr lang="en-US" altLang="en-US" sz="11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lang="en-US" altLang="en-US" sz="300" dirty="0"/>
                    </a:p>
                    <a:p>
                      <a:pPr marL="66040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80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资料</a:t>
                      </a:r>
                      <a:r>
                        <a:rPr sz="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来源：中国信通院，国泰君安证券研究</a:t>
                      </a:r>
                      <a:endParaRPr lang="en-US" altLang="en-US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449580" algn="l" rtl="0" eaLnBrk="0">
                        <a:lnSpc>
                          <a:spcPct val="98000"/>
                        </a:lnSpc>
                      </a:pPr>
                      <a:r>
                        <a:rPr sz="140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</a:t>
                      </a:r>
                      <a:r>
                        <a:rPr sz="14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他</a:t>
                      </a:r>
                      <a:endParaRPr lang="en-US" altLang="en-US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lang="en-US" altLang="en-US" sz="1000" dirty="0"/>
                    </a:p>
                    <a:p>
                      <a:pPr marL="102235" indent="1905" algn="l" rtl="0" eaLnBrk="0">
                        <a:lnSpc>
                          <a:spcPct val="119000"/>
                        </a:lnSpc>
                        <a:spcBef>
                          <a:spcPts val="0"/>
                        </a:spcBef>
                      </a:pPr>
                      <a:r>
                        <a:rPr sz="1100" spc="-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育</a:t>
                      </a:r>
                      <a:r>
                        <a:rPr sz="110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融</a:t>
                      </a:r>
                      <a:r>
                        <a:rPr sz="110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疗</a:t>
                      </a:r>
                      <a:r>
                        <a:rPr sz="110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spc="1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</a:t>
                      </a:r>
                      <a:r>
                        <a:rPr sz="1100" spc="0" dirty="0">
                          <a:ln w="3175" cap="flat" cmpd="sng">
                            <a:solidFill>
                              <a:srgbClr val="404040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endParaRPr lang="en-US" altLang="en-US" sz="1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73" name="textbox 1473"/>
          <p:cNvSpPr/>
          <p:nvPr/>
        </p:nvSpPr>
        <p:spPr>
          <a:xfrm>
            <a:off x="-12700" y="398831"/>
            <a:ext cx="8702040" cy="7550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300" dirty="0"/>
          </a:p>
          <a:p>
            <a:pPr marL="12700" algn="l" rtl="0" eaLnBrk="0">
              <a:lnSpc>
                <a:spcPct val="82000"/>
              </a:lnSpc>
              <a:spcBef>
                <a:spcPts val="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改变数字内容生产</a:t>
            </a:r>
            <a:r>
              <a:rPr sz="3000" spc="6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3000" spc="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endParaRPr lang="en-US" altLang="en-US" sz="1950" dirty="0"/>
          </a:p>
          <a:p>
            <a:pPr algn="l" rtl="0" eaLnBrk="0">
              <a:lnSpc>
                <a:spcPct val="109000"/>
              </a:lnSpc>
            </a:pPr>
            <a:endParaRPr lang="en-US" altLang="en-US" sz="700" dirty="0"/>
          </a:p>
          <a:p>
            <a:pPr marL="367665" algn="l" rtl="0" eaLnBrk="0">
              <a:lnSpc>
                <a:spcPct val="97000"/>
              </a:lnSpc>
              <a:spcBef>
                <a:spcPts val="5"/>
              </a:spcBef>
              <a:tabLst>
                <a:tab pos="4559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作为新的内容生产模式，其具有内容多样，可控性强与生产效率高的优点，符合传媒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，电商，影视，娱乐等行业对内</a:t>
            </a:r>
            <a:endParaRPr lang="en-US" altLang="en-US" sz="1200" dirty="0"/>
          </a:p>
        </p:txBody>
      </p:sp>
      <p:pic>
        <p:nvPicPr>
          <p:cNvPr id="1474" name="picture 14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5091" y="986663"/>
            <a:ext cx="88239" cy="100584"/>
          </a:xfrm>
          <a:prstGeom prst="rect">
            <a:avLst/>
          </a:prstGeom>
        </p:spPr>
      </p:pic>
      <p:sp>
        <p:nvSpPr>
          <p:cNvPr id="1475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76" name="textbox 1476"/>
          <p:cNvSpPr/>
          <p:nvPr/>
        </p:nvSpPr>
        <p:spPr>
          <a:xfrm>
            <a:off x="504240" y="1225118"/>
            <a:ext cx="7501890" cy="20256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容数字化程度高、内容多样以及内容更新快的要求，</a:t>
            </a: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spc="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在以上行业逐渐替代传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统内容生产模式的趋势十分显著</a:t>
            </a:r>
            <a:endParaRPr lang="en-US" altLang="en-US" sz="1200" dirty="0"/>
          </a:p>
        </p:txBody>
      </p:sp>
      <p:sp>
        <p:nvSpPr>
          <p:cNvPr id="1477" name="textbox 1477"/>
          <p:cNvSpPr/>
          <p:nvPr/>
        </p:nvSpPr>
        <p:spPr>
          <a:xfrm>
            <a:off x="1754168" y="3763771"/>
            <a:ext cx="2534285" cy="4629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87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100" spc="1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趣味</a:t>
            </a:r>
            <a:r>
              <a:rPr sz="1100" spc="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音视频合成</a:t>
            </a: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</a:t>
            </a:r>
            <a:endParaRPr lang="en-US" altLang="en-US" sz="1100" dirty="0"/>
          </a:p>
        </p:txBody>
      </p:sp>
      <p:sp>
        <p:nvSpPr>
          <p:cNvPr id="1478" name="path"/>
          <p:cNvSpPr/>
          <p:nvPr/>
        </p:nvSpPr>
        <p:spPr>
          <a:xfrm>
            <a:off x="3872229" y="3776471"/>
            <a:ext cx="403352" cy="423227"/>
          </a:xfrm>
          <a:custGeom>
            <a:avLst/>
            <a:gdLst/>
            <a:ahLst/>
            <a:cxnLst/>
            <a:rect l="0" t="0" r="0" b="0"/>
            <a:pathLst>
              <a:path w="635" h="666">
                <a:moveTo>
                  <a:pt x="267" y="456"/>
                </a:moveTo>
                <a:cubicBezTo>
                  <a:pt x="275" y="462"/>
                  <a:pt x="282" y="467"/>
                  <a:pt x="290" y="473"/>
                </a:cubicBezTo>
                <a:cubicBezTo>
                  <a:pt x="363" y="530"/>
                  <a:pt x="428" y="598"/>
                  <a:pt x="477" y="666"/>
                </a:cubicBezTo>
                <a:cubicBezTo>
                  <a:pt x="477" y="666"/>
                  <a:pt x="477" y="666"/>
                  <a:pt x="477" y="666"/>
                </a:cubicBezTo>
                <a:cubicBezTo>
                  <a:pt x="371" y="503"/>
                  <a:pt x="302" y="440"/>
                  <a:pt x="424" y="273"/>
                </a:cubicBezTo>
                <a:cubicBezTo>
                  <a:pt x="432" y="262"/>
                  <a:pt x="432" y="262"/>
                  <a:pt x="432" y="262"/>
                </a:cubicBezTo>
                <a:cubicBezTo>
                  <a:pt x="524" y="135"/>
                  <a:pt x="602" y="114"/>
                  <a:pt x="635" y="109"/>
                </a:cubicBezTo>
                <a:cubicBezTo>
                  <a:pt x="635" y="109"/>
                  <a:pt x="635" y="109"/>
                  <a:pt x="635" y="109"/>
                </a:cubicBezTo>
                <a:cubicBezTo>
                  <a:pt x="604" y="111"/>
                  <a:pt x="568" y="106"/>
                  <a:pt x="538" y="84"/>
                </a:cubicBezTo>
                <a:cubicBezTo>
                  <a:pt x="504" y="59"/>
                  <a:pt x="488" y="27"/>
                  <a:pt x="485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90" y="32"/>
                  <a:pt x="494" y="113"/>
                  <a:pt x="401" y="240"/>
                </a:cubicBezTo>
                <a:cubicBezTo>
                  <a:pt x="394" y="251"/>
                  <a:pt x="394" y="251"/>
                  <a:pt x="394" y="251"/>
                </a:cubicBezTo>
                <a:cubicBezTo>
                  <a:pt x="272" y="418"/>
                  <a:pt x="187" y="369"/>
                  <a:pt x="0" y="320"/>
                </a:cubicBezTo>
                <a:cubicBezTo>
                  <a:pt x="83" y="347"/>
                  <a:pt x="164" y="385"/>
                  <a:pt x="245" y="440"/>
                </a:cubicBezTo>
                <a:cubicBezTo>
                  <a:pt x="252" y="445"/>
                  <a:pt x="260" y="451"/>
                  <a:pt x="267" y="456"/>
                </a:cubicBezTo>
              </a:path>
            </a:pathLst>
          </a:custGeom>
          <a:solidFill>
            <a:srgbClr val="7030A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79" name="picture 147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052315" y="1632204"/>
            <a:ext cx="1004315" cy="1004315"/>
          </a:xfrm>
          <a:prstGeom prst="rect">
            <a:avLst/>
          </a:prstGeom>
        </p:spPr>
      </p:pic>
      <p:pic>
        <p:nvPicPr>
          <p:cNvPr id="1480" name="picture 14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66944" y="2497835"/>
            <a:ext cx="1004315" cy="1001268"/>
          </a:xfrm>
          <a:prstGeom prst="rect">
            <a:avLst/>
          </a:prstGeom>
        </p:spPr>
      </p:pic>
      <p:pic>
        <p:nvPicPr>
          <p:cNvPr id="1481" name="picture 148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06163" y="1647570"/>
            <a:ext cx="897255" cy="897255"/>
          </a:xfrm>
          <a:prstGeom prst="rect">
            <a:avLst/>
          </a:prstGeom>
        </p:spPr>
      </p:pic>
      <p:pic>
        <p:nvPicPr>
          <p:cNvPr id="1482" name="picture 14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321045" y="2512694"/>
            <a:ext cx="897255" cy="894334"/>
          </a:xfrm>
          <a:prstGeom prst="rect">
            <a:avLst/>
          </a:prstGeom>
        </p:spPr>
      </p:pic>
      <p:sp>
        <p:nvSpPr>
          <p:cNvPr id="1483" name="textbox 1483"/>
          <p:cNvSpPr/>
          <p:nvPr/>
        </p:nvSpPr>
        <p:spPr>
          <a:xfrm>
            <a:off x="6691162" y="2652344"/>
            <a:ext cx="728980" cy="7931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4000"/>
              </a:lnSpc>
            </a:pPr>
            <a:r>
              <a:rPr sz="1100" spc="1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新闻采</a:t>
            </a:r>
            <a:r>
              <a:rPr sz="1100" spc="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</a:t>
            </a: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100" spc="1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新闻稿</a:t>
            </a:r>
            <a:r>
              <a:rPr sz="1100" spc="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写作</a:t>
            </a: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spc="1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视频剪</a:t>
            </a:r>
            <a:r>
              <a:rPr sz="1100" spc="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辑</a:t>
            </a:r>
            <a:r>
              <a:rPr sz="110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spc="1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新闻传</a:t>
            </a:r>
            <a:r>
              <a:rPr sz="1100" spc="0" dirty="0">
                <a:ln w="3175" cap="flat" cmpd="sng">
                  <a:solidFill>
                    <a:srgbClr val="40404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</a:t>
            </a:r>
            <a:endParaRPr lang="en-US" altLang="en-US" sz="1100" dirty="0"/>
          </a:p>
        </p:txBody>
      </p:sp>
      <p:sp>
        <p:nvSpPr>
          <p:cNvPr id="1484" name="textbox 1484"/>
          <p:cNvSpPr/>
          <p:nvPr/>
        </p:nvSpPr>
        <p:spPr>
          <a:xfrm>
            <a:off x="5684487" y="124277"/>
            <a:ext cx="3129914" cy="186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</p:txBody>
      </p:sp>
      <p:sp>
        <p:nvSpPr>
          <p:cNvPr id="1485" name="textbox 1485"/>
          <p:cNvSpPr/>
          <p:nvPr/>
        </p:nvSpPr>
        <p:spPr>
          <a:xfrm>
            <a:off x="3146522" y="1466762"/>
            <a:ext cx="2660650" cy="1752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60"/>
              </a:lnSpc>
            </a:pP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图61 ：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90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对各大行业的影响维度如下图所</a:t>
            </a:r>
            <a:r>
              <a:rPr sz="9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900" dirty="0"/>
          </a:p>
        </p:txBody>
      </p:sp>
      <p:sp>
        <p:nvSpPr>
          <p:cNvPr id="1486" name="path"/>
          <p:cNvSpPr/>
          <p:nvPr/>
        </p:nvSpPr>
        <p:spPr>
          <a:xfrm>
            <a:off x="4731639" y="3679444"/>
            <a:ext cx="231901" cy="183133"/>
          </a:xfrm>
          <a:custGeom>
            <a:avLst/>
            <a:gdLst/>
            <a:ahLst/>
            <a:cxnLst/>
            <a:rect l="0" t="0" r="0" b="0"/>
            <a:pathLst>
              <a:path w="365" h="288">
                <a:moveTo>
                  <a:pt x="0" y="242"/>
                </a:moveTo>
                <a:cubicBezTo>
                  <a:pt x="0" y="267"/>
                  <a:pt x="20" y="288"/>
                  <a:pt x="46" y="288"/>
                </a:cubicBezTo>
                <a:cubicBezTo>
                  <a:pt x="71" y="288"/>
                  <a:pt x="92" y="267"/>
                  <a:pt x="92" y="242"/>
                </a:cubicBezTo>
                <a:cubicBezTo>
                  <a:pt x="92" y="217"/>
                  <a:pt x="71" y="196"/>
                  <a:pt x="46" y="196"/>
                </a:cubicBezTo>
                <a:cubicBezTo>
                  <a:pt x="20" y="196"/>
                  <a:pt x="0" y="217"/>
                  <a:pt x="0" y="242"/>
                </a:cubicBezTo>
                <a:moveTo>
                  <a:pt x="46" y="217"/>
                </a:moveTo>
                <a:cubicBezTo>
                  <a:pt x="62" y="217"/>
                  <a:pt x="71" y="230"/>
                  <a:pt x="71" y="242"/>
                </a:cubicBezTo>
                <a:cubicBezTo>
                  <a:pt x="71" y="259"/>
                  <a:pt x="62" y="267"/>
                  <a:pt x="46" y="267"/>
                </a:cubicBezTo>
                <a:cubicBezTo>
                  <a:pt x="33" y="267"/>
                  <a:pt x="20" y="259"/>
                  <a:pt x="20" y="242"/>
                </a:cubicBezTo>
                <a:cubicBezTo>
                  <a:pt x="20" y="230"/>
                  <a:pt x="33" y="217"/>
                  <a:pt x="46" y="217"/>
                </a:cubicBezTo>
              </a:path>
              <a:path w="365" h="288">
                <a:moveTo>
                  <a:pt x="148" y="160"/>
                </a:moveTo>
                <a:cubicBezTo>
                  <a:pt x="148" y="184"/>
                  <a:pt x="169" y="200"/>
                  <a:pt x="194" y="200"/>
                </a:cubicBezTo>
                <a:cubicBezTo>
                  <a:pt x="220" y="200"/>
                  <a:pt x="236" y="184"/>
                  <a:pt x="236" y="160"/>
                </a:cubicBezTo>
                <a:cubicBezTo>
                  <a:pt x="236" y="135"/>
                  <a:pt x="220" y="115"/>
                  <a:pt x="194" y="115"/>
                </a:cubicBezTo>
                <a:cubicBezTo>
                  <a:pt x="169" y="115"/>
                  <a:pt x="148" y="135"/>
                  <a:pt x="148" y="160"/>
                </a:cubicBezTo>
                <a:moveTo>
                  <a:pt x="194" y="131"/>
                </a:moveTo>
                <a:cubicBezTo>
                  <a:pt x="207" y="131"/>
                  <a:pt x="220" y="143"/>
                  <a:pt x="220" y="160"/>
                </a:cubicBezTo>
                <a:cubicBezTo>
                  <a:pt x="220" y="172"/>
                  <a:pt x="207" y="184"/>
                  <a:pt x="194" y="184"/>
                </a:cubicBezTo>
                <a:cubicBezTo>
                  <a:pt x="177" y="184"/>
                  <a:pt x="165" y="172"/>
                  <a:pt x="165" y="160"/>
                </a:cubicBezTo>
                <a:cubicBezTo>
                  <a:pt x="165" y="143"/>
                  <a:pt x="177" y="131"/>
                  <a:pt x="194" y="131"/>
                </a:cubicBezTo>
              </a:path>
              <a:path w="365" h="288">
                <a:moveTo>
                  <a:pt x="272" y="45"/>
                </a:moveTo>
                <a:cubicBezTo>
                  <a:pt x="272" y="70"/>
                  <a:pt x="293" y="91"/>
                  <a:pt x="318" y="91"/>
                </a:cubicBezTo>
                <a:cubicBezTo>
                  <a:pt x="344" y="91"/>
                  <a:pt x="365" y="70"/>
                  <a:pt x="365" y="45"/>
                </a:cubicBezTo>
                <a:cubicBezTo>
                  <a:pt x="365" y="20"/>
                  <a:pt x="344" y="0"/>
                  <a:pt x="318" y="0"/>
                </a:cubicBezTo>
                <a:cubicBezTo>
                  <a:pt x="293" y="0"/>
                  <a:pt x="272" y="20"/>
                  <a:pt x="272" y="45"/>
                </a:cubicBezTo>
                <a:moveTo>
                  <a:pt x="318" y="20"/>
                </a:moveTo>
                <a:cubicBezTo>
                  <a:pt x="331" y="20"/>
                  <a:pt x="344" y="33"/>
                  <a:pt x="344" y="45"/>
                </a:cubicBezTo>
                <a:cubicBezTo>
                  <a:pt x="344" y="62"/>
                  <a:pt x="331" y="70"/>
                  <a:pt x="318" y="70"/>
                </a:cubicBezTo>
                <a:cubicBezTo>
                  <a:pt x="306" y="70"/>
                  <a:pt x="293" y="62"/>
                  <a:pt x="293" y="45"/>
                </a:cubicBezTo>
                <a:cubicBezTo>
                  <a:pt x="293" y="33"/>
                  <a:pt x="306" y="20"/>
                  <a:pt x="318" y="20"/>
                </a:cubicBezTo>
              </a:path>
            </a:pathLst>
          </a:cu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7" name="path"/>
          <p:cNvSpPr/>
          <p:nvPr/>
        </p:nvSpPr>
        <p:spPr>
          <a:xfrm>
            <a:off x="4781989" y="3704853"/>
            <a:ext cx="465650" cy="513273"/>
          </a:xfrm>
          <a:custGeom>
            <a:avLst/>
            <a:gdLst/>
            <a:ahLst/>
            <a:cxnLst/>
            <a:rect l="0" t="0" r="0" b="0"/>
            <a:pathLst>
              <a:path w="733" h="808">
                <a:moveTo>
                  <a:pt x="467" y="594"/>
                </a:moveTo>
                <a:cubicBezTo>
                  <a:pt x="475" y="588"/>
                  <a:pt x="482" y="583"/>
                  <a:pt x="490" y="577"/>
                </a:cubicBezTo>
                <a:cubicBezTo>
                  <a:pt x="567" y="525"/>
                  <a:pt x="652" y="485"/>
                  <a:pt x="733" y="461"/>
                </a:cubicBezTo>
                <a:cubicBezTo>
                  <a:pt x="733" y="461"/>
                  <a:pt x="733" y="461"/>
                  <a:pt x="733" y="461"/>
                </a:cubicBezTo>
                <a:cubicBezTo>
                  <a:pt x="543" y="508"/>
                  <a:pt x="462" y="554"/>
                  <a:pt x="334" y="379"/>
                </a:cubicBezTo>
                <a:cubicBezTo>
                  <a:pt x="326" y="367"/>
                  <a:pt x="326" y="367"/>
                  <a:pt x="326" y="367"/>
                </a:cubicBezTo>
                <a:cubicBezTo>
                  <a:pt x="229" y="234"/>
                  <a:pt x="231" y="150"/>
                  <a:pt x="236" y="117"/>
                </a:cubicBezTo>
                <a:cubicBezTo>
                  <a:pt x="236" y="117"/>
                  <a:pt x="236" y="117"/>
                  <a:pt x="236" y="117"/>
                </a:cubicBezTo>
                <a:cubicBezTo>
                  <a:pt x="229" y="147"/>
                  <a:pt x="213" y="181"/>
                  <a:pt x="183" y="203"/>
                </a:cubicBezTo>
                <a:cubicBezTo>
                  <a:pt x="150" y="227"/>
                  <a:pt x="113" y="232"/>
                  <a:pt x="86" y="226"/>
                </a:cubicBezTo>
                <a:cubicBezTo>
                  <a:pt x="86" y="226"/>
                  <a:pt x="86" y="226"/>
                  <a:pt x="86" y="226"/>
                </a:cubicBezTo>
                <a:cubicBezTo>
                  <a:pt x="119" y="232"/>
                  <a:pt x="199" y="256"/>
                  <a:pt x="296" y="389"/>
                </a:cubicBezTo>
                <a:cubicBezTo>
                  <a:pt x="304" y="401"/>
                  <a:pt x="304" y="401"/>
                  <a:pt x="304" y="401"/>
                </a:cubicBezTo>
                <a:cubicBezTo>
                  <a:pt x="432" y="576"/>
                  <a:pt x="359" y="642"/>
                  <a:pt x="256" y="808"/>
                </a:cubicBezTo>
                <a:cubicBezTo>
                  <a:pt x="307" y="736"/>
                  <a:pt x="368" y="670"/>
                  <a:pt x="445" y="610"/>
                </a:cubicBezTo>
                <a:cubicBezTo>
                  <a:pt x="452" y="604"/>
                  <a:pt x="460" y="599"/>
                  <a:pt x="467" y="594"/>
                </a:cubicBezTo>
              </a:path>
              <a:path w="733" h="808">
                <a:moveTo>
                  <a:pt x="27" y="187"/>
                </a:moveTo>
                <a:cubicBezTo>
                  <a:pt x="-7" y="138"/>
                  <a:pt x="4" y="67"/>
                  <a:pt x="57" y="28"/>
                </a:cubicBezTo>
                <a:cubicBezTo>
                  <a:pt x="106" y="-7"/>
                  <a:pt x="177" y="3"/>
                  <a:pt x="213" y="52"/>
                </a:cubicBezTo>
                <a:cubicBezTo>
                  <a:pt x="251" y="104"/>
                  <a:pt x="239" y="176"/>
                  <a:pt x="190" y="211"/>
                </a:cubicBezTo>
                <a:cubicBezTo>
                  <a:pt x="137" y="250"/>
                  <a:pt x="65" y="239"/>
                  <a:pt x="27" y="187"/>
                </a:cubicBezTo>
                <a:moveTo>
                  <a:pt x="165" y="178"/>
                </a:moveTo>
                <a:cubicBezTo>
                  <a:pt x="199" y="153"/>
                  <a:pt x="207" y="107"/>
                  <a:pt x="182" y="74"/>
                </a:cubicBezTo>
                <a:cubicBezTo>
                  <a:pt x="158" y="40"/>
                  <a:pt x="112" y="33"/>
                  <a:pt x="78" y="58"/>
                </a:cubicBezTo>
                <a:cubicBezTo>
                  <a:pt x="44" y="83"/>
                  <a:pt x="33" y="131"/>
                  <a:pt x="57" y="165"/>
                </a:cubicBezTo>
                <a:cubicBezTo>
                  <a:pt x="82" y="198"/>
                  <a:pt x="131" y="202"/>
                  <a:pt x="165" y="178"/>
                </a:cubicBezTo>
              </a:path>
            </a:pathLst>
          </a:custGeom>
          <a:solidFill>
            <a:srgbClr val="59595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9" name="path"/>
          <p:cNvSpPr/>
          <p:nvPr/>
        </p:nvSpPr>
        <p:spPr>
          <a:xfrm>
            <a:off x="4969002" y="3087243"/>
            <a:ext cx="101472" cy="150240"/>
          </a:xfrm>
          <a:custGeom>
            <a:avLst/>
            <a:gdLst/>
            <a:ahLst/>
            <a:cxnLst/>
            <a:rect l="0" t="0" r="0" b="0"/>
            <a:pathLst>
              <a:path w="159" h="236">
                <a:moveTo>
                  <a:pt x="69" y="191"/>
                </a:moveTo>
                <a:cubicBezTo>
                  <a:pt x="69" y="216"/>
                  <a:pt x="90" y="236"/>
                  <a:pt x="114" y="236"/>
                </a:cubicBezTo>
                <a:cubicBezTo>
                  <a:pt x="139" y="236"/>
                  <a:pt x="159" y="216"/>
                  <a:pt x="159" y="191"/>
                </a:cubicBezTo>
                <a:cubicBezTo>
                  <a:pt x="159" y="167"/>
                  <a:pt x="139" y="150"/>
                  <a:pt x="114" y="150"/>
                </a:cubicBezTo>
                <a:cubicBezTo>
                  <a:pt x="90" y="150"/>
                  <a:pt x="69" y="167"/>
                  <a:pt x="69" y="191"/>
                </a:cubicBezTo>
                <a:moveTo>
                  <a:pt x="114" y="167"/>
                </a:moveTo>
                <a:cubicBezTo>
                  <a:pt x="127" y="167"/>
                  <a:pt x="139" y="179"/>
                  <a:pt x="139" y="191"/>
                </a:cubicBezTo>
                <a:cubicBezTo>
                  <a:pt x="139" y="207"/>
                  <a:pt x="127" y="220"/>
                  <a:pt x="114" y="220"/>
                </a:cubicBezTo>
                <a:cubicBezTo>
                  <a:pt x="98" y="220"/>
                  <a:pt x="90" y="207"/>
                  <a:pt x="90" y="191"/>
                </a:cubicBezTo>
                <a:cubicBezTo>
                  <a:pt x="90" y="179"/>
                  <a:pt x="98" y="167"/>
                  <a:pt x="114" y="167"/>
                </a:cubicBezTo>
              </a:path>
              <a:path w="159" h="236">
                <a:moveTo>
                  <a:pt x="86" y="44"/>
                </a:moveTo>
                <a:cubicBezTo>
                  <a:pt x="86" y="20"/>
                  <a:pt x="69" y="0"/>
                  <a:pt x="45" y="0"/>
                </a:cubicBezTo>
                <a:cubicBezTo>
                  <a:pt x="20" y="0"/>
                  <a:pt x="0" y="20"/>
                  <a:pt x="0" y="44"/>
                </a:cubicBezTo>
                <a:cubicBezTo>
                  <a:pt x="0" y="69"/>
                  <a:pt x="20" y="89"/>
                  <a:pt x="45" y="89"/>
                </a:cubicBezTo>
                <a:cubicBezTo>
                  <a:pt x="69" y="89"/>
                  <a:pt x="86" y="69"/>
                  <a:pt x="86" y="44"/>
                </a:cubicBezTo>
                <a:moveTo>
                  <a:pt x="45" y="69"/>
                </a:moveTo>
                <a:cubicBezTo>
                  <a:pt x="28" y="69"/>
                  <a:pt x="16" y="60"/>
                  <a:pt x="16" y="44"/>
                </a:cubicBezTo>
                <a:cubicBezTo>
                  <a:pt x="16" y="32"/>
                  <a:pt x="28" y="20"/>
                  <a:pt x="45" y="20"/>
                </a:cubicBezTo>
                <a:cubicBezTo>
                  <a:pt x="57" y="20"/>
                  <a:pt x="69" y="32"/>
                  <a:pt x="69" y="44"/>
                </a:cubicBezTo>
                <a:cubicBezTo>
                  <a:pt x="69" y="60"/>
                  <a:pt x="57" y="69"/>
                  <a:pt x="45" y="69"/>
                </a:cubicBezTo>
              </a:path>
            </a:pathLst>
          </a:cu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0" name="path"/>
          <p:cNvSpPr/>
          <p:nvPr/>
        </p:nvSpPr>
        <p:spPr>
          <a:xfrm>
            <a:off x="4962749" y="2921762"/>
            <a:ext cx="480471" cy="368061"/>
          </a:xfrm>
          <a:custGeom>
            <a:avLst/>
            <a:gdLst/>
            <a:ahLst/>
            <a:cxnLst/>
            <a:rect l="0" t="0" r="0" b="0"/>
            <a:pathLst>
              <a:path w="756" h="579">
                <a:moveTo>
                  <a:pt x="623" y="291"/>
                </a:moveTo>
                <a:cubicBezTo>
                  <a:pt x="620" y="282"/>
                  <a:pt x="617" y="273"/>
                  <a:pt x="614" y="265"/>
                </a:cubicBezTo>
                <a:cubicBezTo>
                  <a:pt x="589" y="175"/>
                  <a:pt x="575" y="82"/>
                  <a:pt x="574" y="0"/>
                </a:cubicBezTo>
                <a:cubicBezTo>
                  <a:pt x="574" y="0"/>
                  <a:pt x="574" y="0"/>
                  <a:pt x="574" y="0"/>
                </a:cubicBezTo>
                <a:cubicBezTo>
                  <a:pt x="568" y="192"/>
                  <a:pt x="588" y="283"/>
                  <a:pt x="404" y="343"/>
                </a:cubicBezTo>
                <a:cubicBezTo>
                  <a:pt x="392" y="347"/>
                  <a:pt x="392" y="347"/>
                  <a:pt x="392" y="347"/>
                </a:cubicBezTo>
                <a:cubicBezTo>
                  <a:pt x="252" y="392"/>
                  <a:pt x="180" y="362"/>
                  <a:pt x="152" y="346"/>
                </a:cubicBezTo>
                <a:cubicBezTo>
                  <a:pt x="152" y="346"/>
                  <a:pt x="152" y="346"/>
                  <a:pt x="152" y="346"/>
                </a:cubicBezTo>
                <a:cubicBezTo>
                  <a:pt x="177" y="363"/>
                  <a:pt x="202" y="389"/>
                  <a:pt x="214" y="424"/>
                </a:cubicBezTo>
                <a:cubicBezTo>
                  <a:pt x="226" y="464"/>
                  <a:pt x="222" y="500"/>
                  <a:pt x="210" y="523"/>
                </a:cubicBezTo>
                <a:cubicBezTo>
                  <a:pt x="210" y="523"/>
                  <a:pt x="210" y="523"/>
                  <a:pt x="210" y="523"/>
                </a:cubicBezTo>
                <a:cubicBezTo>
                  <a:pt x="223" y="494"/>
                  <a:pt x="264" y="427"/>
                  <a:pt x="403" y="382"/>
                </a:cubicBezTo>
                <a:cubicBezTo>
                  <a:pt x="415" y="378"/>
                  <a:pt x="415" y="378"/>
                  <a:pt x="415" y="378"/>
                </a:cubicBezTo>
                <a:cubicBezTo>
                  <a:pt x="599" y="318"/>
                  <a:pt x="638" y="408"/>
                  <a:pt x="756" y="560"/>
                </a:cubicBezTo>
                <a:cubicBezTo>
                  <a:pt x="707" y="488"/>
                  <a:pt x="665" y="409"/>
                  <a:pt x="632" y="318"/>
                </a:cubicBezTo>
                <a:cubicBezTo>
                  <a:pt x="629" y="309"/>
                  <a:pt x="626" y="300"/>
                  <a:pt x="623" y="291"/>
                </a:cubicBezTo>
              </a:path>
              <a:path w="756" h="579">
                <a:moveTo>
                  <a:pt x="154" y="566"/>
                </a:moveTo>
                <a:cubicBezTo>
                  <a:pt x="97" y="585"/>
                  <a:pt x="33" y="552"/>
                  <a:pt x="12" y="490"/>
                </a:cubicBezTo>
                <a:cubicBezTo>
                  <a:pt x="-5" y="432"/>
                  <a:pt x="26" y="367"/>
                  <a:pt x="83" y="348"/>
                </a:cubicBezTo>
                <a:cubicBezTo>
                  <a:pt x="145" y="328"/>
                  <a:pt x="209" y="362"/>
                  <a:pt x="228" y="420"/>
                </a:cubicBezTo>
                <a:cubicBezTo>
                  <a:pt x="248" y="482"/>
                  <a:pt x="216" y="546"/>
                  <a:pt x="154" y="566"/>
                </a:cubicBezTo>
                <a:moveTo>
                  <a:pt x="188" y="432"/>
                </a:moveTo>
                <a:cubicBezTo>
                  <a:pt x="175" y="392"/>
                  <a:pt x="134" y="371"/>
                  <a:pt x="95" y="384"/>
                </a:cubicBezTo>
                <a:cubicBezTo>
                  <a:pt x="55" y="397"/>
                  <a:pt x="35" y="438"/>
                  <a:pt x="48" y="478"/>
                </a:cubicBezTo>
                <a:cubicBezTo>
                  <a:pt x="61" y="518"/>
                  <a:pt x="103" y="544"/>
                  <a:pt x="143" y="531"/>
                </a:cubicBezTo>
                <a:cubicBezTo>
                  <a:pt x="182" y="518"/>
                  <a:pt x="201" y="472"/>
                  <a:pt x="188" y="432"/>
                </a:cubicBezTo>
              </a:path>
            </a:pathLst>
          </a:custGeom>
          <a:solidFill>
            <a:srgbClr val="59C3F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1" name="path"/>
          <p:cNvSpPr/>
          <p:nvPr/>
        </p:nvSpPr>
        <p:spPr>
          <a:xfrm>
            <a:off x="3621532" y="2906267"/>
            <a:ext cx="409955" cy="355980"/>
          </a:xfrm>
          <a:custGeom>
            <a:avLst/>
            <a:gdLst/>
            <a:ahLst/>
            <a:cxnLst/>
            <a:rect l="0" t="0" r="0" b="0"/>
            <a:pathLst>
              <a:path w="645" h="560">
                <a:moveTo>
                  <a:pt x="135" y="297"/>
                </a:moveTo>
                <a:cubicBezTo>
                  <a:pt x="132" y="306"/>
                  <a:pt x="129" y="314"/>
                  <a:pt x="127" y="323"/>
                </a:cubicBezTo>
                <a:cubicBezTo>
                  <a:pt x="95" y="411"/>
                  <a:pt x="50" y="494"/>
                  <a:pt x="0" y="560"/>
                </a:cubicBezTo>
                <a:cubicBezTo>
                  <a:pt x="0" y="560"/>
                  <a:pt x="0" y="560"/>
                  <a:pt x="0" y="560"/>
                </a:cubicBezTo>
                <a:cubicBezTo>
                  <a:pt x="123" y="410"/>
                  <a:pt x="162" y="325"/>
                  <a:pt x="362" y="390"/>
                </a:cubicBezTo>
                <a:cubicBezTo>
                  <a:pt x="375" y="394"/>
                  <a:pt x="375" y="394"/>
                  <a:pt x="375" y="394"/>
                </a:cubicBezTo>
                <a:cubicBezTo>
                  <a:pt x="527" y="444"/>
                  <a:pt x="572" y="512"/>
                  <a:pt x="588" y="542"/>
                </a:cubicBezTo>
                <a:cubicBezTo>
                  <a:pt x="588" y="542"/>
                  <a:pt x="588" y="542"/>
                  <a:pt x="588" y="542"/>
                </a:cubicBezTo>
                <a:cubicBezTo>
                  <a:pt x="575" y="513"/>
                  <a:pt x="570" y="477"/>
                  <a:pt x="581" y="442"/>
                </a:cubicBezTo>
                <a:cubicBezTo>
                  <a:pt x="594" y="402"/>
                  <a:pt x="620" y="376"/>
                  <a:pt x="645" y="365"/>
                </a:cubicBezTo>
                <a:cubicBezTo>
                  <a:pt x="645" y="365"/>
                  <a:pt x="645" y="365"/>
                  <a:pt x="645" y="365"/>
                </a:cubicBezTo>
                <a:cubicBezTo>
                  <a:pt x="615" y="380"/>
                  <a:pt x="538" y="408"/>
                  <a:pt x="386" y="359"/>
                </a:cubicBezTo>
                <a:cubicBezTo>
                  <a:pt x="373" y="355"/>
                  <a:pt x="373" y="355"/>
                  <a:pt x="373" y="355"/>
                </a:cubicBezTo>
                <a:cubicBezTo>
                  <a:pt x="173" y="290"/>
                  <a:pt x="193" y="194"/>
                  <a:pt x="182" y="0"/>
                </a:cubicBezTo>
                <a:cubicBezTo>
                  <a:pt x="182" y="87"/>
                  <a:pt x="171" y="177"/>
                  <a:pt x="144" y="270"/>
                </a:cubicBezTo>
                <a:cubicBezTo>
                  <a:pt x="141" y="279"/>
                  <a:pt x="138" y="288"/>
                  <a:pt x="135" y="297"/>
                </a:cubicBezTo>
              </a:path>
            </a:pathLst>
          </a:custGeom>
          <a:solidFill>
            <a:srgbClr val="00978B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2" name="path"/>
          <p:cNvSpPr/>
          <p:nvPr/>
        </p:nvSpPr>
        <p:spPr>
          <a:xfrm>
            <a:off x="4373244" y="2509900"/>
            <a:ext cx="374396" cy="296418"/>
          </a:xfrm>
          <a:custGeom>
            <a:avLst/>
            <a:gdLst/>
            <a:ahLst/>
            <a:cxnLst/>
            <a:rect l="0" t="0" r="0" b="0"/>
            <a:pathLst>
              <a:path w="589" h="466">
                <a:moveTo>
                  <a:pt x="292" y="40"/>
                </a:moveTo>
                <a:cubicBezTo>
                  <a:pt x="283" y="40"/>
                  <a:pt x="274" y="40"/>
                  <a:pt x="264" y="40"/>
                </a:cubicBezTo>
                <a:cubicBezTo>
                  <a:pt x="171" y="37"/>
                  <a:pt x="79" y="22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81" y="60"/>
                  <a:pt x="274" y="68"/>
                  <a:pt x="274" y="246"/>
                </a:cubicBezTo>
                <a:cubicBezTo>
                  <a:pt x="274" y="257"/>
                  <a:pt x="274" y="257"/>
                  <a:pt x="274" y="257"/>
                </a:cubicBezTo>
                <a:cubicBezTo>
                  <a:pt x="274" y="392"/>
                  <a:pt x="222" y="446"/>
                  <a:pt x="199" y="466"/>
                </a:cubicBezTo>
                <a:cubicBezTo>
                  <a:pt x="199" y="466"/>
                  <a:pt x="199" y="466"/>
                  <a:pt x="199" y="466"/>
                </a:cubicBezTo>
                <a:cubicBezTo>
                  <a:pt x="222" y="449"/>
                  <a:pt x="255" y="435"/>
                  <a:pt x="292" y="435"/>
                </a:cubicBezTo>
                <a:cubicBezTo>
                  <a:pt x="334" y="435"/>
                  <a:pt x="366" y="449"/>
                  <a:pt x="385" y="466"/>
                </a:cubicBezTo>
                <a:cubicBezTo>
                  <a:pt x="385" y="466"/>
                  <a:pt x="385" y="466"/>
                  <a:pt x="385" y="466"/>
                </a:cubicBezTo>
                <a:cubicBezTo>
                  <a:pt x="362" y="446"/>
                  <a:pt x="311" y="392"/>
                  <a:pt x="311" y="257"/>
                </a:cubicBezTo>
                <a:cubicBezTo>
                  <a:pt x="311" y="246"/>
                  <a:pt x="311" y="246"/>
                  <a:pt x="311" y="246"/>
                </a:cubicBezTo>
                <a:cubicBezTo>
                  <a:pt x="311" y="68"/>
                  <a:pt x="408" y="60"/>
                  <a:pt x="589" y="0"/>
                </a:cubicBezTo>
                <a:cubicBezTo>
                  <a:pt x="506" y="22"/>
                  <a:pt x="417" y="37"/>
                  <a:pt x="320" y="40"/>
                </a:cubicBezTo>
                <a:cubicBezTo>
                  <a:pt x="311" y="40"/>
                  <a:pt x="301" y="40"/>
                  <a:pt x="292" y="40"/>
                </a:cubicBezTo>
              </a:path>
            </a:pathLst>
          </a:custGeom>
          <a:solidFill>
            <a:srgbClr val="F5A5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28" name="group 228"/>
          <p:cNvGrpSpPr/>
          <p:nvPr/>
        </p:nvGrpSpPr>
        <p:grpSpPr>
          <a:xfrm rot="21600000">
            <a:off x="4219702" y="2774950"/>
            <a:ext cx="662304" cy="207517"/>
            <a:chOff x="0" y="0"/>
            <a:chExt cx="662304" cy="207517"/>
          </a:xfrm>
        </p:grpSpPr>
        <p:sp>
          <p:nvSpPr>
            <p:cNvPr id="1493" name="path"/>
            <p:cNvSpPr/>
            <p:nvPr/>
          </p:nvSpPr>
          <p:spPr>
            <a:xfrm>
              <a:off x="267842" y="0"/>
              <a:ext cx="145796" cy="144272"/>
            </a:xfrm>
            <a:custGeom>
              <a:avLst/>
              <a:gdLst/>
              <a:ahLst/>
              <a:cxnLst/>
              <a:rect l="0" t="0" r="0" b="0"/>
              <a:pathLst>
                <a:path w="229" h="227">
                  <a:moveTo>
                    <a:pt x="229" y="115"/>
                  </a:moveTo>
                  <a:cubicBezTo>
                    <a:pt x="229" y="176"/>
                    <a:pt x="178" y="227"/>
                    <a:pt x="112" y="227"/>
                  </a:cubicBezTo>
                  <a:cubicBezTo>
                    <a:pt x="51" y="227"/>
                    <a:pt x="0" y="176"/>
                    <a:pt x="0" y="115"/>
                  </a:cubicBezTo>
                  <a:cubicBezTo>
                    <a:pt x="0" y="51"/>
                    <a:pt x="51" y="0"/>
                    <a:pt x="112" y="0"/>
                  </a:cubicBezTo>
                  <a:cubicBezTo>
                    <a:pt x="178" y="0"/>
                    <a:pt x="229" y="51"/>
                    <a:pt x="229" y="115"/>
                  </a:cubicBezTo>
                  <a:moveTo>
                    <a:pt x="112" y="41"/>
                  </a:moveTo>
                  <a:cubicBezTo>
                    <a:pt x="70" y="41"/>
                    <a:pt x="37" y="74"/>
                    <a:pt x="37" y="115"/>
                  </a:cubicBezTo>
                  <a:cubicBezTo>
                    <a:pt x="37" y="157"/>
                    <a:pt x="70" y="190"/>
                    <a:pt x="112" y="190"/>
                  </a:cubicBezTo>
                  <a:cubicBezTo>
                    <a:pt x="154" y="190"/>
                    <a:pt x="192" y="157"/>
                    <a:pt x="192" y="115"/>
                  </a:cubicBezTo>
                  <a:cubicBezTo>
                    <a:pt x="192" y="74"/>
                    <a:pt x="154" y="41"/>
                    <a:pt x="112" y="41"/>
                  </a:cubicBezTo>
                </a:path>
              </a:pathLst>
            </a:custGeom>
            <a:solidFill>
              <a:srgbClr val="F5A5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94" name="path"/>
            <p:cNvSpPr/>
            <p:nvPr/>
          </p:nvSpPr>
          <p:spPr>
            <a:xfrm>
              <a:off x="0" y="53339"/>
              <a:ext cx="662304" cy="154177"/>
            </a:xfrm>
            <a:custGeom>
              <a:avLst/>
              <a:gdLst/>
              <a:ahLst/>
              <a:cxnLst/>
              <a:rect l="0" t="0" r="0" b="0"/>
              <a:pathLst>
                <a:path w="1042" h="242">
                  <a:moveTo>
                    <a:pt x="397" y="62"/>
                  </a:moveTo>
                  <a:cubicBezTo>
                    <a:pt x="397" y="38"/>
                    <a:pt x="380" y="18"/>
                    <a:pt x="355" y="18"/>
                  </a:cubicBezTo>
                  <a:cubicBezTo>
                    <a:pt x="331" y="18"/>
                    <a:pt x="310" y="38"/>
                    <a:pt x="310" y="62"/>
                  </a:cubicBezTo>
                  <a:cubicBezTo>
                    <a:pt x="310" y="87"/>
                    <a:pt x="331" y="107"/>
                    <a:pt x="355" y="107"/>
                  </a:cubicBezTo>
                  <a:cubicBezTo>
                    <a:pt x="380" y="107"/>
                    <a:pt x="397" y="87"/>
                    <a:pt x="397" y="62"/>
                  </a:cubicBezTo>
                  <a:moveTo>
                    <a:pt x="355" y="87"/>
                  </a:moveTo>
                  <a:cubicBezTo>
                    <a:pt x="339" y="87"/>
                    <a:pt x="327" y="78"/>
                    <a:pt x="327" y="62"/>
                  </a:cubicBezTo>
                  <a:cubicBezTo>
                    <a:pt x="327" y="50"/>
                    <a:pt x="339" y="38"/>
                    <a:pt x="355" y="38"/>
                  </a:cubicBezTo>
                  <a:cubicBezTo>
                    <a:pt x="368" y="38"/>
                    <a:pt x="380" y="50"/>
                    <a:pt x="380" y="62"/>
                  </a:cubicBezTo>
                  <a:cubicBezTo>
                    <a:pt x="380" y="78"/>
                    <a:pt x="368" y="87"/>
                    <a:pt x="355" y="87"/>
                  </a:cubicBezTo>
                </a:path>
                <a:path w="1042" h="242">
                  <a:moveTo>
                    <a:pt x="236" y="115"/>
                  </a:moveTo>
                  <a:cubicBezTo>
                    <a:pt x="236" y="90"/>
                    <a:pt x="219" y="69"/>
                    <a:pt x="194" y="69"/>
                  </a:cubicBezTo>
                  <a:cubicBezTo>
                    <a:pt x="169" y="69"/>
                    <a:pt x="148" y="90"/>
                    <a:pt x="148" y="115"/>
                  </a:cubicBezTo>
                  <a:cubicBezTo>
                    <a:pt x="148" y="140"/>
                    <a:pt x="169" y="161"/>
                    <a:pt x="194" y="161"/>
                  </a:cubicBezTo>
                  <a:cubicBezTo>
                    <a:pt x="219" y="161"/>
                    <a:pt x="236" y="140"/>
                    <a:pt x="236" y="115"/>
                  </a:cubicBezTo>
                  <a:moveTo>
                    <a:pt x="194" y="140"/>
                  </a:moveTo>
                  <a:cubicBezTo>
                    <a:pt x="177" y="140"/>
                    <a:pt x="165" y="128"/>
                    <a:pt x="165" y="115"/>
                  </a:cubicBezTo>
                  <a:cubicBezTo>
                    <a:pt x="165" y="98"/>
                    <a:pt x="177" y="90"/>
                    <a:pt x="194" y="90"/>
                  </a:cubicBezTo>
                  <a:cubicBezTo>
                    <a:pt x="207" y="90"/>
                    <a:pt x="219" y="98"/>
                    <a:pt x="219" y="115"/>
                  </a:cubicBezTo>
                  <a:cubicBezTo>
                    <a:pt x="219" y="128"/>
                    <a:pt x="207" y="140"/>
                    <a:pt x="194" y="140"/>
                  </a:cubicBezTo>
                </a:path>
                <a:path w="1042" h="242">
                  <a:moveTo>
                    <a:pt x="92" y="198"/>
                  </a:moveTo>
                  <a:cubicBezTo>
                    <a:pt x="92" y="173"/>
                    <a:pt x="71" y="157"/>
                    <a:pt x="46" y="157"/>
                  </a:cubicBezTo>
                  <a:cubicBezTo>
                    <a:pt x="20" y="157"/>
                    <a:pt x="0" y="173"/>
                    <a:pt x="0" y="198"/>
                  </a:cubicBezTo>
                  <a:cubicBezTo>
                    <a:pt x="0" y="222"/>
                    <a:pt x="20" y="242"/>
                    <a:pt x="46" y="242"/>
                  </a:cubicBezTo>
                  <a:cubicBezTo>
                    <a:pt x="71" y="242"/>
                    <a:pt x="92" y="222"/>
                    <a:pt x="92" y="198"/>
                  </a:cubicBezTo>
                  <a:moveTo>
                    <a:pt x="46" y="226"/>
                  </a:moveTo>
                  <a:cubicBezTo>
                    <a:pt x="33" y="226"/>
                    <a:pt x="20" y="214"/>
                    <a:pt x="20" y="198"/>
                  </a:cubicBezTo>
                  <a:cubicBezTo>
                    <a:pt x="20" y="185"/>
                    <a:pt x="33" y="173"/>
                    <a:pt x="46" y="173"/>
                  </a:cubicBezTo>
                  <a:cubicBezTo>
                    <a:pt x="62" y="173"/>
                    <a:pt x="71" y="185"/>
                    <a:pt x="71" y="198"/>
                  </a:cubicBezTo>
                  <a:cubicBezTo>
                    <a:pt x="71" y="214"/>
                    <a:pt x="62" y="226"/>
                    <a:pt x="46" y="226"/>
                  </a:cubicBezTo>
                </a:path>
                <a:path w="1042" h="242">
                  <a:moveTo>
                    <a:pt x="954" y="198"/>
                  </a:moveTo>
                  <a:cubicBezTo>
                    <a:pt x="954" y="222"/>
                    <a:pt x="975" y="242"/>
                    <a:pt x="1000" y="242"/>
                  </a:cubicBezTo>
                  <a:cubicBezTo>
                    <a:pt x="1026" y="242"/>
                    <a:pt x="1042" y="222"/>
                    <a:pt x="1042" y="198"/>
                  </a:cubicBezTo>
                  <a:cubicBezTo>
                    <a:pt x="1042" y="173"/>
                    <a:pt x="1026" y="157"/>
                    <a:pt x="1000" y="157"/>
                  </a:cubicBezTo>
                  <a:cubicBezTo>
                    <a:pt x="975" y="157"/>
                    <a:pt x="954" y="173"/>
                    <a:pt x="954" y="198"/>
                  </a:cubicBezTo>
                  <a:moveTo>
                    <a:pt x="1000" y="173"/>
                  </a:moveTo>
                  <a:cubicBezTo>
                    <a:pt x="1013" y="173"/>
                    <a:pt x="1026" y="185"/>
                    <a:pt x="1026" y="198"/>
                  </a:cubicBezTo>
                  <a:cubicBezTo>
                    <a:pt x="1026" y="214"/>
                    <a:pt x="1013" y="226"/>
                    <a:pt x="1000" y="226"/>
                  </a:cubicBezTo>
                  <a:cubicBezTo>
                    <a:pt x="984" y="226"/>
                    <a:pt x="971" y="214"/>
                    <a:pt x="971" y="198"/>
                  </a:cubicBezTo>
                  <a:cubicBezTo>
                    <a:pt x="971" y="185"/>
                    <a:pt x="984" y="173"/>
                    <a:pt x="1000" y="173"/>
                  </a:cubicBezTo>
                </a:path>
                <a:path w="1042" h="242">
                  <a:moveTo>
                    <a:pt x="806" y="115"/>
                  </a:moveTo>
                  <a:cubicBezTo>
                    <a:pt x="806" y="140"/>
                    <a:pt x="827" y="161"/>
                    <a:pt x="852" y="161"/>
                  </a:cubicBezTo>
                  <a:cubicBezTo>
                    <a:pt x="877" y="161"/>
                    <a:pt x="898" y="140"/>
                    <a:pt x="898" y="115"/>
                  </a:cubicBezTo>
                  <a:cubicBezTo>
                    <a:pt x="898" y="90"/>
                    <a:pt x="877" y="69"/>
                    <a:pt x="852" y="69"/>
                  </a:cubicBezTo>
                  <a:cubicBezTo>
                    <a:pt x="827" y="69"/>
                    <a:pt x="806" y="90"/>
                    <a:pt x="806" y="115"/>
                  </a:cubicBezTo>
                  <a:moveTo>
                    <a:pt x="852" y="90"/>
                  </a:moveTo>
                  <a:cubicBezTo>
                    <a:pt x="869" y="90"/>
                    <a:pt x="877" y="98"/>
                    <a:pt x="877" y="115"/>
                  </a:cubicBezTo>
                  <a:cubicBezTo>
                    <a:pt x="877" y="128"/>
                    <a:pt x="869" y="140"/>
                    <a:pt x="852" y="140"/>
                  </a:cubicBezTo>
                  <a:cubicBezTo>
                    <a:pt x="839" y="140"/>
                    <a:pt x="827" y="128"/>
                    <a:pt x="827" y="115"/>
                  </a:cubicBezTo>
                  <a:cubicBezTo>
                    <a:pt x="827" y="98"/>
                    <a:pt x="839" y="90"/>
                    <a:pt x="852" y="90"/>
                  </a:cubicBezTo>
                </a:path>
                <a:path w="1042" h="242">
                  <a:moveTo>
                    <a:pt x="645" y="62"/>
                  </a:moveTo>
                  <a:cubicBezTo>
                    <a:pt x="645" y="87"/>
                    <a:pt x="666" y="107"/>
                    <a:pt x="690" y="107"/>
                  </a:cubicBezTo>
                  <a:cubicBezTo>
                    <a:pt x="715" y="107"/>
                    <a:pt x="735" y="87"/>
                    <a:pt x="735" y="62"/>
                  </a:cubicBezTo>
                  <a:cubicBezTo>
                    <a:pt x="735" y="38"/>
                    <a:pt x="715" y="18"/>
                    <a:pt x="690" y="18"/>
                  </a:cubicBezTo>
                  <a:cubicBezTo>
                    <a:pt x="666" y="18"/>
                    <a:pt x="645" y="38"/>
                    <a:pt x="645" y="62"/>
                  </a:cubicBezTo>
                  <a:moveTo>
                    <a:pt x="690" y="38"/>
                  </a:moveTo>
                  <a:cubicBezTo>
                    <a:pt x="707" y="38"/>
                    <a:pt x="715" y="50"/>
                    <a:pt x="715" y="62"/>
                  </a:cubicBezTo>
                  <a:cubicBezTo>
                    <a:pt x="715" y="78"/>
                    <a:pt x="707" y="87"/>
                    <a:pt x="690" y="87"/>
                  </a:cubicBezTo>
                  <a:cubicBezTo>
                    <a:pt x="678" y="87"/>
                    <a:pt x="666" y="78"/>
                    <a:pt x="666" y="62"/>
                  </a:cubicBezTo>
                  <a:cubicBezTo>
                    <a:pt x="666" y="50"/>
                    <a:pt x="678" y="38"/>
                    <a:pt x="690" y="38"/>
                  </a:cubicBezTo>
                </a:path>
                <a:path w="1042" h="242">
                  <a:moveTo>
                    <a:pt x="569" y="44"/>
                  </a:moveTo>
                  <a:cubicBezTo>
                    <a:pt x="569" y="20"/>
                    <a:pt x="552" y="0"/>
                    <a:pt x="527" y="0"/>
                  </a:cubicBezTo>
                  <a:cubicBezTo>
                    <a:pt x="503" y="0"/>
                    <a:pt x="482" y="20"/>
                    <a:pt x="482" y="44"/>
                  </a:cubicBezTo>
                  <a:cubicBezTo>
                    <a:pt x="482" y="68"/>
                    <a:pt x="503" y="89"/>
                    <a:pt x="527" y="89"/>
                  </a:cubicBezTo>
                  <a:cubicBezTo>
                    <a:pt x="552" y="89"/>
                    <a:pt x="569" y="68"/>
                    <a:pt x="569" y="44"/>
                  </a:cubicBezTo>
                  <a:moveTo>
                    <a:pt x="527" y="68"/>
                  </a:moveTo>
                  <a:cubicBezTo>
                    <a:pt x="511" y="68"/>
                    <a:pt x="499" y="61"/>
                    <a:pt x="499" y="44"/>
                  </a:cubicBezTo>
                  <a:cubicBezTo>
                    <a:pt x="499" y="32"/>
                    <a:pt x="511" y="20"/>
                    <a:pt x="527" y="20"/>
                  </a:cubicBezTo>
                  <a:cubicBezTo>
                    <a:pt x="540" y="20"/>
                    <a:pt x="552" y="32"/>
                    <a:pt x="552" y="44"/>
                  </a:cubicBezTo>
                  <a:cubicBezTo>
                    <a:pt x="552" y="61"/>
                    <a:pt x="540" y="68"/>
                    <a:pt x="527" y="68"/>
                  </a:cubicBezTo>
                </a:path>
              </a:pathLst>
            </a:custGeom>
            <a:solidFill>
              <a:srgbClr val="80808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0" name="group 230"/>
          <p:cNvGrpSpPr/>
          <p:nvPr/>
        </p:nvGrpSpPr>
        <p:grpSpPr>
          <a:xfrm rot="21600000">
            <a:off x="4140708" y="3679444"/>
            <a:ext cx="546353" cy="228777"/>
            <a:chOff x="0" y="0"/>
            <a:chExt cx="546353" cy="228777"/>
          </a:xfrm>
        </p:grpSpPr>
        <p:sp>
          <p:nvSpPr>
            <p:cNvPr id="1495" name="path"/>
            <p:cNvSpPr/>
            <p:nvPr/>
          </p:nvSpPr>
          <p:spPr>
            <a:xfrm>
              <a:off x="0" y="0"/>
              <a:ext cx="546353" cy="228777"/>
            </a:xfrm>
            <a:custGeom>
              <a:avLst/>
              <a:gdLst/>
              <a:ahLst/>
              <a:cxnLst/>
              <a:rect l="0" t="0" r="0" b="0"/>
              <a:pathLst>
                <a:path w="860" h="360">
                  <a:moveTo>
                    <a:pt x="88" y="45"/>
                  </a:moveTo>
                  <a:cubicBezTo>
                    <a:pt x="88" y="20"/>
                    <a:pt x="71" y="0"/>
                    <a:pt x="46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1"/>
                    <a:pt x="46" y="91"/>
                  </a:cubicBezTo>
                  <a:cubicBezTo>
                    <a:pt x="71" y="91"/>
                    <a:pt x="88" y="70"/>
                    <a:pt x="88" y="45"/>
                  </a:cubicBezTo>
                  <a:moveTo>
                    <a:pt x="46" y="70"/>
                  </a:moveTo>
                  <a:cubicBezTo>
                    <a:pt x="29" y="70"/>
                    <a:pt x="16" y="62"/>
                    <a:pt x="16" y="45"/>
                  </a:cubicBezTo>
                  <a:cubicBezTo>
                    <a:pt x="16" y="33"/>
                    <a:pt x="29" y="20"/>
                    <a:pt x="46" y="20"/>
                  </a:cubicBezTo>
                  <a:cubicBezTo>
                    <a:pt x="58" y="20"/>
                    <a:pt x="71" y="33"/>
                    <a:pt x="71" y="45"/>
                  </a:cubicBezTo>
                  <a:cubicBezTo>
                    <a:pt x="71" y="62"/>
                    <a:pt x="58" y="70"/>
                    <a:pt x="46" y="70"/>
                  </a:cubicBezTo>
                </a:path>
                <a:path w="860" h="360">
                  <a:moveTo>
                    <a:pt x="216" y="160"/>
                  </a:moveTo>
                  <a:cubicBezTo>
                    <a:pt x="216" y="135"/>
                    <a:pt x="195" y="115"/>
                    <a:pt x="170" y="115"/>
                  </a:cubicBezTo>
                  <a:cubicBezTo>
                    <a:pt x="145" y="115"/>
                    <a:pt x="124" y="135"/>
                    <a:pt x="124" y="160"/>
                  </a:cubicBezTo>
                  <a:cubicBezTo>
                    <a:pt x="124" y="184"/>
                    <a:pt x="145" y="200"/>
                    <a:pt x="170" y="200"/>
                  </a:cubicBezTo>
                  <a:cubicBezTo>
                    <a:pt x="195" y="200"/>
                    <a:pt x="216" y="184"/>
                    <a:pt x="216" y="160"/>
                  </a:cubicBezTo>
                  <a:moveTo>
                    <a:pt x="170" y="184"/>
                  </a:moveTo>
                  <a:cubicBezTo>
                    <a:pt x="157" y="184"/>
                    <a:pt x="145" y="172"/>
                    <a:pt x="145" y="160"/>
                  </a:cubicBezTo>
                  <a:cubicBezTo>
                    <a:pt x="145" y="143"/>
                    <a:pt x="157" y="131"/>
                    <a:pt x="170" y="131"/>
                  </a:cubicBezTo>
                  <a:cubicBezTo>
                    <a:pt x="187" y="131"/>
                    <a:pt x="195" y="143"/>
                    <a:pt x="195" y="160"/>
                  </a:cubicBezTo>
                  <a:cubicBezTo>
                    <a:pt x="195" y="172"/>
                    <a:pt x="187" y="184"/>
                    <a:pt x="170" y="184"/>
                  </a:cubicBezTo>
                </a:path>
                <a:path w="860" h="360">
                  <a:moveTo>
                    <a:pt x="360" y="242"/>
                  </a:moveTo>
                  <a:cubicBezTo>
                    <a:pt x="360" y="217"/>
                    <a:pt x="344" y="196"/>
                    <a:pt x="318" y="196"/>
                  </a:cubicBezTo>
                  <a:cubicBezTo>
                    <a:pt x="293" y="196"/>
                    <a:pt x="272" y="217"/>
                    <a:pt x="272" y="242"/>
                  </a:cubicBezTo>
                  <a:cubicBezTo>
                    <a:pt x="272" y="267"/>
                    <a:pt x="293" y="288"/>
                    <a:pt x="318" y="288"/>
                  </a:cubicBezTo>
                  <a:cubicBezTo>
                    <a:pt x="344" y="288"/>
                    <a:pt x="360" y="267"/>
                    <a:pt x="360" y="242"/>
                  </a:cubicBezTo>
                  <a:moveTo>
                    <a:pt x="318" y="267"/>
                  </a:moveTo>
                  <a:cubicBezTo>
                    <a:pt x="302" y="267"/>
                    <a:pt x="289" y="259"/>
                    <a:pt x="289" y="242"/>
                  </a:cubicBezTo>
                  <a:cubicBezTo>
                    <a:pt x="289" y="230"/>
                    <a:pt x="302" y="217"/>
                    <a:pt x="318" y="217"/>
                  </a:cubicBezTo>
                  <a:cubicBezTo>
                    <a:pt x="331" y="217"/>
                    <a:pt x="344" y="230"/>
                    <a:pt x="344" y="242"/>
                  </a:cubicBezTo>
                  <a:cubicBezTo>
                    <a:pt x="344" y="259"/>
                    <a:pt x="331" y="267"/>
                    <a:pt x="318" y="267"/>
                  </a:cubicBezTo>
                </a:path>
                <a:path w="860" h="360">
                  <a:moveTo>
                    <a:pt x="521" y="295"/>
                  </a:moveTo>
                  <a:cubicBezTo>
                    <a:pt x="521" y="270"/>
                    <a:pt x="505" y="250"/>
                    <a:pt x="480" y="250"/>
                  </a:cubicBezTo>
                  <a:cubicBezTo>
                    <a:pt x="455" y="250"/>
                    <a:pt x="435" y="270"/>
                    <a:pt x="435" y="295"/>
                  </a:cubicBezTo>
                  <a:cubicBezTo>
                    <a:pt x="435" y="319"/>
                    <a:pt x="455" y="340"/>
                    <a:pt x="480" y="340"/>
                  </a:cubicBezTo>
                  <a:cubicBezTo>
                    <a:pt x="505" y="340"/>
                    <a:pt x="521" y="319"/>
                    <a:pt x="521" y="295"/>
                  </a:cubicBezTo>
                  <a:moveTo>
                    <a:pt x="480" y="319"/>
                  </a:moveTo>
                  <a:cubicBezTo>
                    <a:pt x="464" y="319"/>
                    <a:pt x="451" y="307"/>
                    <a:pt x="451" y="295"/>
                  </a:cubicBezTo>
                  <a:cubicBezTo>
                    <a:pt x="451" y="278"/>
                    <a:pt x="464" y="270"/>
                    <a:pt x="480" y="270"/>
                  </a:cubicBezTo>
                  <a:cubicBezTo>
                    <a:pt x="492" y="270"/>
                    <a:pt x="505" y="278"/>
                    <a:pt x="505" y="295"/>
                  </a:cubicBezTo>
                  <a:cubicBezTo>
                    <a:pt x="505" y="307"/>
                    <a:pt x="492" y="319"/>
                    <a:pt x="480" y="319"/>
                  </a:cubicBezTo>
                </a:path>
                <a:path w="860" h="360">
                  <a:moveTo>
                    <a:pt x="770" y="295"/>
                  </a:moveTo>
                  <a:cubicBezTo>
                    <a:pt x="770" y="319"/>
                    <a:pt x="790" y="340"/>
                    <a:pt x="815" y="340"/>
                  </a:cubicBezTo>
                  <a:cubicBezTo>
                    <a:pt x="840" y="340"/>
                    <a:pt x="860" y="319"/>
                    <a:pt x="860" y="295"/>
                  </a:cubicBezTo>
                  <a:cubicBezTo>
                    <a:pt x="860" y="270"/>
                    <a:pt x="840" y="250"/>
                    <a:pt x="815" y="250"/>
                  </a:cubicBezTo>
                  <a:cubicBezTo>
                    <a:pt x="790" y="250"/>
                    <a:pt x="770" y="270"/>
                    <a:pt x="770" y="295"/>
                  </a:cubicBezTo>
                  <a:moveTo>
                    <a:pt x="815" y="270"/>
                  </a:moveTo>
                  <a:cubicBezTo>
                    <a:pt x="831" y="270"/>
                    <a:pt x="840" y="278"/>
                    <a:pt x="840" y="295"/>
                  </a:cubicBezTo>
                  <a:cubicBezTo>
                    <a:pt x="840" y="307"/>
                    <a:pt x="831" y="319"/>
                    <a:pt x="815" y="319"/>
                  </a:cubicBezTo>
                  <a:cubicBezTo>
                    <a:pt x="802" y="319"/>
                    <a:pt x="790" y="307"/>
                    <a:pt x="790" y="295"/>
                  </a:cubicBezTo>
                  <a:cubicBezTo>
                    <a:pt x="790" y="278"/>
                    <a:pt x="802" y="270"/>
                    <a:pt x="815" y="270"/>
                  </a:cubicBezTo>
                </a:path>
                <a:path w="860" h="360">
                  <a:moveTo>
                    <a:pt x="700" y="314"/>
                  </a:moveTo>
                  <a:cubicBezTo>
                    <a:pt x="700" y="289"/>
                    <a:pt x="683" y="268"/>
                    <a:pt x="657" y="268"/>
                  </a:cubicBezTo>
                  <a:cubicBezTo>
                    <a:pt x="632" y="268"/>
                    <a:pt x="611" y="289"/>
                    <a:pt x="611" y="314"/>
                  </a:cubicBezTo>
                  <a:cubicBezTo>
                    <a:pt x="611" y="339"/>
                    <a:pt x="632" y="360"/>
                    <a:pt x="657" y="360"/>
                  </a:cubicBezTo>
                  <a:cubicBezTo>
                    <a:pt x="683" y="360"/>
                    <a:pt x="700" y="339"/>
                    <a:pt x="700" y="314"/>
                  </a:cubicBezTo>
                  <a:moveTo>
                    <a:pt x="657" y="339"/>
                  </a:moveTo>
                  <a:cubicBezTo>
                    <a:pt x="641" y="339"/>
                    <a:pt x="628" y="327"/>
                    <a:pt x="628" y="314"/>
                  </a:cubicBezTo>
                  <a:cubicBezTo>
                    <a:pt x="628" y="297"/>
                    <a:pt x="641" y="289"/>
                    <a:pt x="657" y="289"/>
                  </a:cubicBezTo>
                  <a:cubicBezTo>
                    <a:pt x="670" y="289"/>
                    <a:pt x="683" y="297"/>
                    <a:pt x="683" y="314"/>
                  </a:cubicBezTo>
                  <a:cubicBezTo>
                    <a:pt x="683" y="327"/>
                    <a:pt x="670" y="339"/>
                    <a:pt x="657" y="339"/>
                  </a:cubicBezTo>
                </a:path>
              </a:pathLst>
            </a:custGeom>
            <a:solidFill>
              <a:srgbClr val="80808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96" name="path"/>
            <p:cNvSpPr/>
            <p:nvPr/>
          </p:nvSpPr>
          <p:spPr>
            <a:xfrm>
              <a:off x="32799" y="21177"/>
              <a:ext cx="154521" cy="153927"/>
            </a:xfrm>
            <a:custGeom>
              <a:avLst/>
              <a:gdLst/>
              <a:ahLst/>
              <a:cxnLst/>
              <a:rect l="0" t="0" r="0" b="0"/>
              <a:pathLst>
                <a:path w="243" h="242">
                  <a:moveTo>
                    <a:pt x="29" y="51"/>
                  </a:moveTo>
                  <a:cubicBezTo>
                    <a:pt x="65" y="3"/>
                    <a:pt x="136" y="-7"/>
                    <a:pt x="189" y="30"/>
                  </a:cubicBezTo>
                  <a:cubicBezTo>
                    <a:pt x="238" y="66"/>
                    <a:pt x="250" y="138"/>
                    <a:pt x="215" y="186"/>
                  </a:cubicBezTo>
                  <a:cubicBezTo>
                    <a:pt x="177" y="238"/>
                    <a:pt x="105" y="249"/>
                    <a:pt x="56" y="214"/>
                  </a:cubicBezTo>
                  <a:cubicBezTo>
                    <a:pt x="3" y="175"/>
                    <a:pt x="-8" y="104"/>
                    <a:pt x="29" y="51"/>
                  </a:cubicBezTo>
                  <a:moveTo>
                    <a:pt x="81" y="180"/>
                  </a:moveTo>
                  <a:cubicBezTo>
                    <a:pt x="115" y="205"/>
                    <a:pt x="160" y="198"/>
                    <a:pt x="185" y="164"/>
                  </a:cubicBezTo>
                  <a:cubicBezTo>
                    <a:pt x="209" y="130"/>
                    <a:pt x="202" y="85"/>
                    <a:pt x="167" y="60"/>
                  </a:cubicBezTo>
                  <a:cubicBezTo>
                    <a:pt x="133" y="35"/>
                    <a:pt x="84" y="40"/>
                    <a:pt x="60" y="73"/>
                  </a:cubicBezTo>
                  <a:cubicBezTo>
                    <a:pt x="35" y="107"/>
                    <a:pt x="46" y="155"/>
                    <a:pt x="81" y="180"/>
                  </a:cubicBezTo>
                </a:path>
              </a:pathLst>
            </a:custGeom>
            <a:solidFill>
              <a:srgbClr val="7030A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2" name="group 232"/>
          <p:cNvGrpSpPr/>
          <p:nvPr/>
        </p:nvGrpSpPr>
        <p:grpSpPr>
          <a:xfrm rot="21600000">
            <a:off x="3975346" y="3082544"/>
            <a:ext cx="161043" cy="469391"/>
            <a:chOff x="0" y="0"/>
            <a:chExt cx="161043" cy="469391"/>
          </a:xfrm>
        </p:grpSpPr>
        <p:sp>
          <p:nvSpPr>
            <p:cNvPr id="1497" name="path"/>
            <p:cNvSpPr/>
            <p:nvPr/>
          </p:nvSpPr>
          <p:spPr>
            <a:xfrm>
              <a:off x="36837" y="0"/>
              <a:ext cx="124206" cy="469391"/>
            </a:xfrm>
            <a:custGeom>
              <a:avLst/>
              <a:gdLst/>
              <a:ahLst/>
              <a:cxnLst/>
              <a:rect l="0" t="0" r="0" b="0"/>
              <a:pathLst>
                <a:path w="195" h="739">
                  <a:moveTo>
                    <a:pt x="124" y="199"/>
                  </a:moveTo>
                  <a:cubicBezTo>
                    <a:pt x="124" y="174"/>
                    <a:pt x="103" y="158"/>
                    <a:pt x="79" y="158"/>
                  </a:cubicBezTo>
                  <a:cubicBezTo>
                    <a:pt x="54" y="158"/>
                    <a:pt x="34" y="174"/>
                    <a:pt x="34" y="199"/>
                  </a:cubicBezTo>
                  <a:cubicBezTo>
                    <a:pt x="34" y="223"/>
                    <a:pt x="54" y="243"/>
                    <a:pt x="79" y="243"/>
                  </a:cubicBezTo>
                  <a:cubicBezTo>
                    <a:pt x="103" y="243"/>
                    <a:pt x="124" y="223"/>
                    <a:pt x="124" y="199"/>
                  </a:cubicBezTo>
                  <a:moveTo>
                    <a:pt x="79" y="227"/>
                  </a:moveTo>
                  <a:cubicBezTo>
                    <a:pt x="62" y="227"/>
                    <a:pt x="54" y="215"/>
                    <a:pt x="54" y="199"/>
                  </a:cubicBezTo>
                  <a:cubicBezTo>
                    <a:pt x="54" y="187"/>
                    <a:pt x="62" y="174"/>
                    <a:pt x="79" y="174"/>
                  </a:cubicBezTo>
                  <a:cubicBezTo>
                    <a:pt x="91" y="174"/>
                    <a:pt x="103" y="187"/>
                    <a:pt x="103" y="199"/>
                  </a:cubicBezTo>
                  <a:cubicBezTo>
                    <a:pt x="103" y="215"/>
                    <a:pt x="91" y="227"/>
                    <a:pt x="79" y="227"/>
                  </a:cubicBezTo>
                </a:path>
                <a:path w="195" h="739">
                  <a:moveTo>
                    <a:pt x="88" y="366"/>
                  </a:moveTo>
                  <a:cubicBezTo>
                    <a:pt x="88" y="341"/>
                    <a:pt x="67" y="321"/>
                    <a:pt x="42" y="321"/>
                  </a:cubicBezTo>
                  <a:cubicBezTo>
                    <a:pt x="16" y="321"/>
                    <a:pt x="0" y="341"/>
                    <a:pt x="0" y="366"/>
                  </a:cubicBezTo>
                  <a:cubicBezTo>
                    <a:pt x="0" y="386"/>
                    <a:pt x="16" y="407"/>
                    <a:pt x="42" y="407"/>
                  </a:cubicBezTo>
                  <a:cubicBezTo>
                    <a:pt x="67" y="407"/>
                    <a:pt x="88" y="386"/>
                    <a:pt x="88" y="366"/>
                  </a:cubicBezTo>
                  <a:moveTo>
                    <a:pt x="42" y="390"/>
                  </a:moveTo>
                  <a:cubicBezTo>
                    <a:pt x="29" y="390"/>
                    <a:pt x="16" y="378"/>
                    <a:pt x="16" y="366"/>
                  </a:cubicBezTo>
                  <a:cubicBezTo>
                    <a:pt x="16" y="350"/>
                    <a:pt x="29" y="337"/>
                    <a:pt x="42" y="337"/>
                  </a:cubicBezTo>
                  <a:cubicBezTo>
                    <a:pt x="58" y="337"/>
                    <a:pt x="71" y="350"/>
                    <a:pt x="71" y="366"/>
                  </a:cubicBezTo>
                  <a:cubicBezTo>
                    <a:pt x="71" y="378"/>
                    <a:pt x="58" y="390"/>
                    <a:pt x="42" y="390"/>
                  </a:cubicBezTo>
                </a:path>
                <a:path w="195" h="739">
                  <a:moveTo>
                    <a:pt x="88" y="535"/>
                  </a:moveTo>
                  <a:cubicBezTo>
                    <a:pt x="88" y="511"/>
                    <a:pt x="67" y="490"/>
                    <a:pt x="42" y="490"/>
                  </a:cubicBezTo>
                  <a:cubicBezTo>
                    <a:pt x="16" y="490"/>
                    <a:pt x="0" y="511"/>
                    <a:pt x="0" y="535"/>
                  </a:cubicBezTo>
                  <a:cubicBezTo>
                    <a:pt x="0" y="555"/>
                    <a:pt x="16" y="576"/>
                    <a:pt x="42" y="576"/>
                  </a:cubicBezTo>
                  <a:cubicBezTo>
                    <a:pt x="67" y="576"/>
                    <a:pt x="88" y="555"/>
                    <a:pt x="88" y="535"/>
                  </a:cubicBezTo>
                  <a:moveTo>
                    <a:pt x="42" y="559"/>
                  </a:moveTo>
                  <a:cubicBezTo>
                    <a:pt x="29" y="559"/>
                    <a:pt x="16" y="547"/>
                    <a:pt x="16" y="535"/>
                  </a:cubicBezTo>
                  <a:cubicBezTo>
                    <a:pt x="16" y="518"/>
                    <a:pt x="29" y="506"/>
                    <a:pt x="42" y="506"/>
                  </a:cubicBezTo>
                  <a:cubicBezTo>
                    <a:pt x="58" y="506"/>
                    <a:pt x="71" y="518"/>
                    <a:pt x="71" y="535"/>
                  </a:cubicBezTo>
                  <a:cubicBezTo>
                    <a:pt x="71" y="547"/>
                    <a:pt x="58" y="559"/>
                    <a:pt x="42" y="559"/>
                  </a:cubicBezTo>
                </a:path>
                <a:path w="195" h="739">
                  <a:moveTo>
                    <a:pt x="124" y="698"/>
                  </a:moveTo>
                  <a:cubicBezTo>
                    <a:pt x="124" y="673"/>
                    <a:pt x="103" y="653"/>
                    <a:pt x="79" y="653"/>
                  </a:cubicBezTo>
                  <a:cubicBezTo>
                    <a:pt x="54" y="653"/>
                    <a:pt x="34" y="673"/>
                    <a:pt x="34" y="698"/>
                  </a:cubicBezTo>
                  <a:cubicBezTo>
                    <a:pt x="34" y="722"/>
                    <a:pt x="54" y="739"/>
                    <a:pt x="79" y="739"/>
                  </a:cubicBezTo>
                  <a:cubicBezTo>
                    <a:pt x="103" y="739"/>
                    <a:pt x="124" y="722"/>
                    <a:pt x="124" y="698"/>
                  </a:cubicBezTo>
                  <a:moveTo>
                    <a:pt x="79" y="722"/>
                  </a:moveTo>
                  <a:cubicBezTo>
                    <a:pt x="62" y="722"/>
                    <a:pt x="54" y="710"/>
                    <a:pt x="54" y="698"/>
                  </a:cubicBezTo>
                  <a:cubicBezTo>
                    <a:pt x="54" y="682"/>
                    <a:pt x="62" y="670"/>
                    <a:pt x="79" y="670"/>
                  </a:cubicBezTo>
                  <a:cubicBezTo>
                    <a:pt x="91" y="670"/>
                    <a:pt x="103" y="682"/>
                    <a:pt x="103" y="698"/>
                  </a:cubicBezTo>
                  <a:cubicBezTo>
                    <a:pt x="103" y="710"/>
                    <a:pt x="91" y="722"/>
                    <a:pt x="79" y="722"/>
                  </a:cubicBezTo>
                </a:path>
                <a:path w="195" h="739">
                  <a:moveTo>
                    <a:pt x="195" y="45"/>
                  </a:moveTo>
                  <a:cubicBezTo>
                    <a:pt x="195" y="20"/>
                    <a:pt x="178" y="0"/>
                    <a:pt x="153" y="0"/>
                  </a:cubicBezTo>
                  <a:cubicBezTo>
                    <a:pt x="128" y="0"/>
                    <a:pt x="107" y="20"/>
                    <a:pt x="107" y="45"/>
                  </a:cubicBezTo>
                  <a:cubicBezTo>
                    <a:pt x="107" y="70"/>
                    <a:pt x="128" y="91"/>
                    <a:pt x="153" y="91"/>
                  </a:cubicBezTo>
                  <a:cubicBezTo>
                    <a:pt x="178" y="91"/>
                    <a:pt x="195" y="70"/>
                    <a:pt x="195" y="45"/>
                  </a:cubicBezTo>
                  <a:moveTo>
                    <a:pt x="153" y="70"/>
                  </a:moveTo>
                  <a:cubicBezTo>
                    <a:pt x="136" y="70"/>
                    <a:pt x="124" y="58"/>
                    <a:pt x="124" y="45"/>
                  </a:cubicBezTo>
                  <a:cubicBezTo>
                    <a:pt x="124" y="28"/>
                    <a:pt x="136" y="20"/>
                    <a:pt x="153" y="20"/>
                  </a:cubicBezTo>
                  <a:cubicBezTo>
                    <a:pt x="166" y="20"/>
                    <a:pt x="178" y="28"/>
                    <a:pt x="178" y="45"/>
                  </a:cubicBezTo>
                  <a:cubicBezTo>
                    <a:pt x="178" y="58"/>
                    <a:pt x="166" y="70"/>
                    <a:pt x="153" y="70"/>
                  </a:cubicBezTo>
                </a:path>
              </a:pathLst>
            </a:custGeom>
            <a:solidFill>
              <a:srgbClr val="80808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98" name="path"/>
            <p:cNvSpPr/>
            <p:nvPr/>
          </p:nvSpPr>
          <p:spPr>
            <a:xfrm>
              <a:off x="0" y="45651"/>
              <a:ext cx="153568" cy="155046"/>
            </a:xfrm>
            <a:custGeom>
              <a:avLst/>
              <a:gdLst/>
              <a:ahLst/>
              <a:cxnLst/>
              <a:rect l="0" t="0" r="0" b="0"/>
              <a:pathLst>
                <a:path w="241" h="244">
                  <a:moveTo>
                    <a:pt x="159" y="13"/>
                  </a:moveTo>
                  <a:cubicBezTo>
                    <a:pt x="216" y="31"/>
                    <a:pt x="248" y="96"/>
                    <a:pt x="228" y="158"/>
                  </a:cubicBezTo>
                  <a:cubicBezTo>
                    <a:pt x="209" y="216"/>
                    <a:pt x="145" y="250"/>
                    <a:pt x="88" y="231"/>
                  </a:cubicBezTo>
                  <a:cubicBezTo>
                    <a:pt x="26" y="211"/>
                    <a:pt x="-5" y="146"/>
                    <a:pt x="12" y="88"/>
                  </a:cubicBezTo>
                  <a:cubicBezTo>
                    <a:pt x="33" y="26"/>
                    <a:pt x="97" y="-6"/>
                    <a:pt x="159" y="13"/>
                  </a:cubicBezTo>
                  <a:moveTo>
                    <a:pt x="52" y="101"/>
                  </a:moveTo>
                  <a:cubicBezTo>
                    <a:pt x="39" y="141"/>
                    <a:pt x="60" y="183"/>
                    <a:pt x="99" y="195"/>
                  </a:cubicBezTo>
                  <a:cubicBezTo>
                    <a:pt x="139" y="208"/>
                    <a:pt x="180" y="187"/>
                    <a:pt x="193" y="147"/>
                  </a:cubicBezTo>
                  <a:cubicBezTo>
                    <a:pt x="206" y="107"/>
                    <a:pt x="187" y="61"/>
                    <a:pt x="147" y="48"/>
                  </a:cubicBezTo>
                  <a:cubicBezTo>
                    <a:pt x="107" y="36"/>
                    <a:pt x="65" y="61"/>
                    <a:pt x="52" y="101"/>
                  </a:cubicBezTo>
                </a:path>
              </a:pathLst>
            </a:custGeom>
            <a:solidFill>
              <a:srgbClr val="00978B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99" name="textbox 1499"/>
          <p:cNvSpPr/>
          <p:nvPr/>
        </p:nvSpPr>
        <p:spPr>
          <a:xfrm>
            <a:off x="5580717" y="2867399"/>
            <a:ext cx="381634" cy="234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传媒</a:t>
            </a:r>
            <a:endParaRPr lang="en-US" altLang="en-US" sz="1400" dirty="0"/>
          </a:p>
        </p:txBody>
      </p:sp>
      <p:sp>
        <p:nvSpPr>
          <p:cNvPr id="1500" name="textbox 1500"/>
          <p:cNvSpPr/>
          <p:nvPr/>
        </p:nvSpPr>
        <p:spPr>
          <a:xfrm>
            <a:off x="3599263" y="4323074"/>
            <a:ext cx="381634" cy="234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娱乐</a:t>
            </a:r>
            <a:endParaRPr lang="en-US" altLang="en-US" sz="1400" dirty="0"/>
          </a:p>
        </p:txBody>
      </p:sp>
      <p:sp>
        <p:nvSpPr>
          <p:cNvPr id="1501" name="textbox 1501"/>
          <p:cNvSpPr/>
          <p:nvPr/>
        </p:nvSpPr>
        <p:spPr>
          <a:xfrm>
            <a:off x="4374191" y="2003291"/>
            <a:ext cx="372745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40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</a:t>
            </a:r>
            <a:endParaRPr lang="en-US" altLang="en-US" sz="1400" dirty="0"/>
          </a:p>
        </p:txBody>
      </p:sp>
      <p:sp>
        <p:nvSpPr>
          <p:cNvPr id="1502" name="path"/>
          <p:cNvSpPr/>
          <p:nvPr/>
        </p:nvSpPr>
        <p:spPr>
          <a:xfrm>
            <a:off x="5111495" y="2013204"/>
            <a:ext cx="134620" cy="133985"/>
          </a:xfrm>
          <a:custGeom>
            <a:avLst/>
            <a:gdLst/>
            <a:ahLst/>
            <a:cxnLst/>
            <a:rect l="0" t="0" r="0" b="0"/>
            <a:pathLst>
              <a:path w="212" h="211">
                <a:moveTo>
                  <a:pt x="106" y="211"/>
                </a:moveTo>
                <a:lnTo>
                  <a:pt x="106" y="211"/>
                </a:lnTo>
                <a:lnTo>
                  <a:pt x="94" y="211"/>
                </a:lnTo>
                <a:lnTo>
                  <a:pt x="84" y="208"/>
                </a:lnTo>
                <a:lnTo>
                  <a:pt x="74" y="206"/>
                </a:lnTo>
                <a:lnTo>
                  <a:pt x="64" y="202"/>
                </a:lnTo>
                <a:lnTo>
                  <a:pt x="55" y="198"/>
                </a:lnTo>
                <a:lnTo>
                  <a:pt x="46" y="193"/>
                </a:lnTo>
                <a:lnTo>
                  <a:pt x="39" y="187"/>
                </a:lnTo>
                <a:lnTo>
                  <a:pt x="31" y="180"/>
                </a:lnTo>
                <a:lnTo>
                  <a:pt x="24" y="172"/>
                </a:lnTo>
                <a:lnTo>
                  <a:pt x="18" y="164"/>
                </a:lnTo>
                <a:lnTo>
                  <a:pt x="13" y="155"/>
                </a:lnTo>
                <a:lnTo>
                  <a:pt x="8" y="145"/>
                </a:lnTo>
                <a:lnTo>
                  <a:pt x="5" y="136"/>
                </a:lnTo>
                <a:lnTo>
                  <a:pt x="2" y="126"/>
                </a:lnTo>
                <a:lnTo>
                  <a:pt x="1" y="116"/>
                </a:lnTo>
                <a:lnTo>
                  <a:pt x="0" y="105"/>
                </a:lnTo>
                <a:lnTo>
                  <a:pt x="0" y="105"/>
                </a:lnTo>
                <a:lnTo>
                  <a:pt x="1" y="94"/>
                </a:lnTo>
                <a:lnTo>
                  <a:pt x="2" y="84"/>
                </a:lnTo>
                <a:lnTo>
                  <a:pt x="5" y="73"/>
                </a:lnTo>
                <a:lnTo>
                  <a:pt x="8" y="63"/>
                </a:lnTo>
                <a:lnTo>
                  <a:pt x="13" y="54"/>
                </a:lnTo>
                <a:lnTo>
                  <a:pt x="18" y="46"/>
                </a:lnTo>
                <a:lnTo>
                  <a:pt x="24" y="37"/>
                </a:lnTo>
                <a:lnTo>
                  <a:pt x="31" y="30"/>
                </a:lnTo>
                <a:lnTo>
                  <a:pt x="39" y="23"/>
                </a:lnTo>
                <a:lnTo>
                  <a:pt x="46" y="17"/>
                </a:lnTo>
                <a:lnTo>
                  <a:pt x="55" y="12"/>
                </a:lnTo>
                <a:lnTo>
                  <a:pt x="64" y="8"/>
                </a:lnTo>
                <a:lnTo>
                  <a:pt x="74" y="3"/>
                </a:lnTo>
                <a:lnTo>
                  <a:pt x="84" y="1"/>
                </a:lnTo>
                <a:lnTo>
                  <a:pt x="94" y="0"/>
                </a:lnTo>
                <a:lnTo>
                  <a:pt x="106" y="0"/>
                </a:lnTo>
                <a:lnTo>
                  <a:pt x="106" y="0"/>
                </a:lnTo>
                <a:lnTo>
                  <a:pt x="116" y="0"/>
                </a:lnTo>
                <a:lnTo>
                  <a:pt x="127" y="1"/>
                </a:lnTo>
                <a:lnTo>
                  <a:pt x="137" y="3"/>
                </a:lnTo>
                <a:lnTo>
                  <a:pt x="147" y="8"/>
                </a:lnTo>
                <a:lnTo>
                  <a:pt x="156" y="12"/>
                </a:lnTo>
                <a:lnTo>
                  <a:pt x="164" y="17"/>
                </a:lnTo>
                <a:lnTo>
                  <a:pt x="173" y="23"/>
                </a:lnTo>
                <a:lnTo>
                  <a:pt x="181" y="30"/>
                </a:lnTo>
                <a:lnTo>
                  <a:pt x="187" y="37"/>
                </a:lnTo>
                <a:lnTo>
                  <a:pt x="193" y="46"/>
                </a:lnTo>
                <a:lnTo>
                  <a:pt x="198" y="54"/>
                </a:lnTo>
                <a:lnTo>
                  <a:pt x="203" y="63"/>
                </a:lnTo>
                <a:lnTo>
                  <a:pt x="207" y="73"/>
                </a:lnTo>
                <a:lnTo>
                  <a:pt x="210" y="84"/>
                </a:lnTo>
                <a:lnTo>
                  <a:pt x="211" y="94"/>
                </a:lnTo>
                <a:lnTo>
                  <a:pt x="212" y="105"/>
                </a:lnTo>
                <a:lnTo>
                  <a:pt x="212" y="105"/>
                </a:lnTo>
                <a:lnTo>
                  <a:pt x="211" y="116"/>
                </a:lnTo>
                <a:lnTo>
                  <a:pt x="210" y="126"/>
                </a:lnTo>
                <a:lnTo>
                  <a:pt x="207" y="136"/>
                </a:lnTo>
                <a:lnTo>
                  <a:pt x="203" y="145"/>
                </a:lnTo>
                <a:lnTo>
                  <a:pt x="198" y="155"/>
                </a:lnTo>
                <a:lnTo>
                  <a:pt x="193" y="164"/>
                </a:lnTo>
                <a:lnTo>
                  <a:pt x="187" y="172"/>
                </a:lnTo>
                <a:lnTo>
                  <a:pt x="181" y="180"/>
                </a:lnTo>
                <a:lnTo>
                  <a:pt x="173" y="187"/>
                </a:lnTo>
                <a:lnTo>
                  <a:pt x="164" y="193"/>
                </a:lnTo>
                <a:lnTo>
                  <a:pt x="156" y="198"/>
                </a:lnTo>
                <a:lnTo>
                  <a:pt x="147" y="202"/>
                </a:lnTo>
                <a:lnTo>
                  <a:pt x="137" y="206"/>
                </a:lnTo>
                <a:lnTo>
                  <a:pt x="127" y="208"/>
                </a:lnTo>
                <a:lnTo>
                  <a:pt x="116" y="211"/>
                </a:lnTo>
                <a:lnTo>
                  <a:pt x="106" y="211"/>
                </a:lnTo>
                <a:lnTo>
                  <a:pt x="106" y="211"/>
                </a:lnTo>
                <a:close/>
                <a:moveTo>
                  <a:pt x="161" y="111"/>
                </a:moveTo>
                <a:lnTo>
                  <a:pt x="161" y="111"/>
                </a:lnTo>
                <a:lnTo>
                  <a:pt x="163" y="108"/>
                </a:lnTo>
                <a:lnTo>
                  <a:pt x="163" y="105"/>
                </a:lnTo>
                <a:lnTo>
                  <a:pt x="163" y="101"/>
                </a:lnTo>
                <a:lnTo>
                  <a:pt x="161" y="98"/>
                </a:lnTo>
                <a:lnTo>
                  <a:pt x="98" y="36"/>
                </a:lnTo>
                <a:lnTo>
                  <a:pt x="98" y="36"/>
                </a:lnTo>
                <a:lnTo>
                  <a:pt x="95" y="35"/>
                </a:lnTo>
                <a:lnTo>
                  <a:pt x="92" y="33"/>
                </a:lnTo>
                <a:lnTo>
                  <a:pt x="89" y="35"/>
                </a:lnTo>
                <a:lnTo>
                  <a:pt x="86" y="36"/>
                </a:lnTo>
                <a:lnTo>
                  <a:pt x="72" y="50"/>
                </a:lnTo>
                <a:lnTo>
                  <a:pt x="72" y="50"/>
                </a:lnTo>
                <a:lnTo>
                  <a:pt x="71" y="53"/>
                </a:lnTo>
                <a:lnTo>
                  <a:pt x="70" y="56"/>
                </a:lnTo>
                <a:lnTo>
                  <a:pt x="71" y="59"/>
                </a:lnTo>
                <a:lnTo>
                  <a:pt x="72" y="62"/>
                </a:lnTo>
                <a:lnTo>
                  <a:pt x="115" y="105"/>
                </a:lnTo>
                <a:lnTo>
                  <a:pt x="72" y="147"/>
                </a:lnTo>
                <a:lnTo>
                  <a:pt x="72" y="147"/>
                </a:lnTo>
                <a:lnTo>
                  <a:pt x="71" y="150"/>
                </a:lnTo>
                <a:lnTo>
                  <a:pt x="70" y="154"/>
                </a:lnTo>
                <a:lnTo>
                  <a:pt x="71" y="157"/>
                </a:lnTo>
                <a:lnTo>
                  <a:pt x="72" y="160"/>
                </a:lnTo>
                <a:lnTo>
                  <a:pt x="86" y="173"/>
                </a:lnTo>
                <a:lnTo>
                  <a:pt x="86" y="173"/>
                </a:lnTo>
                <a:lnTo>
                  <a:pt x="89" y="175"/>
                </a:lnTo>
                <a:lnTo>
                  <a:pt x="92" y="176"/>
                </a:lnTo>
                <a:lnTo>
                  <a:pt x="95" y="175"/>
                </a:lnTo>
                <a:lnTo>
                  <a:pt x="98" y="173"/>
                </a:lnTo>
                <a:lnTo>
                  <a:pt x="161" y="111"/>
                </a:lnTo>
                <a:close/>
              </a:path>
            </a:pathLst>
          </a:custGeom>
          <a:solidFill>
            <a:srgbClr val="F5A5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3" name="path"/>
          <p:cNvSpPr/>
          <p:nvPr/>
        </p:nvSpPr>
        <p:spPr>
          <a:xfrm>
            <a:off x="6341236" y="2712847"/>
            <a:ext cx="134620" cy="133985"/>
          </a:xfrm>
          <a:custGeom>
            <a:avLst/>
            <a:gdLst/>
            <a:ahLst/>
            <a:cxnLst/>
            <a:rect l="0" t="0" r="0" b="0"/>
            <a:pathLst>
              <a:path w="212" h="211">
                <a:moveTo>
                  <a:pt x="106" y="211"/>
                </a:moveTo>
                <a:lnTo>
                  <a:pt x="106" y="211"/>
                </a:lnTo>
                <a:lnTo>
                  <a:pt x="94" y="211"/>
                </a:lnTo>
                <a:lnTo>
                  <a:pt x="84" y="209"/>
                </a:lnTo>
                <a:lnTo>
                  <a:pt x="74" y="206"/>
                </a:lnTo>
                <a:lnTo>
                  <a:pt x="64" y="202"/>
                </a:lnTo>
                <a:lnTo>
                  <a:pt x="55" y="198"/>
                </a:lnTo>
                <a:lnTo>
                  <a:pt x="46" y="193"/>
                </a:lnTo>
                <a:lnTo>
                  <a:pt x="39" y="187"/>
                </a:lnTo>
                <a:lnTo>
                  <a:pt x="30" y="180"/>
                </a:lnTo>
                <a:lnTo>
                  <a:pt x="24" y="173"/>
                </a:lnTo>
                <a:lnTo>
                  <a:pt x="18" y="164"/>
                </a:lnTo>
                <a:lnTo>
                  <a:pt x="13" y="155"/>
                </a:lnTo>
                <a:lnTo>
                  <a:pt x="8" y="146"/>
                </a:lnTo>
                <a:lnTo>
                  <a:pt x="5" y="137"/>
                </a:lnTo>
                <a:lnTo>
                  <a:pt x="2" y="126"/>
                </a:lnTo>
                <a:lnTo>
                  <a:pt x="0" y="116"/>
                </a:lnTo>
                <a:lnTo>
                  <a:pt x="0" y="105"/>
                </a:lnTo>
                <a:lnTo>
                  <a:pt x="0" y="105"/>
                </a:lnTo>
                <a:lnTo>
                  <a:pt x="0" y="94"/>
                </a:lnTo>
                <a:lnTo>
                  <a:pt x="2" y="84"/>
                </a:lnTo>
                <a:lnTo>
                  <a:pt x="5" y="74"/>
                </a:lnTo>
                <a:lnTo>
                  <a:pt x="8" y="63"/>
                </a:lnTo>
                <a:lnTo>
                  <a:pt x="13" y="54"/>
                </a:lnTo>
                <a:lnTo>
                  <a:pt x="18" y="46"/>
                </a:lnTo>
                <a:lnTo>
                  <a:pt x="24" y="38"/>
                </a:lnTo>
                <a:lnTo>
                  <a:pt x="30" y="31"/>
                </a:lnTo>
                <a:lnTo>
                  <a:pt x="39" y="23"/>
                </a:lnTo>
                <a:lnTo>
                  <a:pt x="46" y="17"/>
                </a:lnTo>
                <a:lnTo>
                  <a:pt x="55" y="12"/>
                </a:lnTo>
                <a:lnTo>
                  <a:pt x="64" y="8"/>
                </a:lnTo>
                <a:lnTo>
                  <a:pt x="74" y="4"/>
                </a:lnTo>
                <a:lnTo>
                  <a:pt x="84" y="2"/>
                </a:lnTo>
                <a:lnTo>
                  <a:pt x="94" y="0"/>
                </a:lnTo>
                <a:lnTo>
                  <a:pt x="106" y="0"/>
                </a:lnTo>
                <a:lnTo>
                  <a:pt x="106" y="0"/>
                </a:lnTo>
                <a:lnTo>
                  <a:pt x="116" y="0"/>
                </a:lnTo>
                <a:lnTo>
                  <a:pt x="127" y="2"/>
                </a:lnTo>
                <a:lnTo>
                  <a:pt x="137" y="4"/>
                </a:lnTo>
                <a:lnTo>
                  <a:pt x="147" y="8"/>
                </a:lnTo>
                <a:lnTo>
                  <a:pt x="156" y="12"/>
                </a:lnTo>
                <a:lnTo>
                  <a:pt x="164" y="17"/>
                </a:lnTo>
                <a:lnTo>
                  <a:pt x="172" y="23"/>
                </a:lnTo>
                <a:lnTo>
                  <a:pt x="181" y="31"/>
                </a:lnTo>
                <a:lnTo>
                  <a:pt x="187" y="38"/>
                </a:lnTo>
                <a:lnTo>
                  <a:pt x="193" y="46"/>
                </a:lnTo>
                <a:lnTo>
                  <a:pt x="198" y="54"/>
                </a:lnTo>
                <a:lnTo>
                  <a:pt x="203" y="63"/>
                </a:lnTo>
                <a:lnTo>
                  <a:pt x="206" y="74"/>
                </a:lnTo>
                <a:lnTo>
                  <a:pt x="210" y="84"/>
                </a:lnTo>
                <a:lnTo>
                  <a:pt x="210" y="94"/>
                </a:lnTo>
                <a:lnTo>
                  <a:pt x="212" y="105"/>
                </a:lnTo>
                <a:lnTo>
                  <a:pt x="212" y="105"/>
                </a:lnTo>
                <a:lnTo>
                  <a:pt x="210" y="116"/>
                </a:lnTo>
                <a:lnTo>
                  <a:pt x="210" y="126"/>
                </a:lnTo>
                <a:lnTo>
                  <a:pt x="206" y="137"/>
                </a:lnTo>
                <a:lnTo>
                  <a:pt x="203" y="146"/>
                </a:lnTo>
                <a:lnTo>
                  <a:pt x="198" y="155"/>
                </a:lnTo>
                <a:lnTo>
                  <a:pt x="193" y="164"/>
                </a:lnTo>
                <a:lnTo>
                  <a:pt x="187" y="173"/>
                </a:lnTo>
                <a:lnTo>
                  <a:pt x="181" y="180"/>
                </a:lnTo>
                <a:lnTo>
                  <a:pt x="172" y="187"/>
                </a:lnTo>
                <a:lnTo>
                  <a:pt x="164" y="193"/>
                </a:lnTo>
                <a:lnTo>
                  <a:pt x="156" y="198"/>
                </a:lnTo>
                <a:lnTo>
                  <a:pt x="147" y="202"/>
                </a:lnTo>
                <a:lnTo>
                  <a:pt x="137" y="206"/>
                </a:lnTo>
                <a:lnTo>
                  <a:pt x="127" y="209"/>
                </a:lnTo>
                <a:lnTo>
                  <a:pt x="116" y="211"/>
                </a:lnTo>
                <a:lnTo>
                  <a:pt x="106" y="211"/>
                </a:lnTo>
                <a:lnTo>
                  <a:pt x="106" y="211"/>
                </a:lnTo>
                <a:close/>
                <a:moveTo>
                  <a:pt x="161" y="111"/>
                </a:moveTo>
                <a:lnTo>
                  <a:pt x="161" y="111"/>
                </a:lnTo>
                <a:lnTo>
                  <a:pt x="163" y="109"/>
                </a:lnTo>
                <a:lnTo>
                  <a:pt x="163" y="105"/>
                </a:lnTo>
                <a:lnTo>
                  <a:pt x="163" y="102"/>
                </a:lnTo>
                <a:lnTo>
                  <a:pt x="161" y="98"/>
                </a:lnTo>
                <a:lnTo>
                  <a:pt x="98" y="37"/>
                </a:lnTo>
                <a:lnTo>
                  <a:pt x="98" y="37"/>
                </a:lnTo>
                <a:lnTo>
                  <a:pt x="95" y="35"/>
                </a:lnTo>
                <a:lnTo>
                  <a:pt x="92" y="33"/>
                </a:lnTo>
                <a:lnTo>
                  <a:pt x="89" y="35"/>
                </a:lnTo>
                <a:lnTo>
                  <a:pt x="86" y="37"/>
                </a:lnTo>
                <a:lnTo>
                  <a:pt x="72" y="50"/>
                </a:lnTo>
                <a:lnTo>
                  <a:pt x="72" y="50"/>
                </a:lnTo>
                <a:lnTo>
                  <a:pt x="70" y="53"/>
                </a:lnTo>
                <a:lnTo>
                  <a:pt x="70" y="56"/>
                </a:lnTo>
                <a:lnTo>
                  <a:pt x="70" y="59"/>
                </a:lnTo>
                <a:lnTo>
                  <a:pt x="72" y="62"/>
                </a:lnTo>
                <a:lnTo>
                  <a:pt x="115" y="105"/>
                </a:lnTo>
                <a:lnTo>
                  <a:pt x="72" y="147"/>
                </a:lnTo>
                <a:lnTo>
                  <a:pt x="72" y="147"/>
                </a:lnTo>
                <a:lnTo>
                  <a:pt x="70" y="150"/>
                </a:lnTo>
                <a:lnTo>
                  <a:pt x="70" y="154"/>
                </a:lnTo>
                <a:lnTo>
                  <a:pt x="70" y="157"/>
                </a:lnTo>
                <a:lnTo>
                  <a:pt x="72" y="160"/>
                </a:lnTo>
                <a:lnTo>
                  <a:pt x="86" y="173"/>
                </a:lnTo>
                <a:lnTo>
                  <a:pt x="86" y="173"/>
                </a:lnTo>
                <a:lnTo>
                  <a:pt x="89" y="176"/>
                </a:lnTo>
                <a:lnTo>
                  <a:pt x="92" y="177"/>
                </a:lnTo>
                <a:lnTo>
                  <a:pt x="95" y="176"/>
                </a:lnTo>
                <a:lnTo>
                  <a:pt x="98" y="173"/>
                </a:lnTo>
                <a:lnTo>
                  <a:pt x="161" y="111"/>
                </a:lnTo>
                <a:close/>
              </a:path>
            </a:pathLst>
          </a:custGeom>
          <a:solidFill>
            <a:srgbClr val="59C3F1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4" name="path"/>
          <p:cNvSpPr/>
          <p:nvPr/>
        </p:nvSpPr>
        <p:spPr>
          <a:xfrm>
            <a:off x="5893942" y="4125150"/>
            <a:ext cx="134620" cy="133959"/>
          </a:xfrm>
          <a:custGeom>
            <a:avLst/>
            <a:gdLst/>
            <a:ahLst/>
            <a:cxnLst/>
            <a:rect l="0" t="0" r="0" b="0"/>
            <a:pathLst>
              <a:path w="212" h="210">
                <a:moveTo>
                  <a:pt x="105" y="210"/>
                </a:moveTo>
                <a:lnTo>
                  <a:pt x="105" y="210"/>
                </a:lnTo>
                <a:lnTo>
                  <a:pt x="94" y="210"/>
                </a:lnTo>
                <a:lnTo>
                  <a:pt x="84" y="208"/>
                </a:lnTo>
                <a:lnTo>
                  <a:pt x="74" y="206"/>
                </a:lnTo>
                <a:lnTo>
                  <a:pt x="64" y="202"/>
                </a:lnTo>
                <a:lnTo>
                  <a:pt x="55" y="198"/>
                </a:lnTo>
                <a:lnTo>
                  <a:pt x="46" y="193"/>
                </a:lnTo>
                <a:lnTo>
                  <a:pt x="39" y="187"/>
                </a:lnTo>
                <a:lnTo>
                  <a:pt x="30" y="180"/>
                </a:lnTo>
                <a:lnTo>
                  <a:pt x="24" y="172"/>
                </a:lnTo>
                <a:lnTo>
                  <a:pt x="18" y="164"/>
                </a:lnTo>
                <a:lnTo>
                  <a:pt x="13" y="155"/>
                </a:lnTo>
                <a:lnTo>
                  <a:pt x="8" y="146"/>
                </a:lnTo>
                <a:lnTo>
                  <a:pt x="5" y="136"/>
                </a:lnTo>
                <a:lnTo>
                  <a:pt x="2" y="126"/>
                </a:lnTo>
                <a:lnTo>
                  <a:pt x="1" y="116"/>
                </a:lnTo>
                <a:lnTo>
                  <a:pt x="0" y="104"/>
                </a:lnTo>
                <a:lnTo>
                  <a:pt x="0" y="104"/>
                </a:lnTo>
                <a:lnTo>
                  <a:pt x="1" y="94"/>
                </a:lnTo>
                <a:lnTo>
                  <a:pt x="2" y="84"/>
                </a:lnTo>
                <a:lnTo>
                  <a:pt x="5" y="74"/>
                </a:lnTo>
                <a:lnTo>
                  <a:pt x="8" y="63"/>
                </a:lnTo>
                <a:lnTo>
                  <a:pt x="13" y="54"/>
                </a:lnTo>
                <a:lnTo>
                  <a:pt x="18" y="46"/>
                </a:lnTo>
                <a:lnTo>
                  <a:pt x="24" y="38"/>
                </a:lnTo>
                <a:lnTo>
                  <a:pt x="30" y="30"/>
                </a:lnTo>
                <a:lnTo>
                  <a:pt x="39" y="23"/>
                </a:lnTo>
                <a:lnTo>
                  <a:pt x="46" y="17"/>
                </a:lnTo>
                <a:lnTo>
                  <a:pt x="55" y="12"/>
                </a:lnTo>
                <a:lnTo>
                  <a:pt x="64" y="8"/>
                </a:lnTo>
                <a:lnTo>
                  <a:pt x="74" y="4"/>
                </a:lnTo>
                <a:lnTo>
                  <a:pt x="84" y="2"/>
                </a:lnTo>
                <a:lnTo>
                  <a:pt x="94" y="0"/>
                </a:lnTo>
                <a:lnTo>
                  <a:pt x="105" y="0"/>
                </a:lnTo>
                <a:lnTo>
                  <a:pt x="105" y="0"/>
                </a:lnTo>
                <a:lnTo>
                  <a:pt x="116" y="0"/>
                </a:lnTo>
                <a:lnTo>
                  <a:pt x="127" y="2"/>
                </a:lnTo>
                <a:lnTo>
                  <a:pt x="137" y="4"/>
                </a:lnTo>
                <a:lnTo>
                  <a:pt x="147" y="8"/>
                </a:lnTo>
                <a:lnTo>
                  <a:pt x="156" y="12"/>
                </a:lnTo>
                <a:lnTo>
                  <a:pt x="164" y="17"/>
                </a:lnTo>
                <a:lnTo>
                  <a:pt x="172" y="23"/>
                </a:lnTo>
                <a:lnTo>
                  <a:pt x="181" y="30"/>
                </a:lnTo>
                <a:lnTo>
                  <a:pt x="187" y="38"/>
                </a:lnTo>
                <a:lnTo>
                  <a:pt x="193" y="46"/>
                </a:lnTo>
                <a:lnTo>
                  <a:pt x="198" y="54"/>
                </a:lnTo>
                <a:lnTo>
                  <a:pt x="203" y="63"/>
                </a:lnTo>
                <a:lnTo>
                  <a:pt x="206" y="74"/>
                </a:lnTo>
                <a:lnTo>
                  <a:pt x="210" y="84"/>
                </a:lnTo>
                <a:lnTo>
                  <a:pt x="211" y="94"/>
                </a:lnTo>
                <a:lnTo>
                  <a:pt x="212" y="104"/>
                </a:lnTo>
                <a:lnTo>
                  <a:pt x="212" y="104"/>
                </a:lnTo>
                <a:lnTo>
                  <a:pt x="211" y="116"/>
                </a:lnTo>
                <a:lnTo>
                  <a:pt x="210" y="126"/>
                </a:lnTo>
                <a:lnTo>
                  <a:pt x="206" y="136"/>
                </a:lnTo>
                <a:lnTo>
                  <a:pt x="203" y="146"/>
                </a:lnTo>
                <a:lnTo>
                  <a:pt x="198" y="155"/>
                </a:lnTo>
                <a:lnTo>
                  <a:pt x="193" y="164"/>
                </a:lnTo>
                <a:lnTo>
                  <a:pt x="187" y="172"/>
                </a:lnTo>
                <a:lnTo>
                  <a:pt x="181" y="180"/>
                </a:lnTo>
                <a:lnTo>
                  <a:pt x="172" y="187"/>
                </a:lnTo>
                <a:lnTo>
                  <a:pt x="164" y="193"/>
                </a:lnTo>
                <a:lnTo>
                  <a:pt x="156" y="198"/>
                </a:lnTo>
                <a:lnTo>
                  <a:pt x="147" y="202"/>
                </a:lnTo>
                <a:lnTo>
                  <a:pt x="137" y="206"/>
                </a:lnTo>
                <a:lnTo>
                  <a:pt x="127" y="208"/>
                </a:lnTo>
                <a:lnTo>
                  <a:pt x="116" y="210"/>
                </a:lnTo>
                <a:lnTo>
                  <a:pt x="105" y="210"/>
                </a:lnTo>
                <a:lnTo>
                  <a:pt x="105" y="210"/>
                </a:lnTo>
                <a:close/>
                <a:moveTo>
                  <a:pt x="161" y="111"/>
                </a:moveTo>
                <a:lnTo>
                  <a:pt x="161" y="111"/>
                </a:lnTo>
                <a:lnTo>
                  <a:pt x="163" y="109"/>
                </a:lnTo>
                <a:lnTo>
                  <a:pt x="163" y="104"/>
                </a:lnTo>
                <a:lnTo>
                  <a:pt x="163" y="101"/>
                </a:lnTo>
                <a:lnTo>
                  <a:pt x="161" y="98"/>
                </a:lnTo>
                <a:lnTo>
                  <a:pt x="98" y="37"/>
                </a:lnTo>
                <a:lnTo>
                  <a:pt x="98" y="37"/>
                </a:lnTo>
                <a:lnTo>
                  <a:pt x="95" y="34"/>
                </a:lnTo>
                <a:lnTo>
                  <a:pt x="92" y="33"/>
                </a:lnTo>
                <a:lnTo>
                  <a:pt x="89" y="34"/>
                </a:lnTo>
                <a:lnTo>
                  <a:pt x="86" y="37"/>
                </a:lnTo>
                <a:lnTo>
                  <a:pt x="72" y="50"/>
                </a:lnTo>
                <a:lnTo>
                  <a:pt x="72" y="50"/>
                </a:lnTo>
                <a:lnTo>
                  <a:pt x="71" y="53"/>
                </a:lnTo>
                <a:lnTo>
                  <a:pt x="70" y="56"/>
                </a:lnTo>
                <a:lnTo>
                  <a:pt x="71" y="59"/>
                </a:lnTo>
                <a:lnTo>
                  <a:pt x="72" y="62"/>
                </a:lnTo>
                <a:lnTo>
                  <a:pt x="115" y="104"/>
                </a:lnTo>
                <a:lnTo>
                  <a:pt x="72" y="147"/>
                </a:lnTo>
                <a:lnTo>
                  <a:pt x="72" y="147"/>
                </a:lnTo>
                <a:lnTo>
                  <a:pt x="71" y="150"/>
                </a:lnTo>
                <a:lnTo>
                  <a:pt x="70" y="154"/>
                </a:lnTo>
                <a:lnTo>
                  <a:pt x="71" y="157"/>
                </a:lnTo>
                <a:lnTo>
                  <a:pt x="72" y="160"/>
                </a:lnTo>
                <a:lnTo>
                  <a:pt x="86" y="173"/>
                </a:lnTo>
                <a:lnTo>
                  <a:pt x="86" y="173"/>
                </a:lnTo>
                <a:lnTo>
                  <a:pt x="89" y="175"/>
                </a:lnTo>
                <a:lnTo>
                  <a:pt x="92" y="176"/>
                </a:lnTo>
                <a:lnTo>
                  <a:pt x="95" y="175"/>
                </a:lnTo>
                <a:lnTo>
                  <a:pt x="98" y="173"/>
                </a:lnTo>
                <a:lnTo>
                  <a:pt x="161" y="111"/>
                </a:lnTo>
                <a:close/>
              </a:path>
            </a:pathLst>
          </a:custGeom>
          <a:solidFill>
            <a:srgbClr val="40404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5" name="path"/>
          <p:cNvSpPr/>
          <p:nvPr/>
        </p:nvSpPr>
        <p:spPr>
          <a:xfrm>
            <a:off x="2948305" y="4144352"/>
            <a:ext cx="134619" cy="133959"/>
          </a:xfrm>
          <a:custGeom>
            <a:avLst/>
            <a:gdLst/>
            <a:ahLst/>
            <a:cxnLst/>
            <a:rect l="0" t="0" r="0" b="0"/>
            <a:pathLst>
              <a:path w="211" h="210">
                <a:moveTo>
                  <a:pt x="105" y="210"/>
                </a:moveTo>
                <a:lnTo>
                  <a:pt x="105" y="210"/>
                </a:lnTo>
                <a:lnTo>
                  <a:pt x="117" y="210"/>
                </a:lnTo>
                <a:lnTo>
                  <a:pt x="127" y="208"/>
                </a:lnTo>
                <a:lnTo>
                  <a:pt x="137" y="206"/>
                </a:lnTo>
                <a:lnTo>
                  <a:pt x="146" y="202"/>
                </a:lnTo>
                <a:lnTo>
                  <a:pt x="156" y="198"/>
                </a:lnTo>
                <a:lnTo>
                  <a:pt x="165" y="193"/>
                </a:lnTo>
                <a:lnTo>
                  <a:pt x="172" y="187"/>
                </a:lnTo>
                <a:lnTo>
                  <a:pt x="180" y="180"/>
                </a:lnTo>
                <a:lnTo>
                  <a:pt x="187" y="172"/>
                </a:lnTo>
                <a:lnTo>
                  <a:pt x="193" y="164"/>
                </a:lnTo>
                <a:lnTo>
                  <a:pt x="198" y="155"/>
                </a:lnTo>
                <a:lnTo>
                  <a:pt x="203" y="146"/>
                </a:lnTo>
                <a:lnTo>
                  <a:pt x="206" y="136"/>
                </a:lnTo>
                <a:lnTo>
                  <a:pt x="209" y="126"/>
                </a:lnTo>
                <a:lnTo>
                  <a:pt x="210" y="116"/>
                </a:lnTo>
                <a:lnTo>
                  <a:pt x="211" y="104"/>
                </a:lnTo>
                <a:lnTo>
                  <a:pt x="211" y="104"/>
                </a:lnTo>
                <a:lnTo>
                  <a:pt x="210" y="94"/>
                </a:lnTo>
                <a:lnTo>
                  <a:pt x="209" y="84"/>
                </a:lnTo>
                <a:lnTo>
                  <a:pt x="206" y="74"/>
                </a:lnTo>
                <a:lnTo>
                  <a:pt x="203" y="63"/>
                </a:lnTo>
                <a:lnTo>
                  <a:pt x="198" y="54"/>
                </a:lnTo>
                <a:lnTo>
                  <a:pt x="193" y="46"/>
                </a:lnTo>
                <a:lnTo>
                  <a:pt x="187" y="38"/>
                </a:lnTo>
                <a:lnTo>
                  <a:pt x="180" y="30"/>
                </a:lnTo>
                <a:lnTo>
                  <a:pt x="172" y="23"/>
                </a:lnTo>
                <a:lnTo>
                  <a:pt x="165" y="17"/>
                </a:lnTo>
                <a:lnTo>
                  <a:pt x="156" y="12"/>
                </a:lnTo>
                <a:lnTo>
                  <a:pt x="146" y="8"/>
                </a:lnTo>
                <a:lnTo>
                  <a:pt x="137" y="4"/>
                </a:lnTo>
                <a:lnTo>
                  <a:pt x="127" y="2"/>
                </a:lnTo>
                <a:lnTo>
                  <a:pt x="117" y="0"/>
                </a:lnTo>
                <a:lnTo>
                  <a:pt x="105" y="0"/>
                </a:lnTo>
                <a:lnTo>
                  <a:pt x="105" y="0"/>
                </a:lnTo>
                <a:lnTo>
                  <a:pt x="95" y="0"/>
                </a:lnTo>
                <a:lnTo>
                  <a:pt x="84" y="2"/>
                </a:lnTo>
                <a:lnTo>
                  <a:pt x="73" y="4"/>
                </a:lnTo>
                <a:lnTo>
                  <a:pt x="64" y="8"/>
                </a:lnTo>
                <a:lnTo>
                  <a:pt x="55" y="12"/>
                </a:lnTo>
                <a:lnTo>
                  <a:pt x="47" y="17"/>
                </a:lnTo>
                <a:lnTo>
                  <a:pt x="38" y="23"/>
                </a:lnTo>
                <a:lnTo>
                  <a:pt x="30" y="30"/>
                </a:lnTo>
                <a:lnTo>
                  <a:pt x="24" y="38"/>
                </a:lnTo>
                <a:lnTo>
                  <a:pt x="18" y="46"/>
                </a:lnTo>
                <a:lnTo>
                  <a:pt x="13" y="54"/>
                </a:lnTo>
                <a:lnTo>
                  <a:pt x="8" y="63"/>
                </a:lnTo>
                <a:lnTo>
                  <a:pt x="4" y="74"/>
                </a:lnTo>
                <a:lnTo>
                  <a:pt x="1" y="84"/>
                </a:lnTo>
                <a:lnTo>
                  <a:pt x="0" y="94"/>
                </a:lnTo>
                <a:lnTo>
                  <a:pt x="0" y="104"/>
                </a:lnTo>
                <a:lnTo>
                  <a:pt x="0" y="104"/>
                </a:lnTo>
                <a:lnTo>
                  <a:pt x="0" y="116"/>
                </a:lnTo>
                <a:lnTo>
                  <a:pt x="1" y="126"/>
                </a:lnTo>
                <a:lnTo>
                  <a:pt x="4" y="136"/>
                </a:lnTo>
                <a:lnTo>
                  <a:pt x="8" y="146"/>
                </a:lnTo>
                <a:lnTo>
                  <a:pt x="13" y="155"/>
                </a:lnTo>
                <a:lnTo>
                  <a:pt x="18" y="164"/>
                </a:lnTo>
                <a:lnTo>
                  <a:pt x="24" y="172"/>
                </a:lnTo>
                <a:lnTo>
                  <a:pt x="30" y="180"/>
                </a:lnTo>
                <a:lnTo>
                  <a:pt x="38" y="187"/>
                </a:lnTo>
                <a:lnTo>
                  <a:pt x="47" y="193"/>
                </a:lnTo>
                <a:lnTo>
                  <a:pt x="55" y="198"/>
                </a:lnTo>
                <a:lnTo>
                  <a:pt x="64" y="202"/>
                </a:lnTo>
                <a:lnTo>
                  <a:pt x="73" y="206"/>
                </a:lnTo>
                <a:lnTo>
                  <a:pt x="84" y="208"/>
                </a:lnTo>
                <a:lnTo>
                  <a:pt x="95" y="210"/>
                </a:lnTo>
                <a:lnTo>
                  <a:pt x="105" y="210"/>
                </a:lnTo>
                <a:lnTo>
                  <a:pt x="105" y="210"/>
                </a:lnTo>
                <a:close/>
                <a:moveTo>
                  <a:pt x="50" y="111"/>
                </a:moveTo>
                <a:lnTo>
                  <a:pt x="50" y="111"/>
                </a:lnTo>
                <a:lnTo>
                  <a:pt x="48" y="109"/>
                </a:lnTo>
                <a:lnTo>
                  <a:pt x="48" y="104"/>
                </a:lnTo>
                <a:lnTo>
                  <a:pt x="48" y="101"/>
                </a:lnTo>
                <a:lnTo>
                  <a:pt x="50" y="98"/>
                </a:lnTo>
                <a:lnTo>
                  <a:pt x="113" y="37"/>
                </a:lnTo>
                <a:lnTo>
                  <a:pt x="113" y="37"/>
                </a:lnTo>
                <a:lnTo>
                  <a:pt x="116" y="35"/>
                </a:lnTo>
                <a:lnTo>
                  <a:pt x="119" y="33"/>
                </a:lnTo>
                <a:lnTo>
                  <a:pt x="122" y="35"/>
                </a:lnTo>
                <a:lnTo>
                  <a:pt x="125" y="37"/>
                </a:lnTo>
                <a:lnTo>
                  <a:pt x="139" y="50"/>
                </a:lnTo>
                <a:lnTo>
                  <a:pt x="139" y="50"/>
                </a:lnTo>
                <a:lnTo>
                  <a:pt x="140" y="53"/>
                </a:lnTo>
                <a:lnTo>
                  <a:pt x="141" y="56"/>
                </a:lnTo>
                <a:lnTo>
                  <a:pt x="140" y="59"/>
                </a:lnTo>
                <a:lnTo>
                  <a:pt x="139" y="62"/>
                </a:lnTo>
                <a:lnTo>
                  <a:pt x="96" y="104"/>
                </a:lnTo>
                <a:lnTo>
                  <a:pt x="139" y="147"/>
                </a:lnTo>
                <a:lnTo>
                  <a:pt x="139" y="147"/>
                </a:lnTo>
                <a:lnTo>
                  <a:pt x="140" y="150"/>
                </a:lnTo>
                <a:lnTo>
                  <a:pt x="141" y="154"/>
                </a:lnTo>
                <a:lnTo>
                  <a:pt x="140" y="157"/>
                </a:lnTo>
                <a:lnTo>
                  <a:pt x="139" y="160"/>
                </a:lnTo>
                <a:lnTo>
                  <a:pt x="125" y="173"/>
                </a:lnTo>
                <a:lnTo>
                  <a:pt x="125" y="173"/>
                </a:lnTo>
                <a:lnTo>
                  <a:pt x="122" y="175"/>
                </a:lnTo>
                <a:lnTo>
                  <a:pt x="119" y="176"/>
                </a:lnTo>
                <a:lnTo>
                  <a:pt x="116" y="175"/>
                </a:lnTo>
                <a:lnTo>
                  <a:pt x="113" y="173"/>
                </a:lnTo>
                <a:lnTo>
                  <a:pt x="50" y="111"/>
                </a:lnTo>
                <a:close/>
              </a:path>
            </a:pathLst>
          </a:custGeom>
          <a:solidFill>
            <a:srgbClr val="7030A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6" name="rect"/>
          <p:cNvSpPr/>
          <p:nvPr/>
        </p:nvSpPr>
        <p:spPr>
          <a:xfrm>
            <a:off x="4904867" y="2997580"/>
            <a:ext cx="58673" cy="58039"/>
          </a:xfrm>
          <a:prstGeom prst="rect">
            <a:avLst/>
          </a:pr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7" name="rect"/>
          <p:cNvSpPr/>
          <p:nvPr/>
        </p:nvSpPr>
        <p:spPr>
          <a:xfrm>
            <a:off x="4140708" y="2997580"/>
            <a:ext cx="56133" cy="58039"/>
          </a:xfrm>
          <a:prstGeom prst="rect">
            <a:avLst/>
          </a:pr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8" name="path"/>
          <p:cNvSpPr/>
          <p:nvPr/>
        </p:nvSpPr>
        <p:spPr>
          <a:xfrm>
            <a:off x="4080383" y="3596385"/>
            <a:ext cx="56007" cy="58038"/>
          </a:xfrm>
          <a:custGeom>
            <a:avLst/>
            <a:gdLst/>
            <a:ahLst/>
            <a:cxnLst/>
            <a:rect l="0" t="0" r="0" b="0"/>
            <a:pathLst>
              <a:path w="88" h="91">
                <a:moveTo>
                  <a:pt x="88" y="45"/>
                </a:moveTo>
                <a:cubicBezTo>
                  <a:pt x="88" y="20"/>
                  <a:pt x="71" y="0"/>
                  <a:pt x="46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0"/>
                  <a:pt x="20" y="91"/>
                  <a:pt x="46" y="91"/>
                </a:cubicBezTo>
                <a:cubicBezTo>
                  <a:pt x="71" y="91"/>
                  <a:pt x="88" y="70"/>
                  <a:pt x="88" y="45"/>
                </a:cubicBezTo>
                <a:moveTo>
                  <a:pt x="46" y="70"/>
                </a:moveTo>
                <a:cubicBezTo>
                  <a:pt x="29" y="70"/>
                  <a:pt x="16" y="58"/>
                  <a:pt x="16" y="45"/>
                </a:cubicBezTo>
                <a:cubicBezTo>
                  <a:pt x="16" y="29"/>
                  <a:pt x="29" y="20"/>
                  <a:pt x="46" y="20"/>
                </a:cubicBezTo>
                <a:cubicBezTo>
                  <a:pt x="58" y="20"/>
                  <a:pt x="71" y="29"/>
                  <a:pt x="71" y="45"/>
                </a:cubicBezTo>
                <a:cubicBezTo>
                  <a:pt x="71" y="58"/>
                  <a:pt x="58" y="70"/>
                  <a:pt x="46" y="70"/>
                </a:cubicBezTo>
              </a:path>
            </a:pathLst>
          </a:cu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9" name="path"/>
          <p:cNvSpPr/>
          <p:nvPr/>
        </p:nvSpPr>
        <p:spPr>
          <a:xfrm>
            <a:off x="5013198" y="3497579"/>
            <a:ext cx="57276" cy="54356"/>
          </a:xfrm>
          <a:custGeom>
            <a:avLst/>
            <a:gdLst/>
            <a:ahLst/>
            <a:cxnLst/>
            <a:rect l="0" t="0" r="0" b="0"/>
            <a:pathLst>
              <a:path w="90" h="85">
                <a:moveTo>
                  <a:pt x="0" y="44"/>
                </a:moveTo>
                <a:cubicBezTo>
                  <a:pt x="0" y="69"/>
                  <a:pt x="20" y="85"/>
                  <a:pt x="44" y="85"/>
                </a:cubicBezTo>
                <a:cubicBezTo>
                  <a:pt x="69" y="85"/>
                  <a:pt x="90" y="69"/>
                  <a:pt x="90" y="44"/>
                </a:cubicBezTo>
                <a:cubicBezTo>
                  <a:pt x="90" y="20"/>
                  <a:pt x="69" y="0"/>
                  <a:pt x="44" y="0"/>
                </a:cubicBezTo>
                <a:cubicBezTo>
                  <a:pt x="20" y="0"/>
                  <a:pt x="0" y="20"/>
                  <a:pt x="0" y="44"/>
                </a:cubicBezTo>
                <a:moveTo>
                  <a:pt x="44" y="16"/>
                </a:moveTo>
                <a:cubicBezTo>
                  <a:pt x="57" y="16"/>
                  <a:pt x="69" y="28"/>
                  <a:pt x="69" y="44"/>
                </a:cubicBezTo>
                <a:cubicBezTo>
                  <a:pt x="69" y="57"/>
                  <a:pt x="57" y="69"/>
                  <a:pt x="44" y="69"/>
                </a:cubicBezTo>
                <a:cubicBezTo>
                  <a:pt x="28" y="69"/>
                  <a:pt x="20" y="57"/>
                  <a:pt x="20" y="44"/>
                </a:cubicBezTo>
                <a:cubicBezTo>
                  <a:pt x="20" y="28"/>
                  <a:pt x="28" y="16"/>
                  <a:pt x="44" y="16"/>
                </a:cubicBezTo>
              </a:path>
            </a:pathLst>
          </a:cu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0" name="rect"/>
          <p:cNvSpPr/>
          <p:nvPr/>
        </p:nvSpPr>
        <p:spPr>
          <a:xfrm>
            <a:off x="4970907" y="3597021"/>
            <a:ext cx="54736" cy="56768"/>
          </a:xfrm>
          <a:prstGeom prst="rect">
            <a:avLst/>
          </a:prstGeom>
          <a:solidFill>
            <a:srgbClr val="80808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1" name="picture 15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51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3" name="textbox 1513"/>
          <p:cNvSpPr/>
          <p:nvPr/>
        </p:nvSpPr>
        <p:spPr>
          <a:xfrm>
            <a:off x="-12700" y="124277"/>
            <a:ext cx="8827134" cy="1812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渗透传媒领域各个</a:t>
            </a:r>
            <a:r>
              <a:rPr sz="3000" spc="7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</a:t>
            </a:r>
            <a:r>
              <a:rPr sz="3000" spc="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</a:t>
            </a:r>
            <a:endParaRPr lang="en-US" altLang="en-US" sz="1950" dirty="0"/>
          </a:p>
          <a:p>
            <a:pPr marL="529590" indent="-160020" algn="l" rtl="0" eaLnBrk="0">
              <a:lnSpc>
                <a:spcPct val="151000"/>
              </a:lnSpc>
              <a:spcBef>
                <a:spcPts val="1200"/>
              </a:spcBef>
              <a:tabLst>
                <a:tab pos="473075" algn="l"/>
              </a:tabLst>
            </a:pPr>
            <a:r>
              <a:rPr sz="14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4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4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技术逐渐渗透传媒领域包括采集、编辑、传</a:t>
            </a:r>
            <a:r>
              <a:rPr sz="14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播等环节，有助于加快内容生产效率，提高内容质量，扩</a:t>
            </a:r>
            <a:r>
              <a:rPr sz="14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宽内</a:t>
            </a:r>
            <a:r>
              <a:rPr sz="14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容影响力</a:t>
            </a:r>
            <a:endParaRPr lang="en-US" altLang="en-US" sz="1400" dirty="0"/>
          </a:p>
          <a:p>
            <a:pPr algn="l" rtl="0" eaLnBrk="0">
              <a:lnSpc>
                <a:spcPct val="100000"/>
              </a:lnSpc>
            </a:pPr>
            <a:endParaRPr lang="en-US" altLang="en-US" sz="800" dirty="0"/>
          </a:p>
          <a:p>
            <a:pPr marL="3138805" algn="l" rtl="0" eaLnBrk="0">
              <a:lnSpc>
                <a:spcPts val="1240"/>
              </a:lnSpc>
              <a:spcBef>
                <a:spcPts val="0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图62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对传媒领域的赋能如下图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所述</a:t>
            </a:r>
            <a:endParaRPr lang="en-US" altLang="en-US" sz="1000" dirty="0"/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268" y="1143299"/>
            <a:ext cx="103240" cy="117683"/>
          </a:xfrm>
          <a:prstGeom prst="rect">
            <a:avLst/>
          </a:prstGeom>
        </p:spPr>
      </p:pic>
      <p:sp>
        <p:nvSpPr>
          <p:cNvPr id="1515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16" name="picture 15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02452" y="2816352"/>
            <a:ext cx="2188464" cy="1431035"/>
          </a:xfrm>
          <a:prstGeom prst="rect">
            <a:avLst/>
          </a:prstGeom>
        </p:spPr>
      </p:pic>
      <p:pic>
        <p:nvPicPr>
          <p:cNvPr id="1517" name="picture 15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158995" y="2048255"/>
            <a:ext cx="2186940" cy="1431036"/>
          </a:xfrm>
          <a:prstGeom prst="rect">
            <a:avLst/>
          </a:prstGeom>
        </p:spPr>
      </p:pic>
      <p:pic>
        <p:nvPicPr>
          <p:cNvPr id="1518" name="picture 15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414016" y="2816352"/>
            <a:ext cx="2188464" cy="1431035"/>
          </a:xfrm>
          <a:prstGeom prst="rect">
            <a:avLst/>
          </a:prstGeom>
        </p:spPr>
      </p:pic>
      <p:pic>
        <p:nvPicPr>
          <p:cNvPr id="1519" name="picture 15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0559" y="2048255"/>
            <a:ext cx="2186939" cy="1431036"/>
          </a:xfrm>
          <a:prstGeom prst="rect">
            <a:avLst/>
          </a:prstGeom>
        </p:spPr>
      </p:pic>
      <p:sp>
        <p:nvSpPr>
          <p:cNvPr id="1520" name="textbox 1520"/>
          <p:cNvSpPr/>
          <p:nvPr/>
        </p:nvSpPr>
        <p:spPr>
          <a:xfrm>
            <a:off x="4394925" y="3495724"/>
            <a:ext cx="1590039" cy="7861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lang="en-US" altLang="en-US" sz="100" dirty="0"/>
          </a:p>
          <a:p>
            <a:pPr marL="178435" indent="12700" algn="l" rtl="0" eaLnBrk="0">
              <a:lnSpc>
                <a:spcPct val="109000"/>
              </a:lnSpc>
            </a:pP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自动生成与视频同步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   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幕</a:t>
            </a:r>
            <a:endParaRPr lang="en-US" altLang="en-US" sz="900" dirty="0"/>
          </a:p>
          <a:p>
            <a:pPr marL="12700" algn="l" rtl="0" eaLnBrk="0">
              <a:lnSpc>
                <a:spcPts val="1150"/>
              </a:lnSpc>
              <a:spcBef>
                <a:spcPts val="40"/>
              </a:spcBef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6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视频属性编辑 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：视频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</a:t>
            </a:r>
            <a:endParaRPr lang="en-US" altLang="en-US" sz="900" dirty="0"/>
          </a:p>
          <a:p>
            <a:pPr marL="180340" algn="l" rtl="0" eaLnBrk="0">
              <a:lnSpc>
                <a:spcPts val="1150"/>
              </a:lnSpc>
              <a:spcBef>
                <a:spcPts val="50"/>
              </a:spcBef>
            </a:pP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强工具提高视频清晰度</a:t>
            </a:r>
            <a:r>
              <a:rPr sz="900" spc="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900" dirty="0"/>
          </a:p>
          <a:p>
            <a:pPr marL="178435" algn="l" rtl="0" eaLnBrk="0">
              <a:lnSpc>
                <a:spcPts val="1150"/>
              </a:lnSpc>
              <a:spcBef>
                <a:spcPts val="50"/>
              </a:spcBef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带给观众更好体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endParaRPr lang="en-US" altLang="en-US" sz="900" dirty="0"/>
          </a:p>
        </p:txBody>
      </p:sp>
      <p:pic>
        <p:nvPicPr>
          <p:cNvPr id="1521" name="picture 15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07625" y="3822053"/>
            <a:ext cx="85761" cy="98284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6166448" y="2737770"/>
            <a:ext cx="1589405" cy="7823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0"/>
              </a:lnSpc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7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跨模态视频合成 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</a:t>
            </a:r>
            <a:endParaRPr lang="en-US" altLang="en-US" sz="900" dirty="0"/>
          </a:p>
          <a:p>
            <a:pPr marL="184150" algn="l" rtl="0" eaLnBrk="0">
              <a:lnSpc>
                <a:spcPts val="1150"/>
              </a:lnSpc>
              <a:spcBef>
                <a:spcPts val="55"/>
              </a:spcBef>
            </a:pP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闻稿合成主播播报视频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en-US" sz="900" dirty="0"/>
          </a:p>
          <a:p>
            <a:pPr marL="176530" indent="635" algn="l" rtl="0" eaLnBrk="0">
              <a:lnSpc>
                <a:spcPct val="110000"/>
              </a:lnSpc>
              <a:spcBef>
                <a:spcPts val="45"/>
              </a:spcBef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提高了播报效率与准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度，带给观众不一样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播报体</a:t>
            </a:r>
            <a:r>
              <a:rPr sz="900" spc="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endParaRPr lang="en-US" altLang="en-US" sz="900" dirty="0"/>
          </a:p>
        </p:txBody>
      </p:sp>
      <p:pic>
        <p:nvPicPr>
          <p:cNvPr id="1523" name="picture 15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179148" y="2754897"/>
            <a:ext cx="85761" cy="98284"/>
          </a:xfrm>
          <a:prstGeom prst="rect">
            <a:avLst/>
          </a:prstGeom>
        </p:spPr>
      </p:pic>
      <p:sp>
        <p:nvSpPr>
          <p:cNvPr id="1524" name="textbox 1524"/>
          <p:cNvSpPr/>
          <p:nvPr/>
        </p:nvSpPr>
        <p:spPr>
          <a:xfrm>
            <a:off x="4394925" y="2737770"/>
            <a:ext cx="1506219" cy="7816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77165" indent="-164465" algn="l" rtl="0" eaLnBrk="0">
              <a:lnSpc>
                <a:spcPct val="110000"/>
              </a:lnSpc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7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视频自动剪辑 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：从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中快速生成视频，减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人工剪辑劳动量，加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视频发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</a:t>
            </a:r>
            <a:endParaRPr lang="en-US" altLang="en-US" sz="900" dirty="0"/>
          </a:p>
          <a:p>
            <a:pPr marL="12700" algn="l" rtl="0" eaLnBrk="0">
              <a:lnSpc>
                <a:spcPts val="1150"/>
              </a:lnSpc>
              <a:spcBef>
                <a:spcPts val="50"/>
              </a:spcBef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4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跨模态视频生成文</a:t>
            </a: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 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en-US" sz="900" dirty="0"/>
          </a:p>
        </p:txBody>
      </p:sp>
      <p:pic>
        <p:nvPicPr>
          <p:cNvPr id="1525" name="picture 15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7625" y="3364878"/>
            <a:ext cx="85761" cy="98284"/>
          </a:xfrm>
          <a:prstGeom prst="rect">
            <a:avLst/>
          </a:prstGeom>
        </p:spPr>
      </p:pic>
      <p:pic>
        <p:nvPicPr>
          <p:cNvPr id="1526" name="picture 15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7625" y="2754897"/>
            <a:ext cx="85761" cy="98284"/>
          </a:xfrm>
          <a:prstGeom prst="rect">
            <a:avLst/>
          </a:prstGeom>
        </p:spPr>
      </p:pic>
      <p:sp>
        <p:nvSpPr>
          <p:cNvPr id="1527" name="textbox 1527"/>
          <p:cNvSpPr/>
          <p:nvPr/>
        </p:nvSpPr>
        <p:spPr>
          <a:xfrm>
            <a:off x="919646" y="2737770"/>
            <a:ext cx="1501139" cy="6299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76530" indent="-163830" algn="l" rtl="0" eaLnBrk="0">
              <a:lnSpc>
                <a:spcPct val="110000"/>
              </a:lnSpc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7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语音转换文字 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：自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录音整理，保证新闻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效性，减少机械性重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</a:t>
            </a:r>
            <a:endParaRPr lang="en-US" altLang="en-US" sz="900" dirty="0"/>
          </a:p>
        </p:txBody>
      </p:sp>
      <p:pic>
        <p:nvPicPr>
          <p:cNvPr id="1528" name="picture 15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32346" y="2754897"/>
            <a:ext cx="85761" cy="98284"/>
          </a:xfrm>
          <a:prstGeom prst="rect">
            <a:avLst/>
          </a:prstGeom>
        </p:spPr>
      </p:pic>
      <p:sp>
        <p:nvSpPr>
          <p:cNvPr id="1529" name="textbox 1529"/>
          <p:cNvSpPr/>
          <p:nvPr/>
        </p:nvSpPr>
        <p:spPr>
          <a:xfrm>
            <a:off x="2677377" y="2737770"/>
            <a:ext cx="1501139" cy="62991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155"/>
              </a:lnSpc>
              <a:tabLst>
                <a:tab pos="98425" algn="l"/>
              </a:tabLst>
            </a:pPr>
            <a:r>
              <a:rPr sz="900" spc="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spc="70" dirty="0">
                <a:solidFill>
                  <a:srgbClr val="B1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结构性文本写作 </a:t>
            </a:r>
            <a:r>
              <a:rPr sz="900" spc="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</a:t>
            </a:r>
            <a:endParaRPr lang="en-US" altLang="en-US" sz="900" dirty="0"/>
          </a:p>
          <a:p>
            <a:pPr marL="176530" indent="1270" algn="l" rtl="0" eaLnBrk="0">
              <a:lnSpc>
                <a:spcPct val="110000"/>
              </a:lnSpc>
              <a:spcBef>
                <a:spcPts val="40"/>
              </a:spcBef>
            </a:pP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算法纂写新闻稿，加</a:t>
            </a:r>
            <a:r>
              <a:rPr sz="900" spc="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内容生产，提高内容</a:t>
            </a:r>
            <a:r>
              <a:rPr sz="900" spc="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</a:t>
            </a:r>
            <a:r>
              <a:rPr sz="90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spc="10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r>
              <a:rPr sz="900" spc="9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lang="en-US" altLang="en-US" sz="900" dirty="0"/>
          </a:p>
        </p:txBody>
      </p:sp>
      <p:pic>
        <p:nvPicPr>
          <p:cNvPr id="1530" name="picture 15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690077" y="2754897"/>
            <a:ext cx="85761" cy="98284"/>
          </a:xfrm>
          <a:prstGeom prst="rect">
            <a:avLst/>
          </a:prstGeom>
        </p:spPr>
      </p:pic>
      <p:sp>
        <p:nvSpPr>
          <p:cNvPr id="1532" name="textbox 1532"/>
          <p:cNvSpPr/>
          <p:nvPr/>
        </p:nvSpPr>
        <p:spPr>
          <a:xfrm>
            <a:off x="790676" y="4374134"/>
            <a:ext cx="2199639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料来源：中国信通院，国泰君安证券研究</a:t>
            </a:r>
            <a:endParaRPr lang="en-US" altLang="en-US" sz="900" dirty="0"/>
          </a:p>
        </p:txBody>
      </p:sp>
      <p:sp>
        <p:nvSpPr>
          <p:cNvPr id="1535" name="textbox 1535"/>
          <p:cNvSpPr/>
          <p:nvPr/>
        </p:nvSpPr>
        <p:spPr>
          <a:xfrm>
            <a:off x="2988513" y="3620465"/>
            <a:ext cx="943610" cy="20510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稿件写作</a:t>
            </a:r>
            <a:endParaRPr lang="en-US" altLang="en-US" sz="1200" dirty="0"/>
          </a:p>
        </p:txBody>
      </p:sp>
      <p:sp>
        <p:nvSpPr>
          <p:cNvPr id="1536" name="textbox 1536"/>
          <p:cNvSpPr/>
          <p:nvPr/>
        </p:nvSpPr>
        <p:spPr>
          <a:xfrm>
            <a:off x="6636334" y="3620465"/>
            <a:ext cx="639444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新闻播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</a:t>
            </a:r>
            <a:endParaRPr lang="en-US" altLang="en-US" sz="1200" dirty="0"/>
          </a:p>
        </p:txBody>
      </p:sp>
      <p:sp>
        <p:nvSpPr>
          <p:cNvPr id="1537" name="textbox 1537"/>
          <p:cNvSpPr/>
          <p:nvPr/>
        </p:nvSpPr>
        <p:spPr>
          <a:xfrm>
            <a:off x="1426159" y="2464384"/>
            <a:ext cx="639444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新闻采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</a:t>
            </a:r>
            <a:endParaRPr lang="en-US" altLang="en-US" sz="1200" dirty="0"/>
          </a:p>
        </p:txBody>
      </p:sp>
      <p:sp>
        <p:nvSpPr>
          <p:cNvPr id="1538" name="textbox 1538"/>
          <p:cNvSpPr/>
          <p:nvPr/>
        </p:nvSpPr>
        <p:spPr>
          <a:xfrm>
            <a:off x="4898135" y="2464384"/>
            <a:ext cx="637540" cy="2032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频剪辑</a:t>
            </a:r>
            <a:endParaRPr lang="en-US" altLang="en-US" sz="1200" dirty="0"/>
          </a:p>
        </p:txBody>
      </p:sp>
      <p:sp>
        <p:nvSpPr>
          <p:cNvPr id="1539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picture 15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-9236" y="0"/>
            <a:ext cx="9144000" cy="5143498"/>
          </a:xfrm>
          <a:prstGeom prst="rect">
            <a:avLst/>
          </a:prstGeom>
        </p:spPr>
      </p:pic>
      <p:sp>
        <p:nvSpPr>
          <p:cNvPr id="1541" name="rect"/>
          <p:cNvSpPr/>
          <p:nvPr/>
        </p:nvSpPr>
        <p:spPr>
          <a:xfrm>
            <a:off x="3108325" y="2199258"/>
            <a:ext cx="958977" cy="12700"/>
          </a:xfrm>
          <a:prstGeom prst="rect">
            <a:avLst/>
          </a:prstGeom>
          <a:solidFill>
            <a:srgbClr val="BFBFB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rect"/>
          <p:cNvSpPr/>
          <p:nvPr/>
        </p:nvSpPr>
        <p:spPr>
          <a:xfrm>
            <a:off x="6169025" y="2419604"/>
            <a:ext cx="12700" cy="541146"/>
          </a:xfrm>
          <a:prstGeom prst="rect">
            <a:avLst/>
          </a:prstGeom>
          <a:solidFill>
            <a:srgbClr val="BFBFB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3" name="textbox 1543"/>
          <p:cNvSpPr/>
          <p:nvPr/>
        </p:nvSpPr>
        <p:spPr>
          <a:xfrm>
            <a:off x="4381347" y="2589098"/>
            <a:ext cx="637540" cy="2038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1200" spc="10" dirty="0">
                <a:ln w="3175" cap="flat" cmpd="sng">
                  <a:solidFill>
                    <a:srgbClr val="13A5E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3A5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</a:t>
            </a:r>
            <a:r>
              <a:rPr sz="1200" spc="0" dirty="0">
                <a:ln w="3175" cap="flat" cmpd="sng">
                  <a:solidFill>
                    <a:srgbClr val="13A5E4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13A5E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拟主播</a:t>
            </a:r>
            <a:endParaRPr lang="en-US" altLang="en-US" sz="1200" dirty="0"/>
          </a:p>
        </p:txBody>
      </p:sp>
      <p:sp>
        <p:nvSpPr>
          <p:cNvPr id="1544" name="textbox 1544"/>
          <p:cNvSpPr/>
          <p:nvPr/>
        </p:nvSpPr>
        <p:spPr>
          <a:xfrm>
            <a:off x="3432784" y="3426485"/>
            <a:ext cx="638809" cy="3797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indent="209550" algn="l" rtl="0" eaLnBrk="0">
              <a:lnSpc>
                <a:spcPct val="97000"/>
              </a:lnSpc>
            </a:pPr>
            <a:r>
              <a:rPr sz="1200" spc="-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sz="12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200" spc="1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</a:t>
            </a:r>
            <a:r>
              <a:rPr sz="1200" spc="0" dirty="0">
                <a:ln w="3175" cap="flat" cmpd="sng">
                  <a:solidFill>
                    <a:srgbClr val="2897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会场</a:t>
            </a:r>
            <a:endParaRPr lang="en-US" altLang="en-US" sz="1200" dirty="0"/>
          </a:p>
        </p:txBody>
      </p:sp>
      <p:sp>
        <p:nvSpPr>
          <p:cNvPr id="1545" name="path"/>
          <p:cNvSpPr/>
          <p:nvPr/>
        </p:nvSpPr>
        <p:spPr>
          <a:xfrm>
            <a:off x="3411577" y="4261522"/>
            <a:ext cx="327071" cy="342051"/>
          </a:xfrm>
          <a:custGeom>
            <a:avLst/>
            <a:gdLst/>
            <a:ahLst/>
            <a:cxnLst/>
            <a:rect l="0" t="0" r="0" b="0"/>
            <a:pathLst>
              <a:path w="515" h="538">
                <a:moveTo>
                  <a:pt x="7" y="6"/>
                </a:moveTo>
                <a:lnTo>
                  <a:pt x="507" y="531"/>
                </a:lnTo>
              </a:path>
            </a:pathLst>
          </a:custGeom>
          <a:noFill/>
          <a:ln w="12700" cap="flat">
            <a:solidFill>
              <a:srgbClr val="BFBFBF">
                <a:alpha val="100000"/>
              </a:srgbClr>
            </a:solidFill>
            <a:prstDash val="dash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textbox 1546"/>
          <p:cNvSpPr/>
          <p:nvPr/>
        </p:nvSpPr>
        <p:spPr>
          <a:xfrm>
            <a:off x="5419014" y="3421837"/>
            <a:ext cx="535305" cy="3873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indent="102235" algn="l" rtl="0" eaLnBrk="0">
              <a:lnSpc>
                <a:spcPct val="99000"/>
              </a:lnSpc>
            </a:pPr>
            <a:r>
              <a:rPr sz="1200" spc="-2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</a:t>
            </a:r>
            <a:r>
              <a:rPr sz="1200" spc="0" dirty="0"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spc="-1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200" spc="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D模型</a:t>
            </a:r>
            <a:endParaRPr lang="en-US" altLang="en-US" sz="1200" dirty="0"/>
          </a:p>
        </p:txBody>
      </p:sp>
      <p:grpSp>
        <p:nvGrpSpPr>
          <p:cNvPr id="234" name="group 234"/>
          <p:cNvGrpSpPr/>
          <p:nvPr/>
        </p:nvGrpSpPr>
        <p:grpSpPr>
          <a:xfrm rot="21600000">
            <a:off x="250825" y="2014677"/>
            <a:ext cx="2522474" cy="1882686"/>
            <a:chOff x="0" y="0"/>
            <a:chExt cx="2522474" cy="1882686"/>
          </a:xfrm>
        </p:grpSpPr>
        <p:sp>
          <p:nvSpPr>
            <p:cNvPr id="1547" name="rect"/>
            <p:cNvSpPr/>
            <p:nvPr/>
          </p:nvSpPr>
          <p:spPr>
            <a:xfrm>
              <a:off x="0" y="11849"/>
              <a:ext cx="2522474" cy="1870836"/>
            </a:xfrm>
            <a:prstGeom prst="rect">
              <a:avLst/>
            </a:prstGeom>
            <a:solidFill>
              <a:srgbClr val="0081F0">
                <a:alpha val="2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8" name="textbox 1548"/>
            <p:cNvSpPr/>
            <p:nvPr/>
          </p:nvSpPr>
          <p:spPr>
            <a:xfrm>
              <a:off x="300251" y="92157"/>
              <a:ext cx="2186939" cy="175704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indent="635" algn="l" rtl="0" eaLnBrk="0">
                <a:lnSpc>
                  <a:spcPct val="135000"/>
                </a:lnSpc>
              </a:pP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技术打造虚拟主播介绍商品信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息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spc="10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并提供客服服务，可实现直播24小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不间断，为客户提供更灵活的观看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间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与更方便的购物服</a:t>
              </a:r>
              <a:r>
                <a:rPr sz="900" spc="4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务</a:t>
              </a:r>
              <a:endParaRPr lang="en-US" altLang="en-US" sz="900" dirty="0"/>
            </a:p>
            <a:p>
              <a:pPr marL="22860" indent="-10160" algn="l" rtl="0" eaLnBrk="0">
                <a:lnSpc>
                  <a:spcPct val="126000"/>
                </a:lnSpc>
                <a:spcBef>
                  <a:spcPts val="405"/>
                </a:spcBef>
              </a:pP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虚拟主播人设可控性强，因主播自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身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 </a:t>
              </a:r>
              <a:r>
                <a:rPr sz="900" spc="10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因导致品牌受损的几率</a:t>
              </a:r>
              <a:r>
                <a:rPr sz="900" spc="4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</a:t>
              </a:r>
              <a:endParaRPr lang="en-US" altLang="en-US" sz="900" dirty="0"/>
            </a:p>
            <a:p>
              <a:pPr algn="l" rtl="0" eaLnBrk="0">
                <a:lnSpc>
                  <a:spcPct val="111000"/>
                </a:lnSpc>
              </a:pPr>
              <a:endParaRPr lang="en-US" altLang="en-US" sz="300" dirty="0"/>
            </a:p>
            <a:p>
              <a:pPr marL="13335" indent="-635" algn="l" rtl="0" eaLnBrk="0">
                <a:lnSpc>
                  <a:spcPct val="132000"/>
                </a:lnSpc>
                <a:spcBef>
                  <a:spcPts val="0"/>
                </a:spcBef>
              </a:pP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虚拟主播易于拉近品牌与年轻消费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者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距离，同时构建元宇宙潮流下的品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牌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象，为未来多元化的虚拟世界打下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础</a:t>
              </a:r>
              <a:endParaRPr lang="en-US" altLang="en-US" sz="900" dirty="0"/>
            </a:p>
          </p:txBody>
        </p:sp>
        <p:sp>
          <p:nvSpPr>
            <p:cNvPr id="1549" name="rect"/>
            <p:cNvSpPr/>
            <p:nvPr/>
          </p:nvSpPr>
          <p:spPr>
            <a:xfrm>
              <a:off x="0" y="0"/>
              <a:ext cx="74060" cy="765479"/>
            </a:xfrm>
            <a:prstGeom prst="rect">
              <a:avLst/>
            </a:pr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550" name="picture 15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30371" y="2201925"/>
            <a:ext cx="383160" cy="522951"/>
          </a:xfrm>
          <a:prstGeom prst="rect">
            <a:avLst/>
          </a:prstGeom>
        </p:spPr>
      </p:pic>
      <p:pic>
        <p:nvPicPr>
          <p:cNvPr id="1551" name="picture 15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23717" y="1717547"/>
            <a:ext cx="3749294" cy="2782913"/>
          </a:xfrm>
          <a:prstGeom prst="rect">
            <a:avLst/>
          </a:prstGeom>
        </p:spPr>
      </p:pic>
      <p:sp>
        <p:nvSpPr>
          <p:cNvPr id="1552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3" name="textbox 1553"/>
          <p:cNvSpPr/>
          <p:nvPr/>
        </p:nvSpPr>
        <p:spPr>
          <a:xfrm>
            <a:off x="-12700" y="124277"/>
            <a:ext cx="8827134" cy="11055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5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5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5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sz="3000" b="1" spc="5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3000" spc="5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3000" b="1" spc="5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sz="3000" b="1" spc="0" baseline="3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1900" spc="5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spc="5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，拓展电商展</a:t>
            </a:r>
            <a:r>
              <a:rPr sz="3000" spc="1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r>
              <a:rPr sz="3000" spc="0" baseline="3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lang="en-US" altLang="en-US" sz="1950" dirty="0"/>
          </a:p>
          <a:p>
            <a:pPr algn="l" rtl="0" eaLnBrk="0">
              <a:lnSpc>
                <a:spcPct val="105000"/>
              </a:lnSpc>
            </a:pPr>
            <a:endParaRPr lang="en-US" altLang="en-US" sz="1200" dirty="0"/>
          </a:p>
          <a:p>
            <a:pPr marL="445770" algn="l" rtl="0" eaLnBrk="0">
              <a:lnSpc>
                <a:spcPct val="97000"/>
              </a:lnSpc>
              <a:spcBef>
                <a:spcPts val="0"/>
              </a:spcBef>
              <a:tabLst>
                <a:tab pos="53340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图像生成3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模型技术为传统电商提供多维度的展示空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</a:t>
            </a:r>
            <a:endParaRPr lang="en-US" altLang="en-US" sz="1200" dirty="0"/>
          </a:p>
        </p:txBody>
      </p:sp>
      <p:pic>
        <p:nvPicPr>
          <p:cNvPr id="1554" name="picture 15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3146" y="1062280"/>
            <a:ext cx="88416" cy="100785"/>
          </a:xfrm>
          <a:prstGeom prst="rect">
            <a:avLst/>
          </a:prstGeom>
        </p:spPr>
      </p:pic>
      <p:sp>
        <p:nvSpPr>
          <p:cNvPr id="1555" name="path"/>
          <p:cNvSpPr/>
          <p:nvPr/>
        </p:nvSpPr>
        <p:spPr>
          <a:xfrm>
            <a:off x="60691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36" name="group 236"/>
          <p:cNvGrpSpPr/>
          <p:nvPr/>
        </p:nvGrpSpPr>
        <p:grpSpPr>
          <a:xfrm rot="21600000">
            <a:off x="6592951" y="1474419"/>
            <a:ext cx="2226944" cy="1434134"/>
            <a:chOff x="0" y="0"/>
            <a:chExt cx="2226944" cy="1434134"/>
          </a:xfrm>
        </p:grpSpPr>
        <p:sp>
          <p:nvSpPr>
            <p:cNvPr id="1556" name="rect"/>
            <p:cNvSpPr/>
            <p:nvPr/>
          </p:nvSpPr>
          <p:spPr>
            <a:xfrm>
              <a:off x="0" y="50"/>
              <a:ext cx="2226944" cy="1434083"/>
            </a:xfrm>
            <a:prstGeom prst="rect">
              <a:avLst/>
            </a:prstGeom>
            <a:solidFill>
              <a:srgbClr val="004E97">
                <a:alpha val="2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57" name="textbox 1557"/>
            <p:cNvSpPr/>
            <p:nvPr/>
          </p:nvSpPr>
          <p:spPr>
            <a:xfrm>
              <a:off x="45947" y="40231"/>
              <a:ext cx="2073910" cy="136588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</a:pPr>
              <a:endParaRPr lang="en-US" altLang="en-US" sz="100" dirty="0"/>
            </a:p>
            <a:p>
              <a:pPr marL="236220" indent="-223520" algn="l" rtl="0" eaLnBrk="0">
                <a:lnSpc>
                  <a:spcPct val="135000"/>
                </a:lnSpc>
                <a:spcBef>
                  <a:spcPts val="0"/>
                </a:spcBef>
              </a:pPr>
              <a:r>
                <a:rPr sz="900" spc="80" dirty="0">
                  <a:solidFill>
                    <a:srgbClr val="2626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  </a:t>
              </a:r>
              <a:r>
                <a:rPr sz="900" spc="8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基于不同角度的商品图像，借</a:t>
              </a:r>
              <a:r>
                <a:rPr sz="900" spc="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助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spc="8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视觉生成算法生成商品3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900" spc="8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720° 全方位展示商品，减少</a:t>
              </a:r>
              <a:r>
                <a:rPr sz="900" spc="3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费者选品与沟通时</a:t>
              </a:r>
              <a:r>
                <a:rPr sz="900" spc="3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间</a:t>
              </a:r>
              <a:endParaRPr lang="en-US" altLang="en-US" sz="900" dirty="0"/>
            </a:p>
            <a:p>
              <a:pPr algn="l" rtl="0" eaLnBrk="0">
                <a:lnSpc>
                  <a:spcPct val="112000"/>
                </a:lnSpc>
              </a:pPr>
              <a:endParaRPr lang="en-US" altLang="en-US" sz="300" dirty="0"/>
            </a:p>
            <a:p>
              <a:pPr marL="235585" indent="-222885" algn="l" rtl="0" eaLnBrk="0">
                <a:lnSpc>
                  <a:spcPct val="132000"/>
                </a:lnSpc>
                <a:spcBef>
                  <a:spcPts val="0"/>
                </a:spcBef>
              </a:pP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   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商品模型提供线上虚拟“试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穿、看、戴”，高度还原商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实效果，减小订单退换货</a:t>
              </a:r>
              <a:r>
                <a:rPr sz="900" spc="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率</a:t>
              </a:r>
              <a:endParaRPr lang="en-US" altLang="en-US" sz="900" dirty="0"/>
            </a:p>
          </p:txBody>
        </p:sp>
        <p:sp>
          <p:nvSpPr>
            <p:cNvPr id="1558" name="rect"/>
            <p:cNvSpPr/>
            <p:nvPr/>
          </p:nvSpPr>
          <p:spPr>
            <a:xfrm>
              <a:off x="2145918" y="0"/>
              <a:ext cx="74059" cy="765479"/>
            </a:xfrm>
            <a:prstGeom prst="rect">
              <a:avLst/>
            </a:pr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38" name="group 238"/>
          <p:cNvGrpSpPr/>
          <p:nvPr/>
        </p:nvGrpSpPr>
        <p:grpSpPr>
          <a:xfrm rot="21600000">
            <a:off x="6573011" y="3341357"/>
            <a:ext cx="2226945" cy="1261732"/>
            <a:chOff x="0" y="0"/>
            <a:chExt cx="2226945" cy="1261732"/>
          </a:xfrm>
        </p:grpSpPr>
        <p:sp>
          <p:nvSpPr>
            <p:cNvPr id="1559" name="rect"/>
            <p:cNvSpPr/>
            <p:nvPr/>
          </p:nvSpPr>
          <p:spPr>
            <a:xfrm>
              <a:off x="0" y="12"/>
              <a:ext cx="2226945" cy="1261719"/>
            </a:xfrm>
            <a:prstGeom prst="rect">
              <a:avLst/>
            </a:prstGeom>
            <a:solidFill>
              <a:srgbClr val="B3DEFF">
                <a:alpha val="2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0" name="textbox 1560"/>
            <p:cNvSpPr/>
            <p:nvPr/>
          </p:nvSpPr>
          <p:spPr>
            <a:xfrm>
              <a:off x="21690" y="80689"/>
              <a:ext cx="2155825" cy="116331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lang="en-US" altLang="en-US" sz="100" dirty="0"/>
            </a:p>
            <a:p>
              <a:pPr marL="12700" algn="l" rtl="0" eaLnBrk="0">
                <a:lnSpc>
                  <a:spcPts val="1155"/>
                </a:lnSpc>
              </a:pP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  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通过从2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图像构建3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场景</a:t>
              </a:r>
              <a:r>
                <a:rPr sz="900" spc="5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endParaRPr lang="en-US" altLang="en-US" sz="900" dirty="0"/>
            </a:p>
            <a:p>
              <a:pPr algn="l" rtl="0" eaLnBrk="0">
                <a:lnSpc>
                  <a:spcPct val="111000"/>
                </a:lnSpc>
              </a:pPr>
              <a:endParaRPr lang="en-US" altLang="en-US" sz="300" dirty="0"/>
            </a:p>
            <a:p>
              <a:pPr marL="234950" indent="1270" algn="l" rtl="0" eaLnBrk="0">
                <a:lnSpc>
                  <a:spcPct val="137000"/>
                </a:lnSpc>
                <a:spcBef>
                  <a:spcPts val="5"/>
                </a:spcBef>
              </a:pP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技术，降低商家搭建3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线上</a:t>
              </a:r>
              <a:r>
                <a:rPr sz="900" spc="3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购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物空间的门槛与成本。商家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向    </a:t>
              </a:r>
              <a:r>
                <a:rPr sz="900" spc="7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消费者提供线上沉浸式购物体验</a:t>
              </a:r>
              <a:r>
                <a:rPr sz="900" spc="6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可降低门店扩张成本，扩大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</a:t>
              </a:r>
              <a:r>
                <a:rPr sz="90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牌    </a:t>
              </a:r>
              <a:r>
                <a:rPr sz="900" spc="1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知名</a:t>
              </a:r>
              <a:r>
                <a:rPr sz="900" spc="9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度</a:t>
              </a:r>
              <a:endParaRPr lang="en-US" altLang="en-US" sz="900" dirty="0"/>
            </a:p>
          </p:txBody>
        </p:sp>
        <p:sp>
          <p:nvSpPr>
            <p:cNvPr id="1561" name="rect"/>
            <p:cNvSpPr/>
            <p:nvPr/>
          </p:nvSpPr>
          <p:spPr>
            <a:xfrm>
              <a:off x="2145919" y="0"/>
              <a:ext cx="74059" cy="765479"/>
            </a:xfrm>
            <a:prstGeom prst="rect">
              <a:avLst/>
            </a:prstGeom>
            <a:solidFill>
              <a:srgbClr val="B3DEFF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62" name="textbox 1562"/>
          <p:cNvSpPr/>
          <p:nvPr/>
        </p:nvSpPr>
        <p:spPr>
          <a:xfrm>
            <a:off x="420420" y="1300937"/>
            <a:ext cx="5324475" cy="438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  <a:tabLst>
                <a:tab pos="1003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1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虚拟合成主播为客户提供更及时、可靠、亲和的服务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endParaRPr lang="en-US" altLang="en-US" sz="1200" dirty="0"/>
          </a:p>
          <a:p>
            <a:pPr algn="l" rtl="0" eaLnBrk="0">
              <a:lnSpc>
                <a:spcPct val="103000"/>
              </a:lnSpc>
            </a:pPr>
            <a:endParaRPr lang="en-US" altLang="en-US" sz="500" dirty="0"/>
          </a:p>
          <a:p>
            <a:pPr algn="r" rtl="0" eaLnBrk="0">
              <a:lnSpc>
                <a:spcPts val="1240"/>
              </a:lnSpc>
              <a:spcBef>
                <a:spcPts val="0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图63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对有助于为电商行业降本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增效</a:t>
            </a:r>
            <a:endParaRPr lang="en-US" altLang="en-US" sz="1000" dirty="0"/>
          </a:p>
        </p:txBody>
      </p:sp>
      <p:pic>
        <p:nvPicPr>
          <p:cNvPr id="1563" name="picture 15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33120" y="1336802"/>
            <a:ext cx="88239" cy="100584"/>
          </a:xfrm>
          <a:prstGeom prst="rect">
            <a:avLst/>
          </a:prstGeom>
        </p:spPr>
      </p:pic>
      <p:sp>
        <p:nvSpPr>
          <p:cNvPr id="1565" name="textbox 1565"/>
          <p:cNvSpPr/>
          <p:nvPr/>
        </p:nvSpPr>
        <p:spPr>
          <a:xfrm>
            <a:off x="390779" y="4550003"/>
            <a:ext cx="2199639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料来源：中国信通院，国泰君安证券研究</a:t>
            </a:r>
            <a:endParaRPr lang="en-US" altLang="en-US" sz="900" dirty="0"/>
          </a:p>
        </p:txBody>
      </p:sp>
      <p:pic>
        <p:nvPicPr>
          <p:cNvPr id="1567" name="picture 15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734053" y="4576432"/>
            <a:ext cx="2896997" cy="76200"/>
          </a:xfrm>
          <a:prstGeom prst="rect">
            <a:avLst/>
          </a:prstGeom>
        </p:spPr>
      </p:pic>
      <p:pic>
        <p:nvPicPr>
          <p:cNvPr id="1569" name="picture 156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177660" y="2060465"/>
            <a:ext cx="444146" cy="330944"/>
          </a:xfrm>
          <a:prstGeom prst="rect">
            <a:avLst/>
          </a:prstGeom>
        </p:spPr>
      </p:pic>
      <p:sp>
        <p:nvSpPr>
          <p:cNvPr id="1570" name="textbox 1570"/>
          <p:cNvSpPr/>
          <p:nvPr/>
        </p:nvSpPr>
        <p:spPr>
          <a:xfrm>
            <a:off x="328674" y="2910320"/>
            <a:ext cx="63500" cy="5937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355"/>
              </a:lnSpc>
            </a:pPr>
            <a:r>
              <a:rPr sz="90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lang="en-US" altLang="en-US" sz="900" dirty="0"/>
          </a:p>
          <a:p>
            <a:pPr algn="l" rtl="0" eaLnBrk="0">
              <a:lnSpc>
                <a:spcPct val="124000"/>
              </a:lnSpc>
            </a:pPr>
            <a:endParaRPr lang="en-US" altLang="en-US" sz="1000" dirty="0"/>
          </a:p>
          <a:p>
            <a:pPr algn="l" rtl="0" eaLnBrk="0">
              <a:lnSpc>
                <a:spcPct val="115000"/>
              </a:lnSpc>
            </a:pPr>
            <a:endParaRPr lang="en-US" altLang="en-US" sz="200" dirty="0"/>
          </a:p>
          <a:p>
            <a:pPr marL="12700" algn="l" rtl="0" eaLnBrk="0">
              <a:lnSpc>
                <a:spcPts val="1355"/>
              </a:lnSpc>
              <a:spcBef>
                <a:spcPts val="0"/>
              </a:spcBef>
            </a:pPr>
            <a:r>
              <a:rPr sz="90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lang="en-US" altLang="en-US" sz="900" dirty="0"/>
          </a:p>
        </p:txBody>
      </p:sp>
      <p:sp>
        <p:nvSpPr>
          <p:cNvPr id="1571" name="textbox 1571"/>
          <p:cNvSpPr/>
          <p:nvPr/>
        </p:nvSpPr>
        <p:spPr>
          <a:xfrm>
            <a:off x="328674" y="2117459"/>
            <a:ext cx="63500" cy="1974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355"/>
              </a:lnSpc>
            </a:pPr>
            <a:r>
              <a:rPr sz="900" spc="0" dirty="0">
                <a:solidFill>
                  <a:srgbClr val="2626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lang="en-US" altLang="en-US" sz="900" dirty="0"/>
          </a:p>
        </p:txBody>
      </p:sp>
      <p:sp>
        <p:nvSpPr>
          <p:cNvPr id="1572" name="rect"/>
          <p:cNvSpPr/>
          <p:nvPr/>
        </p:nvSpPr>
        <p:spPr>
          <a:xfrm>
            <a:off x="1655254" y="4727206"/>
            <a:ext cx="9525" cy="179997"/>
          </a:xfrm>
          <a:prstGeom prst="rect">
            <a:avLst/>
          </a:prstGeom>
          <a:solidFill>
            <a:srgbClr val="999999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picture 15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574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5" name="textbox 1575"/>
          <p:cNvSpPr/>
          <p:nvPr/>
        </p:nvSpPr>
        <p:spPr>
          <a:xfrm>
            <a:off x="-12700" y="124277"/>
            <a:ext cx="8827134" cy="161543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5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打破传统娱乐体验</a:t>
            </a:r>
            <a:r>
              <a:rPr sz="3000" spc="7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r>
              <a:rPr sz="3000" spc="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</a:t>
            </a:r>
            <a:endParaRPr lang="en-US" altLang="en-US" sz="1950" dirty="0"/>
          </a:p>
          <a:p>
            <a:pPr marL="367665" algn="l" rtl="0" eaLnBrk="0">
              <a:lnSpc>
                <a:spcPct val="89000"/>
              </a:lnSpc>
              <a:spcBef>
                <a:spcPts val="905"/>
              </a:spcBef>
              <a:tabLst>
                <a:tab pos="4559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技术打破物理边界，使粉丝可与偶像亲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互动，并形成新的发展点</a:t>
            </a:r>
            <a:endParaRPr lang="en-US" altLang="en-US" sz="1200" dirty="0"/>
          </a:p>
          <a:p>
            <a:pPr marL="367665" algn="l" rtl="0" eaLnBrk="0">
              <a:lnSpc>
                <a:spcPts val="2160"/>
              </a:lnSpc>
              <a:tabLst>
                <a:tab pos="45593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为用户打开虚拟世界入口，通过趣味方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体验虚拟世界</a:t>
            </a:r>
            <a:endParaRPr lang="en-US" altLang="en-US" sz="1200" dirty="0"/>
          </a:p>
          <a:p>
            <a:pPr algn="l" rtl="0" eaLnBrk="0">
              <a:lnSpc>
                <a:spcPct val="101000"/>
              </a:lnSpc>
            </a:pPr>
            <a:endParaRPr lang="en-US" altLang="en-US" sz="1100" dirty="0"/>
          </a:p>
          <a:p>
            <a:pPr marL="2444750" algn="l" rtl="0" eaLnBrk="0">
              <a:lnSpc>
                <a:spcPts val="1240"/>
              </a:lnSpc>
              <a:spcBef>
                <a:spcPts val="0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图64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在娱乐领域也有诸多赋能点，有助于进一步提升产业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endParaRPr lang="en-US" altLang="en-US" sz="1000" dirty="0"/>
          </a:p>
        </p:txBody>
      </p:sp>
      <p:pic>
        <p:nvPicPr>
          <p:cNvPr id="1576" name="picture 15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5091" y="1260982"/>
            <a:ext cx="88239" cy="100584"/>
          </a:xfrm>
          <a:prstGeom prst="rect">
            <a:avLst/>
          </a:prstGeom>
        </p:spPr>
      </p:pic>
      <p:pic>
        <p:nvPicPr>
          <p:cNvPr id="1577" name="picture 15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5091" y="986663"/>
            <a:ext cx="88239" cy="100584"/>
          </a:xfrm>
          <a:prstGeom prst="rect">
            <a:avLst/>
          </a:prstGeom>
        </p:spPr>
      </p:pic>
      <p:sp>
        <p:nvSpPr>
          <p:cNvPr id="1578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79" name="picture 15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24479" y="3392973"/>
            <a:ext cx="622432" cy="234485"/>
          </a:xfrm>
          <a:prstGeom prst="rect">
            <a:avLst/>
          </a:prstGeom>
        </p:spPr>
      </p:pic>
      <p:pic>
        <p:nvPicPr>
          <p:cNvPr id="1580" name="picture 15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45583" y="2071497"/>
            <a:ext cx="1061465" cy="457200"/>
          </a:xfrm>
          <a:prstGeom prst="rect">
            <a:avLst/>
          </a:prstGeom>
        </p:spPr>
      </p:pic>
      <p:pic>
        <p:nvPicPr>
          <p:cNvPr id="1581" name="picture 15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48033" y="1785175"/>
            <a:ext cx="3204634" cy="2520137"/>
          </a:xfrm>
          <a:prstGeom prst="rect">
            <a:avLst/>
          </a:prstGeom>
        </p:spPr>
      </p:pic>
      <p:sp>
        <p:nvSpPr>
          <p:cNvPr id="1582" name="textbox 1582"/>
          <p:cNvSpPr/>
          <p:nvPr/>
        </p:nvSpPr>
        <p:spPr>
          <a:xfrm>
            <a:off x="4231208" y="2173681"/>
            <a:ext cx="1555114" cy="2033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趣味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</a:t>
            </a:r>
            <a:endParaRPr lang="en-US" altLang="en-US" sz="1200" dirty="0"/>
          </a:p>
          <a:p>
            <a:pPr marL="13335" algn="l" rtl="0" eaLnBrk="0">
              <a:lnSpc>
                <a:spcPct val="97000"/>
              </a:lnSpc>
              <a:spcBef>
                <a:spcPts val="30"/>
              </a:spcBef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音视频</a:t>
            </a:r>
            <a:endParaRPr lang="en-US" altLang="en-US" sz="1200" dirty="0"/>
          </a:p>
          <a:p>
            <a:pPr marL="167005" algn="l" rtl="0" eaLnBrk="0">
              <a:lnSpc>
                <a:spcPct val="97000"/>
              </a:lnSpc>
              <a:spcBef>
                <a:spcPts val="50"/>
              </a:spcBef>
            </a:pPr>
            <a:r>
              <a:rPr sz="1200" spc="-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en-US" altLang="en-US" sz="1200" dirty="0"/>
          </a:p>
          <a:p>
            <a:pPr algn="l" rtl="0" eaLnBrk="0">
              <a:lnSpc>
                <a:spcPct val="197000"/>
              </a:lnSpc>
            </a:pPr>
            <a:endParaRPr lang="en-US" altLang="en-US" sz="1000" dirty="0"/>
          </a:p>
          <a:p>
            <a:pPr marL="20955" algn="l" rtl="0" eaLnBrk="0">
              <a:lnSpc>
                <a:spcPts val="1405"/>
              </a:lnSpc>
              <a:spcBef>
                <a:spcPts val="545"/>
              </a:spcBef>
            </a:pPr>
            <a:r>
              <a:rPr sz="1800" spc="6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</a:t>
            </a:r>
            <a:r>
              <a:rPr sz="1800" spc="2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en-US" sz="1800" dirty="0"/>
          </a:p>
          <a:p>
            <a:pPr marL="20955" algn="l" rtl="0" eaLnBrk="0">
              <a:lnSpc>
                <a:spcPts val="2595"/>
              </a:lnSpc>
            </a:pPr>
            <a:r>
              <a:rPr sz="1800" spc="-60" dirty="0">
                <a:ln w="3175" cap="flat" cmpd="sng">
                  <a:solidFill>
                    <a:srgbClr val="004E97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4E9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+娱乐</a:t>
            </a:r>
            <a:endParaRPr lang="en-US" altLang="en-US" sz="18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101000"/>
              </a:lnSpc>
            </a:pPr>
            <a:endParaRPr lang="en-US" altLang="en-US" sz="300" dirty="0"/>
          </a:p>
          <a:p>
            <a:pPr marL="800735" indent="-126365" algn="l" rtl="0" eaLnBrk="0">
              <a:lnSpc>
                <a:spcPct val="103000"/>
              </a:lnSpc>
              <a:spcBef>
                <a:spcPts val="0"/>
              </a:spcBef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C端用户</a:t>
            </a: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化身</a:t>
            </a:r>
            <a:endParaRPr lang="en-US" altLang="en-US" sz="1200" dirty="0"/>
          </a:p>
        </p:txBody>
      </p:sp>
      <p:grpSp>
        <p:nvGrpSpPr>
          <p:cNvPr id="240" name="group 240"/>
          <p:cNvGrpSpPr/>
          <p:nvPr/>
        </p:nvGrpSpPr>
        <p:grpSpPr>
          <a:xfrm rot="21600000">
            <a:off x="758748" y="2859696"/>
            <a:ext cx="2099310" cy="1395476"/>
            <a:chOff x="0" y="0"/>
            <a:chExt cx="2099310" cy="1395476"/>
          </a:xfrm>
        </p:grpSpPr>
        <p:sp>
          <p:nvSpPr>
            <p:cNvPr id="1583" name="rect"/>
            <p:cNvSpPr/>
            <p:nvPr/>
          </p:nvSpPr>
          <p:spPr>
            <a:xfrm>
              <a:off x="0" y="0"/>
              <a:ext cx="2099310" cy="1395476"/>
            </a:xfrm>
            <a:prstGeom prst="rect">
              <a:avLst/>
            </a:prstGeom>
            <a:solidFill>
              <a:srgbClr val="59C3F1">
                <a:alpha val="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4" name="textbox 1584"/>
            <p:cNvSpPr/>
            <p:nvPr/>
          </p:nvSpPr>
          <p:spPr>
            <a:xfrm>
              <a:off x="206517" y="93713"/>
              <a:ext cx="1624330" cy="11474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000"/>
                </a:lnSpc>
              </a:pPr>
              <a:endParaRPr lang="en-US" altLang="en-US" sz="100" dirty="0"/>
            </a:p>
            <a:p>
              <a:pPr marL="235585" indent="-219075" algn="l" rtl="0" eaLnBrk="0">
                <a:lnSpc>
                  <a:spcPct val="114000"/>
                </a:lnSpc>
              </a:pPr>
              <a:r>
                <a:rPr sz="900" spc="-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    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通过粉丝创作词曲，真人提 </a:t>
              </a:r>
              <a:r>
                <a:rPr sz="900" spc="-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供声源， 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sz="900" spc="-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语音软件合成歌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曲的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方式，实现偶像粉丝共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创，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增加粉丝黏性</a:t>
              </a:r>
              <a:endParaRPr lang="en-US" altLang="en-US" sz="900" dirty="0"/>
            </a:p>
            <a:p>
              <a:pPr marL="236855" indent="-224155" algn="l" rtl="0" eaLnBrk="0">
                <a:lnSpc>
                  <a:spcPct val="113000"/>
                </a:lnSpc>
                <a:spcBef>
                  <a:spcPts val="235"/>
                </a:spcBef>
              </a:pPr>
              <a:r>
                <a:rPr sz="900" spc="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   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sz="900" spc="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合成音视频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及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 3D建模 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等技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术支撑虚拟偶像在多样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场景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下进行内容变现</a:t>
              </a:r>
              <a:endParaRPr lang="en-US" altLang="en-US" sz="900" dirty="0"/>
            </a:p>
          </p:txBody>
        </p:sp>
        <p:sp>
          <p:nvSpPr>
            <p:cNvPr id="1585" name="rect"/>
            <p:cNvSpPr/>
            <p:nvPr/>
          </p:nvSpPr>
          <p:spPr>
            <a:xfrm>
              <a:off x="0" y="38"/>
              <a:ext cx="74060" cy="765479"/>
            </a:xfrm>
            <a:prstGeom prst="rect">
              <a:avLst/>
            </a:prstGeom>
            <a:solidFill>
              <a:srgbClr val="59C3F1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86" name="textbox 1586"/>
          <p:cNvSpPr/>
          <p:nvPr/>
        </p:nvSpPr>
        <p:spPr>
          <a:xfrm>
            <a:off x="310832" y="4550003"/>
            <a:ext cx="8250555" cy="3841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9271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料来源：中国信通院，国泰君安证券研究</a:t>
            </a:r>
            <a:endParaRPr lang="en-US" altLang="en-US" sz="900" dirty="0"/>
          </a:p>
          <a:p>
            <a:pPr algn="l" rtl="0" eaLnBrk="0">
              <a:lnSpc>
                <a:spcPct val="109000"/>
              </a:lnSpc>
            </a:pPr>
            <a:endParaRPr lang="en-US" altLang="en-US" sz="300" dirty="0"/>
          </a:p>
        </p:txBody>
      </p:sp>
      <p:grpSp>
        <p:nvGrpSpPr>
          <p:cNvPr id="242" name="group 242"/>
          <p:cNvGrpSpPr/>
          <p:nvPr/>
        </p:nvGrpSpPr>
        <p:grpSpPr>
          <a:xfrm rot="21600000">
            <a:off x="6068948" y="1873008"/>
            <a:ext cx="2099328" cy="1003287"/>
            <a:chOff x="0" y="0"/>
            <a:chExt cx="2099328" cy="1003287"/>
          </a:xfrm>
        </p:grpSpPr>
        <p:sp>
          <p:nvSpPr>
            <p:cNvPr id="1588" name="rect"/>
            <p:cNvSpPr/>
            <p:nvPr/>
          </p:nvSpPr>
          <p:spPr>
            <a:xfrm>
              <a:off x="0" y="0"/>
              <a:ext cx="2099309" cy="1003287"/>
            </a:xfrm>
            <a:prstGeom prst="rect">
              <a:avLst/>
            </a:prstGeom>
            <a:solidFill>
              <a:srgbClr val="004E97">
                <a:alpha val="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89" name="textbox 1589"/>
            <p:cNvSpPr/>
            <p:nvPr/>
          </p:nvSpPr>
          <p:spPr>
            <a:xfrm>
              <a:off x="208381" y="180352"/>
              <a:ext cx="1564005" cy="655319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000"/>
                </a:lnSpc>
              </a:pPr>
              <a:endParaRPr lang="en-US" altLang="en-US" sz="100" dirty="0"/>
            </a:p>
            <a:p>
              <a:pPr marL="12700" indent="2540" algn="l" rtl="0" eaLnBrk="0">
                <a:lnSpc>
                  <a:spcPct val="115000"/>
                </a:lnSpc>
              </a:pPr>
              <a:r>
                <a:rPr sz="900" spc="-3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为用户提供趣味性A</a:t>
              </a:r>
              <a:r>
                <a:rPr sz="900" spc="-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GC</a:t>
              </a:r>
              <a:r>
                <a:rPr sz="900" spc="-3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应用，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spc="-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在图像视频方面如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sz="900" spc="-2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换脸， 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 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合影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；音频方面如语音变声器  等</a:t>
              </a:r>
              <a:endParaRPr lang="en-US" altLang="en-US" sz="900" dirty="0"/>
            </a:p>
          </p:txBody>
        </p:sp>
        <p:sp>
          <p:nvSpPr>
            <p:cNvPr id="1590" name="rect"/>
            <p:cNvSpPr/>
            <p:nvPr/>
          </p:nvSpPr>
          <p:spPr>
            <a:xfrm>
              <a:off x="2025268" y="2222"/>
              <a:ext cx="74059" cy="765479"/>
            </a:xfrm>
            <a:prstGeom prst="rect">
              <a:avLst/>
            </a:pr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44" name="group 244"/>
          <p:cNvGrpSpPr/>
          <p:nvPr/>
        </p:nvGrpSpPr>
        <p:grpSpPr>
          <a:xfrm rot="21600000">
            <a:off x="6314567" y="3557435"/>
            <a:ext cx="2099309" cy="1003287"/>
            <a:chOff x="0" y="0"/>
            <a:chExt cx="2099309" cy="1003287"/>
          </a:xfrm>
        </p:grpSpPr>
        <p:sp>
          <p:nvSpPr>
            <p:cNvPr id="1591" name="rect"/>
            <p:cNvSpPr/>
            <p:nvPr/>
          </p:nvSpPr>
          <p:spPr>
            <a:xfrm>
              <a:off x="0" y="0"/>
              <a:ext cx="2099309" cy="1003287"/>
            </a:xfrm>
            <a:prstGeom prst="rect">
              <a:avLst/>
            </a:prstGeom>
            <a:solidFill>
              <a:srgbClr val="0081F0">
                <a:alpha val="9803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92" name="textbox 1592"/>
            <p:cNvSpPr/>
            <p:nvPr/>
          </p:nvSpPr>
          <p:spPr>
            <a:xfrm>
              <a:off x="207467" y="180968"/>
              <a:ext cx="1516380" cy="652144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lang="en-US" altLang="en-US" sz="100" dirty="0"/>
            </a:p>
            <a:p>
              <a:pPr marL="12700" indent="635" algn="l" rtl="0" eaLnBrk="0">
                <a:lnSpc>
                  <a:spcPct val="114000"/>
                </a:lnSpc>
              </a:pP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通过用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户的一张图片，可自动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化生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成具有“我”个人特色的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形象，可在未来作为用户 </a:t>
              </a:r>
              <a:r>
                <a:rPr sz="900" spc="1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</a:t>
              </a:r>
              <a:r>
                <a:rPr sz="900" spc="0" dirty="0">
                  <a:solidFill>
                    <a:srgbClr val="003B7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世界中的数字化身</a:t>
              </a:r>
              <a:endParaRPr lang="en-US" altLang="en-US" sz="900" dirty="0"/>
            </a:p>
          </p:txBody>
        </p:sp>
        <p:sp>
          <p:nvSpPr>
            <p:cNvPr id="1593" name="rect"/>
            <p:cNvSpPr/>
            <p:nvPr/>
          </p:nvSpPr>
          <p:spPr>
            <a:xfrm>
              <a:off x="2025141" y="2273"/>
              <a:ext cx="74059" cy="765479"/>
            </a:xfrm>
            <a:prstGeom prst="rect">
              <a:avLst/>
            </a:pr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94" name="textbox 1594"/>
          <p:cNvSpPr/>
          <p:nvPr/>
        </p:nvSpPr>
        <p:spPr>
          <a:xfrm>
            <a:off x="3409873" y="3678377"/>
            <a:ext cx="638175" cy="5689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9000"/>
              </a:lnSpc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</a:t>
            </a: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8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偶像</a:t>
            </a:r>
            <a:r>
              <a:rPr sz="1200" spc="-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-8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spc="-4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</a:t>
            </a: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5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sz="1200" spc="5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</a:t>
            </a:r>
            <a:r>
              <a:rPr sz="1200" spc="3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picture 15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596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7" name="textbox 1597"/>
          <p:cNvSpPr/>
          <p:nvPr/>
        </p:nvSpPr>
        <p:spPr>
          <a:xfrm>
            <a:off x="-12700" y="124277"/>
            <a:ext cx="8827134" cy="16846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0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拓宽影视行业创意</a:t>
            </a:r>
            <a:r>
              <a:rPr sz="3000" spc="7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r>
              <a:rPr sz="3000" spc="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际</a:t>
            </a:r>
            <a:endParaRPr lang="en-US" altLang="en-US" sz="1950" dirty="0"/>
          </a:p>
          <a:p>
            <a:pPr marL="459105" algn="l" rtl="0" eaLnBrk="0">
              <a:lnSpc>
                <a:spcPct val="97000"/>
              </a:lnSpc>
              <a:spcBef>
                <a:spcPts val="1360"/>
              </a:spcBef>
              <a:tabLst>
                <a:tab pos="54610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技术以其内容多样性为作品内容带来更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灵感</a:t>
            </a:r>
            <a:endParaRPr lang="en-US" altLang="en-US" sz="1200" dirty="0"/>
          </a:p>
          <a:p>
            <a:pPr marL="459105" algn="l" rtl="0" eaLnBrk="0">
              <a:lnSpc>
                <a:spcPct val="97000"/>
              </a:lnSpc>
              <a:spcBef>
                <a:spcPts val="765"/>
              </a:spcBef>
              <a:tabLst>
                <a:tab pos="546100" algn="l"/>
              </a:tabLst>
            </a:pPr>
            <a:r>
              <a:rPr sz="1200" spc="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spc="20" dirty="0"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2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技术帮助拍摄突破物理限制，还原剧本</a:t>
            </a:r>
            <a:r>
              <a:rPr sz="1200" spc="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果，提高作品质量</a:t>
            </a:r>
            <a:endParaRPr lang="en-US" altLang="en-US" sz="1200" dirty="0"/>
          </a:p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marL="2682240" algn="l" rtl="0" eaLnBrk="0">
              <a:lnSpc>
                <a:spcPts val="1240"/>
              </a:lnSpc>
              <a:spcBef>
                <a:spcPts val="5"/>
              </a:spcBef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图65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在剧本创作、拍摄过程以及后期制作方面均有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益</a:t>
            </a:r>
            <a:endParaRPr lang="en-US" altLang="en-US" sz="1000" dirty="0"/>
          </a:p>
        </p:txBody>
      </p:sp>
      <p:pic>
        <p:nvPicPr>
          <p:cNvPr id="1598" name="picture 15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6227" y="1317371"/>
            <a:ext cx="88239" cy="100584"/>
          </a:xfrm>
          <a:prstGeom prst="rect">
            <a:avLst/>
          </a:prstGeom>
        </p:spPr>
      </p:pic>
      <p:pic>
        <p:nvPicPr>
          <p:cNvPr id="1599" name="picture 15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6227" y="1043051"/>
            <a:ext cx="88239" cy="100584"/>
          </a:xfrm>
          <a:prstGeom prst="rect">
            <a:avLst/>
          </a:prstGeom>
        </p:spPr>
      </p:pic>
      <p:sp>
        <p:nvSpPr>
          <p:cNvPr id="1600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1" name="textbox 1601"/>
          <p:cNvSpPr/>
          <p:nvPr/>
        </p:nvSpPr>
        <p:spPr>
          <a:xfrm>
            <a:off x="3309747" y="2504617"/>
            <a:ext cx="2411095" cy="2031364"/>
          </a:xfrm>
          <a:prstGeom prst="rect">
            <a:avLst/>
          </a:prstGeom>
          <a:solidFill>
            <a:srgbClr val="0081F0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lang="en-US" altLang="en-US" sz="1000" dirty="0"/>
          </a:p>
          <a:p>
            <a:pPr algn="l" rtl="0" eaLnBrk="0">
              <a:lnSpc>
                <a:spcPct val="7000"/>
              </a:lnSpc>
            </a:pPr>
            <a:endParaRPr lang="en-US" altLang="en-US" sz="100" dirty="0"/>
          </a:p>
          <a:p>
            <a:pPr marL="387350" indent="-219075" algn="l" rtl="0" eaLnBrk="0">
              <a:lnSpc>
                <a:spcPct val="137000"/>
              </a:lnSpc>
            </a:pP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减小演员自身局限对影视作</a:t>
            </a:r>
            <a:r>
              <a:rPr sz="90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影响，如通过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“数字复活”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故演员或替换劣迹艺人；减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员自身与角色的年龄差距并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拍摄高难度动作拍</a:t>
            </a:r>
            <a:r>
              <a:rPr sz="9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</a:t>
            </a:r>
            <a:endParaRPr lang="en-US" altLang="en-US" sz="900" dirty="0"/>
          </a:p>
          <a:p>
            <a:pPr algn="l" rtl="0" eaLnBrk="0">
              <a:lnSpc>
                <a:spcPct val="116000"/>
              </a:lnSpc>
            </a:pPr>
            <a:endParaRPr lang="en-US" altLang="en-US" sz="300" dirty="0"/>
          </a:p>
          <a:p>
            <a:pPr marL="387350" indent="-222885" algn="l" rtl="0" eaLnBrk="0">
              <a:lnSpc>
                <a:spcPct val="135000"/>
              </a:lnSpc>
            </a:pPr>
            <a:r>
              <a:rPr sz="9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通过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合成虚拟场景，将无</a:t>
            </a:r>
            <a:r>
              <a:rPr sz="90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拍的场景呈现出来，拓宽作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象力边界，给观众带来更好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       </a:t>
            </a:r>
            <a:r>
              <a:rPr sz="9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endParaRPr lang="en-US" altLang="en-US" sz="900" dirty="0"/>
          </a:p>
        </p:txBody>
      </p:sp>
      <p:grpSp>
        <p:nvGrpSpPr>
          <p:cNvPr id="246" name="group 246"/>
          <p:cNvGrpSpPr/>
          <p:nvPr/>
        </p:nvGrpSpPr>
        <p:grpSpPr>
          <a:xfrm rot="21600000">
            <a:off x="956868" y="1860677"/>
            <a:ext cx="6912812" cy="527557"/>
            <a:chOff x="0" y="0"/>
            <a:chExt cx="6912812" cy="527557"/>
          </a:xfrm>
        </p:grpSpPr>
        <p:sp>
          <p:nvSpPr>
            <p:cNvPr id="1602" name="path"/>
            <p:cNvSpPr/>
            <p:nvPr/>
          </p:nvSpPr>
          <p:spPr>
            <a:xfrm>
              <a:off x="0" y="253"/>
              <a:ext cx="2542362" cy="527304"/>
            </a:xfrm>
            <a:custGeom>
              <a:avLst/>
              <a:gdLst/>
              <a:ahLst/>
              <a:cxnLst/>
              <a:rect l="0" t="0" r="0" b="0"/>
              <a:pathLst>
                <a:path w="4003" h="830">
                  <a:moveTo>
                    <a:pt x="0" y="0"/>
                  </a:moveTo>
                  <a:lnTo>
                    <a:pt x="3588" y="0"/>
                  </a:lnTo>
                  <a:lnTo>
                    <a:pt x="4003" y="415"/>
                  </a:lnTo>
                  <a:lnTo>
                    <a:pt x="3588" y="830"/>
                  </a:lnTo>
                  <a:lnTo>
                    <a:pt x="0" y="830"/>
                  </a:lnTo>
                  <a:lnTo>
                    <a:pt x="415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E97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3" name="path"/>
            <p:cNvSpPr/>
            <p:nvPr/>
          </p:nvSpPr>
          <p:spPr>
            <a:xfrm>
              <a:off x="2257882" y="253"/>
              <a:ext cx="2710688" cy="526923"/>
            </a:xfrm>
            <a:custGeom>
              <a:avLst/>
              <a:gdLst/>
              <a:ahLst/>
              <a:cxnLst/>
              <a:rect l="0" t="0" r="0" b="0"/>
              <a:pathLst>
                <a:path w="4268" h="829">
                  <a:moveTo>
                    <a:pt x="0" y="0"/>
                  </a:moveTo>
                  <a:lnTo>
                    <a:pt x="3853" y="0"/>
                  </a:lnTo>
                  <a:lnTo>
                    <a:pt x="4268" y="415"/>
                  </a:lnTo>
                  <a:lnTo>
                    <a:pt x="3853" y="829"/>
                  </a:lnTo>
                  <a:lnTo>
                    <a:pt x="0" y="829"/>
                  </a:lnTo>
                  <a:lnTo>
                    <a:pt x="414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1F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4" name="path"/>
            <p:cNvSpPr/>
            <p:nvPr/>
          </p:nvSpPr>
          <p:spPr>
            <a:xfrm>
              <a:off x="4654880" y="0"/>
              <a:ext cx="2257932" cy="527176"/>
            </a:xfrm>
            <a:custGeom>
              <a:avLst/>
              <a:gdLst/>
              <a:ahLst/>
              <a:cxnLst/>
              <a:rect l="0" t="0" r="0" b="0"/>
              <a:pathLst>
                <a:path w="3555" h="830">
                  <a:moveTo>
                    <a:pt x="0" y="0"/>
                  </a:moveTo>
                  <a:lnTo>
                    <a:pt x="3140" y="0"/>
                  </a:lnTo>
                  <a:lnTo>
                    <a:pt x="3555" y="415"/>
                  </a:lnTo>
                  <a:lnTo>
                    <a:pt x="3140" y="830"/>
                  </a:lnTo>
                  <a:lnTo>
                    <a:pt x="0" y="830"/>
                  </a:lnTo>
                  <a:lnTo>
                    <a:pt x="415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C3F1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05" name="textbox 1605"/>
          <p:cNvSpPr/>
          <p:nvPr/>
        </p:nvSpPr>
        <p:spPr>
          <a:xfrm>
            <a:off x="1105890" y="2781998"/>
            <a:ext cx="2068829" cy="1630045"/>
          </a:xfrm>
          <a:prstGeom prst="rect">
            <a:avLst/>
          </a:prstGeom>
          <a:solidFill>
            <a:srgbClr val="004E97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290830" indent="0" algn="l" rtl="0" eaLnBrk="0">
              <a:lnSpc>
                <a:spcPct val="145000"/>
              </a:lnSpc>
              <a:spcBef>
                <a:spcPts val="5"/>
              </a:spcBef>
            </a:pPr>
            <a:r>
              <a:rPr sz="90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技术分析学习海</a:t>
            </a:r>
            <a:r>
              <a:rPr sz="9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剧本数据，并根据预设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  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格快速产生剧本，创作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  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再进行筛选与二次加工</a:t>
            </a:r>
            <a:r>
              <a:rPr sz="90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9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可极大缩短剧本创作周</a:t>
            </a:r>
            <a:r>
              <a:rPr sz="90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并激发创作者创造力，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  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发创作灵</a:t>
            </a:r>
            <a:r>
              <a:rPr sz="9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</a:t>
            </a:r>
            <a:endParaRPr lang="en-US" altLang="en-US" sz="900" dirty="0"/>
          </a:p>
        </p:txBody>
      </p:sp>
      <p:sp>
        <p:nvSpPr>
          <p:cNvPr id="1606" name="textbox 1606"/>
          <p:cNvSpPr/>
          <p:nvPr/>
        </p:nvSpPr>
        <p:spPr>
          <a:xfrm>
            <a:off x="5852286" y="2681020"/>
            <a:ext cx="1776729" cy="1853564"/>
          </a:xfrm>
          <a:prstGeom prst="rect">
            <a:avLst/>
          </a:prstGeom>
          <a:solidFill>
            <a:srgbClr val="59C3F1"/>
          </a:solidFill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1000" dirty="0"/>
          </a:p>
          <a:p>
            <a:pPr marL="417830" indent="-219075" algn="l" rtl="0" eaLnBrk="0">
              <a:lnSpc>
                <a:spcPct val="135000"/>
              </a:lnSpc>
              <a:spcBef>
                <a:spcPts val="5"/>
              </a:spcBef>
            </a:pP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利用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技术可实现</a:t>
            </a:r>
            <a:r>
              <a:rPr sz="900" spc="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视图像修复，还原</a:t>
            </a:r>
            <a:r>
              <a:rPr sz="90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提升清晰度等任务</a:t>
            </a:r>
            <a:r>
              <a:rPr sz="90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提升画面质</a:t>
            </a:r>
            <a:r>
              <a:rPr sz="90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endParaRPr lang="en-US" altLang="en-US" sz="900" dirty="0"/>
          </a:p>
          <a:p>
            <a:pPr marL="193675" algn="l" rtl="0" eaLnBrk="0">
              <a:lnSpc>
                <a:spcPts val="1150"/>
              </a:lnSpc>
              <a:spcBef>
                <a:spcPts val="410"/>
              </a:spcBef>
            </a:pP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快速生成电影预</a:t>
            </a:r>
            <a:r>
              <a:rPr sz="90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</a:t>
            </a:r>
            <a:endParaRPr lang="en-US" altLang="en-US" sz="900" dirty="0"/>
          </a:p>
          <a:p>
            <a:pPr algn="l" rtl="0" eaLnBrk="0">
              <a:lnSpc>
                <a:spcPct val="113000"/>
              </a:lnSpc>
            </a:pPr>
            <a:endParaRPr lang="en-US" altLang="en-US" sz="300" dirty="0"/>
          </a:p>
          <a:p>
            <a:pPr marL="417830" indent="-221615" algn="l" rtl="0" eaLnBrk="0">
              <a:lnSpc>
                <a:spcPct val="132000"/>
              </a:lnSpc>
              <a:spcBef>
                <a:spcPts val="0"/>
              </a:spcBef>
            </a:pP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 利用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技术加速</a:t>
            </a:r>
            <a:r>
              <a:rPr sz="90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       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影视内容到3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90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90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</a:t>
            </a:r>
            <a:r>
              <a:rPr sz="9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90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制速</a:t>
            </a:r>
            <a:r>
              <a:rPr sz="90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lang="en-US" altLang="en-US" sz="900" dirty="0"/>
          </a:p>
        </p:txBody>
      </p:sp>
      <p:sp>
        <p:nvSpPr>
          <p:cNvPr id="1607" name="textbox 1607"/>
          <p:cNvSpPr/>
          <p:nvPr/>
        </p:nvSpPr>
        <p:spPr>
          <a:xfrm>
            <a:off x="3720033" y="1952066"/>
            <a:ext cx="1706245" cy="38607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lang="en-US" altLang="en-US" sz="100" dirty="0"/>
          </a:p>
          <a:p>
            <a:pPr marL="622935" algn="l" rtl="0" eaLnBrk="0">
              <a:lnSpc>
                <a:spcPct val="97000"/>
              </a:lnSpc>
            </a:pP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拍摄中</a:t>
            </a:r>
            <a:endParaRPr lang="en-US" altLang="en-US" sz="1200" dirty="0"/>
          </a:p>
          <a:p>
            <a:pPr marL="12700" algn="l" rtl="0" eaLnBrk="0">
              <a:lnSpc>
                <a:spcPct val="97000"/>
              </a:lnSpc>
              <a:spcBef>
                <a:spcPts val="35"/>
              </a:spcBef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拓展角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色和场景创作空间</a:t>
            </a:r>
            <a:endParaRPr lang="en-US" altLang="en-US" sz="1200" dirty="0"/>
          </a:p>
        </p:txBody>
      </p:sp>
      <p:sp>
        <p:nvSpPr>
          <p:cNvPr id="1608" name="textbox 1608"/>
          <p:cNvSpPr/>
          <p:nvPr/>
        </p:nvSpPr>
        <p:spPr>
          <a:xfrm>
            <a:off x="5967348" y="1951685"/>
            <a:ext cx="1551305" cy="3879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700405" indent="-687705" algn="l" rtl="0" eaLnBrk="0">
              <a:lnSpc>
                <a:spcPct val="99000"/>
              </a:lnSpc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能视频剪辑，后期制</a:t>
            </a:r>
            <a:r>
              <a:rPr sz="120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en-US" sz="1200" dirty="0"/>
          </a:p>
        </p:txBody>
      </p:sp>
      <p:sp>
        <p:nvSpPr>
          <p:cNvPr id="1610" name="textbox 1610"/>
          <p:cNvSpPr/>
          <p:nvPr/>
        </p:nvSpPr>
        <p:spPr>
          <a:xfrm>
            <a:off x="488010" y="4965141"/>
            <a:ext cx="2199639" cy="1587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7000"/>
              </a:lnSpc>
            </a:pPr>
            <a:r>
              <a:rPr sz="9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</a:t>
            </a:r>
            <a:r>
              <a:rPr sz="9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料来源：中国信通院，国泰君安证券研究</a:t>
            </a:r>
            <a:endParaRPr lang="en-US" altLang="en-US" sz="900" dirty="0"/>
          </a:p>
        </p:txBody>
      </p:sp>
      <p:sp>
        <p:nvSpPr>
          <p:cNvPr id="1613" name="textbox 1613"/>
          <p:cNvSpPr/>
          <p:nvPr/>
        </p:nvSpPr>
        <p:spPr>
          <a:xfrm>
            <a:off x="1757684" y="2043512"/>
            <a:ext cx="942339" cy="204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1200" spc="1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</a:t>
            </a:r>
            <a:r>
              <a:rPr sz="1200" spc="0" dirty="0">
                <a:ln w="3175" cap="flat" cmpd="sng">
                  <a:solidFill>
                    <a:srgbClr val="FFFFFF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力剧本创作</a:t>
            </a:r>
            <a:endParaRPr lang="en-US" alt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5" name="picture 1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9144000" cy="5143498"/>
          </a:xfrm>
          <a:prstGeom prst="rect">
            <a:avLst/>
          </a:prstGeom>
        </p:spPr>
      </p:pic>
      <p:sp>
        <p:nvSpPr>
          <p:cNvPr id="1616" name="rect"/>
          <p:cNvSpPr/>
          <p:nvPr/>
        </p:nvSpPr>
        <p:spPr>
          <a:xfrm>
            <a:off x="0" y="411531"/>
            <a:ext cx="683996" cy="432003"/>
          </a:xfrm>
          <a:prstGeom prst="rect">
            <a:avLst/>
          </a:pr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17" name="textbox 1617"/>
          <p:cNvSpPr/>
          <p:nvPr/>
        </p:nvSpPr>
        <p:spPr>
          <a:xfrm>
            <a:off x="-12700" y="124277"/>
            <a:ext cx="8827134" cy="139318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lang="en-US" altLang="en-US" sz="100" dirty="0"/>
          </a:p>
          <a:p>
            <a:pPr algn="r" rtl="0" eaLnBrk="0">
              <a:lnSpc>
                <a:spcPts val="1225"/>
              </a:lnSpc>
            </a:pP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——生成式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7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迎来拐点，商用落地前景</a:t>
            </a:r>
            <a:r>
              <a:rPr sz="1000" spc="2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00" spc="0" dirty="0">
                <a:solidFill>
                  <a:srgbClr val="6464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</a:t>
            </a:r>
            <a:endParaRPr lang="en-US" altLang="en-US" sz="1000" dirty="0"/>
          </a:p>
          <a:p>
            <a:pPr marL="12700" algn="l" rtl="0" eaLnBrk="0">
              <a:lnSpc>
                <a:spcPct val="82000"/>
              </a:lnSpc>
              <a:spcBef>
                <a:spcPts val="1210"/>
              </a:spcBef>
              <a:tabLst>
                <a:tab pos="144780" algn="l"/>
              </a:tabLst>
            </a:pPr>
            <a:r>
              <a:rPr sz="310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4900" spc="80" baseline="-16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altLang="zh-CN" sz="4900" spc="80" baseline="-16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310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0" b="1" spc="0" baseline="5000" dirty="0">
                <a:solidFill>
                  <a:srgbClr val="0677D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AIGC</a:t>
            </a:r>
            <a:r>
              <a:rPr sz="3000" spc="8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促进各行业转型升</a:t>
            </a:r>
            <a:r>
              <a:rPr sz="3000" spc="10" baseline="500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endParaRPr lang="en-US" altLang="en-US" sz="1950" dirty="0"/>
          </a:p>
          <a:p>
            <a:pPr marL="444500" algn="l" rtl="0" eaLnBrk="0">
              <a:lnSpc>
                <a:spcPct val="97000"/>
              </a:lnSpc>
              <a:spcBef>
                <a:spcPts val="1235"/>
              </a:spcBef>
            </a:pPr>
            <a:r>
              <a:rPr sz="1200" spc="-10" dirty="0">
                <a:solidFill>
                  <a:srgbClr val="0677D5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1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200" spc="-1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技术在各行业数字内容相关领域均有发挥空</a:t>
            </a:r>
            <a:r>
              <a:rPr sz="1200" spc="0" dirty="0">
                <a:ln w="3175" cap="flat" cmpd="sng">
                  <a:solidFill>
                    <a:srgbClr val="0677D5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677D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</a:t>
            </a:r>
            <a:endParaRPr lang="en-US" altLang="en-US" sz="1200" dirty="0"/>
          </a:p>
          <a:p>
            <a:pPr algn="l" rtl="0" eaLnBrk="0">
              <a:lnSpc>
                <a:spcPct val="107000"/>
              </a:lnSpc>
            </a:pPr>
            <a:endParaRPr lang="en-US" altLang="en-US" sz="10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2515235" algn="l" rtl="0" eaLnBrk="0">
              <a:lnSpc>
                <a:spcPts val="1240"/>
              </a:lnSpc>
            </a:pP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图66 ：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在教育、金融、工业、医疗领域的应用优势如下图</a:t>
            </a:r>
            <a:r>
              <a:rPr sz="10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</a:t>
            </a:r>
            <a:r>
              <a:rPr sz="10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endParaRPr lang="en-US" altLang="en-US" sz="1000" dirty="0"/>
          </a:p>
        </p:txBody>
      </p:sp>
      <p:sp>
        <p:nvSpPr>
          <p:cNvPr id="1618" name="path"/>
          <p:cNvSpPr/>
          <p:nvPr/>
        </p:nvSpPr>
        <p:spPr>
          <a:xfrm>
            <a:off x="614531" y="411531"/>
            <a:ext cx="43200" cy="432003"/>
          </a:xfrm>
          <a:custGeom>
            <a:avLst/>
            <a:gdLst/>
            <a:ahLst/>
            <a:cxnLst/>
            <a:rect l="0" t="0" r="0" b="0"/>
            <a:pathLst>
              <a:path w="68" h="680">
                <a:moveTo>
                  <a:pt x="0" y="680"/>
                </a:moveTo>
                <a:lnTo>
                  <a:pt x="68" y="680"/>
                </a:lnTo>
                <a:lnTo>
                  <a:pt x="68" y="0"/>
                </a:lnTo>
                <a:lnTo>
                  <a:pt x="0" y="0"/>
                </a:lnTo>
                <a:lnTo>
                  <a:pt x="0" y="680"/>
                </a:lnTo>
                <a:close/>
              </a:path>
            </a:pathLst>
          </a:custGeom>
          <a:solidFill>
            <a:srgbClr val="0677D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19" name="picture 16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89504" y="1641347"/>
            <a:ext cx="3107436" cy="2875788"/>
          </a:xfrm>
          <a:prstGeom prst="rect">
            <a:avLst/>
          </a:prstGeom>
        </p:spPr>
      </p:pic>
      <p:graphicFrame>
        <p:nvGraphicFramePr>
          <p:cNvPr id="1620" name="table 1620"/>
          <p:cNvGraphicFramePr>
            <a:graphicFrameLocks noGrp="1"/>
          </p:cNvGraphicFramePr>
          <p:nvPr/>
        </p:nvGraphicFramePr>
        <p:xfrm>
          <a:off x="2966085" y="1798650"/>
          <a:ext cx="2947669" cy="2496185"/>
        </p:xfrm>
        <a:graphic>
          <a:graphicData uri="http://schemas.openxmlformats.org/drawingml/2006/table">
            <a:tbl>
              <a:tblPr/>
              <a:tblGrid>
                <a:gridCol w="94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6185">
                <a:tc>
                  <a:txBody>
                    <a:bodyPr/>
                    <a:lstStyle/>
                    <a:p>
                      <a:pPr marL="23749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200" spc="1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</a:t>
                      </a:r>
                      <a:r>
                        <a:rPr sz="1200" spc="10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育</a:t>
                      </a:r>
                      <a:endParaRPr lang="en-US" altLang="en-US" sz="1200" dirty="0"/>
                    </a:p>
                    <a:p>
                      <a:pPr marL="245110" indent="-170815" algn="l" rtl="0" eaLnBrk="0">
                        <a:lnSpc>
                          <a:spcPct val="104000"/>
                        </a:lnSpc>
                        <a:spcBef>
                          <a:spcPts val="1285"/>
                        </a:spcBef>
                      </a:pPr>
                      <a:r>
                        <a:rPr sz="9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赋予</a:t>
                      </a:r>
                      <a:r>
                        <a:rPr sz="9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教育材料     </a:t>
                      </a:r>
                      <a:r>
                        <a:rPr sz="90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</a:t>
                      </a:r>
                      <a:r>
                        <a:rPr sz="9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</a:t>
                      </a:r>
                      <a:r>
                        <a:rPr sz="9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力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00" dirty="0"/>
                    </a:p>
                    <a:p>
                      <a:pPr marL="240665" algn="l" rtl="0" eaLnBrk="0">
                        <a:lnSpc>
                          <a:spcPct val="97000"/>
                        </a:lnSpc>
                        <a:spcBef>
                          <a:spcPts val="365"/>
                        </a:spcBef>
                      </a:pPr>
                      <a:r>
                        <a:rPr sz="1200" spc="9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</a:t>
                      </a:r>
                      <a:r>
                        <a:rPr sz="1200" spc="7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疗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lang="en-US" altLang="en-US" sz="100" dirty="0"/>
                    </a:p>
                    <a:p>
                      <a:pPr marL="360680" indent="-286385" algn="l" rtl="0" eaLnBrk="0">
                        <a:lnSpc>
                          <a:spcPct val="112000"/>
                        </a:lnSpc>
                      </a:pPr>
                      <a:r>
                        <a:rPr sz="80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赋能诊疗全</a:t>
                      </a:r>
                      <a:r>
                        <a:rPr sz="80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过</a:t>
                      </a:r>
                      <a:r>
                        <a:rPr sz="8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sz="8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</a:t>
                      </a:r>
                      <a:endParaRPr lang="en-US" altLang="en-US" sz="800" dirty="0"/>
                    </a:p>
                  </a:txBody>
                  <a:tcPr marL="0" marR="0" marT="44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7211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00" spc="12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</a:t>
                      </a:r>
                      <a:r>
                        <a:rPr sz="1200" spc="1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融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39000"/>
                        </a:lnSpc>
                      </a:pPr>
                      <a:endParaRPr lang="en-US" altLang="en-US" sz="1000" dirty="0"/>
                    </a:p>
                    <a:p>
                      <a:pPr marL="230505" algn="l" rtl="0" eaLnBrk="0">
                        <a:lnSpc>
                          <a:spcPct val="97000"/>
                        </a:lnSpc>
                        <a:spcBef>
                          <a:spcPts val="275"/>
                        </a:spcBef>
                      </a:pPr>
                      <a:r>
                        <a:rPr sz="90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</a:t>
                      </a:r>
                      <a:r>
                        <a:rPr sz="9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现降本增效</a:t>
                      </a:r>
                      <a:endParaRPr lang="en-US" altLang="en-US" sz="9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00" dirty="0"/>
                    </a:p>
                    <a:p>
                      <a:pPr marL="326390" algn="l" rtl="0" eaLnBrk="0">
                        <a:lnSpc>
                          <a:spcPct val="91000"/>
                        </a:lnSpc>
                        <a:spcBef>
                          <a:spcPts val="360"/>
                        </a:spcBef>
                      </a:pPr>
                      <a:r>
                        <a:rPr sz="1200" spc="11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</a:t>
                      </a:r>
                      <a:r>
                        <a:rPr sz="1200" spc="100" dirty="0">
                          <a:ln w="3175" cap="flat" cmpd="sng">
                            <a:solidFill>
                              <a:srgbClr val="FFFFFF">
                                <a:alpha val="100000"/>
                              </a:srgbClr>
                            </a:solidFill>
                            <a:prstDash val="solid"/>
                            <a:miter lim="0"/>
                          </a:ln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100" dirty="0"/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lang="en-US" altLang="en-US" sz="100" dirty="0"/>
                    </a:p>
                    <a:p>
                      <a:pPr marL="338455" indent="-173990" algn="l" rtl="0" eaLnBrk="0">
                        <a:lnSpc>
                          <a:spcPct val="112000"/>
                        </a:lnSpc>
                      </a:pPr>
                      <a:r>
                        <a:rPr sz="80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提升产业效</a:t>
                      </a:r>
                      <a:r>
                        <a:rPr sz="80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率</a:t>
                      </a:r>
                      <a:r>
                        <a:rPr sz="80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80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与价</a:t>
                      </a:r>
                      <a:r>
                        <a:rPr sz="8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</a:t>
                      </a:r>
                      <a:endParaRPr lang="en-US" altLang="en-US" sz="800" dirty="0"/>
                    </a:p>
                  </a:txBody>
                  <a:tcPr marL="0" marR="0" marT="697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1" name="textbox 1621"/>
          <p:cNvSpPr/>
          <p:nvPr/>
        </p:nvSpPr>
        <p:spPr>
          <a:xfrm>
            <a:off x="6237989" y="3530539"/>
            <a:ext cx="2460625" cy="139128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5"/>
              </a:lnSpc>
              <a:tabLst>
                <a:tab pos="102870" algn="l"/>
              </a:tabLst>
            </a:pP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9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sz="1000" spc="9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将工程设计中重复、耗时、</a:t>
            </a:r>
            <a:r>
              <a:rPr sz="1000" spc="7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endParaRPr lang="en-US" altLang="en-US" sz="1000" dirty="0"/>
          </a:p>
          <a:p>
            <a:pPr marL="177165" algn="l" rtl="0" eaLnBrk="0">
              <a:lnSpc>
                <a:spcPts val="1225"/>
              </a:lnSpc>
              <a:spcBef>
                <a:spcPts val="670"/>
              </a:spcBef>
            </a:pPr>
            <a:r>
              <a:rPr sz="1000" spc="6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次的任务自动化，缩短整体设</a:t>
            </a:r>
            <a:r>
              <a:rPr sz="1000" spc="5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endParaRPr lang="en-US" altLang="en-US" sz="1000" dirty="0"/>
          </a:p>
          <a:p>
            <a:pPr marL="12700" algn="l" rtl="0" eaLnBrk="0">
              <a:lnSpc>
                <a:spcPts val="1220"/>
              </a:lnSpc>
              <a:spcBef>
                <a:spcPts val="660"/>
              </a:spcBef>
              <a:tabLst>
                <a:tab pos="102870" algn="l"/>
              </a:tabLst>
            </a:pP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7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将基于物理环境的数字几何图形快</a:t>
            </a:r>
            <a:r>
              <a:rPr sz="1000" spc="4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</a:t>
            </a:r>
            <a:endParaRPr lang="en-US" altLang="en-US" sz="1000" dirty="0"/>
          </a:p>
          <a:p>
            <a:pPr marL="177165" algn="l" rtl="0" eaLnBrk="0">
              <a:lnSpc>
                <a:spcPct val="129000"/>
              </a:lnSpc>
              <a:spcBef>
                <a:spcPts val="685"/>
              </a:spcBef>
            </a:pPr>
            <a:r>
              <a:rPr sz="1000" spc="6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化为实时3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sz="1000" spc="6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模型，高效创建工厂</a:t>
            </a:r>
            <a:r>
              <a:rPr sz="1000" spc="5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  </a:t>
            </a:r>
            <a:r>
              <a:rPr sz="1000" spc="6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备等数字孪生系</a:t>
            </a:r>
            <a:r>
              <a:rPr sz="1000" spc="0" dirty="0">
                <a:solidFill>
                  <a:srgbClr val="2897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</a:t>
            </a:r>
            <a:endParaRPr lang="en-US" altLang="en-US" sz="1000" dirty="0"/>
          </a:p>
          <a:p>
            <a:pPr algn="l" rtl="0" eaLnBrk="0">
              <a:lnSpc>
                <a:spcPct val="114000"/>
              </a:lnSpc>
            </a:pPr>
            <a:endParaRPr lang="en-US" altLang="en-US" sz="500" dirty="0"/>
          </a:p>
          <a:p>
            <a:pPr marL="725170" algn="l" rtl="0" eaLnBrk="0">
              <a:lnSpc>
                <a:spcPct val="97000"/>
              </a:lnSpc>
              <a:spcBef>
                <a:spcPts val="5"/>
              </a:spcBef>
            </a:pPr>
            <a:r>
              <a:rPr sz="110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en-US" sz="900" dirty="0"/>
          </a:p>
        </p:txBody>
      </p:sp>
      <p:pic>
        <p:nvPicPr>
          <p:cNvPr id="1622" name="picture 16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50689" y="4027968"/>
            <a:ext cx="90928" cy="104204"/>
          </a:xfrm>
          <a:prstGeom prst="rect">
            <a:avLst/>
          </a:prstGeom>
        </p:spPr>
      </p:pic>
      <p:pic>
        <p:nvPicPr>
          <p:cNvPr id="1623" name="picture 16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50689" y="3547933"/>
            <a:ext cx="90928" cy="104204"/>
          </a:xfrm>
          <a:prstGeom prst="rect">
            <a:avLst/>
          </a:prstGeom>
        </p:spPr>
      </p:pic>
      <p:sp>
        <p:nvSpPr>
          <p:cNvPr id="1624" name="textbox 1624"/>
          <p:cNvSpPr/>
          <p:nvPr/>
        </p:nvSpPr>
        <p:spPr>
          <a:xfrm>
            <a:off x="484331" y="3651577"/>
            <a:ext cx="2331720" cy="90233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30"/>
              </a:lnSpc>
              <a:tabLst>
                <a:tab pos="102870" algn="l"/>
              </a:tabLst>
            </a:pPr>
            <a:r>
              <a:rPr sz="1000" spc="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改善医学图像质量，录入电</a:t>
            </a:r>
            <a:r>
              <a:rPr sz="1000" spc="3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sz="1000" spc="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病历，</a:t>
            </a:r>
            <a:endParaRPr lang="en-US" altLang="en-US" sz="1000" dirty="0"/>
          </a:p>
          <a:p>
            <a:pPr marL="177165" algn="l" rtl="0" eaLnBrk="0">
              <a:lnSpc>
                <a:spcPts val="1230"/>
              </a:lnSpc>
              <a:spcBef>
                <a:spcPts val="670"/>
              </a:spcBef>
            </a:pPr>
            <a:r>
              <a:rPr sz="1000" spc="6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减轻医生工作压</a:t>
            </a:r>
            <a:r>
              <a:rPr sz="1000" spc="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</a:t>
            </a:r>
            <a:endParaRPr lang="en-US" altLang="en-US" sz="1000" dirty="0"/>
          </a:p>
          <a:p>
            <a:pPr marL="12700" algn="l" rtl="0" eaLnBrk="0">
              <a:lnSpc>
                <a:spcPts val="1225"/>
              </a:lnSpc>
              <a:spcBef>
                <a:spcPts val="650"/>
              </a:spcBef>
              <a:tabLst>
                <a:tab pos="102870" algn="l"/>
              </a:tabLst>
            </a:pPr>
            <a:r>
              <a:rPr sz="1000" spc="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7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辅助病人康复治疗，如使用语音</a:t>
            </a:r>
            <a:r>
              <a:rPr sz="1000" spc="1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endParaRPr lang="en-US" altLang="en-US" sz="1000" dirty="0"/>
          </a:p>
          <a:p>
            <a:pPr algn="l" rtl="0" eaLnBrk="0">
              <a:lnSpc>
                <a:spcPct val="112000"/>
              </a:lnSpc>
            </a:pPr>
            <a:endParaRPr lang="en-US" altLang="en-US" sz="500" dirty="0"/>
          </a:p>
          <a:p>
            <a:pPr marL="177165" algn="l" rtl="0" eaLnBrk="0">
              <a:lnSpc>
                <a:spcPts val="1220"/>
              </a:lnSpc>
              <a:spcBef>
                <a:spcPts val="0"/>
              </a:spcBef>
            </a:pPr>
            <a:r>
              <a:rPr sz="1000" spc="6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成技术为失语者合成语言音</a:t>
            </a:r>
            <a:r>
              <a:rPr sz="1000" spc="1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</a:t>
            </a:r>
            <a:r>
              <a:rPr sz="1000" spc="0" dirty="0">
                <a:solidFill>
                  <a:srgbClr val="B87C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en-US" sz="1000" dirty="0"/>
          </a:p>
        </p:txBody>
      </p:sp>
      <p:pic>
        <p:nvPicPr>
          <p:cNvPr id="1625" name="picture 16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7031" y="4149278"/>
            <a:ext cx="90927" cy="104205"/>
          </a:xfrm>
          <a:prstGeom prst="rect">
            <a:avLst/>
          </a:prstGeom>
        </p:spPr>
      </p:pic>
      <p:pic>
        <p:nvPicPr>
          <p:cNvPr id="1626" name="picture 16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7053" y="3668982"/>
            <a:ext cx="91134" cy="104441"/>
          </a:xfrm>
          <a:prstGeom prst="rect">
            <a:avLst/>
          </a:prstGeom>
        </p:spPr>
      </p:pic>
      <p:sp>
        <p:nvSpPr>
          <p:cNvPr id="1627" name="textbox 1627"/>
          <p:cNvSpPr/>
          <p:nvPr/>
        </p:nvSpPr>
        <p:spPr>
          <a:xfrm>
            <a:off x="6237989" y="1525597"/>
            <a:ext cx="1793239" cy="11417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0"/>
              </a:lnSpc>
              <a:tabLst>
                <a:tab pos="102870" algn="l"/>
              </a:tabLst>
            </a:pPr>
            <a:r>
              <a:rPr sz="1000" spc="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5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实现金融资讯、产品介</a:t>
            </a:r>
            <a:r>
              <a:rPr sz="1000" spc="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绍视</a:t>
            </a:r>
            <a:endParaRPr lang="en-US" altLang="en-US" sz="1000" dirty="0"/>
          </a:p>
          <a:p>
            <a:pPr marL="177165" indent="-635" algn="l" rtl="0" eaLnBrk="0">
              <a:lnSpc>
                <a:spcPct val="130000"/>
              </a:lnSpc>
              <a:spcBef>
                <a:spcPts val="665"/>
              </a:spcBef>
            </a:pPr>
            <a:r>
              <a:rPr sz="1000" spc="6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频内容的自动化生产，</a:t>
            </a:r>
            <a:r>
              <a:rPr sz="1000" spc="2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</a:t>
            </a:r>
            <a:r>
              <a:rPr sz="1000" spc="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 </a:t>
            </a:r>
            <a:r>
              <a:rPr sz="1000" spc="6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机构运营效</a:t>
            </a:r>
            <a:r>
              <a:rPr sz="1000" spc="2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</a:t>
            </a:r>
            <a:endParaRPr lang="en-US" altLang="en-US" sz="1000" dirty="0"/>
          </a:p>
          <a:p>
            <a:pPr marL="12700" algn="l" rtl="0" eaLnBrk="0">
              <a:lnSpc>
                <a:spcPts val="1220"/>
              </a:lnSpc>
              <a:spcBef>
                <a:spcPts val="670"/>
              </a:spcBef>
              <a:tabLst>
                <a:tab pos="102870" algn="l"/>
              </a:tabLst>
            </a:pPr>
            <a:r>
              <a:rPr sz="1000" spc="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7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塑造虚拟数字客服，完善</a:t>
            </a:r>
            <a:r>
              <a:rPr sz="1000" spc="6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</a:t>
            </a: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500" dirty="0"/>
          </a:p>
          <a:p>
            <a:pPr marL="179705" algn="l" rtl="0" eaLnBrk="0">
              <a:lnSpc>
                <a:spcPts val="1225"/>
              </a:lnSpc>
              <a:spcBef>
                <a:spcPts val="5"/>
              </a:spcBef>
            </a:pPr>
            <a:r>
              <a:rPr sz="1000" spc="5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融服</a:t>
            </a:r>
            <a:r>
              <a:rPr sz="1000" spc="40" dirty="0">
                <a:solidFill>
                  <a:srgbClr val="004B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</a:t>
            </a:r>
            <a:endParaRPr lang="en-US" altLang="en-US" sz="1000" dirty="0"/>
          </a:p>
        </p:txBody>
      </p:sp>
      <p:pic>
        <p:nvPicPr>
          <p:cNvPr id="1628" name="picture 16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250689" y="2264090"/>
            <a:ext cx="90928" cy="104205"/>
          </a:xfrm>
          <a:prstGeom prst="rect">
            <a:avLst/>
          </a:prstGeom>
        </p:spPr>
      </p:pic>
      <p:pic>
        <p:nvPicPr>
          <p:cNvPr id="1629" name="picture 16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250711" y="1543002"/>
            <a:ext cx="91134" cy="104441"/>
          </a:xfrm>
          <a:prstGeom prst="rect">
            <a:avLst/>
          </a:prstGeom>
        </p:spPr>
      </p:pic>
      <p:sp>
        <p:nvSpPr>
          <p:cNvPr id="1630" name="textbox 1630"/>
          <p:cNvSpPr/>
          <p:nvPr/>
        </p:nvSpPr>
        <p:spPr>
          <a:xfrm>
            <a:off x="285708" y="4714506"/>
            <a:ext cx="3350895" cy="41084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</a:pPr>
            <a:endParaRPr lang="en-US" altLang="en-US" sz="200" dirty="0"/>
          </a:p>
          <a:p>
            <a:pPr algn="l" rtl="0" eaLnBrk="0">
              <a:lnSpc>
                <a:spcPct val="101000"/>
              </a:lnSpc>
            </a:pPr>
            <a:endParaRPr lang="en-US" altLang="en-US" sz="500" dirty="0"/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80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</a:t>
            </a:r>
            <a:r>
              <a:rPr sz="80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来源：中国信通院，国泰君安证券研究</a:t>
            </a:r>
            <a:endParaRPr lang="en-US" altLang="en-US" sz="800" dirty="0"/>
          </a:p>
        </p:txBody>
      </p:sp>
      <p:sp>
        <p:nvSpPr>
          <p:cNvPr id="1632" name="textbox 1632"/>
          <p:cNvSpPr/>
          <p:nvPr/>
        </p:nvSpPr>
        <p:spPr>
          <a:xfrm>
            <a:off x="693750" y="1879800"/>
            <a:ext cx="1805939" cy="6616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1225"/>
              </a:lnSpc>
              <a:tabLst>
                <a:tab pos="102870" algn="l"/>
              </a:tabLst>
            </a:pPr>
            <a:r>
              <a:rPr sz="10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利用</a:t>
            </a:r>
            <a:r>
              <a:rPr sz="10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sz="1000" spc="9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技术使抽象，平面</a:t>
            </a:r>
            <a:r>
              <a:rPr sz="100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endParaRPr lang="en-US" altLang="en-US" sz="1000" dirty="0"/>
          </a:p>
          <a:p>
            <a:pPr algn="l" rtl="0" eaLnBrk="0">
              <a:lnSpc>
                <a:spcPct val="110000"/>
              </a:lnSpc>
            </a:pPr>
            <a:endParaRPr lang="en-US" altLang="en-US" sz="500" dirty="0"/>
          </a:p>
          <a:p>
            <a:pPr marL="177800" indent="0" algn="l" rtl="0" eaLnBrk="0">
              <a:lnSpc>
                <a:spcPct val="130000"/>
              </a:lnSpc>
              <a:spcBef>
                <a:spcPts val="0"/>
              </a:spcBef>
            </a:pPr>
            <a:r>
              <a:rPr sz="1000" spc="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课本具体化，立体化，</a:t>
            </a:r>
            <a:r>
              <a:rPr sz="1000" spc="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</a:t>
            </a:r>
            <a:r>
              <a:rPr sz="10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 </a:t>
            </a:r>
            <a:r>
              <a:rPr sz="1000" spc="6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识传播更生动，</a:t>
            </a:r>
            <a:r>
              <a:rPr sz="1000" spc="5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趣</a:t>
            </a:r>
            <a:r>
              <a:rPr sz="100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味</a:t>
            </a:r>
            <a:endParaRPr lang="en-US" altLang="en-US" sz="1000" dirty="0"/>
          </a:p>
        </p:txBody>
      </p:sp>
      <p:pic>
        <p:nvPicPr>
          <p:cNvPr id="1633" name="picture 16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06450" y="1897205"/>
            <a:ext cx="91134" cy="104441"/>
          </a:xfrm>
          <a:prstGeom prst="rect">
            <a:avLst/>
          </a:prstGeom>
        </p:spPr>
      </p:pic>
      <p:pic>
        <p:nvPicPr>
          <p:cNvPr id="1634" name="picture 16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27930" y="3140494"/>
            <a:ext cx="327748" cy="327748"/>
          </a:xfrm>
          <a:prstGeom prst="rect">
            <a:avLst/>
          </a:prstGeom>
        </p:spPr>
      </p:pic>
      <p:pic>
        <p:nvPicPr>
          <p:cNvPr id="1635" name="picture 16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38472" y="2650997"/>
            <a:ext cx="313182" cy="313182"/>
          </a:xfrm>
          <a:prstGeom prst="rect">
            <a:avLst/>
          </a:prstGeom>
        </p:spPr>
      </p:pic>
      <p:pic>
        <p:nvPicPr>
          <p:cNvPr id="1636" name="picture 16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19041" y="3180207"/>
            <a:ext cx="313182" cy="313182"/>
          </a:xfrm>
          <a:prstGeom prst="rect">
            <a:avLst/>
          </a:prstGeom>
        </p:spPr>
      </p:pic>
      <p:pic>
        <p:nvPicPr>
          <p:cNvPr id="1637" name="picture 16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553077" y="2665895"/>
            <a:ext cx="302602" cy="302602"/>
          </a:xfrm>
          <a:prstGeom prst="rect">
            <a:avLst/>
          </a:prstGeom>
        </p:spPr>
      </p:pic>
      <p:sp>
        <p:nvSpPr>
          <p:cNvPr id="1638" name="path"/>
          <p:cNvSpPr/>
          <p:nvPr/>
        </p:nvSpPr>
        <p:spPr>
          <a:xfrm>
            <a:off x="5078602" y="2023363"/>
            <a:ext cx="835533" cy="12700"/>
          </a:xfrm>
          <a:custGeom>
            <a:avLst/>
            <a:gdLst/>
            <a:ahLst/>
            <a:cxnLst/>
            <a:rect l="0" t="0" r="0" b="0"/>
            <a:pathLst>
              <a:path w="1315" h="20">
                <a:moveTo>
                  <a:pt x="0" y="10"/>
                </a:moveTo>
                <a:lnTo>
                  <a:pt x="1315" y="10"/>
                </a:lnTo>
              </a:path>
            </a:pathLst>
          </a:custGeom>
          <a:noFill/>
          <a:ln w="127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9" name="path"/>
          <p:cNvSpPr/>
          <p:nvPr/>
        </p:nvSpPr>
        <p:spPr>
          <a:xfrm>
            <a:off x="5035169" y="3903675"/>
            <a:ext cx="835533" cy="12700"/>
          </a:xfrm>
          <a:custGeom>
            <a:avLst/>
            <a:gdLst/>
            <a:ahLst/>
            <a:cxnLst/>
            <a:rect l="0" t="0" r="0" b="0"/>
            <a:pathLst>
              <a:path w="1315" h="20">
                <a:moveTo>
                  <a:pt x="0" y="10"/>
                </a:moveTo>
                <a:lnTo>
                  <a:pt x="1315" y="10"/>
                </a:lnTo>
              </a:path>
            </a:pathLst>
          </a:custGeom>
          <a:noFill/>
          <a:ln w="127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0" name="path"/>
          <p:cNvSpPr/>
          <p:nvPr/>
        </p:nvSpPr>
        <p:spPr>
          <a:xfrm>
            <a:off x="2966085" y="2021713"/>
            <a:ext cx="835532" cy="12700"/>
          </a:xfrm>
          <a:custGeom>
            <a:avLst/>
            <a:gdLst/>
            <a:ahLst/>
            <a:cxnLst/>
            <a:rect l="0" t="0" r="0" b="0"/>
            <a:pathLst>
              <a:path w="1315" h="20">
                <a:moveTo>
                  <a:pt x="0" y="10"/>
                </a:moveTo>
                <a:lnTo>
                  <a:pt x="1315" y="10"/>
                </a:lnTo>
              </a:path>
            </a:pathLst>
          </a:custGeom>
          <a:noFill/>
          <a:ln w="127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1" name="path"/>
          <p:cNvSpPr/>
          <p:nvPr/>
        </p:nvSpPr>
        <p:spPr>
          <a:xfrm>
            <a:off x="2966085" y="3903675"/>
            <a:ext cx="835532" cy="12700"/>
          </a:xfrm>
          <a:custGeom>
            <a:avLst/>
            <a:gdLst/>
            <a:ahLst/>
            <a:cxnLst/>
            <a:rect l="0" t="0" r="0" b="0"/>
            <a:pathLst>
              <a:path w="1315" h="20">
                <a:moveTo>
                  <a:pt x="0" y="10"/>
                </a:moveTo>
                <a:lnTo>
                  <a:pt x="1315" y="10"/>
                </a:lnTo>
              </a:path>
            </a:pathLst>
          </a:custGeom>
          <a:noFill/>
          <a:ln w="12700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fae87ad-1f12-4895-9a04-1818485972c1"/>
  <p:tag name="COMMONDATA" val="eyJoZGlkIjoiNWYyMGI5MzBkMDkxMGYxYmQxMGRkYzYyNjdiMDEyNjAifQ=="/>
</p:tagLst>
</file>

<file path=ppt/theme/theme1.xml><?xml version="1.0" encoding="utf-8"?>
<a:theme xmlns:a="http://schemas.openxmlformats.org/drawingml/2006/main" name=".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4106</Words>
  <Application>Microsoft Macintosh PowerPoint</Application>
  <PresentationFormat>On-screen Show (16:9)</PresentationFormat>
  <Paragraphs>1404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 Unicode MS</vt:lpstr>
      <vt:lpstr>FZLTTHK--GBK1-0</vt:lpstr>
      <vt:lpstr>微软雅黑</vt:lpstr>
      <vt:lpstr>Arial</vt:lpstr>
      <vt:lpstr>Calibri</vt:lpstr>
      <vt:lpstr>Times New Roman</vt:lpstr>
      <vt:lpstr>Wingdings</vt:lpstr>
      <vt:lpstr>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Longbiao CHEN</cp:lastModifiedBy>
  <cp:revision>16</cp:revision>
  <dcterms:created xsi:type="dcterms:W3CDTF">2023-04-17T14:57:12Z</dcterms:created>
  <dcterms:modified xsi:type="dcterms:W3CDTF">2023-06-16T01:38:06Z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2023-04-17T22:43:43Z</vt:filetime>
  </property>
  <property fmtid="{D5CDD505-2E9C-101B-9397-08002B2CF9AE}" pid="4" name="ICV">
    <vt:lpwstr>1D81FCED1A2344549CC8A933E2679CE2_13</vt:lpwstr>
  </property>
  <property fmtid="{D5CDD505-2E9C-101B-9397-08002B2CF9AE}" pid="5" name="KSOProductBuildVer">
    <vt:lpwstr>2052-11.1.0.14036</vt:lpwstr>
  </property>
</Properties>
</file>