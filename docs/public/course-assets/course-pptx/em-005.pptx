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db8dc22f214f01" /><Relationship Type="http://schemas.openxmlformats.org/officeDocument/2006/relationships/extended-properties" Target="/docProps/app.xml" Id="R4db08e25faea4029" /><Relationship Type="http://schemas.openxmlformats.org/officeDocument/2006/relationships/officeDocument" Target="/ppt/presentation.xml" Id="R45e2de21209e4d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f70720e9704f61"/>
  </p:sldMasterIdLst>
  <p:notesMasterIdLst>
    <p:notesMasterId xmlns:r="http://schemas.openxmlformats.org/officeDocument/2006/relationships" r:id="Ra42bc761a7e14f0d"/>
  </p:notesMasterIdLst>
  <p:sldIdLst>
    <p:sldId xmlns:r="http://schemas.openxmlformats.org/officeDocument/2006/relationships" id="256" r:id="Ra57faf0e401e433c"/>
    <p:sldId xmlns:r="http://schemas.openxmlformats.org/officeDocument/2006/relationships" id="257" r:id="R9385ab050da44166"/>
    <p:sldId xmlns:r="http://schemas.openxmlformats.org/officeDocument/2006/relationships" id="258" r:id="R99cc9b8cadf14813"/>
    <p:sldId xmlns:r="http://schemas.openxmlformats.org/officeDocument/2006/relationships" id="259" r:id="Red2db67509bd4414"/>
    <p:sldId xmlns:r="http://schemas.openxmlformats.org/officeDocument/2006/relationships" id="260" r:id="R00562041ea2745aa"/>
    <p:sldId xmlns:r="http://schemas.openxmlformats.org/officeDocument/2006/relationships" id="261" r:id="R2a03dcf6499644c5"/>
    <p:sldId xmlns:r="http://schemas.openxmlformats.org/officeDocument/2006/relationships" id="262" r:id="Rc7db614e56bb4a99"/>
    <p:sldId xmlns:r="http://schemas.openxmlformats.org/officeDocument/2006/relationships" id="263" r:id="R17f42cb279f9401d"/>
    <p:sldId xmlns:r="http://schemas.openxmlformats.org/officeDocument/2006/relationships" id="264" r:id="R8e9988dac31640a7"/>
    <p:sldId xmlns:r="http://schemas.openxmlformats.org/officeDocument/2006/relationships" id="265" r:id="R08c5f7dfb9a8403a"/>
    <p:sldId xmlns:r="http://schemas.openxmlformats.org/officeDocument/2006/relationships" id="266" r:id="R51fbfa7425664eea"/>
    <p:sldId xmlns:r="http://schemas.openxmlformats.org/officeDocument/2006/relationships" id="267" r:id="R132b476056994533"/>
    <p:sldId xmlns:r="http://schemas.openxmlformats.org/officeDocument/2006/relationships" id="268" r:id="Reaf8917fa870443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1e250378ae4f91" /><Relationship Type="http://schemas.openxmlformats.org/officeDocument/2006/relationships/slideMaster" Target="/ppt/slideMasters/slideMaster1.xml" Id="R12f70720e9704f61" /><Relationship Type="http://schemas.openxmlformats.org/officeDocument/2006/relationships/notesMaster" Target="/ppt/notesMasters/notesMaster1.xml" Id="Ra42bc761a7e14f0d" /><Relationship Type="http://schemas.openxmlformats.org/officeDocument/2006/relationships/presProps" Target="/ppt/presProps.xml" Id="R94c572e2aef14f78" /><Relationship Type="http://schemas.openxmlformats.org/officeDocument/2006/relationships/tableStyles" Target="/ppt/tableStyles.xml" Id="R931c8ff4b8c24e20" /><Relationship Type="http://schemas.openxmlformats.org/officeDocument/2006/relationships/slide" Target="/ppt/slides/slide1.xml" Id="Ra57faf0e401e433c" /><Relationship Type="http://schemas.openxmlformats.org/officeDocument/2006/relationships/slide" Target="/ppt/slides/slide2.xml" Id="R9385ab050da44166" /><Relationship Type="http://schemas.openxmlformats.org/officeDocument/2006/relationships/slide" Target="/ppt/slides/slide3.xml" Id="R99cc9b8cadf14813" /><Relationship Type="http://schemas.openxmlformats.org/officeDocument/2006/relationships/slide" Target="/ppt/slides/slide4.xml" Id="Red2db67509bd4414" /><Relationship Type="http://schemas.openxmlformats.org/officeDocument/2006/relationships/slide" Target="/ppt/slides/slide5.xml" Id="R00562041ea2745aa" /><Relationship Type="http://schemas.openxmlformats.org/officeDocument/2006/relationships/slide" Target="/ppt/slides/slide6.xml" Id="R2a03dcf6499644c5" /><Relationship Type="http://schemas.openxmlformats.org/officeDocument/2006/relationships/slide" Target="/ppt/slides/slide7.xml" Id="Rc7db614e56bb4a99" /><Relationship Type="http://schemas.openxmlformats.org/officeDocument/2006/relationships/slide" Target="/ppt/slides/slide8.xml" Id="R17f42cb279f9401d" /><Relationship Type="http://schemas.openxmlformats.org/officeDocument/2006/relationships/slide" Target="/ppt/slides/slide9.xml" Id="R8e9988dac31640a7" /><Relationship Type="http://schemas.openxmlformats.org/officeDocument/2006/relationships/slide" Target="/ppt/slides/slide10.xml" Id="R08c5f7dfb9a8403a" /><Relationship Type="http://schemas.openxmlformats.org/officeDocument/2006/relationships/slide" Target="/ppt/slides/slide11.xml" Id="R51fbfa7425664eea" /><Relationship Type="http://schemas.openxmlformats.org/officeDocument/2006/relationships/slide" Target="/ppt/slides/slide12.xml" Id="R132b476056994533" /><Relationship Type="http://schemas.openxmlformats.org/officeDocument/2006/relationships/slide" Target="/ppt/slides/slide13.xml" Id="Reaf8917fa87044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5a7020e6cf40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16196e7b6e4677" /><Relationship Type="http://schemas.openxmlformats.org/officeDocument/2006/relationships/notesMaster" Target="/ppt/notesMasters/notesMaster1.xml" Id="R8235f2dafdc242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0412a9c3324439" /><Relationship Type="http://schemas.openxmlformats.org/officeDocument/2006/relationships/notesMaster" Target="/ppt/notesMasters/notesMaster1.xml" Id="R4a5d12f4634446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530a16d1f64b50" /><Relationship Type="http://schemas.openxmlformats.org/officeDocument/2006/relationships/notesMaster" Target="/ppt/notesMasters/notesMaster1.xml" Id="R5bc0fa951fb04e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6b319c95fe4750" /><Relationship Type="http://schemas.openxmlformats.org/officeDocument/2006/relationships/notesMaster" Target="/ppt/notesMasters/notesMaster1.xml" Id="Rceb6016947b74e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070a00a60d473e" /><Relationship Type="http://schemas.openxmlformats.org/officeDocument/2006/relationships/notesMaster" Target="/ppt/notesMasters/notesMaster1.xml" Id="Rc3db9a5dbccd49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7f7aa42e244a2b" /><Relationship Type="http://schemas.openxmlformats.org/officeDocument/2006/relationships/notesMaster" Target="/ppt/notesMasters/notesMaster1.xml" Id="R5be0badd1b4943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177b90462a471f" /><Relationship Type="http://schemas.openxmlformats.org/officeDocument/2006/relationships/notesMaster" Target="/ppt/notesMasters/notesMaster1.xml" Id="R621feb29aadf4c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2f163716f546d8" /><Relationship Type="http://schemas.openxmlformats.org/officeDocument/2006/relationships/notesMaster" Target="/ppt/notesMasters/notesMaster1.xml" Id="R1d28a9c296df47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8e5423042d4c46" /><Relationship Type="http://schemas.openxmlformats.org/officeDocument/2006/relationships/notesMaster" Target="/ppt/notesMasters/notesMaster1.xml" Id="R34a9ba2ddab84a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dc68c5d46b4632" /><Relationship Type="http://schemas.openxmlformats.org/officeDocument/2006/relationships/notesMaster" Target="/ppt/notesMasters/notesMaster1.xml" Id="Rb35dac7d52184b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f39b4a2fa54d35" /><Relationship Type="http://schemas.openxmlformats.org/officeDocument/2006/relationships/notesMaster" Target="/ppt/notesMasters/notesMaster1.xml" Id="R323ced820dc44e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bf66357dc74a82" /><Relationship Type="http://schemas.openxmlformats.org/officeDocument/2006/relationships/notesMaster" Target="/ppt/notesMasters/notesMaster1.xml" Id="Rcc7e265c3be44e2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c5f58dfcd94cd4" /><Relationship Type="http://schemas.openxmlformats.org/officeDocument/2006/relationships/notesMaster" Target="/ppt/notesMasters/notesMaster1.xml" Id="Ra41abc31ac0e42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e650a082f244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642f7c11954702" /><Relationship Type="http://schemas.openxmlformats.org/officeDocument/2006/relationships/slideLayout" Target="/ppt/slideLayouts/slideLayout1.xml" Id="Rb2574dc5993348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574dc5993348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a5a4bdff2433c" /><Relationship Type="http://schemas.openxmlformats.org/officeDocument/2006/relationships/notesSlide" Target="/ppt/notesSlides/notesSlide1.xml" Id="R3b364eb36b8246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92f70d8084304" /><Relationship Type="http://schemas.openxmlformats.org/officeDocument/2006/relationships/notesSlide" Target="/ppt/notesSlides/notesSlide2.xml" Id="Rac78492d8b1d4b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e421c971b47dc" /><Relationship Type="http://schemas.openxmlformats.org/officeDocument/2006/relationships/notesSlide" Target="/ppt/notesSlides/notesSlide3.xml" Id="Rd1674700f99b46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95586fded4b98" /><Relationship Type="http://schemas.openxmlformats.org/officeDocument/2006/relationships/notesSlide" Target="/ppt/notesSlides/notesSlide4.xml" Id="R79df556177174f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aa1e2d30b4c6d" /><Relationship Type="http://schemas.openxmlformats.org/officeDocument/2006/relationships/notesSlide" Target="/ppt/notesSlides/notesSlide5.xml" Id="R3f60664b548e49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1bf51e9e34960" /><Relationship Type="http://schemas.openxmlformats.org/officeDocument/2006/relationships/notesSlide" Target="/ppt/notesSlides/notesSlide6.xml" Id="Rcaa7e6764b8347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7e1e9fb9141ae" /><Relationship Type="http://schemas.openxmlformats.org/officeDocument/2006/relationships/notesSlide" Target="/ppt/notesSlides/notesSlide7.xml" Id="R8559cfa362fc48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903f1c639499b" /><Relationship Type="http://schemas.openxmlformats.org/officeDocument/2006/relationships/notesSlide" Target="/ppt/notesSlides/notesSlide8.xml" Id="Rd252463e62554f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935b47cc946b6" /><Relationship Type="http://schemas.openxmlformats.org/officeDocument/2006/relationships/notesSlide" Target="/ppt/notesSlides/notesSlide9.xml" Id="R834c6135fe7b4d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332bb1d7a47d6" /><Relationship Type="http://schemas.openxmlformats.org/officeDocument/2006/relationships/notesSlide" Target="/ppt/notesSlides/notesSlide10.xml" Id="R854a896e556745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50a40862f4d45" /><Relationship Type="http://schemas.openxmlformats.org/officeDocument/2006/relationships/notesSlide" Target="/ppt/notesSlides/notesSlide11.xml" Id="R1582f039a13345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254cac0bb462d" /><Relationship Type="http://schemas.openxmlformats.org/officeDocument/2006/relationships/notesSlide" Target="/ppt/notesSlides/notesSlide12.xml" Id="R4454b31b8ee14d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0a72b86ad4aef" /><Relationship Type="http://schemas.openxmlformats.org/officeDocument/2006/relationships/notesSlide" Target="/ppt/notesSlides/notesSlide13.xml" Id="R82b3cf88e83d4f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ule">
            <a:extLst xmlns:a="http://schemas.openxmlformats.org/drawingml/2006/main">
              <a:ext uri="{FF2B5EF4-FFF2-40B4-BE49-F238E27FC236}">
                <a16:creationId xmlns:a16="http://schemas.microsoft.com/office/drawing/2014/main" id="{5D101160-5F7D-4019-A478-749315E4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782D24C6-1B55-41B7-8393-22BD7DC0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459C7"/>
            </a:solidFill>
            <a:prstDash val="solid"/>
          </a:ln>
        </p:spPr>
      </p:sp>
      <p:sp>
        <p:nvSpPr>
          <p:cNvPr id="3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B9590A3A-9310-4AB8-932A-98B3A5C6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9B72"/>
            </a:solidFill>
            <a:prstDash val="solid"/>
          </a:ln>
        </p:spPr>
      </p:sp>
      <p:sp>
        <p:nvSpPr>
          <p:cNvPr id="4" name="cover-core">
            <a:extLst xmlns:a="http://schemas.openxmlformats.org/drawingml/2006/main">
              <a:ext uri="{FF2B5EF4-FFF2-40B4-BE49-F238E27FC236}">
                <a16:creationId xmlns:a16="http://schemas.microsoft.com/office/drawing/2014/main" id="{81BE3612-327D-4E93-9719-AA3DDE59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5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E22574A3-0162-470B-BB8F-25B134A0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459C7"/>
            </a:solidFill>
            <a:prstDash val="solid"/>
          </a:ln>
        </p:spPr>
      </p:sp>
      <p:sp>
        <p:nvSpPr>
          <p:cNvPr id="6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BE92FD6C-2573-4039-9C57-BF40C9E2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9B72"/>
            </a:solidFill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C858E19-F50D-4B25-98D9-CDC5B64C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9B7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D9B72"/>
                </a:solidFill>
                <a:latin typeface="PingFang SC"/>
                <a:ea typeface="PingFang SC"/>
                <a:cs typeface="PingFang SC"/>
              </a:rPr>
              <a:t>第 3 章 · 具身智能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E86A58F-0D94-4D88-AF2F-52213B9E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G1、Go2 与 ROS2 实训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0A93368-9266-4730-A730-7A94445E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defRPr>
            </a:pPr>
            <a:r>
              <a: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rPr>
              <a:t>从安全检查、ROS2 节点和话题进入基础动作、状态读取与异常排查。</a:t>
            </a:r>
          </a:p>
        </p:txBody>
      </p:sp>
      <p:sp>
        <p:nvSpPr>
          <p:cNvPr id="10" name="cover-lead">
            <a:extLst xmlns:a="http://schemas.openxmlformats.org/drawingml/2006/main">
              <a:ext uri="{FF2B5EF4-FFF2-40B4-BE49-F238E27FC236}">
                <a16:creationId xmlns:a16="http://schemas.microsoft.com/office/drawing/2014/main" id="{E71EB828-65D9-4614-A79D-48D5A96F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ROS2 让传感器、控制器、可视化和应用程序通过明确接口协作；但“节点都启动了”并不代表机器人适合动作</a:t>
            </a:r>
          </a:p>
        </p:txBody>
      </p:sp>
      <p:sp>
        <p:nvSpPr>
          <p:cNvPr id="11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5BFA9DCE-13BD-4098-9169-42109144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陈龙彪团队人工智能公开课</a:t>
            </a:r>
          </a:p>
        </p:txBody>
      </p:sp>
      <p:sp>
        <p:nvSpPr>
          <p:cNvPr id="12" name="cover-id">
            <a:extLst xmlns:a="http://schemas.openxmlformats.org/drawingml/2006/main">
              <a:ext uri="{FF2B5EF4-FFF2-40B4-BE49-F238E27FC236}">
                <a16:creationId xmlns:a16="http://schemas.microsoft.com/office/drawing/2014/main" id="{FD68DEDD-8F21-48A6-9BDD-32271FF3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9B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D9B72"/>
                </a:solidFill>
                <a:latin typeface="PingFang SC"/>
                <a:ea typeface="PingFang SC"/>
                <a:cs typeface="PingFang SC"/>
              </a:rPr>
              <a:t>EM-005 · EM-005-S01</a:t>
            </a:r>
          </a:p>
        </p:txBody>
      </p:sp>
    </p:spTree>
    <p:extLst>
      <p:ext uri="{BB962C8B-B14F-4D97-AF65-F5344CB8AC3E}">
        <p14:creationId xmlns:p14="http://schemas.microsoft.com/office/powerpoint/2010/main" val="9566204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rule">
            <a:extLst xmlns:a="http://schemas.openxmlformats.org/drawingml/2006/main">
              <a:ext uri="{FF2B5EF4-FFF2-40B4-BE49-F238E27FC236}">
                <a16:creationId xmlns:a16="http://schemas.microsoft.com/office/drawing/2014/main" id="{1BE68B46-53B0-4899-875F-46A490FA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42495ED0-AC8B-47F1-8D9D-0FB299FC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学习结果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16164DED-8713-4519-85C8-899462E6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G1、Go2 与 ROS2 实训：4项学习结果</a:t>
            </a:r>
          </a:p>
        </p:txBody>
      </p:sp>
      <p:sp>
        <p:nvSpPr>
          <p:cNvPr id="4" name="s2-footer">
            <a:extLst xmlns:a="http://schemas.openxmlformats.org/drawingml/2006/main">
              <a:ext uri="{FF2B5EF4-FFF2-40B4-BE49-F238E27FC236}">
                <a16:creationId xmlns:a16="http://schemas.microsoft.com/office/drawing/2014/main" id="{20E379F0-79CF-4FC3-AC04-D80B1D90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2-identity">
            <a:extLst xmlns:a="http://schemas.openxmlformats.org/drawingml/2006/main">
              <a:ext uri="{FF2B5EF4-FFF2-40B4-BE49-F238E27FC236}">
                <a16:creationId xmlns:a16="http://schemas.microsoft.com/office/drawing/2014/main" id="{4F662053-AC63-42D3-92A0-552DBEBC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EM-005 · EM-005-S02</a:t>
            </a:r>
          </a:p>
        </p:txBody>
      </p:sp>
      <p:sp>
        <p:nvSpPr>
          <p:cNvPr id="6" name="objective-1">
            <a:extLst xmlns:a="http://schemas.openxmlformats.org/drawingml/2006/main">
              <a:ext uri="{FF2B5EF4-FFF2-40B4-BE49-F238E27FC236}">
                <a16:creationId xmlns:a16="http://schemas.microsoft.com/office/drawing/2014/main" id="{7F51D5CD-385D-49A8-B367-534CB373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区分 G1 人形机器人与 Go2 四足机器人在自由度、平衡、跌倒风险和控制接口上的差异</a:t>
            </a:r>
          </a:p>
        </p:txBody>
      </p:sp>
      <p:sp>
        <p:nvSpPr>
          <p:cNvPr id="7" name="objective-2">
            <a:extLst xmlns:a="http://schemas.openxmlformats.org/drawingml/2006/main">
              <a:ext uri="{FF2B5EF4-FFF2-40B4-BE49-F238E27FC236}">
                <a16:creationId xmlns:a16="http://schemas.microsoft.com/office/drawing/2014/main" id="{88B9B1D8-0161-47F5-BAD8-92419F49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用节点、话题、服务、参数和 launch 文件画出 ROS2 控制链路</a:t>
            </a:r>
          </a:p>
        </p:txBody>
      </p:sp>
      <p:sp>
        <p:nvSpPr>
          <p:cNvPr id="8" name="objective-3">
            <a:extLst xmlns:a="http://schemas.openxmlformats.org/drawingml/2006/main">
              <a:ext uri="{FF2B5EF4-FFF2-40B4-BE49-F238E27FC236}">
                <a16:creationId xmlns:a16="http://schemas.microsoft.com/office/drawing/2014/main" id="{5FE7CDA5-B643-4C4F-9FD6-2AC98922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03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用无需真机的固定消息与 trace 演练，验证“环境确认—只读检查—受限动作—超时停止—记录”的实验闭环</a:t>
            </a:r>
          </a:p>
        </p:txBody>
      </p:sp>
      <p:sp>
        <p:nvSpPr>
          <p:cNvPr id="9" name="objective-4">
            <a:extLst xmlns:a="http://schemas.openxmlformats.org/drawingml/2006/main">
              <a:ext uri="{FF2B5EF4-FFF2-40B4-BE49-F238E27FC236}">
                <a16:creationId xmlns:a16="http://schemas.microsoft.com/office/drawing/2014/main" id="{8AAA7B31-90EB-4B03-84A1-88C6C765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04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根据电源、网络、节点、话题、坐标和硬件状态逐层定位异常</a:t>
            </a:r>
          </a:p>
        </p:txBody>
      </p:sp>
    </p:spTree>
    <p:extLst>
      <p:ext uri="{BB962C8B-B14F-4D97-AF65-F5344CB8AC3E}">
        <p14:creationId xmlns:p14="http://schemas.microsoft.com/office/powerpoint/2010/main" val="13665789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rule">
            <a:extLst xmlns:a="http://schemas.openxmlformats.org/drawingml/2006/main">
              <a:ext uri="{FF2B5EF4-FFF2-40B4-BE49-F238E27FC236}">
                <a16:creationId xmlns:a16="http://schemas.microsoft.com/office/drawing/2014/main" id="{CA3D6A27-2D97-4D87-B3D8-FE199BD2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3-eyebrow">
            <a:extLst xmlns:a="http://schemas.openxmlformats.org/drawingml/2006/main">
              <a:ext uri="{FF2B5EF4-FFF2-40B4-BE49-F238E27FC236}">
                <a16:creationId xmlns:a16="http://schemas.microsoft.com/office/drawing/2014/main" id="{9D9DF124-E7AA-4DE0-85C6-81B24CD7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1 / 7</a:t>
            </a:r>
          </a:p>
        </p:txBody>
      </p:sp>
      <p:sp>
        <p:nvSpPr>
          <p:cNvPr id="3" name="s3-title">
            <a:extLst xmlns:a="http://schemas.openxmlformats.org/drawingml/2006/main">
              <a:ext uri="{FF2B5EF4-FFF2-40B4-BE49-F238E27FC236}">
                <a16:creationId xmlns:a16="http://schemas.microsoft.com/office/drawing/2014/main" id="{81D1BAAA-D9E0-4505-BC3F-619DB19B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上电前清空活动区域</a:t>
            </a:r>
          </a:p>
        </p:txBody>
      </p:sp>
      <p:sp>
        <p:nvSpPr>
          <p:cNvPr id="4" name="s3-footer">
            <a:extLst xmlns:a="http://schemas.openxmlformats.org/drawingml/2006/main">
              <a:ext uri="{FF2B5EF4-FFF2-40B4-BE49-F238E27FC236}">
                <a16:creationId xmlns:a16="http://schemas.microsoft.com/office/drawing/2014/main" id="{8979810F-CA03-4A97-8912-BF05A4A8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3-identity">
            <a:extLst xmlns:a="http://schemas.openxmlformats.org/drawingml/2006/main">
              <a:ext uri="{FF2B5EF4-FFF2-40B4-BE49-F238E27FC236}">
                <a16:creationId xmlns:a16="http://schemas.microsoft.com/office/drawing/2014/main" id="{518BDF61-7B59-48F2-A3D6-98D5A190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EM-005 · EM-005-S03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063A6D1E-79CA-48D9-9C01-4F289E8A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FBE62E64-A43B-4EA0-85B2-F77AC6D6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实训前置：先确认“谁能让它停下”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EF616B08-A092-49C8-957E-202D1BA7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上电前清空活动区域；检查地面、关节外观、电池锁定、遥控器或急停、无线与有线网络；指定一名操作员负责命令；一名安全观察员负责急停；两人都要知道失联、异常姿态、异响、过热和人员进入安全区时如何停止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025584AE-0028-4B13-A133-9802C5C6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E950416E-B863-4DE7-885D-1F261C77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软件环境记录操作系统、ROS2 发行版、工作区版本、机器人型号、固件和网络配置；不同版本的包名、话题名和参数可能变化；任何真机课程都应在开始前发布可访问的版本清单、接口表和急停说明</a:t>
            </a:r>
          </a:p>
        </p:txBody>
      </p:sp>
      <p:sp>
        <p:nvSpPr>
          <p:cNvPr id="11" name="s3-takeaway-rule">
            <a:extLst xmlns:a="http://schemas.openxmlformats.org/drawingml/2006/main">
              <a:ext uri="{FF2B5EF4-FFF2-40B4-BE49-F238E27FC236}">
                <a16:creationId xmlns:a16="http://schemas.microsoft.com/office/drawing/2014/main" id="{4C4CEA0E-DD25-4112-ACB3-C01D8E0F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2" name="s3-takeaway">
            <a:extLst xmlns:a="http://schemas.openxmlformats.org/drawingml/2006/main">
              <a:ext uri="{FF2B5EF4-FFF2-40B4-BE49-F238E27FC236}">
                <a16:creationId xmlns:a16="http://schemas.microsoft.com/office/drawing/2014/main" id="{1E94E9A8-F687-441F-8D1E-DFFD5CE0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上电前清空活动区域</a:t>
            </a:r>
          </a:p>
        </p:txBody>
      </p:sp>
    </p:spTree>
    <p:extLst>
      <p:ext uri="{BB962C8B-B14F-4D97-AF65-F5344CB8AC3E}">
        <p14:creationId xmlns:p14="http://schemas.microsoft.com/office/powerpoint/2010/main" val="18929189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rule">
            <a:extLst xmlns:a="http://schemas.openxmlformats.org/drawingml/2006/main">
              <a:ext uri="{FF2B5EF4-FFF2-40B4-BE49-F238E27FC236}">
                <a16:creationId xmlns:a16="http://schemas.microsoft.com/office/drawing/2014/main" id="{9D299747-48D2-429B-9523-92F3A45F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4-eyebrow">
            <a:extLst xmlns:a="http://schemas.openxmlformats.org/drawingml/2006/main">
              <a:ext uri="{FF2B5EF4-FFF2-40B4-BE49-F238E27FC236}">
                <a16:creationId xmlns:a16="http://schemas.microsoft.com/office/drawing/2014/main" id="{B43F170E-9FC5-4C3F-B230-B4B356BF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2 / 7</a:t>
            </a:r>
          </a:p>
        </p:txBody>
      </p:sp>
      <p:sp>
        <p:nvSpPr>
          <p:cNvPr id="3" name="s4-title">
            <a:extLst xmlns:a="http://schemas.openxmlformats.org/drawingml/2006/main">
              <a:ext uri="{FF2B5EF4-FFF2-40B4-BE49-F238E27FC236}">
                <a16:creationId xmlns:a16="http://schemas.microsoft.com/office/drawing/2014/main" id="{95DF9E81-7F9E-40FA-A806-99A70AE2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ROS2 节点 承担功能</a:t>
            </a:r>
          </a:p>
        </p:txBody>
      </p:sp>
      <p:sp>
        <p:nvSpPr>
          <p:cNvPr id="4" name="s4-footer">
            <a:extLst xmlns:a="http://schemas.openxmlformats.org/drawingml/2006/main">
              <a:ext uri="{FF2B5EF4-FFF2-40B4-BE49-F238E27FC236}">
                <a16:creationId xmlns:a16="http://schemas.microsoft.com/office/drawing/2014/main" id="{246C7613-C38A-41A7-AC69-B5962CB1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4-identity">
            <a:extLst xmlns:a="http://schemas.openxmlformats.org/drawingml/2006/main">
              <a:ext uri="{FF2B5EF4-FFF2-40B4-BE49-F238E27FC236}">
                <a16:creationId xmlns:a16="http://schemas.microsoft.com/office/drawing/2014/main" id="{B7A6EFFE-781A-4C27-8BC0-C101F118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EM-005 · EM-005-S04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ABB3E222-21EA-4174-9F03-E29B3A51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4204E8C7-2C89-4587-9A23-094BBD80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ROS2 图谱：用固定离线演练理解接口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483BBAC7-A663-4AC1-B10C-036946BA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501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ROS2 节点 承担功能；话题 传递连续消息；服务 处理一次请求与响应；参数 配置节点行为；launch 文件把多个节点按依赖启动；为了让没有设备和 ROS2 环境的学习者也能完成练习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2CFCAC34-5E55-4AAC-843B-94A9079E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998B2453-DF95-4031-9ED2-680AB914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这不是某一型号机器人的真实接口表，而是一份用于学习安全契约的固定演练。进入真机前，再把演练名称逐项映射为对应 SDK 和固件的真实接口，并重新核对消息类型、单位、频率、权限和停止语义</a:t>
            </a:r>
          </a:p>
        </p:txBody>
      </p:sp>
      <p:sp>
        <p:nvSpPr>
          <p:cNvPr id="11" name="s4-takeaway-rule">
            <a:extLst xmlns:a="http://schemas.openxmlformats.org/drawingml/2006/main">
              <a:ext uri="{FF2B5EF4-FFF2-40B4-BE49-F238E27FC236}">
                <a16:creationId xmlns:a16="http://schemas.microsoft.com/office/drawing/2014/main" id="{AD2CA505-55FF-4143-9F64-5B560EAC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2" name="s4-takeaway">
            <a:extLst xmlns:a="http://schemas.openxmlformats.org/drawingml/2006/main">
              <a:ext uri="{FF2B5EF4-FFF2-40B4-BE49-F238E27FC236}">
                <a16:creationId xmlns:a16="http://schemas.microsoft.com/office/drawing/2014/main" id="{2770DB7E-9D4B-4228-BC3C-DE8B3742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ROS2 节点 承担功能</a:t>
            </a:r>
          </a:p>
        </p:txBody>
      </p:sp>
    </p:spTree>
    <p:extLst>
      <p:ext uri="{BB962C8B-B14F-4D97-AF65-F5344CB8AC3E}">
        <p14:creationId xmlns:p14="http://schemas.microsoft.com/office/powerpoint/2010/main" val="16795718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rule">
            <a:extLst xmlns:a="http://schemas.openxmlformats.org/drawingml/2006/main">
              <a:ext uri="{FF2B5EF4-FFF2-40B4-BE49-F238E27FC236}">
                <a16:creationId xmlns:a16="http://schemas.microsoft.com/office/drawing/2014/main" id="{A886AD6E-0D94-4564-932F-F5909CAE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D621F3A1-D6FF-426C-8FF9-A65AB7F5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3 / 7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4183B708-39A9-414E-9EC6-5771D1DB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键盘控制先把动作意图写成可验证消息</a:t>
            </a:r>
          </a:p>
        </p:txBody>
      </p:sp>
      <p:sp>
        <p:nvSpPr>
          <p:cNvPr id="4" name="s5-footer">
            <a:extLst xmlns:a="http://schemas.openxmlformats.org/drawingml/2006/main">
              <a:ext uri="{FF2B5EF4-FFF2-40B4-BE49-F238E27FC236}">
                <a16:creationId xmlns:a16="http://schemas.microsoft.com/office/drawing/2014/main" id="{606FAB4F-50DC-41C7-945D-264BB0D5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5-identity">
            <a:extLst xmlns:a="http://schemas.openxmlformats.org/drawingml/2006/main">
              <a:ext uri="{FF2B5EF4-FFF2-40B4-BE49-F238E27FC236}">
                <a16:creationId xmlns:a16="http://schemas.microsoft.com/office/drawing/2014/main" id="{1A1FE06F-BF32-4F1B-A4D5-2968EC13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EM-005 · EM-005-S05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FB68294E-4A71-498D-929F-1FDA4F77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3755A89F-C7A5-4A3E-9276-B7E1CF61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键盘控制：先定义可验证的消息契约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BDCE9A39-9BCA-4AEB-A317-423C506A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9303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键盘控制节点读取按键，把前进、后退、转向和停止映射为机器人命令。可靠实现应限制最大线速度和角速度，按键松开或输入超时后自动发送零速度，并把退出键与急停行为写在界面上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B57BB263-EB5F-4C9B-B2DE-81196F70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F38EFE0A-F8D9-42D9-B040-BA16BB9B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本节离线演练采用固定契约；前进命令为 linear.x = 0.05；左右转向只使用 angular.z 且绝对值不超过 0.10；其余分量始终为零，连续 0.50 秒没有新命令时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508BEF67-CF98-45F8-8E5A-1F82E0E1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191A75B1-3849-4E06-A81C-3B8ACC50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真正实现时，消息定义、构建方式和可执行入口应来自公开且固定版本的工作区说明；在这些信息缺失时，不应凭课件截图猜包名或接入真机</a:t>
            </a:r>
          </a:p>
        </p:txBody>
      </p:sp>
      <p:sp>
        <p:nvSpPr>
          <p:cNvPr id="13" name="s5-takeaway-rule">
            <a:extLst xmlns:a="http://schemas.openxmlformats.org/drawingml/2006/main">
              <a:ext uri="{FF2B5EF4-FFF2-40B4-BE49-F238E27FC236}">
                <a16:creationId xmlns:a16="http://schemas.microsoft.com/office/drawing/2014/main" id="{62BD4833-6360-4549-B19A-E51BEBAC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4" name="s5-takeaway">
            <a:extLst xmlns:a="http://schemas.openxmlformats.org/drawingml/2006/main">
              <a:ext uri="{FF2B5EF4-FFF2-40B4-BE49-F238E27FC236}">
                <a16:creationId xmlns:a16="http://schemas.microsoft.com/office/drawing/2014/main" id="{E1C4D8AE-0383-4423-8485-414A5707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键盘控制先把动作意图写成可验证消息</a:t>
            </a:r>
          </a:p>
        </p:txBody>
      </p:sp>
    </p:spTree>
    <p:extLst>
      <p:ext uri="{BB962C8B-B14F-4D97-AF65-F5344CB8AC3E}">
        <p14:creationId xmlns:p14="http://schemas.microsoft.com/office/powerpoint/2010/main" val="8577972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rule">
            <a:extLst xmlns:a="http://schemas.openxmlformats.org/drawingml/2006/main">
              <a:ext uri="{FF2B5EF4-FFF2-40B4-BE49-F238E27FC236}">
                <a16:creationId xmlns:a16="http://schemas.microsoft.com/office/drawing/2014/main" id="{F1226B72-041F-4ED3-BB52-04501DE0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6-eyebrow">
            <a:extLst xmlns:a="http://schemas.openxmlformats.org/drawingml/2006/main">
              <a:ext uri="{FF2B5EF4-FFF2-40B4-BE49-F238E27FC236}">
                <a16:creationId xmlns:a16="http://schemas.microsoft.com/office/drawing/2014/main" id="{6812F875-3125-4206-BE57-6E00D8B3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4 / 7</a:t>
            </a:r>
          </a:p>
        </p:txBody>
      </p:sp>
      <p:sp>
        <p:nvSpPr>
          <p:cNvPr id="3" name="s6-title">
            <a:extLst xmlns:a="http://schemas.openxmlformats.org/drawingml/2006/main">
              <a:ext uri="{FF2B5EF4-FFF2-40B4-BE49-F238E27FC236}">
                <a16:creationId xmlns:a16="http://schemas.microsoft.com/office/drawing/2014/main" id="{41E1789A-FCF9-423B-BCDF-6330F13E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Twist 用通用速度指令连接导航与设备接口</a:t>
            </a:r>
          </a:p>
        </p:txBody>
      </p:sp>
      <p:sp>
        <p:nvSpPr>
          <p:cNvPr id="4" name="s6-footer">
            <a:extLst xmlns:a="http://schemas.openxmlformats.org/drawingml/2006/main">
              <a:ext uri="{FF2B5EF4-FFF2-40B4-BE49-F238E27FC236}">
                <a16:creationId xmlns:a16="http://schemas.microsoft.com/office/drawing/2014/main" id="{67E47852-8C44-40DC-9CE9-7EE886FE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6-identity">
            <a:extLst xmlns:a="http://schemas.openxmlformats.org/drawingml/2006/main">
              <a:ext uri="{FF2B5EF4-FFF2-40B4-BE49-F238E27FC236}">
                <a16:creationId xmlns:a16="http://schemas.microsoft.com/office/drawing/2014/main" id="{D8B2F5C1-FD1E-4649-9825-77175DE5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EM-005 · EM-005-S06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25472644-54D4-4A27-BB8E-2E3C6FE9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E63D59DA-2F70-4139-AE09-C150F24F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Twist 桥接：在通用接口与设备接口之间转换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C997F654-8ABD-4403-A982-B82AA334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导航与键盘工具常发布 geometry_msgs/msg/Twist；其中线速度和角速度使用通用字段；设备驱动可能使用厂商消息或专用 API；桥接节点订阅 Twist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D8C35073-C372-44A2-BFB9-AB534A95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F8E994B1-101B-42CE-B5D2-384EC2E8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桥接不是简单“字段复制”。必须确认前进轴、旋转方向、单位、更新频率、停止语义和失联策略。测试顺序是零命令、极低速度短脉冲、停止、单轴移动，再进入组合动作；每一步都观察状态回读和安全区</a:t>
            </a:r>
          </a:p>
        </p:txBody>
      </p:sp>
      <p:sp>
        <p:nvSpPr>
          <p:cNvPr id="11" name="s6-takeaway-rule">
            <a:extLst xmlns:a="http://schemas.openxmlformats.org/drawingml/2006/main">
              <a:ext uri="{FF2B5EF4-FFF2-40B4-BE49-F238E27FC236}">
                <a16:creationId xmlns:a16="http://schemas.microsoft.com/office/drawing/2014/main" id="{082B1907-4E29-4F38-8E46-94C6C0BF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2" name="s6-takeaway">
            <a:extLst xmlns:a="http://schemas.openxmlformats.org/drawingml/2006/main">
              <a:ext uri="{FF2B5EF4-FFF2-40B4-BE49-F238E27FC236}">
                <a16:creationId xmlns:a16="http://schemas.microsoft.com/office/drawing/2014/main" id="{7B31BED9-38A6-41CE-92F4-24446BEA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Twist 用通用速度指令连接导航与设备接口</a:t>
            </a:r>
          </a:p>
        </p:txBody>
      </p:sp>
    </p:spTree>
    <p:extLst>
      <p:ext uri="{BB962C8B-B14F-4D97-AF65-F5344CB8AC3E}">
        <p14:creationId xmlns:p14="http://schemas.microsoft.com/office/powerpoint/2010/main" val="288208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rule">
            <a:extLst xmlns:a="http://schemas.openxmlformats.org/drawingml/2006/main">
              <a:ext uri="{FF2B5EF4-FFF2-40B4-BE49-F238E27FC236}">
                <a16:creationId xmlns:a16="http://schemas.microsoft.com/office/drawing/2014/main" id="{9E80B193-2C70-43AC-9662-F110334D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7-eyebrow">
            <a:extLst xmlns:a="http://schemas.openxmlformats.org/drawingml/2006/main">
              <a:ext uri="{FF2B5EF4-FFF2-40B4-BE49-F238E27FC236}">
                <a16:creationId xmlns:a16="http://schemas.microsoft.com/office/drawing/2014/main" id="{97A1CD10-A9CE-4BF4-8CA4-ADF7F042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5 / 7</a:t>
            </a:r>
          </a:p>
        </p:txBody>
      </p:sp>
      <p:sp>
        <p:nvSpPr>
          <p:cNvPr id="3" name="s7-title">
            <a:extLst xmlns:a="http://schemas.openxmlformats.org/drawingml/2006/main">
              <a:ext uri="{FF2B5EF4-FFF2-40B4-BE49-F238E27FC236}">
                <a16:creationId xmlns:a16="http://schemas.microsoft.com/office/drawing/2014/main" id="{DCFBE3D8-4A06-4ECA-B3DB-25871932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URDF 描述连杆、关节、惯性和视觉模型</a:t>
            </a:r>
          </a:p>
        </p:txBody>
      </p:sp>
      <p:sp>
        <p:nvSpPr>
          <p:cNvPr id="4" name="s7-footer">
            <a:extLst xmlns:a="http://schemas.openxmlformats.org/drawingml/2006/main">
              <a:ext uri="{FF2B5EF4-FFF2-40B4-BE49-F238E27FC236}">
                <a16:creationId xmlns:a16="http://schemas.microsoft.com/office/drawing/2014/main" id="{03BBC823-E733-4C43-97AF-8726EEFF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7-identity">
            <a:extLst xmlns:a="http://schemas.openxmlformats.org/drawingml/2006/main">
              <a:ext uri="{FF2B5EF4-FFF2-40B4-BE49-F238E27FC236}">
                <a16:creationId xmlns:a16="http://schemas.microsoft.com/office/drawing/2014/main" id="{F42B13D0-82EE-4505-8B73-76BEF922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EM-005 · EM-005-S07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3B063500-D7D1-44DE-B163-9295C90E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AC075288-47CF-48F7-B42E-B730C009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模型可视化：URDF、TF 与实机要一致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30D8DCCD-A778-4BB7-A674-0BA0729B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URDF 描述连杆、关节、惯性和视觉模型；robot_state_publisher 根据关节状态发布 TF；RViz 用来检查模型姿态与坐标关系；模型可视化通过不等于真机状态正确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0A79F08D-2075-4A7A-8308-3482D466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9774E534-B7CE-4241-AE9A-79C4C9CF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检查固定姿态时各关节是否方向一致；移动后模型是否跟随；base 、里程计与世界坐标是否形成连通 TF 树；不要为了“画面看起来对”而在 RViz 中临时补错坐标</a:t>
            </a:r>
          </a:p>
        </p:txBody>
      </p:sp>
      <p:sp>
        <p:nvSpPr>
          <p:cNvPr id="11" name="s7-takeaway-rule">
            <a:extLst xmlns:a="http://schemas.openxmlformats.org/drawingml/2006/main">
              <a:ext uri="{FF2B5EF4-FFF2-40B4-BE49-F238E27FC236}">
                <a16:creationId xmlns:a16="http://schemas.microsoft.com/office/drawing/2014/main" id="{D2537874-4563-49BA-87E1-C393EED1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2" name="s7-takeaway">
            <a:extLst xmlns:a="http://schemas.openxmlformats.org/drawingml/2006/main">
              <a:ext uri="{FF2B5EF4-FFF2-40B4-BE49-F238E27FC236}">
                <a16:creationId xmlns:a16="http://schemas.microsoft.com/office/drawing/2014/main" id="{9CBC8C86-32B2-4394-90B5-0F8988ED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URDF 描述连杆、关节、惯性和视觉模型</a:t>
            </a:r>
          </a:p>
        </p:txBody>
      </p:sp>
    </p:spTree>
    <p:extLst>
      <p:ext uri="{BB962C8B-B14F-4D97-AF65-F5344CB8AC3E}">
        <p14:creationId xmlns:p14="http://schemas.microsoft.com/office/powerpoint/2010/main" val="10214098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rule">
            <a:extLst xmlns:a="http://schemas.openxmlformats.org/drawingml/2006/main">
              <a:ext uri="{FF2B5EF4-FFF2-40B4-BE49-F238E27FC236}">
                <a16:creationId xmlns:a16="http://schemas.microsoft.com/office/drawing/2014/main" id="{84422DFF-CCF6-416B-88C6-93BBC053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8-eyebrow">
            <a:extLst xmlns:a="http://schemas.openxmlformats.org/drawingml/2006/main">
              <a:ext uri="{FF2B5EF4-FFF2-40B4-BE49-F238E27FC236}">
                <a16:creationId xmlns:a16="http://schemas.microsoft.com/office/drawing/2014/main" id="{1F33C49F-68C2-4DC4-A6F0-8159875B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6 / 7</a:t>
            </a:r>
          </a:p>
        </p:txBody>
      </p:sp>
      <p:sp>
        <p:nvSpPr>
          <p:cNvPr id="3" name="s8-title">
            <a:extLst xmlns:a="http://schemas.openxmlformats.org/drawingml/2006/main">
              <a:ext uri="{FF2B5EF4-FFF2-40B4-BE49-F238E27FC236}">
                <a16:creationId xmlns:a16="http://schemas.microsoft.com/office/drawing/2014/main" id="{9EBB0953-83A7-447F-BB6E-CF982520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Go2 四足结构支撑面较稳定</a:t>
            </a:r>
          </a:p>
        </p:txBody>
      </p:sp>
      <p:sp>
        <p:nvSpPr>
          <p:cNvPr id="4" name="s8-footer">
            <a:extLst xmlns:a="http://schemas.openxmlformats.org/drawingml/2006/main">
              <a:ext uri="{FF2B5EF4-FFF2-40B4-BE49-F238E27FC236}">
                <a16:creationId xmlns:a16="http://schemas.microsoft.com/office/drawing/2014/main" id="{C4ADBCC9-43B6-41E4-9A88-ABC367D6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8-identity">
            <a:extLst xmlns:a="http://schemas.openxmlformats.org/drawingml/2006/main">
              <a:ext uri="{FF2B5EF4-FFF2-40B4-BE49-F238E27FC236}">
                <a16:creationId xmlns:a16="http://schemas.microsoft.com/office/drawing/2014/main" id="{BB2E0375-DE7F-41F1-81FD-8241627E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EM-005 · EM-005-S08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FCFDA59C-5ED2-429D-B2D2-52EAE423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D614D8EC-7B1D-4A20-8C68-6958A4F9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1036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G1 与 Go2：同一协议，不同风险包络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2EAF5EC6-47C7-4398-A4C8-100730F1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03632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Go2 四足结构支撑面较稳定；适合教学中从速度命令、状态读取和导航接口入门；G1 人形平台的关节数、质心高度和接触切换更复杂；跌倒可能伤及设备和周围人员</a:t>
            </a:r>
          </a:p>
        </p:txBody>
      </p:sp>
      <p:sp>
        <p:nvSpPr>
          <p:cNvPr id="9" name="s8-takeaway-rule">
            <a:extLst xmlns:a="http://schemas.openxmlformats.org/drawingml/2006/main">
              <a:ext uri="{FF2B5EF4-FFF2-40B4-BE49-F238E27FC236}">
                <a16:creationId xmlns:a16="http://schemas.microsoft.com/office/drawing/2014/main" id="{83DCA925-B329-410A-A562-BD780510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0" name="s8-takeaway">
            <a:extLst xmlns:a="http://schemas.openxmlformats.org/drawingml/2006/main">
              <a:ext uri="{FF2B5EF4-FFF2-40B4-BE49-F238E27FC236}">
                <a16:creationId xmlns:a16="http://schemas.microsoft.com/office/drawing/2014/main" id="{0E212B20-6023-48BE-AEC7-59D22750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Go2 四足结构支撑面较稳定</a:t>
            </a:r>
          </a:p>
        </p:txBody>
      </p:sp>
    </p:spTree>
    <p:extLst>
      <p:ext uri="{BB962C8B-B14F-4D97-AF65-F5344CB8AC3E}">
        <p14:creationId xmlns:p14="http://schemas.microsoft.com/office/powerpoint/2010/main" val="18248221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rule">
            <a:extLst xmlns:a="http://schemas.openxmlformats.org/drawingml/2006/main">
              <a:ext uri="{FF2B5EF4-FFF2-40B4-BE49-F238E27FC236}">
                <a16:creationId xmlns:a16="http://schemas.microsoft.com/office/drawing/2014/main" id="{A0743E4A-56DB-4DF5-9C08-CADE5D8B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29CD6CB2-8C95-40B0-B094-24C9D416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7 / 7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904EDF4F-93E1-4AC6-A685-0125624C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出现异常时先停止动作并保持现场安全</a:t>
            </a:r>
          </a:p>
        </p:txBody>
      </p:sp>
      <p:sp>
        <p:nvSpPr>
          <p:cNvPr id="4" name="s9-footer">
            <a:extLst xmlns:a="http://schemas.openxmlformats.org/drawingml/2006/main">
              <a:ext uri="{FF2B5EF4-FFF2-40B4-BE49-F238E27FC236}">
                <a16:creationId xmlns:a16="http://schemas.microsoft.com/office/drawing/2014/main" id="{F283DE6E-666C-44F0-952E-0E910D90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9-identity">
            <a:extLst xmlns:a="http://schemas.openxmlformats.org/drawingml/2006/main">
              <a:ext uri="{FF2B5EF4-FFF2-40B4-BE49-F238E27FC236}">
                <a16:creationId xmlns:a16="http://schemas.microsoft.com/office/drawing/2014/main" id="{2F613567-5998-423A-AB94-6B026356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EM-005 · EM-005-S09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05482F01-C33F-4E4C-96FB-5405A58D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EC3707EA-B5C7-4633-9825-E7620498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1036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诊断顺序：不要一上来改代码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853221E9-F4DF-47CC-A8B4-98417F72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03632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出现异常时先停止动作并保持现场安全；然后按“电源与急停—物理网络—设备可达—驱动进程—节点—话题类型与频率—TF 与参数—应用逻辑—硬件故障”逐层排查；每层都留下可观察证据</a:t>
            </a:r>
          </a:p>
        </p:txBody>
      </p:sp>
      <p:sp>
        <p:nvSpPr>
          <p:cNvPr id="9" name="s9-takeaway-rule">
            <a:extLst xmlns:a="http://schemas.openxmlformats.org/drawingml/2006/main">
              <a:ext uri="{FF2B5EF4-FFF2-40B4-BE49-F238E27FC236}">
                <a16:creationId xmlns:a16="http://schemas.microsoft.com/office/drawing/2014/main" id="{657E7DBC-C859-43C7-95BA-BA9C329F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0" name="s9-takeaway">
            <a:extLst xmlns:a="http://schemas.openxmlformats.org/drawingml/2006/main">
              <a:ext uri="{FF2B5EF4-FFF2-40B4-BE49-F238E27FC236}">
                <a16:creationId xmlns:a16="http://schemas.microsoft.com/office/drawing/2014/main" id="{570073E6-D2BD-476D-92C6-BE202914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出现异常时先停止动作并保持现场安全</a:t>
            </a:r>
          </a:p>
        </p:txBody>
      </p:sp>
    </p:spTree>
    <p:extLst>
      <p:ext uri="{BB962C8B-B14F-4D97-AF65-F5344CB8AC3E}">
        <p14:creationId xmlns:p14="http://schemas.microsoft.com/office/powerpoint/2010/main" val="16666184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rule">
            <a:extLst xmlns:a="http://schemas.openxmlformats.org/drawingml/2006/main">
              <a:ext uri="{FF2B5EF4-FFF2-40B4-BE49-F238E27FC236}">
                <a16:creationId xmlns:a16="http://schemas.microsoft.com/office/drawing/2014/main" id="{DDBCEDCD-8835-483E-8179-E82A8D43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10-eyebrow">
            <a:extLst xmlns:a="http://schemas.openxmlformats.org/drawingml/2006/main">
              <a:ext uri="{FF2B5EF4-FFF2-40B4-BE49-F238E27FC236}">
                <a16:creationId xmlns:a16="http://schemas.microsoft.com/office/drawing/2014/main" id="{ACD68595-6FE7-484F-92AB-BE8F3C9A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案例与边界 1 / 1</a:t>
            </a:r>
          </a:p>
        </p:txBody>
      </p:sp>
      <p:sp>
        <p:nvSpPr>
          <p:cNvPr id="3" name="s10-title">
            <a:extLst xmlns:a="http://schemas.openxmlformats.org/drawingml/2006/main">
              <a:ext uri="{FF2B5EF4-FFF2-40B4-BE49-F238E27FC236}">
                <a16:creationId xmlns:a16="http://schemas.microsoft.com/office/drawing/2014/main" id="{F4DA9A7B-5A9F-4B9E-95C7-CF944612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固定 trace 先验证控制契约，再谈真机能力</a:t>
            </a:r>
          </a:p>
        </p:txBody>
      </p:sp>
      <p:sp>
        <p:nvSpPr>
          <p:cNvPr id="4" name="s10-footer">
            <a:extLst xmlns:a="http://schemas.openxmlformats.org/drawingml/2006/main">
              <a:ext uri="{FF2B5EF4-FFF2-40B4-BE49-F238E27FC236}">
                <a16:creationId xmlns:a16="http://schemas.microsoft.com/office/drawing/2014/main" id="{BD558B0D-E499-4283-85D4-D3B247CA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0-identity">
            <a:extLst xmlns:a="http://schemas.openxmlformats.org/drawingml/2006/main">
              <a:ext uri="{FF2B5EF4-FFF2-40B4-BE49-F238E27FC236}">
                <a16:creationId xmlns:a16="http://schemas.microsoft.com/office/drawing/2014/main" id="{4FA602C8-E84F-4ED9-8858-A969F668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EM-005 · EM-005-S10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6B553D1A-E06E-4DC9-AC83-C84753F3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165642"/>
          </a:solidFill>
          <a:ln xmlns:a="http://schemas.openxmlformats.org/drawingml/2006/main" w="0">
            <a:solidFill>
              <a:srgbClr val="165642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无需真机的固定 trace 验收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BE7B6053-1081-4F4C-8D23-D8E8D9E1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574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结果｜按上面的契约判断以下记录，预期结果是唯一的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13B117AA-CFF4-4C26-AF00-2E6109FD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边界｜如果学习者在 0.81 秒或 1.10 秒仍输出非零命令，说明安全桥接不合格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4C94EDC6-62C8-4E0F-8FB7-30D43F55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148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9525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边界｜这个演练验证的是控制契约和停止逻辑，不表示任何真实机器人已通过安全测试</a:t>
            </a:r>
          </a:p>
        </p:txBody>
      </p:sp>
      <p:sp>
        <p:nvSpPr>
          <p:cNvPr id="10" name="s10-takeaway-rule">
            <a:extLst xmlns:a="http://schemas.openxmlformats.org/drawingml/2006/main">
              <a:ext uri="{FF2B5EF4-FFF2-40B4-BE49-F238E27FC236}">
                <a16:creationId xmlns:a16="http://schemas.microsoft.com/office/drawing/2014/main" id="{8C1EC0A8-B661-4BCA-9799-51BF0E18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1" name="s10-takeaway">
            <a:extLst xmlns:a="http://schemas.openxmlformats.org/drawingml/2006/main">
              <a:ext uri="{FF2B5EF4-FFF2-40B4-BE49-F238E27FC236}">
                <a16:creationId xmlns:a16="http://schemas.microsoft.com/office/drawing/2014/main" id="{0BD7CCD5-7C84-4442-B418-0E6B0E20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固定 trace 先验证控制契约，再谈真机能力</a:t>
            </a:r>
          </a:p>
        </p:txBody>
      </p:sp>
    </p:spTree>
    <p:extLst>
      <p:ext uri="{BB962C8B-B14F-4D97-AF65-F5344CB8AC3E}">
        <p14:creationId xmlns:p14="http://schemas.microsoft.com/office/powerpoint/2010/main" val="13612650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1-rule">
            <a:extLst xmlns:a="http://schemas.openxmlformats.org/drawingml/2006/main">
              <a:ext uri="{FF2B5EF4-FFF2-40B4-BE49-F238E27FC236}">
                <a16:creationId xmlns:a16="http://schemas.microsoft.com/office/drawing/2014/main" id="{5D74A01C-2596-45B7-98B3-306D90A5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11-eyebrow">
            <a:extLst xmlns:a="http://schemas.openxmlformats.org/drawingml/2006/main">
              <a:ext uri="{FF2B5EF4-FFF2-40B4-BE49-F238E27FC236}">
                <a16:creationId xmlns:a16="http://schemas.microsoft.com/office/drawing/2014/main" id="{F940970F-17EE-407D-A764-ED370762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动手实践</a:t>
            </a:r>
          </a:p>
        </p:txBody>
      </p:sp>
      <p:sp>
        <p:nvSpPr>
          <p:cNvPr id="3" name="s11-title">
            <a:extLst xmlns:a="http://schemas.openxmlformats.org/drawingml/2006/main">
              <a:ext uri="{FF2B5EF4-FFF2-40B4-BE49-F238E27FC236}">
                <a16:creationId xmlns:a16="http://schemas.microsoft.com/office/drawing/2014/main" id="{A4A54166-1C60-4952-8AA2-3AB2FCF4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G1、Go2 与 ROS2 实训：一次可验收练习</a:t>
            </a:r>
          </a:p>
        </p:txBody>
      </p:sp>
      <p:sp>
        <p:nvSpPr>
          <p:cNvPr id="4" name="s11-footer">
            <a:extLst xmlns:a="http://schemas.openxmlformats.org/drawingml/2006/main">
              <a:ext uri="{FF2B5EF4-FFF2-40B4-BE49-F238E27FC236}">
                <a16:creationId xmlns:a16="http://schemas.microsoft.com/office/drawing/2014/main" id="{9C22D7D2-2BF5-4C64-A909-B0026843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1-identity">
            <a:extLst xmlns:a="http://schemas.openxmlformats.org/drawingml/2006/main">
              <a:ext uri="{FF2B5EF4-FFF2-40B4-BE49-F238E27FC236}">
                <a16:creationId xmlns:a16="http://schemas.microsoft.com/office/drawing/2014/main" id="{80DC5FC4-CA1C-41CF-A8A8-D56CC3D6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EM-005 · EM-005-S11</a:t>
            </a:r>
          </a:p>
        </p:txBody>
      </p:sp>
      <p:sp>
        <p:nvSpPr>
          <p:cNvPr id="6" name="practice-circle-0">
            <a:extLst xmlns:a="http://schemas.openxmlformats.org/drawingml/2006/main">
              <a:ext uri="{FF2B5EF4-FFF2-40B4-BE49-F238E27FC236}">
                <a16:creationId xmlns:a16="http://schemas.microsoft.com/office/drawing/2014/main" id="{7435A786-4436-481F-A758-6723A8C2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64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practice-number-0">
            <a:extLst xmlns:a="http://schemas.openxmlformats.org/drawingml/2006/main">
              <a:ext uri="{FF2B5EF4-FFF2-40B4-BE49-F238E27FC236}">
                <a16:creationId xmlns:a16="http://schemas.microsoft.com/office/drawing/2014/main" id="{09920787-7655-4D92-965E-4EEE9465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practice-item-0">
            <a:extLst xmlns:a="http://schemas.openxmlformats.org/drawingml/2006/main">
              <a:ext uri="{FF2B5EF4-FFF2-40B4-BE49-F238E27FC236}">
                <a16:creationId xmlns:a16="http://schemas.microsoft.com/office/drawing/2014/main" id="{022C29DF-187C-4F37-AEA5-6CA80829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3921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根据固定图谱，画出四个节点与三个话题的方向，并标出哪一处拥有最终放行权；独立计算固定 trace 的六行预期输出，再与表格答案比较；任何一行不一致都要写出错误原因</a:t>
            </a:r>
          </a:p>
        </p:txBody>
      </p:sp>
      <p:sp>
        <p:nvSpPr>
          <p:cNvPr id="9" name="practice-connector-0">
            <a:extLst xmlns:a="http://schemas.openxmlformats.org/drawingml/2006/main">
              <a:ext uri="{FF2B5EF4-FFF2-40B4-BE49-F238E27FC236}">
                <a16:creationId xmlns:a16="http://schemas.microsoft.com/office/drawing/2014/main" id="{5E49AF2C-58E9-406A-BAC0-1041B1E4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B4F"/>
            </a:solidFill>
            <a:prstDash val="solid"/>
          </a:ln>
        </p:spPr>
      </p:sp>
      <p:sp>
        <p:nvSpPr>
          <p:cNvPr id="10" name="practice-circle-1">
            <a:extLst xmlns:a="http://schemas.openxmlformats.org/drawingml/2006/main">
              <a:ext uri="{FF2B5EF4-FFF2-40B4-BE49-F238E27FC236}">
                <a16:creationId xmlns:a16="http://schemas.microsoft.com/office/drawing/2014/main" id="{9630AE8D-A648-42FE-9B3F-D3506288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64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practice-number-1">
            <a:extLst xmlns:a="http://schemas.openxmlformats.org/drawingml/2006/main">
              <a:ext uri="{FF2B5EF4-FFF2-40B4-BE49-F238E27FC236}">
                <a16:creationId xmlns:a16="http://schemas.microsoft.com/office/drawing/2014/main" id="{E3D60D98-DB00-4A4A-B14B-8492230C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practice-item-1">
            <a:extLst xmlns:a="http://schemas.openxmlformats.org/drawingml/2006/main">
              <a:ext uri="{FF2B5EF4-FFF2-40B4-BE49-F238E27FC236}">
                <a16:creationId xmlns:a16="http://schemas.microsoft.com/office/drawing/2014/main" id="{68600FB8-457D-4E8D-A113-A4B42C34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新增两个测试：一个越过线速度限幅，一个在 stopped 状态发出转向命令，写出桥接应输出什么</a:t>
            </a:r>
          </a:p>
        </p:txBody>
      </p:sp>
      <p:sp>
        <p:nvSpPr>
          <p:cNvPr id="13" name="practice-connector-1">
            <a:extLst xmlns:a="http://schemas.openxmlformats.org/drawingml/2006/main">
              <a:ext uri="{FF2B5EF4-FFF2-40B4-BE49-F238E27FC236}">
                <a16:creationId xmlns:a16="http://schemas.microsoft.com/office/drawing/2014/main" id="{E76D10A4-9713-4E4A-B082-C5B24EB1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B4F"/>
            </a:solidFill>
            <a:prstDash val="solid"/>
          </a:ln>
        </p:spPr>
      </p:sp>
      <p:sp>
        <p:nvSpPr>
          <p:cNvPr id="14" name="practice-circle-2">
            <a:extLst xmlns:a="http://schemas.openxmlformats.org/drawingml/2006/main">
              <a:ext uri="{FF2B5EF4-FFF2-40B4-BE49-F238E27FC236}">
                <a16:creationId xmlns:a16="http://schemas.microsoft.com/office/drawing/2014/main" id="{CB1B72F4-0034-4E0F-9786-CE10F69A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practice-number-2">
            <a:extLst xmlns:a="http://schemas.openxmlformats.org/drawingml/2006/main">
              <a:ext uri="{FF2B5EF4-FFF2-40B4-BE49-F238E27FC236}">
                <a16:creationId xmlns:a16="http://schemas.microsoft.com/office/drawing/2014/main" id="{733ED1EC-1023-41BC-BA13-83630962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practice-item-2">
            <a:extLst xmlns:a="http://schemas.openxmlformats.org/drawingml/2006/main">
              <a:ext uri="{FF2B5EF4-FFF2-40B4-BE49-F238E27FC236}">
                <a16:creationId xmlns:a16="http://schemas.microsoft.com/office/drawing/2014/main" id="{7D34B33C-298E-433C-928C-D22A983D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3921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设计一份未来真机实验记录模板：设备与软件版本、人员分工、接口映射、启动顺序、动作、回读、异常、停止和结论。没有完成接口映射与现场批准时，模板保持“禁止真机动作”</a:t>
            </a:r>
          </a:p>
        </p:txBody>
      </p:sp>
    </p:spTree>
    <p:extLst>
      <p:ext uri="{BB962C8B-B14F-4D97-AF65-F5344CB8AC3E}">
        <p14:creationId xmlns:p14="http://schemas.microsoft.com/office/powerpoint/2010/main" val="9494624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2-rule">
            <a:extLst xmlns:a="http://schemas.openxmlformats.org/drawingml/2006/main">
              <a:ext uri="{FF2B5EF4-FFF2-40B4-BE49-F238E27FC236}">
                <a16:creationId xmlns:a16="http://schemas.microsoft.com/office/drawing/2014/main" id="{B36BB0F1-7344-494D-A6B3-71DCEA17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12-eyebrow">
            <a:extLst xmlns:a="http://schemas.openxmlformats.org/drawingml/2006/main">
              <a:ext uri="{FF2B5EF4-FFF2-40B4-BE49-F238E27FC236}">
                <a16:creationId xmlns:a16="http://schemas.microsoft.com/office/drawing/2014/main" id="{7BEF0B51-355C-4975-9387-4AB441CC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课后复盘</a:t>
            </a:r>
          </a:p>
        </p:txBody>
      </p:sp>
      <p:sp>
        <p:nvSpPr>
          <p:cNvPr id="3" name="s12-title">
            <a:extLst xmlns:a="http://schemas.openxmlformats.org/drawingml/2006/main">
              <a:ext uri="{FF2B5EF4-FFF2-40B4-BE49-F238E27FC236}">
                <a16:creationId xmlns:a16="http://schemas.microsoft.com/office/drawing/2014/main" id="{5C759DF4-B0AB-4514-802A-0E716400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G1、Go2 与 ROS2 实训：判断时先抓住三点</a:t>
            </a:r>
          </a:p>
        </p:txBody>
      </p:sp>
      <p:sp>
        <p:nvSpPr>
          <p:cNvPr id="4" name="s12-footer">
            <a:extLst xmlns:a="http://schemas.openxmlformats.org/drawingml/2006/main">
              <a:ext uri="{FF2B5EF4-FFF2-40B4-BE49-F238E27FC236}">
                <a16:creationId xmlns:a16="http://schemas.microsoft.com/office/drawing/2014/main" id="{8C9AE1B3-8DF5-4195-962D-619B8C03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2-identity">
            <a:extLst xmlns:a="http://schemas.openxmlformats.org/drawingml/2006/main">
              <a:ext uri="{FF2B5EF4-FFF2-40B4-BE49-F238E27FC236}">
                <a16:creationId xmlns:a16="http://schemas.microsoft.com/office/drawing/2014/main" id="{A7C8D6D7-1D88-4564-8345-70317F99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EM-005 · EM-005-S12</a:t>
            </a:r>
          </a:p>
        </p:txBody>
      </p:sp>
      <p:sp>
        <p:nvSpPr>
          <p:cNvPr id="6" name="recap-circle-0">
            <a:extLst xmlns:a="http://schemas.openxmlformats.org/drawingml/2006/main">
              <a:ext uri="{FF2B5EF4-FFF2-40B4-BE49-F238E27FC236}">
                <a16:creationId xmlns:a16="http://schemas.microsoft.com/office/drawing/2014/main" id="{5E87C9AC-36C3-4AB1-A088-1920ED0C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64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recap-number-0">
            <a:extLst xmlns:a="http://schemas.openxmlformats.org/drawingml/2006/main">
              <a:ext uri="{FF2B5EF4-FFF2-40B4-BE49-F238E27FC236}">
                <a16:creationId xmlns:a16="http://schemas.microsoft.com/office/drawing/2014/main" id="{8BD3D193-4F8E-4E75-9E6F-977126E2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recap-item-0">
            <a:extLst xmlns:a="http://schemas.openxmlformats.org/drawingml/2006/main">
              <a:ext uri="{FF2B5EF4-FFF2-40B4-BE49-F238E27FC236}">
                <a16:creationId xmlns:a16="http://schemas.microsoft.com/office/drawing/2014/main" id="{AC098690-6782-4C1C-8926-1192AC32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上电前清空活动区域</a:t>
            </a:r>
          </a:p>
        </p:txBody>
      </p:sp>
      <p:sp>
        <p:nvSpPr>
          <p:cNvPr id="9" name="recap-connector-0">
            <a:extLst xmlns:a="http://schemas.openxmlformats.org/drawingml/2006/main">
              <a:ext uri="{FF2B5EF4-FFF2-40B4-BE49-F238E27FC236}">
                <a16:creationId xmlns:a16="http://schemas.microsoft.com/office/drawing/2014/main" id="{D6EF948E-BF0B-42A5-86FD-760996DD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B4F"/>
            </a:solidFill>
            <a:prstDash val="solid"/>
          </a:ln>
        </p:spPr>
      </p:sp>
      <p:sp>
        <p:nvSpPr>
          <p:cNvPr id="10" name="recap-circle-1">
            <a:extLst xmlns:a="http://schemas.openxmlformats.org/drawingml/2006/main">
              <a:ext uri="{FF2B5EF4-FFF2-40B4-BE49-F238E27FC236}">
                <a16:creationId xmlns:a16="http://schemas.microsoft.com/office/drawing/2014/main" id="{76142CEC-2D75-4D19-8A8F-B4BF2C62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64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ecap-number-1">
            <a:extLst xmlns:a="http://schemas.openxmlformats.org/drawingml/2006/main">
              <a:ext uri="{FF2B5EF4-FFF2-40B4-BE49-F238E27FC236}">
                <a16:creationId xmlns:a16="http://schemas.microsoft.com/office/drawing/2014/main" id="{88E39C10-B18C-48DA-9EE6-E4471DB4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recap-item-1">
            <a:extLst xmlns:a="http://schemas.openxmlformats.org/drawingml/2006/main">
              <a:ext uri="{FF2B5EF4-FFF2-40B4-BE49-F238E27FC236}">
                <a16:creationId xmlns:a16="http://schemas.microsoft.com/office/drawing/2014/main" id="{6728E3EB-7D68-4270-B096-65FF16CE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Twist 用通用速度指令连接导航与设备接口</a:t>
            </a:r>
          </a:p>
        </p:txBody>
      </p:sp>
      <p:sp>
        <p:nvSpPr>
          <p:cNvPr id="13" name="recap-connector-1">
            <a:extLst xmlns:a="http://schemas.openxmlformats.org/drawingml/2006/main">
              <a:ext uri="{FF2B5EF4-FFF2-40B4-BE49-F238E27FC236}">
                <a16:creationId xmlns:a16="http://schemas.microsoft.com/office/drawing/2014/main" id="{50278E47-C07A-4DEB-9802-D78A2871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B4F"/>
            </a:solidFill>
            <a:prstDash val="solid"/>
          </a:ln>
        </p:spPr>
      </p:sp>
      <p:sp>
        <p:nvSpPr>
          <p:cNvPr id="14" name="recap-circle-2">
            <a:extLst xmlns:a="http://schemas.openxmlformats.org/drawingml/2006/main">
              <a:ext uri="{FF2B5EF4-FFF2-40B4-BE49-F238E27FC236}">
                <a16:creationId xmlns:a16="http://schemas.microsoft.com/office/drawing/2014/main" id="{27021ABE-72ED-4933-AD5F-E50FCD21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recap-number-2">
            <a:extLst xmlns:a="http://schemas.openxmlformats.org/drawingml/2006/main">
              <a:ext uri="{FF2B5EF4-FFF2-40B4-BE49-F238E27FC236}">
                <a16:creationId xmlns:a16="http://schemas.microsoft.com/office/drawing/2014/main" id="{1B5DA9E6-4D8D-42E6-9384-A71FD107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recap-item-2">
            <a:extLst xmlns:a="http://schemas.openxmlformats.org/drawingml/2006/main">
              <a:ext uri="{FF2B5EF4-FFF2-40B4-BE49-F238E27FC236}">
                <a16:creationId xmlns:a16="http://schemas.microsoft.com/office/drawing/2014/main" id="{F0B32E5E-4356-465E-9F7E-3E7938C2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出现异常时先停止动作并保持现场安全</a:t>
            </a:r>
          </a:p>
        </p:txBody>
      </p:sp>
    </p:spTree>
    <p:extLst>
      <p:ext uri="{BB962C8B-B14F-4D97-AF65-F5344CB8AC3E}">
        <p14:creationId xmlns:p14="http://schemas.microsoft.com/office/powerpoint/2010/main" val="4262992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3-rule">
            <a:extLst xmlns:a="http://schemas.openxmlformats.org/drawingml/2006/main">
              <a:ext uri="{FF2B5EF4-FFF2-40B4-BE49-F238E27FC236}">
                <a16:creationId xmlns:a16="http://schemas.microsoft.com/office/drawing/2014/main" id="{EB2C2FB6-0295-456B-8DBB-2C37469B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13-eyebrow">
            <a:extLst xmlns:a="http://schemas.openxmlformats.org/drawingml/2006/main">
              <a:ext uri="{FF2B5EF4-FFF2-40B4-BE49-F238E27FC236}">
                <a16:creationId xmlns:a16="http://schemas.microsoft.com/office/drawing/2014/main" id="{5B00B3F1-EB7A-491E-94C4-C37D5AEA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来源与延伸</a:t>
            </a:r>
          </a:p>
        </p:txBody>
      </p:sp>
      <p:sp>
        <p:nvSpPr>
          <p:cNvPr id="3" name="s13-title">
            <a:extLst xmlns:a="http://schemas.openxmlformats.org/drawingml/2006/main">
              <a:ext uri="{FF2B5EF4-FFF2-40B4-BE49-F238E27FC236}">
                <a16:creationId xmlns:a16="http://schemas.microsoft.com/office/drawing/2014/main" id="{CF1A1D9C-6862-40AD-987C-54C6D1E6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G1、Go2 与 ROS2 实训：依据、边界与延伸</a:t>
            </a:r>
          </a:p>
        </p:txBody>
      </p:sp>
      <p:sp>
        <p:nvSpPr>
          <p:cNvPr id="4" name="s13-footer">
            <a:extLst xmlns:a="http://schemas.openxmlformats.org/drawingml/2006/main">
              <a:ext uri="{FF2B5EF4-FFF2-40B4-BE49-F238E27FC236}">
                <a16:creationId xmlns:a16="http://schemas.microsoft.com/office/drawing/2014/main" id="{6E4C297A-7B8A-48DC-9F61-BEC48ED0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3-identity">
            <a:extLst xmlns:a="http://schemas.openxmlformats.org/drawingml/2006/main">
              <a:ext uri="{FF2B5EF4-FFF2-40B4-BE49-F238E27FC236}">
                <a16:creationId xmlns:a16="http://schemas.microsoft.com/office/drawing/2014/main" id="{F9D15D64-3474-4B64-AF64-42873500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EM-005 · EM-005-S13</a:t>
            </a:r>
          </a:p>
        </p:txBody>
      </p:sp>
      <p:sp>
        <p:nvSpPr>
          <p:cNvPr id="6" name="source-0">
            <a:extLst xmlns:a="http://schemas.openxmlformats.org/drawingml/2006/main">
              <a:ext uri="{FF2B5EF4-FFF2-40B4-BE49-F238E27FC236}">
                <a16:creationId xmlns:a16="http://schemas.microsoft.com/office/drawing/2014/main" id="{1C4D9CAD-BDFA-4B01-8661-B6B68B40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9525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01  团队既有课程资料经重新组织、改写与原创视觉重制</a:t>
            </a:r>
          </a:p>
        </p:txBody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1959EF68-4A44-4493-9341-D0EE73BD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02  ROS 2 Jazzy：基本概念：节点、话题、服务、参数和动作的官方概念入口</a:t>
            </a:r>
          </a:p>
        </p:txBody>
      </p:sp>
      <p:sp>
        <p:nvSpPr>
          <p:cNvPr id="8" name="source-2">
            <a:extLst xmlns:a="http://schemas.openxmlformats.org/drawingml/2006/main">
              <a:ext uri="{FF2B5EF4-FFF2-40B4-BE49-F238E27FC236}">
                <a16:creationId xmlns:a16="http://schemas.microsoft.com/office/drawing/2014/main" id="{84D294F8-DF78-4ACA-BB57-089145BE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03  ROS 2 geometry_msgs/msg/Twist ：本节离线消息契约所用类型的官方定义</a:t>
            </a:r>
          </a:p>
        </p:txBody>
      </p:sp>
      <p:sp>
        <p:nvSpPr>
          <p:cNvPr id="9" name="source-3">
            <a:extLst xmlns:a="http://schemas.openxmlformats.org/drawingml/2006/main">
              <a:ext uri="{FF2B5EF4-FFF2-40B4-BE49-F238E27FC236}">
                <a16:creationId xmlns:a16="http://schemas.microsoft.com/office/drawing/2014/main" id="{A24EFD4E-9CAC-4E04-AEBD-BEA3C832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756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04  真机动作必须使用对应型号、固件与 SDK 的官方接口，并在具备安全分工、保护空间和急停条件的现场完成；本页离线 trace 不能替代真机安全验证</a:t>
            </a:r>
          </a:p>
        </p:txBody>
      </p:sp>
      <p:sp>
        <p:nvSpPr>
          <p:cNvPr id="10" name="s13-takeaway-rule">
            <a:extLst xmlns:a="http://schemas.openxmlformats.org/drawingml/2006/main">
              <a:ext uri="{FF2B5EF4-FFF2-40B4-BE49-F238E27FC236}">
                <a16:creationId xmlns:a16="http://schemas.microsoft.com/office/drawing/2014/main" id="{33BA89FA-03B5-4647-866E-4AC7BEC3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1" name="s13-takeaway">
            <a:extLst xmlns:a="http://schemas.openxmlformats.org/drawingml/2006/main">
              <a:ext uri="{FF2B5EF4-FFF2-40B4-BE49-F238E27FC236}">
                <a16:creationId xmlns:a16="http://schemas.microsoft.com/office/drawing/2014/main" id="{36EF36DA-427C-49FF-A2E8-BA734486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课程正文与幻灯片共享同一知识主线，图片和视频用于帮助理解本节概念与案例。</a:t>
            </a:r>
          </a:p>
        </p:txBody>
      </p:sp>
    </p:spTree>
    <p:extLst>
      <p:ext uri="{BB962C8B-B14F-4D97-AF65-F5344CB8AC3E}">
        <p14:creationId xmlns:p14="http://schemas.microsoft.com/office/powerpoint/2010/main" val="278759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2026-07-12T08:20:22.1380000Z</dcterms:created>
  <dcterms:modified xsi:type="dcterms:W3CDTF">2026-07-12T08:20:22.1380000Z</dcterms:modified>
</coreProperties>
</file>