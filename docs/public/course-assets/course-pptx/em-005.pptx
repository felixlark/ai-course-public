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b0df20f319446f2" /><Relationship Type="http://schemas.openxmlformats.org/officeDocument/2006/relationships/extended-properties" Target="/docProps/app.xml" Id="Rcf34bb68cb8148cf" /><Relationship Type="http://schemas.openxmlformats.org/officeDocument/2006/relationships/officeDocument" Target="/ppt/presentation.xml" Id="Raa5b5bc3d65b43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edc51be592342d0"/>
  </p:sldMasterIdLst>
  <p:notesMasterIdLst>
    <p:notesMasterId xmlns:r="http://schemas.openxmlformats.org/officeDocument/2006/relationships" r:id="R9f9c251b23b54361"/>
  </p:notesMasterIdLst>
  <p:sldIdLst>
    <p:sldId xmlns:r="http://schemas.openxmlformats.org/officeDocument/2006/relationships" id="256" r:id="R4ae6be37808f4fd9"/>
    <p:sldId xmlns:r="http://schemas.openxmlformats.org/officeDocument/2006/relationships" id="257" r:id="R01ad425f337b4bc9"/>
    <p:sldId xmlns:r="http://schemas.openxmlformats.org/officeDocument/2006/relationships" id="258" r:id="R9aac595c31eb4816"/>
    <p:sldId xmlns:r="http://schemas.openxmlformats.org/officeDocument/2006/relationships" id="259" r:id="R0bd5c7d84ba0425d"/>
    <p:sldId xmlns:r="http://schemas.openxmlformats.org/officeDocument/2006/relationships" id="260" r:id="R820d0878725f4dac"/>
    <p:sldId xmlns:r="http://schemas.openxmlformats.org/officeDocument/2006/relationships" id="261" r:id="Re2594071654644ab"/>
    <p:sldId xmlns:r="http://schemas.openxmlformats.org/officeDocument/2006/relationships" id="262" r:id="R7f5d14fe816d49f6"/>
    <p:sldId xmlns:r="http://schemas.openxmlformats.org/officeDocument/2006/relationships" id="263" r:id="R8c8ddb2876f24d34"/>
    <p:sldId xmlns:r="http://schemas.openxmlformats.org/officeDocument/2006/relationships" id="264" r:id="Re76faabe6af04e61"/>
    <p:sldId xmlns:r="http://schemas.openxmlformats.org/officeDocument/2006/relationships" id="265" r:id="Rcc9124a4762a4a30"/>
    <p:sldId xmlns:r="http://schemas.openxmlformats.org/officeDocument/2006/relationships" id="266" r:id="R4026cf0a2178489a"/>
    <p:sldId xmlns:r="http://schemas.openxmlformats.org/officeDocument/2006/relationships" id="267" r:id="Re14c5f7f0f554eb7"/>
    <p:sldId xmlns:r="http://schemas.openxmlformats.org/officeDocument/2006/relationships" id="268" r:id="Rfb11499316d341e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95bdd67484c4ade" /><Relationship Type="http://schemas.openxmlformats.org/officeDocument/2006/relationships/slideMaster" Target="/ppt/slideMasters/slideMaster1.xml" Id="Reedc51be592342d0" /><Relationship Type="http://schemas.openxmlformats.org/officeDocument/2006/relationships/notesMaster" Target="/ppt/notesMasters/notesMaster1.xml" Id="R9f9c251b23b54361" /><Relationship Type="http://schemas.openxmlformats.org/officeDocument/2006/relationships/presProps" Target="/ppt/presProps.xml" Id="Rf2041658eb1a496d" /><Relationship Type="http://schemas.openxmlformats.org/officeDocument/2006/relationships/tableStyles" Target="/ppt/tableStyles.xml" Id="R880e99d98d38482a" /><Relationship Type="http://schemas.openxmlformats.org/officeDocument/2006/relationships/slide" Target="/ppt/slides/slide1.xml" Id="R4ae6be37808f4fd9" /><Relationship Type="http://schemas.openxmlformats.org/officeDocument/2006/relationships/slide" Target="/ppt/slides/slide2.xml" Id="R01ad425f337b4bc9" /><Relationship Type="http://schemas.openxmlformats.org/officeDocument/2006/relationships/slide" Target="/ppt/slides/slide3.xml" Id="R9aac595c31eb4816" /><Relationship Type="http://schemas.openxmlformats.org/officeDocument/2006/relationships/slide" Target="/ppt/slides/slide4.xml" Id="R0bd5c7d84ba0425d" /><Relationship Type="http://schemas.openxmlformats.org/officeDocument/2006/relationships/slide" Target="/ppt/slides/slide5.xml" Id="R820d0878725f4dac" /><Relationship Type="http://schemas.openxmlformats.org/officeDocument/2006/relationships/slide" Target="/ppt/slides/slide6.xml" Id="Re2594071654644ab" /><Relationship Type="http://schemas.openxmlformats.org/officeDocument/2006/relationships/slide" Target="/ppt/slides/slide7.xml" Id="R7f5d14fe816d49f6" /><Relationship Type="http://schemas.openxmlformats.org/officeDocument/2006/relationships/slide" Target="/ppt/slides/slide8.xml" Id="R8c8ddb2876f24d34" /><Relationship Type="http://schemas.openxmlformats.org/officeDocument/2006/relationships/slide" Target="/ppt/slides/slide9.xml" Id="Re76faabe6af04e61" /><Relationship Type="http://schemas.openxmlformats.org/officeDocument/2006/relationships/slide" Target="/ppt/slides/slide10.xml" Id="Rcc9124a4762a4a30" /><Relationship Type="http://schemas.openxmlformats.org/officeDocument/2006/relationships/slide" Target="/ppt/slides/slide11.xml" Id="R4026cf0a2178489a" /><Relationship Type="http://schemas.openxmlformats.org/officeDocument/2006/relationships/slide" Target="/ppt/slides/slide12.xml" Id="Re14c5f7f0f554eb7" /><Relationship Type="http://schemas.openxmlformats.org/officeDocument/2006/relationships/slide" Target="/ppt/slides/slide13.xml" Id="Rfb11499316d341e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0101cf06ca049f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b5becb5bc7b4c60" /><Relationship Type="http://schemas.openxmlformats.org/officeDocument/2006/relationships/notesMaster" Target="/ppt/notesMasters/notesMaster1.xml" Id="R4b0de17b3c09442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b331bcff39842c1" /><Relationship Type="http://schemas.openxmlformats.org/officeDocument/2006/relationships/notesMaster" Target="/ppt/notesMasters/notesMaster1.xml" Id="R1706996a532748e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f133819363e41ae" /><Relationship Type="http://schemas.openxmlformats.org/officeDocument/2006/relationships/notesMaster" Target="/ppt/notesMasters/notesMaster1.xml" Id="R17ad5135551d4f8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aae09395ee244bc" /><Relationship Type="http://schemas.openxmlformats.org/officeDocument/2006/relationships/notesMaster" Target="/ppt/notesMasters/notesMaster1.xml" Id="R8d628cd1ae734d1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ef070205bd94dac" /><Relationship Type="http://schemas.openxmlformats.org/officeDocument/2006/relationships/notesMaster" Target="/ppt/notesMasters/notesMaster1.xml" Id="Rba2aff1b93644c3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6727db24be243c9" /><Relationship Type="http://schemas.openxmlformats.org/officeDocument/2006/relationships/notesMaster" Target="/ppt/notesMasters/notesMaster1.xml" Id="Rac9ff00b3aa4482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9e3a9f3005c48e5" /><Relationship Type="http://schemas.openxmlformats.org/officeDocument/2006/relationships/notesMaster" Target="/ppt/notesMasters/notesMaster1.xml" Id="R154ed9320d8a454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84b68d154034ff0" /><Relationship Type="http://schemas.openxmlformats.org/officeDocument/2006/relationships/notesMaster" Target="/ppt/notesMasters/notesMaster1.xml" Id="R609bafb836bd4c2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5d9e0fad5e84866" /><Relationship Type="http://schemas.openxmlformats.org/officeDocument/2006/relationships/notesMaster" Target="/ppt/notesMasters/notesMaster1.xml" Id="R4ce0d244cf0841b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5860e6fe9b141fe" /><Relationship Type="http://schemas.openxmlformats.org/officeDocument/2006/relationships/notesMaster" Target="/ppt/notesMasters/notesMaster1.xml" Id="Re3cb6c58c4f1424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4a997bb825044c6" /><Relationship Type="http://schemas.openxmlformats.org/officeDocument/2006/relationships/notesMaster" Target="/ppt/notesMasters/notesMaster1.xml" Id="R4b35bdf043b64ec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e78de6b162646df" /><Relationship Type="http://schemas.openxmlformats.org/officeDocument/2006/relationships/notesMaster" Target="/ppt/notesMasters/notesMaster1.xml" Id="R55ffe83a7b7646a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be44bca7cf4442c" /><Relationship Type="http://schemas.openxmlformats.org/officeDocument/2006/relationships/notesMaster" Target="/ppt/notesMasters/notesMaster1.xml" Id="R0b793352c27947f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f132db038d4e8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dcbb2c44dac48d0" /><Relationship Type="http://schemas.openxmlformats.org/officeDocument/2006/relationships/slideLayout" Target="/ppt/slideLayouts/slideLayout1.xml" Id="Rda63c60988354c5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63c60988354c5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bb9654bc184242" /><Relationship Type="http://schemas.openxmlformats.org/officeDocument/2006/relationships/notesSlide" Target="/ppt/notesSlides/notesSlide1.xml" Id="R5a3824be38004db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842ec1ca6d4e7f" /><Relationship Type="http://schemas.openxmlformats.org/officeDocument/2006/relationships/notesSlide" Target="/ppt/notesSlides/notesSlide2.xml" Id="Ree1c093b5f064e1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f5d5b632fb48f1" /><Relationship Type="http://schemas.openxmlformats.org/officeDocument/2006/relationships/notesSlide" Target="/ppt/notesSlides/notesSlide3.xml" Id="R06ad2fa32d3e45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ef4cc6dffc4520" /><Relationship Type="http://schemas.openxmlformats.org/officeDocument/2006/relationships/notesSlide" Target="/ppt/notesSlides/notesSlide4.xml" Id="R084f85f1d536446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25622bbc614762" /><Relationship Type="http://schemas.openxmlformats.org/officeDocument/2006/relationships/notesSlide" Target="/ppt/notesSlides/notesSlide5.xml" Id="R9bcc0051ab7545b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36313b7f014043" /><Relationship Type="http://schemas.openxmlformats.org/officeDocument/2006/relationships/notesSlide" Target="/ppt/notesSlides/notesSlide6.xml" Id="R6ccf578761734a4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8e8e66864541af" /><Relationship Type="http://schemas.openxmlformats.org/officeDocument/2006/relationships/notesSlide" Target="/ppt/notesSlides/notesSlide7.xml" Id="R00051a1d2532419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f47e3c5e774773" /><Relationship Type="http://schemas.openxmlformats.org/officeDocument/2006/relationships/notesSlide" Target="/ppt/notesSlides/notesSlide8.xml" Id="R5f2b3721f1be4ac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6eec3aa34f496c" /><Relationship Type="http://schemas.openxmlformats.org/officeDocument/2006/relationships/notesSlide" Target="/ppt/notesSlides/notesSlide9.xml" Id="Rbecdbdec2ff04fd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25491abbb148f3" /><Relationship Type="http://schemas.openxmlformats.org/officeDocument/2006/relationships/notesSlide" Target="/ppt/notesSlides/notesSlide10.xml" Id="R09886beb9f2c427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ed53f5fade45f4" /><Relationship Type="http://schemas.openxmlformats.org/officeDocument/2006/relationships/notesSlide" Target="/ppt/notesSlides/notesSlide11.xml" Id="R84eb6b23b0094dc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f423e4c4554e7f" /><Relationship Type="http://schemas.openxmlformats.org/officeDocument/2006/relationships/notesSlide" Target="/ppt/notesSlides/notesSlide12.xml" Id="R4eb645bfb012434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dccb8fb4a64d59" /><Relationship Type="http://schemas.openxmlformats.org/officeDocument/2006/relationships/notesSlide" Target="/ppt/notesSlides/notesSlide13.xml" Id="Ra1fc8791d18948e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E7A2E26B-046B-41FE-9AFB-2313E841B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4F839A07-8BB0-4579-BB30-58835F5C2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9F71CF0E-226B-41E4-957C-52E0DE1F0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35D02033-3FBC-4909-9379-B6D155AD0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21E8BD76-A187-4B5A-9982-645175EF3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C498AD64-873A-4682-AE77-E135732F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9B72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2F2C4BA7-2232-4000-9A79-34BFC811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第 3 章 · 具身智能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87256A5-3144-4837-B0B3-3048E2999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G1、Go2 与 ROS2 实训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89217CE0-EE1C-4963-B755-4ABE5B49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从安全检查、ROS2 节点和话题进入基础动作、状态读取与异常排查。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6A650DAB-9056-470C-A3FC-762B1E377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ROS2 让传感器、控制器、可视化和应用程序通过明确接口协作；但“节点都启动了”并不代表机器人适合动作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0A96A277-6CA9-427B-9C76-04444438B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29E6A5ED-8389-4F8E-8E0C-E25F7D316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D9B72"/>
                </a:solidFill>
                <a:latin typeface="PingFang SC"/>
                <a:ea typeface="PingFang SC"/>
                <a:cs typeface="PingFang SC"/>
              </a:rPr>
              <a:t>EM-005 · EM-005-S01</a:t>
            </a:r>
          </a:p>
        </p:txBody>
      </p:sp>
    </p:spTree>
    <p:extLst>
      <p:ext uri="{BB962C8B-B14F-4D97-AF65-F5344CB8AC3E}">
        <p14:creationId xmlns:p14="http://schemas.microsoft.com/office/powerpoint/2010/main" val="13993944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0548851F-A81D-462B-8F09-A561A475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8D8C21DA-683A-4507-B9F4-758B03765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322CAA00-8655-4DE5-8766-BBE6586C8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G1、Go2 与 ROS2 实训：4项学习结果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6194E8AC-4D86-44CF-97F4-C2E23CCD4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A23FE737-4704-4D32-92FD-0DE7F259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487830A9-45B9-4E40-9150-778D81CB9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 G1 人形机器人与 Go2 四足机器人在自由度、平衡、跌倒风险和控制接口上的差异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19C328BC-ECBC-453A-A57E-BE618435B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用节点、话题、服务、参数和 launch 文件画出 ROS2 控制链路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9E7F9E6D-1865-4D45-85BF-8BA39E435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用无需真机的固定消息与 trace 演练，验证“环境确认—只读检查—受限动作—超时停止—记录”的实验闭环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577F1869-983D-4B80-B768-334972AE9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根据电源、网络、节点、话题、坐标和硬件状态逐层定位异常</a:t>
            </a:r>
          </a:p>
        </p:txBody>
      </p:sp>
    </p:spTree>
    <p:extLst>
      <p:ext uri="{BB962C8B-B14F-4D97-AF65-F5344CB8AC3E}">
        <p14:creationId xmlns:p14="http://schemas.microsoft.com/office/powerpoint/2010/main" val="9753193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89F78DCB-564A-4396-9242-B713FD0D2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08688BBA-9211-4049-B061-BA509FAA6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1 / 7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7600D2D2-9274-466A-B071-FA6DC461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上电前清空活动区域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D27FC8C7-E00B-4AFF-B7B2-704A77E88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120B0B7F-6C3C-4C28-950A-2FDEAC9FC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968980C1-FB68-4CE0-9C20-DC8A22502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6A8C401A-63FE-49B4-BD4F-3E60845AF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实训前置：先确认“谁能让它停下”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DC69874-13DB-453B-BAAB-30E56F1F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上电前清空活动区域；检查地面、关节外观、电池锁定、遥控器或急停、无线与有线网络；指定一名操作员负责命令；一名安全观察员负责急停；两人都要知道失联、异常姿态、异响、过热和人员进入安全区时如何停止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641169C-D30E-4705-8C97-C180E9A5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E4878E2A-D166-4F60-81EC-25BBA31DF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软件环境记录操作系统、ROS2 发行版、工作区版本、机器人型号、固件和网络配置；不同版本的包名、话题名和参数可能变化；任何真机课程都应在开始前发布可访问的版本清单、接口表和急停说明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0610A459-8F0F-4C36-B5D6-777C4688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7BA5144C-F0D0-49BC-8C79-10498594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上电前清空活动区域</a:t>
            </a:r>
          </a:p>
        </p:txBody>
      </p:sp>
    </p:spTree>
    <p:extLst>
      <p:ext uri="{BB962C8B-B14F-4D97-AF65-F5344CB8AC3E}">
        <p14:creationId xmlns:p14="http://schemas.microsoft.com/office/powerpoint/2010/main" val="21418062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1DEB1145-1CBF-4F38-82CF-5FFB75040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6D209EF8-9405-47BE-A7E6-B84919D62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2 / 7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5F38D56F-7D0A-4FB2-BB1F-18666D773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ROS2 节点 承担功能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8F5F8684-621F-4D89-A3D6-05B04082A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4FD12D06-A64E-448A-B1C9-EB4444065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FB5C7AE-9A28-40AB-9774-4CE41B2F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02BDB138-1812-4B26-9A1F-B7FBFCD00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ROS2 图谱：用固定离线演练理解接口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68E58914-787F-4234-B3E5-D00DEC446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501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ROS2 节点 承担功能；话题 传递连续消息；服务 处理一次请求与响应；参数 配置节点行为；launch 文件把多个节点按依赖启动；为了让没有设备和 ROS2 环境的学习者也能完成练习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E469A710-9B6A-4999-AAE3-3941D7EA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1EDD4959-9551-472F-AD03-CBDB63649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这不是某一型号机器人的真实接口表，而是一份用于学习安全契约的固定演练。进入真机前，再把演练名称逐项映射为对应 SDK 和固件的真实接口，并重新核对消息类型、单位、频率、权限和停止语义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E9A55846-AE6B-412B-99E4-AA2443824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1B1E0C4A-DDEA-4022-8E0D-227257BEF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ROS2 节点 承担功能</a:t>
            </a:r>
          </a:p>
        </p:txBody>
      </p:sp>
    </p:spTree>
    <p:extLst>
      <p:ext uri="{BB962C8B-B14F-4D97-AF65-F5344CB8AC3E}">
        <p14:creationId xmlns:p14="http://schemas.microsoft.com/office/powerpoint/2010/main" val="989356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D3DC6940-E4D9-4561-90E2-7C3FCB127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384E1A62-1CB6-47B6-9EC3-5F534D336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3 / 7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90BFA100-EF06-40C5-AAC4-E335CCC13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键盘控制先把动作意图写成可验证消息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652C903B-5B3C-4A02-846E-8DF7A97CE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BBFE3492-78BF-464A-81F3-EAFD66837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7036919-DAC7-4E59-9804-D3BEB7837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B7DECCD-8B5B-460F-B50B-EAC9DC5FF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键盘控制：先定义可验证的消息契约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8E77A50-7373-4DD9-A2A4-D635C9284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930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键盘控制节点读取按键，把前进、后退、转向和停止映射为机器人命令。可靠实现应限制最大线速度和角速度，按键松开或输入超时后自动发送零速度，并把退出键与急停行为写在界面上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594FB73-CB24-44E9-93CF-3E4B21F60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330C9B7-CF30-490D-A782-4D6A7F449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本节离线演练采用固定契约；前进命令为 linear.x = 0.05；左右转向只使用 angular.z 且绝对值不超过 0.10；其余分量始终为零，连续 0.50 秒没有新命令时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9A8B1AC2-B475-42DD-9F3D-9EEFA392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01F3A46F-E433-4580-8BAB-A71E28D0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真正实现时，消息定义、构建方式和可执行入口应来自公开且固定版本的工作区说明；在这些信息缺失时，不应凭课件截图猜包名或接入真机</a:t>
            </a:r>
          </a:p>
        </p:txBody>
      </p:sp>
      <p:sp>
        <p:nvSpPr>
          <p:cNvPr id="13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F5CDF90F-D5D1-4823-80E9-E64D3D12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4" name="s5-takeaway">
            <a:extLst xmlns:a="http://schemas.openxmlformats.org/drawingml/2006/main">
              <a:ext uri="{FF2B5EF4-FFF2-40B4-BE49-F238E27FC236}">
                <a16:creationId xmlns:a16="http://schemas.microsoft.com/office/drawing/2014/main" id="{FC7CC3C3-B798-4860-AB34-B16FBE285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键盘控制先把动作意图写成可验证消息</a:t>
            </a:r>
          </a:p>
        </p:txBody>
      </p:sp>
    </p:spTree>
    <p:extLst>
      <p:ext uri="{BB962C8B-B14F-4D97-AF65-F5344CB8AC3E}">
        <p14:creationId xmlns:p14="http://schemas.microsoft.com/office/powerpoint/2010/main" val="5533623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B7C623CF-5CF1-4339-9BBF-653F81593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B3F2F033-432E-4E35-8960-09768925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4 / 7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6584C980-594D-4261-A1E4-C025F8909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Twist 用通用速度指令连接导航与设备接口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1B5D09E1-B1FE-4475-B6C5-125033275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46A7FDF2-BE67-47FD-A64E-6C174F1BB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E4F414F-3170-48F9-9C93-6546DE4BF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7A4DAAF8-C9CC-4C55-B38B-6C5BD15D6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Twist 桥接：在通用接口与设备接口之间转换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ADECAD0-CE45-4C5A-9245-42C16832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导航与键盘工具常发布 geometry_msgs/msg/Twist；其中线速度和角速度使用通用字段；设备驱动可能使用厂商消息或专用 API；桥接节点订阅 Twist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DB9A4C0A-4E01-4F9D-82F2-B0B50A2C7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127E7179-908B-4ACF-A9B6-99E6F3426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桥接不是简单“字段复制”。必须确认前进轴、旋转方向、单位、更新频率、停止语义和失联策略。测试顺序是零命令、极低速度短脉冲、停止、单轴移动，再进入组合动作；每一步都观察状态回读和安全区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AF69B4AC-F52E-4B02-B8AB-B1F28E9FF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CBC4DB9D-6A56-44CD-ABB8-25162003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Twist 用通用速度指令连接导航与设备接口</a:t>
            </a:r>
          </a:p>
        </p:txBody>
      </p:sp>
    </p:spTree>
    <p:extLst>
      <p:ext uri="{BB962C8B-B14F-4D97-AF65-F5344CB8AC3E}">
        <p14:creationId xmlns:p14="http://schemas.microsoft.com/office/powerpoint/2010/main" val="2472859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5EFAF569-2E40-4FE2-8811-0F85876A6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7D4F48E3-C77F-4343-BD32-E996415C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5 / 7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EB16EB4E-7F87-411B-978E-509A05D24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URDF 描述连杆、关节、惯性和视觉模型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5AF2479F-C714-4900-AB25-DA18B3C7F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8EFEDD63-3748-4ED9-A65E-50E93C5C3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792BAA8B-CA29-4D42-A871-0E06856B2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D6CADCDF-5319-4120-A264-98851381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模型可视化：URDF、TF 与实机要一致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7AC3B98D-8D2E-46DB-94EC-DEAFEEFB0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URDF 描述连杆、关节、惯性和视觉模型；robot_state_publisher 根据关节状态发布 TF；RViz 用来检查模型姿态与坐标关系；模型可视化通过不等于真机状态正确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52F6BEE-B4ED-4AA7-8A6D-3BB408DDF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C8C671A7-CA92-4630-863C-04366B0A6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检查固定姿态时各关节是否方向一致；移动后模型是否跟随；base 、里程计与世界坐标是否形成连通 TF 树；不要为了“画面看起来对”而在 RViz 中临时补错坐标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DB12887F-D171-4A7C-94CF-A2ACBBBFB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DD9C3D6A-A403-493D-8044-0B35187E8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URDF 描述连杆、关节、惯性和视觉模型</a:t>
            </a:r>
          </a:p>
        </p:txBody>
      </p:sp>
    </p:spTree>
    <p:extLst>
      <p:ext uri="{BB962C8B-B14F-4D97-AF65-F5344CB8AC3E}">
        <p14:creationId xmlns:p14="http://schemas.microsoft.com/office/powerpoint/2010/main" val="132581280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BED04DF3-892D-44E1-989E-FD0ABC1AA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7A88C10C-531A-40F0-992F-411B6D7DD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6 / 7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24D4F147-8E8C-477B-ABC2-BBF065C2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Go2 四足结构支撑面较稳定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1EDE59A4-FD1A-41FC-831B-F67FDF34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9ED9E36F-6233-4636-B13E-1C224A98A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1F76C501-DD6B-4A65-9F66-48F67F9EB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B0757CEB-0F88-4CCE-9C08-04CCAF2F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G1 与 Go2：同一协议，不同风险包络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39ABF19-FE2B-466E-8382-6671CC36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Go2 四足结构支撑面较稳定；适合教学中从速度命令、状态读取和导航接口入门；G1 人形平台的关节数、质心高度和接触切换更复杂；跌倒可能伤及设备和周围人员</a:t>
            </a:r>
          </a:p>
        </p:txBody>
      </p:sp>
      <p:sp>
        <p:nvSpPr>
          <p:cNvPr id="9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664218B8-9437-4FC4-B155-CD0712336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0" name="s8-takeaway">
            <a:extLst xmlns:a="http://schemas.openxmlformats.org/drawingml/2006/main">
              <a:ext uri="{FF2B5EF4-FFF2-40B4-BE49-F238E27FC236}">
                <a16:creationId xmlns:a16="http://schemas.microsoft.com/office/drawing/2014/main" id="{AA8AB400-A74B-492E-A13E-44F546566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Go2 四足结构支撑面较稳定</a:t>
            </a:r>
          </a:p>
        </p:txBody>
      </p:sp>
    </p:spTree>
    <p:extLst>
      <p:ext uri="{BB962C8B-B14F-4D97-AF65-F5344CB8AC3E}">
        <p14:creationId xmlns:p14="http://schemas.microsoft.com/office/powerpoint/2010/main" val="183923631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22EAD110-C6FC-4493-A8EF-CC0B98CCE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906B52A8-43F6-4B8F-8D25-AE4FAED6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核心论点 7 / 7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4370CC4F-5F50-40B0-8611-70CD7F52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出现异常时先停止动作并保持现场安全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FBFE360A-FE60-4742-A472-689204BF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1CE246F5-F55B-4342-9F70-9676EC8D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EM-005-S09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A20E0541-BD18-4DED-B166-AF0020C4B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B6B4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FC58D60F-253F-4468-B9F4-6BDB8FD91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诊断顺序：不要一上来改代码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BEFAC4D-F7D5-4987-BD83-DFCF9240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出现异常时先停止动作并保持现场安全；然后按“电源与急停—物理网络—设备可达—驱动进程—节点—话题类型与频率—TF 与参数—应用逻辑—硬件故障”逐层排查；每层都留下可观察证据</a:t>
            </a:r>
          </a:p>
        </p:txBody>
      </p:sp>
      <p:sp>
        <p:nvSpPr>
          <p:cNvPr id="9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D95E68DE-948A-4BF5-9854-25DF123A8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0" name="s9-takeaway">
            <a:extLst xmlns:a="http://schemas.openxmlformats.org/drawingml/2006/main">
              <a:ext uri="{FF2B5EF4-FFF2-40B4-BE49-F238E27FC236}">
                <a16:creationId xmlns:a16="http://schemas.microsoft.com/office/drawing/2014/main" id="{4879DF1B-8968-4539-AF84-145F4F66B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出现异常时先停止动作并保持现场安全</a:t>
            </a:r>
          </a:p>
        </p:txBody>
      </p:sp>
    </p:spTree>
    <p:extLst>
      <p:ext uri="{BB962C8B-B14F-4D97-AF65-F5344CB8AC3E}">
        <p14:creationId xmlns:p14="http://schemas.microsoft.com/office/powerpoint/2010/main" val="162852134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C8AC33C3-8936-4839-A8BF-916C60962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AFF0402E-1870-425B-9E84-66C06AEA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1F9762B3-2864-493E-A684-6EB1CD737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固定 trace 先验证控制契约，再谈真机能力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BDF1B011-B956-4D52-92CC-926DD1AF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F8FEE9E5-295C-4961-9FEA-5643FB654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EE324E25-AAA6-4D6C-8414-6016641CD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165642"/>
          </a:solidFill>
          <a:ln xmlns:a="http://schemas.openxmlformats.org/drawingml/2006/main" w="0">
            <a:solidFill>
              <a:srgbClr val="165642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无需真机的固定 trace 验收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094615A2-F513-4DB3-A301-931A6FBF7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结果｜按上面的契约判断以下记录，预期结果是唯一的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27B9E5E2-185B-4A57-BC0B-8D34FBD36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边界｜如果学习者在 0.81 秒或 1.10 秒仍输出非零命令，说明安全桥接不合格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D028F343-8AE9-469B-A01E-0DC68E01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边界｜这个演练验证的是控制契约和停止逻辑，不表示任何真实机器人已通过安全测试</a:t>
            </a:r>
          </a:p>
        </p:txBody>
      </p:sp>
      <p:sp>
        <p:nvSpPr>
          <p:cNvPr id="10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2189DD6C-D10D-4245-BB6C-80919D9EF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1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76CF6D2E-092E-405F-9141-296B3D22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固定 trace 先验证控制契约，再谈真机能力</a:t>
            </a:r>
          </a:p>
        </p:txBody>
      </p:sp>
    </p:spTree>
    <p:extLst>
      <p:ext uri="{BB962C8B-B14F-4D97-AF65-F5344CB8AC3E}">
        <p14:creationId xmlns:p14="http://schemas.microsoft.com/office/powerpoint/2010/main" val="97044901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F6E583D7-12F1-472C-A5C6-B3A4A6E09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01C6157D-7B6B-452C-B6CF-BB3FEB84A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B8884378-DDCA-4CC0-B28C-360772CA3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G1、Go2 与 ROS2 实训：一次可验收练习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57EB051D-EBB1-40FD-8959-C72C30697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BC6FFF90-AA96-4F04-ABC3-B6D76D56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7796E756-4F3E-44C9-9713-751CA7C55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1D74B6DE-0BBB-40D1-934E-2B7296234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284474A1-70A9-46C8-B64D-91E91F3F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921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根据固定图谱，画出四个节点与三个话题的方向，并标出哪一处拥有最终放行权；独立计算固定 trace 的六行预期输出，再与表格答案比较；任何一行不一致都要写出错误原因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BBB9BBDA-85E0-4401-8704-3EDA9450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A512BD07-C2E6-424E-A223-A411C39DF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488B4641-6D02-4441-AE6D-A1D5089E9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E404B4B3-41F7-4111-9AFD-1B66E0D59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新增两个测试：一个越过线速度限幅，一个在 stopped 状态发出转向命令，写出桥接应输出什么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31F21779-1FD3-4D25-985F-FC71BE606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A238C429-003A-4E7E-81F4-CC469A49B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40555A57-DE5A-4132-8063-2D56F3EF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44E4B866-49B3-4D8A-AAA8-251532D20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921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设计一份未来真机实验记录模板：设备与软件版本、人员分工、接口映射、启动顺序、动作、回读、异常、停止和结论。没有完成接口映射与现场批准时，模板保持“禁止真机动作”</a:t>
            </a:r>
          </a:p>
        </p:txBody>
      </p:sp>
    </p:spTree>
    <p:extLst>
      <p:ext uri="{BB962C8B-B14F-4D97-AF65-F5344CB8AC3E}">
        <p14:creationId xmlns:p14="http://schemas.microsoft.com/office/powerpoint/2010/main" val="105552415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B89BF93D-6EC4-4896-9F03-9C11D4458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711CF3EB-B234-481D-A81B-E47081AFB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C3E03820-E3E7-4995-A13A-D02A8EDE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G1、Go2 与 ROS2 实训：判断时先抓住三点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1940A635-1E47-4E7C-A303-BA44DC75B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8805EAB5-5892-4ECE-B803-4B87282EC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7B6BD92C-5C04-44DA-94BD-2C6DBBDD1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D1A67BEA-FD74-48FF-8E4A-4A9855FC7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594AE429-A856-452A-85DF-B79674D52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上电前清空活动区域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84F7970C-E057-4857-B4BC-82FBD1FFC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950CB2EC-C2AA-439D-AEBE-02A9B7144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56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9CAD36F8-4DCE-4F29-8AE6-4FEAC63F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DF869685-92A4-4455-9322-1AF4DCCB3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Twist 用通用速度指令连接导航与设备接口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12BFA7BA-B570-4934-973D-D2EF1AA03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B4F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67ADAE38-8F47-4133-BDCD-5E418CC46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B4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5E012FEE-A9B3-41CE-9CE1-96876EE01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164CD4A8-AD0A-4CBC-A940-D99AB4544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19050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出现异常时先停止动作并保持现场安全</a:t>
            </a:r>
          </a:p>
        </p:txBody>
      </p:sp>
    </p:spTree>
    <p:extLst>
      <p:ext uri="{BB962C8B-B14F-4D97-AF65-F5344CB8AC3E}">
        <p14:creationId xmlns:p14="http://schemas.microsoft.com/office/powerpoint/2010/main" val="52171461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C2A561B6-4BA3-47A1-B077-038EF79AD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8EE29890-3343-4B4A-98D7-10F6176E4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FCF9920D-DA4F-4C24-8A41-FD9C9CDB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G1、Go2 与 ROS2 实训：依据、边界与延伸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6181C450-770C-4B46-952D-77540837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5FBFB5B2-92D2-493F-BAE8-34D40387E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EM-005 · EM-005-S13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EDC80A9D-60CD-404E-8888-6D326DDC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1F6ED"/>
          </a:solidFill>
          <a:ln xmlns:a="http://schemas.openxmlformats.org/drawingml/2006/main" w="9525">
            <a:solidFill>
              <a:srgbClr val="0B6B4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C4A7F756-4B4A-4A50-8B92-221546459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ROS 2 Jazzy：基本概念：节点、话题、服务、参数和动作的官方概念入口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7A52A203-A8BA-4D92-BEC6-063ED40E2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ROS 2 geometry_msgs/msg/Twist ：本节离线消息契约所用类型的官方定义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AB89420C-0D5C-46C1-A8F2-8BBE42702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756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真机动作必须使用对应型号、固件与 SDK 的官方接口，并在具备安全分工、保护空间和急停条件的现场完成；本页离线 trace 不能替代真机安全验证</a:t>
            </a:r>
          </a:p>
        </p:txBody>
      </p:sp>
      <p:sp>
        <p:nvSpPr>
          <p:cNvPr id="10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C7F173BC-8D29-4B62-BF0D-065232D70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9B72"/>
          </a:solidFill>
          <a:ln xmlns:a="http://schemas.openxmlformats.org/drawingml/2006/main" w="0">
            <a:solidFill>
              <a:srgbClr val="2D9B72"/>
            </a:solidFill>
            <a:prstDash val="solid"/>
          </a:ln>
        </p:spPr>
      </p:sp>
      <p:sp>
        <p:nvSpPr>
          <p:cNvPr id="11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0EE4AAD2-79D2-4733-BEF8-5201852B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911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65642"/>
                </a:solidFill>
                <a:latin typeface="PingFang SC"/>
                <a:ea typeface="PingFang SC"/>
                <a:cs typeface="PingFang SC"/>
              </a:rPr>
              <a:t>课程精编页用于讲授主线；播放器中的“原课件”模式保留团队 PowerPoint 精选页、真实图片和可播放视频。</a:t>
            </a:r>
          </a:p>
        </p:txBody>
      </p:sp>
    </p:spTree>
    <p:extLst>
      <p:ext uri="{BB962C8B-B14F-4D97-AF65-F5344CB8AC3E}">
        <p14:creationId xmlns:p14="http://schemas.microsoft.com/office/powerpoint/2010/main" val="5388424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2026-07-12T03:31:58.9920000Z</dcterms:created>
  <dcterms:modified xsi:type="dcterms:W3CDTF">2026-07-12T03:31:58.9920000Z</dcterms:modified>
</coreProperties>
</file>