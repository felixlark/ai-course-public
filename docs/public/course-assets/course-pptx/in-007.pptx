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19a02d46464358" /><Relationship Type="http://schemas.openxmlformats.org/officeDocument/2006/relationships/extended-properties" Target="/docProps/app.xml" Id="R4182932b20bb42b7" /><Relationship Type="http://schemas.openxmlformats.org/officeDocument/2006/relationships/officeDocument" Target="/ppt/presentation.xml" Id="Reba8b2649bc347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08127d07c6d4ba6"/>
  </p:sldMasterIdLst>
  <p:notesMasterIdLst>
    <p:notesMasterId xmlns:r="http://schemas.openxmlformats.org/officeDocument/2006/relationships" r:id="Rd288bc896bd84b34"/>
  </p:notesMasterIdLst>
  <p:sldIdLst>
    <p:sldId xmlns:r="http://schemas.openxmlformats.org/officeDocument/2006/relationships" id="256" r:id="R3fd5e9a871444513"/>
    <p:sldId xmlns:r="http://schemas.openxmlformats.org/officeDocument/2006/relationships" id="257" r:id="Re6843a9c6168478b"/>
    <p:sldId xmlns:r="http://schemas.openxmlformats.org/officeDocument/2006/relationships" id="258" r:id="R9449ee46d47644e2"/>
    <p:sldId xmlns:r="http://schemas.openxmlformats.org/officeDocument/2006/relationships" id="259" r:id="Rdd35c0dfa1dd4c34"/>
    <p:sldId xmlns:r="http://schemas.openxmlformats.org/officeDocument/2006/relationships" id="260" r:id="R3807676f504f479b"/>
    <p:sldId xmlns:r="http://schemas.openxmlformats.org/officeDocument/2006/relationships" id="261" r:id="Rff4b4dfff17d4260"/>
    <p:sldId xmlns:r="http://schemas.openxmlformats.org/officeDocument/2006/relationships" id="262" r:id="R5617f7048fd94737"/>
    <p:sldId xmlns:r="http://schemas.openxmlformats.org/officeDocument/2006/relationships" id="263" r:id="R8f29c8fa6cd94b56"/>
    <p:sldId xmlns:r="http://schemas.openxmlformats.org/officeDocument/2006/relationships" id="264" r:id="R81e4e23ff2ed4718"/>
    <p:sldId xmlns:r="http://schemas.openxmlformats.org/officeDocument/2006/relationships" id="265" r:id="Rc6a9c4ffdec64ed1"/>
    <p:sldId xmlns:r="http://schemas.openxmlformats.org/officeDocument/2006/relationships" id="266" r:id="Rbaa0bbffefae4ba0"/>
    <p:sldId xmlns:r="http://schemas.openxmlformats.org/officeDocument/2006/relationships" id="267" r:id="R1dc6d6018a784722"/>
    <p:sldId xmlns:r="http://schemas.openxmlformats.org/officeDocument/2006/relationships" id="268" r:id="R6685d5293e4f452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99fcc4e67544986" /><Relationship Type="http://schemas.openxmlformats.org/officeDocument/2006/relationships/slideMaster" Target="/ppt/slideMasters/slideMaster1.xml" Id="Rf08127d07c6d4ba6" /><Relationship Type="http://schemas.openxmlformats.org/officeDocument/2006/relationships/notesMaster" Target="/ppt/notesMasters/notesMaster1.xml" Id="Rd288bc896bd84b34" /><Relationship Type="http://schemas.openxmlformats.org/officeDocument/2006/relationships/presProps" Target="/ppt/presProps.xml" Id="R28563246708e4e76" /><Relationship Type="http://schemas.openxmlformats.org/officeDocument/2006/relationships/tableStyles" Target="/ppt/tableStyles.xml" Id="R8b8920432af14b2d" /><Relationship Type="http://schemas.openxmlformats.org/officeDocument/2006/relationships/slide" Target="/ppt/slides/slide1.xml" Id="R3fd5e9a871444513" /><Relationship Type="http://schemas.openxmlformats.org/officeDocument/2006/relationships/slide" Target="/ppt/slides/slide2.xml" Id="Re6843a9c6168478b" /><Relationship Type="http://schemas.openxmlformats.org/officeDocument/2006/relationships/slide" Target="/ppt/slides/slide3.xml" Id="R9449ee46d47644e2" /><Relationship Type="http://schemas.openxmlformats.org/officeDocument/2006/relationships/slide" Target="/ppt/slides/slide4.xml" Id="Rdd35c0dfa1dd4c34" /><Relationship Type="http://schemas.openxmlformats.org/officeDocument/2006/relationships/slide" Target="/ppt/slides/slide5.xml" Id="R3807676f504f479b" /><Relationship Type="http://schemas.openxmlformats.org/officeDocument/2006/relationships/slide" Target="/ppt/slides/slide6.xml" Id="Rff4b4dfff17d4260" /><Relationship Type="http://schemas.openxmlformats.org/officeDocument/2006/relationships/slide" Target="/ppt/slides/slide7.xml" Id="R5617f7048fd94737" /><Relationship Type="http://schemas.openxmlformats.org/officeDocument/2006/relationships/slide" Target="/ppt/slides/slide8.xml" Id="R8f29c8fa6cd94b56" /><Relationship Type="http://schemas.openxmlformats.org/officeDocument/2006/relationships/slide" Target="/ppt/slides/slide9.xml" Id="R81e4e23ff2ed4718" /><Relationship Type="http://schemas.openxmlformats.org/officeDocument/2006/relationships/slide" Target="/ppt/slides/slide10.xml" Id="Rc6a9c4ffdec64ed1" /><Relationship Type="http://schemas.openxmlformats.org/officeDocument/2006/relationships/slide" Target="/ppt/slides/slide11.xml" Id="Rbaa0bbffefae4ba0" /><Relationship Type="http://schemas.openxmlformats.org/officeDocument/2006/relationships/slide" Target="/ppt/slides/slide12.xml" Id="R1dc6d6018a784722" /><Relationship Type="http://schemas.openxmlformats.org/officeDocument/2006/relationships/slide" Target="/ppt/slides/slide13.xml" Id="R6685d5293e4f45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7a291669b2049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22c1402eaa4a56" /><Relationship Type="http://schemas.openxmlformats.org/officeDocument/2006/relationships/notesMaster" Target="/ppt/notesMasters/notesMaster1.xml" Id="Ree2670b116e04c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ee466573054b27" /><Relationship Type="http://schemas.openxmlformats.org/officeDocument/2006/relationships/notesMaster" Target="/ppt/notesMasters/notesMaster1.xml" Id="R020558d1fa974bb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51ce4e365634d8f" /><Relationship Type="http://schemas.openxmlformats.org/officeDocument/2006/relationships/notesMaster" Target="/ppt/notesMasters/notesMaster1.xml" Id="Rb7bdb88badda49f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32943b5b234d50" /><Relationship Type="http://schemas.openxmlformats.org/officeDocument/2006/relationships/notesMaster" Target="/ppt/notesMasters/notesMaster1.xml" Id="R584f31bec9a34b4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e0ff034d0c74e52" /><Relationship Type="http://schemas.openxmlformats.org/officeDocument/2006/relationships/notesMaster" Target="/ppt/notesMasters/notesMaster1.xml" Id="R28b065fdb43b40b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aae68af563a4003" /><Relationship Type="http://schemas.openxmlformats.org/officeDocument/2006/relationships/notesMaster" Target="/ppt/notesMasters/notesMaster1.xml" Id="R4b0237054a4941b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269d351f6624da3" /><Relationship Type="http://schemas.openxmlformats.org/officeDocument/2006/relationships/notesMaster" Target="/ppt/notesMasters/notesMaster1.xml" Id="R7699196d42044aa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2af36f0bcd455e" /><Relationship Type="http://schemas.openxmlformats.org/officeDocument/2006/relationships/notesMaster" Target="/ppt/notesMasters/notesMaster1.xml" Id="R8b0d9c98ddc845d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c3aa598d5124c96" /><Relationship Type="http://schemas.openxmlformats.org/officeDocument/2006/relationships/notesMaster" Target="/ppt/notesMasters/notesMaster1.xml" Id="Rdc38dbcf1e8d462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f2b9d79c99b4f04" /><Relationship Type="http://schemas.openxmlformats.org/officeDocument/2006/relationships/notesMaster" Target="/ppt/notesMasters/notesMaster1.xml" Id="R0d77ea8a1f4244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243b618169f447d" /><Relationship Type="http://schemas.openxmlformats.org/officeDocument/2006/relationships/notesMaster" Target="/ppt/notesMasters/notesMaster1.xml" Id="R5a7edcd15523459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cc25ca2e4f544fe" /><Relationship Type="http://schemas.openxmlformats.org/officeDocument/2006/relationships/notesMaster" Target="/ppt/notesMasters/notesMaster1.xml" Id="Re87ee31bef2d487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a7400ac6e914494" /><Relationship Type="http://schemas.openxmlformats.org/officeDocument/2006/relationships/notesMaster" Target="/ppt/notesMasters/notesMaster1.xml" Id="R1d03b101937b41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1a19154f7b46a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e86fa13eb0d4b77" /><Relationship Type="http://schemas.openxmlformats.org/officeDocument/2006/relationships/slideLayout" Target="/ppt/slideLayouts/slideLayout1.xml" Id="R5d38be9086094a8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38be9086094a8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96d4cc5b5b487b" /><Relationship Type="http://schemas.openxmlformats.org/officeDocument/2006/relationships/notesSlide" Target="/ppt/notesSlides/notesSlide1.xml" Id="Ra148881d717e48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9d75ed5b724d98" /><Relationship Type="http://schemas.openxmlformats.org/officeDocument/2006/relationships/notesSlide" Target="/ppt/notesSlides/notesSlide2.xml" Id="R0ad0597678e74c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811a0386f44995" /><Relationship Type="http://schemas.openxmlformats.org/officeDocument/2006/relationships/notesSlide" Target="/ppt/notesSlides/notesSlide3.xml" Id="R018f1e6d68774e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0735de9444c71" /><Relationship Type="http://schemas.openxmlformats.org/officeDocument/2006/relationships/notesSlide" Target="/ppt/notesSlides/notesSlide4.xml" Id="Re162e8ba618a47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3d393fe664f81" /><Relationship Type="http://schemas.openxmlformats.org/officeDocument/2006/relationships/notesSlide" Target="/ppt/notesSlides/notesSlide5.xml" Id="Rde20b3ffc42d448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18e7fdb95e4836" /><Relationship Type="http://schemas.openxmlformats.org/officeDocument/2006/relationships/notesSlide" Target="/ppt/notesSlides/notesSlide6.xml" Id="R6394dc6fa3fd4db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cbb081474d4ad8" /><Relationship Type="http://schemas.openxmlformats.org/officeDocument/2006/relationships/notesSlide" Target="/ppt/notesSlides/notesSlide7.xml" Id="R2ebfd1720ea347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6d0ddfedf7465b" /><Relationship Type="http://schemas.openxmlformats.org/officeDocument/2006/relationships/notesSlide" Target="/ppt/notesSlides/notesSlide8.xml" Id="R44fc5b1b993f4a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702637243342fb" /><Relationship Type="http://schemas.openxmlformats.org/officeDocument/2006/relationships/notesSlide" Target="/ppt/notesSlides/notesSlide9.xml" Id="Rebcdfdf110db46b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db1ce7567045e7" /><Relationship Type="http://schemas.openxmlformats.org/officeDocument/2006/relationships/notesSlide" Target="/ppt/notesSlides/notesSlide10.xml" Id="R31c7bb626f014a5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b8e0f96bf4423d" /><Relationship Type="http://schemas.openxmlformats.org/officeDocument/2006/relationships/notesSlide" Target="/ppt/notesSlides/notesSlide11.xml" Id="R9162a78b56044ba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d1cb7bf4e04c50" /><Relationship Type="http://schemas.openxmlformats.org/officeDocument/2006/relationships/notesSlide" Target="/ppt/notesSlides/notesSlide12.xml" Id="R00c0d1a55570437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762edd49e54604" /><Relationship Type="http://schemas.openxmlformats.org/officeDocument/2006/relationships/notesSlide" Target="/ppt/notesSlides/notesSlide13.xml" Id="R2a1fac67e35b4ad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2390395A-0F26-4EAD-B1FA-8D3B759F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C66D946C-78E1-497D-9560-035E68E50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D4D8EFBF-807E-4335-82B1-1EBE981B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A85166A0-CABA-4AFE-B994-89970424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212D1C89-8767-4981-8522-6BCF22EC8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CF98A84F-7051-43BD-ACC8-D826ED76C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14E8522F-1492-45C6-BBFC-F42518A5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EBCD9A2-0193-40A9-93C6-C36C7942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应急管理与火灾调查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D8ED14E0-72B0-4B1B-9CBA-C0F234A8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以火灾调查辅助专家模型为例，理解证据链、法规知识、专业判断和责任边界。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BF9D5A5C-AF85-4BD4-BA97-91C757D8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火灾应急响应首先关注救援、控制危险和保护人员；火灾调查则在符合法定程序的前提下；保存和审查现场资料；重建事件过程并评价不同原因假设；两项工作会共享时间、位置和处置记录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15499082-2703-430F-B739-857E035B0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2305C87C-6636-4DC2-AAF5-D63CE5698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IN-007 · IN-007-S01</a:t>
            </a:r>
          </a:p>
        </p:txBody>
      </p:sp>
    </p:spTree>
    <p:extLst>
      <p:ext uri="{BB962C8B-B14F-4D97-AF65-F5344CB8AC3E}">
        <p14:creationId xmlns:p14="http://schemas.microsoft.com/office/powerpoint/2010/main" val="15185187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A8D741E0-F7D3-4EDC-9883-54D8785E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A60B2148-F341-47E9-89C2-9918400E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39AE2EF1-F4B8-4C06-B52F-F3C35A9E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应急与火灾调查：4项学习结果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988AB57F-1605-4125-9C01-287B5869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BEAA3DD8-F974-49B0-8B08-68876EA51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D46DF38C-676D-4796-9F50-C1A33A28E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说明现场影像、物证、询问、设备记录和处置记录各自能支持什么判断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3DD2DF37-8428-44FE-B7FB-A16AE32A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为数字与实物资料设计来源、完整性、流转和访问记录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BAF5392A-A38D-4A74-929F-24215CDC8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使用多个竞争性假设组织支持证据、反证、替代解释与待补材料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9662E976-65CB-48BE-B1FD-9E96FE2D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区分模型提取、专家意见和依法形成的调查结论，明确模型不能定案</a:t>
            </a:r>
          </a:p>
        </p:txBody>
      </p:sp>
    </p:spTree>
    <p:extLst>
      <p:ext uri="{BB962C8B-B14F-4D97-AF65-F5344CB8AC3E}">
        <p14:creationId xmlns:p14="http://schemas.microsoft.com/office/powerpoint/2010/main" val="2524274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C699AE8A-B1C3-41F6-879E-985F6442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CA9E52AC-2635-4A79-BA04-2D4AB7382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75DD1963-EF87-47EC-B521-8869E492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现场资料先保存，再分析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9F63A53A-0A4A-4D31-B0B5-DF29FE31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DE5D6222-25CA-4253-BD7E-0F9EF372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EFF0966-E72A-438E-98A8-D1C52A91F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BFD3897-3EF4-4789-9363-FA7BB233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现场资料先保存，再分析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DE8642D-CD0E-4CAD-A553-45B9625CF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调查资料可能包括现场照片、视频、平面图、测量与点云、物证、烧损痕迹、报警和设备日志、消防处置记录、气象资料以及询问笔录；每类材料都有观察边界；照片受视角和曝光影响；日志可能有时钟误差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C649295-6E8B-4D2B-ADD1-E592E1621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CCE3160E-1DE6-4793-B8DB-B1E8D9635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采集时应记录唯一标识、时间、位置、采集人、设备、方法和现场状态；区分原始文件、工作副本和模型生成内容；数字资料可使用校验值帮助发现后续变化；实物资料则按适用程序记录封存、移交和检查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F5640107-792C-40D4-A077-652CC84D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581F6C95-CDEA-4C2E-9785-0DCDAF2BA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AI 处理应在副本上进行，不覆盖原件。图像增强、语音转写、对象标注和三维重建都要保留参数与生成时间，并明确它们是辅助产物。任何测量和关键事实都应回到原始资料或现场记录核验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A99EAF8C-4B9C-455D-B0F3-754870F0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243B5868-90F8-4B2F-AED5-F9706780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现场资料先保存，再分析</a:t>
            </a:r>
          </a:p>
        </p:txBody>
      </p:sp>
    </p:spTree>
    <p:extLst>
      <p:ext uri="{BB962C8B-B14F-4D97-AF65-F5344CB8AC3E}">
        <p14:creationId xmlns:p14="http://schemas.microsoft.com/office/powerpoint/2010/main" val="15781730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A75D9D11-1948-408A-A5CA-E0782176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C563E81E-313A-4256-96C4-E9C8E1BD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8C0927BA-333E-4E49-BB7A-EC6E0DCE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证据链不是“把所有文件放进一个文件夹”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B3AB730F-AE50-4DE3-B367-0CAFA089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F8E71100-FFAF-4F5E-B50B-CB5E7CAF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094C274-0949-48E4-88A5-0758DCF7A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4AF07C0-D0B0-4328-A2EF-B1166755D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建立可复查的证据链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9C88441-43A3-41BB-BDEE-4781F8B1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证据链不是“把所有文件放进一个文件夹”，而是让每个主张都能追溯到具体资料和合规的取得过程。系统可以建立“事件—地点—对象—人员—资料—操作”的关系，并保存谁在何时查看、复制、标注或导出了内容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8869A86-55FB-4144-886E-323EBB98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77893F3-1430-411E-945A-3FAC2400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调查笔记要区分四类信息；直接记录的事实、由工具提取的内容、专家解释和仍待验证的推断；模型生成的摘要不得改变这种区分；若一条结论同时依赖多个资料；应分别列明支持关系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564D8A32-871A-40F1-8360-F46C10C3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6488BF49-CA40-4A8B-AA3A-496D4E6A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权限同样属于证据治理。现场影像、个人信息和未公开调查资料只能由有职责的人访问，外部模型服务是否允许使用要经过审查。测试和演示应使用脱敏或合成资料，不能把真实案件细节当作普通训练素材</a:t>
            </a:r>
          </a:p>
        </p:txBody>
      </p:sp>
      <p:sp>
        <p:nvSpPr>
          <p:cNvPr id="13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EC35BBE6-9FB2-40C8-92D5-D24064CD7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4-takeaway">
            <a:extLst xmlns:a="http://schemas.openxmlformats.org/drawingml/2006/main">
              <a:ext uri="{FF2B5EF4-FFF2-40B4-BE49-F238E27FC236}">
                <a16:creationId xmlns:a16="http://schemas.microsoft.com/office/drawing/2014/main" id="{60890BC6-8D3E-4CF8-A837-87CEA276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证据链不是“把所有文件放进一个文件夹”</a:t>
            </a:r>
          </a:p>
        </p:txBody>
      </p:sp>
    </p:spTree>
    <p:extLst>
      <p:ext uri="{BB962C8B-B14F-4D97-AF65-F5344CB8AC3E}">
        <p14:creationId xmlns:p14="http://schemas.microsoft.com/office/powerpoint/2010/main" val="7190796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823B4972-892D-4136-AEAC-F900E6B9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7DF054F2-54F7-489B-9B93-8F0E227A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A545639F-D50E-46AE-BC94-89658A165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竞争性假设能降低调查中的确认偏差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52004AE9-7EA0-463B-B3A3-63197D2D5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E388A7B4-C35B-43FA-BA0E-7C8A68A6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D20B9C8-1F98-4145-8162-616652C5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7FDBC33-2827-419D-984A-0A4E435A2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同时维护多个竞争性假设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1745558-8864-494D-BF6B-E9C14B62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744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调查容易出现确认偏差；一旦形成最初印象，后续只寻找支持它的证据；更稳妥的方法是维护多个可检验假设；例如不同的起火区域、点燃来源或传播路径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7A04959-8A58-4BEB-9A8B-053B1241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5DC3A93-C20B-4D6E-B850-A16958F3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AI 可以按固定结构整理假设矩阵；发现某项证据被重复使用；或提示两个叙述在时间上冲突；但模型不应凭语言相似度给某个原因“投票”；也不能把没有数据支撑的概率包装成科学结论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B33E379F-A986-43C9-9B06-79D9A2FA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33594411-AE35-41F6-9D6B-BB18C786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随着新资料加入，调查人员应记录假设如何变化以及变化依据。最终报告不只呈现采纳的解释，也要说明关键替代解释如何被审查、哪些限制仍然存在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998A38A3-5672-4900-B46D-8A83FC6D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EC62E63D-F6F4-4BFE-B00E-5D17A6FF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竞争性假设能降低调查中的确认偏差</a:t>
            </a:r>
          </a:p>
        </p:txBody>
      </p:sp>
    </p:spTree>
    <p:extLst>
      <p:ext uri="{BB962C8B-B14F-4D97-AF65-F5344CB8AC3E}">
        <p14:creationId xmlns:p14="http://schemas.microsoft.com/office/powerpoint/2010/main" val="20238192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3D421919-40CE-4415-8B0C-0324A4E5F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3B457E9D-39E4-46F8-9484-FDA41A59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A07CCF97-E6B3-4818-9149-EE5BE677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法规、技术资料与专家复核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D09C1DD4-B328-4BBD-98C0-7E58780C7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BE6BA2D4-8306-4E55-A843-919076CE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9ABE3D1-BAF9-4458-9530-D9E4AE127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6058B5B-92F5-4BA3-B848-C60467EE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法规、技术资料与专家复核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CBF41D5-F299-4464-A4D9-34516093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检索库可以包含现行法律法规、调查程序、消防和电气技术资料、设备说明以及经过审查的案例；每条资料应标明发布机构、版本、有效状态、适用范围和具体位置；历史案例能提示排查方向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5DA489CF-5FD9-4A5A-8FAD-C589FAD3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6E680A7-B80F-43C0-8037-7F65C65B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模型可能引用失效条款、混淆不同地区规则；或从一段技术说明推导出原文没有的结论；调查人员必须核对原文；必要时由消防、电气、材料、结构或其他领域专家复核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70B6986D-FBD9-44AB-8269-7547B1CC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EA46F419-5AC8-4B93-BE4C-EC1528671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法规、技术资料与专家复核</a:t>
            </a:r>
          </a:p>
        </p:txBody>
      </p:sp>
    </p:spTree>
    <p:extLst>
      <p:ext uri="{BB962C8B-B14F-4D97-AF65-F5344CB8AC3E}">
        <p14:creationId xmlns:p14="http://schemas.microsoft.com/office/powerpoint/2010/main" val="9347445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1334B5B8-38C0-4942-9770-D27B08A9D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967B2ACB-166C-412C-BFDB-A5ED3CD0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AD0C1FDB-0F65-4D2D-8FD3-338C07A3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材料提取任务可测字段准确性、遗漏和原件链接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837043FC-D761-497E-ACF5-613D76FF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70C17A95-B9F3-487D-898D-71C84095E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6D409A5-59FE-47D5-8234-22233F77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9D43098-6282-4F71-A0FA-C7197BB0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模型输出必须经过任务级评测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658E5F4A-2B58-4715-9215-24F09A87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材料提取任务可测字段准确性、遗漏和原件链接；时间线任务可测顺序、时间冲突提示和来源覆盖；法规检索可测版本、适用性与引用支持；假设整理可测是否同时呈现支持与反证、能否在证据不足时保持不确定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6BCC0B5-96F2-47FE-8502-68359831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D1D0461-148F-4274-A626-F29B326E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评测集应包含模糊影像、损坏文件、时钟不一致、同名对象、矛盾笔录和恶意指令；观察系统会不会编造缺失内容或泄露受限信息；高风险错误要单独统计；不能被大量简单样本的平均分掩盖；模型或资料库更新后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756D9D04-2EB2-4F68-97B5-AFB135AD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FF9413BF-738C-4670-A0B5-205833BD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材料提取任务可测字段准确性、遗漏和原件链接</a:t>
            </a:r>
          </a:p>
        </p:txBody>
      </p:sp>
    </p:spTree>
    <p:extLst>
      <p:ext uri="{BB962C8B-B14F-4D97-AF65-F5344CB8AC3E}">
        <p14:creationId xmlns:p14="http://schemas.microsoft.com/office/powerpoint/2010/main" val="20759622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B3726A33-B4D0-42BB-8EF1-47D5DEF1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EE94280C-1208-41E1-809E-5F610E84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693C43E4-57D0-4A87-B4D6-54A46D43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可以整理材料，但不能替调查人员定案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EA48A152-F25B-4D79-8B1C-9DE76E2A1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86077912-CD02-4FD2-B51F-08780F1D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966B952-0136-4CA2-8EB6-F3F003EC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83227AB-63BA-4041-A890-9A799D51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模型不能定案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9B3F1FF-5F0B-42E7-BEB2-E29BEA06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8135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AI 可以生成材料目录、时间线草稿、规范检索结果、假设矩阵和报告结构；但不应宣布起火原因、证据效力、责任主体或案件结论；调查人员按照权限和程序审查原始资料、开展必要实验与询问、听取专业意见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FAF44AA-D33A-4054-B5D7-26F09485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FCC3C26-143D-45AE-B895-B4333D25F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界面应始终标明模型输出身份，允许复核者拒绝、修改和说明理由。报告中的每项关键事实都应指向证据；无法核验的生成内容必须删除。模型不可用时，调查工作仍应能依靠既有记录、工具和程序继续完成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CE26A0CC-4E0D-4993-9110-2B18C890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7E1D40BB-0766-469C-86C5-4525600A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AI 可以整理材料，但不能替调查人员定案</a:t>
            </a:r>
          </a:p>
        </p:txBody>
      </p:sp>
    </p:spTree>
    <p:extLst>
      <p:ext uri="{BB962C8B-B14F-4D97-AF65-F5344CB8AC3E}">
        <p14:creationId xmlns:p14="http://schemas.microsoft.com/office/powerpoint/2010/main" val="10172554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8FF21C75-0E3F-4B7C-86C1-89973467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4B3B4914-6E23-4571-B5A3-71A59A3F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316D96C9-F52D-4710-A858-FD08E6988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竞争性假设必须同时记录支持证据与反证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375770F0-5557-47E5-B7A2-EE215501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8BDB88B3-B262-4A26-8114-2FDEF752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407C604D-7874-4D9C-85C4-EFE94E3B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两个起火区域假设的材料矩阵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30E1058B-0364-41D3-BD67-CB6969D4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边界｜系统不比较谁“更像真相”，正式判断由调查人员在完成程序后形成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1EA86549-FEC5-4801-B8AB-861759A7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材料｜调查组拥有不同时间拍摄的照片、设备日志、处置记录和多份询问笔录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99C9F3A9-875B-4723-8848-950B1F86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694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整理｜系统按两个候选区域分别列出支持现象、矛盾证据、时间缺口和待核资料，并把每一项链接回原件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48617280-6DD6-40DA-8B69-CE67AC69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复核｜调查人员检查时钟误差、视角限制和资料取得过程，请相应领域专家解释关键设备状态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76EAD127-980C-4B5D-95D1-F7F66CBAB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D2FCF557-822F-46CC-B195-E5A2BD2D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竞争性假设必须同时记录支持证据与反证</a:t>
            </a:r>
          </a:p>
        </p:txBody>
      </p:sp>
    </p:spTree>
    <p:extLst>
      <p:ext uri="{BB962C8B-B14F-4D97-AF65-F5344CB8AC3E}">
        <p14:creationId xmlns:p14="http://schemas.microsoft.com/office/powerpoint/2010/main" val="1544177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14080950-7347-49AF-86A5-57713C2DD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82172572-7765-4D3D-8D78-ACEF7441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08F0A676-1B7E-4A01-83F6-EF1C515FA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三维模型辅助复查，不能替代原始测量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6DBB9EF1-F7CE-436F-BF7E-F740B1FC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0EE13EBF-CDFA-4661-BE2B-B39E93691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DD76E8C1-DC0E-44EE-A53B-B511A794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三维现场模型的正确用法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FE5666DF-FD74-4CB7-89FF-7D6FD39F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用途｜把测量、影像和物证位置放在共同空间中，支持不同人员复查观察路径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153CCEA7-51D6-4781-BF01-0AAFB9ED4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限制｜模型存在遮挡、尺度、配准和后期处理误差，缺失区域不能由生成模型想象补全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BF0E340A-82F5-4492-B2DD-29BAAEFC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要求｜每个空间标注保留原始影像、测量方法和处理记录；关键距离回到合格测量结果确认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04CCFB26-216C-478F-845A-C96FAF716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15C58B92-5430-4F17-AD74-F62E907B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三维模型辅助复查，不能替代原始测量</a:t>
            </a:r>
          </a:p>
        </p:txBody>
      </p:sp>
    </p:spTree>
    <p:extLst>
      <p:ext uri="{BB962C8B-B14F-4D97-AF65-F5344CB8AC3E}">
        <p14:creationId xmlns:p14="http://schemas.microsoft.com/office/powerpoint/2010/main" val="8343065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957BEA23-EF22-42D2-8D88-E163B841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FD8EF6B0-CC3C-4B26-9C27-D8B7FC36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251B9041-DBF2-462D-9DA8-29237556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应急与火灾调查：一次可验收练习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665DF8E9-F7C9-4E19-A1CC-AFFD41B4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28C0F208-73D4-4AC3-AB74-E5C0198B7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EF99A399-5E31-422F-B8AB-995F4B8B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F30E4AB8-5103-4E2F-AD5B-A6311852C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FDF53E34-D7CF-4955-BEEB-4A1850C2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为照片、视频、物证、询问笔录和设备日志设计一张登记表，至少包含来源、时间、位置、完整性、流转和访问字段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0D0857F8-E75C-430F-8A3E-63D82935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97A5B654-7C61-4E59-9585-3CA7C5DF6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B0F960D3-61AE-403F-A85D-C1F77C4EB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1341D45C-8D06-42F9-9DDB-068ECFF8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针对两个竞争性原因假设制作矩阵，分别写出支持、反证、替代解释和三项待补材料，不给出最终结论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7B92CA42-6A09-468C-A3BF-9B89DE32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2D77DFF5-BE7B-4D6D-AAA0-9A5173C10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73E4A53C-E63C-4BF2-A208-C3495766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514D9972-6491-46D2-9709-45F9C4C7E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画出从资料副本进入 AI 系统到调查人员签署报告的流程，标出法规核验、专家复核、权限检查与模型停用点</a:t>
            </a:r>
          </a:p>
        </p:txBody>
      </p:sp>
    </p:spTree>
    <p:extLst>
      <p:ext uri="{BB962C8B-B14F-4D97-AF65-F5344CB8AC3E}">
        <p14:creationId xmlns:p14="http://schemas.microsoft.com/office/powerpoint/2010/main" val="71513651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EE19A422-FF09-401F-A05F-3A34DC4D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A1DF8381-8FEE-4AEF-80C4-46D3D77FE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71037534-5F4C-42D0-BAFD-92E1C996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应急与火灾调查：判断时先抓住三点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CCC8D1B7-29F7-4DE6-8F19-FC0591F9C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13B6F3EC-AFB7-4E5A-94BC-B36F9469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65AAB714-B946-46D9-BCC9-CAEAB547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DF7F96CE-FC33-4BF6-AF45-00BE066F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F89BEBF6-50A6-4CDE-A2CD-8E6B8E31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现场资料先保存，再分析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5C2147B6-2E77-4871-AFDD-1A536F68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055C4C39-3527-4CDF-A29C-D63DA321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6E4D0FB3-2990-41BE-BE1D-365832E56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0903F561-2EE6-4642-983F-562C30EDA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竞争性假设能降低调查中的确认偏差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CA137F88-8161-458F-A35D-445CAFA1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DF3B20DB-A051-4B7F-8C6B-0FFD67BA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74899015-4D01-45AE-B9D0-C2010E6A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934878FE-3C1C-458B-8E0D-A5235907F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可以整理材料，但不能替调查人员定案</a:t>
            </a:r>
          </a:p>
        </p:txBody>
      </p:sp>
    </p:spTree>
    <p:extLst>
      <p:ext uri="{BB962C8B-B14F-4D97-AF65-F5344CB8AC3E}">
        <p14:creationId xmlns:p14="http://schemas.microsoft.com/office/powerpoint/2010/main" val="12674762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4CACE6AE-3181-435F-861E-BC1B8B55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82840381-7F00-46B8-B79C-D4B68AE8B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D05EE7E5-667A-4158-B4BC-AE440A17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应急与火灾调查：依据、边界与延伸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43EB4E8A-032E-4839-A843-A514421B5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6DDE8789-1BEC-440A-BF5D-D27ECD7C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30878D80-F813-4222-8D3D-6163E945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B4B28D51-C18F-44ED-BC72-628C32A5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《中华人民共和国消防法》与应急管理部《火灾事故调查规定》：实际使用时还需核对案件所在地现行法律、规章和职责调整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AD86F754-F544-48EA-9129-0218800E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NFPA 921：Guide for Fire and Explosion Investigations：NFPA 官方标准开发与版本入口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9A9C3010-F197-43B6-8022-9426EF15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实际调查必须使用案件所在地现行有效的法律、程序和技术规范，并由具备职责与资质的专业人员实施</a:t>
            </a:r>
          </a:p>
        </p:txBody>
      </p:sp>
      <p:sp>
        <p:nvSpPr>
          <p:cNvPr id="10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44FAC26E-4A78-4F91-AA20-1D4E5C76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7D79DE80-7C08-4259-942F-5F7F35B1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课程正文与幻灯片共享同一知识主线，图片和视频用于帮助理解本节概念与案例。</a:t>
            </a:r>
          </a:p>
        </p:txBody>
      </p:sp>
    </p:spTree>
    <p:extLst>
      <p:ext uri="{BB962C8B-B14F-4D97-AF65-F5344CB8AC3E}">
        <p14:creationId xmlns:p14="http://schemas.microsoft.com/office/powerpoint/2010/main" val="20710012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2026-07-12T08:20:33.3670000Z</dcterms:created>
  <dcterms:modified xsi:type="dcterms:W3CDTF">2026-07-12T08:20:33.3670000Z</dcterms:modified>
</coreProperties>
</file>