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c0b9dd47a846b7" /><Relationship Type="http://schemas.openxmlformats.org/officeDocument/2006/relationships/extended-properties" Target="/docProps/app.xml" Id="Rbe9d7ae060554081" /><Relationship Type="http://schemas.openxmlformats.org/officeDocument/2006/relationships/officeDocument" Target="/ppt/presentation.xml" Id="R3e221222b3e546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55bc7731e9407f"/>
  </p:sldMasterIdLst>
  <p:notesMasterIdLst>
    <p:notesMasterId xmlns:r="http://schemas.openxmlformats.org/officeDocument/2006/relationships" r:id="R731686b1e1804987"/>
  </p:notesMasterIdLst>
  <p:sldIdLst>
    <p:sldId xmlns:r="http://schemas.openxmlformats.org/officeDocument/2006/relationships" id="256" r:id="R69eda4879cd14997"/>
    <p:sldId xmlns:r="http://schemas.openxmlformats.org/officeDocument/2006/relationships" id="257" r:id="R047acbfe00984f40"/>
    <p:sldId xmlns:r="http://schemas.openxmlformats.org/officeDocument/2006/relationships" id="258" r:id="Rd4887ba569224819"/>
    <p:sldId xmlns:r="http://schemas.openxmlformats.org/officeDocument/2006/relationships" id="259" r:id="R55de444514fe4126"/>
    <p:sldId xmlns:r="http://schemas.openxmlformats.org/officeDocument/2006/relationships" id="260" r:id="R6b262a59c663408b"/>
    <p:sldId xmlns:r="http://schemas.openxmlformats.org/officeDocument/2006/relationships" id="261" r:id="R504d6f36af544514"/>
    <p:sldId xmlns:r="http://schemas.openxmlformats.org/officeDocument/2006/relationships" id="262" r:id="Ra474323502ea4752"/>
    <p:sldId xmlns:r="http://schemas.openxmlformats.org/officeDocument/2006/relationships" id="263" r:id="R16851b450d634f41"/>
    <p:sldId xmlns:r="http://schemas.openxmlformats.org/officeDocument/2006/relationships" id="264" r:id="Re29532358e814e80"/>
    <p:sldId xmlns:r="http://schemas.openxmlformats.org/officeDocument/2006/relationships" id="265" r:id="Rb3e50e81ef6c4dc6"/>
    <p:sldId xmlns:r="http://schemas.openxmlformats.org/officeDocument/2006/relationships" id="266" r:id="R067046a6ced14aaa"/>
    <p:sldId xmlns:r="http://schemas.openxmlformats.org/officeDocument/2006/relationships" id="267" r:id="R44663af97e474162"/>
    <p:sldId xmlns:r="http://schemas.openxmlformats.org/officeDocument/2006/relationships" id="268" r:id="Rbf801409bd4e498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9153ab89f647b7" /><Relationship Type="http://schemas.openxmlformats.org/officeDocument/2006/relationships/slideMaster" Target="/ppt/slideMasters/slideMaster1.xml" Id="Rd055bc7731e9407f" /><Relationship Type="http://schemas.openxmlformats.org/officeDocument/2006/relationships/notesMaster" Target="/ppt/notesMasters/notesMaster1.xml" Id="R731686b1e1804987" /><Relationship Type="http://schemas.openxmlformats.org/officeDocument/2006/relationships/presProps" Target="/ppt/presProps.xml" Id="R8ecfe63e77d2472d" /><Relationship Type="http://schemas.openxmlformats.org/officeDocument/2006/relationships/tableStyles" Target="/ppt/tableStyles.xml" Id="R4b21a976db1f40eb" /><Relationship Type="http://schemas.openxmlformats.org/officeDocument/2006/relationships/slide" Target="/ppt/slides/slide1.xml" Id="R69eda4879cd14997" /><Relationship Type="http://schemas.openxmlformats.org/officeDocument/2006/relationships/slide" Target="/ppt/slides/slide2.xml" Id="R047acbfe00984f40" /><Relationship Type="http://schemas.openxmlformats.org/officeDocument/2006/relationships/slide" Target="/ppt/slides/slide3.xml" Id="Rd4887ba569224819" /><Relationship Type="http://schemas.openxmlformats.org/officeDocument/2006/relationships/slide" Target="/ppt/slides/slide4.xml" Id="R55de444514fe4126" /><Relationship Type="http://schemas.openxmlformats.org/officeDocument/2006/relationships/slide" Target="/ppt/slides/slide5.xml" Id="R6b262a59c663408b" /><Relationship Type="http://schemas.openxmlformats.org/officeDocument/2006/relationships/slide" Target="/ppt/slides/slide6.xml" Id="R504d6f36af544514" /><Relationship Type="http://schemas.openxmlformats.org/officeDocument/2006/relationships/slide" Target="/ppt/slides/slide7.xml" Id="Ra474323502ea4752" /><Relationship Type="http://schemas.openxmlformats.org/officeDocument/2006/relationships/slide" Target="/ppt/slides/slide8.xml" Id="R16851b450d634f41" /><Relationship Type="http://schemas.openxmlformats.org/officeDocument/2006/relationships/slide" Target="/ppt/slides/slide9.xml" Id="Re29532358e814e80" /><Relationship Type="http://schemas.openxmlformats.org/officeDocument/2006/relationships/slide" Target="/ppt/slides/slide10.xml" Id="Rb3e50e81ef6c4dc6" /><Relationship Type="http://schemas.openxmlformats.org/officeDocument/2006/relationships/slide" Target="/ppt/slides/slide11.xml" Id="R067046a6ced14aaa" /><Relationship Type="http://schemas.openxmlformats.org/officeDocument/2006/relationships/slide" Target="/ppt/slides/slide12.xml" Id="R44663af97e474162" /><Relationship Type="http://schemas.openxmlformats.org/officeDocument/2006/relationships/slide" Target="/ppt/slides/slide13.xml" Id="Rbf801409bd4e49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9b2291a74c40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c19a0c48c74980" /><Relationship Type="http://schemas.openxmlformats.org/officeDocument/2006/relationships/notesMaster" Target="/ppt/notesMasters/notesMaster1.xml" Id="Rf162659b08b743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f541133bed47ec" /><Relationship Type="http://schemas.openxmlformats.org/officeDocument/2006/relationships/notesMaster" Target="/ppt/notesMasters/notesMaster1.xml" Id="R74eff80747fc4e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3a28a0cdc442a6" /><Relationship Type="http://schemas.openxmlformats.org/officeDocument/2006/relationships/notesMaster" Target="/ppt/notesMasters/notesMaster1.xml" Id="R281641f774b748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0d1efb24fb476a" /><Relationship Type="http://schemas.openxmlformats.org/officeDocument/2006/relationships/notesMaster" Target="/ppt/notesMasters/notesMaster1.xml" Id="R7d3e4b951c0945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882c497f2249f9" /><Relationship Type="http://schemas.openxmlformats.org/officeDocument/2006/relationships/notesMaster" Target="/ppt/notesMasters/notesMaster1.xml" Id="R4a495904a82f41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604017e1a844ba" /><Relationship Type="http://schemas.openxmlformats.org/officeDocument/2006/relationships/notesMaster" Target="/ppt/notesMasters/notesMaster1.xml" Id="R8ab3cf4201c14b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3869d49a6e42f2" /><Relationship Type="http://schemas.openxmlformats.org/officeDocument/2006/relationships/notesMaster" Target="/ppt/notesMasters/notesMaster1.xml" Id="R506469994ad74c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bdad9eb4c04839" /><Relationship Type="http://schemas.openxmlformats.org/officeDocument/2006/relationships/notesMaster" Target="/ppt/notesMasters/notesMaster1.xml" Id="R4153f72b4ddc42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4070a098cc493e" /><Relationship Type="http://schemas.openxmlformats.org/officeDocument/2006/relationships/notesMaster" Target="/ppt/notesMasters/notesMaster1.xml" Id="Rf1fbd54fa7a644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84e37eda1d4afa" /><Relationship Type="http://schemas.openxmlformats.org/officeDocument/2006/relationships/notesMaster" Target="/ppt/notesMasters/notesMaster1.xml" Id="R9e3c925d35a04b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8fb01f0365405f" /><Relationship Type="http://schemas.openxmlformats.org/officeDocument/2006/relationships/notesMaster" Target="/ppt/notesMasters/notesMaster1.xml" Id="R76ac4a40908c41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63d6b9fb564677" /><Relationship Type="http://schemas.openxmlformats.org/officeDocument/2006/relationships/notesMaster" Target="/ppt/notesMasters/notesMaster1.xml" Id="R444d2da10ebf412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18d5970ca94ed7" /><Relationship Type="http://schemas.openxmlformats.org/officeDocument/2006/relationships/notesMaster" Target="/ppt/notesMasters/notesMaster1.xml" Id="R8cc638f3a7ba4f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d26974b28f44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efb3001adb4083" /><Relationship Type="http://schemas.openxmlformats.org/officeDocument/2006/relationships/slideLayout" Target="/ppt/slideLayouts/slideLayout1.xml" Id="Rfe6d05acd30546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6d05acd30546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55e1b2eee4238" /><Relationship Type="http://schemas.openxmlformats.org/officeDocument/2006/relationships/notesSlide" Target="/ppt/notesSlides/notesSlide1.xml" Id="R14cc4c08cca64e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76f36f44c4fc9" /><Relationship Type="http://schemas.openxmlformats.org/officeDocument/2006/relationships/notesSlide" Target="/ppt/notesSlides/notesSlide2.xml" Id="R2675ee4103f640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4380941e54f78" /><Relationship Type="http://schemas.openxmlformats.org/officeDocument/2006/relationships/notesSlide" Target="/ppt/notesSlides/notesSlide3.xml" Id="R32f9561b324440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5c6e625ad4134" /><Relationship Type="http://schemas.openxmlformats.org/officeDocument/2006/relationships/notesSlide" Target="/ppt/notesSlides/notesSlide4.xml" Id="R1bd0ab909aa943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71c310a0e4a16" /><Relationship Type="http://schemas.openxmlformats.org/officeDocument/2006/relationships/notesSlide" Target="/ppt/notesSlides/notesSlide5.xml" Id="Rd87304b560c749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b6c0bcd3c495d" /><Relationship Type="http://schemas.openxmlformats.org/officeDocument/2006/relationships/notesSlide" Target="/ppt/notesSlides/notesSlide6.xml" Id="R0fe30555129946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716adc10040f6" /><Relationship Type="http://schemas.openxmlformats.org/officeDocument/2006/relationships/notesSlide" Target="/ppt/notesSlides/notesSlide7.xml" Id="R970e62dcd68b44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ae78e677a4cbd" /><Relationship Type="http://schemas.openxmlformats.org/officeDocument/2006/relationships/notesSlide" Target="/ppt/notesSlides/notesSlide8.xml" Id="R477556b4f41042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bcd3c726c45ca" /><Relationship Type="http://schemas.openxmlformats.org/officeDocument/2006/relationships/notesSlide" Target="/ppt/notesSlides/notesSlide9.xml" Id="R5547917a6be540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963fe46d548e4" /><Relationship Type="http://schemas.openxmlformats.org/officeDocument/2006/relationships/notesSlide" Target="/ppt/notesSlides/notesSlide10.xml" Id="Ra622c242007144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5569861304bb3" /><Relationship Type="http://schemas.openxmlformats.org/officeDocument/2006/relationships/notesSlide" Target="/ppt/notesSlides/notesSlide11.xml" Id="R39bccc689e9543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d49ba726a4278" /><Relationship Type="http://schemas.openxmlformats.org/officeDocument/2006/relationships/notesSlide" Target="/ppt/notesSlides/notesSlide12.xml" Id="R37bcc2b6cb9b47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b0bad480e4f4f" /><Relationship Type="http://schemas.openxmlformats.org/officeDocument/2006/relationships/notesSlide" Target="/ppt/notesSlides/notesSlide13.xml" Id="Ra9248e17d8a24b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6A43FAA-553D-4B53-BBAD-FFE0C7B5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E55382D8-BF5A-4337-81DE-4CC5937B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FF69F5C-C389-40F5-A091-06675C2C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C34ED9F-EEEE-43BF-94B4-7EE537BB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D8F4B5A-DB69-44F5-ABC8-8A51325E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559ABDDE-3E9E-4132-8440-672DE10A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7D19195-759C-4C1C-A996-A4B208AC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FF459-DAC0-4CB9-9D2E-584B056C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应急管理与火灾调查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8B2AE95-800D-4A8A-AE4B-4C01247A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以火灾调查辅助专家模型为例，理解证据链、法规知识、专业判断和责任边界。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900AE851-D897-4878-BC45-8A8C6019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火灾应急响应首先关注救援、控制危险和保护人员；火灾调查则在符合法定程序的前提下；保存和审查现场资料；重建事件过程并评价不同原因假设；两项工作会共享时间、位置和处置记录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A74DC26-3E4B-4DD2-AC37-F43B1E36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7D77E87-D400-4945-8B8D-975DD77E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IN-007 · IN-007-S01</a:t>
            </a:r>
          </a:p>
        </p:txBody>
      </p:sp>
    </p:spTree>
    <p:extLst>
      <p:ext uri="{BB962C8B-B14F-4D97-AF65-F5344CB8AC3E}">
        <p14:creationId xmlns:p14="http://schemas.microsoft.com/office/powerpoint/2010/main" val="5219878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4C89945-DA8A-4781-B9EF-EEA137CF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6B017284-FDAB-4A3B-9ADF-6E35E2BC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0CC01FD2-DC21-459C-8D6C-FC3B3C00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E2F846AF-6BC3-439F-9151-3A4C1B07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34EF1B9-0176-4D07-B4D5-4A4C56EC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5EB53291-DDAB-4A06-BA7B-263C0748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说明现场影像、物证、询问、设备记录和处置记录各自能支持什么判断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3BF5DEC7-C5FF-4302-9964-32099C5C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为数字与实物资料设计来源、完整性、流转和访问记录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AFE15D78-51F7-4B2C-A38F-5E37E575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使用多个竞争性假设组织支持证据、反证、替代解释与待补材料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6BBE103E-C19F-4E4F-A9EE-8B83F5A9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区分模型提取、专家意见和依法形成的调查结论，明确模型不能定案</a:t>
            </a:r>
          </a:p>
        </p:txBody>
      </p:sp>
    </p:spTree>
    <p:extLst>
      <p:ext uri="{BB962C8B-B14F-4D97-AF65-F5344CB8AC3E}">
        <p14:creationId xmlns:p14="http://schemas.microsoft.com/office/powerpoint/2010/main" val="4699434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683A7831-AE26-47CA-85B9-0638E7DC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1D16E35-117E-431F-B62F-208444F0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35C36E37-F349-4557-971B-CCE5D974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C8ADF6E7-F582-4981-9D78-667E4A0D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61E84B42-3AB7-4DF1-A6D1-B0866548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A6976FA-4764-4398-B2EF-60B7EBCB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FF6495B-C2C0-49E5-A52B-B400789C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06BDD0D-F3FC-43FA-BC2E-B02A7404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调查资料可能包括现场照片、视频、平面图、测量与点云、物证、烧损痕迹、报警和设备日志、消防处置记录、气象资料以及询问笔录；每类材料都有观察边界；照片受视角和曝光影响；日志可能有时钟误差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1C1B24E-76C1-4836-9D0D-10609DF3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95F6E22-FC1D-45E2-8E8A-DA7819B2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采集时应记录唯一标识、时间、位置、采集人、设备、方法和现场状态；区分原始文件、工作副本和模型生成内容；数字资料可使用校验值帮助发现后续变化；实物资料则按适用程序记录封存、移交和检查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600A4BC6-EC8D-4AE5-A106-823407BB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C84FB07-6AAA-4572-9001-682CFD89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处理应在副本上进行，不覆盖原件。图像增强、语音转写、对象标注和三维重建都要保留参数与生成时间，并明确它们是辅助产物。任何测量和关键事实都应回到原始资料或现场记录核验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001725ED-5BDB-4C97-BA5C-B443D164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5B8BAB1-3CB8-43D6-86E1-29C73B26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</p:spTree>
    <p:extLst>
      <p:ext uri="{BB962C8B-B14F-4D97-AF65-F5344CB8AC3E}">
        <p14:creationId xmlns:p14="http://schemas.microsoft.com/office/powerpoint/2010/main" val="5799594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2509F538-FBA6-48A8-A9E6-6D6F0575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8DBF00E-2F59-4E2C-B9F2-4B5FAAAA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44E36AC7-0602-4AB2-B2A7-16A26EC6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C059569-851B-45E6-83D9-701B4334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407E0E5B-B921-49FB-9632-85FDCDA45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1239DFD-6EBB-4AB7-BBFC-C39F20E1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FE936A8-0DAC-46E8-B85B-EB26CE3F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建立可复查的证据链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8B17069-32EC-4E17-A761-E35BB31D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证据链不是“把所有文件放进一个文件夹”，而是让每个主张都能追溯到具体资料和合规的取得过程。系统可以建立“事件—地点—对象—人员—资料—操作”的关系，并保存谁在何时查看、复制、标注或导出了内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2B74B3E-24BE-4EEC-9AAA-A4A376CE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DAC47D4-B884-481A-92FD-8254084B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调查笔记要区分四类信息；直接记录的事实、由工具提取的内容、专家解释和仍待验证的推断；模型生成的摘要不得改变这种区分；若一条结论同时依赖多个资料；应分别列明支持关系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E3FB378-8F83-4B41-BB4A-1211B5B7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2F1B84F-635A-4AE9-8A94-4C4CE00B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权限同样属于证据治理。现场影像、个人信息和未公开调查资料只能由有职责的人访问，外部模型服务是否允许使用要经过审查。测试和演示应使用脱敏或合成资料，不能把真实案件细节当作普通训练素材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03E8D1AB-ACE1-4387-9608-AE6B1CD4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2A4659F3-7E46-4FBB-9824-A1CD822F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</p:spTree>
    <p:extLst>
      <p:ext uri="{BB962C8B-B14F-4D97-AF65-F5344CB8AC3E}">
        <p14:creationId xmlns:p14="http://schemas.microsoft.com/office/powerpoint/2010/main" val="7377651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518E1F10-94BC-420C-B55A-2191D7B1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150689A9-8E37-4CDC-A640-2D3E41DC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AB9461A1-ED92-4F62-BDD9-3C0CB172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2FEF9942-C569-4823-9A8D-AD8AC3B5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6DD5B527-C5A9-42C6-837A-5CAB2E73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1D8B50B-1E2F-47F8-874C-0079F39C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A3E5125-54CA-4060-90EB-A30B96B7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同时维护多个竞争性假设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88F29C2-D2E2-471F-AFFE-91E25B54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74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调查容易出现确认偏差；一旦形成最初印象，后续只寻找支持它的证据；更稳妥的方法是维护多个可检验假设；例如不同的起火区域、点燃来源或传播路径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0B600E2-4CC4-4602-950C-198E22AE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E46B13D-4389-48FE-92FE-35DEF0D1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可以按固定结构整理假设矩阵；发现某项证据被重复使用；或提示两个叙述在时间上冲突；但模型不应凭语言相似度给某个原因“投票”；也不能把没有数据支撑的概率包装成科学结论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14D963C-143D-45CB-ACDF-BBA21A62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9F32DC7-5FF4-4917-9211-2AD4E62E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随着新资料加入，调查人员应记录假设如何变化以及变化依据。最终报告不只呈现采纳的解释，也要说明关键替代解释如何被审查、哪些限制仍然存在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F8ACC17-7511-4702-9BB2-21C4626B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B2D0230D-AF0C-4AF5-8DA8-0D4BB119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</p:spTree>
    <p:extLst>
      <p:ext uri="{BB962C8B-B14F-4D97-AF65-F5344CB8AC3E}">
        <p14:creationId xmlns:p14="http://schemas.microsoft.com/office/powerpoint/2010/main" val="6760329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5437260C-CDD5-429A-8474-62F31D01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10D30776-082B-4C65-B44B-B2A8965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BC863C86-71BC-4AD9-AB10-82B0DEB2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9C16B2D-BDB8-48FF-8BB0-34469957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F6524161-F360-43D8-AC86-FFC1E5FD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330CAD9-BFFB-4B6A-A90B-31039CF9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FD167ED-9914-4BA9-BC6E-C82C9431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DE0F7F9-230C-4A80-9E1F-860B6F12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检索库可以包含现行法律法规、调查程序、消防和电气技术资料、设备说明以及经过审查的案例；每条资料应标明发布机构、版本、有效状态、适用范围和具体位置；历史案例能提示排查方向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B98D85F-0AFF-4C0B-A6FA-48E63BD4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E4D091D-BD38-4355-B25B-59068B89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模型可能引用失效条款、混淆不同地区规则；或从一段技术说明推导出原文没有的结论；调查人员必须核对原文；必要时由消防、电气、材料、结构或其他领域专家复核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F7B2B087-2693-4AAC-9A20-B29FBB22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03BAE8C-B9DA-4FCB-9852-5FA90C66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</p:spTree>
    <p:extLst>
      <p:ext uri="{BB962C8B-B14F-4D97-AF65-F5344CB8AC3E}">
        <p14:creationId xmlns:p14="http://schemas.microsoft.com/office/powerpoint/2010/main" val="14554178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A330105E-3E4F-40D7-B205-5460A6DE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086DF69-AC62-4E17-B4A3-2BE83388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73817960-5C1E-4340-9462-F2419918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895CB455-971D-4339-92FC-75B55741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AF909C66-CB8F-4B50-8BE4-70F24BF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73ADE63-16B7-422C-BF17-EF7DFCCB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A010A8F-B65C-4753-BD2F-5B4683EF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模型输出必须经过任务级评测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C249248-3119-47E1-869B-48389B44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材料提取任务可测字段准确性、遗漏和原件链接；时间线任务可测顺序、时间冲突提示和来源覆盖；法规检索可测版本、适用性与引用支持；假设整理可测是否同时呈现支持与反证、能否在证据不足时保持不确定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468D6DF-2173-4766-8151-6E1A959A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974EEA5-FC22-4036-B09A-69CC2EB4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集应包含模糊影像、损坏文件、时钟不一致、同名对象、矛盾笔录和恶意指令；观察系统会不会编造缺失内容或泄露受限信息；高风险错误要单独统计；不能被大量简单样本的平均分掩盖；模型或资料库更新后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078677A-47BD-4231-9392-988C86C9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8529D347-B309-4BF6-B119-489C2906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</p:spTree>
    <p:extLst>
      <p:ext uri="{BB962C8B-B14F-4D97-AF65-F5344CB8AC3E}">
        <p14:creationId xmlns:p14="http://schemas.microsoft.com/office/powerpoint/2010/main" val="14569836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D5A4F26-5321-44FB-BD63-15397305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C5DE6D36-AB0F-45E7-B653-C13A9308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9684C3A-321F-4FB7-94E6-6D882A7C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FB5CB0C-6875-478E-BD1C-AFD5B633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AE35A801-66DF-4F6C-B1AE-34906B6B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02CAB5F-1F75-430C-B2DD-D7A10B4D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C23D5AA-FA0D-4744-82A1-D7BCD6B9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模型不能定案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ED7ABCF-A75D-477A-AF90-E3A0AF77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135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可以生成材料目录、时间线草稿、规范检索结果、假设矩阵和报告结构；但不应宣布起火原因、证据效力、责任主体或案件结论；调查人员按照权限和程序审查原始资料、开展必要实验与询问、听取专业意见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E454372-59D7-4984-A687-1ED2F6DB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D588D1D-A30F-490B-9463-93A8FA68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界面应始终标明模型输出身份，允许复核者拒绝、修改和说明理由。报告中的每项关键事实都应指向证据；无法核验的生成内容必须删除。模型不可用时，调查工作仍应能依靠既有记录、工具和程序继续完成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90FAA6B5-8F7C-4C36-98A7-FC6C8A2E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D1DB0E3E-4077-4D4B-9B40-B77A6567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</p:spTree>
    <p:extLst>
      <p:ext uri="{BB962C8B-B14F-4D97-AF65-F5344CB8AC3E}">
        <p14:creationId xmlns:p14="http://schemas.microsoft.com/office/powerpoint/2010/main" val="4312561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5C2D9CE-1560-417A-A935-76C7E0BE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A42F3A0-B53E-40FF-B7C9-D640B3C7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5314B574-D0B7-4874-8CDB-ABDA549E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竞争性假设必须同时记录支持证据与反证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68BE45B-A126-467D-BADF-76A1ED56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BD4B1AD6-1C94-4237-ADDF-9A770F9A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590709B-FEA1-40AA-8ACD-69D1D1C1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两个起火区域假设的材料矩阵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F999994-A237-498A-83CE-8EAB5B0E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边界｜系统不比较谁“更像真相”，正式判断由调查人员在完成程序后形成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87856F1-7B1F-4991-8B2E-9F0913AD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材料｜调查组拥有不同时间拍摄的照片、设备日志、处置记录和多份询问笔录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6594B89-821A-4A1F-BBE9-169B8B16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整理｜系统按两个候选区域分别列出支持现象、矛盾证据、时间缺口和待核资料，并把每一项链接回原件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7DA0BDAB-4E7D-4156-BA46-61297C8C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复核｜调查人员检查时钟误差、视角限制和资料取得过程，请相应领域专家解释关键设备状态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92D01166-A324-4FAB-BE12-BE860C64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B1F2FE6-F41E-4AE7-BA01-DC383660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竞争性假设必须同时记录支持证据与反证</a:t>
            </a:r>
          </a:p>
        </p:txBody>
      </p:sp>
    </p:spTree>
    <p:extLst>
      <p:ext uri="{BB962C8B-B14F-4D97-AF65-F5344CB8AC3E}">
        <p14:creationId xmlns:p14="http://schemas.microsoft.com/office/powerpoint/2010/main" val="7655543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40836A4B-9359-4E1B-A5B9-2228371B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6088AC1-4153-4286-9DD4-232F334F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1349335B-A2F0-4895-8B0A-53438C4C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三维模型辅助复查，不能替代原始测量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E971FBC-85D9-4DC3-BDBF-4DF718B9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7F71E4F0-0044-4DAF-81FD-2AD6FDF6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1F280FA-C8D5-4AB6-B39B-D993C692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三维现场模型的正确用法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BAA34F3-B7EC-4C31-BA03-F7E35CB1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用途｜把测量、影像和物证位置放在共同空间中，支持不同人员复查观察路径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75C7957-2D4D-4A3B-AAE2-638B2E8C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限制｜模型存在遮挡、尺度、配准和后期处理误差，缺失区域不能由生成模型想象补全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60DFF53-7037-48AA-8B89-418C4EE9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要求｜每个空间标注保留原始影像、测量方法和处理记录；关键距离回到合格测量结果确认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EA2B8B16-754D-48DF-AA8B-19725E8E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5E3297AD-C6D7-496E-A555-08CC5C91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三维模型辅助复查，不能替代原始测量</a:t>
            </a:r>
          </a:p>
        </p:txBody>
      </p:sp>
    </p:spTree>
    <p:extLst>
      <p:ext uri="{BB962C8B-B14F-4D97-AF65-F5344CB8AC3E}">
        <p14:creationId xmlns:p14="http://schemas.microsoft.com/office/powerpoint/2010/main" val="1254543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E178C7D4-A4C6-41D9-832C-FE646BA6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42DFB4C-2676-4441-8012-814B5DE2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11C178DD-BC19-4C7B-A912-4C67906A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0684A78-52FF-4E71-B007-C8BF38A2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C536AE5C-F882-4C59-AE94-82AE00FA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EF0C33D-9849-4F56-AE8C-9F159296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FC68463-58C2-4DE7-A87E-679DCA64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02424C7-3ECA-4D86-9DD9-285AB2AB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为照片、视频、物证、询问笔录和设备日志设计一张登记表，至少包含来源、时间、位置、完整性、流转和访问字段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5254519-40C8-4DCE-8B73-31E1E662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34312F95-419E-4A09-AEE9-91906873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CCEF89E-C8F3-4E1D-ACA1-C8C04E99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459237E2-F8F8-4553-AD90-1D36E370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针对两个竞争性原因假设制作矩阵，分别写出支持、反证、替代解释和三项待补材料，不给出最终结论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98585AA0-C323-4A3D-B691-6332FE8D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4429F6BF-D5EC-41F0-A6E5-441CF52C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84ACC647-E1E1-4CA7-891E-F93BBE81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3E0D4B5-3DD7-4F93-B6B7-8893F8F5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画出从资料副本进入 AI 系统到调查人员签署报告的流程，标出法规核验、专家复核、权限检查与模型停用点</a:t>
            </a:r>
          </a:p>
        </p:txBody>
      </p:sp>
    </p:spTree>
    <p:extLst>
      <p:ext uri="{BB962C8B-B14F-4D97-AF65-F5344CB8AC3E}">
        <p14:creationId xmlns:p14="http://schemas.microsoft.com/office/powerpoint/2010/main" val="19475423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44A790FD-FC76-413D-B9A6-B5E7D92D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6798D57-9424-4AB5-82C2-2597B872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A3AB164E-7A9B-4C48-BD37-16F43FA3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8519D85-5996-4B0A-B9F6-AE04A878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54095003-1873-4715-9F69-A8220B8C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3768B9B-2E70-48E1-AF26-0A9793C8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B4342F6E-AC07-484B-A845-6F08DA27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9A3783DF-10C2-4BC6-9B0F-ECD2FA23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5A632A45-D872-43EE-9AD9-68D73B6D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1D5A5255-B714-4C9F-A10C-CA79688B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8E5BB373-26BA-4423-BF10-B0710DC8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0174014-3846-401A-9271-15705CA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竞争性假设能降低调查中的确认偏差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48448536-2A31-4745-95B0-AB364A43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BB8662B-A0B5-4AC7-9B1C-4E640CAF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666C7C9-F1B9-4ABF-9226-1A6D6C85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D1D2F281-3A67-4879-BB1D-CE52098F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可以整理材料，但不能替调查人员定案</a:t>
            </a:r>
          </a:p>
        </p:txBody>
      </p:sp>
    </p:spTree>
    <p:extLst>
      <p:ext uri="{BB962C8B-B14F-4D97-AF65-F5344CB8AC3E}">
        <p14:creationId xmlns:p14="http://schemas.microsoft.com/office/powerpoint/2010/main" val="20405640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46ECC264-A1BE-4B4D-BAEE-398BDC64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22C6C075-AC29-4FA4-83F8-08F202B2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F8979948-758C-45C3-B75B-EB862923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应急与火灾调查：依据、边界与延伸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0247A2A2-644C-4EC2-A024-4CB7F346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38D91BCD-3F87-49BD-A926-DE2005DD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C47DB9A-75EB-40D8-A0EE-F03A39E0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5529C0FC-881E-4051-B663-FD06B5F8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《中华人民共和国消防法》与应急管理部《火灾事故调查规定》：实际使用时还需核对案件所在地现行法律、规章和职责调整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EA2552B5-A863-4F3A-A353-3FC62001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NFPA 921：Guide for Fire and Explosion Investigations：NFPA 官方标准开发与版本入口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5E382958-3AA2-4D96-8D75-9BF474A1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实际调查必须使用案件所在地现行有效的法律、程序和技术规范，并由具备职责与资质的专业人员实施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D006659D-F784-49EE-990F-DA93D2DA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73061E9F-244D-46C1-BEF4-668AE80F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0499027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2026-07-12T03:32:10.3990000Z</dcterms:created>
  <dcterms:modified xsi:type="dcterms:W3CDTF">2026-07-12T03:32:10.3990000Z</dcterms:modified>
</coreProperties>
</file>