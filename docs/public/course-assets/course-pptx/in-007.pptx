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d2a11bf65384aad" /><Relationship Type="http://schemas.openxmlformats.org/officeDocument/2006/relationships/extended-properties" Target="/docProps/app.xml" Id="R7c1753b852d34c1e" /><Relationship Type="http://schemas.openxmlformats.org/officeDocument/2006/relationships/officeDocument" Target="/ppt/presentation.xml" Id="Recadb048aa9f456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5af24c07d1b4d70"/>
  </p:sldMasterIdLst>
  <p:notesMasterIdLst>
    <p:notesMasterId xmlns:r="http://schemas.openxmlformats.org/officeDocument/2006/relationships" r:id="R8028e2534113415d"/>
  </p:notesMasterIdLst>
  <p:sldIdLst>
    <p:sldId xmlns:r="http://schemas.openxmlformats.org/officeDocument/2006/relationships" id="256" r:id="R1324f075917a4fc4"/>
    <p:sldId xmlns:r="http://schemas.openxmlformats.org/officeDocument/2006/relationships" id="257" r:id="R8800269018de4830"/>
    <p:sldId xmlns:r="http://schemas.openxmlformats.org/officeDocument/2006/relationships" id="258" r:id="Rf1ed8e7e709d4e1b"/>
    <p:sldId xmlns:r="http://schemas.openxmlformats.org/officeDocument/2006/relationships" id="259" r:id="R7b8402a10ed34b7a"/>
    <p:sldId xmlns:r="http://schemas.openxmlformats.org/officeDocument/2006/relationships" id="260" r:id="R8cea6065ccd7467e"/>
    <p:sldId xmlns:r="http://schemas.openxmlformats.org/officeDocument/2006/relationships" id="261" r:id="R9c5ec442ced846a9"/>
    <p:sldId xmlns:r="http://schemas.openxmlformats.org/officeDocument/2006/relationships" id="262" r:id="R4dc76891fd7443ec"/>
    <p:sldId xmlns:r="http://schemas.openxmlformats.org/officeDocument/2006/relationships" id="263" r:id="Rfd66e8b6fbe746d6"/>
    <p:sldId xmlns:r="http://schemas.openxmlformats.org/officeDocument/2006/relationships" id="264" r:id="R75d5d9bf164b484b"/>
    <p:sldId xmlns:r="http://schemas.openxmlformats.org/officeDocument/2006/relationships" id="265" r:id="R7e0cbd76d9e04eb5"/>
    <p:sldId xmlns:r="http://schemas.openxmlformats.org/officeDocument/2006/relationships" id="266" r:id="R32f7a98b5d224862"/>
    <p:sldId xmlns:r="http://schemas.openxmlformats.org/officeDocument/2006/relationships" id="267" r:id="Rcdf0c223abf34ff7"/>
    <p:sldId xmlns:r="http://schemas.openxmlformats.org/officeDocument/2006/relationships" id="268" r:id="R83a9021e69264c6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7685b5bd1f64ca9" /><Relationship Type="http://schemas.openxmlformats.org/officeDocument/2006/relationships/slideMaster" Target="/ppt/slideMasters/slideMaster1.xml" Id="R05af24c07d1b4d70" /><Relationship Type="http://schemas.openxmlformats.org/officeDocument/2006/relationships/notesMaster" Target="/ppt/notesMasters/notesMaster1.xml" Id="R8028e2534113415d" /><Relationship Type="http://schemas.openxmlformats.org/officeDocument/2006/relationships/presProps" Target="/ppt/presProps.xml" Id="Rad3dea7935f64316" /><Relationship Type="http://schemas.openxmlformats.org/officeDocument/2006/relationships/tableStyles" Target="/ppt/tableStyles.xml" Id="R968d600b0d824446" /><Relationship Type="http://schemas.openxmlformats.org/officeDocument/2006/relationships/slide" Target="/ppt/slides/slide1.xml" Id="R1324f075917a4fc4" /><Relationship Type="http://schemas.openxmlformats.org/officeDocument/2006/relationships/slide" Target="/ppt/slides/slide2.xml" Id="R8800269018de4830" /><Relationship Type="http://schemas.openxmlformats.org/officeDocument/2006/relationships/slide" Target="/ppt/slides/slide3.xml" Id="Rf1ed8e7e709d4e1b" /><Relationship Type="http://schemas.openxmlformats.org/officeDocument/2006/relationships/slide" Target="/ppt/slides/slide4.xml" Id="R7b8402a10ed34b7a" /><Relationship Type="http://schemas.openxmlformats.org/officeDocument/2006/relationships/slide" Target="/ppt/slides/slide5.xml" Id="R8cea6065ccd7467e" /><Relationship Type="http://schemas.openxmlformats.org/officeDocument/2006/relationships/slide" Target="/ppt/slides/slide6.xml" Id="R9c5ec442ced846a9" /><Relationship Type="http://schemas.openxmlformats.org/officeDocument/2006/relationships/slide" Target="/ppt/slides/slide7.xml" Id="R4dc76891fd7443ec" /><Relationship Type="http://schemas.openxmlformats.org/officeDocument/2006/relationships/slide" Target="/ppt/slides/slide8.xml" Id="Rfd66e8b6fbe746d6" /><Relationship Type="http://schemas.openxmlformats.org/officeDocument/2006/relationships/slide" Target="/ppt/slides/slide9.xml" Id="R75d5d9bf164b484b" /><Relationship Type="http://schemas.openxmlformats.org/officeDocument/2006/relationships/slide" Target="/ppt/slides/slide10.xml" Id="R7e0cbd76d9e04eb5" /><Relationship Type="http://schemas.openxmlformats.org/officeDocument/2006/relationships/slide" Target="/ppt/slides/slide11.xml" Id="R32f7a98b5d224862" /><Relationship Type="http://schemas.openxmlformats.org/officeDocument/2006/relationships/slide" Target="/ppt/slides/slide12.xml" Id="Rcdf0c223abf34ff7" /><Relationship Type="http://schemas.openxmlformats.org/officeDocument/2006/relationships/slide" Target="/ppt/slides/slide13.xml" Id="R83a9021e69264c6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092030e9e814ae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d2f7ffc16324a2b" /><Relationship Type="http://schemas.openxmlformats.org/officeDocument/2006/relationships/notesMaster" Target="/ppt/notesMasters/notesMaster1.xml" Id="R600d1be1b7e34d8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088c28a26524127" /><Relationship Type="http://schemas.openxmlformats.org/officeDocument/2006/relationships/notesMaster" Target="/ppt/notesMasters/notesMaster1.xml" Id="R7496c8f5350648e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7d2d3eab81f42b8" /><Relationship Type="http://schemas.openxmlformats.org/officeDocument/2006/relationships/notesMaster" Target="/ppt/notesMasters/notesMaster1.xml" Id="R78cd9d9226774e4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683337615ea4b26" /><Relationship Type="http://schemas.openxmlformats.org/officeDocument/2006/relationships/notesMaster" Target="/ppt/notesMasters/notesMaster1.xml" Id="Rbf29436367be408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9c0fadbb2f843d0" /><Relationship Type="http://schemas.openxmlformats.org/officeDocument/2006/relationships/notesMaster" Target="/ppt/notesMasters/notesMaster1.xml" Id="R472c2572ee2d4f9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f70ee881a5b40b4" /><Relationship Type="http://schemas.openxmlformats.org/officeDocument/2006/relationships/notesMaster" Target="/ppt/notesMasters/notesMaster1.xml" Id="R5b01c50797fe48f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fc76a93655c4c84" /><Relationship Type="http://schemas.openxmlformats.org/officeDocument/2006/relationships/notesMaster" Target="/ppt/notesMasters/notesMaster1.xml" Id="Rce1b80f193bd452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7bfd05106ca477f" /><Relationship Type="http://schemas.openxmlformats.org/officeDocument/2006/relationships/notesMaster" Target="/ppt/notesMasters/notesMaster1.xml" Id="R76d734e7adc9418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eca7b870ea344cb" /><Relationship Type="http://schemas.openxmlformats.org/officeDocument/2006/relationships/notesMaster" Target="/ppt/notesMasters/notesMaster1.xml" Id="Rae3c8087b847483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c8a7b2da4894fa7" /><Relationship Type="http://schemas.openxmlformats.org/officeDocument/2006/relationships/notesMaster" Target="/ppt/notesMasters/notesMaster1.xml" Id="Reb43f1661f644f7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e5b0eb3c97d495f" /><Relationship Type="http://schemas.openxmlformats.org/officeDocument/2006/relationships/notesMaster" Target="/ppt/notesMasters/notesMaster1.xml" Id="Rb8572828ca914e3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2a09ffb4f0940c9" /><Relationship Type="http://schemas.openxmlformats.org/officeDocument/2006/relationships/notesMaster" Target="/ppt/notesMasters/notesMaster1.xml" Id="Rbb8080cb390a4a0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fa2e4dfe4e44c7e" /><Relationship Type="http://schemas.openxmlformats.org/officeDocument/2006/relationships/notesMaster" Target="/ppt/notesMasters/notesMaster1.xml" Id="R016a7bd4543e449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a78a8c3885468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4382ee9723f414e" /><Relationship Type="http://schemas.openxmlformats.org/officeDocument/2006/relationships/slideLayout" Target="/ppt/slideLayouts/slideLayout1.xml" Id="Rf4c4ee244707450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4c4ee244707450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f409fa3ddd4d28" /><Relationship Type="http://schemas.openxmlformats.org/officeDocument/2006/relationships/notesSlide" Target="/ppt/notesSlides/notesSlide1.xml" Id="R2f0ca90020f04b7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03e0ec00fd45b0" /><Relationship Type="http://schemas.openxmlformats.org/officeDocument/2006/relationships/notesSlide" Target="/ppt/notesSlides/notesSlide2.xml" Id="R2b4cb771be394e3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dc99f920c944b2" /><Relationship Type="http://schemas.openxmlformats.org/officeDocument/2006/relationships/notesSlide" Target="/ppt/notesSlides/notesSlide3.xml" Id="R2381974d94cd495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4bb028072f42b9" /><Relationship Type="http://schemas.openxmlformats.org/officeDocument/2006/relationships/notesSlide" Target="/ppt/notesSlides/notesSlide4.xml" Id="Rb48f1bf29967403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d8fdd85d1e41b1" /><Relationship Type="http://schemas.openxmlformats.org/officeDocument/2006/relationships/notesSlide" Target="/ppt/notesSlides/notesSlide5.xml" Id="R1457b59149d24ad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16d765d7294c9a" /><Relationship Type="http://schemas.openxmlformats.org/officeDocument/2006/relationships/notesSlide" Target="/ppt/notesSlides/notesSlide6.xml" Id="Ra973281d7038437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16423423a44d84" /><Relationship Type="http://schemas.openxmlformats.org/officeDocument/2006/relationships/notesSlide" Target="/ppt/notesSlides/notesSlide7.xml" Id="Rc5c9edabcbcb47c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2c454151334ade" /><Relationship Type="http://schemas.openxmlformats.org/officeDocument/2006/relationships/notesSlide" Target="/ppt/notesSlides/notesSlide8.xml" Id="Rf755404393f841d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d60ac540614b82" /><Relationship Type="http://schemas.openxmlformats.org/officeDocument/2006/relationships/notesSlide" Target="/ppt/notesSlides/notesSlide9.xml" Id="R0f44eaea90da463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6468376b1b4d61" /><Relationship Type="http://schemas.openxmlformats.org/officeDocument/2006/relationships/notesSlide" Target="/ppt/notesSlides/notesSlide10.xml" Id="R75914514fe3a484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cc1fa62fd949a9" /><Relationship Type="http://schemas.openxmlformats.org/officeDocument/2006/relationships/notesSlide" Target="/ppt/notesSlides/notesSlide11.xml" Id="R03327c16debb43b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8f35e67d5746a7" /><Relationship Type="http://schemas.openxmlformats.org/officeDocument/2006/relationships/notesSlide" Target="/ppt/notesSlides/notesSlide12.xml" Id="R614cf5cbeaa5436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cd8282a8f043b8" /><Relationship Type="http://schemas.openxmlformats.org/officeDocument/2006/relationships/notesSlide" Target="/ppt/notesSlides/notesSlide13.xml" Id="Ra6d15b4664c04ea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F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over-rule">
            <a:extLst xmlns:a="http://schemas.openxmlformats.org/drawingml/2006/main">
              <a:ext uri="{FF2B5EF4-FFF2-40B4-BE49-F238E27FC236}">
                <a16:creationId xmlns:a16="http://schemas.microsoft.com/office/drawing/2014/main" id="{AA650C24-B782-4311-BF45-BE27986D2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14300" cy="466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783F"/>
          </a:solidFill>
          <a:ln xmlns:a="http://schemas.openxmlformats.org/drawingml/2006/main" w="0">
            <a:solidFill>
              <a:srgbClr val="E5783F"/>
            </a:solidFill>
            <a:prstDash val="solid"/>
          </a:ln>
        </p:spPr>
      </p:sp>
      <p:sp>
        <p:nvSpPr>
          <p:cNvPr id="2" name="cover-ring-1">
            <a:extLst xmlns:a="http://schemas.openxmlformats.org/drawingml/2006/main">
              <a:ext uri="{FF2B5EF4-FFF2-40B4-BE49-F238E27FC236}">
                <a16:creationId xmlns:a16="http://schemas.microsoft.com/office/drawing/2014/main" id="{7D28A65F-C2AF-42C5-BF04-4196ED938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066800"/>
            <a:ext cx="2857500" cy="2857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1459C7"/>
            </a:solidFill>
            <a:prstDash val="solid"/>
          </a:ln>
        </p:spPr>
      </p:sp>
      <p:sp>
        <p:nvSpPr>
          <p:cNvPr id="3" name="cover-ring-2">
            <a:extLst xmlns:a="http://schemas.openxmlformats.org/drawingml/2006/main">
              <a:ext uri="{FF2B5EF4-FFF2-40B4-BE49-F238E27FC236}">
                <a16:creationId xmlns:a16="http://schemas.microsoft.com/office/drawing/2014/main" id="{013D5876-A6AD-4EB7-ADAE-33DA2B7CC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619250"/>
            <a:ext cx="1752600" cy="17526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5783F"/>
            </a:solidFill>
            <a:prstDash val="solid"/>
          </a:ln>
        </p:spPr>
      </p:sp>
      <p:sp>
        <p:nvSpPr>
          <p:cNvPr id="4" name="cover-core">
            <a:extLst xmlns:a="http://schemas.openxmlformats.org/drawingml/2006/main">
              <a:ext uri="{FF2B5EF4-FFF2-40B4-BE49-F238E27FC236}">
                <a16:creationId xmlns:a16="http://schemas.microsoft.com/office/drawing/2014/main" id="{1D097F7C-5B0D-495C-B499-C270507C1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1907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783F"/>
          </a:solidFill>
          <a:ln xmlns:a="http://schemas.openxmlformats.org/drawingml/2006/main" w="0">
            <a:solidFill>
              <a:srgbClr val="E5783F"/>
            </a:solidFill>
            <a:prstDash val="solid"/>
          </a:ln>
        </p:spPr>
      </p:sp>
      <p:sp>
        <p:nvSpPr>
          <p:cNvPr id="5" name="cover-line-1">
            <a:extLst xmlns:a="http://schemas.openxmlformats.org/drawingml/2006/main">
              <a:ext uri="{FF2B5EF4-FFF2-40B4-BE49-F238E27FC236}">
                <a16:creationId xmlns:a16="http://schemas.microsoft.com/office/drawing/2014/main" id="{FDA63848-258E-46E2-BEB8-71B20AC69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476750"/>
            <a:ext cx="3371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0">
            <a:solidFill>
              <a:srgbClr val="1459C7"/>
            </a:solidFill>
            <a:prstDash val="solid"/>
          </a:ln>
        </p:spPr>
      </p:sp>
      <p:sp>
        <p:nvSpPr>
          <p:cNvPr id="6" name="cover-line-2">
            <a:extLst xmlns:a="http://schemas.openxmlformats.org/drawingml/2006/main">
              <a:ext uri="{FF2B5EF4-FFF2-40B4-BE49-F238E27FC236}">
                <a16:creationId xmlns:a16="http://schemas.microsoft.com/office/drawing/2014/main" id="{628491F3-5815-48A9-B18D-4392B5996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895850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5783F"/>
            </a:solidFill>
            <a:prstDash val="solid"/>
          </a:ln>
        </p:spPr>
      </p:sp>
      <p:sp>
        <p:nvSpPr>
          <p:cNvPr id="7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CF1C3BB0-299D-4A1C-8DF0-70B62294B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76300"/>
            <a:ext cx="533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5783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E5783F"/>
                </a:solidFill>
                <a:latin typeface="PingFang SC"/>
                <a:ea typeface="PingFang SC"/>
                <a:cs typeface="PingFang SC"/>
              </a:rPr>
              <a:t>第 4 章 · 行业应用</a:t>
            </a:r>
          </a:p>
        </p:txBody>
      </p:sp>
      <p:sp>
        <p:nvSpPr>
          <p:cNvPr id="8" name="cover-title">
            <a:extLst xmlns:a="http://schemas.openxmlformats.org/drawingml/2006/main">
              <a:ext uri="{FF2B5EF4-FFF2-40B4-BE49-F238E27FC236}">
                <a16:creationId xmlns:a16="http://schemas.microsoft.com/office/drawing/2014/main" id="{0A8EB917-A19E-4164-9904-4DB1F00ED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504950"/>
            <a:ext cx="68580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46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应急管理与火灾调查</a:t>
            </a:r>
          </a:p>
        </p:txBody>
      </p:sp>
      <p:sp>
        <p:nvSpPr>
          <p:cNvPr id="9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8C523DE0-499A-4B44-A9BD-7F93C1041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14650"/>
            <a:ext cx="64770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75">
                <a:solidFill>
                  <a:srgbClr val="DDEBFA"/>
                </a:solidFill>
                <a:latin typeface="PingFang SC"/>
                <a:ea typeface="PingFang SC"/>
                <a:cs typeface="PingFang SC"/>
              </a:defRPr>
            </a:pPr>
            <a:r>
              <a:rPr sz="2175">
                <a:solidFill>
                  <a:srgbClr val="DDEBFA"/>
                </a:solidFill>
                <a:latin typeface="PingFang SC"/>
                <a:ea typeface="PingFang SC"/>
                <a:cs typeface="PingFang SC"/>
              </a:rPr>
              <a:t>以火灾调查辅助专家模型为例，理解证据链、法规知识、专业判断和责任边界。</a:t>
            </a:r>
          </a:p>
        </p:txBody>
      </p:sp>
      <p:sp>
        <p:nvSpPr>
          <p:cNvPr id="10" name="cover-lead">
            <a:extLst xmlns:a="http://schemas.openxmlformats.org/drawingml/2006/main">
              <a:ext uri="{FF2B5EF4-FFF2-40B4-BE49-F238E27FC236}">
                <a16:creationId xmlns:a16="http://schemas.microsoft.com/office/drawing/2014/main" id="{CB301B1F-BEB0-4839-9777-DE4B5D882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05300"/>
            <a:ext cx="647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75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火灾应急响应首先关注救援、控制危险和保护人员；火灾调查则在符合法定程序的前提下；保存和审查现场资料；重建事件过程并评价不同原因假设；两项工作会共享时间、位置和处置记录</a:t>
            </a:r>
          </a:p>
        </p:txBody>
      </p:sp>
      <p:sp>
        <p:nvSpPr>
          <p:cNvPr id="11" name="cover-course">
            <a:extLst xmlns:a="http://schemas.openxmlformats.org/drawingml/2006/main">
              <a:ext uri="{FF2B5EF4-FFF2-40B4-BE49-F238E27FC236}">
                <a16:creationId xmlns:a16="http://schemas.microsoft.com/office/drawing/2014/main" id="{7602FF88-43AF-4368-BE4D-D001F891F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7340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陈龙彪团队人工智能公开课</a:t>
            </a:r>
          </a:p>
        </p:txBody>
      </p:sp>
      <p:sp>
        <p:nvSpPr>
          <p:cNvPr id="12" name="cover-id">
            <a:extLst xmlns:a="http://schemas.openxmlformats.org/drawingml/2006/main">
              <a:ext uri="{FF2B5EF4-FFF2-40B4-BE49-F238E27FC236}">
                <a16:creationId xmlns:a16="http://schemas.microsoft.com/office/drawing/2014/main" id="{2F400D2F-6A00-4D25-A977-5F7285CC8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7340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E5783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E5783F"/>
                </a:solidFill>
                <a:latin typeface="PingFang SC"/>
                <a:ea typeface="PingFang SC"/>
                <a:cs typeface="PingFang SC"/>
              </a:rPr>
              <a:t>IN-007 · IN-007-S01</a:t>
            </a:r>
          </a:p>
        </p:txBody>
      </p:sp>
    </p:spTree>
    <p:extLst>
      <p:ext uri="{BB962C8B-B14F-4D97-AF65-F5344CB8AC3E}">
        <p14:creationId xmlns:p14="http://schemas.microsoft.com/office/powerpoint/2010/main" val="147381018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2-rule">
            <a:extLst xmlns:a="http://schemas.openxmlformats.org/drawingml/2006/main">
              <a:ext uri="{FF2B5EF4-FFF2-40B4-BE49-F238E27FC236}">
                <a16:creationId xmlns:a16="http://schemas.microsoft.com/office/drawing/2014/main" id="{D7319F38-83F1-442A-A546-4923E1D1F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783F"/>
          </a:solidFill>
          <a:ln xmlns:a="http://schemas.openxmlformats.org/drawingml/2006/main" w="0">
            <a:solidFill>
              <a:srgbClr val="E5783F"/>
            </a:solidFill>
            <a:prstDash val="solid"/>
          </a:ln>
        </p:spPr>
      </p:sp>
      <p:sp>
        <p:nvSpPr>
          <p:cNvPr id="2" name="s2-eyebrow">
            <a:extLst xmlns:a="http://schemas.openxmlformats.org/drawingml/2006/main">
              <a:ext uri="{FF2B5EF4-FFF2-40B4-BE49-F238E27FC236}">
                <a16:creationId xmlns:a16="http://schemas.microsoft.com/office/drawing/2014/main" id="{349E6488-B57B-4060-964A-8AFDAAB3B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学习结果</a:t>
            </a:r>
          </a:p>
        </p:txBody>
      </p:sp>
      <p:sp>
        <p:nvSpPr>
          <p:cNvPr id="3" name="s2-title">
            <a:extLst xmlns:a="http://schemas.openxmlformats.org/drawingml/2006/main">
              <a:ext uri="{FF2B5EF4-FFF2-40B4-BE49-F238E27FC236}">
                <a16:creationId xmlns:a16="http://schemas.microsoft.com/office/drawing/2014/main" id="{33651363-9FEF-47BD-980A-A04665698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应急与火灾调查：4项学习结果</a:t>
            </a:r>
          </a:p>
        </p:txBody>
      </p:sp>
      <p:sp>
        <p:nvSpPr>
          <p:cNvPr id="4" name="s2-footer">
            <a:extLst xmlns:a="http://schemas.openxmlformats.org/drawingml/2006/main">
              <a:ext uri="{FF2B5EF4-FFF2-40B4-BE49-F238E27FC236}">
                <a16:creationId xmlns:a16="http://schemas.microsoft.com/office/drawing/2014/main" id="{8C9A3628-548D-4A92-8438-F3533AD2A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2-identity">
            <a:extLst xmlns:a="http://schemas.openxmlformats.org/drawingml/2006/main">
              <a:ext uri="{FF2B5EF4-FFF2-40B4-BE49-F238E27FC236}">
                <a16:creationId xmlns:a16="http://schemas.microsoft.com/office/drawing/2014/main" id="{F8830BC6-2709-4B84-9A4B-F00363634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IN-007 · IN-007-S02</a:t>
            </a:r>
          </a:p>
        </p:txBody>
      </p:sp>
      <p:sp>
        <p:nvSpPr>
          <p:cNvPr id="6" name="objective-1">
            <a:extLst xmlns:a="http://schemas.openxmlformats.org/drawingml/2006/main">
              <a:ext uri="{FF2B5EF4-FFF2-40B4-BE49-F238E27FC236}">
                <a16:creationId xmlns:a16="http://schemas.microsoft.com/office/drawing/2014/main" id="{5F96A398-F34F-4D72-93EB-97A636938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0250"/>
            <a:ext cx="4953000" cy="1466850"/>
          </a:xfrm>
          <a:prstGeom xmlns:a="http://schemas.openxmlformats.org/drawingml/2006/main" prst="roundRect">
            <a:avLst>
              <a:gd name="adj" fmla="val 116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01</a:t>
            </a:r>
          </a:p>
          <a:p xmlns:a="http://schemas.openxmlformats.org/drawingml/2006/main">
            <a:pPr algn="l">
              <a:def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说明现场影像、物证、询问、设备记录和处置记录各自能支持什么判断</a:t>
            </a:r>
          </a:p>
        </p:txBody>
      </p:sp>
      <p:sp>
        <p:nvSpPr>
          <p:cNvPr id="7" name="objective-2">
            <a:extLst xmlns:a="http://schemas.openxmlformats.org/drawingml/2006/main">
              <a:ext uri="{FF2B5EF4-FFF2-40B4-BE49-F238E27FC236}">
                <a16:creationId xmlns:a16="http://schemas.microsoft.com/office/drawing/2014/main" id="{37400C4B-8756-4B88-BDB5-10AFE196E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000250"/>
            <a:ext cx="4953000" cy="1466850"/>
          </a:xfrm>
          <a:prstGeom xmlns:a="http://schemas.openxmlformats.org/drawingml/2006/main" prst="roundRect">
            <a:avLst>
              <a:gd name="adj" fmla="val 116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02</a:t>
            </a:r>
          </a:p>
          <a:p xmlns:a="http://schemas.openxmlformats.org/drawingml/2006/main">
            <a:pPr algn="l">
              <a:def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为数字与实物资料设计来源、完整性、流转和访问记录</a:t>
            </a:r>
          </a:p>
        </p:txBody>
      </p:sp>
      <p:sp>
        <p:nvSpPr>
          <p:cNvPr id="8" name="objective-3">
            <a:extLst xmlns:a="http://schemas.openxmlformats.org/drawingml/2006/main">
              <a:ext uri="{FF2B5EF4-FFF2-40B4-BE49-F238E27FC236}">
                <a16:creationId xmlns:a16="http://schemas.microsoft.com/office/drawing/2014/main" id="{0E72F2F3-8F86-4F1C-AAE0-8D498A658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95700"/>
            <a:ext cx="4953000" cy="1466850"/>
          </a:xfrm>
          <a:prstGeom xmlns:a="http://schemas.openxmlformats.org/drawingml/2006/main" prst="roundRect">
            <a:avLst>
              <a:gd name="adj" fmla="val 116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03</a:t>
            </a:r>
          </a:p>
          <a:p xmlns:a="http://schemas.openxmlformats.org/drawingml/2006/main">
            <a:pPr algn="l">
              <a:def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使用多个竞争性假设组织支持证据、反证、替代解释与待补材料</a:t>
            </a:r>
          </a:p>
        </p:txBody>
      </p:sp>
      <p:sp>
        <p:nvSpPr>
          <p:cNvPr id="9" name="objective-4">
            <a:extLst xmlns:a="http://schemas.openxmlformats.org/drawingml/2006/main">
              <a:ext uri="{FF2B5EF4-FFF2-40B4-BE49-F238E27FC236}">
                <a16:creationId xmlns:a16="http://schemas.microsoft.com/office/drawing/2014/main" id="{1ABB918C-EC01-4276-A84D-B02E31580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695700"/>
            <a:ext cx="4953000" cy="1466850"/>
          </a:xfrm>
          <a:prstGeom xmlns:a="http://schemas.openxmlformats.org/drawingml/2006/main" prst="roundRect">
            <a:avLst>
              <a:gd name="adj" fmla="val 11688"/>
            </a:avLst>
          </a:prstGeom>
          <a:solidFill xmlns:a="http://schemas.openxmlformats.org/drawingml/2006/main">
            <a:srgbClr val="FFF0E8"/>
          </a:solidFill>
          <a:ln xmlns:a="http://schemas.openxmlformats.org/drawingml/2006/main" w="19050">
            <a:solidFill>
              <a:srgbClr val="9A3F16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04</a:t>
            </a:r>
          </a:p>
          <a:p xmlns:a="http://schemas.openxmlformats.org/drawingml/2006/main">
            <a:pPr algn="l">
              <a:def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区分模型提取、专家意见和依法形成的调查结论，明确模型不能定案</a:t>
            </a:r>
          </a:p>
        </p:txBody>
      </p:sp>
    </p:spTree>
    <p:extLst>
      <p:ext uri="{BB962C8B-B14F-4D97-AF65-F5344CB8AC3E}">
        <p14:creationId xmlns:p14="http://schemas.microsoft.com/office/powerpoint/2010/main" val="46384501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3-rule">
            <a:extLst xmlns:a="http://schemas.openxmlformats.org/drawingml/2006/main">
              <a:ext uri="{FF2B5EF4-FFF2-40B4-BE49-F238E27FC236}">
                <a16:creationId xmlns:a16="http://schemas.microsoft.com/office/drawing/2014/main" id="{97B0A401-40AF-4536-8829-02CCB756A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783F"/>
          </a:solidFill>
          <a:ln xmlns:a="http://schemas.openxmlformats.org/drawingml/2006/main" w="0">
            <a:solidFill>
              <a:srgbClr val="E5783F"/>
            </a:solidFill>
            <a:prstDash val="solid"/>
          </a:ln>
        </p:spPr>
      </p:sp>
      <p:sp>
        <p:nvSpPr>
          <p:cNvPr id="2" name="s3-eyebrow">
            <a:extLst xmlns:a="http://schemas.openxmlformats.org/drawingml/2006/main">
              <a:ext uri="{FF2B5EF4-FFF2-40B4-BE49-F238E27FC236}">
                <a16:creationId xmlns:a16="http://schemas.microsoft.com/office/drawing/2014/main" id="{DF4939DC-9C7F-4BAE-B145-95B4662EF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核心论点 1 / 6</a:t>
            </a:r>
          </a:p>
        </p:txBody>
      </p:sp>
      <p:sp>
        <p:nvSpPr>
          <p:cNvPr id="3" name="s3-title">
            <a:extLst xmlns:a="http://schemas.openxmlformats.org/drawingml/2006/main">
              <a:ext uri="{FF2B5EF4-FFF2-40B4-BE49-F238E27FC236}">
                <a16:creationId xmlns:a16="http://schemas.microsoft.com/office/drawing/2014/main" id="{4123A2E1-FD96-4268-B741-3FAF1F832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现场资料先保存，再分析</a:t>
            </a:r>
          </a:p>
        </p:txBody>
      </p:sp>
      <p:sp>
        <p:nvSpPr>
          <p:cNvPr id="4" name="s3-footer">
            <a:extLst xmlns:a="http://schemas.openxmlformats.org/drawingml/2006/main">
              <a:ext uri="{FF2B5EF4-FFF2-40B4-BE49-F238E27FC236}">
                <a16:creationId xmlns:a16="http://schemas.microsoft.com/office/drawing/2014/main" id="{1AEBDE60-13CC-48D1-8258-25AC18C93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3-identity">
            <a:extLst xmlns:a="http://schemas.openxmlformats.org/drawingml/2006/main">
              <a:ext uri="{FF2B5EF4-FFF2-40B4-BE49-F238E27FC236}">
                <a16:creationId xmlns:a16="http://schemas.microsoft.com/office/drawing/2014/main" id="{4D2B8D70-6066-4020-95E4-351B1EBDF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IN-007 · IN-007-S03</a:t>
            </a:r>
          </a:p>
        </p:txBody>
      </p:sp>
      <p:sp>
        <p:nvSpPr>
          <p:cNvPr id="6" name="core-no-0">
            <a:extLst xmlns:a="http://schemas.openxmlformats.org/drawingml/2006/main">
              <a:ext uri="{FF2B5EF4-FFF2-40B4-BE49-F238E27FC236}">
                <a16:creationId xmlns:a16="http://schemas.microsoft.com/office/drawing/2014/main" id="{3745E178-1044-46D7-BB9F-B94E90AB0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9A3F16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9A3F16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7" name="core-label-0">
            <a:extLst xmlns:a="http://schemas.openxmlformats.org/drawingml/2006/main">
              <a:ext uri="{FF2B5EF4-FFF2-40B4-BE49-F238E27FC236}">
                <a16:creationId xmlns:a16="http://schemas.microsoft.com/office/drawing/2014/main" id="{C32082DF-AC39-4BF3-889F-76BB2BE90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90800"/>
            <a:ext cx="3263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现场资料先保存，再分析</a:t>
            </a:r>
          </a:p>
        </p:txBody>
      </p:sp>
      <p:sp>
        <p:nvSpPr>
          <p:cNvPr id="8" name="core-body-0">
            <a:extLst xmlns:a="http://schemas.openxmlformats.org/drawingml/2006/main">
              <a:ext uri="{FF2B5EF4-FFF2-40B4-BE49-F238E27FC236}">
                <a16:creationId xmlns:a16="http://schemas.microsoft.com/office/drawing/2014/main" id="{262F3CE2-B4BD-4640-8A72-21CA53E6D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90900"/>
            <a:ext cx="3263900" cy="1714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0E8"/>
          </a:solidFill>
          <a:ln xmlns:a="http://schemas.openxmlformats.org/drawingml/2006/main" w="19050">
            <a:solidFill>
              <a:srgbClr val="9A3F16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85261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65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调查资料可能包括现场照片、视频、平面图、测量与点云、物证、烧损痕迹、报警和设备日志、消防处置记录、气象资料以及询问笔录；每类材料都有观察边界；照片受视角和曝光影响；日志可能有时钟误差</a:t>
            </a:r>
          </a:p>
        </p:txBody>
      </p:sp>
      <p:sp>
        <p:nvSpPr>
          <p:cNvPr id="9" name="core-no-1">
            <a:extLst xmlns:a="http://schemas.openxmlformats.org/drawingml/2006/main">
              <a:ext uri="{FF2B5EF4-FFF2-40B4-BE49-F238E27FC236}">
                <a16:creationId xmlns:a16="http://schemas.microsoft.com/office/drawing/2014/main" id="{C929BF70-ADCA-4BFB-8A49-BA2EC108E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4050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9A3F16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9A3F16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0" name="core-body-1">
            <a:extLst xmlns:a="http://schemas.openxmlformats.org/drawingml/2006/main">
              <a:ext uri="{FF2B5EF4-FFF2-40B4-BE49-F238E27FC236}">
                <a16:creationId xmlns:a16="http://schemas.microsoft.com/office/drawing/2014/main" id="{BACC257E-62F0-4472-995B-307ED6B0D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4050" y="2590800"/>
            <a:ext cx="3263900" cy="25146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65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采集时应记录唯一标识、时间、位置、采集人、设备、方法和现场状态；区分原始文件、工作副本和模型生成内容；数字资料可使用校验值帮助发现后续变化；实物资料则按适用程序记录封存、移交和检查</a:t>
            </a:r>
          </a:p>
        </p:txBody>
      </p:sp>
      <p:sp>
        <p:nvSpPr>
          <p:cNvPr id="11" name="core-no-2">
            <a:extLst xmlns:a="http://schemas.openxmlformats.org/drawingml/2006/main">
              <a:ext uri="{FF2B5EF4-FFF2-40B4-BE49-F238E27FC236}">
                <a16:creationId xmlns:a16="http://schemas.microsoft.com/office/drawing/2014/main" id="{FA8F150A-0AE2-4372-AA5F-0790BE462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3700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9A3F16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9A3F16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2" name="core-body-2">
            <a:extLst xmlns:a="http://schemas.openxmlformats.org/drawingml/2006/main">
              <a:ext uri="{FF2B5EF4-FFF2-40B4-BE49-F238E27FC236}">
                <a16:creationId xmlns:a16="http://schemas.microsoft.com/office/drawing/2014/main" id="{28D10E85-3E08-4578-BC9A-927934F69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3700" y="2590800"/>
            <a:ext cx="3263900" cy="25146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65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AI 处理应在副本上进行，不覆盖原件。图像增强、语音转写、对象标注和三维重建都要保留参数与生成时间，并明确它们是辅助产物。任何测量和关键事实都应回到原始资料或现场记录核验</a:t>
            </a:r>
          </a:p>
        </p:txBody>
      </p:sp>
      <p:sp>
        <p:nvSpPr>
          <p:cNvPr id="13" name="s3-takeaway-rule">
            <a:extLst xmlns:a="http://schemas.openxmlformats.org/drawingml/2006/main">
              <a:ext uri="{FF2B5EF4-FFF2-40B4-BE49-F238E27FC236}">
                <a16:creationId xmlns:a16="http://schemas.microsoft.com/office/drawing/2014/main" id="{816D207B-378F-4C55-A915-4C50DAE92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76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783F"/>
          </a:solidFill>
          <a:ln xmlns:a="http://schemas.openxmlformats.org/drawingml/2006/main" w="0">
            <a:solidFill>
              <a:srgbClr val="E5783F"/>
            </a:solidFill>
            <a:prstDash val="solid"/>
          </a:ln>
        </p:spPr>
      </p:sp>
      <p:sp>
        <p:nvSpPr>
          <p:cNvPr id="14" name="s3-takeaway">
            <a:extLst xmlns:a="http://schemas.openxmlformats.org/drawingml/2006/main">
              <a:ext uri="{FF2B5EF4-FFF2-40B4-BE49-F238E27FC236}">
                <a16:creationId xmlns:a16="http://schemas.microsoft.com/office/drawing/2014/main" id="{33618CBE-FD62-4993-88FB-3DE8CF21A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673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现场资料先保存，再分析</a:t>
            </a:r>
          </a:p>
        </p:txBody>
      </p:sp>
    </p:spTree>
    <p:extLst>
      <p:ext uri="{BB962C8B-B14F-4D97-AF65-F5344CB8AC3E}">
        <p14:creationId xmlns:p14="http://schemas.microsoft.com/office/powerpoint/2010/main" val="38626755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4-rule">
            <a:extLst xmlns:a="http://schemas.openxmlformats.org/drawingml/2006/main">
              <a:ext uri="{FF2B5EF4-FFF2-40B4-BE49-F238E27FC236}">
                <a16:creationId xmlns:a16="http://schemas.microsoft.com/office/drawing/2014/main" id="{9B918281-8BCC-4F1A-808B-9BA18C335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783F"/>
          </a:solidFill>
          <a:ln xmlns:a="http://schemas.openxmlformats.org/drawingml/2006/main" w="0">
            <a:solidFill>
              <a:srgbClr val="E5783F"/>
            </a:solidFill>
            <a:prstDash val="solid"/>
          </a:ln>
        </p:spPr>
      </p:sp>
      <p:sp>
        <p:nvSpPr>
          <p:cNvPr id="2" name="s4-eyebrow">
            <a:extLst xmlns:a="http://schemas.openxmlformats.org/drawingml/2006/main">
              <a:ext uri="{FF2B5EF4-FFF2-40B4-BE49-F238E27FC236}">
                <a16:creationId xmlns:a16="http://schemas.microsoft.com/office/drawing/2014/main" id="{B0AB4DBC-0C5E-47C2-9BC4-FD1813428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核心论点 2 / 6</a:t>
            </a:r>
          </a:p>
        </p:txBody>
      </p:sp>
      <p:sp>
        <p:nvSpPr>
          <p:cNvPr id="3" name="s4-title">
            <a:extLst xmlns:a="http://schemas.openxmlformats.org/drawingml/2006/main">
              <a:ext uri="{FF2B5EF4-FFF2-40B4-BE49-F238E27FC236}">
                <a16:creationId xmlns:a16="http://schemas.microsoft.com/office/drawing/2014/main" id="{9D982BED-79A1-43D0-BA15-1FD4DC83B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证据链不是“把所有文件放进一个文件夹”</a:t>
            </a:r>
          </a:p>
        </p:txBody>
      </p:sp>
      <p:sp>
        <p:nvSpPr>
          <p:cNvPr id="4" name="s4-footer">
            <a:extLst xmlns:a="http://schemas.openxmlformats.org/drawingml/2006/main">
              <a:ext uri="{FF2B5EF4-FFF2-40B4-BE49-F238E27FC236}">
                <a16:creationId xmlns:a16="http://schemas.microsoft.com/office/drawing/2014/main" id="{4299F310-0C01-4272-9C62-3651554E8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4-identity">
            <a:extLst xmlns:a="http://schemas.openxmlformats.org/drawingml/2006/main">
              <a:ext uri="{FF2B5EF4-FFF2-40B4-BE49-F238E27FC236}">
                <a16:creationId xmlns:a16="http://schemas.microsoft.com/office/drawing/2014/main" id="{84AA8E83-BEE0-403F-B904-3576F8271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IN-007 · IN-007-S04</a:t>
            </a:r>
          </a:p>
        </p:txBody>
      </p:sp>
      <p:sp>
        <p:nvSpPr>
          <p:cNvPr id="6" name="core-no-0">
            <a:extLst xmlns:a="http://schemas.openxmlformats.org/drawingml/2006/main">
              <a:ext uri="{FF2B5EF4-FFF2-40B4-BE49-F238E27FC236}">
                <a16:creationId xmlns:a16="http://schemas.microsoft.com/office/drawing/2014/main" id="{E1711B1C-D09B-4BA3-9D4C-3921B4857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9A3F16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9A3F16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7" name="core-label-0">
            <a:extLst xmlns:a="http://schemas.openxmlformats.org/drawingml/2006/main">
              <a:ext uri="{FF2B5EF4-FFF2-40B4-BE49-F238E27FC236}">
                <a16:creationId xmlns:a16="http://schemas.microsoft.com/office/drawing/2014/main" id="{0608C283-0DE5-45D9-A9AD-9C7683D37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90800"/>
            <a:ext cx="3263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建立可复查的证据链</a:t>
            </a:r>
          </a:p>
        </p:txBody>
      </p:sp>
      <p:sp>
        <p:nvSpPr>
          <p:cNvPr id="8" name="core-body-0">
            <a:extLst xmlns:a="http://schemas.openxmlformats.org/drawingml/2006/main">
              <a:ext uri="{FF2B5EF4-FFF2-40B4-BE49-F238E27FC236}">
                <a16:creationId xmlns:a16="http://schemas.microsoft.com/office/drawing/2014/main" id="{347EE22B-2387-47EC-89A0-662E099C5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90900"/>
            <a:ext cx="3263900" cy="1714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0E8"/>
          </a:solidFill>
          <a:ln xmlns:a="http://schemas.openxmlformats.org/drawingml/2006/main" w="19050">
            <a:solidFill>
              <a:srgbClr val="9A3F16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85261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65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证据链不是“把所有文件放进一个文件夹”，而是让每个主张都能追溯到具体资料和合规的取得过程。系统可以建立“事件—地点—对象—人员—资料—操作”的关系，并保存谁在何时查看、复制、标注或导出了内容</a:t>
            </a:r>
          </a:p>
        </p:txBody>
      </p:sp>
      <p:sp>
        <p:nvSpPr>
          <p:cNvPr id="9" name="core-no-1">
            <a:extLst xmlns:a="http://schemas.openxmlformats.org/drawingml/2006/main">
              <a:ext uri="{FF2B5EF4-FFF2-40B4-BE49-F238E27FC236}">
                <a16:creationId xmlns:a16="http://schemas.microsoft.com/office/drawing/2014/main" id="{5A5163EA-D5AD-4768-A3F2-723AD494A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4050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9A3F16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9A3F16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0" name="core-body-1">
            <a:extLst xmlns:a="http://schemas.openxmlformats.org/drawingml/2006/main">
              <a:ext uri="{FF2B5EF4-FFF2-40B4-BE49-F238E27FC236}">
                <a16:creationId xmlns:a16="http://schemas.microsoft.com/office/drawing/2014/main" id="{3D59FC69-5645-4418-BE1B-B0A8C3F3A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4050" y="2590800"/>
            <a:ext cx="3263900" cy="25146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65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调查笔记要区分四类信息；直接记录的事实、由工具提取的内容、专家解释和仍待验证的推断；模型生成的摘要不得改变这种区分；若一条结论同时依赖多个资料；应分别列明支持关系</a:t>
            </a:r>
          </a:p>
        </p:txBody>
      </p:sp>
      <p:sp>
        <p:nvSpPr>
          <p:cNvPr id="11" name="core-no-2">
            <a:extLst xmlns:a="http://schemas.openxmlformats.org/drawingml/2006/main">
              <a:ext uri="{FF2B5EF4-FFF2-40B4-BE49-F238E27FC236}">
                <a16:creationId xmlns:a16="http://schemas.microsoft.com/office/drawing/2014/main" id="{220C622E-49F7-4B4E-A62A-665E966C4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3700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9A3F16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9A3F16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2" name="core-body-2">
            <a:extLst xmlns:a="http://schemas.openxmlformats.org/drawingml/2006/main">
              <a:ext uri="{FF2B5EF4-FFF2-40B4-BE49-F238E27FC236}">
                <a16:creationId xmlns:a16="http://schemas.microsoft.com/office/drawing/2014/main" id="{6F97FB47-1C1C-47E9-AEF3-317B70A7C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3700" y="2590800"/>
            <a:ext cx="3263900" cy="25146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65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权限同样属于证据治理。现场影像、个人信息和未公开调查资料只能由有职责的人访问，外部模型服务是否允许使用要经过审查。测试和演示应使用脱敏或合成资料，不能把真实案件细节当作普通训练素材</a:t>
            </a:r>
          </a:p>
        </p:txBody>
      </p:sp>
      <p:sp>
        <p:nvSpPr>
          <p:cNvPr id="13" name="s4-takeaway-rule">
            <a:extLst xmlns:a="http://schemas.openxmlformats.org/drawingml/2006/main">
              <a:ext uri="{FF2B5EF4-FFF2-40B4-BE49-F238E27FC236}">
                <a16:creationId xmlns:a16="http://schemas.microsoft.com/office/drawing/2014/main" id="{630FD230-EC46-416E-B5F8-0A75399C5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76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783F"/>
          </a:solidFill>
          <a:ln xmlns:a="http://schemas.openxmlformats.org/drawingml/2006/main" w="0">
            <a:solidFill>
              <a:srgbClr val="E5783F"/>
            </a:solidFill>
            <a:prstDash val="solid"/>
          </a:ln>
        </p:spPr>
      </p:sp>
      <p:sp>
        <p:nvSpPr>
          <p:cNvPr id="14" name="s4-takeaway">
            <a:extLst xmlns:a="http://schemas.openxmlformats.org/drawingml/2006/main">
              <a:ext uri="{FF2B5EF4-FFF2-40B4-BE49-F238E27FC236}">
                <a16:creationId xmlns:a16="http://schemas.microsoft.com/office/drawing/2014/main" id="{508D2A26-54B2-4DBA-B7C3-9D7DA756E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673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证据链不是“把所有文件放进一个文件夹”</a:t>
            </a:r>
          </a:p>
        </p:txBody>
      </p:sp>
    </p:spTree>
    <p:extLst>
      <p:ext uri="{BB962C8B-B14F-4D97-AF65-F5344CB8AC3E}">
        <p14:creationId xmlns:p14="http://schemas.microsoft.com/office/powerpoint/2010/main" val="160034783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5-rule">
            <a:extLst xmlns:a="http://schemas.openxmlformats.org/drawingml/2006/main">
              <a:ext uri="{FF2B5EF4-FFF2-40B4-BE49-F238E27FC236}">
                <a16:creationId xmlns:a16="http://schemas.microsoft.com/office/drawing/2014/main" id="{0F819020-BAB9-4EA1-BC42-AAAFD557A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783F"/>
          </a:solidFill>
          <a:ln xmlns:a="http://schemas.openxmlformats.org/drawingml/2006/main" w="0">
            <a:solidFill>
              <a:srgbClr val="E5783F"/>
            </a:solidFill>
            <a:prstDash val="solid"/>
          </a:ln>
        </p:spPr>
      </p:sp>
      <p:sp>
        <p:nvSpPr>
          <p:cNvPr id="2" name="s5-eyebrow">
            <a:extLst xmlns:a="http://schemas.openxmlformats.org/drawingml/2006/main">
              <a:ext uri="{FF2B5EF4-FFF2-40B4-BE49-F238E27FC236}">
                <a16:creationId xmlns:a16="http://schemas.microsoft.com/office/drawing/2014/main" id="{B77EB407-3179-438D-A36C-263582745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核心论点 3 / 6</a:t>
            </a:r>
          </a:p>
        </p:txBody>
      </p:sp>
      <p:sp>
        <p:nvSpPr>
          <p:cNvPr id="3" name="s5-title">
            <a:extLst xmlns:a="http://schemas.openxmlformats.org/drawingml/2006/main">
              <a:ext uri="{FF2B5EF4-FFF2-40B4-BE49-F238E27FC236}">
                <a16:creationId xmlns:a16="http://schemas.microsoft.com/office/drawing/2014/main" id="{7E0F1462-D8FB-4FEF-97A5-29EFBDAC1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竞争性假设能降低调查中的确认偏差</a:t>
            </a:r>
          </a:p>
        </p:txBody>
      </p:sp>
      <p:sp>
        <p:nvSpPr>
          <p:cNvPr id="4" name="s5-footer">
            <a:extLst xmlns:a="http://schemas.openxmlformats.org/drawingml/2006/main">
              <a:ext uri="{FF2B5EF4-FFF2-40B4-BE49-F238E27FC236}">
                <a16:creationId xmlns:a16="http://schemas.microsoft.com/office/drawing/2014/main" id="{C4443941-60FF-46AF-B256-2D4C32D04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5-identity">
            <a:extLst xmlns:a="http://schemas.openxmlformats.org/drawingml/2006/main">
              <a:ext uri="{FF2B5EF4-FFF2-40B4-BE49-F238E27FC236}">
                <a16:creationId xmlns:a16="http://schemas.microsoft.com/office/drawing/2014/main" id="{7A2AB1C2-84C9-4EC2-B0FC-E6A0056E1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IN-007 · IN-007-S05</a:t>
            </a:r>
          </a:p>
        </p:txBody>
      </p:sp>
      <p:sp>
        <p:nvSpPr>
          <p:cNvPr id="6" name="core-no-0">
            <a:extLst xmlns:a="http://schemas.openxmlformats.org/drawingml/2006/main">
              <a:ext uri="{FF2B5EF4-FFF2-40B4-BE49-F238E27FC236}">
                <a16:creationId xmlns:a16="http://schemas.microsoft.com/office/drawing/2014/main" id="{66FBBA08-604B-46DE-8243-A1BA5F876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9A3F16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9A3F16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7" name="core-label-0">
            <a:extLst xmlns:a="http://schemas.openxmlformats.org/drawingml/2006/main">
              <a:ext uri="{FF2B5EF4-FFF2-40B4-BE49-F238E27FC236}">
                <a16:creationId xmlns:a16="http://schemas.microsoft.com/office/drawing/2014/main" id="{7F590117-9022-4A2F-BA42-6E351A86C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90800"/>
            <a:ext cx="3263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同时维护多个竞争性假设</a:t>
            </a:r>
          </a:p>
        </p:txBody>
      </p:sp>
      <p:sp>
        <p:nvSpPr>
          <p:cNvPr id="8" name="core-body-0">
            <a:extLst xmlns:a="http://schemas.openxmlformats.org/drawingml/2006/main">
              <a:ext uri="{FF2B5EF4-FFF2-40B4-BE49-F238E27FC236}">
                <a16:creationId xmlns:a16="http://schemas.microsoft.com/office/drawing/2014/main" id="{D58E831D-5497-4BA7-9918-DF4156F99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90900"/>
            <a:ext cx="3263900" cy="1714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0E8"/>
          </a:solidFill>
          <a:ln xmlns:a="http://schemas.openxmlformats.org/drawingml/2006/main" w="19050">
            <a:solidFill>
              <a:srgbClr val="9A3F16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97443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65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调查容易出现确认偏差；一旦形成最初印象，后续只寻找支持它的证据；更稳妥的方法是维护多个可检验假设；例如不同的起火区域、点燃来源或传播路径</a:t>
            </a:r>
          </a:p>
        </p:txBody>
      </p:sp>
      <p:sp>
        <p:nvSpPr>
          <p:cNvPr id="9" name="core-no-1">
            <a:extLst xmlns:a="http://schemas.openxmlformats.org/drawingml/2006/main">
              <a:ext uri="{FF2B5EF4-FFF2-40B4-BE49-F238E27FC236}">
                <a16:creationId xmlns:a16="http://schemas.microsoft.com/office/drawing/2014/main" id="{A04E1F5C-65D3-4BE3-A434-49183EBCE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4050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9A3F16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9A3F16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0" name="core-body-1">
            <a:extLst xmlns:a="http://schemas.openxmlformats.org/drawingml/2006/main">
              <a:ext uri="{FF2B5EF4-FFF2-40B4-BE49-F238E27FC236}">
                <a16:creationId xmlns:a16="http://schemas.microsoft.com/office/drawing/2014/main" id="{C86C1F75-5901-42F6-B242-E6611C91E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4050" y="2590800"/>
            <a:ext cx="3263900" cy="25146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65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AI 可以按固定结构整理假设矩阵；发现某项证据被重复使用；或提示两个叙述在时间上冲突；但模型不应凭语言相似度给某个原因“投票”；也不能把没有数据支撑的概率包装成科学结论</a:t>
            </a:r>
          </a:p>
        </p:txBody>
      </p:sp>
      <p:sp>
        <p:nvSpPr>
          <p:cNvPr id="11" name="core-no-2">
            <a:extLst xmlns:a="http://schemas.openxmlformats.org/drawingml/2006/main">
              <a:ext uri="{FF2B5EF4-FFF2-40B4-BE49-F238E27FC236}">
                <a16:creationId xmlns:a16="http://schemas.microsoft.com/office/drawing/2014/main" id="{4D0CB2DE-33F3-41D1-872C-EE361F4CB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3700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9A3F16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9A3F16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2" name="core-body-2">
            <a:extLst xmlns:a="http://schemas.openxmlformats.org/drawingml/2006/main">
              <a:ext uri="{FF2B5EF4-FFF2-40B4-BE49-F238E27FC236}">
                <a16:creationId xmlns:a16="http://schemas.microsoft.com/office/drawing/2014/main" id="{4D47A1C0-521E-463A-8C70-F52B9716F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3700" y="2590800"/>
            <a:ext cx="3263900" cy="25146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65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随着新资料加入，调查人员应记录假设如何变化以及变化依据。最终报告不只呈现采纳的解释，也要说明关键替代解释如何被审查、哪些限制仍然存在</a:t>
            </a:r>
          </a:p>
        </p:txBody>
      </p:sp>
      <p:sp>
        <p:nvSpPr>
          <p:cNvPr id="13" name="s5-takeaway-rule">
            <a:extLst xmlns:a="http://schemas.openxmlformats.org/drawingml/2006/main">
              <a:ext uri="{FF2B5EF4-FFF2-40B4-BE49-F238E27FC236}">
                <a16:creationId xmlns:a16="http://schemas.microsoft.com/office/drawing/2014/main" id="{FFE24082-8DB4-48E5-A70E-A725F43BC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76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783F"/>
          </a:solidFill>
          <a:ln xmlns:a="http://schemas.openxmlformats.org/drawingml/2006/main" w="0">
            <a:solidFill>
              <a:srgbClr val="E5783F"/>
            </a:solidFill>
            <a:prstDash val="solid"/>
          </a:ln>
        </p:spPr>
      </p:sp>
      <p:sp>
        <p:nvSpPr>
          <p:cNvPr id="14" name="s5-takeaway">
            <a:extLst xmlns:a="http://schemas.openxmlformats.org/drawingml/2006/main">
              <a:ext uri="{FF2B5EF4-FFF2-40B4-BE49-F238E27FC236}">
                <a16:creationId xmlns:a16="http://schemas.microsoft.com/office/drawing/2014/main" id="{EF44B32F-D4E2-44A5-AE64-1AA7EE48E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673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竞争性假设能降低调查中的确认偏差</a:t>
            </a:r>
          </a:p>
        </p:txBody>
      </p:sp>
    </p:spTree>
    <p:extLst>
      <p:ext uri="{BB962C8B-B14F-4D97-AF65-F5344CB8AC3E}">
        <p14:creationId xmlns:p14="http://schemas.microsoft.com/office/powerpoint/2010/main" val="73316703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6-rule">
            <a:extLst xmlns:a="http://schemas.openxmlformats.org/drawingml/2006/main">
              <a:ext uri="{FF2B5EF4-FFF2-40B4-BE49-F238E27FC236}">
                <a16:creationId xmlns:a16="http://schemas.microsoft.com/office/drawing/2014/main" id="{FBD85670-CB22-4B89-8098-D2A89E423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783F"/>
          </a:solidFill>
          <a:ln xmlns:a="http://schemas.openxmlformats.org/drawingml/2006/main" w="0">
            <a:solidFill>
              <a:srgbClr val="E5783F"/>
            </a:solidFill>
            <a:prstDash val="solid"/>
          </a:ln>
        </p:spPr>
      </p:sp>
      <p:sp>
        <p:nvSpPr>
          <p:cNvPr id="2" name="s6-eyebrow">
            <a:extLst xmlns:a="http://schemas.openxmlformats.org/drawingml/2006/main">
              <a:ext uri="{FF2B5EF4-FFF2-40B4-BE49-F238E27FC236}">
                <a16:creationId xmlns:a16="http://schemas.microsoft.com/office/drawing/2014/main" id="{2454254C-AEC0-4960-995D-00A600663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核心论点 4 / 6</a:t>
            </a:r>
          </a:p>
        </p:txBody>
      </p:sp>
      <p:sp>
        <p:nvSpPr>
          <p:cNvPr id="3" name="s6-title">
            <a:extLst xmlns:a="http://schemas.openxmlformats.org/drawingml/2006/main">
              <a:ext uri="{FF2B5EF4-FFF2-40B4-BE49-F238E27FC236}">
                <a16:creationId xmlns:a16="http://schemas.microsoft.com/office/drawing/2014/main" id="{90467884-DBCA-4862-BB6E-AB5F43750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法规、技术资料与专家复核</a:t>
            </a:r>
          </a:p>
        </p:txBody>
      </p:sp>
      <p:sp>
        <p:nvSpPr>
          <p:cNvPr id="4" name="s6-footer">
            <a:extLst xmlns:a="http://schemas.openxmlformats.org/drawingml/2006/main">
              <a:ext uri="{FF2B5EF4-FFF2-40B4-BE49-F238E27FC236}">
                <a16:creationId xmlns:a16="http://schemas.microsoft.com/office/drawing/2014/main" id="{F2B56863-4FAC-4C10-A5D9-01B8BF3CE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6-identity">
            <a:extLst xmlns:a="http://schemas.openxmlformats.org/drawingml/2006/main">
              <a:ext uri="{FF2B5EF4-FFF2-40B4-BE49-F238E27FC236}">
                <a16:creationId xmlns:a16="http://schemas.microsoft.com/office/drawing/2014/main" id="{10DCE5F1-0C86-458B-B9BE-EE3243506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IN-007 · IN-007-S06</a:t>
            </a:r>
          </a:p>
        </p:txBody>
      </p:sp>
      <p:sp>
        <p:nvSpPr>
          <p:cNvPr id="6" name="core-no-0">
            <a:extLst xmlns:a="http://schemas.openxmlformats.org/drawingml/2006/main">
              <a:ext uri="{FF2B5EF4-FFF2-40B4-BE49-F238E27FC236}">
                <a16:creationId xmlns:a16="http://schemas.microsoft.com/office/drawing/2014/main" id="{EEB96980-D8C6-4F64-B388-D8DFACE87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9A3F16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9A3F16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7" name="core-label-0">
            <a:extLst xmlns:a="http://schemas.openxmlformats.org/drawingml/2006/main">
              <a:ext uri="{FF2B5EF4-FFF2-40B4-BE49-F238E27FC236}">
                <a16:creationId xmlns:a16="http://schemas.microsoft.com/office/drawing/2014/main" id="{2FAB96B2-8225-45FF-8AF7-988A47BC6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90800"/>
            <a:ext cx="50387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法规、技术资料与专家复核</a:t>
            </a:r>
          </a:p>
        </p:txBody>
      </p:sp>
      <p:sp>
        <p:nvSpPr>
          <p:cNvPr id="8" name="core-body-0">
            <a:extLst xmlns:a="http://schemas.openxmlformats.org/drawingml/2006/main">
              <a:ext uri="{FF2B5EF4-FFF2-40B4-BE49-F238E27FC236}">
                <a16:creationId xmlns:a16="http://schemas.microsoft.com/office/drawing/2014/main" id="{FB146F57-572A-41CD-A0EB-4703A0C30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90900"/>
            <a:ext cx="5038725" cy="1714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0E8"/>
          </a:solidFill>
          <a:ln xmlns:a="http://schemas.openxmlformats.org/drawingml/2006/main" w="19050">
            <a:solidFill>
              <a:srgbClr val="9A3F16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98233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检索库可以包含现行法律法规、调查程序、消防和电气技术资料、设备说明以及经过审查的案例；每条资料应标明发布机构、版本、有效状态、适用范围和具体位置；历史案例能提示排查方向</a:t>
            </a:r>
          </a:p>
        </p:txBody>
      </p:sp>
      <p:sp>
        <p:nvSpPr>
          <p:cNvPr id="9" name="core-no-1">
            <a:extLst xmlns:a="http://schemas.openxmlformats.org/drawingml/2006/main">
              <a:ext uri="{FF2B5EF4-FFF2-40B4-BE49-F238E27FC236}">
                <a16:creationId xmlns:a16="http://schemas.microsoft.com/office/drawing/2014/main" id="{7D2C3892-B102-4939-B5BA-D11AFBC9B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9A3F16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9A3F16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0" name="core-body-1">
            <a:extLst xmlns:a="http://schemas.openxmlformats.org/drawingml/2006/main">
              <a:ext uri="{FF2B5EF4-FFF2-40B4-BE49-F238E27FC236}">
                <a16:creationId xmlns:a16="http://schemas.microsoft.com/office/drawing/2014/main" id="{A7596855-093A-4B23-BA86-00E3DB879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590800"/>
            <a:ext cx="5038725" cy="25146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模型可能引用失效条款、混淆不同地区规则；或从一段技术说明推导出原文没有的结论；调查人员必须核对原文；必要时由消防、电气、材料、结构或其他领域专家复核</a:t>
            </a:r>
          </a:p>
        </p:txBody>
      </p:sp>
      <p:sp>
        <p:nvSpPr>
          <p:cNvPr id="11" name="s6-takeaway-rule">
            <a:extLst xmlns:a="http://schemas.openxmlformats.org/drawingml/2006/main">
              <a:ext uri="{FF2B5EF4-FFF2-40B4-BE49-F238E27FC236}">
                <a16:creationId xmlns:a16="http://schemas.microsoft.com/office/drawing/2014/main" id="{A8AF7098-F843-491A-872F-82BDE0EB1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76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783F"/>
          </a:solidFill>
          <a:ln xmlns:a="http://schemas.openxmlformats.org/drawingml/2006/main" w="0">
            <a:solidFill>
              <a:srgbClr val="E5783F"/>
            </a:solidFill>
            <a:prstDash val="solid"/>
          </a:ln>
        </p:spPr>
      </p:sp>
      <p:sp>
        <p:nvSpPr>
          <p:cNvPr id="12" name="s6-takeaway">
            <a:extLst xmlns:a="http://schemas.openxmlformats.org/drawingml/2006/main">
              <a:ext uri="{FF2B5EF4-FFF2-40B4-BE49-F238E27FC236}">
                <a16:creationId xmlns:a16="http://schemas.microsoft.com/office/drawing/2014/main" id="{256FC2D8-E0B9-4F0D-9D18-0C83B6B08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673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法规、技术资料与专家复核</a:t>
            </a:r>
          </a:p>
        </p:txBody>
      </p:sp>
    </p:spTree>
    <p:extLst>
      <p:ext uri="{BB962C8B-B14F-4D97-AF65-F5344CB8AC3E}">
        <p14:creationId xmlns:p14="http://schemas.microsoft.com/office/powerpoint/2010/main" val="205248400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7-rule">
            <a:extLst xmlns:a="http://schemas.openxmlformats.org/drawingml/2006/main">
              <a:ext uri="{FF2B5EF4-FFF2-40B4-BE49-F238E27FC236}">
                <a16:creationId xmlns:a16="http://schemas.microsoft.com/office/drawing/2014/main" id="{32C05868-E6EE-4674-808B-5D774739E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783F"/>
          </a:solidFill>
          <a:ln xmlns:a="http://schemas.openxmlformats.org/drawingml/2006/main" w="0">
            <a:solidFill>
              <a:srgbClr val="E5783F"/>
            </a:solidFill>
            <a:prstDash val="solid"/>
          </a:ln>
        </p:spPr>
      </p:sp>
      <p:sp>
        <p:nvSpPr>
          <p:cNvPr id="2" name="s7-eyebrow">
            <a:extLst xmlns:a="http://schemas.openxmlformats.org/drawingml/2006/main">
              <a:ext uri="{FF2B5EF4-FFF2-40B4-BE49-F238E27FC236}">
                <a16:creationId xmlns:a16="http://schemas.microsoft.com/office/drawing/2014/main" id="{FB9E83B1-FD0D-4390-A60C-EB953CDD5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核心论点 5 / 6</a:t>
            </a:r>
          </a:p>
        </p:txBody>
      </p:sp>
      <p:sp>
        <p:nvSpPr>
          <p:cNvPr id="3" name="s7-title">
            <a:extLst xmlns:a="http://schemas.openxmlformats.org/drawingml/2006/main">
              <a:ext uri="{FF2B5EF4-FFF2-40B4-BE49-F238E27FC236}">
                <a16:creationId xmlns:a16="http://schemas.microsoft.com/office/drawing/2014/main" id="{73CC64EC-F116-4F74-A1DA-C6E071709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材料提取任务可测字段准确性、遗漏和原件链接</a:t>
            </a:r>
          </a:p>
        </p:txBody>
      </p:sp>
      <p:sp>
        <p:nvSpPr>
          <p:cNvPr id="4" name="s7-footer">
            <a:extLst xmlns:a="http://schemas.openxmlformats.org/drawingml/2006/main">
              <a:ext uri="{FF2B5EF4-FFF2-40B4-BE49-F238E27FC236}">
                <a16:creationId xmlns:a16="http://schemas.microsoft.com/office/drawing/2014/main" id="{F3BFFF7D-178F-4785-9473-8BD0CCE90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7-identity">
            <a:extLst xmlns:a="http://schemas.openxmlformats.org/drawingml/2006/main">
              <a:ext uri="{FF2B5EF4-FFF2-40B4-BE49-F238E27FC236}">
                <a16:creationId xmlns:a16="http://schemas.microsoft.com/office/drawing/2014/main" id="{6897E520-D3DA-4B9E-BC9D-34465DC5C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IN-007 · IN-007-S07</a:t>
            </a:r>
          </a:p>
        </p:txBody>
      </p:sp>
      <p:sp>
        <p:nvSpPr>
          <p:cNvPr id="6" name="core-no-0">
            <a:extLst xmlns:a="http://schemas.openxmlformats.org/drawingml/2006/main">
              <a:ext uri="{FF2B5EF4-FFF2-40B4-BE49-F238E27FC236}">
                <a16:creationId xmlns:a16="http://schemas.microsoft.com/office/drawing/2014/main" id="{CB6B08B7-E387-49AC-BF63-D9CCA6599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9A3F16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9A3F16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7" name="core-label-0">
            <a:extLst xmlns:a="http://schemas.openxmlformats.org/drawingml/2006/main">
              <a:ext uri="{FF2B5EF4-FFF2-40B4-BE49-F238E27FC236}">
                <a16:creationId xmlns:a16="http://schemas.microsoft.com/office/drawing/2014/main" id="{2FEAA9C7-5ED6-4F7A-B1B2-9C46AB9AF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90800"/>
            <a:ext cx="50387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模型输出必须经过任务级评测</a:t>
            </a:r>
          </a:p>
        </p:txBody>
      </p:sp>
      <p:sp>
        <p:nvSpPr>
          <p:cNvPr id="8" name="core-body-0">
            <a:extLst xmlns:a="http://schemas.openxmlformats.org/drawingml/2006/main">
              <a:ext uri="{FF2B5EF4-FFF2-40B4-BE49-F238E27FC236}">
                <a16:creationId xmlns:a16="http://schemas.microsoft.com/office/drawing/2014/main" id="{A9DB78C5-4A5C-4D3A-9F8A-CE293E51B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90900"/>
            <a:ext cx="5038725" cy="1714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0E8"/>
          </a:solidFill>
          <a:ln xmlns:a="http://schemas.openxmlformats.org/drawingml/2006/main" w="19050">
            <a:solidFill>
              <a:srgbClr val="9A3F16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98233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材料提取任务可测字段准确性、遗漏和原件链接；时间线任务可测顺序、时间冲突提示和来源覆盖；法规检索可测版本、适用性与引用支持；假设整理可测是否同时呈现支持与反证、能否在证据不足时保持不确定</a:t>
            </a:r>
          </a:p>
        </p:txBody>
      </p:sp>
      <p:sp>
        <p:nvSpPr>
          <p:cNvPr id="9" name="core-no-1">
            <a:extLst xmlns:a="http://schemas.openxmlformats.org/drawingml/2006/main">
              <a:ext uri="{FF2B5EF4-FFF2-40B4-BE49-F238E27FC236}">
                <a16:creationId xmlns:a16="http://schemas.microsoft.com/office/drawing/2014/main" id="{C340660F-E6C5-41C5-9F31-59AEA86E2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9A3F16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9A3F16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0" name="core-body-1">
            <a:extLst xmlns:a="http://schemas.openxmlformats.org/drawingml/2006/main">
              <a:ext uri="{FF2B5EF4-FFF2-40B4-BE49-F238E27FC236}">
                <a16:creationId xmlns:a16="http://schemas.microsoft.com/office/drawing/2014/main" id="{F6172F92-98E7-4D07-8DEC-23B459C25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590800"/>
            <a:ext cx="5038725" cy="25146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评测集应包含模糊影像、损坏文件、时钟不一致、同名对象、矛盾笔录和恶意指令；观察系统会不会编造缺失内容或泄露受限信息；高风险错误要单独统计；不能被大量简单样本的平均分掩盖；模型或资料库更新后</a:t>
            </a:r>
          </a:p>
        </p:txBody>
      </p:sp>
      <p:sp>
        <p:nvSpPr>
          <p:cNvPr id="11" name="s7-takeaway-rule">
            <a:extLst xmlns:a="http://schemas.openxmlformats.org/drawingml/2006/main">
              <a:ext uri="{FF2B5EF4-FFF2-40B4-BE49-F238E27FC236}">
                <a16:creationId xmlns:a16="http://schemas.microsoft.com/office/drawing/2014/main" id="{378A2A31-4C7A-4EEA-8490-5FEAEB8AF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76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783F"/>
          </a:solidFill>
          <a:ln xmlns:a="http://schemas.openxmlformats.org/drawingml/2006/main" w="0">
            <a:solidFill>
              <a:srgbClr val="E5783F"/>
            </a:solidFill>
            <a:prstDash val="solid"/>
          </a:ln>
        </p:spPr>
      </p:sp>
      <p:sp>
        <p:nvSpPr>
          <p:cNvPr id="12" name="s7-takeaway">
            <a:extLst xmlns:a="http://schemas.openxmlformats.org/drawingml/2006/main">
              <a:ext uri="{FF2B5EF4-FFF2-40B4-BE49-F238E27FC236}">
                <a16:creationId xmlns:a16="http://schemas.microsoft.com/office/drawing/2014/main" id="{A9617D83-AE08-4DB7-BDBF-765D46B1F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673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材料提取任务可测字段准确性、遗漏和原件链接</a:t>
            </a:r>
          </a:p>
        </p:txBody>
      </p:sp>
    </p:spTree>
    <p:extLst>
      <p:ext uri="{BB962C8B-B14F-4D97-AF65-F5344CB8AC3E}">
        <p14:creationId xmlns:p14="http://schemas.microsoft.com/office/powerpoint/2010/main" val="79701485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8-rule">
            <a:extLst xmlns:a="http://schemas.openxmlformats.org/drawingml/2006/main">
              <a:ext uri="{FF2B5EF4-FFF2-40B4-BE49-F238E27FC236}">
                <a16:creationId xmlns:a16="http://schemas.microsoft.com/office/drawing/2014/main" id="{32C8D795-0E2E-4761-A691-54EF64F44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783F"/>
          </a:solidFill>
          <a:ln xmlns:a="http://schemas.openxmlformats.org/drawingml/2006/main" w="0">
            <a:solidFill>
              <a:srgbClr val="E5783F"/>
            </a:solidFill>
            <a:prstDash val="solid"/>
          </a:ln>
        </p:spPr>
      </p:sp>
      <p:sp>
        <p:nvSpPr>
          <p:cNvPr id="2" name="s8-eyebrow">
            <a:extLst xmlns:a="http://schemas.openxmlformats.org/drawingml/2006/main">
              <a:ext uri="{FF2B5EF4-FFF2-40B4-BE49-F238E27FC236}">
                <a16:creationId xmlns:a16="http://schemas.microsoft.com/office/drawing/2014/main" id="{F8C18FD0-CFE9-46D6-B4E2-7ECCC47EC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核心论点 6 / 6</a:t>
            </a:r>
          </a:p>
        </p:txBody>
      </p:sp>
      <p:sp>
        <p:nvSpPr>
          <p:cNvPr id="3" name="s8-title">
            <a:extLst xmlns:a="http://schemas.openxmlformats.org/drawingml/2006/main">
              <a:ext uri="{FF2B5EF4-FFF2-40B4-BE49-F238E27FC236}">
                <a16:creationId xmlns:a16="http://schemas.microsoft.com/office/drawing/2014/main" id="{1A488A12-788E-4B81-B3C3-4B2F31B91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AI 可以整理材料，但不能替调查人员定案</a:t>
            </a:r>
          </a:p>
        </p:txBody>
      </p:sp>
      <p:sp>
        <p:nvSpPr>
          <p:cNvPr id="4" name="s8-footer">
            <a:extLst xmlns:a="http://schemas.openxmlformats.org/drawingml/2006/main">
              <a:ext uri="{FF2B5EF4-FFF2-40B4-BE49-F238E27FC236}">
                <a16:creationId xmlns:a16="http://schemas.microsoft.com/office/drawing/2014/main" id="{3D5E6DB8-C4C7-4761-B5F6-7B7246FBD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8-identity">
            <a:extLst xmlns:a="http://schemas.openxmlformats.org/drawingml/2006/main">
              <a:ext uri="{FF2B5EF4-FFF2-40B4-BE49-F238E27FC236}">
                <a16:creationId xmlns:a16="http://schemas.microsoft.com/office/drawing/2014/main" id="{481B30DB-18D0-44B5-A9B1-394AEA030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IN-007 · IN-007-S08</a:t>
            </a:r>
          </a:p>
        </p:txBody>
      </p:sp>
      <p:sp>
        <p:nvSpPr>
          <p:cNvPr id="6" name="core-no-0">
            <a:extLst xmlns:a="http://schemas.openxmlformats.org/drawingml/2006/main">
              <a:ext uri="{FF2B5EF4-FFF2-40B4-BE49-F238E27FC236}">
                <a16:creationId xmlns:a16="http://schemas.microsoft.com/office/drawing/2014/main" id="{91C32C6A-39D5-4F96-9553-1F64B492A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9A3F16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9A3F16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7" name="core-label-0">
            <a:extLst xmlns:a="http://schemas.openxmlformats.org/drawingml/2006/main">
              <a:ext uri="{FF2B5EF4-FFF2-40B4-BE49-F238E27FC236}">
                <a16:creationId xmlns:a16="http://schemas.microsoft.com/office/drawing/2014/main" id="{430476DE-7273-494A-A67C-8357CBE46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90800"/>
            <a:ext cx="50387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模型不能定案</a:t>
            </a:r>
          </a:p>
        </p:txBody>
      </p:sp>
      <p:sp>
        <p:nvSpPr>
          <p:cNvPr id="8" name="core-body-0">
            <a:extLst xmlns:a="http://schemas.openxmlformats.org/drawingml/2006/main">
              <a:ext uri="{FF2B5EF4-FFF2-40B4-BE49-F238E27FC236}">
                <a16:creationId xmlns:a16="http://schemas.microsoft.com/office/drawing/2014/main" id="{5CB29D2B-4CB0-43D6-830D-1FBFF3BC9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90900"/>
            <a:ext cx="5038725" cy="1714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0E8"/>
          </a:solidFill>
          <a:ln xmlns:a="http://schemas.openxmlformats.org/drawingml/2006/main" w="19050">
            <a:solidFill>
              <a:srgbClr val="9A3F16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88135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AI 可以生成材料目录、时间线草稿、规范检索结果、假设矩阵和报告结构；但不应宣布起火原因、证据效力、责任主体或案件结论；调查人员按照权限和程序审查原始资料、开展必要实验与询问、听取专业意见</a:t>
            </a:r>
          </a:p>
        </p:txBody>
      </p:sp>
      <p:sp>
        <p:nvSpPr>
          <p:cNvPr id="9" name="core-no-1">
            <a:extLst xmlns:a="http://schemas.openxmlformats.org/drawingml/2006/main">
              <a:ext uri="{FF2B5EF4-FFF2-40B4-BE49-F238E27FC236}">
                <a16:creationId xmlns:a16="http://schemas.microsoft.com/office/drawing/2014/main" id="{EDCF5C9D-B120-4555-8026-BD9196F25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9A3F16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9A3F16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0" name="core-body-1">
            <a:extLst xmlns:a="http://schemas.openxmlformats.org/drawingml/2006/main">
              <a:ext uri="{FF2B5EF4-FFF2-40B4-BE49-F238E27FC236}">
                <a16:creationId xmlns:a16="http://schemas.microsoft.com/office/drawing/2014/main" id="{E4F763FF-BDA4-4B1F-8A1F-14298579B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590800"/>
            <a:ext cx="5038725" cy="25146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界面应始终标明模型输出身份，允许复核者拒绝、修改和说明理由。报告中的每项关键事实都应指向证据；无法核验的生成内容必须删除。模型不可用时，调查工作仍应能依靠既有记录、工具和程序继续完成</a:t>
            </a:r>
          </a:p>
        </p:txBody>
      </p:sp>
      <p:sp>
        <p:nvSpPr>
          <p:cNvPr id="11" name="s8-takeaway-rule">
            <a:extLst xmlns:a="http://schemas.openxmlformats.org/drawingml/2006/main">
              <a:ext uri="{FF2B5EF4-FFF2-40B4-BE49-F238E27FC236}">
                <a16:creationId xmlns:a16="http://schemas.microsoft.com/office/drawing/2014/main" id="{3A422834-D97C-45EC-B99E-76B081E1D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76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783F"/>
          </a:solidFill>
          <a:ln xmlns:a="http://schemas.openxmlformats.org/drawingml/2006/main" w="0">
            <a:solidFill>
              <a:srgbClr val="E5783F"/>
            </a:solidFill>
            <a:prstDash val="solid"/>
          </a:ln>
        </p:spPr>
      </p:sp>
      <p:sp>
        <p:nvSpPr>
          <p:cNvPr id="12" name="s8-takeaway">
            <a:extLst xmlns:a="http://schemas.openxmlformats.org/drawingml/2006/main">
              <a:ext uri="{FF2B5EF4-FFF2-40B4-BE49-F238E27FC236}">
                <a16:creationId xmlns:a16="http://schemas.microsoft.com/office/drawing/2014/main" id="{F807B896-1216-451B-BB70-20FD6E2AC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673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AI 可以整理材料，但不能替调查人员定案</a:t>
            </a:r>
          </a:p>
        </p:txBody>
      </p:sp>
    </p:spTree>
    <p:extLst>
      <p:ext uri="{BB962C8B-B14F-4D97-AF65-F5344CB8AC3E}">
        <p14:creationId xmlns:p14="http://schemas.microsoft.com/office/powerpoint/2010/main" val="157602526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9-rule">
            <a:extLst xmlns:a="http://schemas.openxmlformats.org/drawingml/2006/main">
              <a:ext uri="{FF2B5EF4-FFF2-40B4-BE49-F238E27FC236}">
                <a16:creationId xmlns:a16="http://schemas.microsoft.com/office/drawing/2014/main" id="{66DD5158-1B4B-4916-9ABB-A3D10202B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783F"/>
          </a:solidFill>
          <a:ln xmlns:a="http://schemas.openxmlformats.org/drawingml/2006/main" w="0">
            <a:solidFill>
              <a:srgbClr val="E5783F"/>
            </a:solidFill>
            <a:prstDash val="solid"/>
          </a:ln>
        </p:spPr>
      </p:sp>
      <p:sp>
        <p:nvSpPr>
          <p:cNvPr id="2" name="s9-eyebrow">
            <a:extLst xmlns:a="http://schemas.openxmlformats.org/drawingml/2006/main">
              <a:ext uri="{FF2B5EF4-FFF2-40B4-BE49-F238E27FC236}">
                <a16:creationId xmlns:a16="http://schemas.microsoft.com/office/drawing/2014/main" id="{2BDBB9F7-D843-4B8F-B796-566EBC87D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案例与边界 1 / 2</a:t>
            </a:r>
          </a:p>
        </p:txBody>
      </p:sp>
      <p:sp>
        <p:nvSpPr>
          <p:cNvPr id="3" name="s9-title">
            <a:extLst xmlns:a="http://schemas.openxmlformats.org/drawingml/2006/main">
              <a:ext uri="{FF2B5EF4-FFF2-40B4-BE49-F238E27FC236}">
                <a16:creationId xmlns:a16="http://schemas.microsoft.com/office/drawing/2014/main" id="{402D8BE0-EE79-424F-84E9-2036CF074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竞争性假设必须同时记录支持证据与反证</a:t>
            </a:r>
          </a:p>
        </p:txBody>
      </p:sp>
      <p:sp>
        <p:nvSpPr>
          <p:cNvPr id="4" name="s9-footer">
            <a:extLst xmlns:a="http://schemas.openxmlformats.org/drawingml/2006/main">
              <a:ext uri="{FF2B5EF4-FFF2-40B4-BE49-F238E27FC236}">
                <a16:creationId xmlns:a16="http://schemas.microsoft.com/office/drawing/2014/main" id="{D935802A-3003-41A4-A7A5-1D41A44A9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9-identity">
            <a:extLst xmlns:a="http://schemas.openxmlformats.org/drawingml/2006/main">
              <a:ext uri="{FF2B5EF4-FFF2-40B4-BE49-F238E27FC236}">
                <a16:creationId xmlns:a16="http://schemas.microsoft.com/office/drawing/2014/main" id="{A3557155-E2C9-463F-BBB8-94AC9B113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IN-007 · IN-007-S09</a:t>
            </a:r>
          </a:p>
        </p:txBody>
      </p:sp>
      <p:sp>
        <p:nvSpPr>
          <p:cNvPr id="6" name="case-title">
            <a:extLst xmlns:a="http://schemas.openxmlformats.org/drawingml/2006/main">
              <a:ext uri="{FF2B5EF4-FFF2-40B4-BE49-F238E27FC236}">
                <a16:creationId xmlns:a16="http://schemas.microsoft.com/office/drawing/2014/main" id="{ED3AA0A0-9378-48AC-A9FE-6B1D48F4D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90750"/>
            <a:ext cx="3048000" cy="2724150"/>
          </a:xfrm>
          <a:prstGeom xmlns:a="http://schemas.openxmlformats.org/drawingml/2006/main" prst="roundRect">
            <a:avLst>
              <a:gd name="adj" fmla="val 6993"/>
            </a:avLst>
          </a:prstGeom>
          <a:solidFill xmlns:a="http://schemas.openxmlformats.org/drawingml/2006/main">
            <a:srgbClr val="744027"/>
          </a:solidFill>
          <a:ln xmlns:a="http://schemas.openxmlformats.org/drawingml/2006/main" w="0">
            <a:solidFill>
              <a:srgbClr val="744027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两个起火区域假设的材料矩阵</a:t>
            </a:r>
          </a:p>
        </p:txBody>
      </p:sp>
      <p:sp>
        <p:nvSpPr>
          <p:cNvPr id="7" name="case-row-0">
            <a:extLst xmlns:a="http://schemas.openxmlformats.org/drawingml/2006/main">
              <a:ext uri="{FF2B5EF4-FFF2-40B4-BE49-F238E27FC236}">
                <a16:creationId xmlns:a16="http://schemas.microsoft.com/office/drawing/2014/main" id="{E425D2D7-D65F-4003-8F08-390989274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038350"/>
            <a:ext cx="6534150" cy="514350"/>
          </a:xfrm>
          <a:prstGeom xmlns:a="http://schemas.openxmlformats.org/drawingml/2006/main" prst="roundRect">
            <a:avLst>
              <a:gd name="adj" fmla="val 240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72956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边界｜系统不比较谁“更像真相”，正式判断由调查人员在完成程序后形成</a:t>
            </a:r>
          </a:p>
        </p:txBody>
      </p:sp>
      <p:sp>
        <p:nvSpPr>
          <p:cNvPr id="8" name="case-row-1">
            <a:extLst xmlns:a="http://schemas.openxmlformats.org/drawingml/2006/main">
              <a:ext uri="{FF2B5EF4-FFF2-40B4-BE49-F238E27FC236}">
                <a16:creationId xmlns:a16="http://schemas.microsoft.com/office/drawing/2014/main" id="{1B58708B-33C7-4426-A791-3B496CCA3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667000"/>
            <a:ext cx="6534150" cy="514350"/>
          </a:xfrm>
          <a:prstGeom xmlns:a="http://schemas.openxmlformats.org/drawingml/2006/main" prst="roundRect">
            <a:avLst>
              <a:gd name="adj" fmla="val 240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72956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材料｜调查组拥有不同时间拍摄的照片、设备日志、处置记录和多份询问笔录</a:t>
            </a:r>
          </a:p>
        </p:txBody>
      </p:sp>
      <p:sp>
        <p:nvSpPr>
          <p:cNvPr id="9" name="case-row-2">
            <a:extLst xmlns:a="http://schemas.openxmlformats.org/drawingml/2006/main">
              <a:ext uri="{FF2B5EF4-FFF2-40B4-BE49-F238E27FC236}">
                <a16:creationId xmlns:a16="http://schemas.microsoft.com/office/drawing/2014/main" id="{F0FFD8F8-BA54-4BE9-91E7-5E85E1F94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295650"/>
            <a:ext cx="6534150" cy="514350"/>
          </a:xfrm>
          <a:prstGeom xmlns:a="http://schemas.openxmlformats.org/drawingml/2006/main" prst="roundRect">
            <a:avLst>
              <a:gd name="adj" fmla="val 240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6694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整理｜系统按两个候选区域分别列出支持现象、矛盾证据、时间缺口和待核资料，并把每一项链接回原件</a:t>
            </a:r>
          </a:p>
        </p:txBody>
      </p:sp>
      <p:sp>
        <p:nvSpPr>
          <p:cNvPr id="10" name="case-row-3">
            <a:extLst xmlns:a="http://schemas.openxmlformats.org/drawingml/2006/main">
              <a:ext uri="{FF2B5EF4-FFF2-40B4-BE49-F238E27FC236}">
                <a16:creationId xmlns:a16="http://schemas.microsoft.com/office/drawing/2014/main" id="{F1D8BE0C-D693-42E5-BEE4-00A1E044F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924300"/>
            <a:ext cx="6534150" cy="514350"/>
          </a:xfrm>
          <a:prstGeom xmlns:a="http://schemas.openxmlformats.org/drawingml/2006/main" prst="roundRect">
            <a:avLst>
              <a:gd name="adj" fmla="val 24074"/>
            </a:avLst>
          </a:prstGeom>
          <a:solidFill xmlns:a="http://schemas.openxmlformats.org/drawingml/2006/main">
            <a:srgbClr val="FFF0E8"/>
          </a:solidFill>
          <a:ln xmlns:a="http://schemas.openxmlformats.org/drawingml/2006/main" w="9525">
            <a:solidFill>
              <a:srgbClr val="9A3F16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7295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复核｜调查人员检查时钟误差、视角限制和资料取得过程，请相应领域专家解释关键设备状态</a:t>
            </a:r>
          </a:p>
        </p:txBody>
      </p:sp>
      <p:sp>
        <p:nvSpPr>
          <p:cNvPr id="11" name="s9-takeaway-rule">
            <a:extLst xmlns:a="http://schemas.openxmlformats.org/drawingml/2006/main">
              <a:ext uri="{FF2B5EF4-FFF2-40B4-BE49-F238E27FC236}">
                <a16:creationId xmlns:a16="http://schemas.microsoft.com/office/drawing/2014/main" id="{29CE3A3B-5706-45F5-B782-0FABDC358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76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783F"/>
          </a:solidFill>
          <a:ln xmlns:a="http://schemas.openxmlformats.org/drawingml/2006/main" w="0">
            <a:solidFill>
              <a:srgbClr val="E5783F"/>
            </a:solidFill>
            <a:prstDash val="solid"/>
          </a:ln>
        </p:spPr>
      </p:sp>
      <p:sp>
        <p:nvSpPr>
          <p:cNvPr id="12" name="s9-takeaway">
            <a:extLst xmlns:a="http://schemas.openxmlformats.org/drawingml/2006/main">
              <a:ext uri="{FF2B5EF4-FFF2-40B4-BE49-F238E27FC236}">
                <a16:creationId xmlns:a16="http://schemas.microsoft.com/office/drawing/2014/main" id="{EE8BDBD0-085D-4745-BC72-969DD3987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673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竞争性假设必须同时记录支持证据与反证</a:t>
            </a:r>
          </a:p>
        </p:txBody>
      </p:sp>
    </p:spTree>
    <p:extLst>
      <p:ext uri="{BB962C8B-B14F-4D97-AF65-F5344CB8AC3E}">
        <p14:creationId xmlns:p14="http://schemas.microsoft.com/office/powerpoint/2010/main" val="145061892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10-rule">
            <a:extLst xmlns:a="http://schemas.openxmlformats.org/drawingml/2006/main">
              <a:ext uri="{FF2B5EF4-FFF2-40B4-BE49-F238E27FC236}">
                <a16:creationId xmlns:a16="http://schemas.microsoft.com/office/drawing/2014/main" id="{4ED11A0C-15D7-494A-B969-6815E8E25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783F"/>
          </a:solidFill>
          <a:ln xmlns:a="http://schemas.openxmlformats.org/drawingml/2006/main" w="0">
            <a:solidFill>
              <a:srgbClr val="E5783F"/>
            </a:solidFill>
            <a:prstDash val="solid"/>
          </a:ln>
        </p:spPr>
      </p:sp>
      <p:sp>
        <p:nvSpPr>
          <p:cNvPr id="2" name="s10-eyebrow">
            <a:extLst xmlns:a="http://schemas.openxmlformats.org/drawingml/2006/main">
              <a:ext uri="{FF2B5EF4-FFF2-40B4-BE49-F238E27FC236}">
                <a16:creationId xmlns:a16="http://schemas.microsoft.com/office/drawing/2014/main" id="{F150821B-9C13-4F68-8E01-A33B2F326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案例与边界 2 / 2</a:t>
            </a:r>
          </a:p>
        </p:txBody>
      </p:sp>
      <p:sp>
        <p:nvSpPr>
          <p:cNvPr id="3" name="s10-title">
            <a:extLst xmlns:a="http://schemas.openxmlformats.org/drawingml/2006/main">
              <a:ext uri="{FF2B5EF4-FFF2-40B4-BE49-F238E27FC236}">
                <a16:creationId xmlns:a16="http://schemas.microsoft.com/office/drawing/2014/main" id="{9D1260AC-7B2C-4563-B913-DF686A339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三维模型辅助复查，不能替代原始测量</a:t>
            </a:r>
          </a:p>
        </p:txBody>
      </p:sp>
      <p:sp>
        <p:nvSpPr>
          <p:cNvPr id="4" name="s10-footer">
            <a:extLst xmlns:a="http://schemas.openxmlformats.org/drawingml/2006/main">
              <a:ext uri="{FF2B5EF4-FFF2-40B4-BE49-F238E27FC236}">
                <a16:creationId xmlns:a16="http://schemas.microsoft.com/office/drawing/2014/main" id="{923DBEFC-25BD-4989-9BA0-FC67817BF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10-identity">
            <a:extLst xmlns:a="http://schemas.openxmlformats.org/drawingml/2006/main">
              <a:ext uri="{FF2B5EF4-FFF2-40B4-BE49-F238E27FC236}">
                <a16:creationId xmlns:a16="http://schemas.microsoft.com/office/drawing/2014/main" id="{37A5BF39-A7DA-4A45-A380-CA7F9D46F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IN-007 · IN-007-S10</a:t>
            </a:r>
          </a:p>
        </p:txBody>
      </p:sp>
      <p:sp>
        <p:nvSpPr>
          <p:cNvPr id="6" name="case-title">
            <a:extLst xmlns:a="http://schemas.openxmlformats.org/drawingml/2006/main">
              <a:ext uri="{FF2B5EF4-FFF2-40B4-BE49-F238E27FC236}">
                <a16:creationId xmlns:a16="http://schemas.microsoft.com/office/drawing/2014/main" id="{F23987E3-43D2-4013-807C-0A8000998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90750"/>
            <a:ext cx="3048000" cy="2724150"/>
          </a:xfrm>
          <a:prstGeom xmlns:a="http://schemas.openxmlformats.org/drawingml/2006/main" prst="roundRect">
            <a:avLst>
              <a:gd name="adj" fmla="val 6993"/>
            </a:avLst>
          </a:prstGeom>
          <a:solidFill xmlns:a="http://schemas.openxmlformats.org/drawingml/2006/main">
            <a:srgbClr val="744027"/>
          </a:solidFill>
          <a:ln xmlns:a="http://schemas.openxmlformats.org/drawingml/2006/main" w="0">
            <a:solidFill>
              <a:srgbClr val="744027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三维现场模型的正确用法</a:t>
            </a:r>
          </a:p>
        </p:txBody>
      </p:sp>
      <p:sp>
        <p:nvSpPr>
          <p:cNvPr id="7" name="case-row-0">
            <a:extLst xmlns:a="http://schemas.openxmlformats.org/drawingml/2006/main">
              <a:ext uri="{FF2B5EF4-FFF2-40B4-BE49-F238E27FC236}">
                <a16:creationId xmlns:a16="http://schemas.microsoft.com/office/drawing/2014/main" id="{C3F8933D-8F5D-41CB-A72A-3C2F2900A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057400"/>
            <a:ext cx="6534150" cy="838200"/>
          </a:xfrm>
          <a:prstGeom xmlns:a="http://schemas.openxmlformats.org/drawingml/2006/main" prst="roundRect">
            <a:avLst>
              <a:gd name="adj" fmla="val 147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用途｜把测量、影像和物证位置放在共同空间中，支持不同人员复查观察路径</a:t>
            </a:r>
          </a:p>
        </p:txBody>
      </p:sp>
      <p:sp>
        <p:nvSpPr>
          <p:cNvPr id="8" name="case-row-1">
            <a:extLst xmlns:a="http://schemas.openxmlformats.org/drawingml/2006/main">
              <a:ext uri="{FF2B5EF4-FFF2-40B4-BE49-F238E27FC236}">
                <a16:creationId xmlns:a16="http://schemas.microsoft.com/office/drawing/2014/main" id="{7DCA836F-7AAF-4369-AA8E-184020C02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086100"/>
            <a:ext cx="6534150" cy="838200"/>
          </a:xfrm>
          <a:prstGeom xmlns:a="http://schemas.openxmlformats.org/drawingml/2006/main" prst="roundRect">
            <a:avLst>
              <a:gd name="adj" fmla="val 147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限制｜模型存在遮挡、尺度、配准和后期处理误差，缺失区域不能由生成模型想象补全</a:t>
            </a:r>
          </a:p>
        </p:txBody>
      </p:sp>
      <p:sp>
        <p:nvSpPr>
          <p:cNvPr id="9" name="case-row-2">
            <a:extLst xmlns:a="http://schemas.openxmlformats.org/drawingml/2006/main">
              <a:ext uri="{FF2B5EF4-FFF2-40B4-BE49-F238E27FC236}">
                <a16:creationId xmlns:a16="http://schemas.microsoft.com/office/drawing/2014/main" id="{2FB68341-0FA0-4D75-9626-B161D86AA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114800"/>
            <a:ext cx="6534150" cy="838200"/>
          </a:xfrm>
          <a:prstGeom xmlns:a="http://schemas.openxmlformats.org/drawingml/2006/main" prst="roundRect">
            <a:avLst>
              <a:gd name="adj" fmla="val 14773"/>
            </a:avLst>
          </a:prstGeom>
          <a:solidFill xmlns:a="http://schemas.openxmlformats.org/drawingml/2006/main">
            <a:srgbClr val="FFF0E8"/>
          </a:solidFill>
          <a:ln xmlns:a="http://schemas.openxmlformats.org/drawingml/2006/main" w="9525">
            <a:solidFill>
              <a:srgbClr val="9A3F16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要求｜每个空间标注保留原始影像、测量方法和处理记录；关键距离回到合格测量结果确认</a:t>
            </a:r>
          </a:p>
        </p:txBody>
      </p:sp>
      <p:sp>
        <p:nvSpPr>
          <p:cNvPr id="10" name="s10-takeaway-rule">
            <a:extLst xmlns:a="http://schemas.openxmlformats.org/drawingml/2006/main">
              <a:ext uri="{FF2B5EF4-FFF2-40B4-BE49-F238E27FC236}">
                <a16:creationId xmlns:a16="http://schemas.microsoft.com/office/drawing/2014/main" id="{211551A7-FC11-4E02-B248-0161774A7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76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783F"/>
          </a:solidFill>
          <a:ln xmlns:a="http://schemas.openxmlformats.org/drawingml/2006/main" w="0">
            <a:solidFill>
              <a:srgbClr val="E5783F"/>
            </a:solidFill>
            <a:prstDash val="solid"/>
          </a:ln>
        </p:spPr>
      </p:sp>
      <p:sp>
        <p:nvSpPr>
          <p:cNvPr id="11" name="s10-takeaway">
            <a:extLst xmlns:a="http://schemas.openxmlformats.org/drawingml/2006/main">
              <a:ext uri="{FF2B5EF4-FFF2-40B4-BE49-F238E27FC236}">
                <a16:creationId xmlns:a16="http://schemas.microsoft.com/office/drawing/2014/main" id="{5A6E33DF-3157-4B05-B559-9360AE050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673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三维模型辅助复查，不能替代原始测量</a:t>
            </a:r>
          </a:p>
        </p:txBody>
      </p:sp>
    </p:spTree>
    <p:extLst>
      <p:ext uri="{BB962C8B-B14F-4D97-AF65-F5344CB8AC3E}">
        <p14:creationId xmlns:p14="http://schemas.microsoft.com/office/powerpoint/2010/main" val="158419937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11-rule">
            <a:extLst xmlns:a="http://schemas.openxmlformats.org/drawingml/2006/main">
              <a:ext uri="{FF2B5EF4-FFF2-40B4-BE49-F238E27FC236}">
                <a16:creationId xmlns:a16="http://schemas.microsoft.com/office/drawing/2014/main" id="{6F9BEF43-0B3F-4D1C-AD6D-97B81F320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783F"/>
          </a:solidFill>
          <a:ln xmlns:a="http://schemas.openxmlformats.org/drawingml/2006/main" w="0">
            <a:solidFill>
              <a:srgbClr val="E5783F"/>
            </a:solidFill>
            <a:prstDash val="solid"/>
          </a:ln>
        </p:spPr>
      </p:sp>
      <p:sp>
        <p:nvSpPr>
          <p:cNvPr id="2" name="s11-eyebrow">
            <a:extLst xmlns:a="http://schemas.openxmlformats.org/drawingml/2006/main">
              <a:ext uri="{FF2B5EF4-FFF2-40B4-BE49-F238E27FC236}">
                <a16:creationId xmlns:a16="http://schemas.microsoft.com/office/drawing/2014/main" id="{5247D96B-B11A-4D83-9369-97CFC4EDD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动手实践</a:t>
            </a:r>
          </a:p>
        </p:txBody>
      </p:sp>
      <p:sp>
        <p:nvSpPr>
          <p:cNvPr id="3" name="s11-title">
            <a:extLst xmlns:a="http://schemas.openxmlformats.org/drawingml/2006/main">
              <a:ext uri="{FF2B5EF4-FFF2-40B4-BE49-F238E27FC236}">
                <a16:creationId xmlns:a16="http://schemas.microsoft.com/office/drawing/2014/main" id="{D5D61672-3BB1-49F0-830C-C17059A4B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应急与火灾调查：一次可验收练习</a:t>
            </a:r>
          </a:p>
        </p:txBody>
      </p:sp>
      <p:sp>
        <p:nvSpPr>
          <p:cNvPr id="4" name="s11-footer">
            <a:extLst xmlns:a="http://schemas.openxmlformats.org/drawingml/2006/main">
              <a:ext uri="{FF2B5EF4-FFF2-40B4-BE49-F238E27FC236}">
                <a16:creationId xmlns:a16="http://schemas.microsoft.com/office/drawing/2014/main" id="{D7B76D0C-39D2-48B2-B1E2-B6D38F3C2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11-identity">
            <a:extLst xmlns:a="http://schemas.openxmlformats.org/drawingml/2006/main">
              <a:ext uri="{FF2B5EF4-FFF2-40B4-BE49-F238E27FC236}">
                <a16:creationId xmlns:a16="http://schemas.microsoft.com/office/drawing/2014/main" id="{78C7B410-9220-4649-915F-353359030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IN-007 · IN-007-S11</a:t>
            </a:r>
          </a:p>
        </p:txBody>
      </p:sp>
      <p:sp>
        <p:nvSpPr>
          <p:cNvPr id="6" name="practice-circle-0">
            <a:extLst xmlns:a="http://schemas.openxmlformats.org/drawingml/2006/main">
              <a:ext uri="{FF2B5EF4-FFF2-40B4-BE49-F238E27FC236}">
                <a16:creationId xmlns:a16="http://schemas.microsoft.com/office/drawing/2014/main" id="{2275E827-27E4-422B-A96C-78B9D247B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5850" y="20383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44027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7" name="practice-number-0">
            <a:extLst xmlns:a="http://schemas.openxmlformats.org/drawingml/2006/main">
              <a:ext uri="{FF2B5EF4-FFF2-40B4-BE49-F238E27FC236}">
                <a16:creationId xmlns:a16="http://schemas.microsoft.com/office/drawing/2014/main" id="{1C18E4A5-EFC4-4344-B98B-6EB81068D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8250" y="2181225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8" name="practice-item-0">
            <a:extLst xmlns:a="http://schemas.openxmlformats.org/drawingml/2006/main">
              <a:ext uri="{FF2B5EF4-FFF2-40B4-BE49-F238E27FC236}">
                <a16:creationId xmlns:a16="http://schemas.microsoft.com/office/drawing/2014/main" id="{5E27C023-BDBC-4FFE-A492-FE4DDAD79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52750"/>
            <a:ext cx="3035300" cy="2095500"/>
          </a:xfrm>
          <a:prstGeom xmlns:a="http://schemas.openxmlformats.org/drawingml/2006/main" prst="roundRect">
            <a:avLst>
              <a:gd name="adj" fmla="val 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为照片、视频、物证、询问笔录和设备日志设计一张登记表，至少包含来源、时间、位置、完整性、流转和访问字段</a:t>
            </a:r>
          </a:p>
        </p:txBody>
      </p:sp>
      <p:sp>
        <p:nvSpPr>
          <p:cNvPr id="9" name="practice-connector-0">
            <a:extLst xmlns:a="http://schemas.openxmlformats.org/drawingml/2006/main">
              <a:ext uri="{FF2B5EF4-FFF2-40B4-BE49-F238E27FC236}">
                <a16:creationId xmlns:a16="http://schemas.microsoft.com/office/drawing/2014/main" id="{B621C5D7-22A7-4B4A-9DE3-38CD5C4E6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4500" y="2343150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9A3F16"/>
            </a:solidFill>
            <a:prstDash val="solid"/>
          </a:ln>
        </p:spPr>
      </p:sp>
      <p:sp>
        <p:nvSpPr>
          <p:cNvPr id="10" name="practice-circle-1">
            <a:extLst xmlns:a="http://schemas.openxmlformats.org/drawingml/2006/main">
              <a:ext uri="{FF2B5EF4-FFF2-40B4-BE49-F238E27FC236}">
                <a16:creationId xmlns:a16="http://schemas.microsoft.com/office/drawing/2014/main" id="{05D15C96-C95D-43EE-85EE-180B09FB3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0383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44027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1" name="practice-number-1">
            <a:extLst xmlns:a="http://schemas.openxmlformats.org/drawingml/2006/main">
              <a:ext uri="{FF2B5EF4-FFF2-40B4-BE49-F238E27FC236}">
                <a16:creationId xmlns:a16="http://schemas.microsoft.com/office/drawing/2014/main" id="{7E6E25C8-C258-4361-8DDE-7CE230AA6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181225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2" name="practice-item-1">
            <a:extLst xmlns:a="http://schemas.openxmlformats.org/drawingml/2006/main">
              <a:ext uri="{FF2B5EF4-FFF2-40B4-BE49-F238E27FC236}">
                <a16:creationId xmlns:a16="http://schemas.microsoft.com/office/drawing/2014/main" id="{D10A0A92-96A8-4E5B-BDD1-62A500491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8350" y="2952750"/>
            <a:ext cx="3035300" cy="2095500"/>
          </a:xfrm>
          <a:prstGeom xmlns:a="http://schemas.openxmlformats.org/drawingml/2006/main" prst="roundRect">
            <a:avLst>
              <a:gd name="adj" fmla="val 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针对两个竞争性原因假设制作矩阵，分别写出支持、反证、替代解释和三项待补材料，不给出最终结论</a:t>
            </a:r>
          </a:p>
        </p:txBody>
      </p:sp>
      <p:sp>
        <p:nvSpPr>
          <p:cNvPr id="13" name="practice-connector-1">
            <a:extLst xmlns:a="http://schemas.openxmlformats.org/drawingml/2006/main">
              <a:ext uri="{FF2B5EF4-FFF2-40B4-BE49-F238E27FC236}">
                <a16:creationId xmlns:a16="http://schemas.microsoft.com/office/drawing/2014/main" id="{DC5B2F78-D733-4921-8831-0A3D02FB6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2343150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9A3F16"/>
            </a:solidFill>
            <a:prstDash val="solid"/>
          </a:ln>
        </p:spPr>
      </p:sp>
      <p:sp>
        <p:nvSpPr>
          <p:cNvPr id="14" name="practice-circle-2">
            <a:extLst xmlns:a="http://schemas.openxmlformats.org/drawingml/2006/main">
              <a:ext uri="{FF2B5EF4-FFF2-40B4-BE49-F238E27FC236}">
                <a16:creationId xmlns:a16="http://schemas.microsoft.com/office/drawing/2014/main" id="{212F72CC-F383-4C88-AC0F-8D7BA6DE7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550" y="20383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3F16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5" name="practice-number-2">
            <a:extLst xmlns:a="http://schemas.openxmlformats.org/drawingml/2006/main">
              <a:ext uri="{FF2B5EF4-FFF2-40B4-BE49-F238E27FC236}">
                <a16:creationId xmlns:a16="http://schemas.microsoft.com/office/drawing/2014/main" id="{509E28A3-309C-4DD8-A2DA-BD7ECE7DB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8950" y="2181225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6" name="practice-item-2">
            <a:extLst xmlns:a="http://schemas.openxmlformats.org/drawingml/2006/main">
              <a:ext uri="{FF2B5EF4-FFF2-40B4-BE49-F238E27FC236}">
                <a16:creationId xmlns:a16="http://schemas.microsoft.com/office/drawing/2014/main" id="{F89D0188-33E0-483C-B563-F0DE8CEFF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3700" y="2952750"/>
            <a:ext cx="3035300" cy="2095500"/>
          </a:xfrm>
          <a:prstGeom xmlns:a="http://schemas.openxmlformats.org/drawingml/2006/main" prst="roundRect">
            <a:avLst>
              <a:gd name="adj" fmla="val 8182"/>
            </a:avLst>
          </a:prstGeom>
          <a:solidFill xmlns:a="http://schemas.openxmlformats.org/drawingml/2006/main">
            <a:srgbClr val="FFF0E8"/>
          </a:solidFill>
          <a:ln xmlns:a="http://schemas.openxmlformats.org/drawingml/2006/main" w="19050">
            <a:solidFill>
              <a:srgbClr val="9A3F16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画出从资料副本进入 AI 系统到调查人员签署报告的流程，标出法规核验、专家复核、权限检查与模型停用点</a:t>
            </a:r>
          </a:p>
        </p:txBody>
      </p:sp>
    </p:spTree>
    <p:extLst>
      <p:ext uri="{BB962C8B-B14F-4D97-AF65-F5344CB8AC3E}">
        <p14:creationId xmlns:p14="http://schemas.microsoft.com/office/powerpoint/2010/main" val="55105019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12-rule">
            <a:extLst xmlns:a="http://schemas.openxmlformats.org/drawingml/2006/main">
              <a:ext uri="{FF2B5EF4-FFF2-40B4-BE49-F238E27FC236}">
                <a16:creationId xmlns:a16="http://schemas.microsoft.com/office/drawing/2014/main" id="{D87E0179-8749-4DCE-97C3-4903EC32B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783F"/>
          </a:solidFill>
          <a:ln xmlns:a="http://schemas.openxmlformats.org/drawingml/2006/main" w="0">
            <a:solidFill>
              <a:srgbClr val="E5783F"/>
            </a:solidFill>
            <a:prstDash val="solid"/>
          </a:ln>
        </p:spPr>
      </p:sp>
      <p:sp>
        <p:nvSpPr>
          <p:cNvPr id="2" name="s12-eyebrow">
            <a:extLst xmlns:a="http://schemas.openxmlformats.org/drawingml/2006/main">
              <a:ext uri="{FF2B5EF4-FFF2-40B4-BE49-F238E27FC236}">
                <a16:creationId xmlns:a16="http://schemas.microsoft.com/office/drawing/2014/main" id="{9321AC41-6D5C-43CC-82B4-2B0259031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课后复盘</a:t>
            </a:r>
          </a:p>
        </p:txBody>
      </p:sp>
      <p:sp>
        <p:nvSpPr>
          <p:cNvPr id="3" name="s12-title">
            <a:extLst xmlns:a="http://schemas.openxmlformats.org/drawingml/2006/main">
              <a:ext uri="{FF2B5EF4-FFF2-40B4-BE49-F238E27FC236}">
                <a16:creationId xmlns:a16="http://schemas.microsoft.com/office/drawing/2014/main" id="{AFA9426B-4E9E-4E04-98AD-84E7A950A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应急与火灾调查：判断时先抓住三点</a:t>
            </a:r>
          </a:p>
        </p:txBody>
      </p:sp>
      <p:sp>
        <p:nvSpPr>
          <p:cNvPr id="4" name="s12-footer">
            <a:extLst xmlns:a="http://schemas.openxmlformats.org/drawingml/2006/main">
              <a:ext uri="{FF2B5EF4-FFF2-40B4-BE49-F238E27FC236}">
                <a16:creationId xmlns:a16="http://schemas.microsoft.com/office/drawing/2014/main" id="{EC9AC3BE-58A6-4AF8-9766-A862B6315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12-identity">
            <a:extLst xmlns:a="http://schemas.openxmlformats.org/drawingml/2006/main">
              <a:ext uri="{FF2B5EF4-FFF2-40B4-BE49-F238E27FC236}">
                <a16:creationId xmlns:a16="http://schemas.microsoft.com/office/drawing/2014/main" id="{0B76B3C7-1AAB-4C0F-97E4-07E857C0E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IN-007 · IN-007-S12</a:t>
            </a:r>
          </a:p>
        </p:txBody>
      </p:sp>
      <p:sp>
        <p:nvSpPr>
          <p:cNvPr id="6" name="recap-circle-0">
            <a:extLst xmlns:a="http://schemas.openxmlformats.org/drawingml/2006/main">
              <a:ext uri="{FF2B5EF4-FFF2-40B4-BE49-F238E27FC236}">
                <a16:creationId xmlns:a16="http://schemas.microsoft.com/office/drawing/2014/main" id="{22A98955-7D76-48BA-8640-9780B1DE0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5850" y="20383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44027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7" name="recap-number-0">
            <a:extLst xmlns:a="http://schemas.openxmlformats.org/drawingml/2006/main">
              <a:ext uri="{FF2B5EF4-FFF2-40B4-BE49-F238E27FC236}">
                <a16:creationId xmlns:a16="http://schemas.microsoft.com/office/drawing/2014/main" id="{CC3FAFDC-FD45-466E-92D8-2A6422E09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8250" y="2181225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8" name="recap-item-0">
            <a:extLst xmlns:a="http://schemas.openxmlformats.org/drawingml/2006/main">
              <a:ext uri="{FF2B5EF4-FFF2-40B4-BE49-F238E27FC236}">
                <a16:creationId xmlns:a16="http://schemas.microsoft.com/office/drawing/2014/main" id="{2C05DEF1-0254-4255-B8B3-9B07ADEF7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52750"/>
            <a:ext cx="3035300" cy="2095500"/>
          </a:xfrm>
          <a:prstGeom xmlns:a="http://schemas.openxmlformats.org/drawingml/2006/main" prst="roundRect">
            <a:avLst>
              <a:gd name="adj" fmla="val 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现场资料先保存，再分析</a:t>
            </a:r>
          </a:p>
        </p:txBody>
      </p:sp>
      <p:sp>
        <p:nvSpPr>
          <p:cNvPr id="9" name="recap-connector-0">
            <a:extLst xmlns:a="http://schemas.openxmlformats.org/drawingml/2006/main">
              <a:ext uri="{FF2B5EF4-FFF2-40B4-BE49-F238E27FC236}">
                <a16:creationId xmlns:a16="http://schemas.microsoft.com/office/drawing/2014/main" id="{68FA5811-7216-41E3-A3C2-39562C302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4500" y="2343150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9A3F16"/>
            </a:solidFill>
            <a:prstDash val="solid"/>
          </a:ln>
        </p:spPr>
      </p:sp>
      <p:sp>
        <p:nvSpPr>
          <p:cNvPr id="10" name="recap-circle-1">
            <a:extLst xmlns:a="http://schemas.openxmlformats.org/drawingml/2006/main">
              <a:ext uri="{FF2B5EF4-FFF2-40B4-BE49-F238E27FC236}">
                <a16:creationId xmlns:a16="http://schemas.microsoft.com/office/drawing/2014/main" id="{BB21BACC-FD9B-4D04-BA5E-5D10566A1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0383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44027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1" name="recap-number-1">
            <a:extLst xmlns:a="http://schemas.openxmlformats.org/drawingml/2006/main">
              <a:ext uri="{FF2B5EF4-FFF2-40B4-BE49-F238E27FC236}">
                <a16:creationId xmlns:a16="http://schemas.microsoft.com/office/drawing/2014/main" id="{4CC3FF8A-4952-4CFF-986F-9BFA89A1F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181225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2" name="recap-item-1">
            <a:extLst xmlns:a="http://schemas.openxmlformats.org/drawingml/2006/main">
              <a:ext uri="{FF2B5EF4-FFF2-40B4-BE49-F238E27FC236}">
                <a16:creationId xmlns:a16="http://schemas.microsoft.com/office/drawing/2014/main" id="{401A7D78-0F69-45A3-A103-3BC6265E1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8350" y="2952750"/>
            <a:ext cx="3035300" cy="2095500"/>
          </a:xfrm>
          <a:prstGeom xmlns:a="http://schemas.openxmlformats.org/drawingml/2006/main" prst="roundRect">
            <a:avLst>
              <a:gd name="adj" fmla="val 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竞争性假设能降低调查中的确认偏差</a:t>
            </a:r>
          </a:p>
        </p:txBody>
      </p:sp>
      <p:sp>
        <p:nvSpPr>
          <p:cNvPr id="13" name="recap-connector-1">
            <a:extLst xmlns:a="http://schemas.openxmlformats.org/drawingml/2006/main">
              <a:ext uri="{FF2B5EF4-FFF2-40B4-BE49-F238E27FC236}">
                <a16:creationId xmlns:a16="http://schemas.microsoft.com/office/drawing/2014/main" id="{477CC031-872E-4477-AB2B-8928E73C8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2343150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9A3F16"/>
            </a:solidFill>
            <a:prstDash val="solid"/>
          </a:ln>
        </p:spPr>
      </p:sp>
      <p:sp>
        <p:nvSpPr>
          <p:cNvPr id="14" name="recap-circle-2">
            <a:extLst xmlns:a="http://schemas.openxmlformats.org/drawingml/2006/main">
              <a:ext uri="{FF2B5EF4-FFF2-40B4-BE49-F238E27FC236}">
                <a16:creationId xmlns:a16="http://schemas.microsoft.com/office/drawing/2014/main" id="{AADF0C70-DC17-4AA1-AB9D-0A6C424A5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550" y="20383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3F16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5" name="recap-number-2">
            <a:extLst xmlns:a="http://schemas.openxmlformats.org/drawingml/2006/main">
              <a:ext uri="{FF2B5EF4-FFF2-40B4-BE49-F238E27FC236}">
                <a16:creationId xmlns:a16="http://schemas.microsoft.com/office/drawing/2014/main" id="{1086BA19-899C-4B64-B324-2949A9CB0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8950" y="2181225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6" name="recap-item-2">
            <a:extLst xmlns:a="http://schemas.openxmlformats.org/drawingml/2006/main">
              <a:ext uri="{FF2B5EF4-FFF2-40B4-BE49-F238E27FC236}">
                <a16:creationId xmlns:a16="http://schemas.microsoft.com/office/drawing/2014/main" id="{CF7F8541-15CB-4C28-A386-41F276E12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3700" y="2952750"/>
            <a:ext cx="3035300" cy="2095500"/>
          </a:xfrm>
          <a:prstGeom xmlns:a="http://schemas.openxmlformats.org/drawingml/2006/main" prst="roundRect">
            <a:avLst>
              <a:gd name="adj" fmla="val 8182"/>
            </a:avLst>
          </a:prstGeom>
          <a:solidFill xmlns:a="http://schemas.openxmlformats.org/drawingml/2006/main">
            <a:srgbClr val="FFF0E8"/>
          </a:solidFill>
          <a:ln xmlns:a="http://schemas.openxmlformats.org/drawingml/2006/main" w="19050">
            <a:solidFill>
              <a:srgbClr val="9A3F16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AI 可以整理材料，但不能替调查人员定案</a:t>
            </a:r>
          </a:p>
        </p:txBody>
      </p:sp>
    </p:spTree>
    <p:extLst>
      <p:ext uri="{BB962C8B-B14F-4D97-AF65-F5344CB8AC3E}">
        <p14:creationId xmlns:p14="http://schemas.microsoft.com/office/powerpoint/2010/main" val="33337148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13-rule">
            <a:extLst xmlns:a="http://schemas.openxmlformats.org/drawingml/2006/main">
              <a:ext uri="{FF2B5EF4-FFF2-40B4-BE49-F238E27FC236}">
                <a16:creationId xmlns:a16="http://schemas.microsoft.com/office/drawing/2014/main" id="{E94EC1EA-3431-4008-AF71-837ED0BE1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783F"/>
          </a:solidFill>
          <a:ln xmlns:a="http://schemas.openxmlformats.org/drawingml/2006/main" w="0">
            <a:solidFill>
              <a:srgbClr val="E5783F"/>
            </a:solidFill>
            <a:prstDash val="solid"/>
          </a:ln>
        </p:spPr>
      </p:sp>
      <p:sp>
        <p:nvSpPr>
          <p:cNvPr id="2" name="s13-eyebrow">
            <a:extLst xmlns:a="http://schemas.openxmlformats.org/drawingml/2006/main">
              <a:ext uri="{FF2B5EF4-FFF2-40B4-BE49-F238E27FC236}">
                <a16:creationId xmlns:a16="http://schemas.microsoft.com/office/drawing/2014/main" id="{69D5733B-70D2-4F16-A496-344DCB46B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来源与延伸</a:t>
            </a:r>
          </a:p>
        </p:txBody>
      </p:sp>
      <p:sp>
        <p:nvSpPr>
          <p:cNvPr id="3" name="s13-title">
            <a:extLst xmlns:a="http://schemas.openxmlformats.org/drawingml/2006/main">
              <a:ext uri="{FF2B5EF4-FFF2-40B4-BE49-F238E27FC236}">
                <a16:creationId xmlns:a16="http://schemas.microsoft.com/office/drawing/2014/main" id="{3D04A006-95CB-466B-945C-48EC89AD3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应急与火灾调查：依据、边界与延伸</a:t>
            </a:r>
          </a:p>
        </p:txBody>
      </p:sp>
      <p:sp>
        <p:nvSpPr>
          <p:cNvPr id="4" name="s13-footer">
            <a:extLst xmlns:a="http://schemas.openxmlformats.org/drawingml/2006/main">
              <a:ext uri="{FF2B5EF4-FFF2-40B4-BE49-F238E27FC236}">
                <a16:creationId xmlns:a16="http://schemas.microsoft.com/office/drawing/2014/main" id="{CF53A0F8-B212-4530-8C50-1A17F8279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13-identity">
            <a:extLst xmlns:a="http://schemas.openxmlformats.org/drawingml/2006/main">
              <a:ext uri="{FF2B5EF4-FFF2-40B4-BE49-F238E27FC236}">
                <a16:creationId xmlns:a16="http://schemas.microsoft.com/office/drawing/2014/main" id="{DE3A9FB3-5C74-498C-8B21-8FAC238FB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IN-007 · IN-007-S13</a:t>
            </a:r>
          </a:p>
        </p:txBody>
      </p:sp>
      <p:sp>
        <p:nvSpPr>
          <p:cNvPr id="6" name="source-0">
            <a:extLst xmlns:a="http://schemas.openxmlformats.org/drawingml/2006/main">
              <a:ext uri="{FF2B5EF4-FFF2-40B4-BE49-F238E27FC236}">
                <a16:creationId xmlns:a16="http://schemas.microsoft.com/office/drawing/2014/main" id="{8FDD991C-434D-4C53-84DB-772774D50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43100"/>
            <a:ext cx="103632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0E8"/>
          </a:solidFill>
          <a:ln xmlns:a="http://schemas.openxmlformats.org/drawingml/2006/main" w="9525">
            <a:solidFill>
              <a:srgbClr val="9A3F16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8737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01  团队既有课程资料经重新组织、改写与原创视觉重制</a:t>
            </a:r>
          </a:p>
        </p:txBody>
      </p:sp>
      <p:sp>
        <p:nvSpPr>
          <p:cNvPr id="7" name="source-1">
            <a:extLst xmlns:a="http://schemas.openxmlformats.org/drawingml/2006/main">
              <a:ext uri="{FF2B5EF4-FFF2-40B4-BE49-F238E27FC236}">
                <a16:creationId xmlns:a16="http://schemas.microsoft.com/office/drawing/2014/main" id="{8EB0ABD4-8575-4DEA-9549-E9866A8D6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28900"/>
            <a:ext cx="103632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87377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02  《中华人民共和国消防法》与应急管理部《火灾事故调查规定》：实际使用时还需核对案件所在地现行法律、规章和职责调整</a:t>
            </a:r>
          </a:p>
        </p:txBody>
      </p:sp>
      <p:sp>
        <p:nvSpPr>
          <p:cNvPr id="8" name="source-2">
            <a:extLst xmlns:a="http://schemas.openxmlformats.org/drawingml/2006/main">
              <a:ext uri="{FF2B5EF4-FFF2-40B4-BE49-F238E27FC236}">
                <a16:creationId xmlns:a16="http://schemas.microsoft.com/office/drawing/2014/main" id="{43EFA6DF-8C58-4074-9F32-2EB8CC802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14700"/>
            <a:ext cx="103632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87377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03  NFPA 921：Guide for Fire and Explosion Investigations：NFPA 官方标准开发与版本入口</a:t>
            </a:r>
          </a:p>
        </p:txBody>
      </p:sp>
      <p:sp>
        <p:nvSpPr>
          <p:cNvPr id="9" name="source-3">
            <a:extLst xmlns:a="http://schemas.openxmlformats.org/drawingml/2006/main">
              <a:ext uri="{FF2B5EF4-FFF2-40B4-BE49-F238E27FC236}">
                <a16:creationId xmlns:a16="http://schemas.microsoft.com/office/drawing/2014/main" id="{E82E5717-7225-46CE-9143-02A41633C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00500"/>
            <a:ext cx="103632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87377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04  实际调查必须使用案件所在地现行有效的法律、程序和技术规范，并由具备职责与资质的专业人员实施</a:t>
            </a:r>
          </a:p>
        </p:txBody>
      </p:sp>
      <p:sp>
        <p:nvSpPr>
          <p:cNvPr id="10" name="s13-takeaway-rule">
            <a:extLst xmlns:a="http://schemas.openxmlformats.org/drawingml/2006/main">
              <a:ext uri="{FF2B5EF4-FFF2-40B4-BE49-F238E27FC236}">
                <a16:creationId xmlns:a16="http://schemas.microsoft.com/office/drawing/2014/main" id="{B8297984-A6F4-4A8B-A5D1-385889B7C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62600"/>
            <a:ext cx="76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783F"/>
          </a:solidFill>
          <a:ln xmlns:a="http://schemas.openxmlformats.org/drawingml/2006/main" w="0">
            <a:solidFill>
              <a:srgbClr val="E5783F"/>
            </a:solidFill>
            <a:prstDash val="solid"/>
          </a:ln>
        </p:spPr>
      </p:sp>
      <p:sp>
        <p:nvSpPr>
          <p:cNvPr id="11" name="s13-takeaway">
            <a:extLst xmlns:a="http://schemas.openxmlformats.org/drawingml/2006/main">
              <a:ext uri="{FF2B5EF4-FFF2-40B4-BE49-F238E27FC236}">
                <a16:creationId xmlns:a16="http://schemas.microsoft.com/office/drawing/2014/main" id="{C023C50B-C970-4CF5-82A9-72D0A9173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5816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公开幻灯片只使用课程原创文字与原生图形；完整论证、链接和事实边界请见本节讲义。</a:t>
            </a:r>
          </a:p>
        </p:txBody>
      </p:sp>
    </p:spTree>
    <p:extLst>
      <p:ext uri="{BB962C8B-B14F-4D97-AF65-F5344CB8AC3E}">
        <p14:creationId xmlns:p14="http://schemas.microsoft.com/office/powerpoint/2010/main" val="76191399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2026-07-11T16:56:05.0890000Z</dcterms:created>
  <dcterms:modified xsi:type="dcterms:W3CDTF">2026-07-11T16:56:05.0890000Z</dcterms:modified>
</coreProperties>
</file>