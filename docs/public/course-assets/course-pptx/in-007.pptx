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5a286b3c23943ac" /><Relationship Type="http://schemas.openxmlformats.org/officeDocument/2006/relationships/extended-properties" Target="/docProps/app.xml" Id="R5f6ab9301f6c405f" /><Relationship Type="http://schemas.openxmlformats.org/officeDocument/2006/relationships/officeDocument" Target="/ppt/presentation.xml" Id="Rdbf3b820d6d24e8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f89636f008a4016"/>
  </p:sldMasterIdLst>
  <p:notesMasterIdLst>
    <p:notesMasterId xmlns:r="http://schemas.openxmlformats.org/officeDocument/2006/relationships" r:id="R9408e8d678c14b28"/>
  </p:notesMasterIdLst>
  <p:sldIdLst>
    <p:sldId xmlns:r="http://schemas.openxmlformats.org/officeDocument/2006/relationships" id="256" r:id="R23ed44c14433483b"/>
    <p:sldId xmlns:r="http://schemas.openxmlformats.org/officeDocument/2006/relationships" id="257" r:id="R50664dfb84f042fa"/>
    <p:sldId xmlns:r="http://schemas.openxmlformats.org/officeDocument/2006/relationships" id="258" r:id="R3df0da5975ec48e5"/>
    <p:sldId xmlns:r="http://schemas.openxmlformats.org/officeDocument/2006/relationships" id="259" r:id="R3dd90eefc7294805"/>
    <p:sldId xmlns:r="http://schemas.openxmlformats.org/officeDocument/2006/relationships" id="260" r:id="Rf3741d4c3c844457"/>
    <p:sldId xmlns:r="http://schemas.openxmlformats.org/officeDocument/2006/relationships" id="261" r:id="R4980395ce1a14c0c"/>
    <p:sldId xmlns:r="http://schemas.openxmlformats.org/officeDocument/2006/relationships" id="262" r:id="Re13ecb770262490d"/>
    <p:sldId xmlns:r="http://schemas.openxmlformats.org/officeDocument/2006/relationships" id="263" r:id="R3b8fb2dd7a334d87"/>
    <p:sldId xmlns:r="http://schemas.openxmlformats.org/officeDocument/2006/relationships" id="264" r:id="R12f9f4e483a84ee3"/>
    <p:sldId xmlns:r="http://schemas.openxmlformats.org/officeDocument/2006/relationships" id="265" r:id="R319c5b07337e4a43"/>
    <p:sldId xmlns:r="http://schemas.openxmlformats.org/officeDocument/2006/relationships" id="266" r:id="R743d5eaeb4fa40a6"/>
    <p:sldId xmlns:r="http://schemas.openxmlformats.org/officeDocument/2006/relationships" id="267" r:id="R9023598390284a09"/>
    <p:sldId xmlns:r="http://schemas.openxmlformats.org/officeDocument/2006/relationships" id="268" r:id="R9d840b9e649e4bcf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d3be2d3720a4b6d" /><Relationship Type="http://schemas.openxmlformats.org/officeDocument/2006/relationships/slideMaster" Target="/ppt/slideMasters/slideMaster1.xml" Id="R2f89636f008a4016" /><Relationship Type="http://schemas.openxmlformats.org/officeDocument/2006/relationships/notesMaster" Target="/ppt/notesMasters/notesMaster1.xml" Id="R9408e8d678c14b28" /><Relationship Type="http://schemas.openxmlformats.org/officeDocument/2006/relationships/presProps" Target="/ppt/presProps.xml" Id="R2da1a60c31a94742" /><Relationship Type="http://schemas.openxmlformats.org/officeDocument/2006/relationships/tableStyles" Target="/ppt/tableStyles.xml" Id="Ra094afa73cac4e79" /><Relationship Type="http://schemas.openxmlformats.org/officeDocument/2006/relationships/slide" Target="/ppt/slides/slide1.xml" Id="R23ed44c14433483b" /><Relationship Type="http://schemas.openxmlformats.org/officeDocument/2006/relationships/slide" Target="/ppt/slides/slide2.xml" Id="R50664dfb84f042fa" /><Relationship Type="http://schemas.openxmlformats.org/officeDocument/2006/relationships/slide" Target="/ppt/slides/slide3.xml" Id="R3df0da5975ec48e5" /><Relationship Type="http://schemas.openxmlformats.org/officeDocument/2006/relationships/slide" Target="/ppt/slides/slide4.xml" Id="R3dd90eefc7294805" /><Relationship Type="http://schemas.openxmlformats.org/officeDocument/2006/relationships/slide" Target="/ppt/slides/slide5.xml" Id="Rf3741d4c3c844457" /><Relationship Type="http://schemas.openxmlformats.org/officeDocument/2006/relationships/slide" Target="/ppt/slides/slide6.xml" Id="R4980395ce1a14c0c" /><Relationship Type="http://schemas.openxmlformats.org/officeDocument/2006/relationships/slide" Target="/ppt/slides/slide7.xml" Id="Re13ecb770262490d" /><Relationship Type="http://schemas.openxmlformats.org/officeDocument/2006/relationships/slide" Target="/ppt/slides/slide8.xml" Id="R3b8fb2dd7a334d87" /><Relationship Type="http://schemas.openxmlformats.org/officeDocument/2006/relationships/slide" Target="/ppt/slides/slide9.xml" Id="R12f9f4e483a84ee3" /><Relationship Type="http://schemas.openxmlformats.org/officeDocument/2006/relationships/slide" Target="/ppt/slides/slide10.xml" Id="R319c5b07337e4a43" /><Relationship Type="http://schemas.openxmlformats.org/officeDocument/2006/relationships/slide" Target="/ppt/slides/slide11.xml" Id="R743d5eaeb4fa40a6" /><Relationship Type="http://schemas.openxmlformats.org/officeDocument/2006/relationships/slide" Target="/ppt/slides/slide12.xml" Id="R9023598390284a09" /><Relationship Type="http://schemas.openxmlformats.org/officeDocument/2006/relationships/slide" Target="/ppt/slides/slide13.xml" Id="R9d840b9e649e4b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61762b21fc4fc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801d6f68bd4850" /><Relationship Type="http://schemas.openxmlformats.org/officeDocument/2006/relationships/notesMaster" Target="/ppt/notesMasters/notesMaster1.xml" Id="Rcb182e2145d6447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60f4400109b4f4c" /><Relationship Type="http://schemas.openxmlformats.org/officeDocument/2006/relationships/notesMaster" Target="/ppt/notesMasters/notesMaster1.xml" Id="R93fc57a76516482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df35fd97634505" /><Relationship Type="http://schemas.openxmlformats.org/officeDocument/2006/relationships/notesMaster" Target="/ppt/notesMasters/notesMaster1.xml" Id="R85464e71cdc44e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fd94e75b5342f0" /><Relationship Type="http://schemas.openxmlformats.org/officeDocument/2006/relationships/notesMaster" Target="/ppt/notesMasters/notesMaster1.xml" Id="R154f9c3873624be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d2b3e7d107d419a" /><Relationship Type="http://schemas.openxmlformats.org/officeDocument/2006/relationships/notesMaster" Target="/ppt/notesMasters/notesMaster1.xml" Id="R56fa05ef590045c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59df098e7940fb" /><Relationship Type="http://schemas.openxmlformats.org/officeDocument/2006/relationships/notesMaster" Target="/ppt/notesMasters/notesMaster1.xml" Id="R07aabe846b62490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57641846fa142d3" /><Relationship Type="http://schemas.openxmlformats.org/officeDocument/2006/relationships/notesMaster" Target="/ppt/notesMasters/notesMaster1.xml" Id="R4e8ebae2d66a4c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2784143a3524bd4" /><Relationship Type="http://schemas.openxmlformats.org/officeDocument/2006/relationships/notesMaster" Target="/ppt/notesMasters/notesMaster1.xml" Id="R6ccfb74a84514c8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d53827f00b64e4b" /><Relationship Type="http://schemas.openxmlformats.org/officeDocument/2006/relationships/notesMaster" Target="/ppt/notesMasters/notesMaster1.xml" Id="Rcb84824d2af9453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e71c2e538bd488b" /><Relationship Type="http://schemas.openxmlformats.org/officeDocument/2006/relationships/notesMaster" Target="/ppt/notesMasters/notesMaster1.xml" Id="Ra05d076b378f46c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dce8c4e586d46cc" /><Relationship Type="http://schemas.openxmlformats.org/officeDocument/2006/relationships/notesMaster" Target="/ppt/notesMasters/notesMaster1.xml" Id="Rdcd7ba9fad7f419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f6860e1d8d941a1" /><Relationship Type="http://schemas.openxmlformats.org/officeDocument/2006/relationships/notesMaster" Target="/ppt/notesMasters/notesMaster1.xml" Id="Ra3d698a5f88f43e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37a30f43fc942cc" /><Relationship Type="http://schemas.openxmlformats.org/officeDocument/2006/relationships/notesMaster" Target="/ppt/notesMasters/notesMaster1.xml" Id="R90f183116d1045c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428e44985764f6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bcf5d328d04205" /><Relationship Type="http://schemas.openxmlformats.org/officeDocument/2006/relationships/slideLayout" Target="/ppt/slideLayouts/slideLayout1.xml" Id="Refbfc27d080f46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bfc27d080f46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25536dd6754f7b" /><Relationship Type="http://schemas.openxmlformats.org/officeDocument/2006/relationships/notesSlide" Target="/ppt/notesSlides/notesSlide1.xml" Id="Rd6dd07131d6f4cc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73a514b3754245" /><Relationship Type="http://schemas.openxmlformats.org/officeDocument/2006/relationships/notesSlide" Target="/ppt/notesSlides/notesSlide2.xml" Id="R09d505d164564a2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f07d6bebb74801" /><Relationship Type="http://schemas.openxmlformats.org/officeDocument/2006/relationships/notesSlide" Target="/ppt/notesSlides/notesSlide3.xml" Id="R95e04cd51ae746d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9a832dae9d496f" /><Relationship Type="http://schemas.openxmlformats.org/officeDocument/2006/relationships/notesSlide" Target="/ppt/notesSlides/notesSlide4.xml" Id="R8ca4de37be1444a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f9c7a22eb44bbe" /><Relationship Type="http://schemas.openxmlformats.org/officeDocument/2006/relationships/notesSlide" Target="/ppt/notesSlides/notesSlide5.xml" Id="R76c1c6449f4a4b2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a540656a124d74" /><Relationship Type="http://schemas.openxmlformats.org/officeDocument/2006/relationships/notesSlide" Target="/ppt/notesSlides/notesSlide6.xml" Id="Rd39bc50f45d5440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6c747fb95438f" /><Relationship Type="http://schemas.openxmlformats.org/officeDocument/2006/relationships/notesSlide" Target="/ppt/notesSlides/notesSlide7.xml" Id="R94cc5f4caaba48e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b6f9f4ff645d6" /><Relationship Type="http://schemas.openxmlformats.org/officeDocument/2006/relationships/notesSlide" Target="/ppt/notesSlides/notesSlide8.xml" Id="Rce0d2af2b992486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a5d8a5cca043c1" /><Relationship Type="http://schemas.openxmlformats.org/officeDocument/2006/relationships/notesSlide" Target="/ppt/notesSlides/notesSlide9.xml" Id="R3ac304688c9a4bc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6b91a26dfc41ff" /><Relationship Type="http://schemas.openxmlformats.org/officeDocument/2006/relationships/notesSlide" Target="/ppt/notesSlides/notesSlide10.xml" Id="Re06635449531433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8a06fe4ae924631" /><Relationship Type="http://schemas.openxmlformats.org/officeDocument/2006/relationships/notesSlide" Target="/ppt/notesSlides/notesSlide11.xml" Id="R313825130c0145e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cf769bdabe49ac" /><Relationship Type="http://schemas.openxmlformats.org/officeDocument/2006/relationships/notesSlide" Target="/ppt/notesSlides/notesSlide12.xml" Id="Rb121606881b348c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54c098af1b4a5d" /><Relationship Type="http://schemas.openxmlformats.org/officeDocument/2006/relationships/notesSlide" Target="/ppt/notesSlides/notesSlide13.xml" Id="R04233a5bd6a945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F3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rule">
            <a:extLst xmlns:a="http://schemas.openxmlformats.org/drawingml/2006/main">
              <a:ext uri="{FF2B5EF4-FFF2-40B4-BE49-F238E27FC236}">
                <a16:creationId xmlns:a16="http://schemas.microsoft.com/office/drawing/2014/main" id="{F88FF52A-1CB7-42E3-8536-CC500F47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14300" cy="466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cover-ring-1">
            <a:extLst xmlns:a="http://schemas.openxmlformats.org/drawingml/2006/main">
              <a:ext uri="{FF2B5EF4-FFF2-40B4-BE49-F238E27FC236}">
                <a16:creationId xmlns:a16="http://schemas.microsoft.com/office/drawing/2014/main" id="{AB5C7883-3EE6-42B6-94ED-DDDBD5027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066800"/>
            <a:ext cx="2857500" cy="2857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57150">
            <a:solidFill>
              <a:srgbClr val="1459C7"/>
            </a:solidFill>
            <a:prstDash val="solid"/>
          </a:ln>
        </p:spPr>
      </p:sp>
      <p:sp>
        <p:nvSpPr>
          <p:cNvPr id="3" name="cover-ring-2">
            <a:extLst xmlns:a="http://schemas.openxmlformats.org/drawingml/2006/main">
              <a:ext uri="{FF2B5EF4-FFF2-40B4-BE49-F238E27FC236}">
                <a16:creationId xmlns:a16="http://schemas.microsoft.com/office/drawing/2014/main" id="{9235E230-064A-4250-9198-98DFA899A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619250"/>
            <a:ext cx="1752600" cy="17526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4" name="cover-core">
            <a:extLst xmlns:a="http://schemas.openxmlformats.org/drawingml/2006/main">
              <a:ext uri="{FF2B5EF4-FFF2-40B4-BE49-F238E27FC236}">
                <a16:creationId xmlns:a16="http://schemas.microsoft.com/office/drawing/2014/main" id="{D55D2F3B-F1E8-4938-BCD3-10AF0967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1907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5" name="cover-line-1">
            <a:extLst xmlns:a="http://schemas.openxmlformats.org/drawingml/2006/main">
              <a:ext uri="{FF2B5EF4-FFF2-40B4-BE49-F238E27FC236}">
                <a16:creationId xmlns:a16="http://schemas.microsoft.com/office/drawing/2014/main" id="{6FF4F628-4C96-4082-B71C-C870F97B0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76750"/>
            <a:ext cx="3371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1459C7"/>
            </a:solidFill>
            <a:prstDash val="solid"/>
          </a:ln>
        </p:spPr>
      </p:sp>
      <p:sp>
        <p:nvSpPr>
          <p:cNvPr id="6" name="cover-line-2">
            <a:extLst xmlns:a="http://schemas.openxmlformats.org/drawingml/2006/main">
              <a:ext uri="{FF2B5EF4-FFF2-40B4-BE49-F238E27FC236}">
                <a16:creationId xmlns:a16="http://schemas.microsoft.com/office/drawing/2014/main" id="{974851D2-983B-4D1F-AD3E-1EDA9E29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4895850"/>
            <a:ext cx="2667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E5783F"/>
            </a:solidFill>
            <a:prstDash val="solid"/>
          </a:ln>
        </p:spPr>
      </p:sp>
      <p:sp>
        <p:nvSpPr>
          <p:cNvPr id="7" name="cover-eyebrow">
            <a:extLst xmlns:a="http://schemas.openxmlformats.org/drawingml/2006/main">
              <a:ext uri="{FF2B5EF4-FFF2-40B4-BE49-F238E27FC236}">
                <a16:creationId xmlns:a16="http://schemas.microsoft.com/office/drawing/2014/main" id="{D1CFE6DA-C702-4750-A392-7864003ED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876300"/>
            <a:ext cx="5334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第 4 章 · 行业应用</a:t>
            </a:r>
          </a:p>
        </p:txBody>
      </p:sp>
      <p:sp>
        <p:nvSpPr>
          <p:cNvPr id="8" name="cover-title">
            <a:extLst xmlns:a="http://schemas.openxmlformats.org/drawingml/2006/main">
              <a:ext uri="{FF2B5EF4-FFF2-40B4-BE49-F238E27FC236}">
                <a16:creationId xmlns:a16="http://schemas.microsoft.com/office/drawing/2014/main" id="{B6A8CF33-4792-43C3-9CDE-21B68627F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504950"/>
            <a:ext cx="68580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46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应急管理与火灾调查</a:t>
            </a:r>
          </a:p>
        </p:txBody>
      </p:sp>
      <p:sp>
        <p:nvSpPr>
          <p:cNvPr id="9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00DC82D3-36AA-402A-A2DC-34985036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14650"/>
            <a:ext cx="6477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defRPr>
            </a:pPr>
            <a:r>
              <a:rPr sz="2175">
                <a:solidFill>
                  <a:srgbClr val="DDEBFA"/>
                </a:solidFill>
                <a:latin typeface="PingFang SC"/>
                <a:ea typeface="PingFang SC"/>
                <a:cs typeface="PingFang SC"/>
              </a:rPr>
              <a:t>以火灾调查辅助专家模型为例，理解证据链、法规知识、专业判断和责任边界。</a:t>
            </a:r>
          </a:p>
        </p:txBody>
      </p:sp>
      <p:sp>
        <p:nvSpPr>
          <p:cNvPr id="10" name="cover-lead">
            <a:extLst xmlns:a="http://schemas.openxmlformats.org/drawingml/2006/main">
              <a:ext uri="{FF2B5EF4-FFF2-40B4-BE49-F238E27FC236}">
                <a16:creationId xmlns:a16="http://schemas.microsoft.com/office/drawing/2014/main" id="{066DD42E-48D9-40AD-A38D-E9F484E1B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0530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575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火灾应急响应首先关注救援、控制危险和保护人员；火灾调查则在符合法定程序的前提下，保存和审查现场资料，重建事件过程并评价不同原因假设。两项工作会共享时间、位置和处置记录，但目的…</a:t>
            </a:r>
          </a:p>
        </p:txBody>
      </p:sp>
      <p:sp>
        <p:nvSpPr>
          <p:cNvPr id="11" name="cover-course">
            <a:extLst xmlns:a="http://schemas.openxmlformats.org/drawingml/2006/main">
              <a:ext uri="{FF2B5EF4-FFF2-40B4-BE49-F238E27FC236}">
                <a16:creationId xmlns:a16="http://schemas.microsoft.com/office/drawing/2014/main" id="{03F42832-FD4E-4CE4-8DEC-D1E931D6C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7340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350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陈龙彪团队人工智能公开课</a:t>
            </a:r>
          </a:p>
        </p:txBody>
      </p:sp>
      <p:sp>
        <p:nvSpPr>
          <p:cNvPr id="12" name="cover-id">
            <a:extLst xmlns:a="http://schemas.openxmlformats.org/drawingml/2006/main">
              <a:ext uri="{FF2B5EF4-FFF2-40B4-BE49-F238E27FC236}">
                <a16:creationId xmlns:a16="http://schemas.microsoft.com/office/drawing/2014/main" id="{65027B9B-AE71-4859-9950-E4EA0AD2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734050"/>
            <a:ext cx="2190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IN-007 · IN-007-S01</a:t>
            </a:r>
          </a:p>
        </p:txBody>
      </p:sp>
    </p:spTree>
    <p:extLst>
      <p:ext uri="{BB962C8B-B14F-4D97-AF65-F5344CB8AC3E}">
        <p14:creationId xmlns:p14="http://schemas.microsoft.com/office/powerpoint/2010/main" val="38732071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2-rule">
            <a:extLst xmlns:a="http://schemas.openxmlformats.org/drawingml/2006/main">
              <a:ext uri="{FF2B5EF4-FFF2-40B4-BE49-F238E27FC236}">
                <a16:creationId xmlns:a16="http://schemas.microsoft.com/office/drawing/2014/main" id="{E5379681-405D-4EAB-82D9-A05A02FC6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2-eyebrow">
            <a:extLst xmlns:a="http://schemas.openxmlformats.org/drawingml/2006/main">
              <a:ext uri="{FF2B5EF4-FFF2-40B4-BE49-F238E27FC236}">
                <a16:creationId xmlns:a16="http://schemas.microsoft.com/office/drawing/2014/main" id="{836F04E2-522A-4B82-8DAC-FB675B291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学习结果</a:t>
            </a:r>
          </a:p>
        </p:txBody>
      </p:sp>
      <p:sp>
        <p:nvSpPr>
          <p:cNvPr id="3" name="s2-title">
            <a:extLst xmlns:a="http://schemas.openxmlformats.org/drawingml/2006/main">
              <a:ext uri="{FF2B5EF4-FFF2-40B4-BE49-F238E27FC236}">
                <a16:creationId xmlns:a16="http://schemas.microsoft.com/office/drawing/2014/main" id="{53EC8BB8-BB42-4DC8-86F7-073FE235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学完这一节，你能完成这些判断与行动</a:t>
            </a:r>
          </a:p>
        </p:txBody>
      </p:sp>
      <p:sp>
        <p:nvSpPr>
          <p:cNvPr id="4" name="s2-footer">
            <a:extLst xmlns:a="http://schemas.openxmlformats.org/drawingml/2006/main">
              <a:ext uri="{FF2B5EF4-FFF2-40B4-BE49-F238E27FC236}">
                <a16:creationId xmlns:a16="http://schemas.microsoft.com/office/drawing/2014/main" id="{07041927-3B26-4E57-81A2-47921C19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2-identity">
            <a:extLst xmlns:a="http://schemas.openxmlformats.org/drawingml/2006/main">
              <a:ext uri="{FF2B5EF4-FFF2-40B4-BE49-F238E27FC236}">
                <a16:creationId xmlns:a16="http://schemas.microsoft.com/office/drawing/2014/main" id="{AC90A4A9-EB59-4672-B43C-901CDB527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IN-007-S02</a:t>
            </a:r>
          </a:p>
        </p:txBody>
      </p:sp>
      <p:sp>
        <p:nvSpPr>
          <p:cNvPr id="6" name="objective-1">
            <a:extLst xmlns:a="http://schemas.openxmlformats.org/drawingml/2006/main">
              <a:ext uri="{FF2B5EF4-FFF2-40B4-BE49-F238E27FC236}">
                <a16:creationId xmlns:a16="http://schemas.microsoft.com/office/drawing/2014/main" id="{78894A25-2B6F-4F59-8B1E-031C69DE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01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说明现场影像、物证、询问、设备记录和处置记录各自能支持什么判断</a:t>
            </a:r>
          </a:p>
        </p:txBody>
      </p:sp>
      <p:sp>
        <p:nvSpPr>
          <p:cNvPr id="7" name="objective-2">
            <a:extLst xmlns:a="http://schemas.openxmlformats.org/drawingml/2006/main">
              <a:ext uri="{FF2B5EF4-FFF2-40B4-BE49-F238E27FC236}">
                <a16:creationId xmlns:a16="http://schemas.microsoft.com/office/drawing/2014/main" id="{ACD06A94-F237-4513-A1B8-964BBEAA2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00025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02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为数字与实物资料设计来源、完整性、流转和访问记录</a:t>
            </a:r>
          </a:p>
        </p:txBody>
      </p:sp>
      <p:sp>
        <p:nvSpPr>
          <p:cNvPr id="8" name="objective-3">
            <a:extLst xmlns:a="http://schemas.openxmlformats.org/drawingml/2006/main">
              <a:ext uri="{FF2B5EF4-FFF2-40B4-BE49-F238E27FC236}">
                <a16:creationId xmlns:a16="http://schemas.microsoft.com/office/drawing/2014/main" id="{B0F13EF6-C3D7-4AFB-930D-3946F5C5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03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使用多个竞争性假设组织支持证据、反证、替代解释与待补材料</a:t>
            </a:r>
          </a:p>
        </p:txBody>
      </p:sp>
      <p:sp>
        <p:nvSpPr>
          <p:cNvPr id="9" name="objective-4">
            <a:extLst xmlns:a="http://schemas.openxmlformats.org/drawingml/2006/main">
              <a:ext uri="{FF2B5EF4-FFF2-40B4-BE49-F238E27FC236}">
                <a16:creationId xmlns:a16="http://schemas.microsoft.com/office/drawing/2014/main" id="{FF68AAA3-296C-4814-BDA1-4833D22C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695700"/>
            <a:ext cx="4953000" cy="1466850"/>
          </a:xfrm>
          <a:prstGeom xmlns:a="http://schemas.openxmlformats.org/drawingml/2006/main" prst="roundRect">
            <a:avLst>
              <a:gd name="adj" fmla="val 11688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04</a:t>
            </a:r>
          </a:p>
          <a:p xmlns:a="http://schemas.openxmlformats.org/drawingml/2006/main">
            <a:pPr algn="l">
              <a:def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8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区分模型提取、专家意见和依法形成的调查结论，明确模型不能定案</a:t>
            </a:r>
          </a:p>
        </p:txBody>
      </p:sp>
    </p:spTree>
    <p:extLst>
      <p:ext uri="{BB962C8B-B14F-4D97-AF65-F5344CB8AC3E}">
        <p14:creationId xmlns:p14="http://schemas.microsoft.com/office/powerpoint/2010/main" val="18384904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3-rule">
            <a:extLst xmlns:a="http://schemas.openxmlformats.org/drawingml/2006/main">
              <a:ext uri="{FF2B5EF4-FFF2-40B4-BE49-F238E27FC236}">
                <a16:creationId xmlns:a16="http://schemas.microsoft.com/office/drawing/2014/main" id="{F6396084-8BC0-4809-8624-EF2BDA6C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3-eyebrow">
            <a:extLst xmlns:a="http://schemas.openxmlformats.org/drawingml/2006/main">
              <a:ext uri="{FF2B5EF4-FFF2-40B4-BE49-F238E27FC236}">
                <a16:creationId xmlns:a16="http://schemas.microsoft.com/office/drawing/2014/main" id="{40D3A2DD-C281-4E13-BC9F-4A2CBCF54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1 / 6</a:t>
            </a:r>
          </a:p>
        </p:txBody>
      </p:sp>
      <p:sp>
        <p:nvSpPr>
          <p:cNvPr id="3" name="s3-title">
            <a:extLst xmlns:a="http://schemas.openxmlformats.org/drawingml/2006/main">
              <a:ext uri="{FF2B5EF4-FFF2-40B4-BE49-F238E27FC236}">
                <a16:creationId xmlns:a16="http://schemas.microsoft.com/office/drawing/2014/main" id="{5BF7310B-3251-4687-A529-D6DBE84A5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  <p:sp>
        <p:nvSpPr>
          <p:cNvPr id="4" name="s3-footer">
            <a:extLst xmlns:a="http://schemas.openxmlformats.org/drawingml/2006/main">
              <a:ext uri="{FF2B5EF4-FFF2-40B4-BE49-F238E27FC236}">
                <a16:creationId xmlns:a16="http://schemas.microsoft.com/office/drawing/2014/main" id="{5549221B-AD75-4B8C-ABF7-5893B5C6E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3-identity">
            <a:extLst xmlns:a="http://schemas.openxmlformats.org/drawingml/2006/main">
              <a:ext uri="{FF2B5EF4-FFF2-40B4-BE49-F238E27FC236}">
                <a16:creationId xmlns:a16="http://schemas.microsoft.com/office/drawing/2014/main" id="{1FCDC332-248C-48CB-8E1F-FE3D85D97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IN-007-S03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F4E1137C-AAEC-4F8A-A2EA-AAF2DC8BF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EF211B3-6879-47D5-9D6A-A4052790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AFB23AEC-B6C8-4DE5-94EA-EED65149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调查资料可能包括现场照片、视频、平面图、测量与点云、物证、烧损痕迹、报警和设备日志、消防处置记录、气象资料以及询问笔录。每类材料都有观察边界：照片受视角和曝光影响，日志可能有时钟误差…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7B9ABAE-D833-4C0D-8A5D-68EBD3748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6DEE0E9-BA65-457A-8C3B-8DFE46DE4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采集时应记录唯一标识、时间、位置、采集人、设备、方法和现场状态，区分原始文件、工作副本和模型生成内容。数字资料可使用校验值帮助发现后续变化；实物资料则按适用程序记录封存、移交和检查…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02220DFD-94EC-4EAE-83B8-DAE86CC8B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494BE5C2-CF6F-4712-9774-BDB4949B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处理应在副本上进行，不覆盖原件。图像增强、语音转写、对象标注和三维重建都要保留参数与生成时间，并明确它们是辅助产物。任何测量和关键事实都应回到原始资料或现场记录核验</a:t>
            </a:r>
          </a:p>
        </p:txBody>
      </p:sp>
      <p:sp>
        <p:nvSpPr>
          <p:cNvPr id="13" name="s3-takeaway-rule">
            <a:extLst xmlns:a="http://schemas.openxmlformats.org/drawingml/2006/main">
              <a:ext uri="{FF2B5EF4-FFF2-40B4-BE49-F238E27FC236}">
                <a16:creationId xmlns:a16="http://schemas.microsoft.com/office/drawing/2014/main" id="{B282B284-A96A-4716-839F-091972D7A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3-takeaway">
            <a:extLst xmlns:a="http://schemas.openxmlformats.org/drawingml/2006/main">
              <a:ext uri="{FF2B5EF4-FFF2-40B4-BE49-F238E27FC236}">
                <a16:creationId xmlns:a16="http://schemas.microsoft.com/office/drawing/2014/main" id="{952890D9-A9D4-47AF-BF18-112C7F12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</p:spTree>
    <p:extLst>
      <p:ext uri="{BB962C8B-B14F-4D97-AF65-F5344CB8AC3E}">
        <p14:creationId xmlns:p14="http://schemas.microsoft.com/office/powerpoint/2010/main" val="17348432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4-rule">
            <a:extLst xmlns:a="http://schemas.openxmlformats.org/drawingml/2006/main">
              <a:ext uri="{FF2B5EF4-FFF2-40B4-BE49-F238E27FC236}">
                <a16:creationId xmlns:a16="http://schemas.microsoft.com/office/drawing/2014/main" id="{6C053381-D74A-4D8D-9DB7-37C32D513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4-eyebrow">
            <a:extLst xmlns:a="http://schemas.openxmlformats.org/drawingml/2006/main">
              <a:ext uri="{FF2B5EF4-FFF2-40B4-BE49-F238E27FC236}">
                <a16:creationId xmlns:a16="http://schemas.microsoft.com/office/drawing/2014/main" id="{3D6E9BFE-D1CD-4710-9228-436031E2C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2 / 6</a:t>
            </a:r>
          </a:p>
        </p:txBody>
      </p:sp>
      <p:sp>
        <p:nvSpPr>
          <p:cNvPr id="3" name="s4-title">
            <a:extLst xmlns:a="http://schemas.openxmlformats.org/drawingml/2006/main">
              <a:ext uri="{FF2B5EF4-FFF2-40B4-BE49-F238E27FC236}">
                <a16:creationId xmlns:a16="http://schemas.microsoft.com/office/drawing/2014/main" id="{9290365E-4A46-4EF7-8E91-3ED54220C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证据链不是“把所有文件放进一个文件夹”</a:t>
            </a:r>
          </a:p>
        </p:txBody>
      </p:sp>
      <p:sp>
        <p:nvSpPr>
          <p:cNvPr id="4" name="s4-footer">
            <a:extLst xmlns:a="http://schemas.openxmlformats.org/drawingml/2006/main">
              <a:ext uri="{FF2B5EF4-FFF2-40B4-BE49-F238E27FC236}">
                <a16:creationId xmlns:a16="http://schemas.microsoft.com/office/drawing/2014/main" id="{B2F4AB6C-9637-474F-B31A-19F8BF868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4-identity">
            <a:extLst xmlns:a="http://schemas.openxmlformats.org/drawingml/2006/main">
              <a:ext uri="{FF2B5EF4-FFF2-40B4-BE49-F238E27FC236}">
                <a16:creationId xmlns:a16="http://schemas.microsoft.com/office/drawing/2014/main" id="{A8FB2505-CD72-4585-A966-60C898847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IN-007-S04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DBFC8189-9C08-49BF-A152-674D1ECED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FE9C694E-B57A-4D3F-BAE7-8EC429151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建立可复查的证据链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0F3B2B41-DE9F-4A41-9EA5-B9C7B4A3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证据链不是“把所有文件放进一个文件夹”，而是让每个主张都能追溯到具体资料和合规的取得过程。系统可以建立“事件—地点—对象—人员—资料—操作”的关系，并保存谁在何时查看、复制、标注或导出了内容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1FE1393F-FEE7-4390-B75B-64330BAAA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018C830B-76DE-4C24-9194-03BAA37C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调查笔记要区分四类信息：直接记录的事实、由工具提取的内容、专家解释和仍待验证的推断。模型生成的摘要不得改变这种区分。若一条结论同时依赖多个资料，应分别列明支持关系；如果资料来源不明…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70368D8F-5F4E-480A-854E-F56FB455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98184CB6-F33E-4ED9-82B2-4D68CAB47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权限同样属于证据治理。现场影像、个人信息和未公开调查资料只能由有职责的人访问，外部模型服务是否允许使用要经过审查。测试和演示应使用脱敏或合成资料，不能把真实案件细节当作普通训练素材</a:t>
            </a:r>
          </a:p>
        </p:txBody>
      </p:sp>
      <p:sp>
        <p:nvSpPr>
          <p:cNvPr id="13" name="s4-takeaway-rule">
            <a:extLst xmlns:a="http://schemas.openxmlformats.org/drawingml/2006/main">
              <a:ext uri="{FF2B5EF4-FFF2-40B4-BE49-F238E27FC236}">
                <a16:creationId xmlns:a16="http://schemas.microsoft.com/office/drawing/2014/main" id="{07923895-21C4-4C51-ACFA-7DA91993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4-takeaway">
            <a:extLst xmlns:a="http://schemas.openxmlformats.org/drawingml/2006/main">
              <a:ext uri="{FF2B5EF4-FFF2-40B4-BE49-F238E27FC236}">
                <a16:creationId xmlns:a16="http://schemas.microsoft.com/office/drawing/2014/main" id="{757ECAA9-8A48-464A-9381-11661B67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证据链不是“把所有文件放进一个文件夹”</a:t>
            </a:r>
          </a:p>
        </p:txBody>
      </p:sp>
    </p:spTree>
    <p:extLst>
      <p:ext uri="{BB962C8B-B14F-4D97-AF65-F5344CB8AC3E}">
        <p14:creationId xmlns:p14="http://schemas.microsoft.com/office/powerpoint/2010/main" val="5028400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5-rule">
            <a:extLst xmlns:a="http://schemas.openxmlformats.org/drawingml/2006/main">
              <a:ext uri="{FF2B5EF4-FFF2-40B4-BE49-F238E27FC236}">
                <a16:creationId xmlns:a16="http://schemas.microsoft.com/office/drawing/2014/main" id="{D226AEAD-1A52-4CAE-BB73-682FA70BD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5-eyebrow">
            <a:extLst xmlns:a="http://schemas.openxmlformats.org/drawingml/2006/main">
              <a:ext uri="{FF2B5EF4-FFF2-40B4-BE49-F238E27FC236}">
                <a16:creationId xmlns:a16="http://schemas.microsoft.com/office/drawing/2014/main" id="{B60A657F-85A9-458B-AC3D-B95C003D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3 / 6</a:t>
            </a:r>
          </a:p>
        </p:txBody>
      </p:sp>
      <p:sp>
        <p:nvSpPr>
          <p:cNvPr id="3" name="s5-title">
            <a:extLst xmlns:a="http://schemas.openxmlformats.org/drawingml/2006/main">
              <a:ext uri="{FF2B5EF4-FFF2-40B4-BE49-F238E27FC236}">
                <a16:creationId xmlns:a16="http://schemas.microsoft.com/office/drawing/2014/main" id="{299024BF-21ED-4B3D-B53F-F5EDD321E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81381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调查容易出现确认偏差：一旦形成最初印象，后续只寻找支持它的证据</a:t>
            </a:r>
          </a:p>
        </p:txBody>
      </p:sp>
      <p:sp>
        <p:nvSpPr>
          <p:cNvPr id="4" name="s5-footer">
            <a:extLst xmlns:a="http://schemas.openxmlformats.org/drawingml/2006/main">
              <a:ext uri="{FF2B5EF4-FFF2-40B4-BE49-F238E27FC236}">
                <a16:creationId xmlns:a16="http://schemas.microsoft.com/office/drawing/2014/main" id="{4C41D60F-198D-425A-B18B-859BE73C4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5-identity">
            <a:extLst xmlns:a="http://schemas.openxmlformats.org/drawingml/2006/main">
              <a:ext uri="{FF2B5EF4-FFF2-40B4-BE49-F238E27FC236}">
                <a16:creationId xmlns:a16="http://schemas.microsoft.com/office/drawing/2014/main" id="{25137998-B0C6-47B8-A678-BEA365D4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IN-007-S05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48FE4568-536D-48DD-8293-9B7CFD7F5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3CE2B7E6-B49D-4AA2-AE87-468ADF25C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32639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同时维护多个竞争性假设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9B316BA7-812C-4685-A997-834523F80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3263900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5261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调查容易出现确认偏差：一旦形成最初印象，后续只寻找支持它的证据。更稳妥的方法是维护多个可检验假设，例如不同的起火区域、点燃来源或传播路径。每个假设都列出它能解释的现象、无法解释的现象、反证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102A5A3-D3FC-4772-B4FF-B7E1C094A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5383FD3D-4A50-4FC6-8CD1-0B1F65E0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405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可以按固定结构整理假设矩阵，发现某项证据被重复使用，或提示两个叙述在时间上冲突。但模型不应凭语言相似度给某个原因“投票”，也不能把没有数据支撑的概率包装成科学结论…</a:t>
            </a:r>
          </a:p>
        </p:txBody>
      </p:sp>
      <p:sp>
        <p:nvSpPr>
          <p:cNvPr id="11" name="core-no-2">
            <a:extLst xmlns:a="http://schemas.openxmlformats.org/drawingml/2006/main">
              <a:ext uri="{FF2B5EF4-FFF2-40B4-BE49-F238E27FC236}">
                <a16:creationId xmlns:a16="http://schemas.microsoft.com/office/drawing/2014/main" id="{0F23CBB5-1D4C-47BE-82AA-EB5CF973C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03</a:t>
            </a:r>
          </a:p>
        </p:txBody>
      </p:sp>
      <p:sp>
        <p:nvSpPr>
          <p:cNvPr id="12" name="core-body-2">
            <a:extLst xmlns:a="http://schemas.openxmlformats.org/drawingml/2006/main">
              <a:ext uri="{FF2B5EF4-FFF2-40B4-BE49-F238E27FC236}">
                <a16:creationId xmlns:a16="http://schemas.microsoft.com/office/drawing/2014/main" id="{703A295C-0B8A-4A5F-B3D6-509BE41D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590800"/>
            <a:ext cx="3263900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65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随着新资料加入，调查人员应记录假设如何变化以及变化依据。最终报告不只呈现采纳的解释，也要说明关键替代解释如何被审查、哪些限制仍然存在</a:t>
            </a:r>
          </a:p>
        </p:txBody>
      </p:sp>
      <p:sp>
        <p:nvSpPr>
          <p:cNvPr id="13" name="s5-takeaway-rule">
            <a:extLst xmlns:a="http://schemas.openxmlformats.org/drawingml/2006/main">
              <a:ext uri="{FF2B5EF4-FFF2-40B4-BE49-F238E27FC236}">
                <a16:creationId xmlns:a16="http://schemas.microsoft.com/office/drawing/2014/main" id="{34A3196A-0913-4FE9-BDCF-C7F5146E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4" name="s5-takeaway">
            <a:extLst xmlns:a="http://schemas.openxmlformats.org/drawingml/2006/main">
              <a:ext uri="{FF2B5EF4-FFF2-40B4-BE49-F238E27FC236}">
                <a16:creationId xmlns:a16="http://schemas.microsoft.com/office/drawing/2014/main" id="{E233D1A8-3BDF-4896-AA0B-6CDFD2C2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调查容易出现确认偏差：一旦形成最初印象，后续只寻找支持它的证据</a:t>
            </a:r>
          </a:p>
        </p:txBody>
      </p:sp>
    </p:spTree>
    <p:extLst>
      <p:ext uri="{BB962C8B-B14F-4D97-AF65-F5344CB8AC3E}">
        <p14:creationId xmlns:p14="http://schemas.microsoft.com/office/powerpoint/2010/main" val="95844178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6-rule">
            <a:extLst xmlns:a="http://schemas.openxmlformats.org/drawingml/2006/main">
              <a:ext uri="{FF2B5EF4-FFF2-40B4-BE49-F238E27FC236}">
                <a16:creationId xmlns:a16="http://schemas.microsoft.com/office/drawing/2014/main" id="{8681015C-C89E-4634-8859-3A08A79A4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6-eyebrow">
            <a:extLst xmlns:a="http://schemas.openxmlformats.org/drawingml/2006/main">
              <a:ext uri="{FF2B5EF4-FFF2-40B4-BE49-F238E27FC236}">
                <a16:creationId xmlns:a16="http://schemas.microsoft.com/office/drawing/2014/main" id="{2FEDA34C-5533-4377-8A22-AB4FDD11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4 / 6</a:t>
            </a:r>
          </a:p>
        </p:txBody>
      </p:sp>
      <p:sp>
        <p:nvSpPr>
          <p:cNvPr id="3" name="s6-title">
            <a:extLst xmlns:a="http://schemas.openxmlformats.org/drawingml/2006/main">
              <a:ext uri="{FF2B5EF4-FFF2-40B4-BE49-F238E27FC236}">
                <a16:creationId xmlns:a16="http://schemas.microsoft.com/office/drawing/2014/main" id="{20477E09-B03B-4349-9A48-823C317E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法规、技术资料与专家复核</a:t>
            </a:r>
          </a:p>
        </p:txBody>
      </p:sp>
      <p:sp>
        <p:nvSpPr>
          <p:cNvPr id="4" name="s6-footer">
            <a:extLst xmlns:a="http://schemas.openxmlformats.org/drawingml/2006/main">
              <a:ext uri="{FF2B5EF4-FFF2-40B4-BE49-F238E27FC236}">
                <a16:creationId xmlns:a16="http://schemas.microsoft.com/office/drawing/2014/main" id="{1D8E6B59-FC15-4C71-9636-960D07FDE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6-identity">
            <a:extLst xmlns:a="http://schemas.openxmlformats.org/drawingml/2006/main">
              <a:ext uri="{FF2B5EF4-FFF2-40B4-BE49-F238E27FC236}">
                <a16:creationId xmlns:a16="http://schemas.microsoft.com/office/drawing/2014/main" id="{0CB90575-4CF7-47AC-B80F-A932EB1D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IN-007-S06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060F5D70-B330-43AE-A17D-4D006127E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2DEF9F53-F9E8-45C0-956B-F31AE183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法规、技术资料与专家复核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C238A282-22CA-4875-8B72-6D02BAF20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检索库可以包含现行法律法规、调查程序、消防和电气技术资料、设备说明以及经过审查的案例。每条资料应标明发布机构、版本、有效状态、适用范围和具体位置。历史案例能提示排查方向…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91FE1389-13DB-4655-AF38-2CAF4CBE2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2F82E1E4-35E9-47FE-812F-CE3C59377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模型可能引用失效条款、混淆不同地区规则，或从一段技术说明推导出原文没有的结论。调查人员必须核对原文，必要时由消防、电气、材料、结构或其他领域专家复核。专家意见也应说明依据、方法…</a:t>
            </a:r>
          </a:p>
        </p:txBody>
      </p:sp>
      <p:sp>
        <p:nvSpPr>
          <p:cNvPr id="11" name="s6-takeaway-rule">
            <a:extLst xmlns:a="http://schemas.openxmlformats.org/drawingml/2006/main">
              <a:ext uri="{FF2B5EF4-FFF2-40B4-BE49-F238E27FC236}">
                <a16:creationId xmlns:a16="http://schemas.microsoft.com/office/drawing/2014/main" id="{940288C8-FB8E-4A6A-84D0-9BB3827A0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6-takeaway">
            <a:extLst xmlns:a="http://schemas.openxmlformats.org/drawingml/2006/main">
              <a:ext uri="{FF2B5EF4-FFF2-40B4-BE49-F238E27FC236}">
                <a16:creationId xmlns:a16="http://schemas.microsoft.com/office/drawing/2014/main" id="{12D20FD4-ED0F-4021-BC16-D07EEEA1F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法规、技术资料与专家复核</a:t>
            </a:r>
          </a:p>
        </p:txBody>
      </p:sp>
    </p:spTree>
    <p:extLst>
      <p:ext uri="{BB962C8B-B14F-4D97-AF65-F5344CB8AC3E}">
        <p14:creationId xmlns:p14="http://schemas.microsoft.com/office/powerpoint/2010/main" val="60068481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7-rule">
            <a:extLst xmlns:a="http://schemas.openxmlformats.org/drawingml/2006/main">
              <a:ext uri="{FF2B5EF4-FFF2-40B4-BE49-F238E27FC236}">
                <a16:creationId xmlns:a16="http://schemas.microsoft.com/office/drawing/2014/main" id="{4A1038C2-BDF0-41E3-BD41-BF40AEAF0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7-eyebrow">
            <a:extLst xmlns:a="http://schemas.openxmlformats.org/drawingml/2006/main">
              <a:ext uri="{FF2B5EF4-FFF2-40B4-BE49-F238E27FC236}">
                <a16:creationId xmlns:a16="http://schemas.microsoft.com/office/drawing/2014/main" id="{BE4D0806-9C9D-420C-9870-94E134B7B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5 / 6</a:t>
            </a:r>
          </a:p>
        </p:txBody>
      </p:sp>
      <p:sp>
        <p:nvSpPr>
          <p:cNvPr id="3" name="s7-title">
            <a:extLst xmlns:a="http://schemas.openxmlformats.org/drawingml/2006/main">
              <a:ext uri="{FF2B5EF4-FFF2-40B4-BE49-F238E27FC236}">
                <a16:creationId xmlns:a16="http://schemas.microsoft.com/office/drawing/2014/main" id="{0799B02A-B88A-4AA8-AE66-F78DEDA08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材料提取任务可测字段准确性、遗漏和原件链接</a:t>
            </a:r>
          </a:p>
        </p:txBody>
      </p:sp>
      <p:sp>
        <p:nvSpPr>
          <p:cNvPr id="4" name="s7-footer">
            <a:extLst xmlns:a="http://schemas.openxmlformats.org/drawingml/2006/main">
              <a:ext uri="{FF2B5EF4-FFF2-40B4-BE49-F238E27FC236}">
                <a16:creationId xmlns:a16="http://schemas.microsoft.com/office/drawing/2014/main" id="{C2EE6802-2DF2-4478-B311-5827F6BC9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7-identity">
            <a:extLst xmlns:a="http://schemas.openxmlformats.org/drawingml/2006/main">
              <a:ext uri="{FF2B5EF4-FFF2-40B4-BE49-F238E27FC236}">
                <a16:creationId xmlns:a16="http://schemas.microsoft.com/office/drawing/2014/main" id="{70747E93-E189-4B01-BD67-0C39F78F2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IN-007-S07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38A4D660-A976-4BD3-A803-701EDA24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8713F0AC-030B-49D7-A929-CC3230A55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模型输出必须经过任务级评测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BCBECDE9-C472-4B22-B9AD-926C5D41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98233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材料提取任务可测字段准确性、遗漏和原件链接；时间线任务可测顺序、时间冲突提示和来源覆盖；法规检索可测版本、适用性与引用支持；假设整理可测是否同时呈现支持与反证、能否在证据不足时保持不确定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03A002B9-BCC5-4D12-AC18-FFB586B8B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36242546-080F-46D4-B151-915D22C71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评测集应包含模糊影像、损坏文件、时钟不一致、同名对象、矛盾笔录和恶意指令，观察系统会不会编造缺失内容或泄露受限信息。高风险错误要单独统计，不能被大量简单样本的平均分掩盖。模型或资料库更新后…</a:t>
            </a:r>
          </a:p>
        </p:txBody>
      </p:sp>
      <p:sp>
        <p:nvSpPr>
          <p:cNvPr id="11" name="s7-takeaway-rule">
            <a:extLst xmlns:a="http://schemas.openxmlformats.org/drawingml/2006/main">
              <a:ext uri="{FF2B5EF4-FFF2-40B4-BE49-F238E27FC236}">
                <a16:creationId xmlns:a16="http://schemas.microsoft.com/office/drawing/2014/main" id="{67F165C4-255E-40DF-A2BA-964E30D2F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7-takeaway">
            <a:extLst xmlns:a="http://schemas.openxmlformats.org/drawingml/2006/main">
              <a:ext uri="{FF2B5EF4-FFF2-40B4-BE49-F238E27FC236}">
                <a16:creationId xmlns:a16="http://schemas.microsoft.com/office/drawing/2014/main" id="{65D899A1-B93C-4BD2-9221-71E5199F6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材料提取任务可测字段准确性、遗漏和原件链接</a:t>
            </a:r>
          </a:p>
        </p:txBody>
      </p:sp>
    </p:spTree>
    <p:extLst>
      <p:ext uri="{BB962C8B-B14F-4D97-AF65-F5344CB8AC3E}">
        <p14:creationId xmlns:p14="http://schemas.microsoft.com/office/powerpoint/2010/main" val="1389274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8-rule">
            <a:extLst xmlns:a="http://schemas.openxmlformats.org/drawingml/2006/main">
              <a:ext uri="{FF2B5EF4-FFF2-40B4-BE49-F238E27FC236}">
                <a16:creationId xmlns:a16="http://schemas.microsoft.com/office/drawing/2014/main" id="{E9305FEF-34F1-44AE-890B-765213B32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8-eyebrow">
            <a:extLst xmlns:a="http://schemas.openxmlformats.org/drawingml/2006/main">
              <a:ext uri="{FF2B5EF4-FFF2-40B4-BE49-F238E27FC236}">
                <a16:creationId xmlns:a16="http://schemas.microsoft.com/office/drawing/2014/main" id="{26DEC602-F86E-4955-8C76-47FE8C6F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核心论点 6 / 6</a:t>
            </a:r>
          </a:p>
        </p:txBody>
      </p:sp>
      <p:sp>
        <p:nvSpPr>
          <p:cNvPr id="3" name="s8-title">
            <a:extLst xmlns:a="http://schemas.openxmlformats.org/drawingml/2006/main">
              <a:ext uri="{FF2B5EF4-FFF2-40B4-BE49-F238E27FC236}">
                <a16:creationId xmlns:a16="http://schemas.microsoft.com/office/drawing/2014/main" id="{FD8F5607-8DB2-4988-B785-B65E445E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78165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可以生成材料目录、时间线草稿、规范检索结果、假设矩阵和报告结构</a:t>
            </a:r>
          </a:p>
        </p:txBody>
      </p:sp>
      <p:sp>
        <p:nvSpPr>
          <p:cNvPr id="4" name="s8-footer">
            <a:extLst xmlns:a="http://schemas.openxmlformats.org/drawingml/2006/main">
              <a:ext uri="{FF2B5EF4-FFF2-40B4-BE49-F238E27FC236}">
                <a16:creationId xmlns:a16="http://schemas.microsoft.com/office/drawing/2014/main" id="{62B1DB25-CDEF-4CAE-B729-1AAC6785B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8-identity">
            <a:extLst xmlns:a="http://schemas.openxmlformats.org/drawingml/2006/main">
              <a:ext uri="{FF2B5EF4-FFF2-40B4-BE49-F238E27FC236}">
                <a16:creationId xmlns:a16="http://schemas.microsoft.com/office/drawing/2014/main" id="{88902A0D-D244-465E-A619-612723908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IN-007-S08</a:t>
            </a:r>
          </a:p>
        </p:txBody>
      </p:sp>
      <p:sp>
        <p:nvSpPr>
          <p:cNvPr id="6" name="core-no-0">
            <a:extLst xmlns:a="http://schemas.openxmlformats.org/drawingml/2006/main">
              <a:ext uri="{FF2B5EF4-FFF2-40B4-BE49-F238E27FC236}">
                <a16:creationId xmlns:a16="http://schemas.microsoft.com/office/drawing/2014/main" id="{8115AC8A-3832-43A8-BAB4-FF1FCF01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01</a:t>
            </a:r>
          </a:p>
        </p:txBody>
      </p:sp>
      <p:sp>
        <p:nvSpPr>
          <p:cNvPr id="7" name="core-label-0">
            <a:extLst xmlns:a="http://schemas.openxmlformats.org/drawingml/2006/main">
              <a:ext uri="{FF2B5EF4-FFF2-40B4-BE49-F238E27FC236}">
                <a16:creationId xmlns:a16="http://schemas.microsoft.com/office/drawing/2014/main" id="{CF360512-CA23-43A9-94A9-D42151370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90800"/>
            <a:ext cx="50387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210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模型不能定案</a:t>
            </a:r>
          </a:p>
        </p:txBody>
      </p:sp>
      <p:sp>
        <p:nvSpPr>
          <p:cNvPr id="8" name="core-body-0">
            <a:extLst xmlns:a="http://schemas.openxmlformats.org/drawingml/2006/main">
              <a:ext uri="{FF2B5EF4-FFF2-40B4-BE49-F238E27FC236}">
                <a16:creationId xmlns:a16="http://schemas.microsoft.com/office/drawing/2014/main" id="{FDAC441A-2A9B-41C4-9DF2-3E4E7C210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90900"/>
            <a:ext cx="5038725" cy="17145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8135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AI 可以生成材料目录、时间线草稿、规范检索结果、假设矩阵和报告结构，但不应宣布起火原因、证据效力、责任主体或案件结论。调查人员按照权限和程序审查原始资料、开展必要实验与询问、听取专业意见…</a:t>
            </a:r>
          </a:p>
        </p:txBody>
      </p:sp>
      <p:sp>
        <p:nvSpPr>
          <p:cNvPr id="9" name="core-no-1">
            <a:extLst xmlns:a="http://schemas.openxmlformats.org/drawingml/2006/main">
              <a:ext uri="{FF2B5EF4-FFF2-40B4-BE49-F238E27FC236}">
                <a16:creationId xmlns:a16="http://schemas.microsoft.com/office/drawing/2014/main" id="{CF84D00E-B24E-47AD-9761-13DC0E9D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076450"/>
            <a:ext cx="666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defRPr>
            </a:pPr>
            <a:r>
              <a:rPr sz="2250" b="1">
                <a:solidFill>
                  <a:srgbClr val="E5783F"/>
                </a:solidFill>
                <a:latin typeface="PingFang SC"/>
                <a:ea typeface="PingFang SC"/>
                <a:cs typeface="PingFang SC"/>
              </a:rPr>
              <a:t>02</a:t>
            </a:r>
          </a:p>
        </p:txBody>
      </p:sp>
      <p:sp>
        <p:nvSpPr>
          <p:cNvPr id="10" name="core-body-1">
            <a:extLst xmlns:a="http://schemas.openxmlformats.org/drawingml/2006/main">
              <a:ext uri="{FF2B5EF4-FFF2-40B4-BE49-F238E27FC236}">
                <a16:creationId xmlns:a16="http://schemas.microsoft.com/office/drawing/2014/main" id="{8AC74BC5-A78B-48D3-A2F0-811CD7F4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2590800"/>
            <a:ext cx="5038725" cy="2514600"/>
          </a:xfrm>
          <a:prstGeom xmlns:a="http://schemas.openxmlformats.org/drawingml/2006/main" prst="roundRect">
            <a:avLst>
              <a:gd name="adj" fmla="val 681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80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界面应始终标明模型输出身份，允许复核者拒绝、修改和说明理由。报告中的每项关键事实都应指向证据；无法核验的生成内容必须删除。模型不可用时，调查工作仍应能依靠既有记录、工具和程序继续完成</a:t>
            </a:r>
          </a:p>
        </p:txBody>
      </p:sp>
      <p:sp>
        <p:nvSpPr>
          <p:cNvPr id="11" name="s8-takeaway-rule">
            <a:extLst xmlns:a="http://schemas.openxmlformats.org/drawingml/2006/main">
              <a:ext uri="{FF2B5EF4-FFF2-40B4-BE49-F238E27FC236}">
                <a16:creationId xmlns:a16="http://schemas.microsoft.com/office/drawing/2014/main" id="{DCEAA05D-5E8E-4FCD-AFF5-3039DFEDB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2" name="s8-takeaway">
            <a:extLst xmlns:a="http://schemas.openxmlformats.org/drawingml/2006/main">
              <a:ext uri="{FF2B5EF4-FFF2-40B4-BE49-F238E27FC236}">
                <a16:creationId xmlns:a16="http://schemas.microsoft.com/office/drawing/2014/main" id="{86A6DD07-FF61-4945-946F-756990522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AI 可以生成材料目录、时间线草稿、规范检索结果、假设矩阵和报告结构</a:t>
            </a:r>
          </a:p>
        </p:txBody>
      </p:sp>
    </p:spTree>
    <p:extLst>
      <p:ext uri="{BB962C8B-B14F-4D97-AF65-F5344CB8AC3E}">
        <p14:creationId xmlns:p14="http://schemas.microsoft.com/office/powerpoint/2010/main" val="4962264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9-rule">
            <a:extLst xmlns:a="http://schemas.openxmlformats.org/drawingml/2006/main">
              <a:ext uri="{FF2B5EF4-FFF2-40B4-BE49-F238E27FC236}">
                <a16:creationId xmlns:a16="http://schemas.microsoft.com/office/drawing/2014/main" id="{96DF2986-F636-4677-B699-07758BE48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9-eyebrow">
            <a:extLst xmlns:a="http://schemas.openxmlformats.org/drawingml/2006/main">
              <a:ext uri="{FF2B5EF4-FFF2-40B4-BE49-F238E27FC236}">
                <a16:creationId xmlns:a16="http://schemas.microsoft.com/office/drawing/2014/main" id="{1BC9FD07-6EF8-49CB-BEAB-012171BBC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1 / 2</a:t>
            </a:r>
          </a:p>
        </p:txBody>
      </p:sp>
      <p:sp>
        <p:nvSpPr>
          <p:cNvPr id="3" name="s9-title">
            <a:extLst xmlns:a="http://schemas.openxmlformats.org/drawingml/2006/main">
              <a:ext uri="{FF2B5EF4-FFF2-40B4-BE49-F238E27FC236}">
                <a16:creationId xmlns:a16="http://schemas.microsoft.com/office/drawing/2014/main" id="{E4F0C2FB-CBB1-497E-AEE7-DA9216E9B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两个起火区域假设的材料矩阵必须经过边界验证</a:t>
            </a:r>
          </a:p>
        </p:txBody>
      </p:sp>
      <p:sp>
        <p:nvSpPr>
          <p:cNvPr id="4" name="s9-footer">
            <a:extLst xmlns:a="http://schemas.openxmlformats.org/drawingml/2006/main">
              <a:ext uri="{FF2B5EF4-FFF2-40B4-BE49-F238E27FC236}">
                <a16:creationId xmlns:a16="http://schemas.microsoft.com/office/drawing/2014/main" id="{2A5774D8-C611-4B10-A9B5-91CF5CE69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9-identity">
            <a:extLst xmlns:a="http://schemas.openxmlformats.org/drawingml/2006/main">
              <a:ext uri="{FF2B5EF4-FFF2-40B4-BE49-F238E27FC236}">
                <a16:creationId xmlns:a16="http://schemas.microsoft.com/office/drawing/2014/main" id="{D90C45C3-FEA0-46D4-A1B4-BE0178CC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IN-007-S09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5FEB9D22-9568-4245-957E-04EEF0A07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两个起火区域假设的材料矩阵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6B5889FB-FDB4-46DB-8D31-26BA03921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288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边界｜系统不比较谁“更像真相”，正式判断由调查人员在完成程序后形成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58CA83EF-F277-4889-A550-8E7F9A0FF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6534150" cy="123825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验证｜验收“两个起火区域假设的材料矩阵”时，要同时记录适用场景、证据来源、失败条件与人工责任</a:t>
            </a:r>
          </a:p>
        </p:txBody>
      </p:sp>
      <p:sp>
        <p:nvSpPr>
          <p:cNvPr id="9" name="s9-takeaway-rule">
            <a:extLst xmlns:a="http://schemas.openxmlformats.org/drawingml/2006/main">
              <a:ext uri="{FF2B5EF4-FFF2-40B4-BE49-F238E27FC236}">
                <a16:creationId xmlns:a16="http://schemas.microsoft.com/office/drawing/2014/main" id="{929A8D76-3B71-449A-A8F3-301FC77BA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0" name="s9-takeaway">
            <a:extLst xmlns:a="http://schemas.openxmlformats.org/drawingml/2006/main">
              <a:ext uri="{FF2B5EF4-FFF2-40B4-BE49-F238E27FC236}">
                <a16:creationId xmlns:a16="http://schemas.microsoft.com/office/drawing/2014/main" id="{F7C72598-1BA7-4AAE-B74D-856429BC4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两个起火区域假设的材料矩阵必须经过边界验证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16045395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0-rule">
            <a:extLst xmlns:a="http://schemas.openxmlformats.org/drawingml/2006/main">
              <a:ext uri="{FF2B5EF4-FFF2-40B4-BE49-F238E27FC236}">
                <a16:creationId xmlns:a16="http://schemas.microsoft.com/office/drawing/2014/main" id="{6822C616-3986-429B-B1F6-6C827F012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0-eyebrow">
            <a:extLst xmlns:a="http://schemas.openxmlformats.org/drawingml/2006/main">
              <a:ext uri="{FF2B5EF4-FFF2-40B4-BE49-F238E27FC236}">
                <a16:creationId xmlns:a16="http://schemas.microsoft.com/office/drawing/2014/main" id="{130F2295-0BD2-45BE-A91B-A2109557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案例与边界 2 / 2</a:t>
            </a:r>
          </a:p>
        </p:txBody>
      </p:sp>
      <p:sp>
        <p:nvSpPr>
          <p:cNvPr id="3" name="s10-title">
            <a:extLst xmlns:a="http://schemas.openxmlformats.org/drawingml/2006/main">
              <a:ext uri="{FF2B5EF4-FFF2-40B4-BE49-F238E27FC236}">
                <a16:creationId xmlns:a16="http://schemas.microsoft.com/office/drawing/2014/main" id="{781BA4D6-4848-4D1A-9FD5-1F754853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三维现场模型的正确用法必须经过边界验证</a:t>
            </a:r>
          </a:p>
        </p:txBody>
      </p:sp>
      <p:sp>
        <p:nvSpPr>
          <p:cNvPr id="4" name="s10-footer">
            <a:extLst xmlns:a="http://schemas.openxmlformats.org/drawingml/2006/main">
              <a:ext uri="{FF2B5EF4-FFF2-40B4-BE49-F238E27FC236}">
                <a16:creationId xmlns:a16="http://schemas.microsoft.com/office/drawing/2014/main" id="{D9959842-2169-4644-820D-344C7FA4A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0-identity">
            <a:extLst xmlns:a="http://schemas.openxmlformats.org/drawingml/2006/main">
              <a:ext uri="{FF2B5EF4-FFF2-40B4-BE49-F238E27FC236}">
                <a16:creationId xmlns:a16="http://schemas.microsoft.com/office/drawing/2014/main" id="{5B55ADF6-EAFD-44DE-B73B-A0470B88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IN-007-S10</a:t>
            </a:r>
          </a:p>
        </p:txBody>
      </p:sp>
      <p:sp>
        <p:nvSpPr>
          <p:cNvPr id="6" name="case-title">
            <a:extLst xmlns:a="http://schemas.openxmlformats.org/drawingml/2006/main">
              <a:ext uri="{FF2B5EF4-FFF2-40B4-BE49-F238E27FC236}">
                <a16:creationId xmlns:a16="http://schemas.microsoft.com/office/drawing/2014/main" id="{3B2D25C1-60D8-44E2-AF1A-0A0ADE31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048000" cy="2724150"/>
          </a:xfrm>
          <a:prstGeom xmlns:a="http://schemas.openxmlformats.org/drawingml/2006/main" prst="roundRect">
            <a:avLst>
              <a:gd name="adj" fmla="val 6993"/>
            </a:avLst>
          </a:prstGeom>
          <a:solidFill xmlns:a="http://schemas.openxmlformats.org/drawingml/2006/main">
            <a:srgbClr val="744027"/>
          </a:solidFill>
          <a:ln xmlns:a="http://schemas.openxmlformats.org/drawingml/2006/main" w="0">
            <a:solidFill>
              <a:srgbClr val="744027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2550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三维现场模型的正确用法</a:t>
            </a:r>
          </a:p>
        </p:txBody>
      </p:sp>
      <p:sp>
        <p:nvSpPr>
          <p:cNvPr id="7" name="case-row-0">
            <a:extLst xmlns:a="http://schemas.openxmlformats.org/drawingml/2006/main">
              <a:ext uri="{FF2B5EF4-FFF2-40B4-BE49-F238E27FC236}">
                <a16:creationId xmlns:a16="http://schemas.microsoft.com/office/drawing/2014/main" id="{F6FC2EDE-C790-4957-ABC1-C1EA43BAD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574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用途｜把测量、影像和物证位置放在共同空间中，支持不同人员复查观察路径</a:t>
            </a:r>
          </a:p>
        </p:txBody>
      </p:sp>
      <p:sp>
        <p:nvSpPr>
          <p:cNvPr id="8" name="case-row-1">
            <a:extLst xmlns:a="http://schemas.openxmlformats.org/drawingml/2006/main">
              <a:ext uri="{FF2B5EF4-FFF2-40B4-BE49-F238E27FC236}">
                <a16:creationId xmlns:a16="http://schemas.microsoft.com/office/drawing/2014/main" id="{F1943004-B0AB-49CC-8B3E-CFB424154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0861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限制｜模型存在遮挡、尺度、配准和后期处理误差，缺失区域不能由生成模型想象补全</a:t>
            </a:r>
          </a:p>
        </p:txBody>
      </p:sp>
      <p:sp>
        <p:nvSpPr>
          <p:cNvPr id="9" name="case-row-2">
            <a:extLst xmlns:a="http://schemas.openxmlformats.org/drawingml/2006/main">
              <a:ext uri="{FF2B5EF4-FFF2-40B4-BE49-F238E27FC236}">
                <a16:creationId xmlns:a16="http://schemas.microsoft.com/office/drawing/2014/main" id="{4DD9852F-BABA-4F1F-9148-67DB9969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114800"/>
            <a:ext cx="6534150" cy="838200"/>
          </a:xfrm>
          <a:prstGeom xmlns:a="http://schemas.openxmlformats.org/drawingml/2006/main" prst="roundRect">
            <a:avLst>
              <a:gd name="adj" fmla="val 14773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75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要求｜每个空间标注保留原始影像、测量方法和处理记录；关键距离回到合格测量结果确认</a:t>
            </a:r>
          </a:p>
        </p:txBody>
      </p:sp>
      <p:sp>
        <p:nvSpPr>
          <p:cNvPr id="10" name="s10-takeaway-rule">
            <a:extLst xmlns:a="http://schemas.openxmlformats.org/drawingml/2006/main">
              <a:ext uri="{FF2B5EF4-FFF2-40B4-BE49-F238E27FC236}">
                <a16:creationId xmlns:a16="http://schemas.microsoft.com/office/drawing/2014/main" id="{165EBE31-A4AD-4A64-96DF-107AB0FC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483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0-takeaway">
            <a:extLst xmlns:a="http://schemas.openxmlformats.org/drawingml/2006/main">
              <a:ext uri="{FF2B5EF4-FFF2-40B4-BE49-F238E27FC236}">
                <a16:creationId xmlns:a16="http://schemas.microsoft.com/office/drawing/2014/main" id="{1A833392-A81A-4652-89A6-FECA3E4B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4673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三维现场模型的正确用法必须经过边界验证</a:t>
            </a:r>
          </a:p>
        </p:txBody>
      </p:sp>
    </p:spTree>
    <p:extLst>
      <p:ext uri="{BB962C8B-B14F-4D97-AF65-F5344CB8AC3E}">
        <p14:creationId xmlns:p14="http://schemas.microsoft.com/office/powerpoint/2010/main" val="60851757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1-rule">
            <a:extLst xmlns:a="http://schemas.openxmlformats.org/drawingml/2006/main">
              <a:ext uri="{FF2B5EF4-FFF2-40B4-BE49-F238E27FC236}">
                <a16:creationId xmlns:a16="http://schemas.microsoft.com/office/drawing/2014/main" id="{A0C7F4A7-5664-4EFC-9E8B-13AE4E35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1-eyebrow">
            <a:extLst xmlns:a="http://schemas.openxmlformats.org/drawingml/2006/main">
              <a:ext uri="{FF2B5EF4-FFF2-40B4-BE49-F238E27FC236}">
                <a16:creationId xmlns:a16="http://schemas.microsoft.com/office/drawing/2014/main" id="{6620120D-9A59-4DDA-8CBF-9DED96C1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动手实践</a:t>
            </a:r>
          </a:p>
        </p:txBody>
      </p:sp>
      <p:sp>
        <p:nvSpPr>
          <p:cNvPr id="3" name="s11-title">
            <a:extLst xmlns:a="http://schemas.openxmlformats.org/drawingml/2006/main">
              <a:ext uri="{FF2B5EF4-FFF2-40B4-BE49-F238E27FC236}">
                <a16:creationId xmlns:a16="http://schemas.microsoft.com/office/drawing/2014/main" id="{BA691619-E230-4432-95BE-065D3ADBD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把方法落实为可验证的行动</a:t>
            </a:r>
          </a:p>
        </p:txBody>
      </p:sp>
      <p:sp>
        <p:nvSpPr>
          <p:cNvPr id="4" name="s11-footer">
            <a:extLst xmlns:a="http://schemas.openxmlformats.org/drawingml/2006/main">
              <a:ext uri="{FF2B5EF4-FFF2-40B4-BE49-F238E27FC236}">
                <a16:creationId xmlns:a16="http://schemas.microsoft.com/office/drawing/2014/main" id="{BF5A74F4-CEB7-40EA-B960-75C433D7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1-identity">
            <a:extLst xmlns:a="http://schemas.openxmlformats.org/drawingml/2006/main">
              <a:ext uri="{FF2B5EF4-FFF2-40B4-BE49-F238E27FC236}">
                <a16:creationId xmlns:a16="http://schemas.microsoft.com/office/drawing/2014/main" id="{194C8F04-C63E-483A-BF53-80F9A9A49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IN-007-S11</a:t>
            </a:r>
          </a:p>
        </p:txBody>
      </p:sp>
      <p:sp>
        <p:nvSpPr>
          <p:cNvPr id="6" name="practice-circle-0">
            <a:extLst xmlns:a="http://schemas.openxmlformats.org/drawingml/2006/main">
              <a:ext uri="{FF2B5EF4-FFF2-40B4-BE49-F238E27FC236}">
                <a16:creationId xmlns:a16="http://schemas.microsoft.com/office/drawing/2014/main" id="{DA77EEC2-5C86-44B4-BD67-7AB8EB74F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practice-number-0">
            <a:extLst xmlns:a="http://schemas.openxmlformats.org/drawingml/2006/main">
              <a:ext uri="{FF2B5EF4-FFF2-40B4-BE49-F238E27FC236}">
                <a16:creationId xmlns:a16="http://schemas.microsoft.com/office/drawing/2014/main" id="{FF0FF843-F80E-4A28-9DC2-E6AC2B855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practice-item-0">
            <a:extLst xmlns:a="http://schemas.openxmlformats.org/drawingml/2006/main">
              <a:ext uri="{FF2B5EF4-FFF2-40B4-BE49-F238E27FC236}">
                <a16:creationId xmlns:a16="http://schemas.microsoft.com/office/drawing/2014/main" id="{1FFD2DFF-957D-4C91-A316-4DF42DF7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为照片、视频、物证、询问笔录和设备日志设计一张登记表，至少包含来源、时间、位置、完整性、流转和访问字段</a:t>
            </a:r>
          </a:p>
        </p:txBody>
      </p:sp>
      <p:sp>
        <p:nvSpPr>
          <p:cNvPr id="9" name="practice-connector-0">
            <a:extLst xmlns:a="http://schemas.openxmlformats.org/drawingml/2006/main">
              <a:ext uri="{FF2B5EF4-FFF2-40B4-BE49-F238E27FC236}">
                <a16:creationId xmlns:a16="http://schemas.microsoft.com/office/drawing/2014/main" id="{DAAE15EB-2C01-48F6-84D3-46DFA24E8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practice-circle-1">
            <a:extLst xmlns:a="http://schemas.openxmlformats.org/drawingml/2006/main">
              <a:ext uri="{FF2B5EF4-FFF2-40B4-BE49-F238E27FC236}">
                <a16:creationId xmlns:a16="http://schemas.microsoft.com/office/drawing/2014/main" id="{7847E2EB-232F-49D6-A335-58278E47F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practice-number-1">
            <a:extLst xmlns:a="http://schemas.openxmlformats.org/drawingml/2006/main">
              <a:ext uri="{FF2B5EF4-FFF2-40B4-BE49-F238E27FC236}">
                <a16:creationId xmlns:a16="http://schemas.microsoft.com/office/drawing/2014/main" id="{61F01D62-3653-4033-8376-C6D00E03A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practice-item-1">
            <a:extLst xmlns:a="http://schemas.openxmlformats.org/drawingml/2006/main">
              <a:ext uri="{FF2B5EF4-FFF2-40B4-BE49-F238E27FC236}">
                <a16:creationId xmlns:a16="http://schemas.microsoft.com/office/drawing/2014/main" id="{B2F2FFF2-FB29-45F0-BC07-85210C19B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针对两个竞争性原因假设制作矩阵，分别写出支持、反证、替代解释和三项待补材料，不给出最终结论</a:t>
            </a:r>
          </a:p>
        </p:txBody>
      </p:sp>
      <p:sp>
        <p:nvSpPr>
          <p:cNvPr id="13" name="practice-connector-1">
            <a:extLst xmlns:a="http://schemas.openxmlformats.org/drawingml/2006/main">
              <a:ext uri="{FF2B5EF4-FFF2-40B4-BE49-F238E27FC236}">
                <a16:creationId xmlns:a16="http://schemas.microsoft.com/office/drawing/2014/main" id="{8BB2D465-33BC-4DAF-B38E-E7FCFF42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practice-circle-2">
            <a:extLst xmlns:a="http://schemas.openxmlformats.org/drawingml/2006/main">
              <a:ext uri="{FF2B5EF4-FFF2-40B4-BE49-F238E27FC236}">
                <a16:creationId xmlns:a16="http://schemas.microsoft.com/office/drawing/2014/main" id="{397812C0-0BCB-44AA-8D67-61B22FFB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practice-number-2">
            <a:extLst xmlns:a="http://schemas.openxmlformats.org/drawingml/2006/main">
              <a:ext uri="{FF2B5EF4-FFF2-40B4-BE49-F238E27FC236}">
                <a16:creationId xmlns:a16="http://schemas.microsoft.com/office/drawing/2014/main" id="{4AE81E3F-1ABE-467E-9C6F-002AF8B42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practice-item-2">
            <a:extLst xmlns:a="http://schemas.openxmlformats.org/drawingml/2006/main">
              <a:ext uri="{FF2B5EF4-FFF2-40B4-BE49-F238E27FC236}">
                <a16:creationId xmlns:a16="http://schemas.microsoft.com/office/drawing/2014/main" id="{C766563A-2051-44C7-BD2F-5B04D96D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0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画出从资料副本进入 AI 系统到调查人员签署报告的流程，标出法规核验、专家复核、权限检查与模型停用点</a:t>
            </a:r>
          </a:p>
        </p:txBody>
      </p:sp>
    </p:spTree>
    <p:extLst>
      <p:ext uri="{BB962C8B-B14F-4D97-AF65-F5344CB8AC3E}">
        <p14:creationId xmlns:p14="http://schemas.microsoft.com/office/powerpoint/2010/main" val="130170046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2-rule">
            <a:extLst xmlns:a="http://schemas.openxmlformats.org/drawingml/2006/main">
              <a:ext uri="{FF2B5EF4-FFF2-40B4-BE49-F238E27FC236}">
                <a16:creationId xmlns:a16="http://schemas.microsoft.com/office/drawing/2014/main" id="{D9FB541A-50AC-4E3D-A03E-BD6902F89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2-eyebrow">
            <a:extLst xmlns:a="http://schemas.openxmlformats.org/drawingml/2006/main">
              <a:ext uri="{FF2B5EF4-FFF2-40B4-BE49-F238E27FC236}">
                <a16:creationId xmlns:a16="http://schemas.microsoft.com/office/drawing/2014/main" id="{9272027B-2ED0-4A7A-B3DE-C34B75D3C4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课后复盘</a:t>
            </a:r>
          </a:p>
        </p:txBody>
      </p:sp>
      <p:sp>
        <p:nvSpPr>
          <p:cNvPr id="3" name="s12-title">
            <a:extLst xmlns:a="http://schemas.openxmlformats.org/drawingml/2006/main">
              <a:ext uri="{FF2B5EF4-FFF2-40B4-BE49-F238E27FC236}">
                <a16:creationId xmlns:a16="http://schemas.microsoft.com/office/drawing/2014/main" id="{F327F5A5-58BF-4B44-BB55-948A3D09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带走三条可复用的判断原则</a:t>
            </a:r>
          </a:p>
        </p:txBody>
      </p:sp>
      <p:sp>
        <p:nvSpPr>
          <p:cNvPr id="4" name="s12-footer">
            <a:extLst xmlns:a="http://schemas.openxmlformats.org/drawingml/2006/main">
              <a:ext uri="{FF2B5EF4-FFF2-40B4-BE49-F238E27FC236}">
                <a16:creationId xmlns:a16="http://schemas.microsoft.com/office/drawing/2014/main" id="{FDC827DF-3BC4-49B1-B195-B5BF9082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2-identity">
            <a:extLst xmlns:a="http://schemas.openxmlformats.org/drawingml/2006/main">
              <a:ext uri="{FF2B5EF4-FFF2-40B4-BE49-F238E27FC236}">
                <a16:creationId xmlns:a16="http://schemas.microsoft.com/office/drawing/2014/main" id="{D00E929B-CBB8-439C-BD63-3832AB229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IN-007-S12</a:t>
            </a:r>
          </a:p>
        </p:txBody>
      </p:sp>
      <p:sp>
        <p:nvSpPr>
          <p:cNvPr id="6" name="recap-circle-0">
            <a:extLst xmlns:a="http://schemas.openxmlformats.org/drawingml/2006/main">
              <a:ext uri="{FF2B5EF4-FFF2-40B4-BE49-F238E27FC236}">
                <a16:creationId xmlns:a16="http://schemas.microsoft.com/office/drawing/2014/main" id="{EF74861A-12E9-41A7-B519-F2F065776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7" name="recap-number-0">
            <a:extLst xmlns:a="http://schemas.openxmlformats.org/drawingml/2006/main">
              <a:ext uri="{FF2B5EF4-FFF2-40B4-BE49-F238E27FC236}">
                <a16:creationId xmlns:a16="http://schemas.microsoft.com/office/drawing/2014/main" id="{44D79C30-C467-47D7-92D4-CA16D65F5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1</a:t>
            </a:r>
          </a:p>
        </p:txBody>
      </p:sp>
      <p:sp>
        <p:nvSpPr>
          <p:cNvPr id="8" name="recap-item-0">
            <a:extLst xmlns:a="http://schemas.openxmlformats.org/drawingml/2006/main">
              <a:ext uri="{FF2B5EF4-FFF2-40B4-BE49-F238E27FC236}">
                <a16:creationId xmlns:a16="http://schemas.microsoft.com/office/drawing/2014/main" id="{9271F525-25B9-4DEF-9B64-0670ED843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现场资料先保存，再分析</a:t>
            </a:r>
          </a:p>
        </p:txBody>
      </p:sp>
      <p:sp>
        <p:nvSpPr>
          <p:cNvPr id="9" name="recap-connector-0">
            <a:extLst xmlns:a="http://schemas.openxmlformats.org/drawingml/2006/main">
              <a:ext uri="{FF2B5EF4-FFF2-40B4-BE49-F238E27FC236}">
                <a16:creationId xmlns:a16="http://schemas.microsoft.com/office/drawing/2014/main" id="{08D85940-191C-4E8F-A85D-6DE969DB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0" name="recap-circle-1">
            <a:extLst xmlns:a="http://schemas.openxmlformats.org/drawingml/2006/main">
              <a:ext uri="{FF2B5EF4-FFF2-40B4-BE49-F238E27FC236}">
                <a16:creationId xmlns:a16="http://schemas.microsoft.com/office/drawing/2014/main" id="{80E6F348-85BA-43CB-AD77-C84CB2F95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44027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1" name="recap-number-1">
            <a:extLst xmlns:a="http://schemas.openxmlformats.org/drawingml/2006/main">
              <a:ext uri="{FF2B5EF4-FFF2-40B4-BE49-F238E27FC236}">
                <a16:creationId xmlns:a16="http://schemas.microsoft.com/office/drawing/2014/main" id="{CE44810F-C33E-4BB5-A79D-48CA573E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2</a:t>
            </a:r>
          </a:p>
        </p:txBody>
      </p:sp>
      <p:sp>
        <p:nvSpPr>
          <p:cNvPr id="12" name="recap-item-1">
            <a:extLst xmlns:a="http://schemas.openxmlformats.org/drawingml/2006/main">
              <a:ext uri="{FF2B5EF4-FFF2-40B4-BE49-F238E27FC236}">
                <a16:creationId xmlns:a16="http://schemas.microsoft.com/office/drawing/2014/main" id="{66483BF1-1188-43D0-A5A6-F7F77035E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835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调查容易出现确认偏差：一旦形成最初印象，后续只寻找支持它的证据</a:t>
            </a:r>
          </a:p>
        </p:txBody>
      </p:sp>
      <p:sp>
        <p:nvSpPr>
          <p:cNvPr id="13" name="recap-connector-1">
            <a:extLst xmlns:a="http://schemas.openxmlformats.org/drawingml/2006/main">
              <a:ext uri="{FF2B5EF4-FFF2-40B4-BE49-F238E27FC236}">
                <a16:creationId xmlns:a16="http://schemas.microsoft.com/office/drawing/2014/main" id="{ACC0CCC1-87E1-419A-83D9-D489B6DA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850" y="2343150"/>
            <a:ext cx="247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E5783F"/>
            </a:solidFill>
            <a:prstDash val="solid"/>
          </a:ln>
        </p:spPr>
      </p:sp>
      <p:sp>
        <p:nvSpPr>
          <p:cNvPr id="14" name="recap-circle-2">
            <a:extLst xmlns:a="http://schemas.openxmlformats.org/drawingml/2006/main">
              <a:ext uri="{FF2B5EF4-FFF2-40B4-BE49-F238E27FC236}">
                <a16:creationId xmlns:a16="http://schemas.microsoft.com/office/drawing/2014/main" id="{889D66D4-5CD1-4134-B573-7D6D6A8B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550" y="2038350"/>
            <a:ext cx="609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28575">
            <a:solidFill>
              <a:srgbClr val="FFFFFF"/>
            </a:solidFill>
            <a:prstDash val="solid"/>
          </a:ln>
        </p:spPr>
      </p:sp>
      <p:sp>
        <p:nvSpPr>
          <p:cNvPr id="15" name="recap-number-2">
            <a:extLst xmlns:a="http://schemas.openxmlformats.org/drawingml/2006/main">
              <a:ext uri="{FF2B5EF4-FFF2-40B4-BE49-F238E27FC236}">
                <a16:creationId xmlns:a16="http://schemas.microsoft.com/office/drawing/2014/main" id="{60BFDE48-B9AF-4D9F-875E-4F089A552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8950" y="2181225"/>
            <a:ext cx="304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FFFFFF"/>
                </a:solidFill>
                <a:latin typeface="PingFang SC"/>
                <a:ea typeface="PingFang SC"/>
                <a:cs typeface="PingFang SC"/>
              </a:rPr>
              <a:t>3</a:t>
            </a:r>
          </a:p>
        </p:txBody>
      </p:sp>
      <p:sp>
        <p:nvSpPr>
          <p:cNvPr id="16" name="recap-item-2">
            <a:extLst xmlns:a="http://schemas.openxmlformats.org/drawingml/2006/main">
              <a:ext uri="{FF2B5EF4-FFF2-40B4-BE49-F238E27FC236}">
                <a16:creationId xmlns:a16="http://schemas.microsoft.com/office/drawing/2014/main" id="{222390C2-C87E-46C5-8B31-5BCCCB362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3700" y="2952750"/>
            <a:ext cx="30353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19050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1725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AI 可以生成材料目录、时间线草稿、规范检索结果、假设矩阵和报告结构</a:t>
            </a:r>
          </a:p>
        </p:txBody>
      </p:sp>
    </p:spTree>
    <p:extLst>
      <p:ext uri="{BB962C8B-B14F-4D97-AF65-F5344CB8AC3E}">
        <p14:creationId xmlns:p14="http://schemas.microsoft.com/office/powerpoint/2010/main" val="202287631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5E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13-rule">
            <a:extLst xmlns:a="http://schemas.openxmlformats.org/drawingml/2006/main">
              <a:ext uri="{FF2B5EF4-FFF2-40B4-BE49-F238E27FC236}">
                <a16:creationId xmlns:a16="http://schemas.microsoft.com/office/drawing/2014/main" id="{DF253647-B4E6-47B2-AF75-DA1EAF273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666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2" name="s13-eyebrow">
            <a:extLst xmlns:a="http://schemas.openxmlformats.org/drawingml/2006/main">
              <a:ext uri="{FF2B5EF4-FFF2-40B4-BE49-F238E27FC236}">
                <a16:creationId xmlns:a16="http://schemas.microsoft.com/office/drawing/2014/main" id="{5D026674-8A0D-40D4-BAB5-42493B12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28650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3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来源与延伸</a:t>
            </a:r>
          </a:p>
        </p:txBody>
      </p:sp>
      <p:sp>
        <p:nvSpPr>
          <p:cNvPr id="3" name="s13-title">
            <a:extLst xmlns:a="http://schemas.openxmlformats.org/drawingml/2006/main">
              <a:ext uri="{FF2B5EF4-FFF2-40B4-BE49-F238E27FC236}">
                <a16:creationId xmlns:a16="http://schemas.microsoft.com/office/drawing/2014/main" id="{BFC276ED-1A26-433A-A37A-D50DB40F9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572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defRPr>
            </a:pPr>
            <a:r>
              <a:rPr sz="3300" b="1">
                <a:solidFill>
                  <a:srgbClr val="0B1F3A"/>
                </a:solidFill>
                <a:latin typeface="PingFang SC"/>
                <a:ea typeface="PingFang SC"/>
                <a:cs typeface="PingFang SC"/>
              </a:rPr>
              <a:t>从公开重制课件回到可核对的学习资料</a:t>
            </a:r>
          </a:p>
        </p:txBody>
      </p:sp>
      <p:sp>
        <p:nvSpPr>
          <p:cNvPr id="4" name="s13-footer">
            <a:extLst xmlns:a="http://schemas.openxmlformats.org/drawingml/2006/main">
              <a:ext uri="{FF2B5EF4-FFF2-40B4-BE49-F238E27FC236}">
                <a16:creationId xmlns:a16="http://schemas.microsoft.com/office/drawing/2014/main" id="{D0E3FB64-C9D7-490B-8047-32F054BD8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81725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E0E8"/>
            </a:solidFill>
            <a:prstDash val="solid"/>
          </a:ln>
        </p:spPr>
      </p:sp>
      <p:sp>
        <p:nvSpPr>
          <p:cNvPr id="5" name="s13-identity">
            <a:extLst xmlns:a="http://schemas.openxmlformats.org/drawingml/2006/main">
              <a:ext uri="{FF2B5EF4-FFF2-40B4-BE49-F238E27FC236}">
                <a16:creationId xmlns:a16="http://schemas.microsoft.com/office/drawing/2014/main" id="{B8903828-09A6-4EC4-932D-757183224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6238875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0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IN-007 · IN-007-S13</a:t>
            </a:r>
          </a:p>
        </p:txBody>
      </p:sp>
      <p:sp>
        <p:nvSpPr>
          <p:cNvPr id="6" name="source-0">
            <a:extLst xmlns:a="http://schemas.openxmlformats.org/drawingml/2006/main">
              <a:ext uri="{FF2B5EF4-FFF2-40B4-BE49-F238E27FC236}">
                <a16:creationId xmlns:a16="http://schemas.microsoft.com/office/drawing/2014/main" id="{6ABC0D22-2C41-454C-A3E0-A9903ACF8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431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0E8"/>
          </a:solidFill>
          <a:ln xmlns:a="http://schemas.openxmlformats.org/drawingml/2006/main" w="9525">
            <a:solidFill>
              <a:srgbClr val="E5783F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1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01  团队既有课程资料经重新组织、改写与原创视觉重制</a:t>
            </a:r>
          </a:p>
        </p:txBody>
      </p:sp>
      <p:sp>
        <p:nvSpPr>
          <p:cNvPr id="7" name="source-1">
            <a:extLst xmlns:a="http://schemas.openxmlformats.org/drawingml/2006/main">
              <a:ext uri="{FF2B5EF4-FFF2-40B4-BE49-F238E27FC236}">
                <a16:creationId xmlns:a16="http://schemas.microsoft.com/office/drawing/2014/main" id="{95ED727A-3C53-4405-9D5C-C1516535C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289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02  《中华人民共和国消防法》与应急管理部《火灾事故调查规定》：实际使用时还需核对案件所在地现行法律、规章和职责调整</a:t>
            </a:r>
          </a:p>
        </p:txBody>
      </p:sp>
      <p:sp>
        <p:nvSpPr>
          <p:cNvPr id="8" name="source-2">
            <a:extLst xmlns:a="http://schemas.openxmlformats.org/drawingml/2006/main">
              <a:ext uri="{FF2B5EF4-FFF2-40B4-BE49-F238E27FC236}">
                <a16:creationId xmlns:a16="http://schemas.microsoft.com/office/drawing/2014/main" id="{8C4C246F-5F56-49ED-9B71-795301B4B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147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03  NFPA 921：Guide for Fire and Explosion Investigations：NFPA 官方标准开发与版本入口</a:t>
            </a:r>
          </a:p>
        </p:txBody>
      </p:sp>
      <p:sp>
        <p:nvSpPr>
          <p:cNvPr id="9" name="source-3">
            <a:extLst xmlns:a="http://schemas.openxmlformats.org/drawingml/2006/main">
              <a:ext uri="{FF2B5EF4-FFF2-40B4-BE49-F238E27FC236}">
                <a16:creationId xmlns:a16="http://schemas.microsoft.com/office/drawing/2014/main" id="{323CFE2A-7CD3-4C9C-AEC6-FBBB8FF60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00500"/>
            <a:ext cx="103632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8"/>
            </a:solidFill>
            <a:prstDash val="solid"/>
          </a:ln>
        </p:spPr>
        <p:txBody>
          <a:bodyPr xmlns:a="http://schemas.openxmlformats.org/drawingml/2006/main" lIns="152400" tIns="133350" rIns="152400" bIns="133350" anchor="ctr">
            <a:normAutofit fontScale="87377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defRPr>
            </a:pPr>
            <a:r>
              <a:rPr sz="1500" b="0">
                <a:solidFill>
                  <a:srgbClr val="10233F"/>
                </a:solidFill>
                <a:latin typeface="PingFang SC"/>
                <a:ea typeface="PingFang SC"/>
                <a:cs typeface="PingFang SC"/>
              </a:rPr>
              <a:t>04  实际调查必须使用案件所在地现行有效的法律、程序和技术规范，并由具备职责与资质的专业人员实施</a:t>
            </a:r>
          </a:p>
        </p:txBody>
      </p:sp>
      <p:sp>
        <p:nvSpPr>
          <p:cNvPr id="10" name="s13-takeaway-rule">
            <a:extLst xmlns:a="http://schemas.openxmlformats.org/drawingml/2006/main">
              <a:ext uri="{FF2B5EF4-FFF2-40B4-BE49-F238E27FC236}">
                <a16:creationId xmlns:a16="http://schemas.microsoft.com/office/drawing/2014/main" id="{53DB6AF5-C513-4DEC-A026-7C72ECD21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762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783F"/>
          </a:solidFill>
          <a:ln xmlns:a="http://schemas.openxmlformats.org/drawingml/2006/main" w="0">
            <a:solidFill>
              <a:srgbClr val="E5783F"/>
            </a:solidFill>
            <a:prstDash val="solid"/>
          </a:ln>
        </p:spPr>
      </p:sp>
      <p:sp>
        <p:nvSpPr>
          <p:cNvPr id="11" name="s13-takeaway">
            <a:extLst xmlns:a="http://schemas.openxmlformats.org/drawingml/2006/main">
              <a:ext uri="{FF2B5EF4-FFF2-40B4-BE49-F238E27FC236}">
                <a16:creationId xmlns:a16="http://schemas.microsoft.com/office/drawing/2014/main" id="{015A0129-2CCF-4BA5-9876-5584363D0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81650"/>
            <a:ext cx="971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defRPr>
            </a:pPr>
            <a:r>
              <a:rPr sz="1650" b="1">
                <a:solidFill>
                  <a:srgbClr val="744027"/>
                </a:solidFill>
                <a:latin typeface="PingFang SC"/>
                <a:ea typeface="PingFang SC"/>
                <a:cs typeface="PingFang SC"/>
              </a:rPr>
              <a:t>公开幻灯片只使用课程原创文字与原生图形；完整论证、链接和事实边界请见本节讲义。</a:t>
            </a:r>
          </a:p>
        </p:txBody>
      </p:sp>
    </p:spTree>
    <p:extLst>
      <p:ext uri="{BB962C8B-B14F-4D97-AF65-F5344CB8AC3E}">
        <p14:creationId xmlns:p14="http://schemas.microsoft.com/office/powerpoint/2010/main" val="18716181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2026-07-11T12:05:47.7080000Z</dcterms:created>
  <dcterms:modified xsi:type="dcterms:W3CDTF">2026-07-11T12:05:47.7080000Z</dcterms:modified>
</coreProperties>
</file>