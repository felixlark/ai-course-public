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beadc866f24d5e" /><Relationship Type="http://schemas.openxmlformats.org/officeDocument/2006/relationships/extended-properties" Target="/docProps/app.xml" Id="R3cb9c5b891414709" /><Relationship Type="http://schemas.openxmlformats.org/officeDocument/2006/relationships/officeDocument" Target="/ppt/presentation.xml" Id="R3866ac135d2342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c645217c634a5d"/>
  </p:sldMasterIdLst>
  <p:notesMasterIdLst>
    <p:notesMasterId xmlns:r="http://schemas.openxmlformats.org/officeDocument/2006/relationships" r:id="R35f564b25ae447ea"/>
  </p:notesMasterIdLst>
  <p:sldIdLst>
    <p:sldId xmlns:r="http://schemas.openxmlformats.org/officeDocument/2006/relationships" id="256" r:id="Rbe5dca254fb447bc"/>
    <p:sldId xmlns:r="http://schemas.openxmlformats.org/officeDocument/2006/relationships" id="257" r:id="R2c4423325e384d8e"/>
    <p:sldId xmlns:r="http://schemas.openxmlformats.org/officeDocument/2006/relationships" id="258" r:id="R1e6818867e03403f"/>
    <p:sldId xmlns:r="http://schemas.openxmlformats.org/officeDocument/2006/relationships" id="259" r:id="R67d366e0ff1a4a12"/>
    <p:sldId xmlns:r="http://schemas.openxmlformats.org/officeDocument/2006/relationships" id="260" r:id="Rab50fd0fa87c42aa"/>
    <p:sldId xmlns:r="http://schemas.openxmlformats.org/officeDocument/2006/relationships" id="261" r:id="R17d67a8d1fe94f82"/>
    <p:sldId xmlns:r="http://schemas.openxmlformats.org/officeDocument/2006/relationships" id="262" r:id="R79b6cceb583d4887"/>
    <p:sldId xmlns:r="http://schemas.openxmlformats.org/officeDocument/2006/relationships" id="263" r:id="Ra4ffc3c142414e16"/>
    <p:sldId xmlns:r="http://schemas.openxmlformats.org/officeDocument/2006/relationships" id="264" r:id="R0fe4acbc5fb34bab"/>
    <p:sldId xmlns:r="http://schemas.openxmlformats.org/officeDocument/2006/relationships" id="265" r:id="R72afce22e52146e7"/>
    <p:sldId xmlns:r="http://schemas.openxmlformats.org/officeDocument/2006/relationships" id="266" r:id="Ra5823b237bbc4942"/>
    <p:sldId xmlns:r="http://schemas.openxmlformats.org/officeDocument/2006/relationships" id="267" r:id="R153f2f0ff05448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689d0f2903488b" /><Relationship Type="http://schemas.openxmlformats.org/officeDocument/2006/relationships/slideMaster" Target="/ppt/slideMasters/slideMaster1.xml" Id="R4ac645217c634a5d" /><Relationship Type="http://schemas.openxmlformats.org/officeDocument/2006/relationships/notesMaster" Target="/ppt/notesMasters/notesMaster1.xml" Id="R35f564b25ae447ea" /><Relationship Type="http://schemas.openxmlformats.org/officeDocument/2006/relationships/presProps" Target="/ppt/presProps.xml" Id="R7126c16dfefc4a51" /><Relationship Type="http://schemas.openxmlformats.org/officeDocument/2006/relationships/tableStyles" Target="/ppt/tableStyles.xml" Id="R3e4b3bbb26574523" /><Relationship Type="http://schemas.openxmlformats.org/officeDocument/2006/relationships/slide" Target="/ppt/slides/slide1.xml" Id="Rbe5dca254fb447bc" /><Relationship Type="http://schemas.openxmlformats.org/officeDocument/2006/relationships/slide" Target="/ppt/slides/slide2.xml" Id="R2c4423325e384d8e" /><Relationship Type="http://schemas.openxmlformats.org/officeDocument/2006/relationships/slide" Target="/ppt/slides/slide3.xml" Id="R1e6818867e03403f" /><Relationship Type="http://schemas.openxmlformats.org/officeDocument/2006/relationships/slide" Target="/ppt/slides/slide4.xml" Id="R67d366e0ff1a4a12" /><Relationship Type="http://schemas.openxmlformats.org/officeDocument/2006/relationships/slide" Target="/ppt/slides/slide5.xml" Id="Rab50fd0fa87c42aa" /><Relationship Type="http://schemas.openxmlformats.org/officeDocument/2006/relationships/slide" Target="/ppt/slides/slide6.xml" Id="R17d67a8d1fe94f82" /><Relationship Type="http://schemas.openxmlformats.org/officeDocument/2006/relationships/slide" Target="/ppt/slides/slide7.xml" Id="R79b6cceb583d4887" /><Relationship Type="http://schemas.openxmlformats.org/officeDocument/2006/relationships/slide" Target="/ppt/slides/slide8.xml" Id="Ra4ffc3c142414e16" /><Relationship Type="http://schemas.openxmlformats.org/officeDocument/2006/relationships/slide" Target="/ppt/slides/slide9.xml" Id="R0fe4acbc5fb34bab" /><Relationship Type="http://schemas.openxmlformats.org/officeDocument/2006/relationships/slide" Target="/ppt/slides/slide10.xml" Id="R72afce22e52146e7" /><Relationship Type="http://schemas.openxmlformats.org/officeDocument/2006/relationships/slide" Target="/ppt/slides/slide11.xml" Id="Ra5823b237bbc4942" /><Relationship Type="http://schemas.openxmlformats.org/officeDocument/2006/relationships/slide" Target="/ppt/slides/slide12.xml" Id="R153f2f0ff05448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95daf4f48048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292cead02c401e" /><Relationship Type="http://schemas.openxmlformats.org/officeDocument/2006/relationships/notesMaster" Target="/ppt/notesMasters/notesMaster1.xml" Id="R45049581c8a543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0eb9577f754f10" /><Relationship Type="http://schemas.openxmlformats.org/officeDocument/2006/relationships/notesMaster" Target="/ppt/notesMasters/notesMaster1.xml" Id="Rc5230a4446404f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7f54367e6c41ed" /><Relationship Type="http://schemas.openxmlformats.org/officeDocument/2006/relationships/notesMaster" Target="/ppt/notesMasters/notesMaster1.xml" Id="R97d82665419149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d27ff8d2104f27" /><Relationship Type="http://schemas.openxmlformats.org/officeDocument/2006/relationships/notesMaster" Target="/ppt/notesMasters/notesMaster1.xml" Id="R744dcf71118b48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ad1dcbc6474c13" /><Relationship Type="http://schemas.openxmlformats.org/officeDocument/2006/relationships/notesMaster" Target="/ppt/notesMasters/notesMaster1.xml" Id="Rc8877004a1dd49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a8c42e53a649b0" /><Relationship Type="http://schemas.openxmlformats.org/officeDocument/2006/relationships/notesMaster" Target="/ppt/notesMasters/notesMaster1.xml" Id="R5b9d4179f56c4f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1146371a384d0b" /><Relationship Type="http://schemas.openxmlformats.org/officeDocument/2006/relationships/notesMaster" Target="/ppt/notesMasters/notesMaster1.xml" Id="R409e58a705db4f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60d376b1f44a5b" /><Relationship Type="http://schemas.openxmlformats.org/officeDocument/2006/relationships/notesMaster" Target="/ppt/notesMasters/notesMaster1.xml" Id="Re4c0c4a01c094b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27d2d9d6924172" /><Relationship Type="http://schemas.openxmlformats.org/officeDocument/2006/relationships/notesMaster" Target="/ppt/notesMasters/notesMaster1.xml" Id="R964e5d222eb64f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0e6d8c508f481f" /><Relationship Type="http://schemas.openxmlformats.org/officeDocument/2006/relationships/notesMaster" Target="/ppt/notesMasters/notesMaster1.xml" Id="R3090d8efb48f4e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28071726894963" /><Relationship Type="http://schemas.openxmlformats.org/officeDocument/2006/relationships/notesMaster" Target="/ppt/notesMasters/notesMaster1.xml" Id="Ra65dfb7cf03347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f10d049b664119" /><Relationship Type="http://schemas.openxmlformats.org/officeDocument/2006/relationships/notesMaster" Target="/ppt/notesMasters/notesMaster1.xml" Id="R5fc3f9dfa7d24d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8fb9255aa4c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bf68258a2404d" /><Relationship Type="http://schemas.openxmlformats.org/officeDocument/2006/relationships/slideLayout" Target="/ppt/slideLayouts/slideLayout1.xml" Id="R55cfab1c31de47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cfab1c31de47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b326d15ce471c" /><Relationship Type="http://schemas.openxmlformats.org/officeDocument/2006/relationships/notesSlide" Target="/ppt/notesSlides/notesSlide1.xml" Id="Racd0f03dbd9644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e3b0884c04c21" /><Relationship Type="http://schemas.openxmlformats.org/officeDocument/2006/relationships/notesSlide" Target="/ppt/notesSlides/notesSlide2.xml" Id="R34707e9bf4f74f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9ad88cb2148ac" /><Relationship Type="http://schemas.openxmlformats.org/officeDocument/2006/relationships/notesSlide" Target="/ppt/notesSlides/notesSlide3.xml" Id="Re5432d8b715a4b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d78ab1a85430d" /><Relationship Type="http://schemas.openxmlformats.org/officeDocument/2006/relationships/notesSlide" Target="/ppt/notesSlides/notesSlide4.xml" Id="Rc8065f73a8464d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5b23c554e47d1" /><Relationship Type="http://schemas.openxmlformats.org/officeDocument/2006/relationships/notesSlide" Target="/ppt/notesSlides/notesSlide5.xml" Id="R159835aa3ef849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0d05fd6f245dc" /><Relationship Type="http://schemas.openxmlformats.org/officeDocument/2006/relationships/notesSlide" Target="/ppt/notesSlides/notesSlide6.xml" Id="R15b1352cbf2a4d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345639b3f414b" /><Relationship Type="http://schemas.openxmlformats.org/officeDocument/2006/relationships/notesSlide" Target="/ppt/notesSlides/notesSlide7.xml" Id="R1a070e8b988047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47055025a4b80" /><Relationship Type="http://schemas.openxmlformats.org/officeDocument/2006/relationships/notesSlide" Target="/ppt/notesSlides/notesSlide8.xml" Id="Raee76d0e884f41c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8745d327540e6" /><Relationship Type="http://schemas.openxmlformats.org/officeDocument/2006/relationships/notesSlide" Target="/ppt/notesSlides/notesSlide9.xml" Id="R00d7bde3059f47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d00941e894364" /><Relationship Type="http://schemas.openxmlformats.org/officeDocument/2006/relationships/notesSlide" Target="/ppt/notesSlides/notesSlide10.xml" Id="R7533d6edb75344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0dbf701e94293" /><Relationship Type="http://schemas.openxmlformats.org/officeDocument/2006/relationships/notesSlide" Target="/ppt/notesSlides/notesSlide11.xml" Id="R814250142296485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0b7c4c84e4086" /><Relationship Type="http://schemas.openxmlformats.org/officeDocument/2006/relationships/notesSlide" Target="/ppt/notesSlides/notesSlide12.xml" Id="R8e15317f0c0041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2DACCBCB-3E97-419D-802C-11D25A3E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47238DC1-7ED8-465E-AC41-5327BF7E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276A6220-1E59-49D7-AA7C-9754020D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747B2B3A-A399-40E8-895F-9292FCB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05D97ED3-1DE1-4FD7-A819-12DD30BA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F53B91A-1DE7-4BFE-A66D-947C4DAC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A7955DB8-0773-423B-9F41-BA7B60D3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E9BF783-EF20-4822-B9F3-877661DB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高校教学与科研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075DFA0-3695-4F1C-A826-410A127B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分析 AI 在备课、学习反馈、文献检索、科研写作和知识管理中的价值与边界。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817B154-7851-4E51-8246-A276A94C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036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在高校中，AI 最有价值的角色不是“代写者”；而是受约束的助理，它能帮助教师整理材料、设计活动、形成反馈草稿；也能帮助研究者扩展检索式、提取文献信息、检查代码和组织写作结构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BB18594-E740-4B59-86EC-FEBC1E92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105E4DBF-05F1-4AE6-A7AF-EFCAA2E4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IN-002 · IN-002-S01</a:t>
            </a:r>
          </a:p>
        </p:txBody>
      </p:sp>
    </p:spTree>
    <p:extLst>
      <p:ext uri="{BB962C8B-B14F-4D97-AF65-F5344CB8AC3E}">
        <p14:creationId xmlns:p14="http://schemas.microsoft.com/office/powerpoint/2010/main" val="108365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4B1A0175-CEC0-4848-84A6-A3C7F479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A7849F0-71F9-4E15-906D-3A14E2E8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C86B859-46E3-4BD1-8141-E838B5B2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07AAF1B-21A4-4C12-8E6E-888D4100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910C66CF-AD59-4F5C-B18E-B44C35A8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B08D7D9-D286-4D24-B2FB-169B83F3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设计“目标—资料—生成—核验—实施—反馈”的教学辅助工作流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12DDCF4B-A2F2-409A-A4C7-00B160C2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建立从文献检索、原文核验到实验复现和论文写作的科研辅助工作流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0B1FD452-D35A-4BE2-8BC9-B76318E7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正确处理学生数据、未公开研究数据、版权材料与敏感信息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AC348C58-811A-4D88-9856-15E91B5A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解释学术诚信、使用披露和作者责任为什么不能交给模型承担</a:t>
            </a:r>
          </a:p>
        </p:txBody>
      </p:sp>
    </p:spTree>
    <p:extLst>
      <p:ext uri="{BB962C8B-B14F-4D97-AF65-F5344CB8AC3E}">
        <p14:creationId xmlns:p14="http://schemas.microsoft.com/office/powerpoint/2010/main" val="5612445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121067E2-6336-4DD6-983F-1A8ED53A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509E9A8-3A6F-40ED-823C-1C56AA6C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355DA54D-9EEF-4BA0-BBE5-D60FF698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A5118215-9F60-4451-9C18-2C69B7B5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FE24633-8BE0-41F0-A9FB-80841AE2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E8828F4-4AB6-4E26-9A72-784C3AA7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E984A42-B406-4FD0-929B-36FE7529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教学工作流：从学习目标到反馈闭环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EC19516-B1EA-4513-B910-3F55616F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第一步是确定学习目标与评价证据；再让 AI 提供辅助；教师可以输入课程主题、学生基础、课时和可使用资料；请 AI 生成案例、问题梯度或活动草案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9CF86D0-D9F1-4BA7-9CB1-DA99ED19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70D36B9-F17B-498C-B578-12CC026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课堂实施前，应保留教师批准的版本并准备无 AI 的替代方案；实施中可以用 AI 汇总匿名问题或生成练习反馈；但不能把模型评分直接当作最终成绩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B1BA0F5-19BC-4450-AB23-3A481A9F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83B683C-637F-40AA-B98F-5B4ED731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课后把学生表现、常见误解和教师观察合并分析，再调整下一轮活动。不能只依据模型摘要改变课程，因为摘要可能遗漏少数学生、误读反讽表达，或把相关性当成原因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6F627B29-1745-47E8-8AEA-0238D98B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C069BAC-9ED5-4509-9573-C1B4E21A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</p:spTree>
    <p:extLst>
      <p:ext uri="{BB962C8B-B14F-4D97-AF65-F5344CB8AC3E}">
        <p14:creationId xmlns:p14="http://schemas.microsoft.com/office/powerpoint/2010/main" val="4445491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51DC4D2-C7AA-44A5-99EF-32CF63F1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6641E01-CB83-4A91-8066-B511E523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4E8F590D-951A-40D6-8E70-0A8FB431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研究者应先提出问题、边界和纳入排除标准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11D57E2-7091-4004-9C17-F0600BC6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052C1CF5-7EE2-4D3F-91C5-71DC49F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DFE2643-BDF4-44AA-BDC6-120137B3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1F7A70E-748A-4D83-A262-0F03D6DD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科研工作流：从问题到可追溯结论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EF5A99D-9580-466C-A0A2-21D95970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研究者应先提出问题、边界和纳入排除标准；再选择适合的学术数据库、机构知识库或专业索引；AI 可以帮助扩展同义词、构造检索式和初步分类；但不应成为唯一检索入口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04A019B-F957-4EED-9959-6977889B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42155EF-5D2B-4CF5-9398-EF32A869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对每条候选文献，必须回到可识别的原始记录或全文；核对题名、作者、年份、载体、页码或 DOI；并阅读支持相关主张的上下文；模型给出的书目条目只能视为待核线索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46BBA28C-24F7-4970-AA02-0A7A8B55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8754933-FC6B-4DCB-8C0E-E7283206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文献提取后，可建立“主张—证据—限制”表：每个结论对应哪项研究、什么方法和样本、适用边界是什么。这样写作时不会把不同论文的结果拼成一个并不存在的共识，也能区分论文作者的发现与自己的推断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4AB11204-8F87-450A-9A54-40E86736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115D7F66-E3C8-4FDD-A8A7-1928F477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研究者应先提出问题、边界和纳入排除标准</a:t>
            </a:r>
          </a:p>
        </p:txBody>
      </p:sp>
    </p:spTree>
    <p:extLst>
      <p:ext uri="{BB962C8B-B14F-4D97-AF65-F5344CB8AC3E}">
        <p14:creationId xmlns:p14="http://schemas.microsoft.com/office/powerpoint/2010/main" val="10486048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51BD56FD-F91F-4EC7-BCEC-19FB8A1F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53D6BA12-4FEE-409D-9D81-936E68B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DAA5186D-E4FC-4211-BE68-6EF223A5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5F089C95-8C86-4F27-92B0-0ACFE747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9A900957-699D-4A8B-98F9-9D105478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54D691D-8646-466B-90A5-8E858D31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3AAB50C-200E-45F9-BF17-C9BF320B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实验复现：让结果能够被重新运行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B76D4F7-0527-4167-AF7A-57C1B8DC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可以解释报错、补充测试或提出代码修改；但研究者需要记录软件与依赖版本、硬件环境、数据版本、预处理、参数、随机种子和评价脚本；自动生成的代码必须经过代码审查、单元测试和独立运行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4886C55-B172-4BAF-B4C8-4F48FD88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14336FE-D608-4BF6-BCE4-E3A9D7A0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复现至少回答三个问题；使用相同资料能否得到相同结果；改变合理参数后结论是否稳定；失败结果和偏离原研究的部分是否如实记录；若原数据受限，应说明取得条件并提供可公开的替代验证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7B339AC7-30F3-47EB-BDAD-42992E18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AC9F39BA-B494-456E-9DC6-5E0F7734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</p:spTree>
    <p:extLst>
      <p:ext uri="{BB962C8B-B14F-4D97-AF65-F5344CB8AC3E}">
        <p14:creationId xmlns:p14="http://schemas.microsoft.com/office/powerpoint/2010/main" val="392246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222F7CC3-7A5E-4678-8DD5-F51945BB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D34C7BF2-5A65-4290-9236-4153D530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DA18BC29-064A-4A3F-B9D3-27B2EB0B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A1BDFA3-8A14-47AC-9785-B8D337D5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1FBCFD83-CE22-4C7C-9DC3-4D98F863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40E3511-35C8-4993-A506-44FAF881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1EFF362-47AB-4D87-B4A4-88F3030C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数据隐私与最小必要原则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84C17FE-E9FF-4023-B5D2-F99BC41E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学生作业、成绩、课堂录音、访谈、医疗或生物信息；以及尚未公开的研究数据；都可能具有敏感性，使用前应确认法律、伦理审批、知情同意、学校制度和服务商条款允许什么；只提供完成任务所需的最少字段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B14C750-DA2D-40D3-BADA-DE09F849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26E6B46-B6C6-4304-AB91-09A096C7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还要关注“能否被重新识别”：删掉姓名并不一定安全，学号片段、专业、时间和少见经历组合后仍可能指向个人。数据应设置访问角色、保存期限和删除机制，研究团队成员也只能看到职责所需的范围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BF8E5992-498B-4EFB-9CFD-95C0EA8C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F8999300-1E5C-478E-993E-CA383153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</a:t>
            </a:r>
          </a:p>
        </p:txBody>
      </p:sp>
    </p:spTree>
    <p:extLst>
      <p:ext uri="{BB962C8B-B14F-4D97-AF65-F5344CB8AC3E}">
        <p14:creationId xmlns:p14="http://schemas.microsoft.com/office/powerpoint/2010/main" val="255875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E07B0B43-4600-4D79-9173-46489456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5A5AB65D-A097-406D-8380-9D181BA2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2400C8F2-8A8A-4220-B38C-C2B8795F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880E282-EBAE-4FC8-A46D-D62A2687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AA166EF0-7A74-4077-A92C-DD32823C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BCDBA0F-2015-4B27-A2D2-4954F5C3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1427AA7-2B9B-4DD2-82A9-E0BF6ACB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学术诚信与作者责任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EF2D161-BDAB-4BB9-A556-79B6418B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不同学校、课程、期刊和资助机构对 AI 使用的规则可能不同；提交前必须查阅适用要求；并按要求披露使用目的与范围；不得把 AI 生成的文字、图像、代码或分析冒充为未经辅助的原创成果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88A058F-F291-4316-81C1-438F9AF5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5C34962-7117-4A27-B76C-A6F85BA8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模型不能核准最终文本、回应质疑、披露利益冲突或对研究诚信承担责任；因此不能替代作者，署名者必须能够解释方法、核验所有引用、确认数据和图表、审查版权与隐私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3C1C980E-7BD7-46AB-A6CD-B957503E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88B56EB-F9B4-4133-8273-B092CAA1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</p:spTree>
    <p:extLst>
      <p:ext uri="{BB962C8B-B14F-4D97-AF65-F5344CB8AC3E}">
        <p14:creationId xmlns:p14="http://schemas.microsoft.com/office/powerpoint/2010/main" val="13484704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503FCD6-521D-47F9-A637-B4941B07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8E7B2B36-AF26-43DE-B064-84DD2548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A26A158A-4B3C-4A77-BCBF-72C1967A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教学材料与学习评价需要双重核验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4459321-5832-499D-AE98-97E04F6C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BED4824E-4F93-484B-897D-A7EBFFBD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B9DA836-57C2-43DE-8A1A-C0C037E3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教学活动的双重核验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C46ECFB0-F495-43BD-B524-7B4E5474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任务｜教师为不同基础的学生设计一组关于机器学习偏差的讨论题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C4C55DC-AD1C-4A0E-9B1F-22E2EC89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922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流程｜先写出学习目标与评分标准，再让 AI 生成候选案例；教师回到可靠资料核验事实，检查语言与难度，并为没有设备的学生提供等价活动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80C74F3-806C-4130-8C23-CE55D2F4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实施｜AI 只汇总匿名反馈，最终评价由教师依据公开量规完成；学生可以对反馈提出复核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472E0F98-0BE1-43D7-8D35-368477B1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责任｜教师决定采用哪些材料，并对课程公平性与评价结果负责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02514BCD-3C55-4007-A52F-7FDFD3B6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8663A544-A583-4EE1-94B5-DB75B3B1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教学材料与学习评价需要双重核验</a:t>
            </a:r>
          </a:p>
        </p:txBody>
      </p:sp>
    </p:spTree>
    <p:extLst>
      <p:ext uri="{BB962C8B-B14F-4D97-AF65-F5344CB8AC3E}">
        <p14:creationId xmlns:p14="http://schemas.microsoft.com/office/powerpoint/2010/main" val="20374851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A8C318BA-960A-44B9-8F7F-2DA8C6B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E453A525-789A-451F-936E-EE919774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9543254C-A8BE-445F-BA0E-CB7EE47F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检索式、依赖与数据版本共同决定可复现性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D52A407-7EB3-4D99-8359-97246202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33497479-AFF8-43B0-AC4F-B2943C98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ACAFC79A-F827-4885-9094-F140E12A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文献检索与实验复现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A10DCA1-8F8D-4551-B243-876EFD43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任务｜研究小组要验证一种公开算法在新数据上的表现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82DA8D35-8A56-498E-9DC5-1F899252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79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流程｜AI 协助扩展关键词和解释代码，但成员逐条核对论文记录与原文，保存检索式；随后锁定依赖、数据版本、参数和评价脚本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AF079D24-EE99-4DFC-BBC5-AED588DB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核验｜一名成员运行实验，另一名成员根据记录独立复现；不一致之处进入问题清单，不让模型自行补齐缺失结果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1B726C20-26A7-4F0F-B900-F6C2DFD7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交付｜论文说明 AI 的使用范围、复现差异和数据限制，作者共同确认全部引用与结论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349B2B6-FECC-40C0-98B6-93BC9B67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18BF66FE-697A-47F5-9102-FE031C4C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检索式、依赖与数据版本共同决定可复现性</a:t>
            </a:r>
          </a:p>
        </p:txBody>
      </p:sp>
    </p:spTree>
    <p:extLst>
      <p:ext uri="{BB962C8B-B14F-4D97-AF65-F5344CB8AC3E}">
        <p14:creationId xmlns:p14="http://schemas.microsoft.com/office/powerpoint/2010/main" val="11833010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51B01159-A43D-493E-958E-FE049ADD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DEA0CDE2-A4C9-44BF-A36D-607ED998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750B7EFD-776F-44CF-880C-C09699CC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903BF09-3C1D-4379-97BB-D73A568F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78F4789-E879-44D9-9B5D-3B835D17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4ED2AC00-682F-4199-81D3-D458BA1D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2A2DBBB-8C3A-4447-8C01-B5F9E2FA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5EB66D2D-A804-4A6F-82CB-F8F8E3A4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教学方向：写出一个学习目标、一个可观察的评价证据和一项课堂活动，让 AI 生成三个候选方案，再逐条记录事实、难度、公平性和隐私检查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A8D6AE6-F855-4906-BACF-C42CAC6E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21123B31-3D06-4723-BCAA-DE13BC29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1AE69A98-2D3B-4574-8EC8-7239859E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E7D564B-37DE-4EFE-B226-160E64FE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科研方向：围绕一个问题建立五条候选文献的“主张—原文证据—限制”表，并逐条核对完整书目信息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A41C350B-C80F-4251-8475-A1322E3F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100B4B1C-24DC-456B-AD27-54062AD7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000DE37D-81CA-4ED7-96A9-35819F03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F99C05AA-967A-4664-9DC1-314895B2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为其中一个公开实验写出环境、数据、参数、随机性和评价复现清单，请另一位学习者按清单尝试复现</a:t>
            </a:r>
          </a:p>
        </p:txBody>
      </p:sp>
    </p:spTree>
    <p:extLst>
      <p:ext uri="{BB962C8B-B14F-4D97-AF65-F5344CB8AC3E}">
        <p14:creationId xmlns:p14="http://schemas.microsoft.com/office/powerpoint/2010/main" val="11411130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0FF87196-0AA3-4DD7-8928-403AB89E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F11C78E1-65E5-4735-821B-2E3683AE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BBF43C4-BB92-4A4F-A081-16CA14F5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98DB1FC-BE3E-4F37-A5ED-F27802B3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D0E725F3-F393-46A6-91B6-08353763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A78BF569-8DDE-42D3-BA25-2EC07BF1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89C8B96C-5116-4D4B-966D-094DC7E2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D1EE3A5-2699-4B4C-B39C-8358465A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4AED9580-9E15-4FDF-BACF-BE2DE6D6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4463250-69B3-483F-9DF5-AC2610AB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ECD1A80-E784-4E69-BB91-43F6788E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10497790-C653-4A47-B668-572FED78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510107D7-EF7B-4309-8796-ADDE6008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83988EF-73CF-419E-B6DC-CC2D5115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B9992ECB-82F0-4C81-96C9-B7388EB1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4D90ACB0-AB5F-4629-AF43-DE71D51D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</p:spTree>
    <p:extLst>
      <p:ext uri="{BB962C8B-B14F-4D97-AF65-F5344CB8AC3E}">
        <p14:creationId xmlns:p14="http://schemas.microsoft.com/office/powerpoint/2010/main" val="19197893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F98E6445-C0B2-42A7-8752-1F0D6333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94CE64E-1829-4912-B16B-4A57D329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3BD8FB5-7FDE-449C-A169-155A8725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C6FEC910-24F1-4BF7-B73F-7F5393A9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37170F0F-95DD-4182-B839-D52C0110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173DEA55-0BDD-4F44-84E2-BD8E40E4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A0906979-1AE2-4308-8D7B-67D08B84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UNESCO：Guidance for generative AI in education and research：生成式 AI 在教育与科研中的以人为本指导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F40BB57F-363E-4C06-B1F2-66460B53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Committee on Publication Ethics（COPE）：Authorship and AI tools：AI 工具不能承担作者责任的出版伦理立场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94C332EB-7564-41BF-8B1F-547F03B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进行具体教学或投稿前，应查阅所在学校、课程、伦理委员会、期刊与资助机构的现行规则</a:t>
            </a:r>
          </a:p>
        </p:txBody>
      </p:sp>
      <p:sp>
        <p:nvSpPr>
          <p:cNvPr id="10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E3306A5F-1C63-4284-8CC6-E1C3910E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537A492C-E393-4177-BF9E-5C948AE5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8850952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2026-07-11T16:55:55.4260000Z</dcterms:created>
  <dcterms:modified xsi:type="dcterms:W3CDTF">2026-07-11T16:55:55.4260000Z</dcterms:modified>
</coreProperties>
</file>