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ae68ac2d9d4a1b" /><Relationship Type="http://schemas.openxmlformats.org/officeDocument/2006/relationships/extended-properties" Target="/docProps/app.xml" Id="R9ea8b96420044f01" /><Relationship Type="http://schemas.openxmlformats.org/officeDocument/2006/relationships/officeDocument" Target="/ppt/presentation.xml" Id="Rcfe53b33021e4a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94a477067f4f36"/>
  </p:sldMasterIdLst>
  <p:notesMasterIdLst>
    <p:notesMasterId xmlns:r="http://schemas.openxmlformats.org/officeDocument/2006/relationships" r:id="R4881526c96bc43ff"/>
  </p:notesMasterIdLst>
  <p:sldIdLst>
    <p:sldId xmlns:r="http://schemas.openxmlformats.org/officeDocument/2006/relationships" id="256" r:id="Re33c9056823f48b5"/>
    <p:sldId xmlns:r="http://schemas.openxmlformats.org/officeDocument/2006/relationships" id="257" r:id="R5f76a4e33c1b4706"/>
    <p:sldId xmlns:r="http://schemas.openxmlformats.org/officeDocument/2006/relationships" id="258" r:id="R6eecc0d2e7b34486"/>
    <p:sldId xmlns:r="http://schemas.openxmlformats.org/officeDocument/2006/relationships" id="259" r:id="Rff48d4816f3842c2"/>
    <p:sldId xmlns:r="http://schemas.openxmlformats.org/officeDocument/2006/relationships" id="260" r:id="Ra745c856af0740d4"/>
    <p:sldId xmlns:r="http://schemas.openxmlformats.org/officeDocument/2006/relationships" id="261" r:id="Rc03b8fa7f5c64d38"/>
    <p:sldId xmlns:r="http://schemas.openxmlformats.org/officeDocument/2006/relationships" id="262" r:id="Rcdf7e1777c19490f"/>
    <p:sldId xmlns:r="http://schemas.openxmlformats.org/officeDocument/2006/relationships" id="263" r:id="Rd9ac07eb5d0e4853"/>
    <p:sldId xmlns:r="http://schemas.openxmlformats.org/officeDocument/2006/relationships" id="264" r:id="R9fc9ff9c10a94532"/>
    <p:sldId xmlns:r="http://schemas.openxmlformats.org/officeDocument/2006/relationships" id="265" r:id="R57e55ab13f614ccd"/>
    <p:sldId xmlns:r="http://schemas.openxmlformats.org/officeDocument/2006/relationships" id="266" r:id="R1638ed91996142f7"/>
    <p:sldId xmlns:r="http://schemas.openxmlformats.org/officeDocument/2006/relationships" id="267" r:id="R849d119ea49947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8c4483ef5a41a5" /><Relationship Type="http://schemas.openxmlformats.org/officeDocument/2006/relationships/slideMaster" Target="/ppt/slideMasters/slideMaster1.xml" Id="R2894a477067f4f36" /><Relationship Type="http://schemas.openxmlformats.org/officeDocument/2006/relationships/notesMaster" Target="/ppt/notesMasters/notesMaster1.xml" Id="R4881526c96bc43ff" /><Relationship Type="http://schemas.openxmlformats.org/officeDocument/2006/relationships/presProps" Target="/ppt/presProps.xml" Id="Raa8a82c0aa7a4cc3" /><Relationship Type="http://schemas.openxmlformats.org/officeDocument/2006/relationships/tableStyles" Target="/ppt/tableStyles.xml" Id="Rd1c9e837192148fd" /><Relationship Type="http://schemas.openxmlformats.org/officeDocument/2006/relationships/slide" Target="/ppt/slides/slide1.xml" Id="Re33c9056823f48b5" /><Relationship Type="http://schemas.openxmlformats.org/officeDocument/2006/relationships/slide" Target="/ppt/slides/slide2.xml" Id="R5f76a4e33c1b4706" /><Relationship Type="http://schemas.openxmlformats.org/officeDocument/2006/relationships/slide" Target="/ppt/slides/slide3.xml" Id="R6eecc0d2e7b34486" /><Relationship Type="http://schemas.openxmlformats.org/officeDocument/2006/relationships/slide" Target="/ppt/slides/slide4.xml" Id="Rff48d4816f3842c2" /><Relationship Type="http://schemas.openxmlformats.org/officeDocument/2006/relationships/slide" Target="/ppt/slides/slide5.xml" Id="Ra745c856af0740d4" /><Relationship Type="http://schemas.openxmlformats.org/officeDocument/2006/relationships/slide" Target="/ppt/slides/slide6.xml" Id="Rc03b8fa7f5c64d38" /><Relationship Type="http://schemas.openxmlformats.org/officeDocument/2006/relationships/slide" Target="/ppt/slides/slide7.xml" Id="Rcdf7e1777c19490f" /><Relationship Type="http://schemas.openxmlformats.org/officeDocument/2006/relationships/slide" Target="/ppt/slides/slide8.xml" Id="Rd9ac07eb5d0e4853" /><Relationship Type="http://schemas.openxmlformats.org/officeDocument/2006/relationships/slide" Target="/ppt/slides/slide9.xml" Id="R9fc9ff9c10a94532" /><Relationship Type="http://schemas.openxmlformats.org/officeDocument/2006/relationships/slide" Target="/ppt/slides/slide10.xml" Id="R57e55ab13f614ccd" /><Relationship Type="http://schemas.openxmlformats.org/officeDocument/2006/relationships/slide" Target="/ppt/slides/slide11.xml" Id="R1638ed91996142f7" /><Relationship Type="http://schemas.openxmlformats.org/officeDocument/2006/relationships/slide" Target="/ppt/slides/slide12.xml" Id="R849d119ea49947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8f066c5ea241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9f5409071b40b3" /><Relationship Type="http://schemas.openxmlformats.org/officeDocument/2006/relationships/notesMaster" Target="/ppt/notesMasters/notesMaster1.xml" Id="R06454d966e2a4d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0d26c799d14aea" /><Relationship Type="http://schemas.openxmlformats.org/officeDocument/2006/relationships/notesMaster" Target="/ppt/notesMasters/notesMaster1.xml" Id="R1f8424c0bf9143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e58d162fd64c62" /><Relationship Type="http://schemas.openxmlformats.org/officeDocument/2006/relationships/notesMaster" Target="/ppt/notesMasters/notesMaster1.xml" Id="Rc6c410b235af4a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491ba7d70d4325" /><Relationship Type="http://schemas.openxmlformats.org/officeDocument/2006/relationships/notesMaster" Target="/ppt/notesMasters/notesMaster1.xml" Id="R180d58b8ff3042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37e0bfe0d9470e" /><Relationship Type="http://schemas.openxmlformats.org/officeDocument/2006/relationships/notesMaster" Target="/ppt/notesMasters/notesMaster1.xml" Id="R4d472d5235994e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3b8cedae9f49fb" /><Relationship Type="http://schemas.openxmlformats.org/officeDocument/2006/relationships/notesMaster" Target="/ppt/notesMasters/notesMaster1.xml" Id="Rb7154b4b24fd49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aae2e31570423d" /><Relationship Type="http://schemas.openxmlformats.org/officeDocument/2006/relationships/notesMaster" Target="/ppt/notesMasters/notesMaster1.xml" Id="Rb553a229bf5640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9dd26e0ac048d9" /><Relationship Type="http://schemas.openxmlformats.org/officeDocument/2006/relationships/notesMaster" Target="/ppt/notesMasters/notesMaster1.xml" Id="R8a43402bd5e441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cb39f1f4634e61" /><Relationship Type="http://schemas.openxmlformats.org/officeDocument/2006/relationships/notesMaster" Target="/ppt/notesMasters/notesMaster1.xml" Id="R799242a9cc9f44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e75737a5534ec2" /><Relationship Type="http://schemas.openxmlformats.org/officeDocument/2006/relationships/notesMaster" Target="/ppt/notesMasters/notesMaster1.xml" Id="R5d5a1fece79a4f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efbf799cb847fa" /><Relationship Type="http://schemas.openxmlformats.org/officeDocument/2006/relationships/notesMaster" Target="/ppt/notesMasters/notesMaster1.xml" Id="Re0245620ade449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74179874354bcb" /><Relationship Type="http://schemas.openxmlformats.org/officeDocument/2006/relationships/notesMaster" Target="/ppt/notesMasters/notesMaster1.xml" Id="R4a175791fd3d41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cdd9f469246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4cb80c506e4c0b" /><Relationship Type="http://schemas.openxmlformats.org/officeDocument/2006/relationships/slideLayout" Target="/ppt/slideLayouts/slideLayout1.xml" Id="R70b3e4aefa5e40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b3e4aefa5e40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5bd8b8c5240a4" /><Relationship Type="http://schemas.openxmlformats.org/officeDocument/2006/relationships/notesSlide" Target="/ppt/notesSlides/notesSlide1.xml" Id="R79fccae479d447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544be2cc64b27" /><Relationship Type="http://schemas.openxmlformats.org/officeDocument/2006/relationships/notesSlide" Target="/ppt/notesSlides/notesSlide2.xml" Id="R2201237c21004b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18bb8ec644cd4" /><Relationship Type="http://schemas.openxmlformats.org/officeDocument/2006/relationships/notesSlide" Target="/ppt/notesSlides/notesSlide3.xml" Id="Raa81b98677b74a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a3700102c4f16" /><Relationship Type="http://schemas.openxmlformats.org/officeDocument/2006/relationships/notesSlide" Target="/ppt/notesSlides/notesSlide4.xml" Id="R9ef9c39916f144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e4ffcfc7e4e4b" /><Relationship Type="http://schemas.openxmlformats.org/officeDocument/2006/relationships/notesSlide" Target="/ppt/notesSlides/notesSlide5.xml" Id="Re0d0ae905d0b45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e344e5c4b442e" /><Relationship Type="http://schemas.openxmlformats.org/officeDocument/2006/relationships/notesSlide" Target="/ppt/notesSlides/notesSlide6.xml" Id="R1e4f6164e1084a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22a2ffff74e59" /><Relationship Type="http://schemas.openxmlformats.org/officeDocument/2006/relationships/notesSlide" Target="/ppt/notesSlides/notesSlide7.xml" Id="Rf87549036b4444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b59b69d8a4527" /><Relationship Type="http://schemas.openxmlformats.org/officeDocument/2006/relationships/notesSlide" Target="/ppt/notesSlides/notesSlide8.xml" Id="Re0a701fdeb9247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588b159e24311" /><Relationship Type="http://schemas.openxmlformats.org/officeDocument/2006/relationships/notesSlide" Target="/ppt/notesSlides/notesSlide9.xml" Id="Ra67ead20f4e443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14292e4aa4078" /><Relationship Type="http://schemas.openxmlformats.org/officeDocument/2006/relationships/notesSlide" Target="/ppt/notesSlides/notesSlide10.xml" Id="Raa3a740a39d542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21be48544464e" /><Relationship Type="http://schemas.openxmlformats.org/officeDocument/2006/relationships/notesSlide" Target="/ppt/notesSlides/notesSlide11.xml" Id="R71bd3107485d46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852df02c94a49" /><Relationship Type="http://schemas.openxmlformats.org/officeDocument/2006/relationships/notesSlide" Target="/ppt/notesSlides/notesSlide12.xml" Id="R8f8e7974275b46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11E1CE89-09B9-471F-B8DE-64BC1689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5DDDD36E-79BC-4F21-8C8A-B14BA685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ADB01535-A47A-472E-86A0-E6E1362D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C0D78ED8-3B2D-443F-8EDE-17BDD31D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BEDCB966-120F-4AE6-877D-E11A8BB1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E7AEF698-88F5-4BA6-8CF4-9BB90637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204E464-EE62-4877-A0EA-3BE6A49D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第 4 章 · 行业应用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F31924D-4DF5-478F-BBE3-D04FC615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高校教学与科研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53E7F7F-3B4F-4833-888F-99D7EDA2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分析 AI 在备课、学习反馈、文献检索、科研写作和知识管理中的价值与边界。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3D6A3A5A-59F0-46BA-A793-2949CF7B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869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在高校中，AI 最有价值的角色不是“代写者”，而是受约束的助理：它能帮助教师整理材料、设计活动、形成反馈草稿，也能帮助研究者扩展检索式、提取文献信息、检查代码和组织写作结构…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3C5C71E5-9870-427F-B057-58CF8B14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882ACAC0-61A1-493A-815A-D94D0F74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IN-002 · IN-002-S01</a:t>
            </a:r>
          </a:p>
        </p:txBody>
      </p:sp>
    </p:spTree>
    <p:extLst>
      <p:ext uri="{BB962C8B-B14F-4D97-AF65-F5344CB8AC3E}">
        <p14:creationId xmlns:p14="http://schemas.microsoft.com/office/powerpoint/2010/main" val="20229793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96627683-1659-4E5A-9BFD-DD77AA31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FE5DD405-EE47-4ED7-95B2-1A365C0D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ED9B7BEE-A07B-429B-9AB1-F4756346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学完这一节，你能完成这些判断与行动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CB8AF36E-4B46-4865-97EC-09C8D9EE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FA4C93E7-3A00-4AEE-8087-A01D1A4B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IN-002 · IN-002-S02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102E6122-9A7D-4CDC-8E7A-0240A5AD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设计“目标—资料—生成—核验—实施—反馈”的教学辅助工作流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BF1382D5-6C2C-4CB2-8570-15EE1264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建立从文献检索、原文核验到实验复现和论文写作的科研辅助工作流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CCA136BC-6297-43B3-A81D-211624F9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正确处理学生数据、未公开研究数据、版权材料与敏感信息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79F81B1B-AD00-4A0B-AF28-8A4B8CDE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5783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解释学术诚信、使用披露和作者责任为什么不能交给模型承担</a:t>
            </a:r>
          </a:p>
        </p:txBody>
      </p:sp>
    </p:spTree>
    <p:extLst>
      <p:ext uri="{BB962C8B-B14F-4D97-AF65-F5344CB8AC3E}">
        <p14:creationId xmlns:p14="http://schemas.microsoft.com/office/powerpoint/2010/main" val="518972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9DABF336-11E7-44BE-898E-EC651F1C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71501FC5-7692-45AD-96DD-4175453B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1 / 5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69F11109-9DAD-43B3-878D-1F3AC1F1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第一步是确定学习目标与评价证据，再让 AI 提供辅助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8701C9E1-3798-4113-B262-6AA2CAA4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BB28944D-039D-4FC8-8B69-0C064F8B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IN-002 · IN-002-S03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1C224271-E82F-4911-8410-83BF6A4C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44EC294D-2547-4441-A60C-24C77402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教学工作流：从学习目标到反馈闭环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BC03582C-16F4-49A1-91C8-2B264791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5783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6545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第一步是确定学习目标与评价证据，再让 AI 提供辅助。教师可以输入课程主题、学生基础、课时和可使用资料，请 AI 生成案例、问题梯度或活动草案，但要逐项检查概念是否正确、难度是否合适…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A117F392-5165-45CF-924C-DE0D778D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AB6BAC5-921C-4792-8FDD-D1E9D458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课堂实施前，应保留教师批准的版本并准备无 AI 的替代方案。实施中可以用 AI 汇总匿名问题或生成练习反馈，但不能把模型评分直接当作最终成绩。形成性反馈适合关注“哪里还没有理解…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33EFC884-EC4B-40BE-9C31-254B59C1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1B972F1D-AE7D-4119-B1E1-8919EF5A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课后把学生表现、常见误解和教师观察合并分析，再调整下一轮活动。不能只依据模型摘要改变课程，因为摘要可能遗漏少数学生、误读反讽表达，或把相关性当成原因</a:t>
            </a:r>
          </a:p>
        </p:txBody>
      </p:sp>
      <p:sp>
        <p:nvSpPr>
          <p:cNvPr id="13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99014817-A21F-4EDC-A4CF-54D6480D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3-takeaway">
            <a:extLst xmlns:a="http://schemas.openxmlformats.org/drawingml/2006/main">
              <a:ext uri="{FF2B5EF4-FFF2-40B4-BE49-F238E27FC236}">
                <a16:creationId xmlns:a16="http://schemas.microsoft.com/office/drawing/2014/main" id="{FB869666-BD30-42A2-B967-4755771F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第一步是确定学习目标与评价证据，再让 AI 提供辅助</a:t>
            </a:r>
          </a:p>
        </p:txBody>
      </p:sp>
    </p:spTree>
    <p:extLst>
      <p:ext uri="{BB962C8B-B14F-4D97-AF65-F5344CB8AC3E}">
        <p14:creationId xmlns:p14="http://schemas.microsoft.com/office/powerpoint/2010/main" val="1320073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C11E11E0-0FD6-43F6-B597-3167E577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57B6663D-573F-4CB0-B502-EE3DF038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2 / 5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6568E814-6E68-46CC-B4BC-A146FE87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研究者应先提出问题、边界和纳入排除标准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F0AA2E58-AEA9-4A40-8BBB-2A025E1A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4B349A81-0706-41FF-BE78-E10EE1F5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IN-002 · IN-002-S04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F3F43B45-8286-43DC-BB5E-9C7BEF8C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980AD753-8DA1-4EC3-835A-2EA8C5EB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科研工作流：从问题到可追溯结论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CB83DE12-929C-4B1C-A933-3A9B25BB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5783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930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研究者应先提出问题、边界和纳入排除标准，再选择适合的学术数据库、机构知识库或专业索引。AI 可以帮助扩展同义词、构造检索式和初步分类，但不应成为唯一检索入口。检索日期、数据库…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C60D3A06-45EA-4483-848B-53FA3D1C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55165D3D-36F8-42F1-BF3A-503C9A1C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对每条候选文献，必须回到可识别的原始记录或全文，核对题名、作者、年份、载体、页码或 DOI，并阅读支持相关主张的上下文。模型给出的书目条目只能视为待核线索；找不到原文…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4B2B3F97-0E3F-4323-BAB5-F67315C0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8F47A3F4-94F8-4074-B599-79965169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文献提取后，可建立“主张—证据—限制”表：每个结论对应哪项研究、什么方法和样本、适用边界是什么。这样写作时不会把不同论文的结果拼成一个并不存在的共识，也能区分论文作者的发现与自己的推断</a:t>
            </a:r>
          </a:p>
        </p:txBody>
      </p:sp>
      <p:sp>
        <p:nvSpPr>
          <p:cNvPr id="13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2F155EB8-BE8B-4362-B38F-E6DA5350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4-takeaway">
            <a:extLst xmlns:a="http://schemas.openxmlformats.org/drawingml/2006/main">
              <a:ext uri="{FF2B5EF4-FFF2-40B4-BE49-F238E27FC236}">
                <a16:creationId xmlns:a16="http://schemas.microsoft.com/office/drawing/2014/main" id="{FD9ED9AE-D508-4118-9482-15584034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研究者应先提出问题、边界和纳入排除标准</a:t>
            </a:r>
          </a:p>
        </p:txBody>
      </p:sp>
    </p:spTree>
    <p:extLst>
      <p:ext uri="{BB962C8B-B14F-4D97-AF65-F5344CB8AC3E}">
        <p14:creationId xmlns:p14="http://schemas.microsoft.com/office/powerpoint/2010/main" val="3884638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42234913-9627-4EE6-A6A4-B4F69B1C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4438761B-5C1A-48EC-ACCD-3F12FC0A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3 / 5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F4682961-89EE-4522-A556-CE2D28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可以解释报错、补充测试或提出代码修改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0B68D730-C63E-447F-88CE-DE8A2A17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61C84596-E49F-484B-B3A9-D416BE67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IN-002 · IN-002-S05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CFB9E2E7-4AF3-4DE4-AB5B-79758327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EF2DF96-D6A0-4BAD-93E5-D78B2FB4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实验复现：让结果能够被重新运行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B282FC87-7224-44E9-91EB-93AE3B93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5783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2156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AI 可以解释报错、补充测试或提出代码修改，但研究者需要记录软件与依赖版本、硬件环境、数据版本、预处理、参数、随机种子和评价脚本。自动生成的代码必须经过代码审查、单元测试和独立运行…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658BB456-2BFF-4031-B7E5-E93E9ACF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7098049E-5EBE-4FA8-A2C1-F251055F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复现至少回答三个问题：使用相同资料能否得到相同结果；改变合理参数后结论是否稳定；失败结果和偏离原研究的部分是否如实记录。若原数据受限，应说明取得条件并提供可公开的替代验证…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0014CB40-F4AC-4783-95F6-F60A8DCF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5E0EBC9C-EB5A-487C-9931-881720B9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AI 可以解释报错、补充测试或提出代码修改</a:t>
            </a:r>
          </a:p>
        </p:txBody>
      </p:sp>
    </p:spTree>
    <p:extLst>
      <p:ext uri="{BB962C8B-B14F-4D97-AF65-F5344CB8AC3E}">
        <p14:creationId xmlns:p14="http://schemas.microsoft.com/office/powerpoint/2010/main" val="265736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345A7DAD-99E1-4FCD-98FE-51D7943D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D39404CA-CD5C-4FD6-A34F-CD04F537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4 / 5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F60AA430-FB23-4A83-B55E-FD5B6C3D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学生作业、成绩、课堂录音、访谈、医疗或生物信息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2BF043C9-5CE8-433D-8D12-33F4D89D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6D4E4552-55A8-4EDA-B87E-8919F134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IN-002 · IN-002-S06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2298E0D3-153B-4603-9A3B-04DEAA06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A1205643-E28B-4AE3-A5D7-1C81F65E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数据隐私与最小必要原则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8A7CEBA6-D549-40F2-B7AC-01625F2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5783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学生作业、成绩、课堂录音、访谈、医疗或生物信息，以及尚未公开的研究数据，都可能具有敏感性。使用前应确认法律、伦理审批、知情同意、学校制度和服务商条款允许什么。只提供完成任务所需的最少字段…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CB20DA4-BF11-43FC-9123-BA13136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7DFEF1C5-B0BE-4A2A-9B43-3078A3B0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还要关注“能否被重新识别”：删掉姓名并不一定安全，学号片段、专业、时间和少见经历组合后仍可能指向个人。数据应设置访问角色、保存期限和删除机制，研究团队成员也只能看到职责所需的范围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4E1AF146-9725-4674-8A04-C7A6DEEF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8DF4BF4B-7836-4FFE-88F4-1F4EDFF7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学生作业、成绩、课堂录音、访谈、医疗或生物信息</a:t>
            </a:r>
          </a:p>
        </p:txBody>
      </p:sp>
    </p:spTree>
    <p:extLst>
      <p:ext uri="{BB962C8B-B14F-4D97-AF65-F5344CB8AC3E}">
        <p14:creationId xmlns:p14="http://schemas.microsoft.com/office/powerpoint/2010/main" val="1118663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CE3BC9BF-B0B7-4DA9-949D-276604B9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1A288403-33F0-40F2-99FB-9E2E17D9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5 / 5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FAA6C042-3A72-4C6D-A770-A9E4277D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83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不同学校、课程、期刊和资助机构对 AI 使用的规则可能不同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0370BDF6-3DE6-458E-BB63-7F4E9654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3A41CE78-A177-428A-BF0F-2B6DC2BE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IN-002 · IN-002-S07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F69C3CF1-E6C5-44FD-A038-9DA3B79B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D8060011-9D4E-4DF7-A8AF-B6D42B41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学术诚信与作者责任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D90AD8EB-4A4D-46AC-9689-179E2D46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5783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不同学校、课程、期刊和资助机构对 AI 使用的规则可能不同，提交前必须查阅适用要求，并按要求披露使用目的与范围。不得把 AI 生成的文字、图像、代码或分析冒充为未经辅助的原创成果…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6EB3445A-8C8F-44D6-8BA5-02B47441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FF1CD23-7DEF-4B5A-A35E-B8D509CF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模型不能核准最终文本、回应质疑、披露利益冲突或对研究诚信承担责任，因此不能替代作者。署名者必须能够解释方法、核验所有引用、确认数据和图表、审查版权与隐私，并对发表内容负责…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00A0B3A2-592A-4291-8D1F-6098F442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BDD5BD0D-150B-492A-97D5-A4E93AC3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不同学校、课程、期刊和资助机构对 AI 使用的规则可能不同</a:t>
            </a:r>
          </a:p>
        </p:txBody>
      </p:sp>
    </p:spTree>
    <p:extLst>
      <p:ext uri="{BB962C8B-B14F-4D97-AF65-F5344CB8AC3E}">
        <p14:creationId xmlns:p14="http://schemas.microsoft.com/office/powerpoint/2010/main" val="7345720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AFC67784-0E8D-4210-AC94-2FBD9578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398B1CA3-97FB-41A5-A657-55C09D83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1 / 2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91C58201-44AA-46EA-B4AF-4844852E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教学活动的双重核验必须经过边界验证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51F38731-FEEE-4376-9AAF-0C99C7FB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53C44C1F-47FE-4512-9266-DEC79AF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IN-002 · IN-002-S08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451D9B7D-AD7C-4174-9BB7-05D50253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教学活动的双重核验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53B1A82D-54C3-4F85-A8C7-982F8AEF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任务｜教师为不同基础的学生设计一组关于机器学习偏差的讨论题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CB519221-273C-4847-A776-610C2074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4922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流程｜先写出学习目标与评分标准，再让 AI 生成候选案例；教师回到可靠资料核验事实，检查语言与难度，并为没有设备的学生提供等价活动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870A6C90-16D9-4464-93D7-34FBD46F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实施｜AI 只汇总匿名反馈，最终评价由教师依据公开量规完成；学生可以对反馈提出复核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555B4E79-1F64-412F-9154-D2166D30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E5783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责任｜教师决定采用哪些材料，并对课程公平性与评价结果负责</a:t>
            </a:r>
          </a:p>
        </p:txBody>
      </p:sp>
      <p:sp>
        <p:nvSpPr>
          <p:cNvPr id="11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D1068F27-5605-4770-9FF0-4BF528F9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8-takeaway">
            <a:extLst xmlns:a="http://schemas.openxmlformats.org/drawingml/2006/main">
              <a:ext uri="{FF2B5EF4-FFF2-40B4-BE49-F238E27FC236}">
                <a16:creationId xmlns:a16="http://schemas.microsoft.com/office/drawing/2014/main" id="{599BC3DD-FFB4-4B2E-B9F2-59AD22D0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教学活动的双重核验必须经过边界验证</a:t>
            </a:r>
          </a:p>
        </p:txBody>
      </p:sp>
    </p:spTree>
    <p:extLst>
      <p:ext uri="{BB962C8B-B14F-4D97-AF65-F5344CB8AC3E}">
        <p14:creationId xmlns:p14="http://schemas.microsoft.com/office/powerpoint/2010/main" val="162444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D931F673-9C2A-4176-A6FE-60BC2FAA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3B121B3B-EE76-4EC4-971F-D900DAE8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2 / 2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565A569D-2B71-4C33-B208-3E0BB8E5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文献检索与实验复现必须经过边界验证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8BFF8522-5335-410F-8941-9A5E6111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197967D3-77E2-4189-AE04-19F589E2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IN-002 · IN-002-S09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D0464FAF-DA44-4DCC-A455-B4E74F29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文献检索与实验复现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7BBF117A-2318-4556-B92F-9B6A59C4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任务｜研究小组要验证一种公开算法在新数据上的表现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F87E604C-FAA1-4418-BDAE-B2228A72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5379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流程｜AI 协助扩展关键词和解释代码，但成员逐条核对论文记录与原文，保存检索式；随后锁定依赖、数据版本、参数和评价脚本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B3C348D7-DA55-49D3-A0AB-983E23F6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155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核验｜一名成员运行实验，另一名成员根据记录独立复现；不一致之处进入问题清单，不让模型自行补齐缺失结果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4C43B5B3-E7B8-4441-AFD2-F0E6CD75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E5783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交付｜论文说明 AI 的使用范围、复现差异和数据限制，作者共同确认全部引用与结论</a:t>
            </a:r>
          </a:p>
        </p:txBody>
      </p:sp>
      <p:sp>
        <p:nvSpPr>
          <p:cNvPr id="11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7EC9BD80-5473-4E92-BB46-5F7B73A6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9-takeaway">
            <a:extLst xmlns:a="http://schemas.openxmlformats.org/drawingml/2006/main">
              <a:ext uri="{FF2B5EF4-FFF2-40B4-BE49-F238E27FC236}">
                <a16:creationId xmlns:a16="http://schemas.microsoft.com/office/drawing/2014/main" id="{C9A7723D-923E-4883-A3F7-1C62E29C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文献检索与实验复现必须经过边界验证</a:t>
            </a:r>
          </a:p>
        </p:txBody>
      </p:sp>
    </p:spTree>
    <p:extLst>
      <p:ext uri="{BB962C8B-B14F-4D97-AF65-F5344CB8AC3E}">
        <p14:creationId xmlns:p14="http://schemas.microsoft.com/office/powerpoint/2010/main" val="1800596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5184298F-A84A-48C1-AD41-E7B66055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A8EA9D69-E368-42BB-B4EE-5DB78617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9DBAD2CA-0FBF-4FFB-90AA-6C3C34CA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把方法落实为可验证的行动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596C5E11-F5AF-4372-9299-C7256B74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8889B4D1-16F6-4F57-BEBB-D5D1B3DB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IN-002 · IN-002-S10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E6266D12-9901-4AF6-9AAB-A36EDECC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DF3679AA-A628-4C70-B258-B2A15EF8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F94D1C50-8765-4675-9994-11E402C4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教学方向：写出一个学习目标、一个可观察的评价证据和一项课堂活动，让 AI 生成三个候选方案，再逐条记录事实、难度、公平性和隐私检查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6AC3D406-D997-4596-AAA1-82372B50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783F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B60C94F6-32A6-4B30-A3AC-00139875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BA8D1E1E-5C45-4778-8DB8-27C8E1EE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899DFFE2-170B-4938-836C-6DD4F084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科研方向：围绕一个问题建立五条候选文献的“主张—原文证据—限制”表，并逐条核对完整书目信息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49D470E5-2D1E-425F-ADDD-1A0DCC01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783F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99C10D95-B939-42EE-8536-F88655F4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AF4B73FD-FA64-418F-9302-7D3125FC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7A32B9BD-346F-4083-987C-6194C28E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5783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为其中一个公开实验写出环境、数据、参数、随机性和评价复现清单，请另一位学习者按清单尝试复现</a:t>
            </a:r>
          </a:p>
        </p:txBody>
      </p:sp>
    </p:spTree>
    <p:extLst>
      <p:ext uri="{BB962C8B-B14F-4D97-AF65-F5344CB8AC3E}">
        <p14:creationId xmlns:p14="http://schemas.microsoft.com/office/powerpoint/2010/main" val="387584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25CDA3FD-285F-480E-93AC-F3A63C36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23CEF54B-CF50-47C9-BAC7-CDE1D0FA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BC6D044F-F932-4DD8-9185-0716BFD0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带走三条可复用的判断原则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7D4614D2-14D7-4FB7-A073-D293C940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548F2FA1-58E6-42E0-9E03-24AAA1EB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IN-002 · IN-002-S11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4FDA2BEC-64BB-4265-81C6-E7297AFF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E7144146-CF6E-4504-87AC-18F9D88D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27B572BD-4FC1-453D-A5B9-536C50B9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第一步是确定学习目标与评价证据，再让 AI 提供辅助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D30E8A4E-242E-47F1-BE08-36BD34B7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783F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DA0C7997-D267-4098-9225-E0FA124A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66EEE8D9-8ED4-494E-9C40-42B04FB4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F7C9E882-40D0-46DB-9F88-4CF94CE4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可以解释报错、补充测试或提出代码修改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FF15A1D0-CF4E-4686-B93C-94809F43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783F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69755ACA-FE46-4A13-BC87-52E467E8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6C877115-507E-46B4-B6DE-98EC5773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70BF6928-A572-4BBA-89D8-587F0AFE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5783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不同学校、课程、期刊和资助机构对 AI 使用的规则可能不同</a:t>
            </a:r>
          </a:p>
        </p:txBody>
      </p:sp>
    </p:spTree>
    <p:extLst>
      <p:ext uri="{BB962C8B-B14F-4D97-AF65-F5344CB8AC3E}">
        <p14:creationId xmlns:p14="http://schemas.microsoft.com/office/powerpoint/2010/main" val="8408823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F52CC413-139D-433B-BB98-4DB50FB0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54A8C3CC-B5C0-4AC0-9628-1C12D345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BBC7CB78-AE36-44F9-884A-785C803F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从公开重制课件回到可核对的学习资料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62C5B375-8409-40FA-9B21-715AE4E3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C6482599-A04A-4A97-BE2C-053D345B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IN-002 · IN-002-S12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17B3231D-1D78-40CC-9600-6F87F784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E5783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D849E755-04BC-4356-8BBA-3C9BE912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UNESCO：Guidance for generative AI in education and research：生成式 AI 在教育与科研中的以人为本指导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AEAB320C-0DB5-42C7-AE47-7CE78731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Committee on Publication Ethics（COPE）：Authorship and AI tools：AI 工具不能承担作者责任的出版伦理立场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BFB5C154-3A2A-4AA1-8034-5FB1D255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04  进行具体教学或投稿前，应查阅所在学校、课程、伦理委员会、期刊与资助机构的现行规则</a:t>
            </a:r>
          </a:p>
        </p:txBody>
      </p:sp>
      <p:sp>
        <p:nvSpPr>
          <p:cNvPr id="10" name="s12-takeaway-rule">
            <a:extLst xmlns:a="http://schemas.openxmlformats.org/drawingml/2006/main">
              <a:ext uri="{FF2B5EF4-FFF2-40B4-BE49-F238E27FC236}">
                <a16:creationId xmlns:a16="http://schemas.microsoft.com/office/drawing/2014/main" id="{8A3FBB32-6856-460D-8AEC-88309E48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1" name="s12-takeaway">
            <a:extLst xmlns:a="http://schemas.openxmlformats.org/drawingml/2006/main">
              <a:ext uri="{FF2B5EF4-FFF2-40B4-BE49-F238E27FC236}">
                <a16:creationId xmlns:a16="http://schemas.microsoft.com/office/drawing/2014/main" id="{CD0177FE-A521-4466-9FD9-4B83DF3D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公开幻灯片只使用课程原创文字与原生图形；完整论证、链接和事实边界请见本节讲义。</a:t>
            </a:r>
          </a:p>
        </p:txBody>
      </p:sp>
    </p:spTree>
    <p:extLst>
      <p:ext uri="{BB962C8B-B14F-4D97-AF65-F5344CB8AC3E}">
        <p14:creationId xmlns:p14="http://schemas.microsoft.com/office/powerpoint/2010/main" val="2016043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2026-07-11T12:05:38.6800000Z</dcterms:created>
  <dcterms:modified xsi:type="dcterms:W3CDTF">2026-07-11T12:05:38.6800000Z</dcterms:modified>
</coreProperties>
</file>