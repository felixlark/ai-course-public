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e2372eab5b486a" /><Relationship Type="http://schemas.openxmlformats.org/officeDocument/2006/relationships/extended-properties" Target="/docProps/app.xml" Id="Rc9d2b6f4d1ec4983" /><Relationship Type="http://schemas.openxmlformats.org/officeDocument/2006/relationships/officeDocument" Target="/ppt/presentation.xml" Id="Rdff0f74b706c44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b593751d974e75"/>
  </p:sldMasterIdLst>
  <p:notesMasterIdLst>
    <p:notesMasterId xmlns:r="http://schemas.openxmlformats.org/officeDocument/2006/relationships" r:id="R1d6734759889452f"/>
  </p:notesMasterIdLst>
  <p:sldIdLst>
    <p:sldId xmlns:r="http://schemas.openxmlformats.org/officeDocument/2006/relationships" id="256" r:id="Rb13ae2e015f5420c"/>
    <p:sldId xmlns:r="http://schemas.openxmlformats.org/officeDocument/2006/relationships" id="257" r:id="R181fe130d05544d7"/>
    <p:sldId xmlns:r="http://schemas.openxmlformats.org/officeDocument/2006/relationships" id="258" r:id="Ra1d6a3594d9c49e2"/>
    <p:sldId xmlns:r="http://schemas.openxmlformats.org/officeDocument/2006/relationships" id="259" r:id="Rdd9a2e921978438e"/>
    <p:sldId xmlns:r="http://schemas.openxmlformats.org/officeDocument/2006/relationships" id="260" r:id="R9f1616eb5f4e4fb4"/>
    <p:sldId xmlns:r="http://schemas.openxmlformats.org/officeDocument/2006/relationships" id="261" r:id="R6710c9d221b84929"/>
    <p:sldId xmlns:r="http://schemas.openxmlformats.org/officeDocument/2006/relationships" id="262" r:id="R92859e1c358e4889"/>
    <p:sldId xmlns:r="http://schemas.openxmlformats.org/officeDocument/2006/relationships" id="263" r:id="R2451d5e255d24886"/>
    <p:sldId xmlns:r="http://schemas.openxmlformats.org/officeDocument/2006/relationships" id="264" r:id="R62730b39c4a14e2c"/>
    <p:sldId xmlns:r="http://schemas.openxmlformats.org/officeDocument/2006/relationships" id="265" r:id="R5bc17e507ace4596"/>
    <p:sldId xmlns:r="http://schemas.openxmlformats.org/officeDocument/2006/relationships" id="266" r:id="R489804f0b3d04660"/>
    <p:sldId xmlns:r="http://schemas.openxmlformats.org/officeDocument/2006/relationships" id="267" r:id="R36b390b67ede487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bad6c7fb7c4e24" /><Relationship Type="http://schemas.openxmlformats.org/officeDocument/2006/relationships/slideMaster" Target="/ppt/slideMasters/slideMaster1.xml" Id="R88b593751d974e75" /><Relationship Type="http://schemas.openxmlformats.org/officeDocument/2006/relationships/notesMaster" Target="/ppt/notesMasters/notesMaster1.xml" Id="R1d6734759889452f" /><Relationship Type="http://schemas.openxmlformats.org/officeDocument/2006/relationships/presProps" Target="/ppt/presProps.xml" Id="R770e6b2f4ef64744" /><Relationship Type="http://schemas.openxmlformats.org/officeDocument/2006/relationships/tableStyles" Target="/ppt/tableStyles.xml" Id="R7b59f6a88d314d87" /><Relationship Type="http://schemas.openxmlformats.org/officeDocument/2006/relationships/slide" Target="/ppt/slides/slide1.xml" Id="Rb13ae2e015f5420c" /><Relationship Type="http://schemas.openxmlformats.org/officeDocument/2006/relationships/slide" Target="/ppt/slides/slide2.xml" Id="R181fe130d05544d7" /><Relationship Type="http://schemas.openxmlformats.org/officeDocument/2006/relationships/slide" Target="/ppt/slides/slide3.xml" Id="Ra1d6a3594d9c49e2" /><Relationship Type="http://schemas.openxmlformats.org/officeDocument/2006/relationships/slide" Target="/ppt/slides/slide4.xml" Id="Rdd9a2e921978438e" /><Relationship Type="http://schemas.openxmlformats.org/officeDocument/2006/relationships/slide" Target="/ppt/slides/slide5.xml" Id="R9f1616eb5f4e4fb4" /><Relationship Type="http://schemas.openxmlformats.org/officeDocument/2006/relationships/slide" Target="/ppt/slides/slide6.xml" Id="R6710c9d221b84929" /><Relationship Type="http://schemas.openxmlformats.org/officeDocument/2006/relationships/slide" Target="/ppt/slides/slide7.xml" Id="R92859e1c358e4889" /><Relationship Type="http://schemas.openxmlformats.org/officeDocument/2006/relationships/slide" Target="/ppt/slides/slide8.xml" Id="R2451d5e255d24886" /><Relationship Type="http://schemas.openxmlformats.org/officeDocument/2006/relationships/slide" Target="/ppt/slides/slide9.xml" Id="R62730b39c4a14e2c" /><Relationship Type="http://schemas.openxmlformats.org/officeDocument/2006/relationships/slide" Target="/ppt/slides/slide10.xml" Id="R5bc17e507ace4596" /><Relationship Type="http://schemas.openxmlformats.org/officeDocument/2006/relationships/slide" Target="/ppt/slides/slide11.xml" Id="R489804f0b3d04660" /><Relationship Type="http://schemas.openxmlformats.org/officeDocument/2006/relationships/slide" Target="/ppt/slides/slide12.xml" Id="R36b390b67ede48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a7c61a549a47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bf6c70fe884630" /><Relationship Type="http://schemas.openxmlformats.org/officeDocument/2006/relationships/notesMaster" Target="/ppt/notesMasters/notesMaster1.xml" Id="Rd8128597b93946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80211d647d4b85" /><Relationship Type="http://schemas.openxmlformats.org/officeDocument/2006/relationships/notesMaster" Target="/ppt/notesMasters/notesMaster1.xml" Id="R2eac7653e68e46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c1efc332d9447f" /><Relationship Type="http://schemas.openxmlformats.org/officeDocument/2006/relationships/notesMaster" Target="/ppt/notesMasters/notesMaster1.xml" Id="Rf60ef52c93b844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8691b6cb874565" /><Relationship Type="http://schemas.openxmlformats.org/officeDocument/2006/relationships/notesMaster" Target="/ppt/notesMasters/notesMaster1.xml" Id="Rc2e6bf92d7b045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debb7af6ef452c" /><Relationship Type="http://schemas.openxmlformats.org/officeDocument/2006/relationships/notesMaster" Target="/ppt/notesMasters/notesMaster1.xml" Id="R4b3bfa0f2e184c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270e29cbed44ad" /><Relationship Type="http://schemas.openxmlformats.org/officeDocument/2006/relationships/notesMaster" Target="/ppt/notesMasters/notesMaster1.xml" Id="R5646d75a1e0a4d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275833e5c44f0d" /><Relationship Type="http://schemas.openxmlformats.org/officeDocument/2006/relationships/notesMaster" Target="/ppt/notesMasters/notesMaster1.xml" Id="R7bd54792064645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7a73a43e954c3b" /><Relationship Type="http://schemas.openxmlformats.org/officeDocument/2006/relationships/notesMaster" Target="/ppt/notesMasters/notesMaster1.xml" Id="R3ac4725db88244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659ad97af84287" /><Relationship Type="http://schemas.openxmlformats.org/officeDocument/2006/relationships/notesMaster" Target="/ppt/notesMasters/notesMaster1.xml" Id="Re91dd6fc04b3461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30076aeb4e242f3" /><Relationship Type="http://schemas.openxmlformats.org/officeDocument/2006/relationships/notesMaster" Target="/ppt/notesMasters/notesMaster1.xml" Id="Rabf6be199741404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25111fd1be4db6" /><Relationship Type="http://schemas.openxmlformats.org/officeDocument/2006/relationships/notesMaster" Target="/ppt/notesMasters/notesMaster1.xml" Id="R1d281765de6a49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ccf9dc9699b487b" /><Relationship Type="http://schemas.openxmlformats.org/officeDocument/2006/relationships/notesMaster" Target="/ppt/notesMasters/notesMaster1.xml" Id="R1daaa3f7cc294c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c55574168d43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52102b84584e9b" /><Relationship Type="http://schemas.openxmlformats.org/officeDocument/2006/relationships/slideLayout" Target="/ppt/slideLayouts/slideLayout1.xml" Id="R9ec54ccf683a49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c54ccf683a49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54c0cc8c445db" /><Relationship Type="http://schemas.openxmlformats.org/officeDocument/2006/relationships/notesSlide" Target="/ppt/notesSlides/notesSlide1.xml" Id="Ra4ccf9e56cfd42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6c2768ed34d4e" /><Relationship Type="http://schemas.openxmlformats.org/officeDocument/2006/relationships/notesSlide" Target="/ppt/notesSlides/notesSlide2.xml" Id="R418924a833fb40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94d51965784a74" /><Relationship Type="http://schemas.openxmlformats.org/officeDocument/2006/relationships/notesSlide" Target="/ppt/notesSlides/notesSlide3.xml" Id="R60efc836e7c648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ba48e8fdb4881" /><Relationship Type="http://schemas.openxmlformats.org/officeDocument/2006/relationships/notesSlide" Target="/ppt/notesSlides/notesSlide4.xml" Id="R7d21e64f937a4e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20d8b4f47a4b8d" /><Relationship Type="http://schemas.openxmlformats.org/officeDocument/2006/relationships/notesSlide" Target="/ppt/notesSlides/notesSlide5.xml" Id="R529753ae96a948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5caf5e944145e9" /><Relationship Type="http://schemas.openxmlformats.org/officeDocument/2006/relationships/notesSlide" Target="/ppt/notesSlides/notesSlide6.xml" Id="Rf3fd93d02e5643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43b283c294b15" /><Relationship Type="http://schemas.openxmlformats.org/officeDocument/2006/relationships/notesSlide" Target="/ppt/notesSlides/notesSlide7.xml" Id="R0766df4cf28541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0e4eabb2f4d37" /><Relationship Type="http://schemas.openxmlformats.org/officeDocument/2006/relationships/notesSlide" Target="/ppt/notesSlides/notesSlide8.xml" Id="Rb152d94ad5e547f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9bf1b05ec4d91" /><Relationship Type="http://schemas.openxmlformats.org/officeDocument/2006/relationships/notesSlide" Target="/ppt/notesSlides/notesSlide9.xml" Id="Rb8f5e29e0746403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5d749275284e42" /><Relationship Type="http://schemas.openxmlformats.org/officeDocument/2006/relationships/notesSlide" Target="/ppt/notesSlides/notesSlide10.xml" Id="Rdc6cb1251a5d4d3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2c64a2928c4a22" /><Relationship Type="http://schemas.openxmlformats.org/officeDocument/2006/relationships/notesSlide" Target="/ppt/notesSlides/notesSlide11.xml" Id="Ra1e6cd7e0b594b9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b5b40d7564686" /><Relationship Type="http://schemas.openxmlformats.org/officeDocument/2006/relationships/notesSlide" Target="/ppt/notesSlides/notesSlide12.xml" Id="R8ddeef3f2a2b47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93E04176-AED5-430A-B436-71DBFD58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73D3F9BA-FE77-452B-9BC2-E05D75DD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79873EB5-9357-48FA-A49E-E730AC80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C98F04FA-DB1C-4FF4-8F73-D179BF3B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262E8A2E-4068-41F5-AC37-B6124017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00A2D628-5D7F-4367-84DA-4A7143DE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2620CC43-97BB-4F38-B312-298F3914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CEF9931-0813-4618-98CB-35345581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高校教学与科研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1EA75D0-5EF0-4B15-A18F-CE31F2F8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分析 AI 在备课、学习反馈、文献检索、科研写作和知识管理中的价值与边界。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785E0CBF-70D8-468F-B184-1F681239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036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在高校中，AI 最有价值的角色不是“代写者”；而是受约束的助理，它能帮助教师整理材料、设计活动、形成反馈草稿；也能帮助研究者扩展检索式、提取文献信息、检查代码和组织写作结构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8AB14CEA-9CE5-44FF-8D49-C4D38BA6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D0B60D32-91AA-4EED-873B-C4057D24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IN-002 · IN-002-S01</a:t>
            </a:r>
          </a:p>
        </p:txBody>
      </p:sp>
    </p:spTree>
    <p:extLst>
      <p:ext uri="{BB962C8B-B14F-4D97-AF65-F5344CB8AC3E}">
        <p14:creationId xmlns:p14="http://schemas.microsoft.com/office/powerpoint/2010/main" val="5957041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60F9F66-3399-4AA0-B927-09A4C6F6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824A185B-8878-4AEB-91D7-360898BB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002FBF50-F791-4132-806D-5F294292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15942672-1BE1-46B2-8CC0-8699F0DC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5623339F-BD92-4810-B12A-3032654D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3ABF8D86-466A-4F04-BE33-648198E7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设计“目标—资料—生成—核验—实施—反馈”的教学辅助工作流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A3785401-9520-40F1-B133-4C402922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建立从文献检索、原文核验到实验复现和论文写作的科研辅助工作流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1977B8E9-4E16-4CB8-B424-445B39EE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正确处理学生数据、未公开研究数据、版权材料与敏感信息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B4FBFCB6-2AA4-4940-AFD3-5019B5C1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解释学术诚信、使用披露和作者责任为什么不能交给模型承担</a:t>
            </a:r>
          </a:p>
        </p:txBody>
      </p:sp>
    </p:spTree>
    <p:extLst>
      <p:ext uri="{BB962C8B-B14F-4D97-AF65-F5344CB8AC3E}">
        <p14:creationId xmlns:p14="http://schemas.microsoft.com/office/powerpoint/2010/main" val="16010371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6D2AD7B3-3772-4619-AB89-21E0EABC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86F29598-E2C9-4A43-A073-E2BA4CBE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C2A6A8AB-3F58-4A90-827B-C28A769F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第一步是确定学习目标与评价证据，再让 AI 提供辅助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5712EDC2-D60C-41BF-B7C9-A4838638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3DDBBF0C-29A1-404D-A7D6-0A41B761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A0A6631-866C-4411-AEF5-62386010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18E18D1-89AB-4CC5-892E-E4C09DC8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教学工作流：从学习目标到反馈闭环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24F72F0-187A-466F-91BC-A61582A3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第一步是确定学习目标与评价证据；再让 AI 提供辅助；教师可以输入课程主题、学生基础、课时和可使用资料；请 AI 生成案例、问题梯度或活动草案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AB14803-E66A-4FA9-82AD-209514B2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FBA24E4-4CD0-4369-8EC4-0E698556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课堂实施前，应保留教师批准的版本并准备无 AI 的替代方案；实施中可以用 AI 汇总匿名问题或生成练习反馈；但不能把模型评分直接当作最终成绩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A4B3DB8C-03E4-4EC0-B6F5-85FD36F2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44985178-06B6-43D9-9390-33E1674B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课后把学生表现、常见误解和教师观察合并分析，再调整下一轮活动。不能只依据模型摘要改变课程，因为摘要可能遗漏少数学生、误读反讽表达，或把相关性当成原因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693F641C-B3E0-47C3-836F-3C8D9D61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FAC993F3-F4B6-4405-8EC4-1AD2B75E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第一步是确定学习目标与评价证据，再让 AI 提供辅助</a:t>
            </a:r>
          </a:p>
        </p:txBody>
      </p:sp>
    </p:spTree>
    <p:extLst>
      <p:ext uri="{BB962C8B-B14F-4D97-AF65-F5344CB8AC3E}">
        <p14:creationId xmlns:p14="http://schemas.microsoft.com/office/powerpoint/2010/main" val="9809564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AF0830F7-6229-4363-AE42-F878E147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D427261F-A954-4FAB-B981-837B4718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8767821F-AAE0-4EFC-B739-1DA67239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研究者应先提出问题、边界和纳入排除标准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1ED34C5C-A7B7-44E7-BA20-92A6378C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C43529D6-B447-4432-9641-5BD83238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F76D290-44AA-4EA0-A56F-5DB17878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38A7B6E-0240-4A61-94A4-B3EF2EF6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科研工作流：从问题到可追溯结论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688F45B-7328-42EE-B539-3EE18A6D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研究者应先提出问题、边界和纳入排除标准；再选择适合的学术数据库、机构知识库或专业索引；AI 可以帮助扩展同义词、构造检索式和初步分类；但不应成为唯一检索入口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CD357C3-1A76-443A-AD7C-02F33D76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03E0ED3-3B88-451E-ADCC-E15B74CD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对每条候选文献，必须回到可识别的原始记录或全文；核对题名、作者、年份、载体、页码或 DOI；并阅读支持相关主张的上下文；模型给出的书目条目只能视为待核线索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C6D93892-EC25-4522-96E1-B768022E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60DD548-1B6F-466A-A64D-8AFC9A3D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文献提取后，可建立“主张—证据—限制”表：每个结论对应哪项研究、什么方法和样本、适用边界是什么。这样写作时不会把不同论文的结果拼成一个并不存在的共识，也能区分论文作者的发现与自己的推断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A6333FCF-5CBB-4C62-9148-E89D659C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3640DF2D-462C-453D-8C11-0BFFD536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研究者应先提出问题、边界和纳入排除标准</a:t>
            </a:r>
          </a:p>
        </p:txBody>
      </p:sp>
    </p:spTree>
    <p:extLst>
      <p:ext uri="{BB962C8B-B14F-4D97-AF65-F5344CB8AC3E}">
        <p14:creationId xmlns:p14="http://schemas.microsoft.com/office/powerpoint/2010/main" val="8286577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D67A9B91-A484-497E-AC16-D9FBEBDD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F1AC00C9-611B-4D9A-A6F5-52E6E6B0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F70241BA-3AC3-4C38-9963-DE1BB94F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可以解释报错、补充测试或提出代码修改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E44A870F-74A4-4659-82F1-C70661B3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111707BC-2F3C-49CF-A808-50983A98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9C49E2B-B955-407E-B130-8038BEA3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5574ED5-54D8-4103-88ED-9BD14166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实验复现：让结果能够被重新运行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AB36376-700D-46ED-ABEC-5EA4112C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156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可以解释报错、补充测试或提出代码修改；但研究者需要记录软件与依赖版本、硬件环境、数据版本、预处理、参数、随机种子和评价脚本；自动生成的代码必须经过代码审查、单元测试和独立运行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7C7A511-2B53-497F-B211-15EAA3F3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77288E0-6F0B-4FB8-9B8D-27F51159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复现至少回答三个问题；使用相同资料能否得到相同结果；改变合理参数后结论是否稳定；失败结果和偏离原研究的部分是否如实记录；若原数据受限，应说明取得条件并提供可公开的替代验证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170BF1B6-FF62-43B9-A41A-09B48FDD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E66C4C84-C7B0-42FB-B85F-C935B7EE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AI 可以解释报错、补充测试或提出代码修改</a:t>
            </a:r>
          </a:p>
        </p:txBody>
      </p:sp>
    </p:spTree>
    <p:extLst>
      <p:ext uri="{BB962C8B-B14F-4D97-AF65-F5344CB8AC3E}">
        <p14:creationId xmlns:p14="http://schemas.microsoft.com/office/powerpoint/2010/main" val="89176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392F458D-1673-4E2E-B0FB-366ABC54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985B646D-1E90-462F-8343-FBA11C3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4FAF5A1C-3E0A-4130-8F0A-CCD9E596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学生作业、成绩、课堂录音、访谈、医疗或生物信息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4C82B31E-6425-40AE-97BA-8BF663DC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99796483-1D4B-4D5E-BFE8-4058B23F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392D885-C038-4C30-8D8B-2ABE24D4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E20598D-8D4D-44EB-BA86-723C446D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数据隐私与最小必要原则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9846274-2C21-4AF0-A7DC-8601D1A2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学生作业、成绩、课堂录音、访谈、医疗或生物信息；以及尚未公开的研究数据；都可能具有敏感性，使用前应确认法律、伦理审批、知情同意、学校制度和服务商条款允许什么；只提供完成任务所需的最少字段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F74BF9A-CEF7-488C-A676-2B676621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FB1F58A-BD63-46A5-9CDD-D68E449B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还要关注“能否被重新识别”：删掉姓名并不一定安全，学号片段、专业、时间和少见经历组合后仍可能指向个人。数据应设置访问角色、保存期限和删除机制，研究团队成员也只能看到职责所需的范围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D76B4E1B-364D-45C4-B07E-2C047750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CD7B0899-79F5-4A02-9727-5DFC4C05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学生作业、成绩、课堂录音、访谈、医疗或生物信息</a:t>
            </a:r>
          </a:p>
        </p:txBody>
      </p:sp>
    </p:spTree>
    <p:extLst>
      <p:ext uri="{BB962C8B-B14F-4D97-AF65-F5344CB8AC3E}">
        <p14:creationId xmlns:p14="http://schemas.microsoft.com/office/powerpoint/2010/main" val="9524480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031329D7-0FE2-490E-A929-012975CD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06881D9C-9923-4727-9B48-99D5A3E9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8EC161C3-2492-4679-BE7B-AB94D842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使用规则因学校、课程与交付场景而异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42AD4C59-022F-44FC-AB3E-D552589F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0C2AB6E7-C170-4259-A0B2-A285C6B7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A3F72B8-DA21-4E57-BDAA-8D61920F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01C332C-504E-4971-BFA7-08AF78F8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学术诚信与作者责任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12330EF-4200-4499-A92D-DC79933D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不同学校、课程、期刊和资助机构对 AI 使用的规则可能不同；提交前必须查阅适用要求；并按要求披露使用目的与范围；不得把 AI 生成的文字、图像、代码或分析冒充为未经辅助的原创成果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80E57C9-6127-4DF5-9CBB-E37AC661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117D622-DE52-4636-A67D-5607843A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模型不能核准最终文本、回应质疑、披露利益冲突或对研究诚信承担责任；因此不能替代作者，署名者必须能够解释方法、核验所有引用、确认数据和图表、审查版权与隐私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FC477A62-62A8-4FA7-9A1B-B8AC1182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A23DC3B4-037E-402C-B97A-AFDC6AD3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AI 使用规则因学校、课程与交付场景而异</a:t>
            </a:r>
          </a:p>
        </p:txBody>
      </p:sp>
    </p:spTree>
    <p:extLst>
      <p:ext uri="{BB962C8B-B14F-4D97-AF65-F5344CB8AC3E}">
        <p14:creationId xmlns:p14="http://schemas.microsoft.com/office/powerpoint/2010/main" val="19282886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13C70196-CCED-4F14-805D-891B3B0B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7C63034D-859C-4AEC-8980-23028018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9C21E232-3EAF-47A9-AAE4-FE799ECB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教学材料与学习评价需要双重核验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20A33EB7-C6D3-4BCA-AC47-EEDBF4F3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69C99D1D-23EF-4AE0-AD17-7CF773DC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60448ACD-3887-47CB-85DB-D0E0384E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教学活动的双重核验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E545A945-18C4-4E09-BA53-F8ABF876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任务｜教师为不同基础的学生设计一组关于机器学习偏差的讨论题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3A6BB250-2E5F-435E-9869-600E663D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4922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流程｜先写出学习目标与评分标准，再让 AI 生成候选案例；教师回到可靠资料核验事实，检查语言与难度，并为没有设备的学生提供等价活动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4735A734-F824-49AA-94CB-E657F4D7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实施｜AI 只汇总匿名反馈，最终评价由教师依据公开量规完成；学生可以对反馈提出复核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537B3D04-48DE-41C1-AD58-9651B0B3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责任｜教师决定采用哪些材料，并对课程公平性与评价结果负责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69648899-65EF-47C3-A292-63D8683F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3BFAFEF2-5D2F-4483-B4F9-B8053A9D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教学材料与学习评价需要双重核验</a:t>
            </a:r>
          </a:p>
        </p:txBody>
      </p:sp>
    </p:spTree>
    <p:extLst>
      <p:ext uri="{BB962C8B-B14F-4D97-AF65-F5344CB8AC3E}">
        <p14:creationId xmlns:p14="http://schemas.microsoft.com/office/powerpoint/2010/main" val="19047661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C413E26C-8927-4EDD-8332-4D8081B2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5B71F6A5-77C2-4BE8-BE99-783F040C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1ED691A1-3150-4CCA-9E5E-F3B7288B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检索式、依赖与数据版本共同决定可复现性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5CBCBD7A-F297-4311-9C92-6F346C88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B0360FDA-5D2E-44AD-84BE-BA5F8376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97813006-1617-461E-A60E-9A5427F9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文献检索与实验复现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4859238-0E5E-43AF-A2DD-B1DBAFD3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任务｜研究小组要验证一种公开算法在新数据上的表现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5D0FF200-9A96-4B1E-B011-8041A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53798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流程｜AI 协助扩展关键词和解释代码，但成员逐条核对论文记录与原文，保存检索式；随后锁定依赖、数据版本、参数和评价脚本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A7A0ADD5-401F-46A9-A26E-AB0A8AF2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155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核验｜一名成员运行实验，另一名成员根据记录独立复现；不一致之处进入问题清单，不让模型自行补齐缺失结果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21E3C31D-4324-4789-847D-EEA7E118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交付｜论文说明 AI 的使用范围、复现差异和数据限制，作者共同确认全部引用与结论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75FE3812-2CFD-48CB-A0AD-A0BF807B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0751BBD0-5797-41D1-80F1-D8BFC126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检索式、依赖与数据版本共同决定可复现性</a:t>
            </a:r>
          </a:p>
        </p:txBody>
      </p:sp>
    </p:spTree>
    <p:extLst>
      <p:ext uri="{BB962C8B-B14F-4D97-AF65-F5344CB8AC3E}">
        <p14:creationId xmlns:p14="http://schemas.microsoft.com/office/powerpoint/2010/main" val="806113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28C270BB-A5AD-42C9-9F9D-4D49D6BA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15D9C57D-FD27-4865-8D91-188379ED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B5B4277A-2BAA-4DDD-B7AA-CC8AC8A5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7F9E04EC-8842-4915-B53E-2343092B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A9171279-6A2C-42A0-A079-8C88D3AE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0A0D24DE-CB49-4D26-8EC7-D9562D45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9A457936-7CC9-4382-BDC6-A436AF75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21D450A1-2C05-4BE3-9D59-20F259D4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教学方向：写出一个学习目标、一个可观察的评价证据和一项课堂活动，让 AI 生成三个候选方案，再逐条记录事实、难度、公平性和隐私检查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587983CC-EC62-4E3A-B38E-D0068545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175C78FA-22BF-45EB-872F-CCC819E4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F7B09537-8485-46AF-8063-65B63942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7C720159-B355-4504-BE7B-483D59B8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科研方向：围绕一个问题建立五条候选文献的“主张—原文证据—限制”表，并逐条核对完整书目信息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CA02D988-F5FD-489F-B3E9-94D3A3D4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EF00D8AC-C6FC-4EF0-A600-9EB25EAD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EB161EB0-0B57-491C-B0FB-CAC9A58C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C6B35C88-3E63-4C00-9D4D-DD7219E9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为其中一个公开实验写出环境、数据、参数、随机性和评价复现清单，请另一位学习者按清单尝试复现</a:t>
            </a:r>
          </a:p>
        </p:txBody>
      </p:sp>
    </p:spTree>
    <p:extLst>
      <p:ext uri="{BB962C8B-B14F-4D97-AF65-F5344CB8AC3E}">
        <p14:creationId xmlns:p14="http://schemas.microsoft.com/office/powerpoint/2010/main" val="109153833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36026DB9-50CB-4E9F-BFD4-FFB99F9A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AC2B1A37-966F-4233-A2BE-D905C927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446372A1-6D26-4C11-A183-06D8D19A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CE58E4CE-3714-4EF2-A672-AFDF62E8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34A2EF49-7551-4856-81E8-F7F4466B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744594ED-65EA-49D3-9034-1243FF32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BCF5BDE2-B940-4C84-8B36-A27CA175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E4C91A64-96EB-421F-AFC6-C0B5E2DD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第一步是确定学习目标与评价证据，再让 AI 提供辅助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623604E3-AFEA-4276-A47E-9C48323C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8C645F64-43C4-4DA9-94E8-00F139CC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70889F2D-FDB3-4CA3-9DF2-3003119D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F26C7825-3DAC-4C23-AAD2-98A42688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可以解释报错、补充测试或提出代码修改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C3D6F148-2F99-4FC2-B1A8-E5E1125F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AB932288-2738-45EC-AE0F-E7CCD486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2DF37584-8951-415B-9409-F81A84C1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2D92D97A-319F-412F-A5E9-9D9C63BD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使用规则因学校、课程与交付场景而异</a:t>
            </a:r>
          </a:p>
        </p:txBody>
      </p:sp>
    </p:spTree>
    <p:extLst>
      <p:ext uri="{BB962C8B-B14F-4D97-AF65-F5344CB8AC3E}">
        <p14:creationId xmlns:p14="http://schemas.microsoft.com/office/powerpoint/2010/main" val="5264896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7D538D24-11BB-4F8E-903D-47F8A79B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2EC3C093-DCB8-4C8F-AD7E-B63A3EC6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55D80125-499A-4C7B-B143-F5326AF2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高校教学与科研：依据、边界与延伸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7EF0F953-1ED3-4D30-9D9D-426D051C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DE4F3A5C-4BBD-4997-9FDF-0A468FE7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IN-002 · IN-002-S12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EE0B09B8-766A-4A5E-9D0E-EF132F92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1DB4FE89-90BE-451C-8EE0-97BB253F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UNESCO：Guidance for generative AI in education and research：生成式 AI 在教育与科研中的以人为本指导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72221751-C6CF-47F1-B955-45C4B146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Committee on Publication Ethics（COPE）：Authorship and AI tools：AI 工具不能承担作者责任的出版伦理立场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A023FD49-1EA2-4307-B8E3-290B3580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进行具体教学或投稿前，应查阅所在学校、课程、伦理委员会、期刊与资助机构的现行规则</a:t>
            </a:r>
          </a:p>
        </p:txBody>
      </p:sp>
      <p:sp>
        <p:nvSpPr>
          <p:cNvPr id="10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6E88BD4C-E166-4FA3-9D0A-691DE428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1F23E7A8-4AF2-4734-80BF-D2665F9B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9715382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2026-07-12T03:32:03.4010000Z</dcterms:created>
  <dcterms:modified xsi:type="dcterms:W3CDTF">2026-07-12T03:32:03.4010000Z</dcterms:modified>
</coreProperties>
</file>