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ffc7271a148c2" /><Relationship Type="http://schemas.openxmlformats.org/officeDocument/2006/relationships/extended-properties" Target="/docProps/app.xml" Id="R0417a6ced622406e" /><Relationship Type="http://schemas.openxmlformats.org/officeDocument/2006/relationships/officeDocument" Target="/ppt/presentation.xml" Id="R57c9f05ebf554a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79da66c014372"/>
  </p:sldMasterIdLst>
  <p:notesMasterIdLst>
    <p:notesMasterId xmlns:r="http://schemas.openxmlformats.org/officeDocument/2006/relationships" r:id="R63b8406b45084e23"/>
  </p:notesMasterIdLst>
  <p:sldIdLst>
    <p:sldId xmlns:r="http://schemas.openxmlformats.org/officeDocument/2006/relationships" id="256" r:id="R51fa8dfab5d8474d"/>
    <p:sldId xmlns:r="http://schemas.openxmlformats.org/officeDocument/2006/relationships" id="257" r:id="R6a2260d790dd456d"/>
    <p:sldId xmlns:r="http://schemas.openxmlformats.org/officeDocument/2006/relationships" id="258" r:id="R40944b04f8114c48"/>
    <p:sldId xmlns:r="http://schemas.openxmlformats.org/officeDocument/2006/relationships" id="259" r:id="Rf2fefe804d364acc"/>
    <p:sldId xmlns:r="http://schemas.openxmlformats.org/officeDocument/2006/relationships" id="260" r:id="R0dce8dd88f5d4b29"/>
    <p:sldId xmlns:r="http://schemas.openxmlformats.org/officeDocument/2006/relationships" id="261" r:id="R207490a44e4642aa"/>
    <p:sldId xmlns:r="http://schemas.openxmlformats.org/officeDocument/2006/relationships" id="262" r:id="R43c28b121ffe44ad"/>
    <p:sldId xmlns:r="http://schemas.openxmlformats.org/officeDocument/2006/relationships" id="263" r:id="R6006d823c7d84f02"/>
    <p:sldId xmlns:r="http://schemas.openxmlformats.org/officeDocument/2006/relationships" id="264" r:id="R17edc8c8269a4800"/>
    <p:sldId xmlns:r="http://schemas.openxmlformats.org/officeDocument/2006/relationships" id="265" r:id="Re6befdb2e8864bf2"/>
    <p:sldId xmlns:r="http://schemas.openxmlformats.org/officeDocument/2006/relationships" id="266" r:id="Rf98f0366a9ff42e8"/>
    <p:sldId xmlns:r="http://schemas.openxmlformats.org/officeDocument/2006/relationships" id="267" r:id="R1dc2f0e8a95847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df5e5c93d7495f" /><Relationship Type="http://schemas.openxmlformats.org/officeDocument/2006/relationships/slideMaster" Target="/ppt/slideMasters/slideMaster1.xml" Id="R29079da66c014372" /><Relationship Type="http://schemas.openxmlformats.org/officeDocument/2006/relationships/notesMaster" Target="/ppt/notesMasters/notesMaster1.xml" Id="R63b8406b45084e23" /><Relationship Type="http://schemas.openxmlformats.org/officeDocument/2006/relationships/presProps" Target="/ppt/presProps.xml" Id="Rd1684a481e6b4d75" /><Relationship Type="http://schemas.openxmlformats.org/officeDocument/2006/relationships/tableStyles" Target="/ppt/tableStyles.xml" Id="Rf89c2e8b58aa4647" /><Relationship Type="http://schemas.openxmlformats.org/officeDocument/2006/relationships/slide" Target="/ppt/slides/slide1.xml" Id="R51fa8dfab5d8474d" /><Relationship Type="http://schemas.openxmlformats.org/officeDocument/2006/relationships/slide" Target="/ppt/slides/slide2.xml" Id="R6a2260d790dd456d" /><Relationship Type="http://schemas.openxmlformats.org/officeDocument/2006/relationships/slide" Target="/ppt/slides/slide3.xml" Id="R40944b04f8114c48" /><Relationship Type="http://schemas.openxmlformats.org/officeDocument/2006/relationships/slide" Target="/ppt/slides/slide4.xml" Id="Rf2fefe804d364acc" /><Relationship Type="http://schemas.openxmlformats.org/officeDocument/2006/relationships/slide" Target="/ppt/slides/slide5.xml" Id="R0dce8dd88f5d4b29" /><Relationship Type="http://schemas.openxmlformats.org/officeDocument/2006/relationships/slide" Target="/ppt/slides/slide6.xml" Id="R207490a44e4642aa" /><Relationship Type="http://schemas.openxmlformats.org/officeDocument/2006/relationships/slide" Target="/ppt/slides/slide7.xml" Id="R43c28b121ffe44ad" /><Relationship Type="http://schemas.openxmlformats.org/officeDocument/2006/relationships/slide" Target="/ppt/slides/slide8.xml" Id="R6006d823c7d84f02" /><Relationship Type="http://schemas.openxmlformats.org/officeDocument/2006/relationships/slide" Target="/ppt/slides/slide9.xml" Id="R17edc8c8269a4800" /><Relationship Type="http://schemas.openxmlformats.org/officeDocument/2006/relationships/slide" Target="/ppt/slides/slide10.xml" Id="Re6befdb2e8864bf2" /><Relationship Type="http://schemas.openxmlformats.org/officeDocument/2006/relationships/slide" Target="/ppt/slides/slide11.xml" Id="Rf98f0366a9ff42e8" /><Relationship Type="http://schemas.openxmlformats.org/officeDocument/2006/relationships/slide" Target="/ppt/slides/slide12.xml" Id="R1dc2f0e8a95847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787aa29f72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2419a9a3e041f1" /><Relationship Type="http://schemas.openxmlformats.org/officeDocument/2006/relationships/notesMaster" Target="/ppt/notesMasters/notesMaster1.xml" Id="Rd40d500309b04f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92be13414d4596" /><Relationship Type="http://schemas.openxmlformats.org/officeDocument/2006/relationships/notesMaster" Target="/ppt/notesMasters/notesMaster1.xml" Id="Rc4af355af03648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2d200fae1547c1" /><Relationship Type="http://schemas.openxmlformats.org/officeDocument/2006/relationships/notesMaster" Target="/ppt/notesMasters/notesMaster1.xml" Id="Rcc09a311841f44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36e1ebcf314c27" /><Relationship Type="http://schemas.openxmlformats.org/officeDocument/2006/relationships/notesMaster" Target="/ppt/notesMasters/notesMaster1.xml" Id="R8e415a5af67c4a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b677b668d5425d" /><Relationship Type="http://schemas.openxmlformats.org/officeDocument/2006/relationships/notesMaster" Target="/ppt/notesMasters/notesMaster1.xml" Id="R22e254be38bf4a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d7826d2e9c462e" /><Relationship Type="http://schemas.openxmlformats.org/officeDocument/2006/relationships/notesMaster" Target="/ppt/notesMasters/notesMaster1.xml" Id="R8cac7e5367c542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7acef3897d4674" /><Relationship Type="http://schemas.openxmlformats.org/officeDocument/2006/relationships/notesMaster" Target="/ppt/notesMasters/notesMaster1.xml" Id="R0ff00995b90f4b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1f05e24ee84f1d" /><Relationship Type="http://schemas.openxmlformats.org/officeDocument/2006/relationships/notesMaster" Target="/ppt/notesMasters/notesMaster1.xml" Id="R9c1c1fa58fec49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b306854afc4e4a" /><Relationship Type="http://schemas.openxmlformats.org/officeDocument/2006/relationships/notesMaster" Target="/ppt/notesMasters/notesMaster1.xml" Id="R6ede4451bee348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d9e2f51536404f" /><Relationship Type="http://schemas.openxmlformats.org/officeDocument/2006/relationships/notesMaster" Target="/ppt/notesMasters/notesMaster1.xml" Id="R734072c094a540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1a4e4285de4012" /><Relationship Type="http://schemas.openxmlformats.org/officeDocument/2006/relationships/notesMaster" Target="/ppt/notesMasters/notesMaster1.xml" Id="Rc789ac4829494b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816c9e7cf948d6" /><Relationship Type="http://schemas.openxmlformats.org/officeDocument/2006/relationships/notesMaster" Target="/ppt/notesMasters/notesMaster1.xml" Id="R237ce34ef25142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57fdd73ba43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ca88b418c6418d" /><Relationship Type="http://schemas.openxmlformats.org/officeDocument/2006/relationships/slideLayout" Target="/ppt/slideLayouts/slideLayout1.xml" Id="R3a80a4e7481348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80a4e7481348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fbc1b374649ea" /><Relationship Type="http://schemas.openxmlformats.org/officeDocument/2006/relationships/notesSlide" Target="/ppt/notesSlides/notesSlide1.xml" Id="R4a03214990f14a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799f7d6f84ba8" /><Relationship Type="http://schemas.openxmlformats.org/officeDocument/2006/relationships/notesSlide" Target="/ppt/notesSlides/notesSlide2.xml" Id="R6f7ed9c7547045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a36d903734c89" /><Relationship Type="http://schemas.openxmlformats.org/officeDocument/2006/relationships/notesSlide" Target="/ppt/notesSlides/notesSlide3.xml" Id="Rf38e9b1c499c47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fb59353174564" /><Relationship Type="http://schemas.openxmlformats.org/officeDocument/2006/relationships/notesSlide" Target="/ppt/notesSlides/notesSlide4.xml" Id="Re0c8d50977f34a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0a710823d471b" /><Relationship Type="http://schemas.openxmlformats.org/officeDocument/2006/relationships/notesSlide" Target="/ppt/notesSlides/notesSlide5.xml" Id="R25ec2625c85948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c4f98fd4149c2" /><Relationship Type="http://schemas.openxmlformats.org/officeDocument/2006/relationships/notesSlide" Target="/ppt/notesSlides/notesSlide6.xml" Id="R736fc29041fe4c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23f4aab9b463d" /><Relationship Type="http://schemas.openxmlformats.org/officeDocument/2006/relationships/notesSlide" Target="/ppt/notesSlides/notesSlide7.xml" Id="R98032bb607ce41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dc61d0b864377" /><Relationship Type="http://schemas.openxmlformats.org/officeDocument/2006/relationships/notesSlide" Target="/ppt/notesSlides/notesSlide8.xml" Id="R8599e54e219440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715b9631f473c" /><Relationship Type="http://schemas.openxmlformats.org/officeDocument/2006/relationships/notesSlide" Target="/ppt/notesSlides/notesSlide9.xml" Id="Raa3f64154b4e4c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1e693168a44e1" /><Relationship Type="http://schemas.openxmlformats.org/officeDocument/2006/relationships/notesSlide" Target="/ppt/notesSlides/notesSlide10.xml" Id="R5e25b43fce2a4f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c4b3a70c04555" /><Relationship Type="http://schemas.openxmlformats.org/officeDocument/2006/relationships/notesSlide" Target="/ppt/notesSlides/notesSlide11.xml" Id="R780188e51e814c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ee1b861f644a5" /><Relationship Type="http://schemas.openxmlformats.org/officeDocument/2006/relationships/notesSlide" Target="/ppt/notesSlides/notesSlide12.xml" Id="Rcfc6b356f07745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6AAB79D9-3D39-4718-830D-A39F06C9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7D2AD22B-07F0-4507-99BF-2310837D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526981C6-F2E4-4067-B885-F5CCC907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0A36E3CE-598A-4E09-823F-567B777B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0EC09CA3-5502-437B-956E-274399AE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9CF6A607-6A65-4D87-A43B-DA0613EF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13BBCA6-E2AF-40E2-A4C4-7327C1B7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第 1 章 · 人工智能概述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1A2A472-0660-4EFB-BA22-9A9221BE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提示词、AIGC 与多模态工作流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1B82E30-9B9F-4D8D-90CF-28E734E8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把提示词、文本生成、图像和视频生成组织成可复用、可复核的内容工作流。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6FFFB3F0-2EF3-474B-AA7E-EC291E95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提示词不是“让模型灵光一现的咒语”，而是一份可执行任务说明。输入材料不完整、目标含糊、验收标准缺失时，模型只能用自己的默认假设补空白；提示词再长，也不会自动把缺失事实变出来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7ED3BE9F-18F8-4A4E-BF8F-61139F65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61DB883A-AEBF-49D4-BA6D-5895177B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OV-006 · OV-006-S01</a:t>
            </a:r>
          </a:p>
        </p:txBody>
      </p:sp>
    </p:spTree>
    <p:extLst>
      <p:ext uri="{BB962C8B-B14F-4D97-AF65-F5344CB8AC3E}">
        <p14:creationId xmlns:p14="http://schemas.microsoft.com/office/powerpoint/2010/main" val="1141428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266B336A-EDFE-4916-8290-2130FF5C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4551AF9E-2B8F-4AAE-B018-1C43E9B5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EA75463C-FF7D-4844-AE0A-A6A50FE5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提示词与多模态工作流：4项学习结果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6922DEFA-6457-48C0-8436-7F0C694F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E018E128-CF03-4E3D-9D05-150C03E3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8E1B084A-AADB-417B-BF2B-69B9045C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写出包含任务、背景、输入、约束、示例、输出格式和验收标准的提示词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82FA9941-1A4D-4AA7-AD8A-C110AC6B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判断何时使用零样本、少样本、任务分解或多候选一致性检查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5F2946D6-0998-4691-92BF-2ADC053C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设计覆盖文本、图像与视频的生成—选择—编辑—核验—发布工作流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BDC7A676-8933-4D59-BE5B-315D7C56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识别商品事实、人物一致性、版权、隐私和品牌规范等多模态风险</a:t>
            </a:r>
          </a:p>
        </p:txBody>
      </p:sp>
    </p:spTree>
    <p:extLst>
      <p:ext uri="{BB962C8B-B14F-4D97-AF65-F5344CB8AC3E}">
        <p14:creationId xmlns:p14="http://schemas.microsoft.com/office/powerpoint/2010/main" val="1685985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962DB9AD-D30D-4613-8C28-BD2239B3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E87D8259-132A-4629-B02D-36D53BC9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1 / 5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E6FD7F82-DC52-45DC-B41B-F65EB507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任务 ：要完成什么动作，而不是泛泛地说“帮我优化”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51B26FF1-F5AA-45F1-9654-EE667722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0275AC34-9F0D-4FA8-99C5-66D2B423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CA36B940-94A5-45A6-9574-8220FF24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83C1030-33C5-4E77-BD02-540B6FC3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一份可执行提示词的七个部分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7A2776F-C19F-4FA5-BC8F-4199A6E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任务 ：要完成什么动作，而不是泛泛地说“帮我优化”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4BD2F869-980E-46CB-BE8A-69E46E80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DAF6B3A5-1501-4606-8289-F8D1E159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使用场景与受众 ：输出给谁、在哪个渠道使用、读者已有多少背景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F4A90EEB-0D63-4991-8EEA-A198F2E2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4B54419F-8CFF-451B-B6CB-89745454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可信输入 ：原始文档、结构化字段、图片或数据；明确哪些是事实来源</a:t>
            </a:r>
          </a:p>
        </p:txBody>
      </p:sp>
      <p:sp>
        <p:nvSpPr>
          <p:cNvPr id="13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ED627C77-4661-4C08-8508-DDF158FD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3-takeaway">
            <a:extLst xmlns:a="http://schemas.openxmlformats.org/drawingml/2006/main">
              <a:ext uri="{FF2B5EF4-FFF2-40B4-BE49-F238E27FC236}">
                <a16:creationId xmlns:a16="http://schemas.microsoft.com/office/drawing/2014/main" id="{4E1F5853-5DE0-482C-80AE-6AE1232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任务 ：要完成什么动作，而不是泛泛地说“帮我优化”</a:t>
            </a:r>
          </a:p>
        </p:txBody>
      </p:sp>
    </p:spTree>
    <p:extLst>
      <p:ext uri="{BB962C8B-B14F-4D97-AF65-F5344CB8AC3E}">
        <p14:creationId xmlns:p14="http://schemas.microsoft.com/office/powerpoint/2010/main" val="1286399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83980716-D0EB-43B3-9D56-34743C6E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40B07953-A7E0-4C55-8C48-60A70FA6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2 / 5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0383E9CC-1F7B-4DCC-8C7D-4073DCF4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零样本适合常见、边界清楚的任务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864AE0DE-AB43-4A55-9C34-A3FE16E2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02835B57-3769-4D5C-AB28-677160E2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A7069022-1A47-4761-B339-68FD4CD6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588903A1-E908-4D44-9201-67F5EEBB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零样本、少样本与任务分解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0184CA3-7E8F-4D78-8737-97A34FDA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零样本适合常见、边界清楚的任务；少样本用几个代表性示例约束格式和判断标准，尤其适合分类、抽取和风格统一。复杂任务可先拆成“提取事实—形成结构—生成草稿—按清单检查”几个可验证步骤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D8A34334-A33E-4793-B75A-24B2388B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D73E931-E39E-45C5-B812-FFD28EEE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不必索取或展示模型的完整隐藏推理；对外可要求的是 依据、关键步骤、假设和检查项；这些内容能被人或工具核对；对于有明确答案的任务；还可以生成多个候选；再比较结果是否一致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31ADAF86-125E-4A72-B3C1-10684011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F4875096-D4B8-4589-AAF0-149AFAE7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零样本适合常见、边界清楚的任务</a:t>
            </a:r>
          </a:p>
        </p:txBody>
      </p:sp>
    </p:spTree>
    <p:extLst>
      <p:ext uri="{BB962C8B-B14F-4D97-AF65-F5344CB8AC3E}">
        <p14:creationId xmlns:p14="http://schemas.microsoft.com/office/powerpoint/2010/main" val="636660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2D43A910-519A-4A10-84AD-770D8D76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29CE1815-A5CD-4E9E-BA19-495D837C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3 / 5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D1F14386-DE81-4F1C-A8C1-33481A30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可复用模板要把变量与固定规则分开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4D5DB1F4-6666-4B13-B734-5EAAFA02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42F068A2-0068-4C69-B530-041F203D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29AFC5BB-03A3-4E48-B49B-D8D6C73C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1966A1B-FC9C-4E7A-B460-E0EDE006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把提示词变成可评测模板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30A05F2A-C48D-4E30-B172-089D107B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可复用模板要把变量与固定规则分开；例如活动方案中的受众、日期和预算是变量；禁止编造嘉宾、必须给出风险预案是固定规则；为模板准备一组真实样例；记录通过率、常见遗漏和人工修改量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44E83323-FF06-49F9-A9B8-AE84CD6F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5EDDAF6-3A73-49A1-998E-5FBF3DF0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模型输出若要进入下游系统，应优先使用结构化格式并做程序校验。字段缺失、日期非法、引用为空或金额超出范围时，流程应明确失败，而不是悄悄继续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D5F8CDD6-34FF-4299-92D8-EB7EA1AC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714214A0-7A6D-4A82-8DAC-BDF4370F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可复用模板要把变量与固定规则分开</a:t>
            </a:r>
          </a:p>
        </p:txBody>
      </p:sp>
    </p:spTree>
    <p:extLst>
      <p:ext uri="{BB962C8B-B14F-4D97-AF65-F5344CB8AC3E}">
        <p14:creationId xmlns:p14="http://schemas.microsoft.com/office/powerpoint/2010/main" val="1778091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C879788A-B172-4AD2-9873-BF9BEDF1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C82F2D32-5A25-4D60-A8F8-DDC08FFE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4 / 5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9CBCE281-ED47-4F68-A0DF-A7A7666D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文本生成要区分来源事实与模型表述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25FB7C62-3F29-4A4F-9510-156F8BB8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7E1C75F8-1F85-415C-ADDB-A0462051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12C6F6AD-5E1B-47A1-AFFC-645866AE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3571C4B9-8C66-4FB4-9EEE-D3BC8D3F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文本、图像与视频需要不同控制点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9A9CF995-CF26-43C8-B65C-2A56BCB3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文本生成要区分来源事实与模型表述；新闻、产品参数、价格和政策不能由模型自行补齐；图像生成要检查主体细节、文字、商标、人物授权、风格模仿和品牌一致性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77A3D05-0B39-48A8-AEAA-535BCC9C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8093F54-961B-443B-838B-8EE0C446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多模态工作流通常先用低成本方式探索方向，再把选中的方案提升到可交付质量。生成模型适合快速扩展候选，不适合替团队做最终事实、版权和伦理判断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A7BEFC08-91E3-46BB-9404-C4A4812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29407F38-807A-448E-94C1-1E5ECEDF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文本生成要区分来源事实与模型表述</a:t>
            </a:r>
          </a:p>
        </p:txBody>
      </p:sp>
    </p:spTree>
    <p:extLst>
      <p:ext uri="{BB962C8B-B14F-4D97-AF65-F5344CB8AC3E}">
        <p14:creationId xmlns:p14="http://schemas.microsoft.com/office/powerpoint/2010/main" val="2053875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CCBD2812-AF17-4F01-9992-52336200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4935D3F6-A102-428D-965E-7E9AC056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5 / 5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6E43F689-3976-48D5-8B73-EC1D9787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业务数据先锁定，AIGC 再生成可审核内容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5AC884BE-2270-44C6-B824-9D1FA92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1121CB15-BA3F-4258-AE67-8469BA31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8A75315-98EC-40B2-B45C-4F5BFA6C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24F5B8D3-0CD0-4BAE-9249-D1CDC80F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AIGC 接入业务流程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9F9EECC9-EFA2-40A7-8E08-5ABB3244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以电商上新为例，商品名称、尺寸、材质、价格和库存来自业务系统；模型可基于这些受控字段生成不同渠道文案、视觉草图和短视频分镜；商品主图要回到真实商品核对；功效和售后承诺走业务审批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4A0AA411-241F-4F69-8777-F756DB1C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06154A4A-F82C-4174-B646-27DDEC2D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当 AIGC 接入知识库、核稿或审批，权限和失败处理比“写得像不像”更重要。模型能起草，不代表能批准；能读取资料，不代表能把资料发到外部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F07C4D60-EAD8-4E6D-814B-2998D68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0C7A8633-5CC2-49B7-80F7-DE7DCCED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业务数据先锁定，AIGC 再生成可审核内容</a:t>
            </a:r>
          </a:p>
        </p:txBody>
      </p:sp>
    </p:spTree>
    <p:extLst>
      <p:ext uri="{BB962C8B-B14F-4D97-AF65-F5344CB8AC3E}">
        <p14:creationId xmlns:p14="http://schemas.microsoft.com/office/powerpoint/2010/main" val="1947138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D1F7A0D8-E368-4A1F-8D83-8513053C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3B5995ED-F7EB-4D3A-8A2C-7A7B9CEB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19A4CBB6-4184-4F1A-AF7F-8FC74D3E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可验收任务必须补齐输入、约束与成功标准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4FE99EB5-313B-4406-A508-10B261D7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4B340ACC-31F1-4C2B-A5B1-7E845D7A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OV-006-S08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3A1EF7DE-F489-419A-9E60-022D4E30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从“帮我写活动方案”到可验收任务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826D93E1-66CA-4CAC-AF4F-CBF7843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场景｜模糊请求只有一个动作，没有输入和成功标准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01C9C55B-C83A-4D52-B10B-F073F8AE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567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机制｜改写后的任务可以是：面向 30 名新员工，依据提供的培训目标、场地和预算表，生成半天活动议程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6A1028FB-1F2C-453E-849E-446217B8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边界｜输出时间、环节、负责人、物料和风险五列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75BDA859-5C8D-4E66-A20D-5818B914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机制｜不得虚构讲师和价格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4A485EDA-74D0-4FB1-9A3E-253628FB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边界｜最后列出仍需人工补充的字段</a:t>
            </a:r>
          </a:p>
        </p:txBody>
      </p:sp>
      <p:sp>
        <p:nvSpPr>
          <p:cNvPr id="12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FE22C3BB-46D4-489B-AA2B-40DE3C9E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3" name="s8-takeaway">
            <a:extLst xmlns:a="http://schemas.openxmlformats.org/drawingml/2006/main">
              <a:ext uri="{FF2B5EF4-FFF2-40B4-BE49-F238E27FC236}">
                <a16:creationId xmlns:a16="http://schemas.microsoft.com/office/drawing/2014/main" id="{85757144-CE00-44F3-8A01-FA9EA56F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可验收任务必须补齐输入、约束与成功标准</a:t>
            </a:r>
          </a:p>
        </p:txBody>
      </p:sp>
    </p:spTree>
    <p:extLst>
      <p:ext uri="{BB962C8B-B14F-4D97-AF65-F5344CB8AC3E}">
        <p14:creationId xmlns:p14="http://schemas.microsoft.com/office/powerpoint/2010/main" val="2037981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3DC9E2CE-3BCE-4BB2-A85F-36C64AE9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5EDBC3EB-9E26-48BD-B07D-D667E803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802A9B83-6F49-4990-8CCB-EB375B66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多模态流水线要逐镜核对商品与连续性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0E71DD24-CB77-48B6-B8C2-91FA27F6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C3BD1C48-5321-4138-A85A-E2FE52D3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59FBB0F1-C826-405E-9427-09AA9074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商品短视频的多模态流水线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54644EF9-381B-4235-9B82-715BCE43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方法｜团队先锁定真实商品图和参数，生成三套分镜草案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EE23408D-BA00-4C57-8F54-02AEF17C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方法｜选定一套后制作关键帧，再生成短视频候选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55112D03-7EB5-4C43-BDA3-F47269C7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839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机制｜编辑者逐镜检查商品外观、文字、手部动作和镜头连续性，并用已授权音乐与配音替换临时素材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6AFF0F7E-8DAF-43DB-AC8E-EC56EDFB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69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方法｜发布前由业务负责人核对价格和功效，由品牌负责人核对视觉，由素材管理员保存来源与授权记录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767B6504-2FF1-4AE8-87FA-EC384D5F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60478409-8444-4680-846C-7E8A1AFC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多模态流水线要逐镜核对商品与连续性</a:t>
            </a:r>
          </a:p>
        </p:txBody>
      </p:sp>
    </p:spTree>
    <p:extLst>
      <p:ext uri="{BB962C8B-B14F-4D97-AF65-F5344CB8AC3E}">
        <p14:creationId xmlns:p14="http://schemas.microsoft.com/office/powerpoint/2010/main" val="121657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AEA69C68-B042-4677-B87E-E091338D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70FC6210-58AB-4580-81D5-E757FD4B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A5A9854F-3DDF-470C-A095-92DDC9C1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提示词与多模态工作流：一次可验收练习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BDB722E2-9565-4CEC-81A3-84C4DD61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5363E6F0-787E-4CB0-B157-97950A76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OV-006-S10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F3E3EF4E-A370-43E6-884C-E4AA4BB3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F8C35E9A-B940-46D3-90A2-92EC27E2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07E111AA-FE07-43A0-9727-BBE0C25F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把一个真实模糊请求改写成七部分任务说明，并标出哪些输入仍然缺失；为同一抽取任务分别写零样本和少样本版本，用 10 个样例比较字段完整率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3E845783-D4F9-427A-AEAE-209B1D0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481C98B1-AF88-4752-BCEA-AC510EFA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47186ECD-A4A2-4896-ADAE-144E7589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266B2788-99DA-4603-BFEB-ABA91BC6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设计一条图文或短视频流程，写出每一步的输入、输出、自动检查和人工责任人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A3E92B00-12C6-4CFF-BBAC-1F9AB64A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C4F092AB-E2BE-417E-A54B-39273DB7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3B933F87-B2F1-47DD-AC20-1F76535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C77F0916-9675-49CA-9E90-B5B7567B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为生成内容建立发布清单，至少覆盖事实、版权、隐私、品牌与可访问性</a:t>
            </a:r>
          </a:p>
        </p:txBody>
      </p:sp>
    </p:spTree>
    <p:extLst>
      <p:ext uri="{BB962C8B-B14F-4D97-AF65-F5344CB8AC3E}">
        <p14:creationId xmlns:p14="http://schemas.microsoft.com/office/powerpoint/2010/main" val="10401851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BD7ECF2E-D33A-4CC9-86E9-55FE99F9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D9FE60AB-DB53-47DC-B068-41C353A3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D69CCD69-8474-4750-9144-E209ADAF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提示词与多模态工作流：判断时先抓住三点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570E0221-523A-4B83-9106-646A1646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910CD5DD-ABC5-4BF5-A013-C6E1883B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OV-006-S11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5E995E83-88B5-4316-9EB8-2206271E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8E494E91-2A68-41F6-99C5-B2DA9067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F44BD5D0-2744-4962-B8CC-9360D8F1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任务 ：要完成什么动作，而不是泛泛地说“帮我优化”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AEFCECEC-A99A-460B-8179-DF01C67E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008F7B2C-3CEC-490F-A8D2-DC93A026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87AF2467-3356-453D-8227-93486186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EBEEEB6D-9244-484E-AE40-3A752A99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可复用模板要把变量与固定规则分开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2AA79071-8B2A-4DA9-BF60-FA7BEC0C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16412A38-15D8-4B1C-8D13-9F1AD7F3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50B959D8-26BB-4D3B-BC03-F589C875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95CF9D90-0ACC-4796-993D-4D5F3475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业务数据先锁定，AIGC 再生成可审核内容</a:t>
            </a:r>
          </a:p>
        </p:txBody>
      </p:sp>
    </p:spTree>
    <p:extLst>
      <p:ext uri="{BB962C8B-B14F-4D97-AF65-F5344CB8AC3E}">
        <p14:creationId xmlns:p14="http://schemas.microsoft.com/office/powerpoint/2010/main" val="18298848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C2CAB489-B652-4626-9315-3A7627EB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CF84200B-C21F-4A06-B546-94B89E00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459B6389-622C-48A1-8463-30A01413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提示词与多模态工作流：依据、边界与延伸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C97EF660-A691-49D4-B92B-CA4B6FE6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66005D80-0574-4FB9-AB65-3F2F0BAC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OV-006 · OV-006-S12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48F16C89-2A52-4A77-9506-8538512B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AF59F8FB-B44A-4466-9849-C0E4CFA3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实践时请为每次生成保存输入来源、模型版本、提示模板、人工修改与批准记录；这份记录既服务复盘，也服务版权与责任追踪</a:t>
            </a:r>
          </a:p>
        </p:txBody>
      </p:sp>
      <p:sp>
        <p:nvSpPr>
          <p:cNvPr id="8" name="s12-takeaway-rule">
            <a:extLst xmlns:a="http://schemas.openxmlformats.org/drawingml/2006/main">
              <a:ext uri="{FF2B5EF4-FFF2-40B4-BE49-F238E27FC236}">
                <a16:creationId xmlns:a16="http://schemas.microsoft.com/office/drawing/2014/main" id="{D740DEDC-9491-4596-958C-7961046E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9" name="s12-takeaway">
            <a:extLst xmlns:a="http://schemas.openxmlformats.org/drawingml/2006/main">
              <a:ext uri="{FF2B5EF4-FFF2-40B4-BE49-F238E27FC236}">
                <a16:creationId xmlns:a16="http://schemas.microsoft.com/office/drawing/2014/main" id="{FA9516AC-331D-40EE-AE4E-6237617F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公开幻灯片只使用课程原创文字与原生图形；完整论证、链接和事实边界请见本节讲义。</a:t>
            </a:r>
          </a:p>
        </p:txBody>
      </p:sp>
    </p:spTree>
    <p:extLst>
      <p:ext uri="{BB962C8B-B14F-4D97-AF65-F5344CB8AC3E}">
        <p14:creationId xmlns:p14="http://schemas.microsoft.com/office/powerpoint/2010/main" val="1689466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2026-07-11T16:55:28.5170000Z</dcterms:created>
  <dcterms:modified xsi:type="dcterms:W3CDTF">2026-07-11T16:55:28.5170000Z</dcterms:modified>
</coreProperties>
</file>