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6672827c0e4a2b" /><Relationship Type="http://schemas.openxmlformats.org/officeDocument/2006/relationships/extended-properties" Target="/docProps/app.xml" Id="R65555092031947f4" /><Relationship Type="http://schemas.openxmlformats.org/officeDocument/2006/relationships/officeDocument" Target="/ppt/presentation.xml" Id="Rab41e4d0702440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cd8e5e01534a74"/>
  </p:sldMasterIdLst>
  <p:notesMasterIdLst>
    <p:notesMasterId xmlns:r="http://schemas.openxmlformats.org/officeDocument/2006/relationships" r:id="R97340e4cd61e4bd6"/>
  </p:notesMasterIdLst>
  <p:sldIdLst>
    <p:sldId xmlns:r="http://schemas.openxmlformats.org/officeDocument/2006/relationships" id="256" r:id="Re481eb0f69ea459e"/>
    <p:sldId xmlns:r="http://schemas.openxmlformats.org/officeDocument/2006/relationships" id="257" r:id="R3564abb8327744f1"/>
    <p:sldId xmlns:r="http://schemas.openxmlformats.org/officeDocument/2006/relationships" id="258" r:id="Rad19d6acba414450"/>
    <p:sldId xmlns:r="http://schemas.openxmlformats.org/officeDocument/2006/relationships" id="259" r:id="R42ff3d0b31c64951"/>
    <p:sldId xmlns:r="http://schemas.openxmlformats.org/officeDocument/2006/relationships" id="260" r:id="Rfaaed9f668f7428f"/>
    <p:sldId xmlns:r="http://schemas.openxmlformats.org/officeDocument/2006/relationships" id="261" r:id="R0926b67315b04fdd"/>
    <p:sldId xmlns:r="http://schemas.openxmlformats.org/officeDocument/2006/relationships" id="262" r:id="Rd8c5b901cd8a4af3"/>
    <p:sldId xmlns:r="http://schemas.openxmlformats.org/officeDocument/2006/relationships" id="263" r:id="R0698faae0eb24dd6"/>
    <p:sldId xmlns:r="http://schemas.openxmlformats.org/officeDocument/2006/relationships" id="264" r:id="R693d7824b27d4ed7"/>
    <p:sldId xmlns:r="http://schemas.openxmlformats.org/officeDocument/2006/relationships" id="265" r:id="R86dafe98ed10456f"/>
    <p:sldId xmlns:r="http://schemas.openxmlformats.org/officeDocument/2006/relationships" id="266" r:id="R3d4213ba96274c0b"/>
    <p:sldId xmlns:r="http://schemas.openxmlformats.org/officeDocument/2006/relationships" id="267" r:id="Rc57674206fd44061"/>
    <p:sldId xmlns:r="http://schemas.openxmlformats.org/officeDocument/2006/relationships" id="268" r:id="Rf720988848574f4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f2cbb3199c411d" /><Relationship Type="http://schemas.openxmlformats.org/officeDocument/2006/relationships/slideMaster" Target="/ppt/slideMasters/slideMaster1.xml" Id="R5dcd8e5e01534a74" /><Relationship Type="http://schemas.openxmlformats.org/officeDocument/2006/relationships/notesMaster" Target="/ppt/notesMasters/notesMaster1.xml" Id="R97340e4cd61e4bd6" /><Relationship Type="http://schemas.openxmlformats.org/officeDocument/2006/relationships/presProps" Target="/ppt/presProps.xml" Id="Re9215d18791047be" /><Relationship Type="http://schemas.openxmlformats.org/officeDocument/2006/relationships/tableStyles" Target="/ppt/tableStyles.xml" Id="R3e13fb442a8a46dc" /><Relationship Type="http://schemas.openxmlformats.org/officeDocument/2006/relationships/slide" Target="/ppt/slides/slide1.xml" Id="Re481eb0f69ea459e" /><Relationship Type="http://schemas.openxmlformats.org/officeDocument/2006/relationships/slide" Target="/ppt/slides/slide2.xml" Id="R3564abb8327744f1" /><Relationship Type="http://schemas.openxmlformats.org/officeDocument/2006/relationships/slide" Target="/ppt/slides/slide3.xml" Id="Rad19d6acba414450" /><Relationship Type="http://schemas.openxmlformats.org/officeDocument/2006/relationships/slide" Target="/ppt/slides/slide4.xml" Id="R42ff3d0b31c64951" /><Relationship Type="http://schemas.openxmlformats.org/officeDocument/2006/relationships/slide" Target="/ppt/slides/slide5.xml" Id="Rfaaed9f668f7428f" /><Relationship Type="http://schemas.openxmlformats.org/officeDocument/2006/relationships/slide" Target="/ppt/slides/slide6.xml" Id="R0926b67315b04fdd" /><Relationship Type="http://schemas.openxmlformats.org/officeDocument/2006/relationships/slide" Target="/ppt/slides/slide7.xml" Id="Rd8c5b901cd8a4af3" /><Relationship Type="http://schemas.openxmlformats.org/officeDocument/2006/relationships/slide" Target="/ppt/slides/slide8.xml" Id="R0698faae0eb24dd6" /><Relationship Type="http://schemas.openxmlformats.org/officeDocument/2006/relationships/slide" Target="/ppt/slides/slide9.xml" Id="R693d7824b27d4ed7" /><Relationship Type="http://schemas.openxmlformats.org/officeDocument/2006/relationships/slide" Target="/ppt/slides/slide10.xml" Id="R86dafe98ed10456f" /><Relationship Type="http://schemas.openxmlformats.org/officeDocument/2006/relationships/slide" Target="/ppt/slides/slide11.xml" Id="R3d4213ba96274c0b" /><Relationship Type="http://schemas.openxmlformats.org/officeDocument/2006/relationships/slide" Target="/ppt/slides/slide12.xml" Id="Rc57674206fd44061" /><Relationship Type="http://schemas.openxmlformats.org/officeDocument/2006/relationships/slide" Target="/ppt/slides/slide13.xml" Id="Rf720988848574f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073760b5734f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b52f5068804f14" /><Relationship Type="http://schemas.openxmlformats.org/officeDocument/2006/relationships/notesMaster" Target="/ppt/notesMasters/notesMaster1.xml" Id="R4e99fa59d14f4c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40df72ee024716" /><Relationship Type="http://schemas.openxmlformats.org/officeDocument/2006/relationships/notesMaster" Target="/ppt/notesMasters/notesMaster1.xml" Id="R64ef592047d84a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27fcd19c154fc8" /><Relationship Type="http://schemas.openxmlformats.org/officeDocument/2006/relationships/notesMaster" Target="/ppt/notesMasters/notesMaster1.xml" Id="R8762a911721747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c4adad8a1e46a8" /><Relationship Type="http://schemas.openxmlformats.org/officeDocument/2006/relationships/notesMaster" Target="/ppt/notesMasters/notesMaster1.xml" Id="R50b7948c852c45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1f2166541a4273" /><Relationship Type="http://schemas.openxmlformats.org/officeDocument/2006/relationships/notesMaster" Target="/ppt/notesMasters/notesMaster1.xml" Id="Rbad56f55f38c4d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006a5af193439a" /><Relationship Type="http://schemas.openxmlformats.org/officeDocument/2006/relationships/notesMaster" Target="/ppt/notesMasters/notesMaster1.xml" Id="R9ad6c185204c47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bc344d8a434fd5" /><Relationship Type="http://schemas.openxmlformats.org/officeDocument/2006/relationships/notesMaster" Target="/ppt/notesMasters/notesMaster1.xml" Id="R16e28e6afd7d41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368cd877964554" /><Relationship Type="http://schemas.openxmlformats.org/officeDocument/2006/relationships/notesMaster" Target="/ppt/notesMasters/notesMaster1.xml" Id="R2e022dc96a674ef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653d1b2988b4744" /><Relationship Type="http://schemas.openxmlformats.org/officeDocument/2006/relationships/notesMaster" Target="/ppt/notesMasters/notesMaster1.xml" Id="R08e10fba23984f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ced4458d214614" /><Relationship Type="http://schemas.openxmlformats.org/officeDocument/2006/relationships/notesMaster" Target="/ppt/notesMasters/notesMaster1.xml" Id="R2e473f35b9f44aa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127210a99944d69" /><Relationship Type="http://schemas.openxmlformats.org/officeDocument/2006/relationships/notesMaster" Target="/ppt/notesMasters/notesMaster1.xml" Id="R933e5772faa24af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f413fb831f04220" /><Relationship Type="http://schemas.openxmlformats.org/officeDocument/2006/relationships/notesMaster" Target="/ppt/notesMasters/notesMaster1.xml" Id="Rb0889f71a5db42d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c93a82f8d6a4ec1" /><Relationship Type="http://schemas.openxmlformats.org/officeDocument/2006/relationships/notesMaster" Target="/ppt/notesMasters/notesMaster1.xml" Id="R24ab0ce1384242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23e04932c744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4edddb375440f9" /><Relationship Type="http://schemas.openxmlformats.org/officeDocument/2006/relationships/slideLayout" Target="/ppt/slideLayouts/slideLayout1.xml" Id="R196d9c077da246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6d9c077da246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e139bcc5b490c" /><Relationship Type="http://schemas.openxmlformats.org/officeDocument/2006/relationships/notesSlide" Target="/ppt/notesSlides/notesSlide1.xml" Id="R9703879870f447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a96e41279c423c" /><Relationship Type="http://schemas.openxmlformats.org/officeDocument/2006/relationships/notesSlide" Target="/ppt/notesSlides/notesSlide2.xml" Id="Rce65f7c3adac45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f6cfde67e4787" /><Relationship Type="http://schemas.openxmlformats.org/officeDocument/2006/relationships/notesSlide" Target="/ppt/notesSlides/notesSlide3.xml" Id="R6f0a266589d344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f21f2653e4f06" /><Relationship Type="http://schemas.openxmlformats.org/officeDocument/2006/relationships/notesSlide" Target="/ppt/notesSlides/notesSlide4.xml" Id="Re7091d565a874d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a1ec68fcc4b61" /><Relationship Type="http://schemas.openxmlformats.org/officeDocument/2006/relationships/notesSlide" Target="/ppt/notesSlides/notesSlide5.xml" Id="Ra6b37efe567e4c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53a5ae5ffc4654" /><Relationship Type="http://schemas.openxmlformats.org/officeDocument/2006/relationships/notesSlide" Target="/ppt/notesSlides/notesSlide6.xml" Id="Rac850136548f47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97175222841a2" /><Relationship Type="http://schemas.openxmlformats.org/officeDocument/2006/relationships/notesSlide" Target="/ppt/notesSlides/notesSlide7.xml" Id="Rbb535ed1a9fc41c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27feb764d4567" /><Relationship Type="http://schemas.openxmlformats.org/officeDocument/2006/relationships/notesSlide" Target="/ppt/notesSlides/notesSlide8.xml" Id="R9473939d4200495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5687c594b4314" /><Relationship Type="http://schemas.openxmlformats.org/officeDocument/2006/relationships/notesSlide" Target="/ppt/notesSlides/notesSlide9.xml" Id="Rcae3943098ac4d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00bcc7502842d4" /><Relationship Type="http://schemas.openxmlformats.org/officeDocument/2006/relationships/notesSlide" Target="/ppt/notesSlides/notesSlide10.xml" Id="Re5f751e47b804d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1a7d727974f9f" /><Relationship Type="http://schemas.openxmlformats.org/officeDocument/2006/relationships/notesSlide" Target="/ppt/notesSlides/notesSlide11.xml" Id="R5f69ff75584d4e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09669cdd9048c5" /><Relationship Type="http://schemas.openxmlformats.org/officeDocument/2006/relationships/notesSlide" Target="/ppt/notesSlides/notesSlide12.xml" Id="Raf38d268023c4c1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5195e32c9432e" /><Relationship Type="http://schemas.openxmlformats.org/officeDocument/2006/relationships/notesSlide" Target="/ppt/notesSlides/notesSlide13.xml" Id="R62e023b755ad48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2C3D3D0A-1404-4479-B016-95BADDFE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7D0BA25A-5A97-4BD8-9CB5-3C101D27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EBD14304-DDF0-440F-8A95-BC3E5D92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DC69BBB2-3325-4D77-ACA1-3DC559BD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E718AC02-B76B-4A47-B968-20CBA187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08E15644-537A-4A14-B6AF-8743EFB6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BB7E0B86-21C6-4B02-9070-5056981A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D5311BD-2F76-4219-A781-BFFA4CE3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行业 AI 落地方法与 ROI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821FA04-31E8-4C0A-BBEE-31FD254E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从业务问题、数据基础、系统集成、评测和投入产出判断行业 AI 是否值得落地。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74F7730D-56C6-494D-81F1-785FDE5F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917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行业 AI 项目最容易出现的误区；是先购买模型或平台；再四处寻找它能解决的问题；演示中的回答流畅、图片漂亮；并不等于真实流程更快、更准或更安全；落地判断必须回到一个朴素问题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E87230D1-8E6B-44ED-B960-4DD7C98B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FC5347E0-04F1-4CD2-8882-EA2302D4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IN-001 · IN-001-S01</a:t>
            </a:r>
          </a:p>
        </p:txBody>
      </p:sp>
    </p:spTree>
    <p:extLst>
      <p:ext uri="{BB962C8B-B14F-4D97-AF65-F5344CB8AC3E}">
        <p14:creationId xmlns:p14="http://schemas.microsoft.com/office/powerpoint/2010/main" val="4432811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22E56849-7E23-4321-BE88-F07747D8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8ECDA273-1F6F-4F8B-99C5-BDA77C40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D684DE03-0186-4153-9E85-8CA5C89B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行业 AI 落地与 ROI：4项学习结果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598EBD0D-E5EC-4C7B-8FF3-2373D3DE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A0F13C6E-6C0F-4F03-8BCC-EC0099F8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DBB688B3-1E30-4335-8AB0-35B1645C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把一个宽泛的“使用 AI”愿望改写成有对象、有输入、有输出、有责任人的业务任务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58D09D3D-98BF-4F0C-97C5-6034CCA98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建立现状基线，区分直接收益、间接收益、一次性投入、持续成本与风险成本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BFC21C7F-0A78-459A-AE33-92CD5C39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设计小范围试点，用对照、抽样复核和敏感性分析计算 ROI 区间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354EF093-4A6A-4E1E-9F3F-F7D99947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在试点开始前写明推广门槛、停止条件与人工回退路径</a:t>
            </a:r>
          </a:p>
        </p:txBody>
      </p:sp>
    </p:spTree>
    <p:extLst>
      <p:ext uri="{BB962C8B-B14F-4D97-AF65-F5344CB8AC3E}">
        <p14:creationId xmlns:p14="http://schemas.microsoft.com/office/powerpoint/2010/main" val="4970061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CCB4E1C9-3251-4E61-AECB-BC6671F6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43D7B545-7B80-47CD-9254-76EB571B1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0270253-7443-40A7-80AB-F0C1D645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一句“用 AI 提升客服效率”仍然过于宽泛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9FC5F8C5-D5DC-459B-B0E4-86E45A0C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2661EAF7-FD78-4901-8D3C-E40C9D23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A65E730-BA34-4EC1-A0D6-EFE7D9DF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DCC6438-5D4F-44E6-84A5-DEBE202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把场景写成可评测任务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09B19E7-CF9C-4A54-8B6A-7B777187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一句“用 AI 提升客服效率”仍然过于宽泛；可执行的任务描述至少包括六项；使用者、触发条件、输入资料、期望输出、完成时限和最终责任人；例如，可把它改写为“客服收到售后咨询后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DC670F9-17AD-40E2-AD02-58D390EF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35AB3FF-2450-40E8-B99C-87349A76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优先试点的任务通常高频、边界稳定、结果可检查、数据可合法取得；而且失败后可以回到原流程；若资料权属不清、输出无法验证、错误会直接影响人身安全或重要权益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E383DBCA-FA54-4704-9796-A32A2C0D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EB0BAAD1-50D4-4947-A151-FF6A0D90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一句“用 AI 提升客服效率”仍然过于宽泛</a:t>
            </a:r>
          </a:p>
        </p:txBody>
      </p:sp>
    </p:spTree>
    <p:extLst>
      <p:ext uri="{BB962C8B-B14F-4D97-AF65-F5344CB8AC3E}">
        <p14:creationId xmlns:p14="http://schemas.microsoft.com/office/powerpoint/2010/main" val="6301478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5B100842-385E-40F5-A9EF-4B1E78FE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0BEE01AD-014E-4443-930C-48F7F0CD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ABB9C975-D367-45AB-860A-3E52AB5C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基线是没有 AI 时的真实表现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A37B6EA2-815A-4913-9F60-31CC9095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7D48B4E8-9F3B-49EC-9164-D3861240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C48F280-E666-4836-9C49-0C5D6F9F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04B1B3D-6689-47F8-8475-77E20A0F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先测基线，再讨论提升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B7D0B28-EE0E-424B-A039-B68263B0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651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基线是没有 AI 时的真实表现。至少记录任务量、平均处理时长、等待时长、一次通过率、返工率、严重错误、人员成本和用户反馈。采样要覆盖繁忙期、低频异常和不同熟练度人员，不能只挑最容易的样本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7CD0FC8-37A5-47F8-B926-FDBB1141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55DED17-83DD-4EB9-BE27-192C93D6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质量指标应连接业务后果；知识问答不仅看答案是否通顺；还要看引用是否支持结论、规则版本是否有效、应转人工的问题是否被正确转交；内容生成不仅看数量；还要看事实错误、品牌一致性、授权状态和修改成本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28BE35E4-58F1-4E59-B510-3CF6895A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ECCCBEAB-2A5B-4F4B-8808-45B7C2B8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基线是没有 AI 时的真实表现</a:t>
            </a:r>
          </a:p>
        </p:txBody>
      </p:sp>
    </p:spTree>
    <p:extLst>
      <p:ext uri="{BB962C8B-B14F-4D97-AF65-F5344CB8AC3E}">
        <p14:creationId xmlns:p14="http://schemas.microsoft.com/office/powerpoint/2010/main" val="12045036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3DC8C9F1-986D-4ED4-ADC2-A6628474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78478D53-C9F0-41B1-A20D-527BB8A1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4159C144-6B74-4417-B639-9D9ACC2E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7E59993B-C304-43D0-9AB9-60FC47D7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D24ABBC0-B7DC-47E0-99BF-37B9F304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83873A1-9E58-4677-9088-5A8E5B68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1999DCA-BE64-45BC-BD45-76425FCA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A4BD6DA-9373-4477-8F7F-F2D7A24B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稳定流程通常包含资料检索、草稿生成、规则校验、人工审批、正式交付和事后反馈；每一步都要回答三个问题；模型看得到什么，模型能做什么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8FD89A8-AD2E-4BE8-BFB4-DD225F93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F15F839-7115-4964-9D87-A320BDB2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试点阶段宜采用“影子运行”或“双轨对照”；AI 先给建议但不直接改变业务结果；与原流程并行比较，通过抽样复核记录错误类型；而不是只统计平均分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89885FF9-5411-4E5F-9165-FFED424D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93D79AFD-FF97-48BA-B80F-58C8C1AB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</p:spTree>
    <p:extLst>
      <p:ext uri="{BB962C8B-B14F-4D97-AF65-F5344CB8AC3E}">
        <p14:creationId xmlns:p14="http://schemas.microsoft.com/office/powerpoint/2010/main" val="15653106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DC57FE10-AC24-4D65-BA31-5FB33F73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F3F0FF00-E497-40E3-BC6D-32509C30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78F0CBED-A766-4EB7-8168-CF8578D0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用完整成本计算 ROI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82604B57-8AFB-4E15-9906-9246DCBC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39BB6618-CA2D-4FC0-BC54-B9968104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8EAF423-6DA4-42A1-BA5C-2F73A118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B84C80B-8CD6-4C73-9178-35CD894C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用完整成本计算 ROI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738ADFE-03DC-497F-BB73-96D9F95A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收益可以来自节省工时、缩短等待、降低返工、减少损耗、提高产能或避免风险；成本则包括数据清理、系统集成、模型调用、算力、培训、人工审核、监控、安全、版权与持续维护；一次性投入应按合理周期分摊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46B5B9D-A86C-4E5D-80C1-A0911B08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034CAC7-1D89-4E2D-A6AD-4EC076B4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可使用下列口径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29367CAA-304F-45E1-9389-BFFAA670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B4C1CB1F-7727-4A6E-AA0D-4C8B4ECB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月度净收益 = 可核验收益 − 模型与运行成本 − 审核与返工成本 − 集成分摊 − 风险准备 ROI = 月度净收益 ÷ 月度增量投入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51B20285-813A-46B0-8EB8-205923F8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36198E9C-E0B8-448E-BCF8-27429405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用完整成本计算 ROI</a:t>
            </a:r>
          </a:p>
        </p:txBody>
      </p:sp>
    </p:spTree>
    <p:extLst>
      <p:ext uri="{BB962C8B-B14F-4D97-AF65-F5344CB8AC3E}">
        <p14:creationId xmlns:p14="http://schemas.microsoft.com/office/powerpoint/2010/main" val="10501348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2BF2029C-230B-4299-9521-0631D96A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24CDD98F-2D9B-494F-BB5F-A6CC3ACA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79532BFA-04A6-49DB-B2ED-67676B1D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以下数字仅用于演示算法，不代表任何企业的实际表现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81211687-41D3-4EAD-94FA-69A2AAE7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DE150C32-69D9-4D0C-8450-F26FAFF1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9A78D27-E2E5-4844-93A7-D63230E0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7E69939-C224-4F33-8707-54C15F1A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一个可计算的假设示例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C414942-2B7D-41AA-BD20-3CE71F51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以下数字仅用于演示算法；不代表任何企业的实际表现；假设某团队每月处理 10,000 个低风险文本任务；人工平均每项 12 分钟；含管理与福利的小时成本假设为 90 元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A7DF0A5-AD46-4F43-B1D0-A512B6CE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9927BE3-C5E9-4FDA-A404-6B4F389B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再假设每月模型与运维为 2 万至 3.5 万元；集成分摊为 1.5 万至 2.5 万元；质量抽检与风险准备为 0.8 万至 1.5 万元；月度增量投入为 4.3 万至 7.5 万元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640E43A4-335D-4BA5-8EA1-C794AE75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0C4EE68D-FCFE-444F-A4A8-9C92AAD7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以下数字仅用于演示算法，不代表任何企业的实际表现</a:t>
            </a:r>
          </a:p>
        </p:txBody>
      </p:sp>
    </p:spTree>
    <p:extLst>
      <p:ext uri="{BB962C8B-B14F-4D97-AF65-F5344CB8AC3E}">
        <p14:creationId xmlns:p14="http://schemas.microsoft.com/office/powerpoint/2010/main" val="9614101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671F1DD1-6DD4-4B44-A533-4172A0FD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C319D6C4-AAD5-43CC-9435-4487B887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D08362AF-1FFA-4E7E-8E0D-31BB1BE4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成功标准必须在试点前确定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0B82CE7E-C81C-4AF6-8BBB-D8F9663E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ED1390DE-A9F9-4BAB-9840-362F82C6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2CFCB2A-9E8A-4826-943B-FFAD3EA8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A400425-3587-463B-8334-433456E5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推广门槛与停止条件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5E5A742-DE6F-4F5F-886C-B4CF3E89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成功标准必须在试点前确定；例如关键质量不低于现状、单位任务总成本下降、合规审查通过、人工接管可用；并且一线人员愿意持续使用；推广应逐步扩大任务类型和用户范围；每次扩展都重新测量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F0DAAE7-98A5-47E9-AA78-7AEEE031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189A481-E95A-4DF4-8DCD-AD657CB7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停止条件同样重要，出现未经授权的数据访问或披露；应立即暂停，关键错误超过事先约定上限；应退回人工流程并调查；连续两个评测周期未达到质量或成本门槛；应停止扩展，供应商、规则或数据发生重大变化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8291440A-238A-4BE1-95E9-224B4A1A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AA5D00C9-308B-4C3F-99B8-31987B84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成功标准必须在试点前确定</a:t>
            </a:r>
          </a:p>
        </p:txBody>
      </p:sp>
    </p:spTree>
    <p:extLst>
      <p:ext uri="{BB962C8B-B14F-4D97-AF65-F5344CB8AC3E}">
        <p14:creationId xmlns:p14="http://schemas.microsoft.com/office/powerpoint/2010/main" val="8010369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26846E63-8E4B-4800-8240-A46203D6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71CA00B0-3DCD-46DC-A6D2-C7D8DD5E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D132A316-CFEC-49A8-9037-58EEB9A1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试点只有质量与成本同时达标才值得扩展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D29897D8-D254-48E3-AD7F-2DFE9411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072A06A5-7C94-4EB4-8358-6198EF21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4DF6574A-81D4-40BE-A555-039C1DA5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企业制度问答试点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52EC0A4F-96C6-43B0-806A-384D835F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场景｜员工经常询问差旅、采购和报销规则，人工服务台重复检索文件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E1B95314-AEFB-4839-A5B0-32A49FEE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5512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设计｜只接入已批准且仍有效的制度，回答必须附引用；涉及例外审批、劳动关系或个人敏感信息时转人工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C99CE031-D0E6-4D71-AB1C-60A58CE5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155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测量｜对比平均等待时间、一次解决率、引用正确率、人工接管率和单位问题总成本，并记录过期规则造成的错误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D9839C0A-C7AB-4DF5-A489-B77CC256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决策｜只有质量不低于人工基线且总成本在保守假设下仍下降，才扩大覆盖范围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ABD09AF0-3ADB-432A-81AD-88CC58A2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D0CAB19B-DFFD-4B3B-A400-6E7A2F7C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试点只有质量与成本同时达标才值得扩展</a:t>
            </a:r>
          </a:p>
        </p:txBody>
      </p:sp>
    </p:spTree>
    <p:extLst>
      <p:ext uri="{BB962C8B-B14F-4D97-AF65-F5344CB8AC3E}">
        <p14:creationId xmlns:p14="http://schemas.microsoft.com/office/powerpoint/2010/main" val="910555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31E0A1AC-73FC-4C36-AE8B-21D1AD03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B5359E42-DFFB-4EC5-AF9F-2741A189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93BA95EC-DDD8-4FEF-BF3F-19C6FC80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从演示到闭环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0CEA50D9-AF81-41A3-81B6-670620C6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FD331E4B-DFEA-4A73-948F-0EB18B7C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ECDEE008-A38F-4736-8B8D-85F5A686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从演示到闭环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393981B-7A48-47FB-8B5B-1CA3281E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演示｜模型根据一份材料生成看似完整的回答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9467641A-1534-422B-8314-A31CD7BF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闭环｜系统先校验用户权限，再检索有效资料，生成带出处的草稿，由责任人审批，交付后把纠错反馈写回评测集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E91CFE2D-B514-4687-B78C-8159981E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差异｜前者展示模型能力，后者才能测量业务结果、约束风险并持续改进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790F1211-7CD5-4E80-9426-FA6A4ED3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DC2A052A-D578-4DC3-9CB5-6880B3AA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从演示到闭环</a:t>
            </a:r>
          </a:p>
        </p:txBody>
      </p:sp>
    </p:spTree>
    <p:extLst>
      <p:ext uri="{BB962C8B-B14F-4D97-AF65-F5344CB8AC3E}">
        <p14:creationId xmlns:p14="http://schemas.microsoft.com/office/powerpoint/2010/main" val="3176930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1F80B80F-C144-4E1B-8F28-944E2573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4092CC40-FCBB-4F4B-B719-008AB2C2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3FD91D59-5448-479E-BED1-E9FAB2CE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行业 AI 落地与 ROI：一次可验收练习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55998131-4061-41D0-9702-A7DC2DF3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86D9932E-1699-4554-ADD6-C36FA3E6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9F368EA9-7D12-4B6A-BA6F-FC6EE11A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9652FAE7-FC97-49E5-913E-70E16404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DC20928A-CF72-44F9-A494-8D43BB7F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选择一个熟悉的高频任务，写出使用者、输入、输出、责任人和不可自动化的部分，并用代表性样本测量现状基线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019AF793-D7ED-48BF-9215-373AE5B7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2B46A9F9-5480-41CC-885A-4738815F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A0DE9BC6-6DF7-4991-9AE3-597591EE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DEE0D199-7612-455F-959B-C4190DFF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列出收益、一次性投入和持续成本，分别设置保守、基准、乐观三组假设，计算净收益与 ROI 区间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C5CF4537-8961-4821-B6BB-C54405C4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725AEE12-953C-491C-BA85-3311AE40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7FAF3877-2A2A-4A79-B785-A0A2ED34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F9581D21-CCDC-4C49-A23F-C893A52B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写下三个推广门槛、两个停止条件和一条可立即执行的人工回退路径，再请同伴检查假设是否可验证</a:t>
            </a:r>
          </a:p>
        </p:txBody>
      </p:sp>
    </p:spTree>
    <p:extLst>
      <p:ext uri="{BB962C8B-B14F-4D97-AF65-F5344CB8AC3E}">
        <p14:creationId xmlns:p14="http://schemas.microsoft.com/office/powerpoint/2010/main" val="3919570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CB4DBBB3-5F74-4215-BCB9-DEA5B70D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69553C8A-072E-4FC3-8F48-3E2F3406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CAB7677E-CDE4-4ADA-BE2E-C43320DA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行业 AI 落地与 ROI：判断时先抓住三点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03AF3AE1-E0AF-4268-93DF-F720AA0A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EE35BC6E-02E4-478F-9B65-6EFE1D43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DC5156A4-3A86-4C41-9DF2-A831326A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6E1F215B-38DF-4F9D-A87F-DA849408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E8A364A1-787B-4E3E-97A6-CD4D468E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一句“用 AI 提升客服效率”仍然过于宽泛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77C7B8AE-F31C-47D3-8CCA-DA74C8FA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478A8CE1-F3A2-4CCD-9B44-D3496D7A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61B195A5-6A19-4D7B-9727-4C2A815C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2BA3840F-E397-4759-8B2E-DF322922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725E2404-CF42-41BE-B5AB-4A9EF07A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4C376F07-AA7E-4057-BB65-3B5805C7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479D6853-F11F-45A0-8587-86175783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6AA490BE-026C-46C3-BA37-DE4B674C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成功标准必须在试点前确定</a:t>
            </a:r>
          </a:p>
        </p:txBody>
      </p:sp>
    </p:spTree>
    <p:extLst>
      <p:ext uri="{BB962C8B-B14F-4D97-AF65-F5344CB8AC3E}">
        <p14:creationId xmlns:p14="http://schemas.microsoft.com/office/powerpoint/2010/main" val="845506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911890CE-9686-476B-ACE0-9C45599D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4CA6F3E7-BA92-4C37-B9FF-1E77B5BD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447B56A6-1C8E-413B-81A6-5DBCE06B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行业 AI 落地与 ROI：依据、边界与延伸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7E4FE1EF-65A8-4CD2-BF54-FEE10BCC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AB88CC84-ECC6-4D04-B829-F19D3400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B057449D-1B73-4139-9542-EC4AD0B6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B6BB8484-CF00-4E11-94CB-05F3DF13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NIST：Artificial Intelligence Risk Management Framework（AI RMF 1.0）：面向组织的自愿性 AI 风险管理框架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7E6C728A-943E-4B43-A4E2-9553821C4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ISO/IEC 42001:2023：人工智能管理体系要求；使用时应核对具体版本和适用范围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99F02BE9-6CAA-44F0-B72A-688C07E8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建议结合所在组织的财务核算、数据分级、信息安全、采购与审计制度，建立自己的指标字典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A09FB440-2E29-4197-AB63-8E6BC7BC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C81AADFE-7FDB-4A16-B621-5255056D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14625236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2026-07-12T08:20:24.9970000Z</dcterms:created>
  <dcterms:modified xsi:type="dcterms:W3CDTF">2026-07-12T08:20:24.9970000Z</dcterms:modified>
</coreProperties>
</file>