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0c0d4f84ce4317" /><Relationship Type="http://schemas.openxmlformats.org/officeDocument/2006/relationships/extended-properties" Target="/docProps/app.xml" Id="Rfb8d6ceb036a452b" /><Relationship Type="http://schemas.openxmlformats.org/officeDocument/2006/relationships/officeDocument" Target="/ppt/presentation.xml" Id="R8c0794c1caca42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91321993d04b31"/>
  </p:sldMasterIdLst>
  <p:notesMasterIdLst>
    <p:notesMasterId xmlns:r="http://schemas.openxmlformats.org/officeDocument/2006/relationships" r:id="Rfeeea93aba2c48c5"/>
  </p:notesMasterIdLst>
  <p:sldIdLst>
    <p:sldId xmlns:r="http://schemas.openxmlformats.org/officeDocument/2006/relationships" id="256" r:id="Rac4065aac5d94720"/>
    <p:sldId xmlns:r="http://schemas.openxmlformats.org/officeDocument/2006/relationships" id="257" r:id="R0d6de38e578949f5"/>
    <p:sldId xmlns:r="http://schemas.openxmlformats.org/officeDocument/2006/relationships" id="258" r:id="Rd9867c89850a4c05"/>
    <p:sldId xmlns:r="http://schemas.openxmlformats.org/officeDocument/2006/relationships" id="259" r:id="Rab896e33f23f48be"/>
    <p:sldId xmlns:r="http://schemas.openxmlformats.org/officeDocument/2006/relationships" id="260" r:id="R956d1e4cc8b64fee"/>
    <p:sldId xmlns:r="http://schemas.openxmlformats.org/officeDocument/2006/relationships" id="261" r:id="Ra3683018b77f451b"/>
    <p:sldId xmlns:r="http://schemas.openxmlformats.org/officeDocument/2006/relationships" id="262" r:id="R35b55ec2c7de4fd8"/>
    <p:sldId xmlns:r="http://schemas.openxmlformats.org/officeDocument/2006/relationships" id="263" r:id="Rac9db0e2e328430c"/>
    <p:sldId xmlns:r="http://schemas.openxmlformats.org/officeDocument/2006/relationships" id="264" r:id="Ra2f4f42fca7e444c"/>
    <p:sldId xmlns:r="http://schemas.openxmlformats.org/officeDocument/2006/relationships" id="265" r:id="R0356341e002e4b84"/>
    <p:sldId xmlns:r="http://schemas.openxmlformats.org/officeDocument/2006/relationships" id="266" r:id="Reb246f5a752e43f0"/>
    <p:sldId xmlns:r="http://schemas.openxmlformats.org/officeDocument/2006/relationships" id="267" r:id="Re28e20a4565e404e"/>
    <p:sldId xmlns:r="http://schemas.openxmlformats.org/officeDocument/2006/relationships" id="268" r:id="R14cd03a4ecdf448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ad97bfd585423d" /><Relationship Type="http://schemas.openxmlformats.org/officeDocument/2006/relationships/slideMaster" Target="/ppt/slideMasters/slideMaster1.xml" Id="R2391321993d04b31" /><Relationship Type="http://schemas.openxmlformats.org/officeDocument/2006/relationships/notesMaster" Target="/ppt/notesMasters/notesMaster1.xml" Id="Rfeeea93aba2c48c5" /><Relationship Type="http://schemas.openxmlformats.org/officeDocument/2006/relationships/presProps" Target="/ppt/presProps.xml" Id="R09979674d98d483e" /><Relationship Type="http://schemas.openxmlformats.org/officeDocument/2006/relationships/tableStyles" Target="/ppt/tableStyles.xml" Id="R622af8427b1b44b6" /><Relationship Type="http://schemas.openxmlformats.org/officeDocument/2006/relationships/slide" Target="/ppt/slides/slide1.xml" Id="Rac4065aac5d94720" /><Relationship Type="http://schemas.openxmlformats.org/officeDocument/2006/relationships/slide" Target="/ppt/slides/slide2.xml" Id="R0d6de38e578949f5" /><Relationship Type="http://schemas.openxmlformats.org/officeDocument/2006/relationships/slide" Target="/ppt/slides/slide3.xml" Id="Rd9867c89850a4c05" /><Relationship Type="http://schemas.openxmlformats.org/officeDocument/2006/relationships/slide" Target="/ppt/slides/slide4.xml" Id="Rab896e33f23f48be" /><Relationship Type="http://schemas.openxmlformats.org/officeDocument/2006/relationships/slide" Target="/ppt/slides/slide5.xml" Id="R956d1e4cc8b64fee" /><Relationship Type="http://schemas.openxmlformats.org/officeDocument/2006/relationships/slide" Target="/ppt/slides/slide6.xml" Id="Ra3683018b77f451b" /><Relationship Type="http://schemas.openxmlformats.org/officeDocument/2006/relationships/slide" Target="/ppt/slides/slide7.xml" Id="R35b55ec2c7de4fd8" /><Relationship Type="http://schemas.openxmlformats.org/officeDocument/2006/relationships/slide" Target="/ppt/slides/slide8.xml" Id="Rac9db0e2e328430c" /><Relationship Type="http://schemas.openxmlformats.org/officeDocument/2006/relationships/slide" Target="/ppt/slides/slide9.xml" Id="Ra2f4f42fca7e444c" /><Relationship Type="http://schemas.openxmlformats.org/officeDocument/2006/relationships/slide" Target="/ppt/slides/slide10.xml" Id="R0356341e002e4b84" /><Relationship Type="http://schemas.openxmlformats.org/officeDocument/2006/relationships/slide" Target="/ppt/slides/slide11.xml" Id="Reb246f5a752e43f0" /><Relationship Type="http://schemas.openxmlformats.org/officeDocument/2006/relationships/slide" Target="/ppt/slides/slide12.xml" Id="Re28e20a4565e404e" /><Relationship Type="http://schemas.openxmlformats.org/officeDocument/2006/relationships/slide" Target="/ppt/slides/slide13.xml" Id="R14cd03a4ecdf44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10facffd0841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3dff32467142ca" /><Relationship Type="http://schemas.openxmlformats.org/officeDocument/2006/relationships/notesMaster" Target="/ppt/notesMasters/notesMaster1.xml" Id="Rd83412cc9dad4d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9d8063e86b4c5d" /><Relationship Type="http://schemas.openxmlformats.org/officeDocument/2006/relationships/notesMaster" Target="/ppt/notesMasters/notesMaster1.xml" Id="R6d49cd61d64048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704593693746a1" /><Relationship Type="http://schemas.openxmlformats.org/officeDocument/2006/relationships/notesMaster" Target="/ppt/notesMasters/notesMaster1.xml" Id="R01c174391f0b44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6b3226a31742a7" /><Relationship Type="http://schemas.openxmlformats.org/officeDocument/2006/relationships/notesMaster" Target="/ppt/notesMasters/notesMaster1.xml" Id="Rad64fd7a350445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f971f838424cc0" /><Relationship Type="http://schemas.openxmlformats.org/officeDocument/2006/relationships/notesMaster" Target="/ppt/notesMasters/notesMaster1.xml" Id="Reb88a5f33ec947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18a952cff74e95" /><Relationship Type="http://schemas.openxmlformats.org/officeDocument/2006/relationships/notesMaster" Target="/ppt/notesMasters/notesMaster1.xml" Id="R06d9b65caac04c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6905d12947462b" /><Relationship Type="http://schemas.openxmlformats.org/officeDocument/2006/relationships/notesMaster" Target="/ppt/notesMasters/notesMaster1.xml" Id="R1941b62c7b784e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10a7a96ef24be0" /><Relationship Type="http://schemas.openxmlformats.org/officeDocument/2006/relationships/notesMaster" Target="/ppt/notesMasters/notesMaster1.xml" Id="Rc88f44679dfd4d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e902ca2240419f" /><Relationship Type="http://schemas.openxmlformats.org/officeDocument/2006/relationships/notesMaster" Target="/ppt/notesMasters/notesMaster1.xml" Id="Rf1d750e7d7a04b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e38bfb994247b3" /><Relationship Type="http://schemas.openxmlformats.org/officeDocument/2006/relationships/notesMaster" Target="/ppt/notesMasters/notesMaster1.xml" Id="Rc8fc230386974b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99c30ef0284032" /><Relationship Type="http://schemas.openxmlformats.org/officeDocument/2006/relationships/notesMaster" Target="/ppt/notesMasters/notesMaster1.xml" Id="Ra6c59380e88446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b4eba99134e44a7" /><Relationship Type="http://schemas.openxmlformats.org/officeDocument/2006/relationships/notesMaster" Target="/ppt/notesMasters/notesMaster1.xml" Id="R3c4c8d428e1b49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b6a54f551044e9" /><Relationship Type="http://schemas.openxmlformats.org/officeDocument/2006/relationships/notesMaster" Target="/ppt/notesMasters/notesMaster1.xml" Id="R843d4bfcd86f4c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1e202d3e846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871b4520964842" /><Relationship Type="http://schemas.openxmlformats.org/officeDocument/2006/relationships/slideLayout" Target="/ppt/slideLayouts/slideLayout1.xml" Id="R8634a4ee80034e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34a4ee80034e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b211d557c482b" /><Relationship Type="http://schemas.openxmlformats.org/officeDocument/2006/relationships/notesSlide" Target="/ppt/notesSlides/notesSlide1.xml" Id="R741de37e3ed04d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8e8f7bc664dff" /><Relationship Type="http://schemas.openxmlformats.org/officeDocument/2006/relationships/notesSlide" Target="/ppt/notesSlides/notesSlide2.xml" Id="Rdcc901a1db0349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5482c13414937" /><Relationship Type="http://schemas.openxmlformats.org/officeDocument/2006/relationships/notesSlide" Target="/ppt/notesSlides/notesSlide3.xml" Id="Re4a5234c671744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57bcd421d4a5d" /><Relationship Type="http://schemas.openxmlformats.org/officeDocument/2006/relationships/notesSlide" Target="/ppt/notesSlides/notesSlide4.xml" Id="Rad076be1890246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b609fdf7a416d" /><Relationship Type="http://schemas.openxmlformats.org/officeDocument/2006/relationships/notesSlide" Target="/ppt/notesSlides/notesSlide5.xml" Id="R402d4cde306f4b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ed1f5866943f1" /><Relationship Type="http://schemas.openxmlformats.org/officeDocument/2006/relationships/notesSlide" Target="/ppt/notesSlides/notesSlide6.xml" Id="R4e897ea0887f40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00468e5e645ca" /><Relationship Type="http://schemas.openxmlformats.org/officeDocument/2006/relationships/notesSlide" Target="/ppt/notesSlides/notesSlide7.xml" Id="Rf2bd1fa1d13646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7b45f1f3a4cd3" /><Relationship Type="http://schemas.openxmlformats.org/officeDocument/2006/relationships/notesSlide" Target="/ppt/notesSlides/notesSlide8.xml" Id="Rb53874a3a4ec45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4edcb33074a97" /><Relationship Type="http://schemas.openxmlformats.org/officeDocument/2006/relationships/notesSlide" Target="/ppt/notesSlides/notesSlide9.xml" Id="R9d3e86be534e4f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60f9327324c1b" /><Relationship Type="http://schemas.openxmlformats.org/officeDocument/2006/relationships/notesSlide" Target="/ppt/notesSlides/notesSlide10.xml" Id="R335036f5299b42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54e27a1ce4c61" /><Relationship Type="http://schemas.openxmlformats.org/officeDocument/2006/relationships/notesSlide" Target="/ppt/notesSlides/notesSlide11.xml" Id="Re55a29c8ebb249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194dca5f74a8a" /><Relationship Type="http://schemas.openxmlformats.org/officeDocument/2006/relationships/notesSlide" Target="/ppt/notesSlides/notesSlide12.xml" Id="Rce4a7904f67e48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c6a27e0374f34" /><Relationship Type="http://schemas.openxmlformats.org/officeDocument/2006/relationships/notesSlide" Target="/ppt/notesSlides/notesSlide13.xml" Id="R19ab90f6830440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1644DFF3-86FA-414B-8A21-5509D5C0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E15AF398-BD62-4450-9943-B4D49C42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E13A810B-FC53-4625-B1A7-BBF86ACC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FAF4477-5300-445C-BEAA-78961C13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D500D18-FFBC-41F0-95BF-27E4BFA1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3587F72E-CAE7-4FE0-B90F-78E1606B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CFBB355-3EDF-40F1-9066-BC274EFC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E3B7E7D-E109-4B8A-A977-5386B7B6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行业 AI 落地方法与 ROI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638AD06-F653-4C37-BDD9-CA7841D5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从业务问题、数据基础、系统集成、评测和投入产出判断行业 AI 是否值得落地。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C10E0D05-5FD4-4F66-BB73-F851FA93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988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行业 AI 项目最容易出现的误区，是先购买模型或平台，再四处寻找它能解决的问题。演示中的回答流畅、图片漂亮，并不等于真实流程更快、更准或更安全。落地判断必须回到一个朴素问题…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DF57793B-1281-4B06-BF7C-B047AB1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582F300-C761-492D-A2AD-D0F1B1DB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IN-001 · IN-001-S01</a:t>
            </a:r>
          </a:p>
        </p:txBody>
      </p:sp>
    </p:spTree>
    <p:extLst>
      <p:ext uri="{BB962C8B-B14F-4D97-AF65-F5344CB8AC3E}">
        <p14:creationId xmlns:p14="http://schemas.microsoft.com/office/powerpoint/2010/main" val="58989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341ED75E-305D-4E49-8352-3718FB96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F35CD0C2-7049-482F-BBBE-9040A94B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649E73D-2FEC-4AE6-A392-B4DCE301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D6C1348F-393A-45EA-AC4D-8D4E5D7F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CE45DBE6-E359-4A10-91C4-4C8ECE60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021DC0B0-C3F4-45F1-A3B9-655D8C78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把一个宽泛的“使用 AI”愿望改写成有对象、有输入、有输出、有责任人的业务任务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E8AE858-8688-41C1-B56D-4B05C58B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建立现状基线，区分直接收益、间接收益、一次性投入、持续成本与风险成本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B0688E27-4D5E-4DE9-9A57-134171DA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设计小范围试点，用对照、抽样复核和敏感性分析计算 ROI 区间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63565A0F-2173-43CF-BECB-9E9DCCA5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在试点开始前写明推广门槛、停止条件与人工回退路径</a:t>
            </a:r>
          </a:p>
        </p:txBody>
      </p:sp>
    </p:spTree>
    <p:extLst>
      <p:ext uri="{BB962C8B-B14F-4D97-AF65-F5344CB8AC3E}">
        <p14:creationId xmlns:p14="http://schemas.microsoft.com/office/powerpoint/2010/main" val="8666345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41E704CD-91A8-4431-A9E4-4F699B5C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7CA67C98-8074-4D4B-9D9B-DEA47738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5E1067FD-3536-418B-8D68-87E8BC88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F890BDAC-A799-49BA-8A8B-7D496CBB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40F2B54B-675A-4BAD-9267-EA339415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B958763-8F1D-41FF-A739-E3903EEA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C82C714-D6C4-434C-B25E-945CE341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把场景写成可评测任务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2DDC92A-7CB2-4BCC-83E3-7F0B3792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一句“用 AI 提升客服效率”仍然过于宽泛。可执行的任务描述至少包括六项：使用者、触发条件、输入资料、期望输出、完成时限和最终责任人。例如，可把它改写为“客服收到售后咨询后…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093415B-0617-4CEA-B281-57BFFD58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0AD097C-278C-4D62-AAC8-28C998A2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优先试点的任务通常高频、边界稳定、结果可检查、数据可合法取得，而且失败后可以回到原流程。若资料权属不清、输出无法验证、错误会直接影响人身安全或重要权益，就应先补治理条件…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016BC3D-DC1E-42E3-82D6-97059DA7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5F9DDD7A-1E39-41D5-B4CC-6DF1CCFB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</p:spTree>
    <p:extLst>
      <p:ext uri="{BB962C8B-B14F-4D97-AF65-F5344CB8AC3E}">
        <p14:creationId xmlns:p14="http://schemas.microsoft.com/office/powerpoint/2010/main" val="4827183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FD1A5438-3CD3-4D53-B968-3A972438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C791591-8A25-4E0C-89CD-3E9F6C82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66DD4946-E701-44E6-9754-2D8C4BBE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基线是没有 AI 时的真实表现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30A531D-9770-4DE1-85BB-7CA831C6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849B9826-F1B8-47C1-A385-983A4130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DF68B3D-917D-4FF7-88F2-9287A28F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6BB1A2D-CB2F-47CF-95DB-F2E3C87B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先测基线，再讨论提升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F665E19-24BD-46FC-B7EA-1DA83307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65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基线是没有 AI 时的真实表现。至少记录任务量、平均处理时长、等待时长、一次通过率、返工率、严重错误、人员成本和用户反馈。采样要覆盖繁忙期、低频异常和不同熟练度人员，不能只挑最容易的样本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DFDEA7F-2538-4DD1-B6C4-0A6F471F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30E05CD-532A-40A5-8224-9EB1321A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质量指标应连接业务后果。知识问答不仅看答案是否通顺，还要看引用是否支持结论、规则版本是否有效、应转人工的问题是否被正确转交。内容生成不仅看数量，还要看事实错误、品牌一致性、授权状态和修改成本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47568EF4-23B2-4543-92A2-84DF7342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1F4B3173-1AB8-4FF0-80EA-15AB198D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基线是没有 AI 时的真实表现</a:t>
            </a:r>
          </a:p>
        </p:txBody>
      </p:sp>
    </p:spTree>
    <p:extLst>
      <p:ext uri="{BB962C8B-B14F-4D97-AF65-F5344CB8AC3E}">
        <p14:creationId xmlns:p14="http://schemas.microsoft.com/office/powerpoint/2010/main" val="4264101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96EA6CB3-9D02-4B55-81AE-BD8EF8B7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CCB08D56-45D1-4246-A312-5AE15C12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E9B90A6A-C24C-47DD-ACEE-A526AC6C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264D0BD-8B18-4C7E-86B2-FCAF86B4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5CC5F845-FE4C-41AE-94AD-25C8CF1E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4636FCB-16EA-472C-AA4E-9A0F3BA2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C78FE11-D559-46BA-BEC9-1C1CD0DB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3C8A88E-65A2-4C96-96ED-CB29BEE7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稳定流程通常包含资料检索、草稿生成、规则校验、人工审批、正式交付和事后反馈。每一步都要回答三个问题：模型看得到什么，模型能做什么，谁对结果负责。低置信度、资料冲突…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50BF0BB-15A9-4C63-91DF-06149D3D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841F21C-DD01-4346-AC1F-D7F7DE0D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试点阶段宜采用“影子运行”或“双轨对照”：AI 先给建议但不直接改变业务结果，与原流程并行比较。通过抽样复核记录错误类型，而不是只统计平均分。上线后仍要保存输入版本、引用、模型版本…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4557BDE-035B-41A9-B5B0-156FFEF3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1230E159-3CFF-4777-9283-1BBE313C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</p:spTree>
    <p:extLst>
      <p:ext uri="{BB962C8B-B14F-4D97-AF65-F5344CB8AC3E}">
        <p14:creationId xmlns:p14="http://schemas.microsoft.com/office/powerpoint/2010/main" val="627985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D51A748B-496C-44FA-AC71-F7CDBB76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6934314B-F78F-4F4D-BF36-6D002FED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7B7CA05C-9C80-4789-A56B-13464D18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3D34897-FC80-4BC7-9C67-195D45EC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AFC8B8FE-291A-43D9-8F50-E4047767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717690F-8CAB-42E8-B68E-55CEE6C9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0D96F36-792F-4F69-BD5C-A742D128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93DC161-4004-4D3E-B224-CE5AC8FE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收益可以来自节省工时、缩短等待、降低返工、减少损耗、提高产能或避免风险。成本则包括数据清理、系统集成、模型调用、算力、培训、人工审核、监控、安全、版权与持续维护。一次性投入应按合理周期分摊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FFDCC6A-9B10-4AEB-90CB-44EFCDF9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465170E-259F-4943-8CAE-BB2A0C64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可使用下列口径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A0A6518-9344-4881-80DB-7F985494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277D263F-9A32-4D73-9C2C-2B98D039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月度净收益 = 可核验收益 − 模型与运行成本 − 审核与返工成本 − 集成分摊 − 风险准备 ROI = 月度净收益 ÷ 月度增量投入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7C67463-D1BF-4682-90A7-7279CF00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D28A593-6948-46A1-8D7D-E499D037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</p:spTree>
    <p:extLst>
      <p:ext uri="{BB962C8B-B14F-4D97-AF65-F5344CB8AC3E}">
        <p14:creationId xmlns:p14="http://schemas.microsoft.com/office/powerpoint/2010/main" val="2928294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CBBF6814-843D-4AF3-AA10-666891DF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D12EE0DD-1CB5-42D8-8B2A-EA910F3C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E86D17A-CA51-4CE9-93C5-B19065AB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21974BC-2647-491B-A0EF-44527577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580989B4-5301-4F92-B840-21A2ACB6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78610FA-1ED2-4911-9442-7F1E60EF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55B5B2B-0AF3-466E-A970-282E6D6A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一个可计算的假设示例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BF2D728-2360-45A1-ABCE-74E8CF9F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以下数字仅用于演示算法，不代表任何企业的实际表现。假设某团队每月处理 10,000 个低风险文本任务，人工平均每项 12 分钟，含管理与福利的小时成本假设为 90 元…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D97FAC6-31CB-4AEA-8079-0B3D7D6D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3EDB5B8-0D96-483C-AA01-7F59F994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再假设每月模型与运维为 2 万至 3.5 万元，集成分摊为 1.5 万至 2.5 万元，质量抽检与风险准备为 0.8 万至 1.5 万元。月度增量投入为 4.3 万至 7.5 万元…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A8C0039-1681-48BA-A7F3-98F3A518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DE523409-4420-48A2-8BBD-EB034AF7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</a:t>
            </a:r>
          </a:p>
        </p:txBody>
      </p:sp>
    </p:spTree>
    <p:extLst>
      <p:ext uri="{BB962C8B-B14F-4D97-AF65-F5344CB8AC3E}">
        <p14:creationId xmlns:p14="http://schemas.microsoft.com/office/powerpoint/2010/main" val="576717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D25C941-850E-44CA-8FB0-983802F3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487BDFF8-C683-4D9A-B34D-DACB3114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D519037-C15D-4AA0-B3DB-DC1E0281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2033386-22E8-4DEB-BCF8-B0E804BE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3997A4CA-1B09-471A-9D28-3697C617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4CA8E43-BA38-43DA-89AC-A36573D8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1C60AA0-B7A5-4E07-875D-6223DC0C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推广门槛与停止条件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6564EF1-F38D-4AFD-AA82-E8D2F8DB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成功标准必须在试点前确定，例如关键质量不低于现状、单位任务总成本下降、合规审查通过、人工接管可用，并且一线人员愿意持续使用。推广应逐步扩大任务类型和用户范围，每次扩展都重新测量…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2F52549-1DB7-4C94-A0E3-958E1968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58EE414-F68F-49EF-ABF7-E0EE1FC2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停止条件同样重要。出现未经授权的数据访问或披露，应立即暂停；关键错误超过事先约定上限，应退回人工流程并调查；连续两个评测周期未达到质量或成本门槛，应停止扩展；供应商、规则或数据发生重大变化…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13B6E0C7-1948-4876-8E68-F7130DB0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E1473657-E7BC-4994-813B-3D84637D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</p:spTree>
    <p:extLst>
      <p:ext uri="{BB962C8B-B14F-4D97-AF65-F5344CB8AC3E}">
        <p14:creationId xmlns:p14="http://schemas.microsoft.com/office/powerpoint/2010/main" val="234389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AA7B18B-F5E6-432D-9033-DD66789F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F29EF6F-E828-436D-85EF-5271B12C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BD4BD548-146E-4FF5-B8E7-4E204545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824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只有质量不低于人工基线且总成本在保守假设下仍下降，才扩大覆盖范围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2D41B69D-0597-4F87-81D0-E61759A5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1FAA4DBC-9D4E-4EC9-8B1C-07C9E91C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DAC4593-58FD-42A5-BCF3-8210865E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企业制度问答试点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32400C8-0821-45A7-82E0-3D9A7AE1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场景｜员工经常询问差旅、采购和报销规则，人工服务台重复检索文件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041AB75-EBAE-47F3-9BDB-0B2D31B4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验证｜验收“企业制度问答试点”时，要同时记录适用场景、证据来源、失败条件与人工责任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03BF28C9-D758-460E-B0B4-FC1A95A5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2BE3132-4E92-4F67-AE29-4716F7D0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只有质量不低于人工基线且总成本在保守假设下仍下降，才扩大覆盖范围</a:t>
            </a:r>
          </a:p>
        </p:txBody>
      </p:sp>
    </p:spTree>
    <p:extLst>
      <p:ext uri="{BB962C8B-B14F-4D97-AF65-F5344CB8AC3E}">
        <p14:creationId xmlns:p14="http://schemas.microsoft.com/office/powerpoint/2010/main" val="3370059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87EDFEF-905B-464B-96B9-4107F895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EFD8BB8E-27F9-48D9-B1D1-D88A7139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DE2E2F36-5F84-4CA8-BEB8-C7BDCC15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8A8E6C6-A2B1-4D2D-B07F-D6FC40C5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C7AC866-1635-4296-A158-F7531F7B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C8071C5-4271-45E0-80F6-8030A682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314A21B-1D57-4E43-83B2-689C0128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演示｜模型根据一份材料生成看似完整的回答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CBB5C42-48F8-4DBA-A25A-6E32C865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闭环｜系统先校验用户权限，再检索有效资料，生成带出处的草稿，由责任人审批，交付后把纠错反馈写回评测集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2FF166E8-9D6D-46EA-8A38-2F7F1E00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差异｜前者展示模型能力，后者才能测量业务结果、约束风险并持续改进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EFA89D9B-2D5F-4077-8770-9DAF34A7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D23283D2-6CAE-4884-AF91-CD92FA0C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</p:spTree>
    <p:extLst>
      <p:ext uri="{BB962C8B-B14F-4D97-AF65-F5344CB8AC3E}">
        <p14:creationId xmlns:p14="http://schemas.microsoft.com/office/powerpoint/2010/main" val="11463993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B4501468-EF5A-4A8A-8501-7E966623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9852AAEE-C4DF-4208-94C0-2C51836D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5D729BC-B1BA-4588-822C-A317BD8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6F3F29F9-915A-4B48-8690-A027328F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5316CD82-C55B-490A-8845-93A71E20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F93C9438-2B1A-449E-AECD-7B3B008F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A7C5F43-A20E-4604-9410-DF3F8ED7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5423574-4EE4-4A29-A409-1B2AF2AA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选择一个熟悉的高频任务，写出使用者、输入、输出、责任人和不可自动化的部分，并用代表性样本测量现状基线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D30C3A8-138E-43FF-83A5-09731CF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61335C9-C9CF-4CC7-8F20-A076DD56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D7C91D56-9E27-4A71-B8B7-EEAFCFC6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18F8698B-703D-4064-845D-0AE8B82F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列出收益、一次性投入和持续成本，分别设置保守、基准、乐观三组假设，计算净收益与 ROI 区间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D16ED79A-8BA1-4E74-AAE1-59710634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1C6F3C8-30D4-4058-84E5-F2F4835C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7167856-F617-4610-8CA3-B1C514CA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9749E6D-70D7-4647-9B01-1E377464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写下三个推广门槛、两个停止条件和一条可立即执行的人工回退路径，再请同伴检查假设是否可验证</a:t>
            </a:r>
          </a:p>
        </p:txBody>
      </p:sp>
    </p:spTree>
    <p:extLst>
      <p:ext uri="{BB962C8B-B14F-4D97-AF65-F5344CB8AC3E}">
        <p14:creationId xmlns:p14="http://schemas.microsoft.com/office/powerpoint/2010/main" val="3253325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8502F009-60F3-4549-9EB8-45883437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FD7A54F-78B6-4499-934C-F41C20BB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FDA15300-9BB7-40CC-991D-FFD07A1C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76CB8C08-3AF2-4415-AE9E-581C25C0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0E01307-490D-4F0A-9A08-7E1A4815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2D1F4AB-91AA-4AE5-A6B2-6B72005A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5FD2B495-61D2-4562-9562-EB00FC51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D720B91A-88FD-48E7-8A58-07BDCA0F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21BE2197-9060-4683-A786-8CB8E2F1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8EAE9B8-E3BA-40F6-A48E-E25E5C76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A471963D-77CA-4EA0-85EE-B299E069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0E272E90-F069-4766-A679-D78FFB33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351935B5-BED4-4FF7-8DF8-95CA8E56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0952733-E7D5-4759-AB82-3CFEA6AD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891E49F-4240-4776-8C30-2689350F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568A8840-4500-46F4-AD4A-BCD0A9E6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</p:spTree>
    <p:extLst>
      <p:ext uri="{BB962C8B-B14F-4D97-AF65-F5344CB8AC3E}">
        <p14:creationId xmlns:p14="http://schemas.microsoft.com/office/powerpoint/2010/main" val="18634581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A69B2819-3BC5-46FC-B19A-5474132E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930E4D5C-86B5-4EDB-9131-C1F6C9F2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5420B50F-B8F5-4E12-9A5C-6834257C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CD072A9B-AFDE-49C2-9490-F52D268C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748A38D5-2225-4EFD-B1D2-4D0EE3F7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CD5D9B21-D3F5-42AA-8270-B5701956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3E981AFF-536B-4411-A061-6CBCAC70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NIST：Artificial Intelligence Risk Management Framework（AI RMF 1.0）：面向组织的自愿性 AI 风险管理框架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8B82E39A-C336-4F9F-9897-51F8F3E5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ISO/IEC 42001:2023：人工智能管理体系要求；使用时应核对具体版本和适用范围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81ED6C47-BC02-4A3E-9FAE-085F4ED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建议结合所在组织的财务核算、数据分级、信息安全、采购与审计制度，建立自己的指标字典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369190A7-1B37-4283-AF4C-8505E2FA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B65489A8-FC8F-4772-982E-D95AACB7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8449924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2026-07-11T12:05:36.7070000Z</dcterms:created>
  <dcterms:modified xsi:type="dcterms:W3CDTF">2026-07-11T12:05:36.7070000Z</dcterms:modified>
</coreProperties>
</file>