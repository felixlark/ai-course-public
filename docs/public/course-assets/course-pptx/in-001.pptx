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cf4d3e156948ff" /><Relationship Type="http://schemas.openxmlformats.org/officeDocument/2006/relationships/extended-properties" Target="/docProps/app.xml" Id="Rce8868733be14545" /><Relationship Type="http://schemas.openxmlformats.org/officeDocument/2006/relationships/officeDocument" Target="/ppt/presentation.xml" Id="Rd7df38b9de3742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25a0300b6f4560"/>
  </p:sldMasterIdLst>
  <p:notesMasterIdLst>
    <p:notesMasterId xmlns:r="http://schemas.openxmlformats.org/officeDocument/2006/relationships" r:id="R51619076006a4935"/>
  </p:notesMasterIdLst>
  <p:sldIdLst>
    <p:sldId xmlns:r="http://schemas.openxmlformats.org/officeDocument/2006/relationships" id="256" r:id="Rfb3c7c263deb41de"/>
    <p:sldId xmlns:r="http://schemas.openxmlformats.org/officeDocument/2006/relationships" id="257" r:id="R78ee469f005f48d5"/>
    <p:sldId xmlns:r="http://schemas.openxmlformats.org/officeDocument/2006/relationships" id="258" r:id="R8020fb915a504c73"/>
    <p:sldId xmlns:r="http://schemas.openxmlformats.org/officeDocument/2006/relationships" id="259" r:id="R1b7901a809254d22"/>
    <p:sldId xmlns:r="http://schemas.openxmlformats.org/officeDocument/2006/relationships" id="260" r:id="R43a70e924a9c4b8b"/>
    <p:sldId xmlns:r="http://schemas.openxmlformats.org/officeDocument/2006/relationships" id="261" r:id="R30e71be5f465402d"/>
    <p:sldId xmlns:r="http://schemas.openxmlformats.org/officeDocument/2006/relationships" id="262" r:id="R46153c4e82c4472a"/>
    <p:sldId xmlns:r="http://schemas.openxmlformats.org/officeDocument/2006/relationships" id="263" r:id="R7e1840b6d5f94744"/>
    <p:sldId xmlns:r="http://schemas.openxmlformats.org/officeDocument/2006/relationships" id="264" r:id="R51c57df80dae46e2"/>
    <p:sldId xmlns:r="http://schemas.openxmlformats.org/officeDocument/2006/relationships" id="265" r:id="Rfb58e048706b4991"/>
    <p:sldId xmlns:r="http://schemas.openxmlformats.org/officeDocument/2006/relationships" id="266" r:id="R1985fb4e6546486b"/>
    <p:sldId xmlns:r="http://schemas.openxmlformats.org/officeDocument/2006/relationships" id="267" r:id="R4af65c301fd54506"/>
    <p:sldId xmlns:r="http://schemas.openxmlformats.org/officeDocument/2006/relationships" id="268" r:id="R15333b20e5af47c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64158e1c024aaf" /><Relationship Type="http://schemas.openxmlformats.org/officeDocument/2006/relationships/slideMaster" Target="/ppt/slideMasters/slideMaster1.xml" Id="R4725a0300b6f4560" /><Relationship Type="http://schemas.openxmlformats.org/officeDocument/2006/relationships/notesMaster" Target="/ppt/notesMasters/notesMaster1.xml" Id="R51619076006a4935" /><Relationship Type="http://schemas.openxmlformats.org/officeDocument/2006/relationships/presProps" Target="/ppt/presProps.xml" Id="R1d7b9d91cbd24d9a" /><Relationship Type="http://schemas.openxmlformats.org/officeDocument/2006/relationships/tableStyles" Target="/ppt/tableStyles.xml" Id="R4b17421233af440c" /><Relationship Type="http://schemas.openxmlformats.org/officeDocument/2006/relationships/slide" Target="/ppt/slides/slide1.xml" Id="Rfb3c7c263deb41de" /><Relationship Type="http://schemas.openxmlformats.org/officeDocument/2006/relationships/slide" Target="/ppt/slides/slide2.xml" Id="R78ee469f005f48d5" /><Relationship Type="http://schemas.openxmlformats.org/officeDocument/2006/relationships/slide" Target="/ppt/slides/slide3.xml" Id="R8020fb915a504c73" /><Relationship Type="http://schemas.openxmlformats.org/officeDocument/2006/relationships/slide" Target="/ppt/slides/slide4.xml" Id="R1b7901a809254d22" /><Relationship Type="http://schemas.openxmlformats.org/officeDocument/2006/relationships/slide" Target="/ppt/slides/slide5.xml" Id="R43a70e924a9c4b8b" /><Relationship Type="http://schemas.openxmlformats.org/officeDocument/2006/relationships/slide" Target="/ppt/slides/slide6.xml" Id="R30e71be5f465402d" /><Relationship Type="http://schemas.openxmlformats.org/officeDocument/2006/relationships/slide" Target="/ppt/slides/slide7.xml" Id="R46153c4e82c4472a" /><Relationship Type="http://schemas.openxmlformats.org/officeDocument/2006/relationships/slide" Target="/ppt/slides/slide8.xml" Id="R7e1840b6d5f94744" /><Relationship Type="http://schemas.openxmlformats.org/officeDocument/2006/relationships/slide" Target="/ppt/slides/slide9.xml" Id="R51c57df80dae46e2" /><Relationship Type="http://schemas.openxmlformats.org/officeDocument/2006/relationships/slide" Target="/ppt/slides/slide10.xml" Id="Rfb58e048706b4991" /><Relationship Type="http://schemas.openxmlformats.org/officeDocument/2006/relationships/slide" Target="/ppt/slides/slide11.xml" Id="R1985fb4e6546486b" /><Relationship Type="http://schemas.openxmlformats.org/officeDocument/2006/relationships/slide" Target="/ppt/slides/slide12.xml" Id="R4af65c301fd54506" /><Relationship Type="http://schemas.openxmlformats.org/officeDocument/2006/relationships/slide" Target="/ppt/slides/slide13.xml" Id="R15333b20e5af47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5459fa3f2d40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0d4c0f1c444a22" /><Relationship Type="http://schemas.openxmlformats.org/officeDocument/2006/relationships/notesMaster" Target="/ppt/notesMasters/notesMaster1.xml" Id="R62e255597eff45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7efeec28d14e07" /><Relationship Type="http://schemas.openxmlformats.org/officeDocument/2006/relationships/notesMaster" Target="/ppt/notesMasters/notesMaster1.xml" Id="R4784df706a6642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072e1b03824c12" /><Relationship Type="http://schemas.openxmlformats.org/officeDocument/2006/relationships/notesMaster" Target="/ppt/notesMasters/notesMaster1.xml" Id="Rc748ac031ad74b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278e71edef4901" /><Relationship Type="http://schemas.openxmlformats.org/officeDocument/2006/relationships/notesMaster" Target="/ppt/notesMasters/notesMaster1.xml" Id="Rca68509aaa5145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6b146897f1402e" /><Relationship Type="http://schemas.openxmlformats.org/officeDocument/2006/relationships/notesMaster" Target="/ppt/notesMasters/notesMaster1.xml" Id="Rd731cfd159014b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dad7d61cc144e0" /><Relationship Type="http://schemas.openxmlformats.org/officeDocument/2006/relationships/notesMaster" Target="/ppt/notesMasters/notesMaster1.xml" Id="Re95e513bce9f49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b3cff417ca4b44" /><Relationship Type="http://schemas.openxmlformats.org/officeDocument/2006/relationships/notesMaster" Target="/ppt/notesMasters/notesMaster1.xml" Id="R2e1e8ef2641a45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f9644e393d41a9" /><Relationship Type="http://schemas.openxmlformats.org/officeDocument/2006/relationships/notesMaster" Target="/ppt/notesMasters/notesMaster1.xml" Id="R943b0729c8354e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767aed43004511" /><Relationship Type="http://schemas.openxmlformats.org/officeDocument/2006/relationships/notesMaster" Target="/ppt/notesMasters/notesMaster1.xml" Id="R2811c21b290b41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20b4f71c424772" /><Relationship Type="http://schemas.openxmlformats.org/officeDocument/2006/relationships/notesMaster" Target="/ppt/notesMasters/notesMaster1.xml" Id="R11f8c8d79f9d4f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599622529b47c3" /><Relationship Type="http://schemas.openxmlformats.org/officeDocument/2006/relationships/notesMaster" Target="/ppt/notesMasters/notesMaster1.xml" Id="Red1f3aacfe1549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27d8ff4a604fd6" /><Relationship Type="http://schemas.openxmlformats.org/officeDocument/2006/relationships/notesMaster" Target="/ppt/notesMasters/notesMaster1.xml" Id="R5256744beb814d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6e9348f13947bd" /><Relationship Type="http://schemas.openxmlformats.org/officeDocument/2006/relationships/notesMaster" Target="/ppt/notesMasters/notesMaster1.xml" Id="R134b462de5fc47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6cae935594b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0d671b4353405a" /><Relationship Type="http://schemas.openxmlformats.org/officeDocument/2006/relationships/slideLayout" Target="/ppt/slideLayouts/slideLayout1.xml" Id="R53a5ed4bdba94a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a5ed4bdba94a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cf2cb882f4305" /><Relationship Type="http://schemas.openxmlformats.org/officeDocument/2006/relationships/notesSlide" Target="/ppt/notesSlides/notesSlide1.xml" Id="R9116a26c1fa849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810e0aef2455c" /><Relationship Type="http://schemas.openxmlformats.org/officeDocument/2006/relationships/notesSlide" Target="/ppt/notesSlides/notesSlide2.xml" Id="R7cc1e4e6cf6e41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b80ab14b04e4a" /><Relationship Type="http://schemas.openxmlformats.org/officeDocument/2006/relationships/notesSlide" Target="/ppt/notesSlides/notesSlide3.xml" Id="R2c72d6442e9642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0f2c4e2b84826" /><Relationship Type="http://schemas.openxmlformats.org/officeDocument/2006/relationships/notesSlide" Target="/ppt/notesSlides/notesSlide4.xml" Id="R04b4b28ae05744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bc34806234a1d" /><Relationship Type="http://schemas.openxmlformats.org/officeDocument/2006/relationships/notesSlide" Target="/ppt/notesSlides/notesSlide5.xml" Id="R829887f079ff4d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58673a21e4cec" /><Relationship Type="http://schemas.openxmlformats.org/officeDocument/2006/relationships/notesSlide" Target="/ppt/notesSlides/notesSlide6.xml" Id="R69cc3eb21fb548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ca0b8e1fe4df1" /><Relationship Type="http://schemas.openxmlformats.org/officeDocument/2006/relationships/notesSlide" Target="/ppt/notesSlides/notesSlide7.xml" Id="Rdb688afbc11c46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f972cb82f4285" /><Relationship Type="http://schemas.openxmlformats.org/officeDocument/2006/relationships/notesSlide" Target="/ppt/notesSlides/notesSlide8.xml" Id="Refca082a87444c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45c0b56e2446c" /><Relationship Type="http://schemas.openxmlformats.org/officeDocument/2006/relationships/notesSlide" Target="/ppt/notesSlides/notesSlide9.xml" Id="Rb97cd60aa3dc46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94e468d434a06" /><Relationship Type="http://schemas.openxmlformats.org/officeDocument/2006/relationships/notesSlide" Target="/ppt/notesSlides/notesSlide10.xml" Id="Rfbf34935c77c48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0cce489a24dfd" /><Relationship Type="http://schemas.openxmlformats.org/officeDocument/2006/relationships/notesSlide" Target="/ppt/notesSlides/notesSlide11.xml" Id="R6adfc5f46f5b41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4f0a875af4086" /><Relationship Type="http://schemas.openxmlformats.org/officeDocument/2006/relationships/notesSlide" Target="/ppt/notesSlides/notesSlide12.xml" Id="Ra8b3e86c9cb245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95a2305d64fc1" /><Relationship Type="http://schemas.openxmlformats.org/officeDocument/2006/relationships/notesSlide" Target="/ppt/notesSlides/notesSlide13.xml" Id="Rd3196329960148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B5D0F58D-9242-4364-A393-C54EA727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BB203A77-6FEE-4833-B302-699F69D0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EF202BF9-FD31-4F1F-96E7-A3F54B9E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83F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F6E33F58-89B6-42B0-870F-B08128A5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94B95438-B50E-4F5B-9741-56852480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A35E2E2D-A7AE-48BC-8C43-24F71551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83F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30100FE-9303-4C03-A3FC-E8576C75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第 4 章 · 行业应用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A643594-611D-4174-9F62-138FDC30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行业 AI 落地方法与 ROI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0C45C7E-ECDB-4C90-B863-622584AA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从业务问题、数据基础、系统集成、评测和投入产出判断行业 AI 是否值得落地。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5A3F480A-2B52-4D74-BC38-80BCD6B8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917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行业 AI 项目最容易出现的误区；是先购买模型或平台；再四处寻找它能解决的问题；演示中的回答流畅、图片漂亮；并不等于真实流程更快、更准或更安全；落地判断必须回到一个朴素问题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0A2B622C-98D7-4461-A410-06968EEA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A54B65DE-DF4C-4AA1-9A35-3AD11E7C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IN-001 · IN-001-S01</a:t>
            </a:r>
          </a:p>
        </p:txBody>
      </p:sp>
    </p:spTree>
    <p:extLst>
      <p:ext uri="{BB962C8B-B14F-4D97-AF65-F5344CB8AC3E}">
        <p14:creationId xmlns:p14="http://schemas.microsoft.com/office/powerpoint/2010/main" val="2194750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6B16882F-C358-408B-8226-9859195B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D580A160-B1A4-49A7-BACB-C2EE2934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3EB9CFAB-6B1E-4BF0-9400-2AB9C94E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行业 AI 落地与 ROI：4项学习结果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8B5121A7-9C08-4457-86DC-9A4707DB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472DC61D-8995-4AB9-8DBC-DA710E78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IN-001 · IN-001-S02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C0CDF81B-7096-480E-BE8A-2DF7C364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把一个宽泛的“使用 AI”愿望改写成有对象、有输入、有输出、有责任人的业务任务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4C1949B3-D613-4A00-A65C-830A21DE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建立现状基线，区分直接收益、间接收益、一次性投入、持续成本与风险成本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4E88CF44-1296-4794-B3F8-E07AE76A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设计小范围试点，用对照、抽样复核和敏感性分析计算 ROI 区间</a:t>
            </a:r>
          </a:p>
        </p:txBody>
      </p:sp>
      <p:sp>
        <p:nvSpPr>
          <p:cNvPr id="9" name="objective-4">
            <a:extLst xmlns:a="http://schemas.openxmlformats.org/drawingml/2006/main">
              <a:ext uri="{FF2B5EF4-FFF2-40B4-BE49-F238E27FC236}">
                <a16:creationId xmlns:a16="http://schemas.microsoft.com/office/drawing/2014/main" id="{FE9349F8-F362-4B81-A62F-1E9E1550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在试点开始前写明推广门槛、停止条件与人工回退路径</a:t>
            </a:r>
          </a:p>
        </p:txBody>
      </p:sp>
    </p:spTree>
    <p:extLst>
      <p:ext uri="{BB962C8B-B14F-4D97-AF65-F5344CB8AC3E}">
        <p14:creationId xmlns:p14="http://schemas.microsoft.com/office/powerpoint/2010/main" val="20176028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90B24289-E430-4FB5-AEAF-F25F86F2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FC3301E1-C4E9-44C9-BEED-E455DFEB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1 / 6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E13A8ADA-AB97-4732-A22D-5D67D765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一句“用 AI 提升客服效率”仍然过于宽泛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13CCECB4-D371-4F00-B38E-82770825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D724BDD6-AE1B-4F6A-9862-6EFBF3C8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IN-001 · IN-001-S03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EDC9F6C7-8EB1-4D54-84E3-9F7066A4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EFB63ECA-FA16-4996-ADF8-D461284F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把场景写成可评测任务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940BEDFC-BD84-4B84-A956-F0B873EB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一句“用 AI 提升客服效率”仍然过于宽泛；可执行的任务描述至少包括六项；使用者、触发条件、输入资料、期望输出、完成时限和最终责任人；例如，可把它改写为“客服收到售后咨询后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6EA0967F-59AA-402C-897B-A00EA665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40A9650E-63EE-4D7B-9865-CE034997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优先试点的任务通常高频、边界稳定、结果可检查、数据可合法取得；而且失败后可以回到原流程；若资料权属不清、输出无法验证、错误会直接影响人身安全或重要权益</a:t>
            </a:r>
          </a:p>
        </p:txBody>
      </p:sp>
      <p:sp>
        <p:nvSpPr>
          <p:cNvPr id="11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37CCF5BA-B83B-4F4F-BEEC-D68F938F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3-takeaway">
            <a:extLst xmlns:a="http://schemas.openxmlformats.org/drawingml/2006/main">
              <a:ext uri="{FF2B5EF4-FFF2-40B4-BE49-F238E27FC236}">
                <a16:creationId xmlns:a16="http://schemas.microsoft.com/office/drawing/2014/main" id="{AA0C8CF9-E8EB-4CD2-8341-5A8938DF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一句“用 AI 提升客服效率”仍然过于宽泛</a:t>
            </a:r>
          </a:p>
        </p:txBody>
      </p:sp>
    </p:spTree>
    <p:extLst>
      <p:ext uri="{BB962C8B-B14F-4D97-AF65-F5344CB8AC3E}">
        <p14:creationId xmlns:p14="http://schemas.microsoft.com/office/powerpoint/2010/main" val="21181020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CE5A875E-3407-4D4D-8986-9C429089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C169944D-C7E2-4FCC-835C-5B1814DC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2 / 6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E53B1328-0E2F-40DB-B2C4-8304B1A9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基线是没有 AI 时的真实表现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7E323102-8641-4F40-B78D-542C4D46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F55FAD7E-6768-4200-815D-B0AE1C4B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IN-001 · IN-001-S04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36703542-DFAD-4368-BE6E-7B700E60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93F5472C-5BBB-44FB-A0D5-02A17994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先测基线，再讨论提升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CED3944D-EAEA-47B5-B0CD-BBAB97B1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651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基线是没有 AI 时的真实表现。至少记录任务量、平均处理时长、等待时长、一次通过率、返工率、严重错误、人员成本和用户反馈。采样要覆盖繁忙期、低频异常和不同熟练度人员，不能只挑最容易的样本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B81838B0-8381-4AFD-96DB-AB08A54C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79B12B9E-BECC-455C-9012-C9493993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质量指标应连接业务后果；知识问答不仅看答案是否通顺；还要看引用是否支持结论、规则版本是否有效、应转人工的问题是否被正确转交；内容生成不仅看数量；还要看事实错误、品牌一致性、授权状态和修改成本</a:t>
            </a:r>
          </a:p>
        </p:txBody>
      </p:sp>
      <p:sp>
        <p:nvSpPr>
          <p:cNvPr id="11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7C9A58F4-A8A1-41CD-BF45-C0335452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4-takeaway">
            <a:extLst xmlns:a="http://schemas.openxmlformats.org/drawingml/2006/main">
              <a:ext uri="{FF2B5EF4-FFF2-40B4-BE49-F238E27FC236}">
                <a16:creationId xmlns:a16="http://schemas.microsoft.com/office/drawing/2014/main" id="{6BC9BF1A-E14B-4C41-BBA6-E4A22A21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基线是没有 AI 时的真实表现</a:t>
            </a:r>
          </a:p>
        </p:txBody>
      </p:sp>
    </p:spTree>
    <p:extLst>
      <p:ext uri="{BB962C8B-B14F-4D97-AF65-F5344CB8AC3E}">
        <p14:creationId xmlns:p14="http://schemas.microsoft.com/office/powerpoint/2010/main" val="3963565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F9E73214-8402-4054-8CC2-1475027A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28BC7375-0862-4329-AAC3-65994D90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3 / 6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BFF16679-6663-46BF-8A8B-DE403053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把方案设计成人机闭环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6E01D582-B782-497B-B01E-36E0B421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9ED06F3E-1997-42A9-95ED-7A1FA6EF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IN-001 · IN-001-S05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72455B80-0264-49F0-AE8E-5A354C65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0C202B2E-2F3F-412F-BC2B-5A0A4285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把方案设计成人机闭环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6C8AA3FC-362F-4C60-838F-7AAF669F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稳定流程通常包含资料检索、草稿生成、规则校验、人工审批、正式交付和事后反馈；每一步都要回答三个问题；模型看得到什么，模型能做什么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38B68D5C-7447-44E7-B026-36E552C0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C94B76E0-A60C-4038-8613-547B7759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试点阶段宜采用“影子运行”或“双轨对照”；AI 先给建议但不直接改变业务结果；与原流程并行比较，通过抽样复核记录错误类型；而不是只统计平均分</a:t>
            </a:r>
          </a:p>
        </p:txBody>
      </p:sp>
      <p:sp>
        <p:nvSpPr>
          <p:cNvPr id="11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6B8671FF-B169-4B52-8E8D-EC105973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5-takeaway">
            <a:extLst xmlns:a="http://schemas.openxmlformats.org/drawingml/2006/main">
              <a:ext uri="{FF2B5EF4-FFF2-40B4-BE49-F238E27FC236}">
                <a16:creationId xmlns:a16="http://schemas.microsoft.com/office/drawing/2014/main" id="{9BF30F32-105B-4C32-B510-13391E24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把方案设计成人机闭环</a:t>
            </a:r>
          </a:p>
        </p:txBody>
      </p:sp>
    </p:spTree>
    <p:extLst>
      <p:ext uri="{BB962C8B-B14F-4D97-AF65-F5344CB8AC3E}">
        <p14:creationId xmlns:p14="http://schemas.microsoft.com/office/powerpoint/2010/main" val="15711041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CD71CF0C-50DE-4582-8704-D3AC1072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DBA6C6C9-97B7-41E4-84E6-D1E853B3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4 / 6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14D74BC1-9C39-40A7-B72E-86048080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用完整成本计算 ROI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5176F7EC-9A15-4F3A-81A5-04C01E28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DD3D7CDA-71A3-4800-8272-9CB52F02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IN-001 · IN-001-S06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9FBD06F6-89EE-42BB-ACC1-1EEC96E9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EC32363B-424E-48F3-9F23-57050F40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用完整成本计算 ROI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71AAAA17-F1B0-4AB5-A422-69B882BD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5261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收益可以来自节省工时、缩短等待、降低返工、减少损耗、提高产能或避免风险；成本则包括数据清理、系统集成、模型调用、算力、培训、人工审核、监控、安全、版权与持续维护；一次性投入应按合理周期分摊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402C766B-3CE0-4B8B-BB1E-7A28319A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58D9C838-A46C-4FB7-BB4C-E1FC6937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可使用下列口径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5EFCAB28-0FEE-4109-B53C-676A7283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ABAE2308-C8F5-43B3-B64B-D2CD555D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月度净收益 = 可核验收益 − 模型与运行成本 − 审核与返工成本 − 集成分摊 − 风险准备 ROI = 月度净收益 ÷ 月度增量投入</a:t>
            </a:r>
          </a:p>
        </p:txBody>
      </p:sp>
      <p:sp>
        <p:nvSpPr>
          <p:cNvPr id="13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5FCEAEAE-BF3E-4E2B-9594-109C9B92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6-takeaway">
            <a:extLst xmlns:a="http://schemas.openxmlformats.org/drawingml/2006/main">
              <a:ext uri="{FF2B5EF4-FFF2-40B4-BE49-F238E27FC236}">
                <a16:creationId xmlns:a16="http://schemas.microsoft.com/office/drawing/2014/main" id="{55B8B5C8-E4EB-4C67-9475-4220CAE9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用完整成本计算 ROI</a:t>
            </a:r>
          </a:p>
        </p:txBody>
      </p:sp>
    </p:spTree>
    <p:extLst>
      <p:ext uri="{BB962C8B-B14F-4D97-AF65-F5344CB8AC3E}">
        <p14:creationId xmlns:p14="http://schemas.microsoft.com/office/powerpoint/2010/main" val="6719896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4BE05915-3375-4631-AD15-F985C84C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94A7C995-589C-4306-8EF0-2FA98BB5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5 / 6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87AFF6A7-3E87-464E-81CE-E63DED8C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以下数字仅用于演示算法，不代表任何企业的实际表现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D1FBCD5B-3730-43E4-A8B1-6D7FEEFA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FF759F65-C6C7-4DC6-9A23-CEFA01FA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IN-001 · IN-001-S07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114D3078-4F18-45E7-87CC-9F07C58A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85103E16-C22C-417A-A887-E7D070A1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一个可计算的假设示例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D1BC267D-A8B8-44A4-B0CC-91AA62F0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以下数字仅用于演示算法；不代表任何企业的实际表现；假设某团队每月处理 10,000 个低风险文本任务；人工平均每项 12 分钟；含管理与福利的小时成本假设为 90 元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D6DC07FC-46B7-4B67-8287-E314F136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E87A9656-5661-456B-9375-51711347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再假设每月模型与运维为 2 万至 3.5 万元；集成分摊为 1.5 万至 2.5 万元；质量抽检与风险准备为 0.8 万至 1.5 万元；月度增量投入为 4.3 万至 7.5 万元</a:t>
            </a:r>
          </a:p>
        </p:txBody>
      </p:sp>
      <p:sp>
        <p:nvSpPr>
          <p:cNvPr id="11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D5E6BD24-4D8B-434D-8181-C6D552DC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7-takeaway">
            <a:extLst xmlns:a="http://schemas.openxmlformats.org/drawingml/2006/main">
              <a:ext uri="{FF2B5EF4-FFF2-40B4-BE49-F238E27FC236}">
                <a16:creationId xmlns:a16="http://schemas.microsoft.com/office/drawing/2014/main" id="{444FB93F-062E-4417-93A0-D9665DA3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以下数字仅用于演示算法，不代表任何企业的实际表现</a:t>
            </a:r>
          </a:p>
        </p:txBody>
      </p:sp>
    </p:spTree>
    <p:extLst>
      <p:ext uri="{BB962C8B-B14F-4D97-AF65-F5344CB8AC3E}">
        <p14:creationId xmlns:p14="http://schemas.microsoft.com/office/powerpoint/2010/main" val="14806845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C2C70282-92E3-4B0D-915B-4267442F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9AF71734-912F-4858-941C-BD12C3D4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6 / 6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F5BF88B3-5297-4074-AF30-63E18F4D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成功标准必须在试点前确定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C72F37C3-A17C-4EA0-9719-1C4DC848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A2086D1F-4022-4AEC-B5AC-62C8B5C9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IN-001 · IN-001-S08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75CC8D72-CDA8-428F-B78B-D0C23833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7C7BE9D7-DAA0-4299-98E0-0966AEA1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推广门槛与停止条件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B4F0934A-42FD-4B0C-BD81-F0663F5D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成功标准必须在试点前确定；例如关键质量不低于现状、单位任务总成本下降、合规审查通过、人工接管可用；并且一线人员愿意持续使用；推广应逐步扩大任务类型和用户范围；每次扩展都重新测量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A645DA0F-9C7A-4617-8C1A-0D269FFD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8F93F25B-F69F-43BC-9B9A-189A225D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停止条件同样重要，出现未经授权的数据访问或披露；应立即暂停，关键错误超过事先约定上限；应退回人工流程并调查；连续两个评测周期未达到质量或成本门槛；应停止扩展，供应商、规则或数据发生重大变化</a:t>
            </a:r>
          </a:p>
        </p:txBody>
      </p:sp>
      <p:sp>
        <p:nvSpPr>
          <p:cNvPr id="11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1AA50D6D-EB4F-448A-8B5B-E91BBE04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8-takeaway">
            <a:extLst xmlns:a="http://schemas.openxmlformats.org/drawingml/2006/main">
              <a:ext uri="{FF2B5EF4-FFF2-40B4-BE49-F238E27FC236}">
                <a16:creationId xmlns:a16="http://schemas.microsoft.com/office/drawing/2014/main" id="{2B82AD37-CFC4-4B53-A555-0A9E6E35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成功标准必须在试点前确定</a:t>
            </a:r>
          </a:p>
        </p:txBody>
      </p:sp>
    </p:spTree>
    <p:extLst>
      <p:ext uri="{BB962C8B-B14F-4D97-AF65-F5344CB8AC3E}">
        <p14:creationId xmlns:p14="http://schemas.microsoft.com/office/powerpoint/2010/main" val="7714032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286E9A32-E34D-43D1-BB61-9843AB92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CC62CDDE-EBFF-47B5-B236-2DDA05D8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案例与边界 1 / 2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5A7D3373-4473-42AA-9D63-068ED17B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试点只有质量与成本同时达标才值得扩展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66E88984-B50A-4A6F-BA4A-BDDE8550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317398D1-0DCC-499C-842E-65D2EA85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IN-001 · IN-001-S09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8646BB21-D853-48BE-B032-3C92E2CD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744027"/>
          </a:solidFill>
          <a:ln xmlns:a="http://schemas.openxmlformats.org/drawingml/2006/main" w="0">
            <a:solidFill>
              <a:srgbClr val="74402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企业制度问答试点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D39C4FCA-3678-4B26-9E11-556D010B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场景｜员工经常询问差旅、采购和报销规则，人工服务台重复检索文件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F5EC4DB6-1A93-4EA6-83E8-7CD4ADA5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551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设计｜只接入已批准且仍有效的制度，回答必须附引用；涉及例外审批、劳动关系或个人敏感信息时转人工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37B70F8A-839E-45EE-9E5A-6F7E1726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155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测量｜对比平均等待时间、一次解决率、引用正确率、人工接管率和单位问题总成本，并记录过期规则造成的错误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4951A4FC-68F1-4B50-AB47-41EB25DF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决策｜只有质量不低于人工基线且总成本在保守假设下仍下降，才扩大覆盖范围</a:t>
            </a:r>
          </a:p>
        </p:txBody>
      </p:sp>
      <p:sp>
        <p:nvSpPr>
          <p:cNvPr id="11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12D9AC6D-FF36-459A-B9F0-A7A0A9F7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9-takeaway">
            <a:extLst xmlns:a="http://schemas.openxmlformats.org/drawingml/2006/main">
              <a:ext uri="{FF2B5EF4-FFF2-40B4-BE49-F238E27FC236}">
                <a16:creationId xmlns:a16="http://schemas.microsoft.com/office/drawing/2014/main" id="{E2CAB8A0-30C4-415E-A633-4854163B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试点只有质量与成本同时达标才值得扩展</a:t>
            </a:r>
          </a:p>
        </p:txBody>
      </p:sp>
    </p:spTree>
    <p:extLst>
      <p:ext uri="{BB962C8B-B14F-4D97-AF65-F5344CB8AC3E}">
        <p14:creationId xmlns:p14="http://schemas.microsoft.com/office/powerpoint/2010/main" val="439255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CBFEABAE-BCFA-4D44-ABCA-3C6E78C8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B9AA5A0B-2127-4170-9B6F-60A33BA8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案例与边界 2 / 2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2E5B8487-5271-4C20-9414-CAFDCB12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从演示到闭环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7CF87E4D-4DE2-4A3D-BCB9-ED114EEE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00701225-B506-47E3-92A3-41DBAE9E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IN-001 · IN-001-S10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3518D7EC-D1A9-4D59-B5FB-A7672C85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744027"/>
          </a:solidFill>
          <a:ln xmlns:a="http://schemas.openxmlformats.org/drawingml/2006/main" w="0">
            <a:solidFill>
              <a:srgbClr val="74402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从演示到闭环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7E189AF3-6005-4FB4-A2F4-F1A372C7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574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演示｜模型根据一份材料生成看似完整的回答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51125A0B-88AC-48E1-BFD0-88BDED6C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闭环｜系统先校验用户权限，再检索有效资料，生成带出处的草稿，由责任人审批，交付后把纠错反馈写回评测集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882BB2E0-3EDB-4561-8F7C-574DB592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差异｜前者展示模型能力，后者才能测量业务结果、约束风险并持续改进</a:t>
            </a:r>
          </a:p>
        </p:txBody>
      </p:sp>
      <p:sp>
        <p:nvSpPr>
          <p:cNvPr id="10" name="s10-takeaway-rule">
            <a:extLst xmlns:a="http://schemas.openxmlformats.org/drawingml/2006/main">
              <a:ext uri="{FF2B5EF4-FFF2-40B4-BE49-F238E27FC236}">
                <a16:creationId xmlns:a16="http://schemas.microsoft.com/office/drawing/2014/main" id="{161EDA12-CDB8-421A-9BF1-FDFF438B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1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2F89B53B-283B-43FC-9AAD-E06B9469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从演示到闭环</a:t>
            </a:r>
          </a:p>
        </p:txBody>
      </p:sp>
    </p:spTree>
    <p:extLst>
      <p:ext uri="{BB962C8B-B14F-4D97-AF65-F5344CB8AC3E}">
        <p14:creationId xmlns:p14="http://schemas.microsoft.com/office/powerpoint/2010/main" val="2757804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429299F8-A823-4523-A430-07CB056B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A05FB7D6-54A7-42D9-8689-C16F8965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4805C703-E521-4342-ADCF-4C3D46C5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行业 AI 落地与 ROI：一次可验收练习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665C0A7B-E81A-48B7-917D-055267A4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BED04171-49AE-46F8-A4FD-9D74404A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IN-001 · IN-001-S11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184FBADE-E867-4268-B098-C1017A87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0FD027C0-8A7C-4A77-96E6-93750FA9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72A99A00-E851-4622-A4F1-DB27B772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选择一个熟悉的高频任务，写出使用者、输入、输出、责任人和不可自动化的部分，并用代表性样本测量现状基线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1624147A-7070-4D78-945F-D2B302B2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A4E6816C-E49F-45F6-B8F5-297B7BD8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49E2D187-81BA-4AC5-A951-A2D0CE41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9A162600-F56A-4860-A364-546BDBA4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列出收益、一次性投入和持续成本，分别设置保守、基准、乐观三组假设，计算净收益与 ROI 区间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04C2541E-EA8A-46D9-9440-B7F037BF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AD5B091C-1079-4A4B-9E25-497123A2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F1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653DBD4B-5343-4922-B952-814394F7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B14F278D-3199-4729-9A19-D14E3ADF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写下三个推广门槛、两个停止条件和一条可立即执行的人工回退路径，再请同伴检查假设是否可验证</a:t>
            </a:r>
          </a:p>
        </p:txBody>
      </p:sp>
    </p:spTree>
    <p:extLst>
      <p:ext uri="{BB962C8B-B14F-4D97-AF65-F5344CB8AC3E}">
        <p14:creationId xmlns:p14="http://schemas.microsoft.com/office/powerpoint/2010/main" val="7657544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D675C232-8254-43CE-A507-B9137D07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3C9CF1C3-9885-4376-858C-0DA94D56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8524E424-3DD5-4741-B518-0E8EDDE8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行业 AI 落地与 ROI：判断时先抓住三点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6CE7C263-A468-4FC7-A605-B81F1CB0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FE25C6EF-A5D6-4A25-A61D-B54E193C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IN-001 · IN-001-S12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61323F9B-CE84-4452-96D6-41AA17E0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D165CA78-E405-40F7-B5CF-F2F28B93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929DBE1B-A312-4AA2-877C-2C8A1C82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一句“用 AI 提升客服效率”仍然过于宽泛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826AE7E9-7C72-4714-9A87-A76F7C30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A7BAF909-DCF1-454D-92F3-98AC9A4D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1B73175A-00E2-4B53-A522-7E3A401B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6C112E41-D0D2-45C0-9CA2-BD630196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把方案设计成人机闭环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6A1AB752-64B9-4C94-B5E4-99149947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42430B7A-187F-4587-94BC-D0785659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F1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F7977CEA-313F-46F7-AEEF-C482C1B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0B700A3A-5202-40A0-82D1-63CE3C9F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成功标准必须在试点前确定</a:t>
            </a:r>
          </a:p>
        </p:txBody>
      </p:sp>
    </p:spTree>
    <p:extLst>
      <p:ext uri="{BB962C8B-B14F-4D97-AF65-F5344CB8AC3E}">
        <p14:creationId xmlns:p14="http://schemas.microsoft.com/office/powerpoint/2010/main" val="9631722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3-rule">
            <a:extLst xmlns:a="http://schemas.openxmlformats.org/drawingml/2006/main">
              <a:ext uri="{FF2B5EF4-FFF2-40B4-BE49-F238E27FC236}">
                <a16:creationId xmlns:a16="http://schemas.microsoft.com/office/drawing/2014/main" id="{AF67BB23-DA12-43D2-BF4A-81E196FE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3-eyebrow">
            <a:extLst xmlns:a="http://schemas.openxmlformats.org/drawingml/2006/main">
              <a:ext uri="{FF2B5EF4-FFF2-40B4-BE49-F238E27FC236}">
                <a16:creationId xmlns:a16="http://schemas.microsoft.com/office/drawing/2014/main" id="{DFB5FFD9-FFA7-425A-B890-7603899F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3-title">
            <a:extLst xmlns:a="http://schemas.openxmlformats.org/drawingml/2006/main">
              <a:ext uri="{FF2B5EF4-FFF2-40B4-BE49-F238E27FC236}">
                <a16:creationId xmlns:a16="http://schemas.microsoft.com/office/drawing/2014/main" id="{7796777C-6679-425F-A983-87BB9145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行业 AI 落地与 ROI：依据、边界与延伸</a:t>
            </a:r>
          </a:p>
        </p:txBody>
      </p:sp>
      <p:sp>
        <p:nvSpPr>
          <p:cNvPr id="4" name="s13-footer">
            <a:extLst xmlns:a="http://schemas.openxmlformats.org/drawingml/2006/main">
              <a:ext uri="{FF2B5EF4-FFF2-40B4-BE49-F238E27FC236}">
                <a16:creationId xmlns:a16="http://schemas.microsoft.com/office/drawing/2014/main" id="{F4223251-AA29-4079-9FCD-EC7CB09A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3-identity">
            <a:extLst xmlns:a="http://schemas.openxmlformats.org/drawingml/2006/main">
              <a:ext uri="{FF2B5EF4-FFF2-40B4-BE49-F238E27FC236}">
                <a16:creationId xmlns:a16="http://schemas.microsoft.com/office/drawing/2014/main" id="{1165A0F6-81B7-40BC-9CEE-5E401E2E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IN-001 · IN-001-S13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DCF17EC7-C87B-473A-9573-EAECB61A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C6A94AF6-2FAB-468B-ADFE-73B92973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NIST：Artificial Intelligence Risk Management Framework（AI RMF 1.0）：面向组织的自愿性 AI 风险管理框架</a:t>
            </a:r>
          </a:p>
        </p:txBody>
      </p:sp>
      <p:sp>
        <p:nvSpPr>
          <p:cNvPr id="8" name="source-2">
            <a:extLst xmlns:a="http://schemas.openxmlformats.org/drawingml/2006/main">
              <a:ext uri="{FF2B5EF4-FFF2-40B4-BE49-F238E27FC236}">
                <a16:creationId xmlns:a16="http://schemas.microsoft.com/office/drawing/2014/main" id="{8164E1E7-4E94-4519-B1CC-9360CD6F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03  ISO/IEC 42001:2023：人工智能管理体系要求；使用时应核对具体版本和适用范围</a:t>
            </a:r>
          </a:p>
        </p:txBody>
      </p:sp>
      <p:sp>
        <p:nvSpPr>
          <p:cNvPr id="9" name="source-3">
            <a:extLst xmlns:a="http://schemas.openxmlformats.org/drawingml/2006/main">
              <a:ext uri="{FF2B5EF4-FFF2-40B4-BE49-F238E27FC236}">
                <a16:creationId xmlns:a16="http://schemas.microsoft.com/office/drawing/2014/main" id="{A1C418C8-7AA1-45D4-A036-3E435D63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04  建议结合所在组织的财务核算、数据分级、信息安全、采购与审计制度，建立自己的指标字典</a:t>
            </a:r>
          </a:p>
        </p:txBody>
      </p:sp>
      <p:sp>
        <p:nvSpPr>
          <p:cNvPr id="10" name="s13-takeaway-rule">
            <a:extLst xmlns:a="http://schemas.openxmlformats.org/drawingml/2006/main">
              <a:ext uri="{FF2B5EF4-FFF2-40B4-BE49-F238E27FC236}">
                <a16:creationId xmlns:a16="http://schemas.microsoft.com/office/drawing/2014/main" id="{11CA6C5A-780E-403E-B660-D30335E6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1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2A96E980-BDAF-4AD6-A4A9-44C4432D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91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课程精编页用于讲授主线；播放器中的“原课件”模式保留团队 PowerPoint 精选页、真实图片和可播放视频。</a:t>
            </a:r>
          </a:p>
        </p:txBody>
      </p:sp>
    </p:spTree>
    <p:extLst>
      <p:ext uri="{BB962C8B-B14F-4D97-AF65-F5344CB8AC3E}">
        <p14:creationId xmlns:p14="http://schemas.microsoft.com/office/powerpoint/2010/main" val="1744904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2026-07-12T03:32:01.8740000Z</dcterms:created>
  <dcterms:modified xsi:type="dcterms:W3CDTF">2026-07-12T03:32:01.8740000Z</dcterms:modified>
</coreProperties>
</file>