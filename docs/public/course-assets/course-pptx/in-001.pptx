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0d1beb04a454b47" /><Relationship Type="http://schemas.openxmlformats.org/officeDocument/2006/relationships/extended-properties" Target="/docProps/app.xml" Id="R9fbe64bbf2f54318" /><Relationship Type="http://schemas.openxmlformats.org/officeDocument/2006/relationships/officeDocument" Target="/ppt/presentation.xml" Id="Rd724cce3f024482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f6a82a5db7043c1"/>
  </p:sldMasterIdLst>
  <p:notesMasterIdLst>
    <p:notesMasterId xmlns:r="http://schemas.openxmlformats.org/officeDocument/2006/relationships" r:id="Ref083f67417c49ae"/>
  </p:notesMasterIdLst>
  <p:sldIdLst>
    <p:sldId xmlns:r="http://schemas.openxmlformats.org/officeDocument/2006/relationships" id="256" r:id="Rd08ab3ce0f934648"/>
    <p:sldId xmlns:r="http://schemas.openxmlformats.org/officeDocument/2006/relationships" id="257" r:id="Ra097b812b6df47af"/>
    <p:sldId xmlns:r="http://schemas.openxmlformats.org/officeDocument/2006/relationships" id="258" r:id="R14399fbdc88f4876"/>
    <p:sldId xmlns:r="http://schemas.openxmlformats.org/officeDocument/2006/relationships" id="259" r:id="R2ee01b1426d34125"/>
    <p:sldId xmlns:r="http://schemas.openxmlformats.org/officeDocument/2006/relationships" id="260" r:id="R830f9871d34c44d2"/>
    <p:sldId xmlns:r="http://schemas.openxmlformats.org/officeDocument/2006/relationships" id="261" r:id="R0bd237496b984e1e"/>
    <p:sldId xmlns:r="http://schemas.openxmlformats.org/officeDocument/2006/relationships" id="262" r:id="Rc358a63dc26545a4"/>
    <p:sldId xmlns:r="http://schemas.openxmlformats.org/officeDocument/2006/relationships" id="263" r:id="R50665e7e97914636"/>
    <p:sldId xmlns:r="http://schemas.openxmlformats.org/officeDocument/2006/relationships" id="264" r:id="Rcaf63838c33445f7"/>
    <p:sldId xmlns:r="http://schemas.openxmlformats.org/officeDocument/2006/relationships" id="265" r:id="Rd190253fd45d4a4c"/>
    <p:sldId xmlns:r="http://schemas.openxmlformats.org/officeDocument/2006/relationships" id="266" r:id="R9c985ca745294518"/>
    <p:sldId xmlns:r="http://schemas.openxmlformats.org/officeDocument/2006/relationships" id="267" r:id="Rd1ca4f5778804283"/>
    <p:sldId xmlns:r="http://schemas.openxmlformats.org/officeDocument/2006/relationships" id="268" r:id="R4403f97f3e7e45a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ca7e779f8324c5d" /><Relationship Type="http://schemas.openxmlformats.org/officeDocument/2006/relationships/slideMaster" Target="/ppt/slideMasters/slideMaster1.xml" Id="R0f6a82a5db7043c1" /><Relationship Type="http://schemas.openxmlformats.org/officeDocument/2006/relationships/notesMaster" Target="/ppt/notesMasters/notesMaster1.xml" Id="Ref083f67417c49ae" /><Relationship Type="http://schemas.openxmlformats.org/officeDocument/2006/relationships/presProps" Target="/ppt/presProps.xml" Id="R8d3ca4a766f845b3" /><Relationship Type="http://schemas.openxmlformats.org/officeDocument/2006/relationships/tableStyles" Target="/ppt/tableStyles.xml" Id="R236eb2e3100b48ad" /><Relationship Type="http://schemas.openxmlformats.org/officeDocument/2006/relationships/slide" Target="/ppt/slides/slide1.xml" Id="Rd08ab3ce0f934648" /><Relationship Type="http://schemas.openxmlformats.org/officeDocument/2006/relationships/slide" Target="/ppt/slides/slide2.xml" Id="Ra097b812b6df47af" /><Relationship Type="http://schemas.openxmlformats.org/officeDocument/2006/relationships/slide" Target="/ppt/slides/slide3.xml" Id="R14399fbdc88f4876" /><Relationship Type="http://schemas.openxmlformats.org/officeDocument/2006/relationships/slide" Target="/ppt/slides/slide4.xml" Id="R2ee01b1426d34125" /><Relationship Type="http://schemas.openxmlformats.org/officeDocument/2006/relationships/slide" Target="/ppt/slides/slide5.xml" Id="R830f9871d34c44d2" /><Relationship Type="http://schemas.openxmlformats.org/officeDocument/2006/relationships/slide" Target="/ppt/slides/slide6.xml" Id="R0bd237496b984e1e" /><Relationship Type="http://schemas.openxmlformats.org/officeDocument/2006/relationships/slide" Target="/ppt/slides/slide7.xml" Id="Rc358a63dc26545a4" /><Relationship Type="http://schemas.openxmlformats.org/officeDocument/2006/relationships/slide" Target="/ppt/slides/slide8.xml" Id="R50665e7e97914636" /><Relationship Type="http://schemas.openxmlformats.org/officeDocument/2006/relationships/slide" Target="/ppt/slides/slide9.xml" Id="Rcaf63838c33445f7" /><Relationship Type="http://schemas.openxmlformats.org/officeDocument/2006/relationships/slide" Target="/ppt/slides/slide10.xml" Id="Rd190253fd45d4a4c" /><Relationship Type="http://schemas.openxmlformats.org/officeDocument/2006/relationships/slide" Target="/ppt/slides/slide11.xml" Id="R9c985ca745294518" /><Relationship Type="http://schemas.openxmlformats.org/officeDocument/2006/relationships/slide" Target="/ppt/slides/slide12.xml" Id="Rd1ca4f5778804283" /><Relationship Type="http://schemas.openxmlformats.org/officeDocument/2006/relationships/slide" Target="/ppt/slides/slide13.xml" Id="R4403f97f3e7e45a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f340652bfc642c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1ab3aca2ada47de" /><Relationship Type="http://schemas.openxmlformats.org/officeDocument/2006/relationships/notesMaster" Target="/ppt/notesMasters/notesMaster1.xml" Id="R0ef3b6173946456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8167e3a066c4886" /><Relationship Type="http://schemas.openxmlformats.org/officeDocument/2006/relationships/notesMaster" Target="/ppt/notesMasters/notesMaster1.xml" Id="Rf5a3a5009fa34e9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8aa6f9649934053" /><Relationship Type="http://schemas.openxmlformats.org/officeDocument/2006/relationships/notesMaster" Target="/ppt/notesMasters/notesMaster1.xml" Id="R48d372668010464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3f6370414ab413d" /><Relationship Type="http://schemas.openxmlformats.org/officeDocument/2006/relationships/notesMaster" Target="/ppt/notesMasters/notesMaster1.xml" Id="Re7673c516b4f415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da1cdc5188d44c1" /><Relationship Type="http://schemas.openxmlformats.org/officeDocument/2006/relationships/notesMaster" Target="/ppt/notesMasters/notesMaster1.xml" Id="R3149e52443b1421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25b262f5545479b" /><Relationship Type="http://schemas.openxmlformats.org/officeDocument/2006/relationships/notesMaster" Target="/ppt/notesMasters/notesMaster1.xml" Id="Re565980d58354b8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276f90477414e47" /><Relationship Type="http://schemas.openxmlformats.org/officeDocument/2006/relationships/notesMaster" Target="/ppt/notesMasters/notesMaster1.xml" Id="Rc34a335c3c04437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63a6e3b96eb4a63" /><Relationship Type="http://schemas.openxmlformats.org/officeDocument/2006/relationships/notesMaster" Target="/ppt/notesMasters/notesMaster1.xml" Id="R75821b21f7fd4ef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0378172e0364288" /><Relationship Type="http://schemas.openxmlformats.org/officeDocument/2006/relationships/notesMaster" Target="/ppt/notesMasters/notesMaster1.xml" Id="R2886309b84b042b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08e962cb23c4c56" /><Relationship Type="http://schemas.openxmlformats.org/officeDocument/2006/relationships/notesMaster" Target="/ppt/notesMasters/notesMaster1.xml" Id="Re6bb54c749a540d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a801251f462452e" /><Relationship Type="http://schemas.openxmlformats.org/officeDocument/2006/relationships/notesMaster" Target="/ppt/notesMasters/notesMaster1.xml" Id="Ra76b13515b8c449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ed581cc17c848d8" /><Relationship Type="http://schemas.openxmlformats.org/officeDocument/2006/relationships/notesMaster" Target="/ppt/notesMasters/notesMaster1.xml" Id="R85f531677ca74ab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c36bc96f29c4901" /><Relationship Type="http://schemas.openxmlformats.org/officeDocument/2006/relationships/notesMaster" Target="/ppt/notesMasters/notesMaster1.xml" Id="Readf170fbd204b9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f7d8178ca5421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e62fd6a8d9d4772" /><Relationship Type="http://schemas.openxmlformats.org/officeDocument/2006/relationships/slideLayout" Target="/ppt/slideLayouts/slideLayout1.xml" Id="R6922189ee89d4af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922189ee89d4af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cb52a282414d34" /><Relationship Type="http://schemas.openxmlformats.org/officeDocument/2006/relationships/notesSlide" Target="/ppt/notesSlides/notesSlide1.xml" Id="Rbe86f9610faf401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fa69781f004aef" /><Relationship Type="http://schemas.openxmlformats.org/officeDocument/2006/relationships/notesSlide" Target="/ppt/notesSlides/notesSlide2.xml" Id="R11452648f47c44f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11ffceb03640d6" /><Relationship Type="http://schemas.openxmlformats.org/officeDocument/2006/relationships/notesSlide" Target="/ppt/notesSlides/notesSlide3.xml" Id="Rd6113790323c4f7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473f50b24a4300" /><Relationship Type="http://schemas.openxmlformats.org/officeDocument/2006/relationships/notesSlide" Target="/ppt/notesSlides/notesSlide4.xml" Id="R46e6ca4a47f04d7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2eb8dab34f40e5" /><Relationship Type="http://schemas.openxmlformats.org/officeDocument/2006/relationships/notesSlide" Target="/ppt/notesSlides/notesSlide5.xml" Id="Rf656b1b116fa447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2cd00618324d51" /><Relationship Type="http://schemas.openxmlformats.org/officeDocument/2006/relationships/notesSlide" Target="/ppt/notesSlides/notesSlide6.xml" Id="R7a1653c3dbb746a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88d2aa1b0f451e" /><Relationship Type="http://schemas.openxmlformats.org/officeDocument/2006/relationships/notesSlide" Target="/ppt/notesSlides/notesSlide7.xml" Id="R5c78e90d3a11446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3f4a55b0794bce" /><Relationship Type="http://schemas.openxmlformats.org/officeDocument/2006/relationships/notesSlide" Target="/ppt/notesSlides/notesSlide8.xml" Id="R162d470299a6476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7bfd739ef4453b" /><Relationship Type="http://schemas.openxmlformats.org/officeDocument/2006/relationships/notesSlide" Target="/ppt/notesSlides/notesSlide9.xml" Id="Rb917e10e337b403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e0f1cf52bc4f30" /><Relationship Type="http://schemas.openxmlformats.org/officeDocument/2006/relationships/notesSlide" Target="/ppt/notesSlides/notesSlide10.xml" Id="Re1e8f5663bb4419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97ecf788004e63" /><Relationship Type="http://schemas.openxmlformats.org/officeDocument/2006/relationships/notesSlide" Target="/ppt/notesSlides/notesSlide11.xml" Id="R53647e055e8944b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eace5872f5441c" /><Relationship Type="http://schemas.openxmlformats.org/officeDocument/2006/relationships/notesSlide" Target="/ppt/notesSlides/notesSlide12.xml" Id="Rf68e53781de74f9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6431ea7bc94870" /><Relationship Type="http://schemas.openxmlformats.org/officeDocument/2006/relationships/notesSlide" Target="/ppt/notesSlides/notesSlide13.xml" Id="R36b59a88b872441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9E3FAFF8-1D26-46CF-9EA0-F6D9B1C7A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3DD5F489-65E0-41A6-885D-82F38C6CA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44F50904-509F-44C7-A146-EF9C786C8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83F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B4B21456-34E9-4484-9D3C-4798592D7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CEB936FD-CCBE-48FC-B784-E2EE16702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E1BD70FA-B75C-40AA-A90F-1A28907BD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83F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DF458740-E20B-4C40-B76B-6072BC220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第 4 章 · 行业应用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790E07EA-30C2-4E3D-97D0-229FA84AB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行业 AI 落地方法与 ROI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D66D2DAB-9531-444B-A6A0-DD4A22DDB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从业务问题、数据基础、系统集成、评测和投入产出判断行业 AI 是否值得落地。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FA3927FA-01F5-4C20-91E0-A6D724AF7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0917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行业 AI 项目最容易出现的误区；是先购买模型或平台；再四处寻找它能解决的问题；演示中的回答流畅、图片漂亮；并不等于真实流程更快、更准或更安全；落地判断必须回到一个朴素问题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F4928327-A7E5-47FC-A171-64AF6FA74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276893B7-BA70-4EAD-98D3-0BF524E34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IN-001 · IN-001-S01</a:t>
            </a:r>
          </a:p>
        </p:txBody>
      </p:sp>
    </p:spTree>
    <p:extLst>
      <p:ext uri="{BB962C8B-B14F-4D97-AF65-F5344CB8AC3E}">
        <p14:creationId xmlns:p14="http://schemas.microsoft.com/office/powerpoint/2010/main" val="31230454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1112C332-D56C-4BA0-9E77-639A54A51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079F64C4-DCD6-4FF9-BB41-B5E5B56A1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62265D5E-AB65-414B-9A17-C80530ED8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行业 AI 落地与 ROI：4项学习结果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FB3B48F7-510A-4786-8D5A-26BC980D8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125EC867-9904-478C-93D9-318EFB32F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IN-001 · IN-001-S02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9352496F-A757-450A-89B2-A1734C7BE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把一个宽泛的“使用 AI”愿望改写成有对象、有输入、有输出、有责任人的业务任务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D1C588F1-964A-4AD7-97DD-F203C6B6C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建立现状基线，区分直接收益、间接收益、一次性投入、持续成本与风险成本</a:t>
            </a:r>
          </a:p>
        </p:txBody>
      </p:sp>
      <p:sp>
        <p:nvSpPr>
          <p:cNvPr id="8" name="objective-3">
            <a:extLst xmlns:a="http://schemas.openxmlformats.org/drawingml/2006/main">
              <a:ext uri="{FF2B5EF4-FFF2-40B4-BE49-F238E27FC236}">
                <a16:creationId xmlns:a16="http://schemas.microsoft.com/office/drawing/2014/main" id="{EE7B71DE-396B-4749-815D-7F1B5AD29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设计小范围试点，用对照、抽样复核和敏感性分析计算 ROI 区间</a:t>
            </a:r>
          </a:p>
        </p:txBody>
      </p:sp>
      <p:sp>
        <p:nvSpPr>
          <p:cNvPr id="9" name="objective-4">
            <a:extLst xmlns:a="http://schemas.openxmlformats.org/drawingml/2006/main">
              <a:ext uri="{FF2B5EF4-FFF2-40B4-BE49-F238E27FC236}">
                <a16:creationId xmlns:a16="http://schemas.microsoft.com/office/drawing/2014/main" id="{BD99009E-9F41-4FA2-89D6-586C5FF01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04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在试点开始前写明推广门槛、停止条件与人工回退路径</a:t>
            </a:r>
          </a:p>
        </p:txBody>
      </p:sp>
    </p:spTree>
    <p:extLst>
      <p:ext uri="{BB962C8B-B14F-4D97-AF65-F5344CB8AC3E}">
        <p14:creationId xmlns:p14="http://schemas.microsoft.com/office/powerpoint/2010/main" val="146144412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5E0ACAD0-D045-49EE-9A46-A7855952D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ACD8C6AD-CE88-4F61-BD90-1249C103D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1 / 6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DFAD3622-B5C1-4DC7-B9E4-846E84F88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一句“用 AI 提升客服效率”仍然过于宽泛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84AF50E4-BEC1-4101-9E0E-E0C17A5AD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E0BF8CDA-B9CC-4AC8-BDDD-0703AD7BD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IN-001 · IN-001-S03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A22B6904-E5D4-4D5F-B52D-1A85AB647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512496D4-E76A-452B-A4CC-825C53A9C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把场景写成可评测任务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9D9D4592-BA50-48EF-BF75-B8B3EC2EC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一句“用 AI 提升客服效率”仍然过于宽泛；可执行的任务描述至少包括六项；使用者、触发条件、输入资料、期望输出、完成时限和最终责任人；例如，可把它改写为“客服收到售后咨询后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7D019930-E48F-4B32-9202-D1435B15A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D05A79EE-3F97-4C9E-A589-57D811A36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优先试点的任务通常高频、边界稳定、结果可检查、数据可合法取得；而且失败后可以回到原流程；若资料权属不清、输出无法验证、错误会直接影响人身安全或重要权益</a:t>
            </a:r>
          </a:p>
        </p:txBody>
      </p:sp>
      <p:sp>
        <p:nvSpPr>
          <p:cNvPr id="11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469D215C-5296-4E33-9632-375CE3A95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3-takeaway">
            <a:extLst xmlns:a="http://schemas.openxmlformats.org/drawingml/2006/main">
              <a:ext uri="{FF2B5EF4-FFF2-40B4-BE49-F238E27FC236}">
                <a16:creationId xmlns:a16="http://schemas.microsoft.com/office/drawing/2014/main" id="{49D83DE1-C657-4F0E-9916-AC2D2104E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一句“用 AI 提升客服效率”仍然过于宽泛</a:t>
            </a:r>
          </a:p>
        </p:txBody>
      </p:sp>
    </p:spTree>
    <p:extLst>
      <p:ext uri="{BB962C8B-B14F-4D97-AF65-F5344CB8AC3E}">
        <p14:creationId xmlns:p14="http://schemas.microsoft.com/office/powerpoint/2010/main" val="148569887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5318389F-BAB6-448B-B3AA-DA6F978FE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E441FB2B-0C93-4962-810B-F02EF8D53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2 / 6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F828D3B1-2389-4790-8E74-34029C7E7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基线是没有 AI 时的真实表现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33FE1A99-35B6-4FDE-9B7A-B7A355B24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51CA6540-FF99-4E99-9A6C-CF7ACD3D5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IN-001 · IN-001-S04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CACCB43E-0BA8-45B1-AC48-A5DA44C5D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8F5ED636-5C53-4485-B064-077904A7B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先测基线，再讨论提升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54CD7910-BDE8-4CE6-B6A8-1D7737281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651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基线是没有 AI 时的真实表现。至少记录任务量、平均处理时长、等待时长、一次通过率、返工率、严重错误、人员成本和用户反馈。采样要覆盖繁忙期、低频异常和不同熟练度人员，不能只挑最容易的样本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067B8E89-C364-4519-8484-EAC4E1D91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81E16B2D-9ABC-47E1-BF8D-6E221AB1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质量指标应连接业务后果；知识问答不仅看答案是否通顺；还要看引用是否支持结论、规则版本是否有效、应转人工的问题是否被正确转交；内容生成不仅看数量；还要看事实错误、品牌一致性、授权状态和修改成本</a:t>
            </a:r>
          </a:p>
        </p:txBody>
      </p:sp>
      <p:sp>
        <p:nvSpPr>
          <p:cNvPr id="11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E04999E0-DCD7-4747-96BE-046AC528C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4-takeaway">
            <a:extLst xmlns:a="http://schemas.openxmlformats.org/drawingml/2006/main">
              <a:ext uri="{FF2B5EF4-FFF2-40B4-BE49-F238E27FC236}">
                <a16:creationId xmlns:a16="http://schemas.microsoft.com/office/drawing/2014/main" id="{75E0BF78-CBB9-41E5-8E1A-CADA62CC1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基线是没有 AI 时的真实表现</a:t>
            </a:r>
          </a:p>
        </p:txBody>
      </p:sp>
    </p:spTree>
    <p:extLst>
      <p:ext uri="{BB962C8B-B14F-4D97-AF65-F5344CB8AC3E}">
        <p14:creationId xmlns:p14="http://schemas.microsoft.com/office/powerpoint/2010/main" val="15315329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FED20D1B-3402-4A0B-A39F-843D19FD2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A4C7CB0E-29F7-4508-A117-334751B43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3 / 6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7EEC9D94-6012-4DE8-BA49-24F6D01A3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把方案设计成人机闭环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4DB5BB30-E176-48C6-8A1B-E8DF0C898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98368054-04AF-49AA-9B11-0484A5667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IN-001 · IN-001-S05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41BF5002-AD1E-4DE2-B7BF-BFE6AB7A4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C2EA45A3-30A4-4F12-A5F1-FF851ACC2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把方案设计成人机闭环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BCCD4E7C-9838-4044-8F70-8015814B9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稳定流程通常包含资料检索、草稿生成、规则校验、人工审批、正式交付和事后反馈；每一步都要回答三个问题；模型看得到什么，模型能做什么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34AC77CA-7506-456C-9F0F-0CC9F051D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7AD34FFE-F7EA-42E5-B9DC-CD9DBF34E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试点阶段宜采用“影子运行”或“双轨对照”；AI 先给建议但不直接改变业务结果；与原流程并行比较，通过抽样复核记录错误类型；而不是只统计平均分</a:t>
            </a:r>
          </a:p>
        </p:txBody>
      </p:sp>
      <p:sp>
        <p:nvSpPr>
          <p:cNvPr id="11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9A49D4CA-9234-437D-BC78-74E2E6609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5-takeaway">
            <a:extLst xmlns:a="http://schemas.openxmlformats.org/drawingml/2006/main">
              <a:ext uri="{FF2B5EF4-FFF2-40B4-BE49-F238E27FC236}">
                <a16:creationId xmlns:a16="http://schemas.microsoft.com/office/drawing/2014/main" id="{FCE7634F-7F7A-419B-AE1D-C1A452A9C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把方案设计成人机闭环</a:t>
            </a:r>
          </a:p>
        </p:txBody>
      </p:sp>
    </p:spTree>
    <p:extLst>
      <p:ext uri="{BB962C8B-B14F-4D97-AF65-F5344CB8AC3E}">
        <p14:creationId xmlns:p14="http://schemas.microsoft.com/office/powerpoint/2010/main" val="83406566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E5B5EB29-C01F-43D6-89AF-B66A407AE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8393FE4B-2B7F-4606-8A7D-63DA9F9BB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4 / 6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A522B168-D209-4CA0-910C-3C2A2AC1D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用完整成本计算 ROI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ECFF72C8-245B-44E7-B7E6-F8D41DAF5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A8E71C4E-15EE-460D-8BA4-D53AB8560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IN-001 · IN-001-S06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F4FA9F78-8009-48B2-89C7-2B0DCF62F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F9A30B20-9866-479B-AA72-A112FEB10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用完整成本计算 ROI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455A8D0B-E809-4464-BD1E-43161BA25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5261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收益可以来自节省工时、缩短等待、降低返工、减少损耗、提高产能或避免风险；成本则包括数据清理、系统集成、模型调用、算力、培训、人工审核、监控、安全、版权与持续维护；一次性投入应按合理周期分摊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8D3C26B5-01AC-465A-A4C8-0C3DE972B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487EEC3D-84A0-47C4-AAF0-9ED6532CB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可使用下列口径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704CD798-4DDD-472D-939E-144FE84F0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DCB9BFF0-B5A0-48F7-98BF-1A0DEFEE1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月度净收益 = 可核验收益 − 模型与运行成本 − 审核与返工成本 − 集成分摊 − 风险准备 ROI = 月度净收益 ÷ 月度增量投入</a:t>
            </a:r>
          </a:p>
        </p:txBody>
      </p:sp>
      <p:sp>
        <p:nvSpPr>
          <p:cNvPr id="13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87A9040A-727B-401E-A66F-C2C384477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4" name="s6-takeaway">
            <a:extLst xmlns:a="http://schemas.openxmlformats.org/drawingml/2006/main">
              <a:ext uri="{FF2B5EF4-FFF2-40B4-BE49-F238E27FC236}">
                <a16:creationId xmlns:a16="http://schemas.microsoft.com/office/drawing/2014/main" id="{A1403538-8C4A-4F39-8C7F-46C6417E4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用完整成本计算 ROI</a:t>
            </a:r>
          </a:p>
        </p:txBody>
      </p:sp>
    </p:spTree>
    <p:extLst>
      <p:ext uri="{BB962C8B-B14F-4D97-AF65-F5344CB8AC3E}">
        <p14:creationId xmlns:p14="http://schemas.microsoft.com/office/powerpoint/2010/main" val="26949150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90671825-1B3B-44E8-A8DF-C74E9A01E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2DFC4BD7-DF8C-4351-9052-127F6F71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5 / 6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934C0F66-6B3B-494D-8187-D624C6C59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以下数字仅用于演示算法，不代表任何企业的实际表现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B43CA108-AA05-4E23-AF34-485D37E78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10038C1F-4F3A-4E57-BFE0-B7199F06C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IN-001 · IN-001-S07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3B38B420-6D0C-4D25-B18E-6D39DB9DF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5F684D92-E43C-4A32-B5AD-9E4EA95DF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一个可计算的假设示例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EC4C0385-CE76-494F-855B-A9807BF0C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以下数字仅用于演示算法；不代表任何企业的实际表现；假设某团队每月处理 10,000 个低风险文本任务；人工平均每项 12 分钟；含管理与福利的小时成本假设为 90 元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35D8ED11-2055-482F-8852-705C0C7A9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15F0293E-76B7-459B-B45B-60386B966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再假设每月模型与运维为 2 万至 3.5 万元；集成分摊为 1.5 万至 2.5 万元；质量抽检与风险准备为 0.8 万至 1.5 万元；月度增量投入为 4.3 万至 7.5 万元</a:t>
            </a:r>
          </a:p>
        </p:txBody>
      </p:sp>
      <p:sp>
        <p:nvSpPr>
          <p:cNvPr id="11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D6E4C9B1-2F67-40D8-B6CD-7380904DB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7-takeaway">
            <a:extLst xmlns:a="http://schemas.openxmlformats.org/drawingml/2006/main">
              <a:ext uri="{FF2B5EF4-FFF2-40B4-BE49-F238E27FC236}">
                <a16:creationId xmlns:a16="http://schemas.microsoft.com/office/drawing/2014/main" id="{0799985C-705D-4AB7-8C19-57513C63F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以下数字仅用于演示算法，不代表任何企业的实际表现</a:t>
            </a:r>
          </a:p>
        </p:txBody>
      </p:sp>
    </p:spTree>
    <p:extLst>
      <p:ext uri="{BB962C8B-B14F-4D97-AF65-F5344CB8AC3E}">
        <p14:creationId xmlns:p14="http://schemas.microsoft.com/office/powerpoint/2010/main" val="210099334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675BCA9F-D33D-455E-B5B2-09F0A58B9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D2A1D671-A278-46B4-BC43-8D57CF1A1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6 / 6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19DA0C5C-59D7-47BD-8CC5-797A218A1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成功标准必须在试点前确定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6295F0E7-6347-40DA-93A6-AD295B0E1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A8A5E544-FBCF-4929-B4F2-DE264A0B8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IN-001 · IN-001-S08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5F6E70C3-B83B-4193-918D-D9F32CD02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DDE08F6E-F99B-4342-93D8-267AE81E3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推广门槛与停止条件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A5BFD1BB-0900-44AE-B581-8383B61FF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成功标准必须在试点前确定；例如关键质量不低于现状、单位任务总成本下降、合规审查通过、人工接管可用；并且一线人员愿意持续使用；推广应逐步扩大任务类型和用户范围；每次扩展都重新测量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E12E7BE8-C13F-45FF-B84B-8834E6522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C605E277-D6A5-4297-8D9E-5297798F8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停止条件同样重要，出现未经授权的数据访问或披露；应立即暂停，关键错误超过事先约定上限；应退回人工流程并调查；连续两个评测周期未达到质量或成本门槛；应停止扩展，供应商、规则或数据发生重大变化</a:t>
            </a:r>
          </a:p>
        </p:txBody>
      </p:sp>
      <p:sp>
        <p:nvSpPr>
          <p:cNvPr id="11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0EB24D0B-7AC6-4C16-9AF5-340A46796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8-takeaway">
            <a:extLst xmlns:a="http://schemas.openxmlformats.org/drawingml/2006/main">
              <a:ext uri="{FF2B5EF4-FFF2-40B4-BE49-F238E27FC236}">
                <a16:creationId xmlns:a16="http://schemas.microsoft.com/office/drawing/2014/main" id="{E8546499-279E-4BEA-9D0D-3BFFAB067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成功标准必须在试点前确定</a:t>
            </a:r>
          </a:p>
        </p:txBody>
      </p:sp>
    </p:spTree>
    <p:extLst>
      <p:ext uri="{BB962C8B-B14F-4D97-AF65-F5344CB8AC3E}">
        <p14:creationId xmlns:p14="http://schemas.microsoft.com/office/powerpoint/2010/main" val="21900102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C8D3B56C-5F41-4771-A6C8-A524C7765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266A7DF2-43D3-4C49-836B-FBD579BE5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案例与边界 1 / 2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D5D25E83-92F3-4116-89F0-4CA6364E4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试点只有质量与成本同时达标才值得扩展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13466A9E-56D3-4225-80A9-050ECEC62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D651683F-B7D9-4A75-A6E8-821AA3BBD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IN-001 · IN-001-S09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09D8768B-41DD-4A00-8787-422FE197B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744027"/>
          </a:solidFill>
          <a:ln xmlns:a="http://schemas.openxmlformats.org/drawingml/2006/main" w="0">
            <a:solidFill>
              <a:srgbClr val="74402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企业制度问答试点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DBAA2CCE-8F68-4D67-B2AA-BD5A40FAE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场景｜员工经常询问差旅、采购和报销规则，人工服务台重复检索文件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02BE1AEC-2C69-46C6-8EF2-567111121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65512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设计｜只接入已批准且仍有效的制度，回答必须附引用；涉及例外审批、劳动关系或个人敏感信息时转人工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44366778-5EC9-479E-ACC3-88E259F4A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956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61559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测量｜对比平均等待时间、一次解决率、引用正确率、人工接管率和单位问题总成本，并记录过期规则造成的错误</a:t>
            </a:r>
          </a:p>
        </p:txBody>
      </p:sp>
      <p:sp>
        <p:nvSpPr>
          <p:cNvPr id="10" name="case-row-3">
            <a:extLst xmlns:a="http://schemas.openxmlformats.org/drawingml/2006/main">
              <a:ext uri="{FF2B5EF4-FFF2-40B4-BE49-F238E27FC236}">
                <a16:creationId xmlns:a16="http://schemas.microsoft.com/office/drawing/2014/main" id="{616E2862-95E6-4F5C-BF06-2D9F736E0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243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决策｜只有质量不低于人工基线且总成本在保守假设下仍下降，才扩大覆盖范围</a:t>
            </a:r>
          </a:p>
        </p:txBody>
      </p:sp>
      <p:sp>
        <p:nvSpPr>
          <p:cNvPr id="11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042BBF61-E85C-48AA-885A-77A9E63B1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9-takeaway">
            <a:extLst xmlns:a="http://schemas.openxmlformats.org/drawingml/2006/main">
              <a:ext uri="{FF2B5EF4-FFF2-40B4-BE49-F238E27FC236}">
                <a16:creationId xmlns:a16="http://schemas.microsoft.com/office/drawing/2014/main" id="{D047FB29-B51A-4B5B-B408-AFC29CDEA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试点只有质量与成本同时达标才值得扩展</a:t>
            </a:r>
          </a:p>
        </p:txBody>
      </p:sp>
    </p:spTree>
    <p:extLst>
      <p:ext uri="{BB962C8B-B14F-4D97-AF65-F5344CB8AC3E}">
        <p14:creationId xmlns:p14="http://schemas.microsoft.com/office/powerpoint/2010/main" val="38607511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E2427349-52F7-40DA-A0F8-7963B1CA3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4F389CD0-7A3F-4D06-8CA4-7A5F0BD7D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案例与边界 2 / 2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DAC2C490-158B-4C50-8FD3-83418F684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从演示到闭环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25014AE0-B2AE-43F5-B613-ADB4D8907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9688E158-3522-4791-ACE5-22244438E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IN-001 · IN-001-S10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C5BC596A-B5BB-4A05-BD91-8ED93307A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744027"/>
          </a:solidFill>
          <a:ln xmlns:a="http://schemas.openxmlformats.org/drawingml/2006/main" w="0">
            <a:solidFill>
              <a:srgbClr val="74402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从演示到闭环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6AA54462-B479-4A46-8FEF-E2A2321DA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574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演示｜模型根据一份材料生成看似完整的回答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BDE538BB-9FCD-479D-9B00-5F0FFA167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861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闭环｜系统先校验用户权限，再检索有效资料，生成带出处的草稿，由责任人审批，交付后把纠错反馈写回评测集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72609B32-4AB3-4EA0-A228-CAD7B5825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1148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差异｜前者展示模型能力，后者才能测量业务结果、约束风险并持续改进</a:t>
            </a:r>
          </a:p>
        </p:txBody>
      </p:sp>
      <p:sp>
        <p:nvSpPr>
          <p:cNvPr id="10" name="s10-takeaway-rule">
            <a:extLst xmlns:a="http://schemas.openxmlformats.org/drawingml/2006/main">
              <a:ext uri="{FF2B5EF4-FFF2-40B4-BE49-F238E27FC236}">
                <a16:creationId xmlns:a16="http://schemas.microsoft.com/office/drawing/2014/main" id="{52839893-AE32-4DEA-9E89-88880EDE4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1" name="s10-takeaway">
            <a:extLst xmlns:a="http://schemas.openxmlformats.org/drawingml/2006/main">
              <a:ext uri="{FF2B5EF4-FFF2-40B4-BE49-F238E27FC236}">
                <a16:creationId xmlns:a16="http://schemas.microsoft.com/office/drawing/2014/main" id="{AB54A642-173B-411C-8072-9B7532F33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从演示到闭环</a:t>
            </a:r>
          </a:p>
        </p:txBody>
      </p:sp>
    </p:spTree>
    <p:extLst>
      <p:ext uri="{BB962C8B-B14F-4D97-AF65-F5344CB8AC3E}">
        <p14:creationId xmlns:p14="http://schemas.microsoft.com/office/powerpoint/2010/main" val="6797338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9A9A4BB7-A094-4F97-806D-019742174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F50CAB27-4333-4DE2-8C5F-52D28C100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2D2D979D-864A-492F-A1A2-8B3ED9EBB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行业 AI 落地与 ROI：一次可验收练习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A052230E-F5A3-489A-B508-A30FE45CE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FBC71A5C-1E32-487B-9EE5-7B25F9C0E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IN-001 · IN-001-S11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16057B2D-A82F-40BB-B568-3140D6515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984F2046-77F7-4B6A-8324-3F2BEE406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091635AA-5F1E-4D64-9147-565021A7E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选择一个熟悉的高频任务，写出使用者、输入、输出、责任人和不可自动化的部分，并用代表性样本测量现状基线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946856A2-3E31-4D86-BBDE-6306C7940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71972BAF-C163-4669-839D-7589C1B0F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D9774060-2DB7-4448-A43B-14330E108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6B8A9C8F-43D0-4C73-8BF2-88EA0F02A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列出收益、一次性投入和持续成本，分别设置保守、基准、乐观三组假设，计算净收益与 ROI 区间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04EFEA6B-6679-4BF5-8890-8390CAA26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CD08845D-27F4-4CED-B2C1-599022018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A3F16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A9374991-E8A2-45F3-875E-DCA00C67A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062D41AC-0E34-43A5-AEF9-8558EFF03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写下三个推广门槛、两个停止条件和一条可立即执行的人工回退路径，再请同伴检查假设是否可验证</a:t>
            </a:r>
          </a:p>
        </p:txBody>
      </p:sp>
    </p:spTree>
    <p:extLst>
      <p:ext uri="{BB962C8B-B14F-4D97-AF65-F5344CB8AC3E}">
        <p14:creationId xmlns:p14="http://schemas.microsoft.com/office/powerpoint/2010/main" val="201355292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2-rule">
            <a:extLst xmlns:a="http://schemas.openxmlformats.org/drawingml/2006/main">
              <a:ext uri="{FF2B5EF4-FFF2-40B4-BE49-F238E27FC236}">
                <a16:creationId xmlns:a16="http://schemas.microsoft.com/office/drawing/2014/main" id="{193D5C1E-6C5B-424D-AB85-8FF3B9BEF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2-eyebrow">
            <a:extLst xmlns:a="http://schemas.openxmlformats.org/drawingml/2006/main">
              <a:ext uri="{FF2B5EF4-FFF2-40B4-BE49-F238E27FC236}">
                <a16:creationId xmlns:a16="http://schemas.microsoft.com/office/drawing/2014/main" id="{2FE277EE-2987-4304-AB87-344DD40B3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2-title">
            <a:extLst xmlns:a="http://schemas.openxmlformats.org/drawingml/2006/main">
              <a:ext uri="{FF2B5EF4-FFF2-40B4-BE49-F238E27FC236}">
                <a16:creationId xmlns:a16="http://schemas.microsoft.com/office/drawing/2014/main" id="{6CACB4EF-DAD2-40B8-A9F5-EA4EBBE20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行业 AI 落地与 ROI：判断时先抓住三点</a:t>
            </a:r>
          </a:p>
        </p:txBody>
      </p:sp>
      <p:sp>
        <p:nvSpPr>
          <p:cNvPr id="4" name="s12-footer">
            <a:extLst xmlns:a="http://schemas.openxmlformats.org/drawingml/2006/main">
              <a:ext uri="{FF2B5EF4-FFF2-40B4-BE49-F238E27FC236}">
                <a16:creationId xmlns:a16="http://schemas.microsoft.com/office/drawing/2014/main" id="{80D9C438-5CAD-421F-84EF-B05206606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2-identity">
            <a:extLst xmlns:a="http://schemas.openxmlformats.org/drawingml/2006/main">
              <a:ext uri="{FF2B5EF4-FFF2-40B4-BE49-F238E27FC236}">
                <a16:creationId xmlns:a16="http://schemas.microsoft.com/office/drawing/2014/main" id="{9B9ACE8F-8FDC-400F-9882-76EBC805B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IN-001 · IN-001-S12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C10C04EA-985E-4ABF-939D-970A686E7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5581EC07-81AC-4EF5-A619-C8AFFD922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112D250F-6AB8-4D4D-A914-A84EAD9ED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一句“用 AI 提升客服效率”仍然过于宽泛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C190A3F8-E4AB-4297-BACA-3221FD903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7BC2D9BB-63C4-408B-BFDB-00088AC27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05118521-61FF-4FDB-B274-5F3471730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3872CCAA-A904-4196-AAA5-1C72F30CD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把方案设计成人机闭环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326B2A32-C3C3-43DA-A001-65EF4FEB4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D02F504D-B572-48FE-A628-05EA76923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A3F16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B8D948D9-CFB2-4D48-B123-E4CFCC5A3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E1869728-7902-42B1-912A-8F7BACBE0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成功标准必须在试点前确定</a:t>
            </a:r>
          </a:p>
        </p:txBody>
      </p:sp>
    </p:spTree>
    <p:extLst>
      <p:ext uri="{BB962C8B-B14F-4D97-AF65-F5344CB8AC3E}">
        <p14:creationId xmlns:p14="http://schemas.microsoft.com/office/powerpoint/2010/main" val="125088197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3-rule">
            <a:extLst xmlns:a="http://schemas.openxmlformats.org/drawingml/2006/main">
              <a:ext uri="{FF2B5EF4-FFF2-40B4-BE49-F238E27FC236}">
                <a16:creationId xmlns:a16="http://schemas.microsoft.com/office/drawing/2014/main" id="{8D74E5D5-EEBD-43F6-8011-D5AC5AFB6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3-eyebrow">
            <a:extLst xmlns:a="http://schemas.openxmlformats.org/drawingml/2006/main">
              <a:ext uri="{FF2B5EF4-FFF2-40B4-BE49-F238E27FC236}">
                <a16:creationId xmlns:a16="http://schemas.microsoft.com/office/drawing/2014/main" id="{E9E219AD-ED53-439E-9161-164F85196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3-title">
            <a:extLst xmlns:a="http://schemas.openxmlformats.org/drawingml/2006/main">
              <a:ext uri="{FF2B5EF4-FFF2-40B4-BE49-F238E27FC236}">
                <a16:creationId xmlns:a16="http://schemas.microsoft.com/office/drawing/2014/main" id="{528644F3-9FD6-4693-A3C3-8E38F79D0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行业 AI 落地与 ROI：依据、边界与延伸</a:t>
            </a:r>
          </a:p>
        </p:txBody>
      </p:sp>
      <p:sp>
        <p:nvSpPr>
          <p:cNvPr id="4" name="s13-footer">
            <a:extLst xmlns:a="http://schemas.openxmlformats.org/drawingml/2006/main">
              <a:ext uri="{FF2B5EF4-FFF2-40B4-BE49-F238E27FC236}">
                <a16:creationId xmlns:a16="http://schemas.microsoft.com/office/drawing/2014/main" id="{9685E289-83AB-4BDE-B19B-B12D7326B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3-identity">
            <a:extLst xmlns:a="http://schemas.openxmlformats.org/drawingml/2006/main">
              <a:ext uri="{FF2B5EF4-FFF2-40B4-BE49-F238E27FC236}">
                <a16:creationId xmlns:a16="http://schemas.microsoft.com/office/drawing/2014/main" id="{04EEF58F-B2E2-4B0F-8CB1-A5C90F702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IN-001 · IN-001-S13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E91004A4-1925-48A0-90CF-2944392A2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B9BBB8D9-218F-4E41-8092-ADCDF2434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NIST：Artificial Intelligence Risk Management Framework（AI RMF 1.0）：面向组织的自愿性 AI 风险管理框架</a:t>
            </a:r>
          </a:p>
        </p:txBody>
      </p:sp>
      <p:sp>
        <p:nvSpPr>
          <p:cNvPr id="8" name="source-2">
            <a:extLst xmlns:a="http://schemas.openxmlformats.org/drawingml/2006/main">
              <a:ext uri="{FF2B5EF4-FFF2-40B4-BE49-F238E27FC236}">
                <a16:creationId xmlns:a16="http://schemas.microsoft.com/office/drawing/2014/main" id="{D66031D6-CA70-4060-9308-6EF56955B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147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03  ISO/IEC 42001:2023：人工智能管理体系要求；使用时应核对具体版本和适用范围</a:t>
            </a:r>
          </a:p>
        </p:txBody>
      </p:sp>
      <p:sp>
        <p:nvSpPr>
          <p:cNvPr id="9" name="source-3">
            <a:extLst xmlns:a="http://schemas.openxmlformats.org/drawingml/2006/main">
              <a:ext uri="{FF2B5EF4-FFF2-40B4-BE49-F238E27FC236}">
                <a16:creationId xmlns:a16="http://schemas.microsoft.com/office/drawing/2014/main" id="{23FCEDD9-BE98-4E9F-95C1-AD67FBE08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005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04  建议结合所在组织的财务核算、数据分级、信息安全、采购与审计制度，建立自己的指标字典</a:t>
            </a:r>
          </a:p>
        </p:txBody>
      </p:sp>
      <p:sp>
        <p:nvSpPr>
          <p:cNvPr id="10" name="s13-takeaway-rule">
            <a:extLst xmlns:a="http://schemas.openxmlformats.org/drawingml/2006/main">
              <a:ext uri="{FF2B5EF4-FFF2-40B4-BE49-F238E27FC236}">
                <a16:creationId xmlns:a16="http://schemas.microsoft.com/office/drawing/2014/main" id="{17A1CFCB-F90C-4F7F-A819-4DED322FE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1" name="s13-takeaway">
            <a:extLst xmlns:a="http://schemas.openxmlformats.org/drawingml/2006/main">
              <a:ext uri="{FF2B5EF4-FFF2-40B4-BE49-F238E27FC236}">
                <a16:creationId xmlns:a16="http://schemas.microsoft.com/office/drawing/2014/main" id="{F5B12498-25D3-4450-9FCF-3E36DCCC0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公开幻灯片只使用课程原创文字与原生图形；完整论证、链接和事实边界请见本节讲义。</a:t>
            </a:r>
          </a:p>
        </p:txBody>
      </p:sp>
    </p:spTree>
    <p:extLst>
      <p:ext uri="{BB962C8B-B14F-4D97-AF65-F5344CB8AC3E}">
        <p14:creationId xmlns:p14="http://schemas.microsoft.com/office/powerpoint/2010/main" val="4211113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2026-07-11T16:55:53.3610000Z</dcterms:created>
  <dcterms:modified xsi:type="dcterms:W3CDTF">2026-07-11T16:55:53.3610000Z</dcterms:modified>
</coreProperties>
</file>