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56d34568954e23" /><Relationship Type="http://schemas.openxmlformats.org/officeDocument/2006/relationships/extended-properties" Target="/docProps/app.xml" Id="R39ad65c2a1bd47d7" /><Relationship Type="http://schemas.openxmlformats.org/officeDocument/2006/relationships/officeDocument" Target="/ppt/presentation.xml" Id="Rec534ba4726645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1faee184204e0a"/>
  </p:sldMasterIdLst>
  <p:notesMasterIdLst>
    <p:notesMasterId xmlns:r="http://schemas.openxmlformats.org/officeDocument/2006/relationships" r:id="R057a546ed77547a1"/>
  </p:notesMasterIdLst>
  <p:sldIdLst>
    <p:sldId xmlns:r="http://schemas.openxmlformats.org/officeDocument/2006/relationships" id="256" r:id="R2c1f983e5aa44013"/>
    <p:sldId xmlns:r="http://schemas.openxmlformats.org/officeDocument/2006/relationships" id="257" r:id="Rd975f8b1ea6f48e7"/>
    <p:sldId xmlns:r="http://schemas.openxmlformats.org/officeDocument/2006/relationships" id="258" r:id="Raa95008d8e374e97"/>
    <p:sldId xmlns:r="http://schemas.openxmlformats.org/officeDocument/2006/relationships" id="259" r:id="Rc650c2f7e70a463b"/>
    <p:sldId xmlns:r="http://schemas.openxmlformats.org/officeDocument/2006/relationships" id="260" r:id="Rfdb6bbe39696479e"/>
    <p:sldId xmlns:r="http://schemas.openxmlformats.org/officeDocument/2006/relationships" id="261" r:id="R08aea5abafeb4545"/>
    <p:sldId xmlns:r="http://schemas.openxmlformats.org/officeDocument/2006/relationships" id="262" r:id="R3c0fa7ccfd58475a"/>
    <p:sldId xmlns:r="http://schemas.openxmlformats.org/officeDocument/2006/relationships" id="263" r:id="R2e606c88c62342d2"/>
    <p:sldId xmlns:r="http://schemas.openxmlformats.org/officeDocument/2006/relationships" id="264" r:id="R7b68239181804cd1"/>
    <p:sldId xmlns:r="http://schemas.openxmlformats.org/officeDocument/2006/relationships" id="265" r:id="Rcc394612783744f9"/>
    <p:sldId xmlns:r="http://schemas.openxmlformats.org/officeDocument/2006/relationships" id="266" r:id="Ra707b7ba85b346e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3c4f1251ab4c48" /><Relationship Type="http://schemas.openxmlformats.org/officeDocument/2006/relationships/slideMaster" Target="/ppt/slideMasters/slideMaster1.xml" Id="R981faee184204e0a" /><Relationship Type="http://schemas.openxmlformats.org/officeDocument/2006/relationships/notesMaster" Target="/ppt/notesMasters/notesMaster1.xml" Id="R057a546ed77547a1" /><Relationship Type="http://schemas.openxmlformats.org/officeDocument/2006/relationships/presProps" Target="/ppt/presProps.xml" Id="R8d9b58272e414e40" /><Relationship Type="http://schemas.openxmlformats.org/officeDocument/2006/relationships/tableStyles" Target="/ppt/tableStyles.xml" Id="Rb0c25dffb1624e20" /><Relationship Type="http://schemas.openxmlformats.org/officeDocument/2006/relationships/slide" Target="/ppt/slides/slide1.xml" Id="R2c1f983e5aa44013" /><Relationship Type="http://schemas.openxmlformats.org/officeDocument/2006/relationships/slide" Target="/ppt/slides/slide2.xml" Id="Rd975f8b1ea6f48e7" /><Relationship Type="http://schemas.openxmlformats.org/officeDocument/2006/relationships/slide" Target="/ppt/slides/slide3.xml" Id="Raa95008d8e374e97" /><Relationship Type="http://schemas.openxmlformats.org/officeDocument/2006/relationships/slide" Target="/ppt/slides/slide4.xml" Id="Rc650c2f7e70a463b" /><Relationship Type="http://schemas.openxmlformats.org/officeDocument/2006/relationships/slide" Target="/ppt/slides/slide5.xml" Id="Rfdb6bbe39696479e" /><Relationship Type="http://schemas.openxmlformats.org/officeDocument/2006/relationships/slide" Target="/ppt/slides/slide6.xml" Id="R08aea5abafeb4545" /><Relationship Type="http://schemas.openxmlformats.org/officeDocument/2006/relationships/slide" Target="/ppt/slides/slide7.xml" Id="R3c0fa7ccfd58475a" /><Relationship Type="http://schemas.openxmlformats.org/officeDocument/2006/relationships/slide" Target="/ppt/slides/slide8.xml" Id="R2e606c88c62342d2" /><Relationship Type="http://schemas.openxmlformats.org/officeDocument/2006/relationships/slide" Target="/ppt/slides/slide9.xml" Id="R7b68239181804cd1" /><Relationship Type="http://schemas.openxmlformats.org/officeDocument/2006/relationships/slide" Target="/ppt/slides/slide10.xml" Id="Rcc394612783744f9" /><Relationship Type="http://schemas.openxmlformats.org/officeDocument/2006/relationships/slide" Target="/ppt/slides/slide11.xml" Id="Ra707b7ba85b346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1a95eaab6641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80dc0520f74bbb" /><Relationship Type="http://schemas.openxmlformats.org/officeDocument/2006/relationships/notesMaster" Target="/ppt/notesMasters/notesMaster1.xml" Id="R7128e9b31a1549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57217c811341b3" /><Relationship Type="http://schemas.openxmlformats.org/officeDocument/2006/relationships/notesMaster" Target="/ppt/notesMasters/notesMaster1.xml" Id="R222ccdb1bc8b4e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519399de5d843b3" /><Relationship Type="http://schemas.openxmlformats.org/officeDocument/2006/relationships/notesMaster" Target="/ppt/notesMasters/notesMaster1.xml" Id="Rd9073ec8a24f4c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0db3a085254fba" /><Relationship Type="http://schemas.openxmlformats.org/officeDocument/2006/relationships/notesMaster" Target="/ppt/notesMasters/notesMaster1.xml" Id="R5006df5b3b5a40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78511f9d5e4839" /><Relationship Type="http://schemas.openxmlformats.org/officeDocument/2006/relationships/notesMaster" Target="/ppt/notesMasters/notesMaster1.xml" Id="R757541b6716245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3505d5c75c471c" /><Relationship Type="http://schemas.openxmlformats.org/officeDocument/2006/relationships/notesMaster" Target="/ppt/notesMasters/notesMaster1.xml" Id="Rf6166a91b55342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115ceba2c948ce" /><Relationship Type="http://schemas.openxmlformats.org/officeDocument/2006/relationships/notesMaster" Target="/ppt/notesMasters/notesMaster1.xml" Id="R0ac41226f5604c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ea25562e2b49ab" /><Relationship Type="http://schemas.openxmlformats.org/officeDocument/2006/relationships/notesMaster" Target="/ppt/notesMasters/notesMaster1.xml" Id="R3c04fa7d56884b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f6865824644418" /><Relationship Type="http://schemas.openxmlformats.org/officeDocument/2006/relationships/notesMaster" Target="/ppt/notesMasters/notesMaster1.xml" Id="Rfe96ebc6523147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a780d53700142b4" /><Relationship Type="http://schemas.openxmlformats.org/officeDocument/2006/relationships/notesMaster" Target="/ppt/notesMasters/notesMaster1.xml" Id="R38192a61dafa46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c793afbb7b43c3" /><Relationship Type="http://schemas.openxmlformats.org/officeDocument/2006/relationships/notesMaster" Target="/ppt/notesMasters/notesMaster1.xml" Id="R52433ec60cc144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b24a5f43dc44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32064605174185" /><Relationship Type="http://schemas.openxmlformats.org/officeDocument/2006/relationships/slideLayout" Target="/ppt/slideLayouts/slideLayout1.xml" Id="R044bc77fc69b49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4bc77fc69b49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a4044275e4840" /><Relationship Type="http://schemas.openxmlformats.org/officeDocument/2006/relationships/notesSlide" Target="/ppt/notesSlides/notesSlide1.xml" Id="Rcc7dd649fc5a4c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82e4af1e84286" /><Relationship Type="http://schemas.openxmlformats.org/officeDocument/2006/relationships/notesSlide" Target="/ppt/notesSlides/notesSlide2.xml" Id="R304f6723753643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38322ab804d4a" /><Relationship Type="http://schemas.openxmlformats.org/officeDocument/2006/relationships/notesSlide" Target="/ppt/notesSlides/notesSlide3.xml" Id="Rff6b0ee68b1941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c7fd61d1434772" /><Relationship Type="http://schemas.openxmlformats.org/officeDocument/2006/relationships/notesSlide" Target="/ppt/notesSlides/notesSlide4.xml" Id="Rd5e5c4217ffb43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b28b5e1524eee" /><Relationship Type="http://schemas.openxmlformats.org/officeDocument/2006/relationships/notesSlide" Target="/ppt/notesSlides/notesSlide5.xml" Id="Rf4f25a4d024749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87ee9c3504d47" /><Relationship Type="http://schemas.openxmlformats.org/officeDocument/2006/relationships/notesSlide" Target="/ppt/notesSlides/notesSlide6.xml" Id="Ra0023e5d5d1b4f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2cf3eebd44313" /><Relationship Type="http://schemas.openxmlformats.org/officeDocument/2006/relationships/notesSlide" Target="/ppt/notesSlides/notesSlide7.xml" Id="Ra923c03ab06243f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beecd02c44e96" /><Relationship Type="http://schemas.openxmlformats.org/officeDocument/2006/relationships/notesSlide" Target="/ppt/notesSlides/notesSlide8.xml" Id="R5c76ebacb31c4b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85bc7f8e74615" /><Relationship Type="http://schemas.openxmlformats.org/officeDocument/2006/relationships/notesSlide" Target="/ppt/notesSlides/notesSlide9.xml" Id="R95de01fa143a43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4179d06f8461d" /><Relationship Type="http://schemas.openxmlformats.org/officeDocument/2006/relationships/notesSlide" Target="/ppt/notesSlides/notesSlide10.xml" Id="R9957da8d362342f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a9caf9e494fed" /><Relationship Type="http://schemas.openxmlformats.org/officeDocument/2006/relationships/notesSlide" Target="/ppt/notesSlides/notesSlide11.xml" Id="R8421c480d8c1429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8BA8094C-4124-48CA-B75C-E487F495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421CE4F9-6336-4407-B6C3-8042CC95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F235E614-AF22-4570-9935-A4F88DD9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5A8098BE-EB64-47E8-A7C9-8E7A0030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AC5D2A6A-12E4-44E0-A739-6115C327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808E245C-EDE5-4928-BEDE-B4760BF1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A872A28C-27F4-44A2-9573-870CE55C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A634CA2-3990-4915-ACF8-F9F1F218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运动控制、强化学习与 Sim-to-Real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564D229-0128-40FA-AB64-735E5899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从状态、动作和奖励进入策略训练、仿真验证与真实机器人部署。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2ECAE4E2-7ACD-4817-90F5-6CF26929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让人形机器人走起来，不只是生成一段关节动作，而是持续处理平衡、接触、扰动和执行器约束。步态控制把感知、动力学、规划与反馈连接成实时闭环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8D0A3076-91C8-4A28-AEE5-A1368A70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9E768B93-B73A-4A04-B6DC-D6EF7258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EM-004 · EM-004-S01</a:t>
            </a:r>
          </a:p>
        </p:txBody>
      </p:sp>
    </p:spTree>
    <p:extLst>
      <p:ext uri="{BB962C8B-B14F-4D97-AF65-F5344CB8AC3E}">
        <p14:creationId xmlns:p14="http://schemas.microsoft.com/office/powerpoint/2010/main" val="1992984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75E64FB-31DB-4DCE-BA00-3124C724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8F332F3D-1011-4F1E-A413-C2FC0953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9108E648-EB75-4941-933D-6EE5FC7F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运动控制与迁移：2项学习结果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739809D3-2257-4036-846C-2F201F45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8C312B4E-4C88-41FC-9AD6-346F6913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30BCDEA-41FA-406D-8AE1-044D79E9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解释状态、动作、奖励和策略如何形成机器人强化学习任务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BD8CA39-FF82-442A-8510-53EE9F0A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说明域随机化、安全约束和分阶段测试如何降低 Sim-to-Real 风险</a:t>
            </a:r>
          </a:p>
        </p:txBody>
      </p:sp>
    </p:spTree>
    <p:extLst>
      <p:ext uri="{BB962C8B-B14F-4D97-AF65-F5344CB8AC3E}">
        <p14:creationId xmlns:p14="http://schemas.microsoft.com/office/powerpoint/2010/main" val="434139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A8E3DE80-8DB8-405A-847F-49E6157D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BA2FA8E9-C6DD-4279-9D80-831DB8E1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057772C-F2D7-4851-A0F7-C24EF48B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D29836CD-D404-444A-A764-888829BC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9064D1F7-E4AA-46B0-AA2D-DC413C66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DE5738A-1CDA-43BF-80CB-27921ABA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94C7CD5-0AE8-4BB0-9AAD-E333FFFB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步态周期：支撑相与摆动相的连续切换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66FF5A4-6890-45B7-B9E4-049E80AC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步行可以分解为支撑相和摆动相：一条腿承担身体重量，另一条腿向下一落脚点移动。双足系统还会经历单支撑和双支撑切换，任何时刻都要控制质心与接触力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C5BFF76-AAD1-4296-87D1-5B45B42E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EB645A1-1C7E-470A-A53C-2E91213F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步态质量不仅看速度，还要观察稳定性、能耗、足端打滑、关节冲击与对扰动的恢复能力。不同地形和任务需要不同的指标权重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766ACA15-6088-41F1-8EE9-DAFAE4CC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8DEE3534-4F79-4426-A20B-F0277127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</p:spTree>
    <p:extLst>
      <p:ext uri="{BB962C8B-B14F-4D97-AF65-F5344CB8AC3E}">
        <p14:creationId xmlns:p14="http://schemas.microsoft.com/office/powerpoint/2010/main" val="14210041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0BED30CC-61E8-4D49-939F-D37DB878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7D523CC5-2588-4F4F-AD7B-C5B2147C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7434E46B-76BB-4E0A-BEF8-3AB5F5E4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人工或动作捕捉数据可以提供自然运动参考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25187161-0238-44F1-B315-53E83FB3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6B07BED-93C6-42D5-A62C-AAE64967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B45D8BF-C82D-4A66-9E33-7135056F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FBD9CCD-870A-4680-AEF9-40A22A0B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三类控制路线：数据、模型与学习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C978B1C-FC26-4E52-8EA6-93639369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人工或动作捕捉数据可以提供自然运动参考；基于模型的方法用动力学、轨迹优化和反馈控制计算动作；学习方法则从大量交互中优化策略。真实系统常把三者组合起来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C821172-C048-46D0-BF84-503EED9E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5E17DDB-6FC2-431D-B9B9-D894D028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线性倒立摆和零力矩点等模型用简化动力学描述平衡条件，便于解释和约束控制。它们不是完整人体动力学，但能为学习策略提供先验、参考轨迹或安全边界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F7CA7BF5-4F5E-4EDF-B94F-D9FD66F9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5DAE55C7-E856-4044-9698-B07E093D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人工或动作捕捉数据可以提供自然运动参考</a:t>
            </a:r>
          </a:p>
        </p:txBody>
      </p:sp>
    </p:spTree>
    <p:extLst>
      <p:ext uri="{BB962C8B-B14F-4D97-AF65-F5344CB8AC3E}">
        <p14:creationId xmlns:p14="http://schemas.microsoft.com/office/powerpoint/2010/main" val="5665946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45B8E5B5-28D2-4C16-878C-5989C6D0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7A7E35F6-6E85-4081-AC82-A2B5E16F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1C301651-CD7C-446E-B5C3-11C8ADDA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强化学习把观测、动作与奖励连成控制闭环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5BBFAA0-32EC-477B-8124-DABC6B98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46392B9A-9898-4230-9587-0E02C5BE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41FE73F-039E-45F8-91B8-69A61B64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2358569-6204-4692-8F31-6B5F7655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强化学习：把控制任务写成可优化问题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5665A83-1C32-4F43-95D8-7E47EAE3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强化学习中的智能体读取状态或观测，输出动作，环境返回下一状态与奖励。策略决定动作，价值函数估计未来回报，训练目标是提高长期累计奖励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7B52307-02F9-4D03-BA41-20935868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DE50828-7A8E-4488-B018-90F50AB6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在人形控制中，观测可包含关节位置、速度、机身姿态和目标指令，动作可表示目标关节位置或力矩。观测缺失、尺度不一致或延迟都会直接影响策略稳定性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DEE76D1C-C6C3-4B54-9261-AE960B63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6BC67A53-9B2B-4943-915B-E80BCAE1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强化学习把观测、动作与奖励连成控制闭环</a:t>
            </a:r>
          </a:p>
        </p:txBody>
      </p:sp>
    </p:spTree>
    <p:extLst>
      <p:ext uri="{BB962C8B-B14F-4D97-AF65-F5344CB8AC3E}">
        <p14:creationId xmlns:p14="http://schemas.microsoft.com/office/powerpoint/2010/main" val="4812806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CC76D475-0A7C-4EF4-9893-B294F636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56EC717A-36C2-4FF9-ADA9-7AF5D825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F38A9718-1E10-4580-924A-A3852D07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545C004A-85BC-4FAC-BBF2-FF94FEA3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5971E330-E9E8-4D93-BA70-5184B168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B2F7052-F10A-4AA3-B970-1B4F43DC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27DDC15-ED27-49EC-A212-E35DC2F1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8E182BE-7226-4F33-A8DE-44ACB571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奖励函数把“走得好”拆成速度跟踪、保持直立、减少滑动、限制能耗和动作平滑等项。奖励设计不当时，策略可能通过钻空子获得高分，却产生不符合任务意图的行为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17BA203-2148-461E-9E78-334AD74F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5D0DEA5-8230-42DB-A59B-3DF43600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PPO 通过限制策略单次更新幅度，降低训练过程剧烈变化的风险。它并不能自动保证安全，仍需要合理的动作范围、终止条件、随机化和独立评测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38AFA467-A7E9-45AB-B22A-C91EB99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4278843D-9FA5-4978-9599-C4B16B57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</p:spTree>
    <p:extLst>
      <p:ext uri="{BB962C8B-B14F-4D97-AF65-F5344CB8AC3E}">
        <p14:creationId xmlns:p14="http://schemas.microsoft.com/office/powerpoint/2010/main" val="21473193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938BF341-CDA9-4C46-A0DB-26C6C61D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C7FB7847-9C1B-4DD2-83EB-F5FABE19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EC60AE70-1761-422F-BCA5-5567AD06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典型流程先在 Isaac Lab 等并行仿真环境训练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97039325-C135-45FA-9F25-1C19CF51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7305204F-44C2-4C7F-AA02-8DCB456D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8BD417D-2C52-4897-9E54-447D1B72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A97B666-E549-4B64-9B9E-4CB6721A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Sim-to-Real：从训练场走向真实机器人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5AD622B-60D2-4F10-95D0-1AF4D811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76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典型流程先在 Isaac Lab 等并行仿真环境训练；在 Play 阶段观察策略；再用 MuJoCo 等不同仿真器做 Sim2Sim 检查；最后进入真机 Sim2Real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D734695-CAB8-4A58-AC0C-45434919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44CB71F-637E-4F2F-B745-8C8F7512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真机部署前应限制速度和关节范围，准备急停与保护架，从低风险动作逐步放开，并记录传感器延迟、执行器响应和跌倒条件。域随机化能提高鲁棒性，但不能替代现场安全流程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6C7BAF51-D9DD-45E2-8421-709CA685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134CAB4A-B2CC-404B-9964-A24EBA0C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典型流程先在 Isaac Lab 等并行仿真环境训练</a:t>
            </a:r>
          </a:p>
        </p:txBody>
      </p:sp>
    </p:spTree>
    <p:extLst>
      <p:ext uri="{BB962C8B-B14F-4D97-AF65-F5344CB8AC3E}">
        <p14:creationId xmlns:p14="http://schemas.microsoft.com/office/powerpoint/2010/main" val="13019487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6A958F8B-6510-45C6-940A-760FA3FF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A5978D97-6023-47E3-9D54-475E2B71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A1DF8730-CFD4-4840-B62D-F3C08C8A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真机扩速前必须检查稳定性、温度与急停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DD17407F-2CDB-4F26-B408-29D3D370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156BC800-C5FE-4F2A-8A7B-FE693B5A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85B5A5ED-9710-48FC-954C-5DEA2C01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从仿真步态到受控真机试验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8363DD2D-6F61-4323-B0A4-85CC7F32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场景｜团队在 unitree_rl_gym 中训练机器人按照速度指令前进，并准备部署到真实设备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42DC549C-8172-41CF-B4CC-8ADE3A18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问题｜仿真中的摩擦、质量、时延和执行器响应与真机存在差异，直接高速运行可能导致跌倒或硬件损伤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42966EC2-F7ED-4781-8A67-522F8E67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368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方法｜先检查观测与动作接口，在 Play 和 Sim2Sim 阶段测试扰动与参数变化，再用低速、限幅、保护架和急停开展分级真机试验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2A5744FA-AEEB-4699-947B-EB35EE5F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结果｜团队能区分策略能力与仿真假设，并用可回退的步骤收集真实差异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1ECE3FDD-317A-4995-B8AE-6307038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边界｜每次放开新速度或新地形前，都应通过稳定性、温度、电量与急停检查</a:t>
            </a:r>
          </a:p>
        </p:txBody>
      </p:sp>
      <p:sp>
        <p:nvSpPr>
          <p:cNvPr id="12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2C3DD520-F8D1-4735-A543-F6983175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8-takeaway">
            <a:extLst xmlns:a="http://schemas.openxmlformats.org/drawingml/2006/main">
              <a:ext uri="{FF2B5EF4-FFF2-40B4-BE49-F238E27FC236}">
                <a16:creationId xmlns:a16="http://schemas.microsoft.com/office/drawing/2014/main" id="{3C77D63D-762E-49D1-9498-D8BD07FC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真机扩速前必须检查稳定性、温度与急停</a:t>
            </a:r>
          </a:p>
        </p:txBody>
      </p:sp>
    </p:spTree>
    <p:extLst>
      <p:ext uri="{BB962C8B-B14F-4D97-AF65-F5344CB8AC3E}">
        <p14:creationId xmlns:p14="http://schemas.microsoft.com/office/powerpoint/2010/main" val="32732730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0A70746C-12A3-4105-8560-B5348370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8658F8CA-AF33-4936-8AA7-BB90BD27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76EDE056-5804-413C-A48B-4D761BA2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运动控制与迁移：一次可验收练习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61CA8691-6A0F-4A8E-B55E-5E9CF31B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5DF7666-1735-45F9-AD42-04F9E3CD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EM-004-S09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A64672D3-9244-4FA9-824A-57A8DB82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ABF0127C-BC9F-4BE0-A9FD-4C945440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5E4A8BA9-EE69-4F23-BBDE-EBF5514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为匀速前进任务列出观测、动作、五个奖励项和三个终止条件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DED3D6D9-D732-41B0-8139-D1C1DC5A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C320EBA2-BAD2-42E4-B66F-2D53678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D5BE523C-270A-4097-8C82-F8B7096A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106BCDB7-A8DC-4BB7-97D7-9B0519B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比较线性倒立摆方法与强化学习方法各自适合解决的问题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ED7E425C-454C-436A-AA25-D28EE6A3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AFD3910-4B97-4C26-B056-BA30432E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1D575F20-858B-4F89-9FC7-76F15605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FBAF36D-A0C4-4EBA-942E-1553F9FB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 Train、Play、Sim2Sim、Sim2Real 四阶段验收表和真机急停条件</a:t>
            </a:r>
          </a:p>
        </p:txBody>
      </p:sp>
    </p:spTree>
    <p:extLst>
      <p:ext uri="{BB962C8B-B14F-4D97-AF65-F5344CB8AC3E}">
        <p14:creationId xmlns:p14="http://schemas.microsoft.com/office/powerpoint/2010/main" val="1814544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75FFB556-371E-434A-9212-D80C2C74B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1C1AFB59-0E73-48BC-BBBF-EE93E67E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2D3D88A-0584-483B-AD43-614DDD90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运动控制与迁移：判断时先抓住三点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83C549B-3C26-4729-A99C-A5E867B0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6D721EB2-6680-408E-AF4E-0C3DD6DF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EM-004-S10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C1CAAAA2-1243-44A4-98AF-F73529ED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08606FD-1C38-4A65-A3E0-3BA28422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87EC06C7-9C4A-4FC4-BFB6-AD973A36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1370E1E1-C569-4A39-AB07-414CC29B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0F588BBE-0F56-4B63-99F6-A32D94D5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90046C8-8B73-4202-8719-6132B499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91B9C31-01BB-48E5-9FFD-117D0433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强化学习把观测、动作与奖励连成控制闭环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B49209BA-083B-4D8F-924A-547EBB6F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2B4C3F3F-BD66-43E2-A9B5-74E9E7375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615A8056-337E-4416-89CC-60E0DFBD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4D81F751-E089-4DDF-A034-46482442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典型流程先在 Isaac Lab 等并行仿真环境训练</a:t>
            </a:r>
          </a:p>
        </p:txBody>
      </p:sp>
    </p:spTree>
    <p:extLst>
      <p:ext uri="{BB962C8B-B14F-4D97-AF65-F5344CB8AC3E}">
        <p14:creationId xmlns:p14="http://schemas.microsoft.com/office/powerpoint/2010/main" val="12631165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067D90E6-FAD1-48DB-B940-5DC73F5A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0E656E1B-34EF-46CA-BF59-B6B9AAEA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438A14B2-E985-45B5-A445-D8AE4EC1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运动控制与迁移：依据、边界与延伸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1F01713F-7ACF-491F-8F30-928B7DD4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9AEC796D-5C49-4CED-8737-E8C05DA4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EM-004-S11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A652F829-F9BA-40A3-BF08-BFB41069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E1DE0BC5-982D-440C-8785-3BD9C6FE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322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Proximal Policy Optimization Algorithms：PPO 原论文；裁剪目标限制策略更新幅度，不等于动作限幅、碰撞约束或安全保证。（核对日期：2026-07-12）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3074BDD1-9F1A-4E73-85AF-D51C56C3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34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MuJoCo 官方概览：核对关节与接触动力学、控制和机器学习用途；时间步长与数值稳定性仍需按任务验证。（核对日期：2026-07-12）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5DA547C0-6652-4836-8795-7A3F5A2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22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Isaac Lab 官方 Sim-to-Real 指南：核对仿真训练、域随机化、真实观测、执行器响应对齐与 ROS 部署流程。（核对日期：2026-07-12）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6DC944FD-1039-4A69-8014-15B146DF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063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Domain Randomization 原论文：理解扩大训练分布以缓解 reality gap 的方法；原论文结果不能直接外推为复杂人形步态的通用保证。（核对日期：2026-07-12）</a:t>
            </a:r>
          </a:p>
        </p:txBody>
      </p:sp>
      <p:sp>
        <p:nvSpPr>
          <p:cNvPr id="11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7DC8AE91-41BB-4031-9F36-5553BDAD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FCF02E2E-0FDC-430D-9DD3-6AFCC6FB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9293523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2026-07-11T16:55:47.4110000Z</dcterms:created>
  <dcterms:modified xsi:type="dcterms:W3CDTF">2026-07-11T16:55:47.4110000Z</dcterms:modified>
</coreProperties>
</file>