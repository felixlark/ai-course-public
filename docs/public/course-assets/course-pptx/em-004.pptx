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a49f86175481a" /><Relationship Type="http://schemas.openxmlformats.org/officeDocument/2006/relationships/extended-properties" Target="/docProps/app.xml" Id="R9c734e39bc2e4257" /><Relationship Type="http://schemas.openxmlformats.org/officeDocument/2006/relationships/officeDocument" Target="/ppt/presentation.xml" Id="Ref527e25f6264e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ca2cad5b10472c"/>
  </p:sldMasterIdLst>
  <p:notesMasterIdLst>
    <p:notesMasterId xmlns:r="http://schemas.openxmlformats.org/officeDocument/2006/relationships" r:id="Reed06ea475c84121"/>
  </p:notesMasterIdLst>
  <p:sldIdLst>
    <p:sldId xmlns:r="http://schemas.openxmlformats.org/officeDocument/2006/relationships" id="256" r:id="Rd7f7172b84f74971"/>
    <p:sldId xmlns:r="http://schemas.openxmlformats.org/officeDocument/2006/relationships" id="257" r:id="Raf00af9b95564dc9"/>
    <p:sldId xmlns:r="http://schemas.openxmlformats.org/officeDocument/2006/relationships" id="258" r:id="R51c5f7943f664b1b"/>
    <p:sldId xmlns:r="http://schemas.openxmlformats.org/officeDocument/2006/relationships" id="259" r:id="R6382e9a4334e44ee"/>
    <p:sldId xmlns:r="http://schemas.openxmlformats.org/officeDocument/2006/relationships" id="260" r:id="R3821de5cd5e64ad7"/>
    <p:sldId xmlns:r="http://schemas.openxmlformats.org/officeDocument/2006/relationships" id="261" r:id="R74c03760d7314b87"/>
    <p:sldId xmlns:r="http://schemas.openxmlformats.org/officeDocument/2006/relationships" id="262" r:id="R1dd4e92273aa4a4a"/>
    <p:sldId xmlns:r="http://schemas.openxmlformats.org/officeDocument/2006/relationships" id="263" r:id="Re0ba3dc9b6044df0"/>
    <p:sldId xmlns:r="http://schemas.openxmlformats.org/officeDocument/2006/relationships" id="264" r:id="R7f3a23aac61c4ede"/>
    <p:sldId xmlns:r="http://schemas.openxmlformats.org/officeDocument/2006/relationships" id="265" r:id="R253942e00955467b"/>
    <p:sldId xmlns:r="http://schemas.openxmlformats.org/officeDocument/2006/relationships" id="266" r:id="Rd63000cd4eaa4d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2c715d72464c17" /><Relationship Type="http://schemas.openxmlformats.org/officeDocument/2006/relationships/slideMaster" Target="/ppt/slideMasters/slideMaster1.xml" Id="R74ca2cad5b10472c" /><Relationship Type="http://schemas.openxmlformats.org/officeDocument/2006/relationships/notesMaster" Target="/ppt/notesMasters/notesMaster1.xml" Id="Reed06ea475c84121" /><Relationship Type="http://schemas.openxmlformats.org/officeDocument/2006/relationships/presProps" Target="/ppt/presProps.xml" Id="R59b54afea6aa4519" /><Relationship Type="http://schemas.openxmlformats.org/officeDocument/2006/relationships/tableStyles" Target="/ppt/tableStyles.xml" Id="Re31e7b018c71458f" /><Relationship Type="http://schemas.openxmlformats.org/officeDocument/2006/relationships/slide" Target="/ppt/slides/slide1.xml" Id="Rd7f7172b84f74971" /><Relationship Type="http://schemas.openxmlformats.org/officeDocument/2006/relationships/slide" Target="/ppt/slides/slide2.xml" Id="Raf00af9b95564dc9" /><Relationship Type="http://schemas.openxmlformats.org/officeDocument/2006/relationships/slide" Target="/ppt/slides/slide3.xml" Id="R51c5f7943f664b1b" /><Relationship Type="http://schemas.openxmlformats.org/officeDocument/2006/relationships/slide" Target="/ppt/slides/slide4.xml" Id="R6382e9a4334e44ee" /><Relationship Type="http://schemas.openxmlformats.org/officeDocument/2006/relationships/slide" Target="/ppt/slides/slide5.xml" Id="R3821de5cd5e64ad7" /><Relationship Type="http://schemas.openxmlformats.org/officeDocument/2006/relationships/slide" Target="/ppt/slides/slide6.xml" Id="R74c03760d7314b87" /><Relationship Type="http://schemas.openxmlformats.org/officeDocument/2006/relationships/slide" Target="/ppt/slides/slide7.xml" Id="R1dd4e92273aa4a4a" /><Relationship Type="http://schemas.openxmlformats.org/officeDocument/2006/relationships/slide" Target="/ppt/slides/slide8.xml" Id="Re0ba3dc9b6044df0" /><Relationship Type="http://schemas.openxmlformats.org/officeDocument/2006/relationships/slide" Target="/ppt/slides/slide9.xml" Id="R7f3a23aac61c4ede" /><Relationship Type="http://schemas.openxmlformats.org/officeDocument/2006/relationships/slide" Target="/ppt/slides/slide10.xml" Id="R253942e00955467b" /><Relationship Type="http://schemas.openxmlformats.org/officeDocument/2006/relationships/slide" Target="/ppt/slides/slide11.xml" Id="Rd63000cd4eaa4d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c1f20cb50d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2bc7bac264389" /><Relationship Type="http://schemas.openxmlformats.org/officeDocument/2006/relationships/notesMaster" Target="/ppt/notesMasters/notesMaster1.xml" Id="R09f2e40b836042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1ec73b538c4a03" /><Relationship Type="http://schemas.openxmlformats.org/officeDocument/2006/relationships/notesMaster" Target="/ppt/notesMasters/notesMaster1.xml" Id="Rdca6abc4dd2d42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1dfa1142834255" /><Relationship Type="http://schemas.openxmlformats.org/officeDocument/2006/relationships/notesMaster" Target="/ppt/notesMasters/notesMaster1.xml" Id="Rb01c4eb3787249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8877c4c0714fe1" /><Relationship Type="http://schemas.openxmlformats.org/officeDocument/2006/relationships/notesMaster" Target="/ppt/notesMasters/notesMaster1.xml" Id="Rcb93e9c1e54e42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d267792b004be9" /><Relationship Type="http://schemas.openxmlformats.org/officeDocument/2006/relationships/notesMaster" Target="/ppt/notesMasters/notesMaster1.xml" Id="R173aa8c2d99540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755a49fc6f4f68" /><Relationship Type="http://schemas.openxmlformats.org/officeDocument/2006/relationships/notesMaster" Target="/ppt/notesMasters/notesMaster1.xml" Id="R574997ff0a6849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eb7f6708f848ec" /><Relationship Type="http://schemas.openxmlformats.org/officeDocument/2006/relationships/notesMaster" Target="/ppt/notesMasters/notesMaster1.xml" Id="R64d5bc9fa3f948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8d1bbc33b248e7" /><Relationship Type="http://schemas.openxmlformats.org/officeDocument/2006/relationships/notesMaster" Target="/ppt/notesMasters/notesMaster1.xml" Id="R7de9f82e145f4e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ec484e503c44d3" /><Relationship Type="http://schemas.openxmlformats.org/officeDocument/2006/relationships/notesMaster" Target="/ppt/notesMasters/notesMaster1.xml" Id="Rf8cfa926b4084d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267aa094044c85" /><Relationship Type="http://schemas.openxmlformats.org/officeDocument/2006/relationships/notesMaster" Target="/ppt/notesMasters/notesMaster1.xml" Id="R206e872a752a4b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adb9025dac4493" /><Relationship Type="http://schemas.openxmlformats.org/officeDocument/2006/relationships/notesMaster" Target="/ppt/notesMasters/notesMaster1.xml" Id="R7745abb743bb48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a9635877045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e49c098954a49" /><Relationship Type="http://schemas.openxmlformats.org/officeDocument/2006/relationships/slideLayout" Target="/ppt/slideLayouts/slideLayout1.xml" Id="Rbcd92e818595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d92e818595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a87efca924234" /><Relationship Type="http://schemas.openxmlformats.org/officeDocument/2006/relationships/notesSlide" Target="/ppt/notesSlides/notesSlide1.xml" Id="R51e588f8b39f4f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5a858fab34e4f" /><Relationship Type="http://schemas.openxmlformats.org/officeDocument/2006/relationships/notesSlide" Target="/ppt/notesSlides/notesSlide2.xml" Id="R0d7bc0606c8044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c723fff0242e0" /><Relationship Type="http://schemas.openxmlformats.org/officeDocument/2006/relationships/notesSlide" Target="/ppt/notesSlides/notesSlide3.xml" Id="R903b956fcb3d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4c24df0934305" /><Relationship Type="http://schemas.openxmlformats.org/officeDocument/2006/relationships/notesSlide" Target="/ppt/notesSlides/notesSlide4.xml" Id="R7ec847400f724b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b4d9080ea4a12" /><Relationship Type="http://schemas.openxmlformats.org/officeDocument/2006/relationships/notesSlide" Target="/ppt/notesSlides/notesSlide5.xml" Id="Rd2fbb467395d4c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f4a9c5c4e4ba2" /><Relationship Type="http://schemas.openxmlformats.org/officeDocument/2006/relationships/notesSlide" Target="/ppt/notesSlides/notesSlide6.xml" Id="Rb2362f0ae0144e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d012147334d91" /><Relationship Type="http://schemas.openxmlformats.org/officeDocument/2006/relationships/notesSlide" Target="/ppt/notesSlides/notesSlide7.xml" Id="R8104dbd1f00c4c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f216da4cb4c8e" /><Relationship Type="http://schemas.openxmlformats.org/officeDocument/2006/relationships/notesSlide" Target="/ppt/notesSlides/notesSlide8.xml" Id="Rd77f209ca0a74a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f6f4efdc9464d" /><Relationship Type="http://schemas.openxmlformats.org/officeDocument/2006/relationships/notesSlide" Target="/ppt/notesSlides/notesSlide9.xml" Id="Ra45aa573f8924d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5898776434cd5" /><Relationship Type="http://schemas.openxmlformats.org/officeDocument/2006/relationships/notesSlide" Target="/ppt/notesSlides/notesSlide10.xml" Id="Rdd14eeca7c4d4c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31aa6d99b4b17" /><Relationship Type="http://schemas.openxmlformats.org/officeDocument/2006/relationships/notesSlide" Target="/ppt/notesSlides/notesSlide11.xml" Id="Rfb66bc29fe1b46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B6AC80E8-2A06-409F-A98C-4B6BF808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D54FCBF7-67A5-4907-A7EF-4AA04305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C47C7D4D-8556-467E-924D-FE24BE73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24508BCA-58F6-4E16-8336-99FC40E6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84D9F3DC-7336-4C2C-9195-0483329D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9949C726-1F58-4E53-B82E-BC819E31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BBE1087-C715-4B58-816B-38D3B382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第 3 章 · 具身智能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A4D7013-AFA2-422B-BBD4-E39E2511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运动控制、强化学习与 Sim-to-Real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B73E67-BAD3-445D-9AF2-4ABEFB54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从状态、动作和奖励进入策略训练、仿真验证与真实机器人部署。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501C04A3-E397-4A78-B827-D83FA09B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让人形机器人走起来，不只是生成一段关节动作，而是持续处理平衡、接触、扰动和执行器约束。步态控制把感知、动力学、规划与反馈连接成实时闭环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EBE72B48-A140-44EE-9D05-005E87DA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B914B9F6-B47D-4243-80D0-E2D77A6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EM-004 · EM-004-S01</a:t>
            </a:r>
          </a:p>
        </p:txBody>
      </p:sp>
    </p:spTree>
    <p:extLst>
      <p:ext uri="{BB962C8B-B14F-4D97-AF65-F5344CB8AC3E}">
        <p14:creationId xmlns:p14="http://schemas.microsoft.com/office/powerpoint/2010/main" val="204014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E17C6708-219B-4D08-B7CB-A5F2261A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7FAFF045-3169-48D2-A3E4-0426E47D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8DEBCC8C-34C4-44CD-B27E-454F8D7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运动控制与迁移：2项学习结果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5DF595CF-1447-404E-AAD2-F0E2F6E0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8BCDE347-2CA2-4EED-A34B-F213878F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E5F94F3A-1940-486A-9DF7-4FB4B7FA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解释状态、动作、奖励和策略如何形成机器人强化学习任务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EB70678B-DA0A-479E-B6F6-A7712E46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说明域随机化、安全约束和分阶段测试如何降低 Sim-to-Real 风险</a:t>
            </a:r>
          </a:p>
        </p:txBody>
      </p:sp>
    </p:spTree>
    <p:extLst>
      <p:ext uri="{BB962C8B-B14F-4D97-AF65-F5344CB8AC3E}">
        <p14:creationId xmlns:p14="http://schemas.microsoft.com/office/powerpoint/2010/main" val="1165095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ADE70337-F8C6-4ECD-B001-E4E61A3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36528C69-80A2-42AF-981E-9D6D5EE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1 / 5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1C8E7BE7-F46F-418C-9C0E-AE84B59B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步行可以分解为支撑相和摆动相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7DBEE1BA-B31E-4A0D-9B8C-4306BEC1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E22F5A0C-5AE2-48D2-90F1-20F6DBE4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E39759F-6046-4030-9822-B049C4E3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4CA91089-BCEC-4696-BD0E-A2D1CB01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步态周期：支撑相与摆动相的连续切换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76D5D34-51FE-40C6-9A30-1FE918A7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步行可以分解为支撑相和摆动相：一条腿承担身体重量，另一条腿向下一落脚点移动。双足系统还会经历单支撑和双支撑切换，任何时刻都要控制质心与接触力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E81D5492-4866-47A0-BC13-6015C7A5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89F030B5-9092-4B2B-A8A8-4B3A54FA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步态质量不仅看速度，还要观察稳定性、能耗、足端打滑、关节冲击与对扰动的恢复能力。不同地形和任务需要不同的指标权重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6E7C9F44-B2E9-4166-A0B1-E5F62E5E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A25E1E0F-A036-4DE6-A97C-13579AB6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步行可以分解为支撑相和摆动相</a:t>
            </a:r>
          </a:p>
        </p:txBody>
      </p:sp>
    </p:spTree>
    <p:extLst>
      <p:ext uri="{BB962C8B-B14F-4D97-AF65-F5344CB8AC3E}">
        <p14:creationId xmlns:p14="http://schemas.microsoft.com/office/powerpoint/2010/main" val="815767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3DC8195D-2D6C-4100-BF44-DB29A881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E9A513E2-81A1-4EDE-9B38-985840CB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2 / 5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461CCB6B-CA22-4834-8F2E-EB0DD802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人工或动作捕捉数据可以提供自然运动参考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84F1254B-3646-4FDA-8AF5-B496205D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C69D62FB-7402-481C-8673-7AF5DE9D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802E668-CBDC-4902-9FB1-98482361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256C1B5-8493-422A-967B-856D34EF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三类控制路线：数据、模型与学习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2F8123D-E648-4042-8525-C3A8A2DF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人工或动作捕捉数据可以提供自然运动参考；基于模型的方法用动力学、轨迹优化和反馈控制计算动作；学习方法则从大量交互中优化策略。真实系统常把三者组合起来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48D02084-00A6-4293-8F64-A96F44C8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27410A88-C94F-4336-9939-CE815F9E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线性倒立摆和零力矩点等模型用简化动力学描述平衡条件，便于解释和约束控制。它们不是完整人体动力学，但能为学习策略提供先验、参考轨迹或安全边界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E1D7473D-70D2-4936-89B9-486D5A79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9EF2E5F3-1E85-4652-8690-288B270B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人工或动作捕捉数据可以提供自然运动参考</a:t>
            </a:r>
          </a:p>
        </p:txBody>
      </p:sp>
    </p:spTree>
    <p:extLst>
      <p:ext uri="{BB962C8B-B14F-4D97-AF65-F5344CB8AC3E}">
        <p14:creationId xmlns:p14="http://schemas.microsoft.com/office/powerpoint/2010/main" val="1268247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AF8419D1-88F8-4920-91FF-745296E8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C53C6CD9-4C0F-4235-997C-E604D8E5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3 / 5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7F8F5FBF-33C4-4E0E-B5BA-63D18F1F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强化学习把观测、动作与奖励连成控制闭环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DD24D0C6-3919-49A7-AE49-F1489BAE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44DE130B-5100-4D7E-9B3B-38F4AB76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6799230-6CC2-4F12-ADED-A798EE3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4932286A-8190-4D92-84D0-2660B8C1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强化学习：把控制任务写成可优化问题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3643A5C-B26B-4708-BFAD-64D0A56A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强化学习中的智能体读取状态或观测，输出动作，环境返回下一状态与奖励。策略决定动作，价值函数估计未来回报，训练目标是提高长期累计奖励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E928FDE4-04DA-4D98-9D51-F0D0E42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6AC2C124-EE23-44E5-9C76-E75FF8C7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在人形控制中，观测可包含关节位置、速度、机身姿态和目标指令，动作可表示目标关节位置或力矩。观测缺失、尺度不一致或延迟都会直接影响策略稳定性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8738A683-98F8-45CB-A977-287BC1A8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A44573B4-0108-4AF2-BC38-E4FF3C05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强化学习把观测、动作与奖励连成控制闭环</a:t>
            </a:r>
          </a:p>
        </p:txBody>
      </p:sp>
    </p:spTree>
    <p:extLst>
      <p:ext uri="{BB962C8B-B14F-4D97-AF65-F5344CB8AC3E}">
        <p14:creationId xmlns:p14="http://schemas.microsoft.com/office/powerpoint/2010/main" val="9961006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4A9522B0-4FAA-45F4-953C-9EB9C6A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90C5AB8C-BD5E-440C-8001-5D82B376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4 / 5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AB5975CF-C774-4141-820E-19FD9D8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奖励与 PPO：既要学会，也要学稳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41F33E9D-BC30-49B9-8867-C01893DA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01E9DEA6-E42C-4DEF-B468-69FBA620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5696336-D3D4-496D-A239-864D7C6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B3442A43-C26E-4806-90E9-D38C1DA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奖励与 PPO：既要学会，也要学稳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71AE03D-B0C9-4E39-ADED-08163CA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奖励函数把“走得好”拆成速度跟踪、保持直立、减少滑动、限制能耗和动作平滑等项。奖励设计不当时，策略可能通过钻空子获得高分，却产生不符合任务意图的行为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F31282F-84DB-4524-8537-97CA664B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E361FAB-4796-4E2D-94BB-56714A5C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PPO 通过限制策略单次更新幅度，降低训练过程剧烈变化的风险。它并不能自动保证安全，仍需要合理的动作范围、终止条件、随机化和独立评测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82D47D96-771F-4285-974C-639EAB9B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F93663EA-5DD6-4D00-8F47-522506E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奖励与 PPO：既要学会，也要学稳</a:t>
            </a:r>
          </a:p>
        </p:txBody>
      </p:sp>
    </p:spTree>
    <p:extLst>
      <p:ext uri="{BB962C8B-B14F-4D97-AF65-F5344CB8AC3E}">
        <p14:creationId xmlns:p14="http://schemas.microsoft.com/office/powerpoint/2010/main" val="2133898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28E6811C-220F-4388-A7AF-A9E515B9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B0645E78-0DAD-4FB0-876E-2112256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5 / 5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F35D1A5F-4888-4768-A1AB-61544CB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典型流程先在 Isaac Lab 等并行仿真环境训练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8D0B5E1F-E620-44B0-9000-06D32BCE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948B6237-481B-40AD-BAFE-1D8CC4F6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34F137A-443A-4188-BE7E-231F0F3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F83654D-48ED-49ED-ACFD-938712E1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Sim-to-Real：从训练场走向真实机器人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4188B2BF-B74F-4D29-B4ED-4EE7BB3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76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典型流程先在 Isaac Lab 等并行仿真环境训练；在 Play 阶段观察策略；再用 MuJoCo 等不同仿真器做 Sim2Sim 检查；最后进入真机 Sim2Real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AE0F28CA-C24A-4394-BDD5-58303A31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6B4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7C6E3B8-A01F-4635-B9E5-AFB86532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真机部署前应限制速度和关节范围，准备急停与保护架，从低风险动作逐步放开，并记录传感器延迟、执行器响应和跌倒条件。域随机化能提高鲁棒性，但不能替代现场安全流程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4471E708-925B-4418-AEDF-59C31AD7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53FBF83D-0210-4984-A98C-4546F750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典型流程先在 Isaac Lab 等并行仿真环境训练</a:t>
            </a:r>
          </a:p>
        </p:txBody>
      </p:sp>
    </p:spTree>
    <p:extLst>
      <p:ext uri="{BB962C8B-B14F-4D97-AF65-F5344CB8AC3E}">
        <p14:creationId xmlns:p14="http://schemas.microsoft.com/office/powerpoint/2010/main" val="2077057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536E9740-9437-43F1-8DA7-0F593080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1555DCBC-A774-49AA-BFFB-29630F0F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E6706946-C4C6-4C4F-8A28-A5EEB51E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真机扩速前必须检查稳定性、温度与急停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F0C9D7DC-415A-4ECF-8EA0-D306BB13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7C09F9C3-BA20-48FD-A769-24D1720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EM-004-S08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F9807FB7-65E8-4BE4-98C9-BF85EEB8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65642"/>
          </a:solidFill>
          <a:ln xmlns:a="http://schemas.openxmlformats.org/drawingml/2006/main" w="0">
            <a:solidFill>
              <a:srgbClr val="16564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从仿真步态到受控真机试验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5F5F9B20-C985-429B-8BAE-51D704A8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场景｜团队在 unitree_rl_gym 中训练机器人按照速度指令前进，并准备部署到真实设备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E20630CC-D2C1-4A2F-AFC8-5ED579D3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694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问题｜仿真中的摩擦、质量、时延和执行器响应与真机存在差异，直接高速运行可能导致跌倒或硬件损伤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2DB07329-D4DC-4F4F-B08A-E908B302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536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方法｜先检查观测与动作接口，在 Play 和 Sim2Sim 阶段测试扰动与参数变化，再用低速、限幅、保护架和急停开展分级真机试验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44CC4129-B9AB-4CA4-8268-06C6F749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结果｜团队能区分策略能力与仿真假设，并用可回退的步骤收集真实差异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F35118BD-881B-45F8-A1E0-411D366D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边界｜每次放开新速度或新地形前，都应通过稳定性、温度、电量与急停检查</a:t>
            </a:r>
          </a:p>
        </p:txBody>
      </p:sp>
      <p:sp>
        <p:nvSpPr>
          <p:cNvPr id="12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61C1BC75-FC10-4C19-819C-4C23C662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3" name="s8-takeaway">
            <a:extLst xmlns:a="http://schemas.openxmlformats.org/drawingml/2006/main">
              <a:ext uri="{FF2B5EF4-FFF2-40B4-BE49-F238E27FC236}">
                <a16:creationId xmlns:a16="http://schemas.microsoft.com/office/drawing/2014/main" id="{280750E7-92D6-4AEE-B435-05D6681F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真机扩速前必须检查稳定性、温度与急停</a:t>
            </a:r>
          </a:p>
        </p:txBody>
      </p:sp>
    </p:spTree>
    <p:extLst>
      <p:ext uri="{BB962C8B-B14F-4D97-AF65-F5344CB8AC3E}">
        <p14:creationId xmlns:p14="http://schemas.microsoft.com/office/powerpoint/2010/main" val="1403979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99CE19AE-CEBF-4D6B-B2F7-98C227B1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77A373BA-6528-4FF2-929E-952D7EC7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C1931E4E-D515-4BC1-81C6-CA17F0D5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运动控制与迁移：一次可验收练习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7662F5D4-BDCE-4DA5-AE39-EB3249E1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3F8AF63F-FF2D-4294-9E61-F656A352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EM-004-S09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7CC897DF-F80C-4001-8FE8-F723D20B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A85F6848-DEC6-4FBA-95A8-CA5B2187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BF75EFF0-37F2-41C2-81B6-5C19AD7A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为匀速前进任务列出观测、动作、五个奖励项和三个终止条件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B7B19A9C-D766-4E43-8A32-914B861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CA28FBC9-68E2-4A49-B8FF-07F5081C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B1DD76B6-8948-460F-A403-183FAEF9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5EDFDC7A-5A00-4A3A-B594-F4B0584D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比较线性倒立摆方法与强化学习方法各自适合解决的问题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B4BBE169-7EA3-440F-A1A6-2195D5EE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F4E1DDD0-6614-4817-B002-1A678960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9386E9BF-FE59-4ED7-8578-E072B46A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8054F743-8422-4F42-8EA0-4D6D81E7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 Train、Play、Sim2Sim、Sim2Real 四阶段验收表和真机急停条件</a:t>
            </a:r>
          </a:p>
        </p:txBody>
      </p:sp>
    </p:spTree>
    <p:extLst>
      <p:ext uri="{BB962C8B-B14F-4D97-AF65-F5344CB8AC3E}">
        <p14:creationId xmlns:p14="http://schemas.microsoft.com/office/powerpoint/2010/main" val="1224821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72593599-E7D1-4D53-A829-7DDABED6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F8236268-B3CC-4971-BEAC-CC851C7D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2601A179-5628-4FAF-B71A-A0905B94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运动控制与迁移：判断时先抓住三点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723F21DA-ABDB-4EFC-8604-662F1480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C0D69D9F-C304-4635-A58F-B8E8EFCD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EM-004-S10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A9493FF3-5824-49D2-82F7-5BD648D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24127F87-86D6-43CB-89FD-DC36200A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F29EAC25-20B6-421D-9795-EDD0972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步行可以分解为支撑相和摆动相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5DBF99D5-80AE-4E63-AEA1-602A571E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BF318182-0BEE-4F62-8937-920A5F39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E862BE77-3499-476D-806C-B3CF9CB9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C6CC91D0-7907-4003-9B12-5863C3DC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强化学习把观测、动作与奖励连成控制闭环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834EBF89-5A9B-4537-B422-0F20917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4F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89E22761-13F7-4DEF-8865-8B064C00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33F77E73-EB6C-4B5D-BAEA-6559DAE5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1BD9C419-A350-4744-9DB7-579634F5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典型流程先在 Isaac Lab 等并行仿真环境训练</a:t>
            </a:r>
          </a:p>
        </p:txBody>
      </p:sp>
    </p:spTree>
    <p:extLst>
      <p:ext uri="{BB962C8B-B14F-4D97-AF65-F5344CB8AC3E}">
        <p14:creationId xmlns:p14="http://schemas.microsoft.com/office/powerpoint/2010/main" val="3013855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622319EE-3CF7-4D5A-8913-801E35C5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8791F14F-9C7A-4220-8FE3-3277A04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77FE8C60-A23C-45B1-A239-96D95DA0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运动控制与迁移：依据、边界与延伸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E319E6CC-708C-448C-9ED8-BA9307F6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C103C0E3-0641-4FED-96A3-868FBEBC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EM-004 · EM-004-S11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0FAE5C6B-42B9-49CD-AB93-5EE55E0D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0B6B4F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A1D2C541-F4BD-43B4-AB98-A120AF65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32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Proximal Policy Optimization Algorithms：PPO 原论文；裁剪目标限制策略更新幅度，不等于动作限幅、碰撞约束或安全保证。（核对日期：2026-07-12）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02997744-D850-4FC6-9B40-E03C06C9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348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MuJoCo 官方概览：核对关节与接触动力学、控制和机器学习用途；时间步长与数值稳定性仍需按任务验证。（核对日期：2026-07-12）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3C199FBB-6D75-4CC9-8D70-B2C11113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22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Isaac Lab 官方 Sim-to-Real 指南：核对仿真训练、域随机化、真实观测、执行器响应对齐与 ROS 部署流程。（核对日期：2026-07-12）</a:t>
            </a:r>
          </a:p>
        </p:txBody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75B347EF-AA7F-41AC-87C7-C609447C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06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05  Domain Randomization 原论文：理解扩大训练分布以缓解 reality gap 的方法；原论文结果不能直接外推为复杂人形步态的通用保证。（核对日期：2026-07-12）</a:t>
            </a:r>
          </a:p>
        </p:txBody>
      </p:sp>
      <p:sp>
        <p:nvSpPr>
          <p:cNvPr id="11" name="s11-takeaway-rule">
            <a:extLst xmlns:a="http://schemas.openxmlformats.org/drawingml/2006/main">
              <a:ext uri="{FF2B5EF4-FFF2-40B4-BE49-F238E27FC236}">
                <a16:creationId xmlns:a16="http://schemas.microsoft.com/office/drawing/2014/main" id="{DF2D4A50-FABA-45B0-BD8E-8BBCA3FE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11-takeaway">
            <a:extLst xmlns:a="http://schemas.openxmlformats.org/drawingml/2006/main">
              <a:ext uri="{FF2B5EF4-FFF2-40B4-BE49-F238E27FC236}">
                <a16:creationId xmlns:a16="http://schemas.microsoft.com/office/drawing/2014/main" id="{E881C6A4-6B1E-491C-9EF0-CFDA7F7A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946757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2026-07-12T08:20:20.6990000Z</dcterms:created>
  <dcterms:modified xsi:type="dcterms:W3CDTF">2026-07-12T08:20:20.6990000Z</dcterms:modified>
</coreProperties>
</file>