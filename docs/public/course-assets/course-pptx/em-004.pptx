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8fae3a7a9e4337" /><Relationship Type="http://schemas.openxmlformats.org/officeDocument/2006/relationships/extended-properties" Target="/docProps/app.xml" Id="R06812f52e02b4e03" /><Relationship Type="http://schemas.openxmlformats.org/officeDocument/2006/relationships/officeDocument" Target="/ppt/presentation.xml" Id="R663e918ab16e4a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47b51152e94da3"/>
  </p:sldMasterIdLst>
  <p:notesMasterIdLst>
    <p:notesMasterId xmlns:r="http://schemas.openxmlformats.org/officeDocument/2006/relationships" r:id="R3a26c17b474d4c53"/>
  </p:notesMasterIdLst>
  <p:sldIdLst>
    <p:sldId xmlns:r="http://schemas.openxmlformats.org/officeDocument/2006/relationships" id="256" r:id="R917625980afd43c1"/>
    <p:sldId xmlns:r="http://schemas.openxmlformats.org/officeDocument/2006/relationships" id="257" r:id="R7e0e5cc36b9c4d1a"/>
    <p:sldId xmlns:r="http://schemas.openxmlformats.org/officeDocument/2006/relationships" id="258" r:id="R84f2e103a9b24050"/>
    <p:sldId xmlns:r="http://schemas.openxmlformats.org/officeDocument/2006/relationships" id="259" r:id="Rf505fccc01cf438f"/>
    <p:sldId xmlns:r="http://schemas.openxmlformats.org/officeDocument/2006/relationships" id="260" r:id="R2b4d4c1e7d5c468a"/>
    <p:sldId xmlns:r="http://schemas.openxmlformats.org/officeDocument/2006/relationships" id="261" r:id="Rb661d0b2f8a04b8e"/>
    <p:sldId xmlns:r="http://schemas.openxmlformats.org/officeDocument/2006/relationships" id="262" r:id="R62cffbf204be4a6e"/>
    <p:sldId xmlns:r="http://schemas.openxmlformats.org/officeDocument/2006/relationships" id="263" r:id="R9ad5c3158321412b"/>
    <p:sldId xmlns:r="http://schemas.openxmlformats.org/officeDocument/2006/relationships" id="264" r:id="Rd7795c33a26745b7"/>
    <p:sldId xmlns:r="http://schemas.openxmlformats.org/officeDocument/2006/relationships" id="265" r:id="R5c0b211c0c994bee"/>
    <p:sldId xmlns:r="http://schemas.openxmlformats.org/officeDocument/2006/relationships" id="266" r:id="R37a803a356ba43f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1398a44c2249ab" /><Relationship Type="http://schemas.openxmlformats.org/officeDocument/2006/relationships/slideMaster" Target="/ppt/slideMasters/slideMaster1.xml" Id="Rf247b51152e94da3" /><Relationship Type="http://schemas.openxmlformats.org/officeDocument/2006/relationships/notesMaster" Target="/ppt/notesMasters/notesMaster1.xml" Id="R3a26c17b474d4c53" /><Relationship Type="http://schemas.openxmlformats.org/officeDocument/2006/relationships/presProps" Target="/ppt/presProps.xml" Id="R191d43d8ad5d4fe2" /><Relationship Type="http://schemas.openxmlformats.org/officeDocument/2006/relationships/tableStyles" Target="/ppt/tableStyles.xml" Id="R8eea22f0bf0b4689" /><Relationship Type="http://schemas.openxmlformats.org/officeDocument/2006/relationships/slide" Target="/ppt/slides/slide1.xml" Id="R917625980afd43c1" /><Relationship Type="http://schemas.openxmlformats.org/officeDocument/2006/relationships/slide" Target="/ppt/slides/slide2.xml" Id="R7e0e5cc36b9c4d1a" /><Relationship Type="http://schemas.openxmlformats.org/officeDocument/2006/relationships/slide" Target="/ppt/slides/slide3.xml" Id="R84f2e103a9b24050" /><Relationship Type="http://schemas.openxmlformats.org/officeDocument/2006/relationships/slide" Target="/ppt/slides/slide4.xml" Id="Rf505fccc01cf438f" /><Relationship Type="http://schemas.openxmlformats.org/officeDocument/2006/relationships/slide" Target="/ppt/slides/slide5.xml" Id="R2b4d4c1e7d5c468a" /><Relationship Type="http://schemas.openxmlformats.org/officeDocument/2006/relationships/slide" Target="/ppt/slides/slide6.xml" Id="Rb661d0b2f8a04b8e" /><Relationship Type="http://schemas.openxmlformats.org/officeDocument/2006/relationships/slide" Target="/ppt/slides/slide7.xml" Id="R62cffbf204be4a6e" /><Relationship Type="http://schemas.openxmlformats.org/officeDocument/2006/relationships/slide" Target="/ppt/slides/slide8.xml" Id="R9ad5c3158321412b" /><Relationship Type="http://schemas.openxmlformats.org/officeDocument/2006/relationships/slide" Target="/ppt/slides/slide9.xml" Id="Rd7795c33a26745b7" /><Relationship Type="http://schemas.openxmlformats.org/officeDocument/2006/relationships/slide" Target="/ppt/slides/slide10.xml" Id="R5c0b211c0c994bee" /><Relationship Type="http://schemas.openxmlformats.org/officeDocument/2006/relationships/slide" Target="/ppt/slides/slide11.xml" Id="R37a803a356ba43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62cb7e9d3f4d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61572f149f4df8" /><Relationship Type="http://schemas.openxmlformats.org/officeDocument/2006/relationships/notesMaster" Target="/ppt/notesMasters/notesMaster1.xml" Id="R8b95d0fb877345c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63e5a3a8094e86" /><Relationship Type="http://schemas.openxmlformats.org/officeDocument/2006/relationships/notesMaster" Target="/ppt/notesMasters/notesMaster1.xml" Id="R99d128f2327542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8e59059a304e30" /><Relationship Type="http://schemas.openxmlformats.org/officeDocument/2006/relationships/notesMaster" Target="/ppt/notesMasters/notesMaster1.xml" Id="R87921bd154d047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486c59cd3640e7" /><Relationship Type="http://schemas.openxmlformats.org/officeDocument/2006/relationships/notesMaster" Target="/ppt/notesMasters/notesMaster1.xml" Id="R3dc3448614a441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0d027c3b524474" /><Relationship Type="http://schemas.openxmlformats.org/officeDocument/2006/relationships/notesMaster" Target="/ppt/notesMasters/notesMaster1.xml" Id="Rdf971f266ef943f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da2f725451846a9" /><Relationship Type="http://schemas.openxmlformats.org/officeDocument/2006/relationships/notesMaster" Target="/ppt/notesMasters/notesMaster1.xml" Id="R45bdc7d7981043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e5fda5e17a4f27" /><Relationship Type="http://schemas.openxmlformats.org/officeDocument/2006/relationships/notesMaster" Target="/ppt/notesMasters/notesMaster1.xml" Id="R9e7331234f6d4d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5d03c961744df5" /><Relationship Type="http://schemas.openxmlformats.org/officeDocument/2006/relationships/notesMaster" Target="/ppt/notesMasters/notesMaster1.xml" Id="R4df7b05095d0402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b9e4429ccaa4f6f" /><Relationship Type="http://schemas.openxmlformats.org/officeDocument/2006/relationships/notesMaster" Target="/ppt/notesMasters/notesMaster1.xml" Id="R5fac11d583654f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c4ee912f234157" /><Relationship Type="http://schemas.openxmlformats.org/officeDocument/2006/relationships/notesMaster" Target="/ppt/notesMasters/notesMaster1.xml" Id="Red5e4042790b48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317cd065b7d4acd" /><Relationship Type="http://schemas.openxmlformats.org/officeDocument/2006/relationships/notesMaster" Target="/ppt/notesMasters/notesMaster1.xml" Id="R0a2fde7ec8d84d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d94b2e19e947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c8e0cac5e744ec" /><Relationship Type="http://schemas.openxmlformats.org/officeDocument/2006/relationships/slideLayout" Target="/ppt/slideLayouts/slideLayout1.xml" Id="R24c6cb41434943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c6cb41434943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72a04d526346be" /><Relationship Type="http://schemas.openxmlformats.org/officeDocument/2006/relationships/notesSlide" Target="/ppt/notesSlides/notesSlide1.xml" Id="Rd40257366ed947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5cd06514642c7" /><Relationship Type="http://schemas.openxmlformats.org/officeDocument/2006/relationships/notesSlide" Target="/ppt/notesSlides/notesSlide2.xml" Id="R86de4f25d59a43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69efe556b0420b" /><Relationship Type="http://schemas.openxmlformats.org/officeDocument/2006/relationships/notesSlide" Target="/ppt/notesSlides/notesSlide3.xml" Id="R698d61fb2ae249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f77be012e24f6f" /><Relationship Type="http://schemas.openxmlformats.org/officeDocument/2006/relationships/notesSlide" Target="/ppt/notesSlides/notesSlide4.xml" Id="R4a4198d364144b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5b9a649964955" /><Relationship Type="http://schemas.openxmlformats.org/officeDocument/2006/relationships/notesSlide" Target="/ppt/notesSlides/notesSlide5.xml" Id="Rc7def979f0ad48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55caa5019745c5" /><Relationship Type="http://schemas.openxmlformats.org/officeDocument/2006/relationships/notesSlide" Target="/ppt/notesSlides/notesSlide6.xml" Id="R0122951f88bf48b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f869f7b4054cfe" /><Relationship Type="http://schemas.openxmlformats.org/officeDocument/2006/relationships/notesSlide" Target="/ppt/notesSlides/notesSlide7.xml" Id="Ra533f3f9f8bb48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1752ecd79c4822" /><Relationship Type="http://schemas.openxmlformats.org/officeDocument/2006/relationships/notesSlide" Target="/ppt/notesSlides/notesSlide8.xml" Id="Rf5c1ff5c082f4e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768a8ec00e47d6" /><Relationship Type="http://schemas.openxmlformats.org/officeDocument/2006/relationships/notesSlide" Target="/ppt/notesSlides/notesSlide9.xml" Id="R1f1b4771d3a24bd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e2e34df05e4def" /><Relationship Type="http://schemas.openxmlformats.org/officeDocument/2006/relationships/notesSlide" Target="/ppt/notesSlides/notesSlide10.xml" Id="R3e6dbb7d40db435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52f3406a0e4bd9" /><Relationship Type="http://schemas.openxmlformats.org/officeDocument/2006/relationships/notesSlide" Target="/ppt/notesSlides/notesSlide11.xml" Id="R60b67353b35541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B51805B0-B5D6-4EF7-87BD-8FFA2FF5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2376AA40-D37A-4BF2-A078-0456A801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C2A047AF-C2AD-4D6D-9822-65ECCC22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9A6C5996-DCCF-41C1-B43B-42D2A073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D8C1D6BE-D587-41C2-B3AB-FAE6D5EE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0AC9A469-CBBE-4BD3-9E68-82ED3476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4774423E-8764-4145-B810-D280E45B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7F016A9-B35A-4EC6-9507-A8BD4103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运动控制、强化学习与 Sim-to-Real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62255AE-0B68-4150-9F06-27C590BB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从状态、动作和奖励进入策略训练、仿真验证与真实机器人部署。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8FA46B7A-C61F-43E0-8DC5-E803B37B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让人形机器人走起来，不只是生成一段关节动作，而是持续处理平衡、接触、扰动和执行器约束。步态控制把感知、动力学、规划与反馈连接成实时闭环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93F1D905-2CA3-4F00-A543-5C3D3AC1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496A2B92-85D5-44F9-A084-EEA699A8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EM-004 · EM-004-S01</a:t>
            </a:r>
          </a:p>
        </p:txBody>
      </p:sp>
    </p:spTree>
    <p:extLst>
      <p:ext uri="{BB962C8B-B14F-4D97-AF65-F5344CB8AC3E}">
        <p14:creationId xmlns:p14="http://schemas.microsoft.com/office/powerpoint/2010/main" val="5876716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3DC37798-4BFE-46C1-A534-0FC6FC1B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0F15031A-9130-4378-A584-131920F7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31856D9B-EF36-4EDF-99B9-BE2F4429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运动控制与迁移：2项学习结果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BE7F1330-D559-44F5-8382-59081C71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DA833169-729E-412D-8361-425C2DF1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FEF47824-298E-4F20-8FC7-B37729C9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解释状态、动作、奖励和策略如何形成机器人强化学习任务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EE252BB8-D3FB-49DE-AAA0-FDADFB46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说明域随机化、安全约束和分阶段测试如何降低 Sim-to-Real 风险</a:t>
            </a:r>
          </a:p>
        </p:txBody>
      </p:sp>
    </p:spTree>
    <p:extLst>
      <p:ext uri="{BB962C8B-B14F-4D97-AF65-F5344CB8AC3E}">
        <p14:creationId xmlns:p14="http://schemas.microsoft.com/office/powerpoint/2010/main" val="21115653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EFCBE9A1-37CE-48DA-B78E-D3F245B1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10073A4B-161B-4EFD-AE1A-818863761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5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EBF9076B-3464-4B47-870D-EE7474CB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步行可以分解为支撑相和摆动相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F339884A-5FAD-4C80-A372-AF7240E3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EE6C62B2-0F9E-4495-9D08-B226EE21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BF18FC5-AF67-4E3A-9F08-4C4B8DF4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9AD3106-1A01-427B-ABA7-0500C754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步态周期：支撑相与摆动相的连续切换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81DF7E0-9307-47E3-A02A-1EFD7047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步行可以分解为支撑相和摆动相：一条腿承担身体重量，另一条腿向下一落脚点移动。双足系统还会经历单支撑和双支撑切换，任何时刻都要控制质心与接触力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B976CB8-B619-4798-962D-BEA254D2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75F6CBE-6B3A-46C2-8D05-1E0CFB1C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步态质量不仅看速度，还要观察稳定性、能耗、足端打滑、关节冲击与对扰动的恢复能力。不同地形和任务需要不同的指标权重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D99BC7A6-1299-48B9-9B99-465987ABA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C6680CBA-6EC4-44F2-8585-55A53253E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步行可以分解为支撑相和摆动相</a:t>
            </a:r>
          </a:p>
        </p:txBody>
      </p:sp>
    </p:spTree>
    <p:extLst>
      <p:ext uri="{BB962C8B-B14F-4D97-AF65-F5344CB8AC3E}">
        <p14:creationId xmlns:p14="http://schemas.microsoft.com/office/powerpoint/2010/main" val="4874661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F2D6E3AE-F42C-4955-90C6-E7996FE6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ED7B13B8-730F-4A97-813C-8185C90F7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5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9AB95167-9229-46B6-ADE5-DA5FAF88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人工或动作捕捉数据可以提供自然运动参考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9E558475-C0C0-4407-8633-7FE2687A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103E34AB-46FB-4C2B-B22F-42759A8C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DDB909E-C4F0-45D4-AB84-DFCF93B8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D07149B-B519-4F53-8100-C2AEF427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三类控制路线：数据、模型与学习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38462D8-2536-4912-99E5-0C2E1376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人工或动作捕捉数据可以提供自然运动参考；基于模型的方法用动力学、轨迹优化和反馈控制计算动作；学习方法则从大量交互中优化策略。真实系统常把三者组合起来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24D7427-7688-4034-83F2-AD55CD36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7687E35-C1A9-4FCC-AE20-983EBE99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线性倒立摆和零力矩点等模型用简化动力学描述平衡条件，便于解释和约束控制。它们不是完整人体动力学，但能为学习策略提供先验、参考轨迹或安全边界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B2154C99-6244-40F3-84F9-FAE819FC8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AD18DD49-9A8D-4132-96C9-B0DAC6E4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人工或动作捕捉数据可以提供自然运动参考</a:t>
            </a:r>
          </a:p>
        </p:txBody>
      </p:sp>
    </p:spTree>
    <p:extLst>
      <p:ext uri="{BB962C8B-B14F-4D97-AF65-F5344CB8AC3E}">
        <p14:creationId xmlns:p14="http://schemas.microsoft.com/office/powerpoint/2010/main" val="16538108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854A38AA-A977-4421-AC33-CC668100C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BCE9C835-3B34-46D3-A577-D99C1839E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5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EB53EEE4-08C1-49CD-9995-11D54030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强化学习把观测、动作与奖励连成控制闭环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7BE558F9-545E-446A-8829-21B59D9C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85B1844D-73FF-4F51-A20F-96AE4E4A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ABFB9E8-E003-4AA2-9E5C-56FB634D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6685511-A3D0-43BC-BCCF-601B089B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强化学习：把控制任务写成可优化问题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C4A2B5E-93A0-46FF-B095-60A13E75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强化学习中的智能体读取状态或观测，输出动作，环境返回下一状态与奖励。策略决定动作，价值函数估计未来回报，训练目标是提高长期累计奖励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B282483-F899-4666-897E-B4C2CFE2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E23497D-C9BA-48E6-96C9-B7491289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在人形控制中，观测可包含关节位置、速度、机身姿态和目标指令，动作可表示目标关节位置或力矩。观测缺失、尺度不一致或延迟都会直接影响策略稳定性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A797A75C-9AD8-4B97-B857-CDD6A931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F70EBE5B-7786-403C-9CD6-F8497785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强化学习把观测、动作与奖励连成控制闭环</a:t>
            </a:r>
          </a:p>
        </p:txBody>
      </p:sp>
    </p:spTree>
    <p:extLst>
      <p:ext uri="{BB962C8B-B14F-4D97-AF65-F5344CB8AC3E}">
        <p14:creationId xmlns:p14="http://schemas.microsoft.com/office/powerpoint/2010/main" val="14224290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88D6BA9F-F7E4-476C-9C9E-C9E63AFE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34156C62-C605-414C-9784-FD78DB2C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5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587C35ED-3AA2-4D49-8344-4AE1E287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奖励与 PPO：既要学会，也要学稳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CEF93088-6841-4BF8-B7CF-07128F53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924C8137-6BC9-4D4B-BDED-32610530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251AE69-2FFD-4217-9D37-22C0700C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BC4B380-5B32-4DED-943E-63C38078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奖励与 PPO：既要学会，也要学稳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16F768B-4892-4460-AB99-EFE1304D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奖励函数把“走得好”拆成速度跟踪、保持直立、减少滑动、限制能耗和动作平滑等项。奖励设计不当时，策略可能通过钻空子获得高分，却产生不符合任务意图的行为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32E1474-3849-4C05-879E-66D054B9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C12F230-7F67-46D9-801F-C1BD423A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PPO 通过限制策略单次更新幅度，降低训练过程剧烈变化的风险。它并不能自动保证安全，仍需要合理的动作范围、终止条件、随机化和独立评测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1CD1A028-97ED-47A0-ACD8-BB295B86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7ECD0DCA-7653-4B22-A5EE-3E037AE4E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奖励与 PPO：既要学会，也要学稳</a:t>
            </a:r>
          </a:p>
        </p:txBody>
      </p:sp>
    </p:spTree>
    <p:extLst>
      <p:ext uri="{BB962C8B-B14F-4D97-AF65-F5344CB8AC3E}">
        <p14:creationId xmlns:p14="http://schemas.microsoft.com/office/powerpoint/2010/main" val="17320031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64117DA6-DBDF-4AFD-ABD1-15E3D073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00AEAA38-7308-44B2-BDFA-CB80B2DC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5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8C6FCAF0-8D84-4B45-A520-ACDDF1B5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典型流程先在 Isaac Lab 等并行仿真环境训练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E2C290B6-0943-49C9-8F1F-FDCF6DC2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8FA0352C-AA8E-4D33-9186-E9A172A0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F240130-1FCB-4951-ACD6-33CA359A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788BA3B-CB96-46E4-B5B4-7C59D10D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Sim-to-Real：从训练场走向真实机器人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A9186C0-7FB3-4596-8AF5-E2C7A5F0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76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典型流程先在 Isaac Lab 等并行仿真环境训练；在 Play 阶段观察策略；再用 MuJoCo 等不同仿真器做 Sim2Sim 检查；最后进入真机 Sim2Real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6C078C0-29D8-42D5-B068-1F500959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AB16437-33A5-4F7A-87B1-DB3BFBE1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真机部署前应限制速度和关节范围，准备急停与保护架，从低风险动作逐步放开，并记录传感器延迟、执行器响应和跌倒条件。域随机化能提高鲁棒性，但不能替代现场安全流程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1B970BC7-495E-4801-954F-1FC09708D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AEEC589C-8F0C-4A74-85DC-D68BEF80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典型流程先在 Isaac Lab 等并行仿真环境训练</a:t>
            </a:r>
          </a:p>
        </p:txBody>
      </p:sp>
    </p:spTree>
    <p:extLst>
      <p:ext uri="{BB962C8B-B14F-4D97-AF65-F5344CB8AC3E}">
        <p14:creationId xmlns:p14="http://schemas.microsoft.com/office/powerpoint/2010/main" val="7408631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9758E3DA-04FC-455C-8625-6CE53A19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259A7984-6E51-43B0-A327-FCED4819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CDA42913-6633-4763-9541-96542362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真机扩速前必须检查稳定性、温度与急停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C585078A-8A68-42D7-B3ED-5FF548CA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F1F9B1F5-B7B7-433D-A1C6-1698A6F6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492B374F-2AC0-4357-A625-AE36446F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从仿真步态到受控真机试验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A096B1F8-CF9E-4AE5-95CE-B66E24B8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场景｜团队在 unitree_rl_gym 中训练机器人按照速度指令前进，并准备部署到真实设备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310FF9AB-0D13-4225-B2FB-54B723B0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694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问题｜仿真中的摩擦、质量、时延和执行器响应与真机存在差异，直接高速运行可能导致跌倒或硬件损伤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49B1C095-7F54-4CAA-AA7A-96CDFFC3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53688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方法｜先检查观测与动作接口，在 Play 和 Sim2Sim 阶段测试扰动与参数变化，再用低速、限幅、保护架和急停开展分级真机试验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88D0B3EA-01FF-409E-A854-FB0A2A26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结果｜团队能区分策略能力与仿真假设，并用可回退的步骤收集真实差异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8EED53F0-BB67-4BFC-9B3D-D8887E6A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边界｜每次放开新速度或新地形前，都应通过稳定性、温度、电量与急停检查</a:t>
            </a:r>
          </a:p>
        </p:txBody>
      </p:sp>
      <p:sp>
        <p:nvSpPr>
          <p:cNvPr id="12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4AA57F42-FE57-44F0-B5EE-49F5B5117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8-takeaway">
            <a:extLst xmlns:a="http://schemas.openxmlformats.org/drawingml/2006/main">
              <a:ext uri="{FF2B5EF4-FFF2-40B4-BE49-F238E27FC236}">
                <a16:creationId xmlns:a16="http://schemas.microsoft.com/office/drawing/2014/main" id="{1ECE97D3-453B-4FFC-8AFC-BC7C7C19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真机扩速前必须检查稳定性、温度与急停</a:t>
            </a:r>
          </a:p>
        </p:txBody>
      </p:sp>
    </p:spTree>
    <p:extLst>
      <p:ext uri="{BB962C8B-B14F-4D97-AF65-F5344CB8AC3E}">
        <p14:creationId xmlns:p14="http://schemas.microsoft.com/office/powerpoint/2010/main" val="4501371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BB84B106-82C9-4C92-B008-2803BF3B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187ABF7B-A479-4574-A7AC-1EDEF790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C6BBB53E-AA44-49ED-AB44-91241007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运动控制与迁移：一次可验收练习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921B45F0-1374-41F3-BBE3-F07A3CC8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4178252F-2E35-41D9-9575-5E33BB6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EM-004-S09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B82809CF-628E-4A29-BBE4-70A39700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1D61E3FC-CA52-48F5-9B60-57F43BC3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85400721-1C6C-44E2-80B5-9025AA41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为匀速前进任务列出观测、动作、五个奖励项和三个终止条件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1C333AC0-6805-4441-BEC6-521C9A4A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DB988DA6-26D8-4EF6-9D18-DA291EF9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53840AA2-71DB-42D0-B8C3-B3AADFEB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C399CA5B-B31F-4463-BAD2-0885DC43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比较线性倒立摆方法与强化学习方法各自适合解决的问题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F401957D-3303-4AA7-A926-6B9A61BB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3A41A96C-104D-4159-BE0A-0EA5190AA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7AA08ED3-BF68-4269-ABB0-32A55A19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0236A86C-A2AE-4EC0-BF7F-5BFBAEC3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 Train、Play、Sim2Sim、Sim2Real 四阶段验收表和真机急停条件</a:t>
            </a:r>
          </a:p>
        </p:txBody>
      </p:sp>
    </p:spTree>
    <p:extLst>
      <p:ext uri="{BB962C8B-B14F-4D97-AF65-F5344CB8AC3E}">
        <p14:creationId xmlns:p14="http://schemas.microsoft.com/office/powerpoint/2010/main" val="18177405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04255118-A8AE-4008-9929-26455E01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E9628935-C1E2-48F0-9DE5-D0F73D36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A32C0E23-F625-411A-9E49-7CACD9E7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运动控制与迁移：判断时先抓住三点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05D1DE17-FE86-42EF-A788-AFA213AF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B657533C-9485-4DD4-BDA5-4D52AE8A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EM-004-S10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62E9CA11-4931-4600-B2DD-47610CCB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4609B029-8FCD-42C3-AACD-4645BBEF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CAF69229-BEBE-43F4-B434-20338518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步行可以分解为支撑相和摆动相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9979044A-A442-4710-893A-C37090D3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CF748DDC-CB14-4073-9570-7B48ACD9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42CF9643-8048-4CE7-BC50-BC463D61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F8CB47E9-F8B4-40A3-9367-50F6FA75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强化学习把观测、动作与奖励连成控制闭环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5628C367-1B3F-4234-A68A-CAAA6152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B7F8F29E-1FB1-4DEB-BF18-B53B84AC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0202AC4D-0C94-4BDE-9EC9-17EEF960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DBB2794F-051D-4933-A5B8-210A3F962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典型流程先在 Isaac Lab 等并行仿真环境训练</a:t>
            </a:r>
          </a:p>
        </p:txBody>
      </p:sp>
    </p:spTree>
    <p:extLst>
      <p:ext uri="{BB962C8B-B14F-4D97-AF65-F5344CB8AC3E}">
        <p14:creationId xmlns:p14="http://schemas.microsoft.com/office/powerpoint/2010/main" val="29102476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72946826-C9EC-468A-B6DF-50ACA8BC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AFFE1E97-9998-4366-AA8A-2E152074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F40F393C-BEA8-4DA5-A252-DFA3A321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运动控制与迁移：依据、边界与延伸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8D841CF8-3A1F-4892-B260-9AB74C3B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5E187305-9917-43E6-9241-4CBCAF2D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EM-004-S11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E331FDE0-0C2C-4851-8DFE-32250BF4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7B9E3829-F685-4C4A-9F6F-C529CDE3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322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Proximal Policy Optimization Algorithms：PPO 原论文；裁剪目标限制策略更新幅度，不等于动作限幅、碰撞约束或安全保证。（核对日期：2026-07-12）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BC3591AD-45DD-4D4B-89F9-E9CCAB07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34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MuJoCo 官方概览：核对关节与接触动力学、控制和机器学习用途；时间步长与数值稳定性仍需按任务验证。（核对日期：2026-07-12）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79147ADD-B62E-4CF5-B8F7-AD39875C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22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Isaac Lab 官方 Sim-to-Real 指南：核对仿真训练、域随机化、真实观测、执行器响应对齐与 ROS 部署流程。（核对日期：2026-07-12）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1E8394E9-1827-475E-81EA-E6208C13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063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Domain Randomization 原论文：理解扩大训练分布以缓解 reality gap 的方法；原论文结果不能直接外推为复杂人形步态的通用保证。（核对日期：2026-07-12）</a:t>
            </a:r>
          </a:p>
        </p:txBody>
      </p:sp>
      <p:sp>
        <p:nvSpPr>
          <p:cNvPr id="11" name="s11-takeaway-rule">
            <a:extLst xmlns:a="http://schemas.openxmlformats.org/drawingml/2006/main">
              <a:ext uri="{FF2B5EF4-FFF2-40B4-BE49-F238E27FC236}">
                <a16:creationId xmlns:a16="http://schemas.microsoft.com/office/drawing/2014/main" id="{91DA0355-F575-4F3C-B4AA-2D818EA7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11-takeaway">
            <a:extLst xmlns:a="http://schemas.openxmlformats.org/drawingml/2006/main">
              <a:ext uri="{FF2B5EF4-FFF2-40B4-BE49-F238E27FC236}">
                <a16:creationId xmlns:a16="http://schemas.microsoft.com/office/drawing/2014/main" id="{1CAC8F0C-8043-4049-88C3-4FF0630D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10428410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2026-07-12T03:31:57.5800000Z</dcterms:created>
  <dcterms:modified xsi:type="dcterms:W3CDTF">2026-07-12T03:31:57.5800000Z</dcterms:modified>
</coreProperties>
</file>