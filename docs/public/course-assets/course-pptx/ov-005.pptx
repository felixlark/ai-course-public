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5936f4d00d424d" /><Relationship Type="http://schemas.openxmlformats.org/officeDocument/2006/relationships/extended-properties" Target="/docProps/app.xml" Id="R263e1f8670ef414d" /><Relationship Type="http://schemas.openxmlformats.org/officeDocument/2006/relationships/officeDocument" Target="/ppt/presentation.xml" Id="R3254d01f7bd84a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0ebb7c50c04d01"/>
  </p:sldMasterIdLst>
  <p:notesMasterIdLst>
    <p:notesMasterId xmlns:r="http://schemas.openxmlformats.org/officeDocument/2006/relationships" r:id="R679ab679fd8b4bc9"/>
  </p:notesMasterIdLst>
  <p:sldIdLst>
    <p:sldId xmlns:r="http://schemas.openxmlformats.org/officeDocument/2006/relationships" id="256" r:id="R3b83a80c7cec4678"/>
    <p:sldId xmlns:r="http://schemas.openxmlformats.org/officeDocument/2006/relationships" id="257" r:id="Rfbe14e3897a7438e"/>
    <p:sldId xmlns:r="http://schemas.openxmlformats.org/officeDocument/2006/relationships" id="258" r:id="R1ebc7b175add4356"/>
    <p:sldId xmlns:r="http://schemas.openxmlformats.org/officeDocument/2006/relationships" id="259" r:id="R3befd4962dda49a4"/>
    <p:sldId xmlns:r="http://schemas.openxmlformats.org/officeDocument/2006/relationships" id="260" r:id="R6f92e3c159044d96"/>
    <p:sldId xmlns:r="http://schemas.openxmlformats.org/officeDocument/2006/relationships" id="261" r:id="R72bc0b76cfa14910"/>
    <p:sldId xmlns:r="http://schemas.openxmlformats.org/officeDocument/2006/relationships" id="262" r:id="R9875ae40dea14063"/>
    <p:sldId xmlns:r="http://schemas.openxmlformats.org/officeDocument/2006/relationships" id="263" r:id="R3edf2a5c1aa04915"/>
    <p:sldId xmlns:r="http://schemas.openxmlformats.org/officeDocument/2006/relationships" id="264" r:id="R3aa95de2e9d44f99"/>
    <p:sldId xmlns:r="http://schemas.openxmlformats.org/officeDocument/2006/relationships" id="265" r:id="Raecbc5944c7f4e6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cffa574a1b470e" /><Relationship Type="http://schemas.openxmlformats.org/officeDocument/2006/relationships/slideMaster" Target="/ppt/slideMasters/slideMaster1.xml" Id="Rdb0ebb7c50c04d01" /><Relationship Type="http://schemas.openxmlformats.org/officeDocument/2006/relationships/notesMaster" Target="/ppt/notesMasters/notesMaster1.xml" Id="R679ab679fd8b4bc9" /><Relationship Type="http://schemas.openxmlformats.org/officeDocument/2006/relationships/presProps" Target="/ppt/presProps.xml" Id="Rcb1ca485d46849a5" /><Relationship Type="http://schemas.openxmlformats.org/officeDocument/2006/relationships/tableStyles" Target="/ppt/tableStyles.xml" Id="R121c9250bebc490b" /><Relationship Type="http://schemas.openxmlformats.org/officeDocument/2006/relationships/slide" Target="/ppt/slides/slide1.xml" Id="R3b83a80c7cec4678" /><Relationship Type="http://schemas.openxmlformats.org/officeDocument/2006/relationships/slide" Target="/ppt/slides/slide2.xml" Id="Rfbe14e3897a7438e" /><Relationship Type="http://schemas.openxmlformats.org/officeDocument/2006/relationships/slide" Target="/ppt/slides/slide3.xml" Id="R1ebc7b175add4356" /><Relationship Type="http://schemas.openxmlformats.org/officeDocument/2006/relationships/slide" Target="/ppt/slides/slide4.xml" Id="R3befd4962dda49a4" /><Relationship Type="http://schemas.openxmlformats.org/officeDocument/2006/relationships/slide" Target="/ppt/slides/slide5.xml" Id="R6f92e3c159044d96" /><Relationship Type="http://schemas.openxmlformats.org/officeDocument/2006/relationships/slide" Target="/ppt/slides/slide6.xml" Id="R72bc0b76cfa14910" /><Relationship Type="http://schemas.openxmlformats.org/officeDocument/2006/relationships/slide" Target="/ppt/slides/slide7.xml" Id="R9875ae40dea14063" /><Relationship Type="http://schemas.openxmlformats.org/officeDocument/2006/relationships/slide" Target="/ppt/slides/slide8.xml" Id="R3edf2a5c1aa04915" /><Relationship Type="http://schemas.openxmlformats.org/officeDocument/2006/relationships/slide" Target="/ppt/slides/slide9.xml" Id="R3aa95de2e9d44f99" /><Relationship Type="http://schemas.openxmlformats.org/officeDocument/2006/relationships/slide" Target="/ppt/slides/slide10.xml" Id="Raecbc5944c7f4e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4059417a5748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e541a2b32447c3" /><Relationship Type="http://schemas.openxmlformats.org/officeDocument/2006/relationships/notesMaster" Target="/ppt/notesMasters/notesMaster1.xml" Id="Ra7372eb0a30541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84bc5a044d427d" /><Relationship Type="http://schemas.openxmlformats.org/officeDocument/2006/relationships/notesMaster" Target="/ppt/notesMasters/notesMaster1.xml" Id="Rf2e362f494c54d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dcefbca247484d" /><Relationship Type="http://schemas.openxmlformats.org/officeDocument/2006/relationships/notesMaster" Target="/ppt/notesMasters/notesMaster1.xml" Id="R90926865ea9b45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e197d426c9409d" /><Relationship Type="http://schemas.openxmlformats.org/officeDocument/2006/relationships/notesMaster" Target="/ppt/notesMasters/notesMaster1.xml" Id="R09af9f6d59694c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18c7413f7c4e16" /><Relationship Type="http://schemas.openxmlformats.org/officeDocument/2006/relationships/notesMaster" Target="/ppt/notesMasters/notesMaster1.xml" Id="R8aa06bad66bf4f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1cbc98c4744a63" /><Relationship Type="http://schemas.openxmlformats.org/officeDocument/2006/relationships/notesMaster" Target="/ppt/notesMasters/notesMaster1.xml" Id="Rd6273fab13794c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77c66ded534abb" /><Relationship Type="http://schemas.openxmlformats.org/officeDocument/2006/relationships/notesMaster" Target="/ppt/notesMasters/notesMaster1.xml" Id="R2bd18739e86d45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b594fc724d41dd" /><Relationship Type="http://schemas.openxmlformats.org/officeDocument/2006/relationships/notesMaster" Target="/ppt/notesMasters/notesMaster1.xml" Id="R7dd7023cd9284b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a27383f68e4493" /><Relationship Type="http://schemas.openxmlformats.org/officeDocument/2006/relationships/notesMaster" Target="/ppt/notesMasters/notesMaster1.xml" Id="R76043cf9f1f941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280fd72e4d749aa" /><Relationship Type="http://schemas.openxmlformats.org/officeDocument/2006/relationships/notesMaster" Target="/ppt/notesMasters/notesMaster1.xml" Id="Recc73b90051f47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821abd04a043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190522df354c2c" /><Relationship Type="http://schemas.openxmlformats.org/officeDocument/2006/relationships/slideLayout" Target="/ppt/slideLayouts/slideLayout1.xml" Id="Rdc4fb9a9f6d240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4fb9a9f6d240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00a1887164d74" /><Relationship Type="http://schemas.openxmlformats.org/officeDocument/2006/relationships/notesSlide" Target="/ppt/notesSlides/notesSlide1.xml" Id="Re451ee580ec24e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f9f1ec82a44e8" /><Relationship Type="http://schemas.openxmlformats.org/officeDocument/2006/relationships/notesSlide" Target="/ppt/notesSlides/notesSlide2.xml" Id="R0fac4b722c9649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9cb67dfbe4e19" /><Relationship Type="http://schemas.openxmlformats.org/officeDocument/2006/relationships/notesSlide" Target="/ppt/notesSlides/notesSlide3.xml" Id="R48003f4d167541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0f008b16514226" /><Relationship Type="http://schemas.openxmlformats.org/officeDocument/2006/relationships/notesSlide" Target="/ppt/notesSlides/notesSlide4.xml" Id="Redc4e12d297a46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2574eba5d4623" /><Relationship Type="http://schemas.openxmlformats.org/officeDocument/2006/relationships/notesSlide" Target="/ppt/notesSlides/notesSlide5.xml" Id="R54c05f41160a4f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15347573148a7" /><Relationship Type="http://schemas.openxmlformats.org/officeDocument/2006/relationships/notesSlide" Target="/ppt/notesSlides/notesSlide6.xml" Id="R0eec6a4232c348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d3d99885443fa" /><Relationship Type="http://schemas.openxmlformats.org/officeDocument/2006/relationships/notesSlide" Target="/ppt/notesSlides/notesSlide7.xml" Id="R6af0d810f6074c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50ace4dd740e1" /><Relationship Type="http://schemas.openxmlformats.org/officeDocument/2006/relationships/notesSlide" Target="/ppt/notesSlides/notesSlide8.xml" Id="Rdfa62ce72d4f48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0eedcaffe4584" /><Relationship Type="http://schemas.openxmlformats.org/officeDocument/2006/relationships/notesSlide" Target="/ppt/notesSlides/notesSlide9.xml" Id="R81d541fad3b645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19e4a7eda4291" /><Relationship Type="http://schemas.openxmlformats.org/officeDocument/2006/relationships/notesSlide" Target="/ppt/notesSlides/notesSlide10.xml" Id="R727c7254a54d42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3EFF60D9-313F-4313-AAAB-965A4AA3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C269DC27-2AA6-418A-B5AF-B89FF4E0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317ACDDA-21B3-4ABA-8803-B3CED8C3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23C004D-954F-4086-B594-C9A4EE15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B7B6DF42-BC48-4DA8-84D4-29E28035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900D918-22B7-4193-A4D9-94425EC0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656CBCC-7366-47D6-81D8-BA261F68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474BE09-0524-4532-A02A-CED78B0F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76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与开源模型生态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B25B0A-760C-4708-815E-7DC1F204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从推理模型、开源生态和本地部署理解 DeepSeek 带来的技术与应用选择。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7298D9B1-5EBF-4062-B017-E53E719E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受到关注；不应只归结为“又出现了一个聊天模型”；它让更多团队同时看到三件事；推理模型可以通过训练与测试时计算改善复杂任务表现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2B10425-FAD5-4DC5-91F1-EE899D56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19D477C3-0897-4900-BE5F-0E2E886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OV-005 · OV-005-S01</a:t>
            </a:r>
          </a:p>
        </p:txBody>
      </p:sp>
    </p:spTree>
    <p:extLst>
      <p:ext uri="{BB962C8B-B14F-4D97-AF65-F5344CB8AC3E}">
        <p14:creationId xmlns:p14="http://schemas.microsoft.com/office/powerpoint/2010/main" val="13075463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64D572A8-D114-4691-A84B-D7341577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A110534-0659-4D23-9470-0F629BD2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A5C7D88F-8DFD-4304-9FF5-35292B9B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70EAE40-538D-4B7D-B924-22EF652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40E6AB7-CE46-457E-8F0A-D350A19A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9FA36E5-79EE-4662-BEB1-DDD4D17D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 DeepSeek-R1 所代表的推理模型路线，以及强化学习、监督微调和蒸馏各自解决什么问题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B1DA4268-51BF-479F-AFD7-58909AC1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区分开放权重、开放代码、开放数据与完整开源，读懂模型许可证的实际边界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5911979-C088-4774-8C86-217A41E8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根据任务质量、数据敏感度、时延、吞吐、成本和运维能力选择 API、托管服务或本地部署</a:t>
            </a:r>
          </a:p>
        </p:txBody>
      </p:sp>
    </p:spTree>
    <p:extLst>
      <p:ext uri="{BB962C8B-B14F-4D97-AF65-F5344CB8AC3E}">
        <p14:creationId xmlns:p14="http://schemas.microsoft.com/office/powerpoint/2010/main" val="11303686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3CCCA59-611E-4BED-855F-42973CB4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F3A92B2-245C-46AB-AB02-6551E008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4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833D68B-FF67-4FFD-84A5-C4EA1E1A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4D9D0CD4-4E58-4B78-8273-C27685B7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ED13A467-C9AC-410B-8383-9A65EC4C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9731A21-45FA-4E18-BF94-BCC43E31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7F9B896-6A45-4D79-93A3-FAFEF295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推理模型改变了什么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8286EBE-14F8-4B05-B378-A5E9D97E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普通生成模型倾向于直接预测下一个 token；推理模型则通过训练；使模型在数学、代码、规划等任务上更善于分解问题、检查中间结果并在推理阶段投入更多计算；它并不意味着模型拥有稳定的逻辑真理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09D2BCB-C3B5-4421-B228-9E9AD163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84FF6AD-C6FC-49ED-9BD8-AFBC6533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DeepSeek-R1 论文描述的路线包含冷启动监督数据、面向推理的强化学习、混合数据监督微调和后续强化学习等阶段；强化学习用于奖励可验证的正确结果和合适行为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6393432-E86F-4695-8496-A810AD57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C8B1B495-B50E-4274-A6AD-CB5CC5AE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</p:spTree>
    <p:extLst>
      <p:ext uri="{BB962C8B-B14F-4D97-AF65-F5344CB8AC3E}">
        <p14:creationId xmlns:p14="http://schemas.microsoft.com/office/powerpoint/2010/main" val="7013147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BCE7B328-B9BD-44EF-834E-1AE29259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8F78770-ED33-40CB-84B5-8D613CDF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4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13A2F99-55E3-47CD-A96E-958B303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773A50B7-CE0B-4167-B6CA-FD78ED86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EAED8AF6-74E3-4C47-825A-405B1B3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53F9094-0721-4B93-B354-CD2103B6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2A7CF29-31AF-4954-BD94-99D8E46A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“开源模型”要拆成四个问题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4E7F871-CBD0-49E3-9249-390B0737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日常讨论常把可下载模型统称为开源，但工程决策要继续追问：模型权重是否可得？推理与训练代码是否公开？训练数据和处理方法是否可追溯？许可证是否允许修改、商用、再分发和生成衍生模型？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F4E837B-6AEA-4828-AFCF-BD62893E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5C62A39-44FB-4802-A8CB-BCF5ED38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只有权重可下载，通常更准确地称为 开放权重模型；它仍然很有价值，团队可以在自己的基础设施上运行、量化、评测和微调；但它并不自动带来训练透明度；也不代表所有用途都无条件允许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305711F3-8AFA-4FB1-8F0A-E1D8B2EB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866FA39-9602-494B-A4BC-E600A697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</p:spTree>
    <p:extLst>
      <p:ext uri="{BB962C8B-B14F-4D97-AF65-F5344CB8AC3E}">
        <p14:creationId xmlns:p14="http://schemas.microsoft.com/office/powerpoint/2010/main" val="9159146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50635D53-B660-45CC-BB6A-1B42F3DF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BFC2CBF8-59C6-498A-845C-F9BED59E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4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B278C1E7-C4E2-4EB1-ADC5-D109113B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部署方式交换的是速度、控制与运维成本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BFD3EDF-5793-4788-A9F2-FADCBCC4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A3AF971F-24C7-4419-9117-E246B61C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053EA85-C6D3-4B2D-B81E-9EE9F662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DE6CEB3-4AF8-43D7-A563-47C3A1AF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API、托管与本地部署的取舍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B740346-3AE8-4C16-9FDF-71C0799E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调用外部 API 上手快、无需管理 GPU；适合快速试验和波动负载；托管专属实例能增加网络与容量控制；本地部署可以让数据、日志和模型运行环境留在组织边界内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58DEEE5-FB30-4D22-B086-3D1FC295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AFFC6EB-440C-4B77-B666-860299DD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判断方案时至少测六项；目标任务质量、端到端时延、峰值吞吐、单位任务总成本、敏感数据暴露面和持续运维能力；参数量不是硬件需求的唯一决定因素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8E1AD9F2-BC69-49E5-B6E2-C8877A18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59D8DD3F-9F9E-4555-ADF0-850C0028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部署方式交换的是速度、控制与运维成本</a:t>
            </a:r>
          </a:p>
        </p:txBody>
      </p:sp>
    </p:spTree>
    <p:extLst>
      <p:ext uri="{BB962C8B-B14F-4D97-AF65-F5344CB8AC3E}">
        <p14:creationId xmlns:p14="http://schemas.microsoft.com/office/powerpoint/2010/main" val="13462670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4C1C0F0-396D-42F9-B1B0-81DE3B8F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6818DF42-E816-4A42-A2A6-9AE5090A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4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BFC4D2A6-0447-481F-AFBC-0B715D07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榜单只能筛选候选，真实任务才能决定选型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471C1B6A-C643-4B51-9617-531386B6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A426B7D-B509-47E7-BD3E-75D70663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6CA5C63-D82D-43EF-A0B1-39A8850E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C9B1671-6D73-4045-8F7E-A6538576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模型评测必须贴近真实任务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38953F7-CD6C-4185-BDE3-A4CF30DB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公开榜单适合形成候选列表；最终选择应使用自己的代表性任务集；知识问答要检查引用是否支持结论；代码任务要运行测试；结构化抽取要核对字段；推理任务要验证最终答案和关键约束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09743B6-F4F8-4EA8-B489-1DCCE2C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24A3F23-AF19-472C-9DC5-7924FCA8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评测结果应记录模型版本、推理参数、提示模板、工具、数据集版本和运行日期。模型升级后重新跑同一套基线，才能知道变化来自模型本身还是调用配置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42D440A2-440F-4ED9-A64E-993E8256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0C7144C8-E684-44C3-9C0D-15F0602A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榜单只能筛选候选，真实任务才能决定选型</a:t>
            </a:r>
          </a:p>
        </p:txBody>
      </p:sp>
    </p:spTree>
    <p:extLst>
      <p:ext uri="{BB962C8B-B14F-4D97-AF65-F5344CB8AC3E}">
        <p14:creationId xmlns:p14="http://schemas.microsoft.com/office/powerpoint/2010/main" val="1836212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07FFFB71-C71C-4A2C-B427-980CDA68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4C4AEE2-C47C-42D5-A349-09865694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6244F98-0C2B-4C58-8410-408E9766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24723CF0-EB65-4336-A4F7-AEF0FB2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914A4F1-A8DB-4356-8F24-3A0C7CD7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OV-005-S07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23AE1741-8459-4F35-A743-083E6CD3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7A35132D-7734-42E4-ABAA-2035AE4B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场景｜一家企业希望员工查询内部制度，初看适合本地部署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AFA1BC8-B181-40D1-A721-29D83AB3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方法｜团队先把 100 个真实问题整理成评测集，要求回答同时给出制度名称、章节和生效日期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62D2073-6C64-418B-9035-20C15B8A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边界｜方案采用权限过滤后的文档检索，再把证据交给模型生成答案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56EB6C8A-802E-482E-A3EF-9FE4EA7A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边界｜找不到可靠依据时明确转人工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B49F582E-58C8-467B-8891-2BFC4124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方法｜试点同时比较外部 API、专属托管和本地开放权重模型</a:t>
            </a:r>
          </a:p>
        </p:txBody>
      </p:sp>
      <p:sp>
        <p:nvSpPr>
          <p:cNvPr id="12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25C2918-AE48-4B8B-BE01-B38E1FEC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7-takeaway">
            <a:extLst xmlns:a="http://schemas.openxmlformats.org/drawingml/2006/main">
              <a:ext uri="{FF2B5EF4-FFF2-40B4-BE49-F238E27FC236}">
                <a16:creationId xmlns:a16="http://schemas.microsoft.com/office/drawing/2014/main" id="{4586286E-55D0-455A-BE6F-0C054D53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</p:spTree>
    <p:extLst>
      <p:ext uri="{BB962C8B-B14F-4D97-AF65-F5344CB8AC3E}">
        <p14:creationId xmlns:p14="http://schemas.microsoft.com/office/powerpoint/2010/main" val="13954642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E9F0FFD-88BF-4CC2-A288-CD40DFFA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957EC1B7-E9A2-4137-A29D-63809FF8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7DB9D7B-1AFC-4285-8CED-145CFADA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与开源生态：一次可验收练习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AE69E4F-B8E2-42DF-9408-4D099F82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0524A468-8230-4B23-8046-6618AE38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OV-005-S08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25A2A47A-4F03-41E5-A9F1-C6BEA8FD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0D49C364-4424-4A85-8717-4B765F64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3CB6BF70-F28C-428B-88C6-EDF9B6C2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选择一个真实任务，写出 20 条最小评测集，并定义“答对”的证据，而不是只给主观评分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9D77B05F-AA0B-4622-86F5-A00D4EF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616C796C-7689-49EB-9C71-6C9A676E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C2327FA2-37A6-4F8A-82B5-B742EB05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39F4887B-D775-4262-A6C8-029F485E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为同一任务比较外部 API、托管实例和本地部署，列出质量、时延、成本、数据、运维六栏假设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597DE0C5-19BE-4255-89B7-B6C0D342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1BC3429-A118-410C-86B4-F3A66042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FB84973C-DA4E-4F2E-A370-9650231D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513C3AF3-FAC3-4DF0-8A2E-746C8BC7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找到一个拟用模型的许可证，分别回答：能否商用、能否改模型、能否再分发、是否有额外使用限制</a:t>
            </a:r>
          </a:p>
        </p:txBody>
      </p:sp>
    </p:spTree>
    <p:extLst>
      <p:ext uri="{BB962C8B-B14F-4D97-AF65-F5344CB8AC3E}">
        <p14:creationId xmlns:p14="http://schemas.microsoft.com/office/powerpoint/2010/main" val="18511920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724482B9-1C6E-4CE0-8CC3-FD838D30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8969CA11-D264-44EE-9D5D-19000A20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53730B20-FF6D-496A-8FE5-D25CC1E9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与开源生态：判断时先抓住三点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A6B24DC2-6690-440F-8E82-063A7142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113F5B24-7BF0-4ED0-9F72-794F7DDC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OV-005-S09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3473E831-E918-453C-A1D5-FC502E5C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A8C33982-204B-4519-BC37-C9A891BC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EC8C7AF0-C1B6-4E1F-BA06-376FFBA0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4B66B44A-A263-4A90-A473-990BEB5A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2382A64E-AB41-4F8D-BF13-3625F203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5AECD59-1248-4C67-A238-C10B9D01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72CBBDBC-FFC8-4A94-A7E2-D6C6EAB8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AEE6A9F-A358-406B-A1F1-D3C15E18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7AC50FF-9E75-48B8-9DA6-65B0D836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4B73D364-6FA7-432C-98BE-432BF6B9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385E6060-25C8-4E52-B848-26FE0444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榜单只能筛选候选，真实任务才能决定选型</a:t>
            </a:r>
          </a:p>
        </p:txBody>
      </p:sp>
    </p:spTree>
    <p:extLst>
      <p:ext uri="{BB962C8B-B14F-4D97-AF65-F5344CB8AC3E}">
        <p14:creationId xmlns:p14="http://schemas.microsoft.com/office/powerpoint/2010/main" val="9106340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0D59885C-5E74-4267-8E83-70AECC58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3D730D6-DD29-4EC8-BF70-D7BA7074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3958D85E-B444-4887-B1C6-EB3EC30D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与开源生态：依据、边界与延伸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242F366-6404-4DBD-9249-4B415525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12E8C02-FB10-4EF1-8F2A-3DDB3D19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OV-005-S10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7660D0CB-EB20-4831-AC87-43F14396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6793C831-1079-4E3B-90E4-1C3816D7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DeepSeek-R1: Incentivizing Reasoning Capability in LLMs via Reinforcement Learning；DeepSeek-R1 官方技术论文</a:t>
            </a:r>
          </a:p>
        </p:txBody>
      </p:sp>
      <p:sp>
        <p:nvSpPr>
          <p:cNvPr id="8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A298A5F0-C077-4B86-82E8-635A2906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616B7B9F-491B-415C-A94B-ABDD2B50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5942139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2026-07-11T16:55:26.6060000Z</dcterms:created>
  <dcterms:modified xsi:type="dcterms:W3CDTF">2026-07-11T16:55:26.6060000Z</dcterms:modified>
</coreProperties>
</file>