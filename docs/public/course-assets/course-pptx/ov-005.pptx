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4eb3b63dc14803" /><Relationship Type="http://schemas.openxmlformats.org/officeDocument/2006/relationships/extended-properties" Target="/docProps/app.xml" Id="Reac4a26426694d11" /><Relationship Type="http://schemas.openxmlformats.org/officeDocument/2006/relationships/officeDocument" Target="/ppt/presentation.xml" Id="R9bb6ec63d88a44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26e68ed053418a"/>
  </p:sldMasterIdLst>
  <p:notesMasterIdLst>
    <p:notesMasterId xmlns:r="http://schemas.openxmlformats.org/officeDocument/2006/relationships" r:id="Ra148da1f42974698"/>
  </p:notesMasterIdLst>
  <p:sldIdLst>
    <p:sldId xmlns:r="http://schemas.openxmlformats.org/officeDocument/2006/relationships" id="256" r:id="Rf2e79468e76840c2"/>
    <p:sldId xmlns:r="http://schemas.openxmlformats.org/officeDocument/2006/relationships" id="257" r:id="Ra8918ea5c59a4485"/>
    <p:sldId xmlns:r="http://schemas.openxmlformats.org/officeDocument/2006/relationships" id="258" r:id="Rc988cf61c8404c73"/>
    <p:sldId xmlns:r="http://schemas.openxmlformats.org/officeDocument/2006/relationships" id="259" r:id="R0e30dfa8c5704ba7"/>
    <p:sldId xmlns:r="http://schemas.openxmlformats.org/officeDocument/2006/relationships" id="260" r:id="R8127cc3b61db48d8"/>
    <p:sldId xmlns:r="http://schemas.openxmlformats.org/officeDocument/2006/relationships" id="261" r:id="Ra228c109793e4062"/>
    <p:sldId xmlns:r="http://schemas.openxmlformats.org/officeDocument/2006/relationships" id="262" r:id="Rc44b00d302604e68"/>
    <p:sldId xmlns:r="http://schemas.openxmlformats.org/officeDocument/2006/relationships" id="263" r:id="R01749f8ddde647d7"/>
    <p:sldId xmlns:r="http://schemas.openxmlformats.org/officeDocument/2006/relationships" id="264" r:id="Rcddbf98646c94b4c"/>
    <p:sldId xmlns:r="http://schemas.openxmlformats.org/officeDocument/2006/relationships" id="265" r:id="R203dd84219c94b5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fb706c7171451d" /><Relationship Type="http://schemas.openxmlformats.org/officeDocument/2006/relationships/slideMaster" Target="/ppt/slideMasters/slideMaster1.xml" Id="R0226e68ed053418a" /><Relationship Type="http://schemas.openxmlformats.org/officeDocument/2006/relationships/notesMaster" Target="/ppt/notesMasters/notesMaster1.xml" Id="Ra148da1f42974698" /><Relationship Type="http://schemas.openxmlformats.org/officeDocument/2006/relationships/presProps" Target="/ppt/presProps.xml" Id="R9540bd481ce940c3" /><Relationship Type="http://schemas.openxmlformats.org/officeDocument/2006/relationships/tableStyles" Target="/ppt/tableStyles.xml" Id="R73897a1ac92c4555" /><Relationship Type="http://schemas.openxmlformats.org/officeDocument/2006/relationships/slide" Target="/ppt/slides/slide1.xml" Id="Rf2e79468e76840c2" /><Relationship Type="http://schemas.openxmlformats.org/officeDocument/2006/relationships/slide" Target="/ppt/slides/slide2.xml" Id="Ra8918ea5c59a4485" /><Relationship Type="http://schemas.openxmlformats.org/officeDocument/2006/relationships/slide" Target="/ppt/slides/slide3.xml" Id="Rc988cf61c8404c73" /><Relationship Type="http://schemas.openxmlformats.org/officeDocument/2006/relationships/slide" Target="/ppt/slides/slide4.xml" Id="R0e30dfa8c5704ba7" /><Relationship Type="http://schemas.openxmlformats.org/officeDocument/2006/relationships/slide" Target="/ppt/slides/slide5.xml" Id="R8127cc3b61db48d8" /><Relationship Type="http://schemas.openxmlformats.org/officeDocument/2006/relationships/slide" Target="/ppt/slides/slide6.xml" Id="Ra228c109793e4062" /><Relationship Type="http://schemas.openxmlformats.org/officeDocument/2006/relationships/slide" Target="/ppt/slides/slide7.xml" Id="Rc44b00d302604e68" /><Relationship Type="http://schemas.openxmlformats.org/officeDocument/2006/relationships/slide" Target="/ppt/slides/slide8.xml" Id="R01749f8ddde647d7" /><Relationship Type="http://schemas.openxmlformats.org/officeDocument/2006/relationships/slide" Target="/ppt/slides/slide9.xml" Id="Rcddbf98646c94b4c" /><Relationship Type="http://schemas.openxmlformats.org/officeDocument/2006/relationships/slide" Target="/ppt/slides/slide10.xml" Id="R203dd84219c94b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bc23f8497b4d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15fcdbe415466d" /><Relationship Type="http://schemas.openxmlformats.org/officeDocument/2006/relationships/notesMaster" Target="/ppt/notesMasters/notesMaster1.xml" Id="R7b9c1f104b0044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1c1bec1cbb433b" /><Relationship Type="http://schemas.openxmlformats.org/officeDocument/2006/relationships/notesMaster" Target="/ppt/notesMasters/notesMaster1.xml" Id="R747a3b58998f4a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4541095afd488b" /><Relationship Type="http://schemas.openxmlformats.org/officeDocument/2006/relationships/notesMaster" Target="/ppt/notesMasters/notesMaster1.xml" Id="R341bdc6bc38244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74588a26574fab" /><Relationship Type="http://schemas.openxmlformats.org/officeDocument/2006/relationships/notesMaster" Target="/ppt/notesMasters/notesMaster1.xml" Id="Rd328e968235940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0abb19a6034f11" /><Relationship Type="http://schemas.openxmlformats.org/officeDocument/2006/relationships/notesMaster" Target="/ppt/notesMasters/notesMaster1.xml" Id="R8ef55467cb7640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8a71f90b82485d" /><Relationship Type="http://schemas.openxmlformats.org/officeDocument/2006/relationships/notesMaster" Target="/ppt/notesMasters/notesMaster1.xml" Id="Rb85bc294706348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ba7d7da0814b40" /><Relationship Type="http://schemas.openxmlformats.org/officeDocument/2006/relationships/notesMaster" Target="/ppt/notesMasters/notesMaster1.xml" Id="Rc0d1ad69c93f4c1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3ca49d4236c44be" /><Relationship Type="http://schemas.openxmlformats.org/officeDocument/2006/relationships/notesMaster" Target="/ppt/notesMasters/notesMaster1.xml" Id="R214b220174c7475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40dc9fe05f44b41" /><Relationship Type="http://schemas.openxmlformats.org/officeDocument/2006/relationships/notesMaster" Target="/ppt/notesMasters/notesMaster1.xml" Id="R29a5f6e0a0be47e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114c77d4bde4228" /><Relationship Type="http://schemas.openxmlformats.org/officeDocument/2006/relationships/notesMaster" Target="/ppt/notesMasters/notesMaster1.xml" Id="R41e5c908e08949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6dab035e5f4e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498f7770b64e94" /><Relationship Type="http://schemas.openxmlformats.org/officeDocument/2006/relationships/slideLayout" Target="/ppt/slideLayouts/slideLayout1.xml" Id="R254872adb01746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4872adb01746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9168cb66ef4303" /><Relationship Type="http://schemas.openxmlformats.org/officeDocument/2006/relationships/notesSlide" Target="/ppt/notesSlides/notesSlide1.xml" Id="Rf9f440d5fa134c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5f579a231547a9" /><Relationship Type="http://schemas.openxmlformats.org/officeDocument/2006/relationships/notesSlide" Target="/ppt/notesSlides/notesSlide2.xml" Id="R297cd9ef220249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48e0fe89c6477a" /><Relationship Type="http://schemas.openxmlformats.org/officeDocument/2006/relationships/notesSlide" Target="/ppt/notesSlides/notesSlide3.xml" Id="R925511b8cc4e47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13b1ff2c4f4176" /><Relationship Type="http://schemas.openxmlformats.org/officeDocument/2006/relationships/notesSlide" Target="/ppt/notesSlides/notesSlide4.xml" Id="R0b57300d0d234e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daff2687304fbe" /><Relationship Type="http://schemas.openxmlformats.org/officeDocument/2006/relationships/notesSlide" Target="/ppt/notesSlides/notesSlide5.xml" Id="R85dd8e31a16d4c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1628b8ce514656" /><Relationship Type="http://schemas.openxmlformats.org/officeDocument/2006/relationships/notesSlide" Target="/ppt/notesSlides/notesSlide6.xml" Id="R3e3449ae10d14b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ff2610e65d41ed" /><Relationship Type="http://schemas.openxmlformats.org/officeDocument/2006/relationships/notesSlide" Target="/ppt/notesSlides/notesSlide7.xml" Id="R14f57e376d5940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2e6790c834d36" /><Relationship Type="http://schemas.openxmlformats.org/officeDocument/2006/relationships/notesSlide" Target="/ppt/notesSlides/notesSlide8.xml" Id="R9deaf07d423642b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021ce81a21470e" /><Relationship Type="http://schemas.openxmlformats.org/officeDocument/2006/relationships/notesSlide" Target="/ppt/notesSlides/notesSlide9.xml" Id="Rd7c5028ff91740f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7ef81176c04acf" /><Relationship Type="http://schemas.openxmlformats.org/officeDocument/2006/relationships/notesSlide" Target="/ppt/notesSlides/notesSlide10.xml" Id="R493cc34a6b954a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rule">
            <a:extLst xmlns:a="http://schemas.openxmlformats.org/drawingml/2006/main">
              <a:ext uri="{FF2B5EF4-FFF2-40B4-BE49-F238E27FC236}">
                <a16:creationId xmlns:a16="http://schemas.microsoft.com/office/drawing/2014/main" id="{59DF30F4-DD3E-478F-82D0-5350D34E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143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cover-ring-1">
            <a:extLst xmlns:a="http://schemas.openxmlformats.org/drawingml/2006/main">
              <a:ext uri="{FF2B5EF4-FFF2-40B4-BE49-F238E27FC236}">
                <a16:creationId xmlns:a16="http://schemas.microsoft.com/office/drawing/2014/main" id="{E91B81FE-2436-4F80-8FFC-CA6C6CBD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066800"/>
            <a:ext cx="2857500" cy="2857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459C7"/>
            </a:solidFill>
            <a:prstDash val="solid"/>
          </a:ln>
        </p:spPr>
      </p:sp>
      <p:sp>
        <p:nvSpPr>
          <p:cNvPr id="3" name="cover-ring-2">
            <a:extLst xmlns:a="http://schemas.openxmlformats.org/drawingml/2006/main">
              <a:ext uri="{FF2B5EF4-FFF2-40B4-BE49-F238E27FC236}">
                <a16:creationId xmlns:a16="http://schemas.microsoft.com/office/drawing/2014/main" id="{04EC1060-14BB-47BA-B9E3-57AA00AB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19250"/>
            <a:ext cx="1752600" cy="1752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6A33A"/>
            </a:solidFill>
            <a:prstDash val="solid"/>
          </a:ln>
        </p:spPr>
      </p:sp>
      <p:sp>
        <p:nvSpPr>
          <p:cNvPr id="4" name="cover-core">
            <a:extLst xmlns:a="http://schemas.openxmlformats.org/drawingml/2006/main">
              <a:ext uri="{FF2B5EF4-FFF2-40B4-BE49-F238E27FC236}">
                <a16:creationId xmlns:a16="http://schemas.microsoft.com/office/drawing/2014/main" id="{517F52D7-9B17-45AE-9930-224208C1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90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5" name="cover-line-1">
            <a:extLst xmlns:a="http://schemas.openxmlformats.org/drawingml/2006/main">
              <a:ext uri="{FF2B5EF4-FFF2-40B4-BE49-F238E27FC236}">
                <a16:creationId xmlns:a16="http://schemas.microsoft.com/office/drawing/2014/main" id="{6B3A3565-BBB1-4C13-B216-EF568C75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76750"/>
            <a:ext cx="337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1459C7"/>
            </a:solidFill>
            <a:prstDash val="solid"/>
          </a:ln>
        </p:spPr>
      </p:sp>
      <p:sp>
        <p:nvSpPr>
          <p:cNvPr id="6" name="cover-line-2">
            <a:extLst xmlns:a="http://schemas.openxmlformats.org/drawingml/2006/main">
              <a:ext uri="{FF2B5EF4-FFF2-40B4-BE49-F238E27FC236}">
                <a16:creationId xmlns:a16="http://schemas.microsoft.com/office/drawing/2014/main" id="{2CC3DA2C-9748-4985-9E06-C80354BD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8958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6A33A"/>
            </a:solidFill>
            <a:prstDash val="solid"/>
          </a:ln>
        </p:spPr>
      </p:sp>
      <p:sp>
        <p:nvSpPr>
          <p:cNvPr id="7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3FB34B5F-37F6-492C-AA7C-DAC0502F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763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6A3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D6A33A"/>
                </a:solidFill>
                <a:latin typeface="PingFang SC"/>
                <a:ea typeface="PingFang SC"/>
                <a:cs typeface="PingFang SC"/>
              </a:rPr>
              <a:t>第 1 章 · 人工智能概述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E72360F-CE37-484D-B2CB-9D22B3EA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04950"/>
            <a:ext cx="6858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576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DeepSeek 与开源模型生态</a:t>
            </a:r>
          </a:p>
        </p:txBody>
      </p:sp>
      <p:sp>
        <p:nvSpPr>
          <p:cNvPr id="9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244636AA-4E4A-455B-9E42-E71EADEF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6477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>
                <a:solidFill>
                  <a:srgbClr val="DDEBFA"/>
                </a:solidFill>
                <a:latin typeface="PingFang SC"/>
                <a:ea typeface="PingFang SC"/>
                <a:cs typeface="PingFang SC"/>
              </a:defRPr>
            </a:pPr>
            <a:r>
              <a:rPr sz="2175">
                <a:solidFill>
                  <a:srgbClr val="DDEBFA"/>
                </a:solidFill>
                <a:latin typeface="PingFang SC"/>
                <a:ea typeface="PingFang SC"/>
                <a:cs typeface="PingFang SC"/>
              </a:rPr>
              <a:t>从推理模型、开源生态和本地部署理解 DeepSeek 带来的技术与应用选择。</a:t>
            </a:r>
          </a:p>
        </p:txBody>
      </p:sp>
      <p:sp>
        <p:nvSpPr>
          <p:cNvPr id="10" name="cover-lead">
            <a:extLst xmlns:a="http://schemas.openxmlformats.org/drawingml/2006/main">
              <a:ext uri="{FF2B5EF4-FFF2-40B4-BE49-F238E27FC236}">
                <a16:creationId xmlns:a16="http://schemas.microsoft.com/office/drawing/2014/main" id="{F072B896-2286-45FB-BE25-216F4E71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05300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DeepSeek 受到关注；不应只归结为“又出现了一个聊天模型”；它让更多团队同时看到三件事；推理模型可以通过训练与测试时计算改善复杂任务表现</a:t>
            </a:r>
          </a:p>
        </p:txBody>
      </p:sp>
      <p:sp>
        <p:nvSpPr>
          <p:cNvPr id="11" name="cover-course">
            <a:extLst xmlns:a="http://schemas.openxmlformats.org/drawingml/2006/main">
              <a:ext uri="{FF2B5EF4-FFF2-40B4-BE49-F238E27FC236}">
                <a16:creationId xmlns:a16="http://schemas.microsoft.com/office/drawing/2014/main" id="{C35B5480-8A17-47A0-A99B-7FBA2539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34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陈龙彪团队人工智能公开课</a:t>
            </a:r>
          </a:p>
        </p:txBody>
      </p:sp>
      <p:sp>
        <p:nvSpPr>
          <p:cNvPr id="12" name="cover-id">
            <a:extLst xmlns:a="http://schemas.openxmlformats.org/drawingml/2006/main">
              <a:ext uri="{FF2B5EF4-FFF2-40B4-BE49-F238E27FC236}">
                <a16:creationId xmlns:a16="http://schemas.microsoft.com/office/drawing/2014/main" id="{0B344DB8-9C71-4708-AB60-E51F20D3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734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6A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D6A33A"/>
                </a:solidFill>
                <a:latin typeface="PingFang SC"/>
                <a:ea typeface="PingFang SC"/>
                <a:cs typeface="PingFang SC"/>
              </a:rPr>
              <a:t>OV-005 · OV-005-S01</a:t>
            </a:r>
          </a:p>
        </p:txBody>
      </p:sp>
    </p:spTree>
    <p:extLst>
      <p:ext uri="{BB962C8B-B14F-4D97-AF65-F5344CB8AC3E}">
        <p14:creationId xmlns:p14="http://schemas.microsoft.com/office/powerpoint/2010/main" val="19761111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2-rule">
            <a:extLst xmlns:a="http://schemas.openxmlformats.org/drawingml/2006/main">
              <a:ext uri="{FF2B5EF4-FFF2-40B4-BE49-F238E27FC236}">
                <a16:creationId xmlns:a16="http://schemas.microsoft.com/office/drawing/2014/main" id="{1963C9F5-E575-41E0-AE52-6A774A68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2-eyebrow">
            <a:extLst xmlns:a="http://schemas.openxmlformats.org/drawingml/2006/main">
              <a:ext uri="{FF2B5EF4-FFF2-40B4-BE49-F238E27FC236}">
                <a16:creationId xmlns:a16="http://schemas.microsoft.com/office/drawing/2014/main" id="{2AFF8EC7-FFF3-4FE7-9652-D3B833FF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学习结果</a:t>
            </a:r>
          </a:p>
        </p:txBody>
      </p:sp>
      <p:sp>
        <p:nvSpPr>
          <p:cNvPr id="3" name="s2-title">
            <a:extLst xmlns:a="http://schemas.openxmlformats.org/drawingml/2006/main">
              <a:ext uri="{FF2B5EF4-FFF2-40B4-BE49-F238E27FC236}">
                <a16:creationId xmlns:a16="http://schemas.microsoft.com/office/drawing/2014/main" id="{C95A0449-200C-41D4-88DF-46043FEC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DeepSeek 与开源生态：3项学习结果</a:t>
            </a:r>
          </a:p>
        </p:txBody>
      </p:sp>
      <p:sp>
        <p:nvSpPr>
          <p:cNvPr id="4" name="s2-footer">
            <a:extLst xmlns:a="http://schemas.openxmlformats.org/drawingml/2006/main">
              <a:ext uri="{FF2B5EF4-FFF2-40B4-BE49-F238E27FC236}">
                <a16:creationId xmlns:a16="http://schemas.microsoft.com/office/drawing/2014/main" id="{09933517-AFDE-4349-BDF4-6F31931C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2-identity">
            <a:extLst xmlns:a="http://schemas.openxmlformats.org/drawingml/2006/main">
              <a:ext uri="{FF2B5EF4-FFF2-40B4-BE49-F238E27FC236}">
                <a16:creationId xmlns:a16="http://schemas.microsoft.com/office/drawing/2014/main" id="{996CB4D6-80A8-4E86-9101-A5138B2E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OV-005 · OV-005-S02</a:t>
            </a:r>
          </a:p>
        </p:txBody>
      </p:sp>
      <p:sp>
        <p:nvSpPr>
          <p:cNvPr id="6" name="objective-1">
            <a:extLst xmlns:a="http://schemas.openxmlformats.org/drawingml/2006/main">
              <a:ext uri="{FF2B5EF4-FFF2-40B4-BE49-F238E27FC236}">
                <a16:creationId xmlns:a16="http://schemas.microsoft.com/office/drawing/2014/main" id="{3A629D7B-E9DE-4DFB-8661-D2E0BAB7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01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解释 DeepSeek-R1 所代表的推理模型路线，以及强化学习、监督微调和蒸馏各自解决什么问题</a:t>
            </a:r>
          </a:p>
        </p:txBody>
      </p:sp>
      <p:sp>
        <p:nvSpPr>
          <p:cNvPr id="7" name="objective-2">
            <a:extLst xmlns:a="http://schemas.openxmlformats.org/drawingml/2006/main">
              <a:ext uri="{FF2B5EF4-FFF2-40B4-BE49-F238E27FC236}">
                <a16:creationId xmlns:a16="http://schemas.microsoft.com/office/drawing/2014/main" id="{2D60F3F5-07F2-44A1-AED8-64BDE360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02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区分开放权重、开放代码、开放数据与完整开源，读懂模型许可证的实际边界</a:t>
            </a:r>
          </a:p>
        </p:txBody>
      </p:sp>
      <p:sp>
        <p:nvSpPr>
          <p:cNvPr id="8" name="objective-3">
            <a:extLst xmlns:a="http://schemas.openxmlformats.org/drawingml/2006/main">
              <a:ext uri="{FF2B5EF4-FFF2-40B4-BE49-F238E27FC236}">
                <a16:creationId xmlns:a16="http://schemas.microsoft.com/office/drawing/2014/main" id="{B63CC51B-6C25-400A-A70B-CE76D80D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9050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03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根据任务质量、数据敏感度、时延、吞吐、成本和运维能力选择 API、托管服务或本地部署</a:t>
            </a:r>
          </a:p>
        </p:txBody>
      </p:sp>
    </p:spTree>
    <p:extLst>
      <p:ext uri="{BB962C8B-B14F-4D97-AF65-F5344CB8AC3E}">
        <p14:creationId xmlns:p14="http://schemas.microsoft.com/office/powerpoint/2010/main" val="2008617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3-rule">
            <a:extLst xmlns:a="http://schemas.openxmlformats.org/drawingml/2006/main">
              <a:ext uri="{FF2B5EF4-FFF2-40B4-BE49-F238E27FC236}">
                <a16:creationId xmlns:a16="http://schemas.microsoft.com/office/drawing/2014/main" id="{BF556FFA-3BD2-43C8-B565-E5D1F02B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3-eyebrow">
            <a:extLst xmlns:a="http://schemas.openxmlformats.org/drawingml/2006/main">
              <a:ext uri="{FF2B5EF4-FFF2-40B4-BE49-F238E27FC236}">
                <a16:creationId xmlns:a16="http://schemas.microsoft.com/office/drawing/2014/main" id="{6F9AD101-D92D-4A66-AB48-48AD69C4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核心论点 1 / 4</a:t>
            </a:r>
          </a:p>
        </p:txBody>
      </p:sp>
      <p:sp>
        <p:nvSpPr>
          <p:cNvPr id="3" name="s3-title">
            <a:extLst xmlns:a="http://schemas.openxmlformats.org/drawingml/2006/main">
              <a:ext uri="{FF2B5EF4-FFF2-40B4-BE49-F238E27FC236}">
                <a16:creationId xmlns:a16="http://schemas.microsoft.com/office/drawing/2014/main" id="{A3FAFE09-3B65-4830-AE2D-B18D2378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普通生成模型倾向于直接预测下一个 token</a:t>
            </a:r>
          </a:p>
        </p:txBody>
      </p:sp>
      <p:sp>
        <p:nvSpPr>
          <p:cNvPr id="4" name="s3-footer">
            <a:extLst xmlns:a="http://schemas.openxmlformats.org/drawingml/2006/main">
              <a:ext uri="{FF2B5EF4-FFF2-40B4-BE49-F238E27FC236}">
                <a16:creationId xmlns:a16="http://schemas.microsoft.com/office/drawing/2014/main" id="{4AE4369E-9D70-4714-867D-8FB613EB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3-identity">
            <a:extLst xmlns:a="http://schemas.openxmlformats.org/drawingml/2006/main">
              <a:ext uri="{FF2B5EF4-FFF2-40B4-BE49-F238E27FC236}">
                <a16:creationId xmlns:a16="http://schemas.microsoft.com/office/drawing/2014/main" id="{4F2B565F-B38A-4DAE-AD2B-CA8DBD5A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OV-005 · OV-005-S03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41D25089-F051-44B8-9C27-C6354D20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DC6D108F-8944-4359-A0CE-E51BD108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推理模型改变了什么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453AB9D2-ECD7-415E-9FFB-1769BBD1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9050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8233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普通生成模型倾向于直接预测下一个 token；推理模型则通过训练；使模型在数学、代码、规划等任务上更善于分解问题、检查中间结果并在推理阶段投入更多计算；它并不意味着模型拥有稳定的逻辑真理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311D099F-7330-4622-94B4-0DCE47CB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3EECA4D0-40C2-4358-9975-871F8654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DeepSeek-R1 论文描述的路线包含冷启动监督数据、面向推理的强化学习、混合数据监督微调和后续强化学习等阶段；强化学习用于奖励可验证的正确结果和合适行为</a:t>
            </a:r>
          </a:p>
        </p:txBody>
      </p:sp>
      <p:sp>
        <p:nvSpPr>
          <p:cNvPr id="11" name="s3-takeaway-rule">
            <a:extLst xmlns:a="http://schemas.openxmlformats.org/drawingml/2006/main">
              <a:ext uri="{FF2B5EF4-FFF2-40B4-BE49-F238E27FC236}">
                <a16:creationId xmlns:a16="http://schemas.microsoft.com/office/drawing/2014/main" id="{AFFC04B0-D39C-4F4B-A6F3-826B9A19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12" name="s3-takeaway">
            <a:extLst xmlns:a="http://schemas.openxmlformats.org/drawingml/2006/main">
              <a:ext uri="{FF2B5EF4-FFF2-40B4-BE49-F238E27FC236}">
                <a16:creationId xmlns:a16="http://schemas.microsoft.com/office/drawing/2014/main" id="{36735FD9-AB80-4298-BD92-25BD08F8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普通生成模型倾向于直接预测下一个 token</a:t>
            </a:r>
          </a:p>
        </p:txBody>
      </p:sp>
    </p:spTree>
    <p:extLst>
      <p:ext uri="{BB962C8B-B14F-4D97-AF65-F5344CB8AC3E}">
        <p14:creationId xmlns:p14="http://schemas.microsoft.com/office/powerpoint/2010/main" val="20595015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4-rule">
            <a:extLst xmlns:a="http://schemas.openxmlformats.org/drawingml/2006/main">
              <a:ext uri="{FF2B5EF4-FFF2-40B4-BE49-F238E27FC236}">
                <a16:creationId xmlns:a16="http://schemas.microsoft.com/office/drawing/2014/main" id="{49043978-AC96-4CE2-AD67-4B2403A9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4-eyebrow">
            <a:extLst xmlns:a="http://schemas.openxmlformats.org/drawingml/2006/main">
              <a:ext uri="{FF2B5EF4-FFF2-40B4-BE49-F238E27FC236}">
                <a16:creationId xmlns:a16="http://schemas.microsoft.com/office/drawing/2014/main" id="{946BDA44-5FEB-4419-B27B-9CFEA958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核心论点 2 / 4</a:t>
            </a:r>
          </a:p>
        </p:txBody>
      </p:sp>
      <p:sp>
        <p:nvSpPr>
          <p:cNvPr id="3" name="s4-title">
            <a:extLst xmlns:a="http://schemas.openxmlformats.org/drawingml/2006/main">
              <a:ext uri="{FF2B5EF4-FFF2-40B4-BE49-F238E27FC236}">
                <a16:creationId xmlns:a16="http://schemas.microsoft.com/office/drawing/2014/main" id="{7970500D-29D8-440D-84FB-76AF5049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日常讨论常把可下载模型统称为开源</a:t>
            </a:r>
          </a:p>
        </p:txBody>
      </p:sp>
      <p:sp>
        <p:nvSpPr>
          <p:cNvPr id="4" name="s4-footer">
            <a:extLst xmlns:a="http://schemas.openxmlformats.org/drawingml/2006/main">
              <a:ext uri="{FF2B5EF4-FFF2-40B4-BE49-F238E27FC236}">
                <a16:creationId xmlns:a16="http://schemas.microsoft.com/office/drawing/2014/main" id="{420D80FF-06E3-4909-A5F1-18BE8162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4-identity">
            <a:extLst xmlns:a="http://schemas.openxmlformats.org/drawingml/2006/main">
              <a:ext uri="{FF2B5EF4-FFF2-40B4-BE49-F238E27FC236}">
                <a16:creationId xmlns:a16="http://schemas.microsoft.com/office/drawing/2014/main" id="{58EB5FC4-2CC4-48D3-B5F4-AC39E5EB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OV-005 · OV-005-S04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0F8DB095-173D-42F3-9A1F-22613EED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6B3B7C67-68CC-43AA-9430-7BF7CC94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“开源模型”要拆成四个问题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11519109-B214-4DC9-BB69-BE9353BE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9050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8233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日常讨论常把可下载模型统称为开源，但工程决策要继续追问：模型权重是否可得？推理与训练代码是否公开？训练数据和处理方法是否可追溯？许可证是否允许修改、商用、再分发和生成衍生模型？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05333452-2C6E-4262-A6ED-90050C03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EA295483-D708-4C65-A068-4D022289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只有权重可下载，通常更准确地称为 开放权重模型；它仍然很有价值，团队可以在自己的基础设施上运行、量化、评测和微调；但它并不自动带来训练透明度；也不代表所有用途都无条件允许</a:t>
            </a:r>
          </a:p>
        </p:txBody>
      </p:sp>
      <p:sp>
        <p:nvSpPr>
          <p:cNvPr id="11" name="s4-takeaway-rule">
            <a:extLst xmlns:a="http://schemas.openxmlformats.org/drawingml/2006/main">
              <a:ext uri="{FF2B5EF4-FFF2-40B4-BE49-F238E27FC236}">
                <a16:creationId xmlns:a16="http://schemas.microsoft.com/office/drawing/2014/main" id="{E561E88E-225D-4C10-812B-22D219A0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12" name="s4-takeaway">
            <a:extLst xmlns:a="http://schemas.openxmlformats.org/drawingml/2006/main">
              <a:ext uri="{FF2B5EF4-FFF2-40B4-BE49-F238E27FC236}">
                <a16:creationId xmlns:a16="http://schemas.microsoft.com/office/drawing/2014/main" id="{F9163974-5B41-4A07-B282-8E607EFD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日常讨论常把可下载模型统称为开源</a:t>
            </a:r>
          </a:p>
        </p:txBody>
      </p:sp>
    </p:spTree>
    <p:extLst>
      <p:ext uri="{BB962C8B-B14F-4D97-AF65-F5344CB8AC3E}">
        <p14:creationId xmlns:p14="http://schemas.microsoft.com/office/powerpoint/2010/main" val="9558375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5-rule">
            <a:extLst xmlns:a="http://schemas.openxmlformats.org/drawingml/2006/main">
              <a:ext uri="{FF2B5EF4-FFF2-40B4-BE49-F238E27FC236}">
                <a16:creationId xmlns:a16="http://schemas.microsoft.com/office/drawing/2014/main" id="{7D1AD665-1691-4850-BBBA-E3F5AD1C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5-eyebrow">
            <a:extLst xmlns:a="http://schemas.openxmlformats.org/drawingml/2006/main">
              <a:ext uri="{FF2B5EF4-FFF2-40B4-BE49-F238E27FC236}">
                <a16:creationId xmlns:a16="http://schemas.microsoft.com/office/drawing/2014/main" id="{5C15BA61-F050-4157-BE82-D00E039F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核心论点 3 / 4</a:t>
            </a:r>
          </a:p>
        </p:txBody>
      </p:sp>
      <p:sp>
        <p:nvSpPr>
          <p:cNvPr id="3" name="s5-title">
            <a:extLst xmlns:a="http://schemas.openxmlformats.org/drawingml/2006/main">
              <a:ext uri="{FF2B5EF4-FFF2-40B4-BE49-F238E27FC236}">
                <a16:creationId xmlns:a16="http://schemas.microsoft.com/office/drawing/2014/main" id="{67B08AC2-761D-4713-92AF-6F28D234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部署方式交换的是速度、控制与运维成本</a:t>
            </a:r>
          </a:p>
        </p:txBody>
      </p:sp>
      <p:sp>
        <p:nvSpPr>
          <p:cNvPr id="4" name="s5-footer">
            <a:extLst xmlns:a="http://schemas.openxmlformats.org/drawingml/2006/main">
              <a:ext uri="{FF2B5EF4-FFF2-40B4-BE49-F238E27FC236}">
                <a16:creationId xmlns:a16="http://schemas.microsoft.com/office/drawing/2014/main" id="{8A1B4F93-7BB8-43E9-9BE0-CBD52BD6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5-identity">
            <a:extLst xmlns:a="http://schemas.openxmlformats.org/drawingml/2006/main">
              <a:ext uri="{FF2B5EF4-FFF2-40B4-BE49-F238E27FC236}">
                <a16:creationId xmlns:a16="http://schemas.microsoft.com/office/drawing/2014/main" id="{338F112B-7E22-4D30-8209-C83AD256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OV-005 · OV-005-S05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A69C48FD-DADC-421A-A43F-D794E2AF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DD2A738E-1D99-4FDE-9936-4D080DC6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API、托管与本地部署的取舍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D76109B5-F74E-4387-B8F7-5F200CE1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9050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调用外部 API 上手快、无需管理 GPU；适合快速试验和波动负载；托管专属实例能增加网络与容量控制；本地部署可以让数据、日志和模型运行环境留在组织边界内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4ECAE927-5AEA-46F6-90D2-7846E019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243700F6-6708-43EA-836E-4950DE2B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判断方案时至少测六项；目标任务质量、端到端时延、峰值吞吐、单位任务总成本、敏感数据暴露面和持续运维能力；参数量不是硬件需求的唯一决定因素</a:t>
            </a:r>
          </a:p>
        </p:txBody>
      </p:sp>
      <p:sp>
        <p:nvSpPr>
          <p:cNvPr id="11" name="s5-takeaway-rule">
            <a:extLst xmlns:a="http://schemas.openxmlformats.org/drawingml/2006/main">
              <a:ext uri="{FF2B5EF4-FFF2-40B4-BE49-F238E27FC236}">
                <a16:creationId xmlns:a16="http://schemas.microsoft.com/office/drawing/2014/main" id="{2BA8832D-80E0-4B40-A6F3-DC3D9373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12" name="s5-takeaway">
            <a:extLst xmlns:a="http://schemas.openxmlformats.org/drawingml/2006/main">
              <a:ext uri="{FF2B5EF4-FFF2-40B4-BE49-F238E27FC236}">
                <a16:creationId xmlns:a16="http://schemas.microsoft.com/office/drawing/2014/main" id="{522AC130-97E0-4834-A0AA-D89C4D07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部署方式交换的是速度、控制与运维成本</a:t>
            </a:r>
          </a:p>
        </p:txBody>
      </p:sp>
    </p:spTree>
    <p:extLst>
      <p:ext uri="{BB962C8B-B14F-4D97-AF65-F5344CB8AC3E}">
        <p14:creationId xmlns:p14="http://schemas.microsoft.com/office/powerpoint/2010/main" val="6150467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6-rule">
            <a:extLst xmlns:a="http://schemas.openxmlformats.org/drawingml/2006/main">
              <a:ext uri="{FF2B5EF4-FFF2-40B4-BE49-F238E27FC236}">
                <a16:creationId xmlns:a16="http://schemas.microsoft.com/office/drawing/2014/main" id="{E80878F7-4494-4A2D-8B1A-AB88C3DC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6-eyebrow">
            <a:extLst xmlns:a="http://schemas.openxmlformats.org/drawingml/2006/main">
              <a:ext uri="{FF2B5EF4-FFF2-40B4-BE49-F238E27FC236}">
                <a16:creationId xmlns:a16="http://schemas.microsoft.com/office/drawing/2014/main" id="{9406011E-69CA-402E-9ABE-F1AD3AD1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核心论点 4 / 4</a:t>
            </a:r>
          </a:p>
        </p:txBody>
      </p:sp>
      <p:sp>
        <p:nvSpPr>
          <p:cNvPr id="3" name="s6-title">
            <a:extLst xmlns:a="http://schemas.openxmlformats.org/drawingml/2006/main">
              <a:ext uri="{FF2B5EF4-FFF2-40B4-BE49-F238E27FC236}">
                <a16:creationId xmlns:a16="http://schemas.microsoft.com/office/drawing/2014/main" id="{A30809BF-5B9B-44F8-81C7-05A0E5D7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榜单只能筛选候选，真实任务才能决定选型</a:t>
            </a:r>
          </a:p>
        </p:txBody>
      </p:sp>
      <p:sp>
        <p:nvSpPr>
          <p:cNvPr id="4" name="s6-footer">
            <a:extLst xmlns:a="http://schemas.openxmlformats.org/drawingml/2006/main">
              <a:ext uri="{FF2B5EF4-FFF2-40B4-BE49-F238E27FC236}">
                <a16:creationId xmlns:a16="http://schemas.microsoft.com/office/drawing/2014/main" id="{3D247B62-A605-4D7D-BC26-C008CD40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6-identity">
            <a:extLst xmlns:a="http://schemas.openxmlformats.org/drawingml/2006/main">
              <a:ext uri="{FF2B5EF4-FFF2-40B4-BE49-F238E27FC236}">
                <a16:creationId xmlns:a16="http://schemas.microsoft.com/office/drawing/2014/main" id="{E9293088-AA28-4CA8-92D1-FCE985DB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OV-005 · OV-005-S06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BA960CAB-2BA0-4739-9F2A-ECD224D4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7F5ACD04-4AD7-4835-8E1F-1D881586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模型评测必须贴近真实任务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A145ADA4-C400-4BE8-BC5D-0963D5E7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9050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8233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公开榜单适合形成候选列表；最终选择应使用自己的代表性任务集；知识问答要检查引用是否支持结论；代码任务要运行测试；结构化抽取要核对字段；推理任务要验证最终答案和关键约束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30F01555-C2E1-4ED8-A095-90E4F0B7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40386EE1-A2C1-4D3A-9B04-98B5F50A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评测结果应记录模型版本、推理参数、提示模板、工具、数据集版本和运行日期。模型升级后重新跑同一套基线，才能知道变化来自模型本身还是调用配置</a:t>
            </a:r>
          </a:p>
        </p:txBody>
      </p:sp>
      <p:sp>
        <p:nvSpPr>
          <p:cNvPr id="11" name="s6-takeaway-rule">
            <a:extLst xmlns:a="http://schemas.openxmlformats.org/drawingml/2006/main">
              <a:ext uri="{FF2B5EF4-FFF2-40B4-BE49-F238E27FC236}">
                <a16:creationId xmlns:a16="http://schemas.microsoft.com/office/drawing/2014/main" id="{FA0DB614-E025-41BD-ADA6-F723E22B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12" name="s6-takeaway">
            <a:extLst xmlns:a="http://schemas.openxmlformats.org/drawingml/2006/main">
              <a:ext uri="{FF2B5EF4-FFF2-40B4-BE49-F238E27FC236}">
                <a16:creationId xmlns:a16="http://schemas.microsoft.com/office/drawing/2014/main" id="{56A52A8A-3C58-4EE9-B74F-CCC7B484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榜单只能筛选候选，真实任务才能决定选型</a:t>
            </a:r>
          </a:p>
        </p:txBody>
      </p:sp>
    </p:spTree>
    <p:extLst>
      <p:ext uri="{BB962C8B-B14F-4D97-AF65-F5344CB8AC3E}">
        <p14:creationId xmlns:p14="http://schemas.microsoft.com/office/powerpoint/2010/main" val="14957332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7-rule">
            <a:extLst xmlns:a="http://schemas.openxmlformats.org/drawingml/2006/main">
              <a:ext uri="{FF2B5EF4-FFF2-40B4-BE49-F238E27FC236}">
                <a16:creationId xmlns:a16="http://schemas.microsoft.com/office/drawing/2014/main" id="{87E38799-3A87-46DC-ACD6-2299BD7B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7-eyebrow">
            <a:extLst xmlns:a="http://schemas.openxmlformats.org/drawingml/2006/main">
              <a:ext uri="{FF2B5EF4-FFF2-40B4-BE49-F238E27FC236}">
                <a16:creationId xmlns:a16="http://schemas.microsoft.com/office/drawing/2014/main" id="{D02837EE-5A1A-4BA2-9499-2A2C051C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案例与边界 1 / 1</a:t>
            </a:r>
          </a:p>
        </p:txBody>
      </p:sp>
      <p:sp>
        <p:nvSpPr>
          <p:cNvPr id="3" name="s7-title">
            <a:extLst xmlns:a="http://schemas.openxmlformats.org/drawingml/2006/main">
              <a:ext uri="{FF2B5EF4-FFF2-40B4-BE49-F238E27FC236}">
                <a16:creationId xmlns:a16="http://schemas.microsoft.com/office/drawing/2014/main" id="{5A8CC1A9-B434-40EF-81B7-3B752DC6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内部制度问答：不是“装上本地模型”就完成</a:t>
            </a:r>
          </a:p>
        </p:txBody>
      </p:sp>
      <p:sp>
        <p:nvSpPr>
          <p:cNvPr id="4" name="s7-footer">
            <a:extLst xmlns:a="http://schemas.openxmlformats.org/drawingml/2006/main">
              <a:ext uri="{FF2B5EF4-FFF2-40B4-BE49-F238E27FC236}">
                <a16:creationId xmlns:a16="http://schemas.microsoft.com/office/drawing/2014/main" id="{51A54B18-972A-4ADF-A35A-85B12AE6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7-identity">
            <a:extLst xmlns:a="http://schemas.openxmlformats.org/drawingml/2006/main">
              <a:ext uri="{FF2B5EF4-FFF2-40B4-BE49-F238E27FC236}">
                <a16:creationId xmlns:a16="http://schemas.microsoft.com/office/drawing/2014/main" id="{5BE1ECE8-75EE-408E-9017-6E58D6F4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OV-005 · OV-005-S07</a:t>
            </a:r>
          </a:p>
        </p:txBody>
      </p:sp>
      <p:sp>
        <p:nvSpPr>
          <p:cNvPr id="6" name="case-title">
            <a:extLst xmlns:a="http://schemas.openxmlformats.org/drawingml/2006/main">
              <a:ext uri="{FF2B5EF4-FFF2-40B4-BE49-F238E27FC236}">
                <a16:creationId xmlns:a16="http://schemas.microsoft.com/office/drawing/2014/main" id="{1DF61BFA-8705-43B7-A9F4-42BC2235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3048000" cy="2724150"/>
          </a:xfrm>
          <a:prstGeom xmlns:a="http://schemas.openxmlformats.org/drawingml/2006/main" prst="roundRect">
            <a:avLst>
              <a:gd name="adj" fmla="val 6993"/>
            </a:avLst>
          </a:prstGeom>
          <a:solidFill xmlns:a="http://schemas.openxmlformats.org/drawingml/2006/main">
            <a:srgbClr val="123B67"/>
          </a:solidFill>
          <a:ln xmlns:a="http://schemas.openxmlformats.org/drawingml/2006/main" w="0">
            <a:solidFill>
              <a:srgbClr val="123B67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内部制度问答：不是“装上本地模型”就完成</a:t>
            </a:r>
          </a:p>
        </p:txBody>
      </p:sp>
      <p:sp>
        <p:nvSpPr>
          <p:cNvPr id="7" name="case-row-0">
            <a:extLst xmlns:a="http://schemas.openxmlformats.org/drawingml/2006/main">
              <a:ext uri="{FF2B5EF4-FFF2-40B4-BE49-F238E27FC236}">
                <a16:creationId xmlns:a16="http://schemas.microsoft.com/office/drawing/2014/main" id="{FC105D79-0307-4DF1-B94A-D5C449B7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3835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场景｜一家企业希望员工查询内部制度，初看适合本地部署</a:t>
            </a:r>
          </a:p>
        </p:txBody>
      </p:sp>
      <p:sp>
        <p:nvSpPr>
          <p:cNvPr id="8" name="case-row-1">
            <a:extLst xmlns:a="http://schemas.openxmlformats.org/drawingml/2006/main">
              <a:ext uri="{FF2B5EF4-FFF2-40B4-BE49-F238E27FC236}">
                <a16:creationId xmlns:a16="http://schemas.microsoft.com/office/drawing/2014/main" id="{9213B641-5540-4538-92FA-747AD9C7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6700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方法｜团队先把 100 个真实问题整理成评测集，要求回答同时给出制度名称、章节和生效日期</a:t>
            </a:r>
          </a:p>
        </p:txBody>
      </p:sp>
      <p:sp>
        <p:nvSpPr>
          <p:cNvPr id="9" name="case-row-2">
            <a:extLst xmlns:a="http://schemas.openxmlformats.org/drawingml/2006/main">
              <a:ext uri="{FF2B5EF4-FFF2-40B4-BE49-F238E27FC236}">
                <a16:creationId xmlns:a16="http://schemas.microsoft.com/office/drawing/2014/main" id="{96D4BA3C-96BD-4946-A9BA-A8F69764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9565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边界｜方案采用权限过滤后的文档检索，再把证据交给模型生成答案</a:t>
            </a:r>
          </a:p>
        </p:txBody>
      </p:sp>
      <p:sp>
        <p:nvSpPr>
          <p:cNvPr id="10" name="case-row-3">
            <a:extLst xmlns:a="http://schemas.openxmlformats.org/drawingml/2006/main">
              <a:ext uri="{FF2B5EF4-FFF2-40B4-BE49-F238E27FC236}">
                <a16:creationId xmlns:a16="http://schemas.microsoft.com/office/drawing/2014/main" id="{6DAB74BA-2386-4A6F-9BAE-618C96FD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2430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边界｜找不到可靠依据时明确转人工</a:t>
            </a:r>
          </a:p>
        </p:txBody>
      </p:sp>
      <p:sp>
        <p:nvSpPr>
          <p:cNvPr id="11" name="case-row-4">
            <a:extLst xmlns:a="http://schemas.openxmlformats.org/drawingml/2006/main">
              <a:ext uri="{FF2B5EF4-FFF2-40B4-BE49-F238E27FC236}">
                <a16:creationId xmlns:a16="http://schemas.microsoft.com/office/drawing/2014/main" id="{88C88A4C-869F-4880-A872-147CFAF7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5295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9525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方法｜试点同时比较外部 API、专属托管和本地开放权重模型</a:t>
            </a:r>
          </a:p>
        </p:txBody>
      </p:sp>
      <p:sp>
        <p:nvSpPr>
          <p:cNvPr id="12" name="s7-takeaway-rule">
            <a:extLst xmlns:a="http://schemas.openxmlformats.org/drawingml/2006/main">
              <a:ext uri="{FF2B5EF4-FFF2-40B4-BE49-F238E27FC236}">
                <a16:creationId xmlns:a16="http://schemas.microsoft.com/office/drawing/2014/main" id="{E87612DA-BFD1-45BC-AAB6-27EA42ED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13" name="s7-takeaway">
            <a:extLst xmlns:a="http://schemas.openxmlformats.org/drawingml/2006/main">
              <a:ext uri="{FF2B5EF4-FFF2-40B4-BE49-F238E27FC236}">
                <a16:creationId xmlns:a16="http://schemas.microsoft.com/office/drawing/2014/main" id="{00401140-2DC5-40D3-8901-93BB336E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内部制度问答：不是“装上本地模型”就完成</a:t>
            </a:r>
          </a:p>
        </p:txBody>
      </p:sp>
    </p:spTree>
    <p:extLst>
      <p:ext uri="{BB962C8B-B14F-4D97-AF65-F5344CB8AC3E}">
        <p14:creationId xmlns:p14="http://schemas.microsoft.com/office/powerpoint/2010/main" val="19530205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8-rule">
            <a:extLst xmlns:a="http://schemas.openxmlformats.org/drawingml/2006/main">
              <a:ext uri="{FF2B5EF4-FFF2-40B4-BE49-F238E27FC236}">
                <a16:creationId xmlns:a16="http://schemas.microsoft.com/office/drawing/2014/main" id="{1F19C2D9-3873-43FD-AE9C-B1869372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8-eyebrow">
            <a:extLst xmlns:a="http://schemas.openxmlformats.org/drawingml/2006/main">
              <a:ext uri="{FF2B5EF4-FFF2-40B4-BE49-F238E27FC236}">
                <a16:creationId xmlns:a16="http://schemas.microsoft.com/office/drawing/2014/main" id="{DCFB76B1-BF39-4771-BEDB-C7182691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动手实践</a:t>
            </a:r>
          </a:p>
        </p:txBody>
      </p:sp>
      <p:sp>
        <p:nvSpPr>
          <p:cNvPr id="3" name="s8-title">
            <a:extLst xmlns:a="http://schemas.openxmlformats.org/drawingml/2006/main">
              <a:ext uri="{FF2B5EF4-FFF2-40B4-BE49-F238E27FC236}">
                <a16:creationId xmlns:a16="http://schemas.microsoft.com/office/drawing/2014/main" id="{1A3187AF-8870-40C9-8270-3617E0E4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DeepSeek 与开源生态：一次可验收练习</a:t>
            </a:r>
          </a:p>
        </p:txBody>
      </p:sp>
      <p:sp>
        <p:nvSpPr>
          <p:cNvPr id="4" name="s8-footer">
            <a:extLst xmlns:a="http://schemas.openxmlformats.org/drawingml/2006/main">
              <a:ext uri="{FF2B5EF4-FFF2-40B4-BE49-F238E27FC236}">
                <a16:creationId xmlns:a16="http://schemas.microsoft.com/office/drawing/2014/main" id="{F6E77CD2-77BD-4A6B-8265-424FF736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8-identity">
            <a:extLst xmlns:a="http://schemas.openxmlformats.org/drawingml/2006/main">
              <a:ext uri="{FF2B5EF4-FFF2-40B4-BE49-F238E27FC236}">
                <a16:creationId xmlns:a16="http://schemas.microsoft.com/office/drawing/2014/main" id="{61F8E414-3BCD-4D0F-A263-391016CD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OV-005 · OV-005-S08</a:t>
            </a:r>
          </a:p>
        </p:txBody>
      </p:sp>
      <p:sp>
        <p:nvSpPr>
          <p:cNvPr id="6" name="practice-circle-0">
            <a:extLst xmlns:a="http://schemas.openxmlformats.org/drawingml/2006/main">
              <a:ext uri="{FF2B5EF4-FFF2-40B4-BE49-F238E27FC236}">
                <a16:creationId xmlns:a16="http://schemas.microsoft.com/office/drawing/2014/main" id="{828EE643-F63C-4C94-8451-A5C97BF1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6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practice-number-0">
            <a:extLst xmlns:a="http://schemas.openxmlformats.org/drawingml/2006/main">
              <a:ext uri="{FF2B5EF4-FFF2-40B4-BE49-F238E27FC236}">
                <a16:creationId xmlns:a16="http://schemas.microsoft.com/office/drawing/2014/main" id="{6D88699D-67AA-4D74-9B2C-A6F61381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practice-item-0">
            <a:extLst xmlns:a="http://schemas.openxmlformats.org/drawingml/2006/main">
              <a:ext uri="{FF2B5EF4-FFF2-40B4-BE49-F238E27FC236}">
                <a16:creationId xmlns:a16="http://schemas.microsoft.com/office/drawing/2014/main" id="{C0F3CE74-DE85-4120-89B5-FCF218AE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选择一个真实任务，写出 20 条最小评测集，并定义“答对”的证据，而不是只给主观评分</a:t>
            </a:r>
          </a:p>
        </p:txBody>
      </p:sp>
      <p:sp>
        <p:nvSpPr>
          <p:cNvPr id="9" name="practice-connector-0">
            <a:extLst xmlns:a="http://schemas.openxmlformats.org/drawingml/2006/main">
              <a:ext uri="{FF2B5EF4-FFF2-40B4-BE49-F238E27FC236}">
                <a16:creationId xmlns:a16="http://schemas.microsoft.com/office/drawing/2014/main" id="{DCF0C082-04D6-43C2-BF64-FF478ADA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A5A00"/>
            </a:solidFill>
            <a:prstDash val="solid"/>
          </a:ln>
        </p:spPr>
      </p:sp>
      <p:sp>
        <p:nvSpPr>
          <p:cNvPr id="10" name="practice-circle-1">
            <a:extLst xmlns:a="http://schemas.openxmlformats.org/drawingml/2006/main">
              <a:ext uri="{FF2B5EF4-FFF2-40B4-BE49-F238E27FC236}">
                <a16:creationId xmlns:a16="http://schemas.microsoft.com/office/drawing/2014/main" id="{E77778EE-614C-49D8-9CC9-B3F03E8D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6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practice-number-1">
            <a:extLst xmlns:a="http://schemas.openxmlformats.org/drawingml/2006/main">
              <a:ext uri="{FF2B5EF4-FFF2-40B4-BE49-F238E27FC236}">
                <a16:creationId xmlns:a16="http://schemas.microsoft.com/office/drawing/2014/main" id="{F956B02E-37B0-485C-BC4E-B7119D20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practice-item-1">
            <a:extLst xmlns:a="http://schemas.openxmlformats.org/drawingml/2006/main">
              <a:ext uri="{FF2B5EF4-FFF2-40B4-BE49-F238E27FC236}">
                <a16:creationId xmlns:a16="http://schemas.microsoft.com/office/drawing/2014/main" id="{253621A3-B84D-4AA0-AEF3-D486EA2B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为同一任务比较外部 API、托管实例和本地部署，列出质量、时延、成本、数据、运维六栏假设</a:t>
            </a:r>
          </a:p>
        </p:txBody>
      </p:sp>
      <p:sp>
        <p:nvSpPr>
          <p:cNvPr id="13" name="practice-connector-1">
            <a:extLst xmlns:a="http://schemas.openxmlformats.org/drawingml/2006/main">
              <a:ext uri="{FF2B5EF4-FFF2-40B4-BE49-F238E27FC236}">
                <a16:creationId xmlns:a16="http://schemas.microsoft.com/office/drawing/2014/main" id="{66564A83-F7D2-4FE0-BBA0-935FCFFD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A5A00"/>
            </a:solidFill>
            <a:prstDash val="solid"/>
          </a:ln>
        </p:spPr>
      </p:sp>
      <p:sp>
        <p:nvSpPr>
          <p:cNvPr id="14" name="practice-circle-2">
            <a:extLst xmlns:a="http://schemas.openxmlformats.org/drawingml/2006/main">
              <a:ext uri="{FF2B5EF4-FFF2-40B4-BE49-F238E27FC236}">
                <a16:creationId xmlns:a16="http://schemas.microsoft.com/office/drawing/2014/main" id="{57DCEA82-365F-409A-B45E-6AACF5B2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5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A00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practice-number-2">
            <a:extLst xmlns:a="http://schemas.openxmlformats.org/drawingml/2006/main">
              <a:ext uri="{FF2B5EF4-FFF2-40B4-BE49-F238E27FC236}">
                <a16:creationId xmlns:a16="http://schemas.microsoft.com/office/drawing/2014/main" id="{58715AFA-9CC3-45F8-A00A-FECD80D0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9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practice-item-2">
            <a:extLst xmlns:a="http://schemas.openxmlformats.org/drawingml/2006/main">
              <a:ext uri="{FF2B5EF4-FFF2-40B4-BE49-F238E27FC236}">
                <a16:creationId xmlns:a16="http://schemas.microsoft.com/office/drawing/2014/main" id="{BEC2DFB0-D76E-40C3-A516-F43399F0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9050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找到一个拟用模型的许可证，分别回答：能否商用、能否改模型、能否再分发、是否有额外使用限制</a:t>
            </a:r>
          </a:p>
        </p:txBody>
      </p:sp>
    </p:spTree>
    <p:extLst>
      <p:ext uri="{BB962C8B-B14F-4D97-AF65-F5344CB8AC3E}">
        <p14:creationId xmlns:p14="http://schemas.microsoft.com/office/powerpoint/2010/main" val="4946478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9-rule">
            <a:extLst xmlns:a="http://schemas.openxmlformats.org/drawingml/2006/main">
              <a:ext uri="{FF2B5EF4-FFF2-40B4-BE49-F238E27FC236}">
                <a16:creationId xmlns:a16="http://schemas.microsoft.com/office/drawing/2014/main" id="{A4476B15-C4D2-431D-AD15-4FCA5E2F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9-eyebrow">
            <a:extLst xmlns:a="http://schemas.openxmlformats.org/drawingml/2006/main">
              <a:ext uri="{FF2B5EF4-FFF2-40B4-BE49-F238E27FC236}">
                <a16:creationId xmlns:a16="http://schemas.microsoft.com/office/drawing/2014/main" id="{71B4B8FA-DE1A-4060-8989-4D37E647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课后复盘</a:t>
            </a:r>
          </a:p>
        </p:txBody>
      </p:sp>
      <p:sp>
        <p:nvSpPr>
          <p:cNvPr id="3" name="s9-title">
            <a:extLst xmlns:a="http://schemas.openxmlformats.org/drawingml/2006/main">
              <a:ext uri="{FF2B5EF4-FFF2-40B4-BE49-F238E27FC236}">
                <a16:creationId xmlns:a16="http://schemas.microsoft.com/office/drawing/2014/main" id="{9CC1A77F-BB89-4AFF-BBD4-28F38E0A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DeepSeek 与开源生态：判断时先抓住三点</a:t>
            </a:r>
          </a:p>
        </p:txBody>
      </p:sp>
      <p:sp>
        <p:nvSpPr>
          <p:cNvPr id="4" name="s9-footer">
            <a:extLst xmlns:a="http://schemas.openxmlformats.org/drawingml/2006/main">
              <a:ext uri="{FF2B5EF4-FFF2-40B4-BE49-F238E27FC236}">
                <a16:creationId xmlns:a16="http://schemas.microsoft.com/office/drawing/2014/main" id="{2C0C1BCA-C5F0-4812-8CF8-8F57B813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9-identity">
            <a:extLst xmlns:a="http://schemas.openxmlformats.org/drawingml/2006/main">
              <a:ext uri="{FF2B5EF4-FFF2-40B4-BE49-F238E27FC236}">
                <a16:creationId xmlns:a16="http://schemas.microsoft.com/office/drawing/2014/main" id="{F4B479DD-72BA-4D0E-AD36-A42B1EDD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OV-005 · OV-005-S09</a:t>
            </a:r>
          </a:p>
        </p:txBody>
      </p:sp>
      <p:sp>
        <p:nvSpPr>
          <p:cNvPr id="6" name="recap-circle-0">
            <a:extLst xmlns:a="http://schemas.openxmlformats.org/drawingml/2006/main">
              <a:ext uri="{FF2B5EF4-FFF2-40B4-BE49-F238E27FC236}">
                <a16:creationId xmlns:a16="http://schemas.microsoft.com/office/drawing/2014/main" id="{D6C294E1-AEE0-4915-A44D-5FCCFA7E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6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recap-number-0">
            <a:extLst xmlns:a="http://schemas.openxmlformats.org/drawingml/2006/main">
              <a:ext uri="{FF2B5EF4-FFF2-40B4-BE49-F238E27FC236}">
                <a16:creationId xmlns:a16="http://schemas.microsoft.com/office/drawing/2014/main" id="{4CEB8F23-3731-4CB6-B7BF-E3BE196B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recap-item-0">
            <a:extLst xmlns:a="http://schemas.openxmlformats.org/drawingml/2006/main">
              <a:ext uri="{FF2B5EF4-FFF2-40B4-BE49-F238E27FC236}">
                <a16:creationId xmlns:a16="http://schemas.microsoft.com/office/drawing/2014/main" id="{4F7384C3-D961-4C53-BAB6-5513FC76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普通生成模型倾向于直接预测下一个 token</a:t>
            </a:r>
          </a:p>
        </p:txBody>
      </p:sp>
      <p:sp>
        <p:nvSpPr>
          <p:cNvPr id="9" name="recap-connector-0">
            <a:extLst xmlns:a="http://schemas.openxmlformats.org/drawingml/2006/main">
              <a:ext uri="{FF2B5EF4-FFF2-40B4-BE49-F238E27FC236}">
                <a16:creationId xmlns:a16="http://schemas.microsoft.com/office/drawing/2014/main" id="{2B0DE6FE-72A0-4525-92BB-A2D35CD8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A5A00"/>
            </a:solidFill>
            <a:prstDash val="solid"/>
          </a:ln>
        </p:spPr>
      </p:sp>
      <p:sp>
        <p:nvSpPr>
          <p:cNvPr id="10" name="recap-circle-1">
            <a:extLst xmlns:a="http://schemas.openxmlformats.org/drawingml/2006/main">
              <a:ext uri="{FF2B5EF4-FFF2-40B4-BE49-F238E27FC236}">
                <a16:creationId xmlns:a16="http://schemas.microsoft.com/office/drawing/2014/main" id="{ADA0DCAB-A81C-4201-978D-1BFA3BE6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6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recap-number-1">
            <a:extLst xmlns:a="http://schemas.openxmlformats.org/drawingml/2006/main">
              <a:ext uri="{FF2B5EF4-FFF2-40B4-BE49-F238E27FC236}">
                <a16:creationId xmlns:a16="http://schemas.microsoft.com/office/drawing/2014/main" id="{4E6025FF-6433-42F6-BD29-F578B756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recap-item-1">
            <a:extLst xmlns:a="http://schemas.openxmlformats.org/drawingml/2006/main">
              <a:ext uri="{FF2B5EF4-FFF2-40B4-BE49-F238E27FC236}">
                <a16:creationId xmlns:a16="http://schemas.microsoft.com/office/drawing/2014/main" id="{0D5F3804-75C6-427D-9556-5AE73812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日常讨论常把可下载模型统称为开源</a:t>
            </a:r>
          </a:p>
        </p:txBody>
      </p:sp>
      <p:sp>
        <p:nvSpPr>
          <p:cNvPr id="13" name="recap-connector-1">
            <a:extLst xmlns:a="http://schemas.openxmlformats.org/drawingml/2006/main">
              <a:ext uri="{FF2B5EF4-FFF2-40B4-BE49-F238E27FC236}">
                <a16:creationId xmlns:a16="http://schemas.microsoft.com/office/drawing/2014/main" id="{F766FF13-5532-48C0-BB45-E71A8331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A5A00"/>
            </a:solidFill>
            <a:prstDash val="solid"/>
          </a:ln>
        </p:spPr>
      </p:sp>
      <p:sp>
        <p:nvSpPr>
          <p:cNvPr id="14" name="recap-circle-2">
            <a:extLst xmlns:a="http://schemas.openxmlformats.org/drawingml/2006/main">
              <a:ext uri="{FF2B5EF4-FFF2-40B4-BE49-F238E27FC236}">
                <a16:creationId xmlns:a16="http://schemas.microsoft.com/office/drawing/2014/main" id="{6EC75447-256B-4C44-9883-BA51BDE0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5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A00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recap-number-2">
            <a:extLst xmlns:a="http://schemas.openxmlformats.org/drawingml/2006/main">
              <a:ext uri="{FF2B5EF4-FFF2-40B4-BE49-F238E27FC236}">
                <a16:creationId xmlns:a16="http://schemas.microsoft.com/office/drawing/2014/main" id="{8E12DFEF-1DC1-439B-8000-629057F7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9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recap-item-2">
            <a:extLst xmlns:a="http://schemas.openxmlformats.org/drawingml/2006/main">
              <a:ext uri="{FF2B5EF4-FFF2-40B4-BE49-F238E27FC236}">
                <a16:creationId xmlns:a16="http://schemas.microsoft.com/office/drawing/2014/main" id="{CA135A92-B9DB-492A-B628-D97E6733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9050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榜单只能筛选候选，真实任务才能决定选型</a:t>
            </a:r>
          </a:p>
        </p:txBody>
      </p:sp>
    </p:spTree>
    <p:extLst>
      <p:ext uri="{BB962C8B-B14F-4D97-AF65-F5344CB8AC3E}">
        <p14:creationId xmlns:p14="http://schemas.microsoft.com/office/powerpoint/2010/main" val="7244134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0-rule">
            <a:extLst xmlns:a="http://schemas.openxmlformats.org/drawingml/2006/main">
              <a:ext uri="{FF2B5EF4-FFF2-40B4-BE49-F238E27FC236}">
                <a16:creationId xmlns:a16="http://schemas.microsoft.com/office/drawing/2014/main" id="{DE572ED0-BA15-483F-B1AA-E826A4C4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10-eyebrow">
            <a:extLst xmlns:a="http://schemas.openxmlformats.org/drawingml/2006/main">
              <a:ext uri="{FF2B5EF4-FFF2-40B4-BE49-F238E27FC236}">
                <a16:creationId xmlns:a16="http://schemas.microsoft.com/office/drawing/2014/main" id="{CC86C537-7214-4E8B-AD6F-87E09E29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来源与延伸</a:t>
            </a:r>
          </a:p>
        </p:txBody>
      </p:sp>
      <p:sp>
        <p:nvSpPr>
          <p:cNvPr id="3" name="s10-title">
            <a:extLst xmlns:a="http://schemas.openxmlformats.org/drawingml/2006/main">
              <a:ext uri="{FF2B5EF4-FFF2-40B4-BE49-F238E27FC236}">
                <a16:creationId xmlns:a16="http://schemas.microsoft.com/office/drawing/2014/main" id="{1F7475CF-AF52-4AE8-B958-72145ED0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DeepSeek 与开源生态：依据、边界与延伸</a:t>
            </a:r>
          </a:p>
        </p:txBody>
      </p:sp>
      <p:sp>
        <p:nvSpPr>
          <p:cNvPr id="4" name="s10-footer">
            <a:extLst xmlns:a="http://schemas.openxmlformats.org/drawingml/2006/main">
              <a:ext uri="{FF2B5EF4-FFF2-40B4-BE49-F238E27FC236}">
                <a16:creationId xmlns:a16="http://schemas.microsoft.com/office/drawing/2014/main" id="{1E92CAB4-D739-4B5F-B0B3-37EABA0B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0-identity">
            <a:extLst xmlns:a="http://schemas.openxmlformats.org/drawingml/2006/main">
              <a:ext uri="{FF2B5EF4-FFF2-40B4-BE49-F238E27FC236}">
                <a16:creationId xmlns:a16="http://schemas.microsoft.com/office/drawing/2014/main" id="{CCD2FE53-D521-44C7-AEA9-F026352F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OV-005 · OV-005-S10</a:t>
            </a:r>
          </a:p>
        </p:txBody>
      </p:sp>
      <p:sp>
        <p:nvSpPr>
          <p:cNvPr id="6" name="source-0">
            <a:extLst xmlns:a="http://schemas.openxmlformats.org/drawingml/2006/main">
              <a:ext uri="{FF2B5EF4-FFF2-40B4-BE49-F238E27FC236}">
                <a16:creationId xmlns:a16="http://schemas.microsoft.com/office/drawing/2014/main" id="{DFF4A0D7-3A96-4E4B-A857-6A645F62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9525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01  团队既有课程资料经重新组织、改写与原创视觉重制</a:t>
            </a:r>
          </a:p>
        </p:txBody>
      </p:sp>
      <p:sp>
        <p:nvSpPr>
          <p:cNvPr id="7" name="source-1">
            <a:extLst xmlns:a="http://schemas.openxmlformats.org/drawingml/2006/main">
              <a:ext uri="{FF2B5EF4-FFF2-40B4-BE49-F238E27FC236}">
                <a16:creationId xmlns:a16="http://schemas.microsoft.com/office/drawing/2014/main" id="{7406C126-4828-4F6F-A5C1-E60DEFEE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02  DeepSeek-R1: Incentivizing Reasoning Capability in LLMs via Reinforcement Learning；DeepSeek-R1 官方技术论文</a:t>
            </a:r>
          </a:p>
        </p:txBody>
      </p:sp>
      <p:sp>
        <p:nvSpPr>
          <p:cNvPr id="8" name="s10-takeaway-rule">
            <a:extLst xmlns:a="http://schemas.openxmlformats.org/drawingml/2006/main">
              <a:ext uri="{FF2B5EF4-FFF2-40B4-BE49-F238E27FC236}">
                <a16:creationId xmlns:a16="http://schemas.microsoft.com/office/drawing/2014/main" id="{FF8C14C0-F372-4E92-97F5-941AF9D1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9" name="s10-takeaway">
            <a:extLst xmlns:a="http://schemas.openxmlformats.org/drawingml/2006/main">
              <a:ext uri="{FF2B5EF4-FFF2-40B4-BE49-F238E27FC236}">
                <a16:creationId xmlns:a16="http://schemas.microsoft.com/office/drawing/2014/main" id="{7AEF5221-77CE-416B-B4B0-595EE862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816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5911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课程精编页用于讲授主线；播放器中的“原课件”模式保留团队 PowerPoint 精选页、真实图片和可播放视频。</a:t>
            </a:r>
          </a:p>
        </p:txBody>
      </p:sp>
    </p:spTree>
    <p:extLst>
      <p:ext uri="{BB962C8B-B14F-4D97-AF65-F5344CB8AC3E}">
        <p14:creationId xmlns:p14="http://schemas.microsoft.com/office/powerpoint/2010/main" val="4361497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2026-07-12T03:31:42.8240000Z</dcterms:created>
  <dcterms:modified xsi:type="dcterms:W3CDTF">2026-07-12T03:31:42.8240000Z</dcterms:modified>
</coreProperties>
</file>