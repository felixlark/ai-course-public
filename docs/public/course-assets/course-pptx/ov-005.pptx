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3066e2ed5140e7" /><Relationship Type="http://schemas.openxmlformats.org/officeDocument/2006/relationships/extended-properties" Target="/docProps/app.xml" Id="Rba3f36c25f5a4620" /><Relationship Type="http://schemas.openxmlformats.org/officeDocument/2006/relationships/officeDocument" Target="/ppt/presentation.xml" Id="Rf58b82aa987d43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9aa1fffd044d79"/>
  </p:sldMasterIdLst>
  <p:notesMasterIdLst>
    <p:notesMasterId xmlns:r="http://schemas.openxmlformats.org/officeDocument/2006/relationships" r:id="Rfb7fdeb2998d4821"/>
  </p:notesMasterIdLst>
  <p:sldIdLst>
    <p:sldId xmlns:r="http://schemas.openxmlformats.org/officeDocument/2006/relationships" id="256" r:id="Rb8e6737218a145ca"/>
    <p:sldId xmlns:r="http://schemas.openxmlformats.org/officeDocument/2006/relationships" id="257" r:id="R08b273b9eacb4f1e"/>
    <p:sldId xmlns:r="http://schemas.openxmlformats.org/officeDocument/2006/relationships" id="258" r:id="R4602d12a2e98429a"/>
    <p:sldId xmlns:r="http://schemas.openxmlformats.org/officeDocument/2006/relationships" id="259" r:id="Rc0071fc468294ef0"/>
    <p:sldId xmlns:r="http://schemas.openxmlformats.org/officeDocument/2006/relationships" id="260" r:id="R8fb61697a007448d"/>
    <p:sldId xmlns:r="http://schemas.openxmlformats.org/officeDocument/2006/relationships" id="261" r:id="R3b6535a15ba44f69"/>
    <p:sldId xmlns:r="http://schemas.openxmlformats.org/officeDocument/2006/relationships" id="262" r:id="Rae8cdba519c9428f"/>
    <p:sldId xmlns:r="http://schemas.openxmlformats.org/officeDocument/2006/relationships" id="263" r:id="R101c1cc2eaba40ff"/>
    <p:sldId xmlns:r="http://schemas.openxmlformats.org/officeDocument/2006/relationships" id="264" r:id="Rfb473a7bb55f4320"/>
    <p:sldId xmlns:r="http://schemas.openxmlformats.org/officeDocument/2006/relationships" id="265" r:id="Rec29b4df85694e8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080a9f23374ef1" /><Relationship Type="http://schemas.openxmlformats.org/officeDocument/2006/relationships/slideMaster" Target="/ppt/slideMasters/slideMaster1.xml" Id="R259aa1fffd044d79" /><Relationship Type="http://schemas.openxmlformats.org/officeDocument/2006/relationships/notesMaster" Target="/ppt/notesMasters/notesMaster1.xml" Id="Rfb7fdeb2998d4821" /><Relationship Type="http://schemas.openxmlformats.org/officeDocument/2006/relationships/presProps" Target="/ppt/presProps.xml" Id="R5d8c5966dbee40b5" /><Relationship Type="http://schemas.openxmlformats.org/officeDocument/2006/relationships/tableStyles" Target="/ppt/tableStyles.xml" Id="Rc5f452792e4d4f65" /><Relationship Type="http://schemas.openxmlformats.org/officeDocument/2006/relationships/slide" Target="/ppt/slides/slide1.xml" Id="Rb8e6737218a145ca" /><Relationship Type="http://schemas.openxmlformats.org/officeDocument/2006/relationships/slide" Target="/ppt/slides/slide2.xml" Id="R08b273b9eacb4f1e" /><Relationship Type="http://schemas.openxmlformats.org/officeDocument/2006/relationships/slide" Target="/ppt/slides/slide3.xml" Id="R4602d12a2e98429a" /><Relationship Type="http://schemas.openxmlformats.org/officeDocument/2006/relationships/slide" Target="/ppt/slides/slide4.xml" Id="Rc0071fc468294ef0" /><Relationship Type="http://schemas.openxmlformats.org/officeDocument/2006/relationships/slide" Target="/ppt/slides/slide5.xml" Id="R8fb61697a007448d" /><Relationship Type="http://schemas.openxmlformats.org/officeDocument/2006/relationships/slide" Target="/ppt/slides/slide6.xml" Id="R3b6535a15ba44f69" /><Relationship Type="http://schemas.openxmlformats.org/officeDocument/2006/relationships/slide" Target="/ppt/slides/slide7.xml" Id="Rae8cdba519c9428f" /><Relationship Type="http://schemas.openxmlformats.org/officeDocument/2006/relationships/slide" Target="/ppt/slides/slide8.xml" Id="R101c1cc2eaba40ff" /><Relationship Type="http://schemas.openxmlformats.org/officeDocument/2006/relationships/slide" Target="/ppt/slides/slide9.xml" Id="Rfb473a7bb55f4320" /><Relationship Type="http://schemas.openxmlformats.org/officeDocument/2006/relationships/slide" Target="/ppt/slides/slide10.xml" Id="Rec29b4df85694e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1563a479a34a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c16a15181c4d04" /><Relationship Type="http://schemas.openxmlformats.org/officeDocument/2006/relationships/notesMaster" Target="/ppt/notesMasters/notesMaster1.xml" Id="R80a19eda2ba74c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b0d674348d4a04" /><Relationship Type="http://schemas.openxmlformats.org/officeDocument/2006/relationships/notesMaster" Target="/ppt/notesMasters/notesMaster1.xml" Id="R9c78287cf94749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d8976fa8d94e9a" /><Relationship Type="http://schemas.openxmlformats.org/officeDocument/2006/relationships/notesMaster" Target="/ppt/notesMasters/notesMaster1.xml" Id="Rfec0cc9ad97748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1d7d0f1d542cd" /><Relationship Type="http://schemas.openxmlformats.org/officeDocument/2006/relationships/notesMaster" Target="/ppt/notesMasters/notesMaster1.xml" Id="R236c874a8e2d48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d4e9835c1c4d26" /><Relationship Type="http://schemas.openxmlformats.org/officeDocument/2006/relationships/notesMaster" Target="/ppt/notesMasters/notesMaster1.xml" Id="Rad8f349323b84f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31af320aa14cdf" /><Relationship Type="http://schemas.openxmlformats.org/officeDocument/2006/relationships/notesMaster" Target="/ppt/notesMasters/notesMaster1.xml" Id="R95c9fb323cab4d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6cbb5737d84db8" /><Relationship Type="http://schemas.openxmlformats.org/officeDocument/2006/relationships/notesMaster" Target="/ppt/notesMasters/notesMaster1.xml" Id="R99acb7de73c148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8f06b165184cc7" /><Relationship Type="http://schemas.openxmlformats.org/officeDocument/2006/relationships/notesMaster" Target="/ppt/notesMasters/notesMaster1.xml" Id="R6fad65a131794f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c0df33d29e4e66" /><Relationship Type="http://schemas.openxmlformats.org/officeDocument/2006/relationships/notesMaster" Target="/ppt/notesMasters/notesMaster1.xml" Id="R3bf24861226540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4b4d8a8a494f0d" /><Relationship Type="http://schemas.openxmlformats.org/officeDocument/2006/relationships/notesMaster" Target="/ppt/notesMasters/notesMaster1.xml" Id="R102eb101541d44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a9316b88549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c48243672743d9" /><Relationship Type="http://schemas.openxmlformats.org/officeDocument/2006/relationships/slideLayout" Target="/ppt/slideLayouts/slideLayout1.xml" Id="R7245cce0ff6846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45cce0ff6846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222e360924e71" /><Relationship Type="http://schemas.openxmlformats.org/officeDocument/2006/relationships/notesSlide" Target="/ppt/notesSlides/notesSlide1.xml" Id="R6d332ba91a3c4a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43dd575074f58" /><Relationship Type="http://schemas.openxmlformats.org/officeDocument/2006/relationships/notesSlide" Target="/ppt/notesSlides/notesSlide2.xml" Id="R0128dc07a85443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8d518211b4be8" /><Relationship Type="http://schemas.openxmlformats.org/officeDocument/2006/relationships/notesSlide" Target="/ppt/notesSlides/notesSlide3.xml" Id="R9aef6fde86c043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5644a62da4ec1" /><Relationship Type="http://schemas.openxmlformats.org/officeDocument/2006/relationships/notesSlide" Target="/ppt/notesSlides/notesSlide4.xml" Id="Rfc4f8254dd6645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b835379254c3a" /><Relationship Type="http://schemas.openxmlformats.org/officeDocument/2006/relationships/notesSlide" Target="/ppt/notesSlides/notesSlide5.xml" Id="Ref46555567734f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ae283c0f54765" /><Relationship Type="http://schemas.openxmlformats.org/officeDocument/2006/relationships/notesSlide" Target="/ppt/notesSlides/notesSlide6.xml" Id="Re239dadc98034c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dde9d05934004" /><Relationship Type="http://schemas.openxmlformats.org/officeDocument/2006/relationships/notesSlide" Target="/ppt/notesSlides/notesSlide7.xml" Id="Re462a7fbd3b24e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9c0486f474877" /><Relationship Type="http://schemas.openxmlformats.org/officeDocument/2006/relationships/notesSlide" Target="/ppt/notesSlides/notesSlide8.xml" Id="R0a73ecfd23ed42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23c7d2a524617" /><Relationship Type="http://schemas.openxmlformats.org/officeDocument/2006/relationships/notesSlide" Target="/ppt/notesSlides/notesSlide9.xml" Id="Ra9f59383751645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5f229fb3d42e7" /><Relationship Type="http://schemas.openxmlformats.org/officeDocument/2006/relationships/notesSlide" Target="/ppt/notesSlides/notesSlide10.xml" Id="Rfa40c34779724b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43C9AA4B-C7AE-407B-9AE8-9827B80D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EEDC1223-1554-4281-A39F-6578254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45AA4D0-D13E-4A08-B0B2-2F4720CF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97488EA-1E63-4C9E-931E-2630FFFA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7936021-77D1-4B89-87EA-F8C07731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BE28E091-F901-4711-8F68-C044BE85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ED473F8-AAA1-4657-92ED-A6B48435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068165C-E9A3-46EB-A7C1-54C0591E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与开源模型生态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B99F782-43EB-4E52-AF83-317FD4A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从推理模型、开源生态和本地部署理解 DeepSeek 带来的技术与应用选择。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176DFCF-9F2B-4544-B7B2-C9569951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受到关注，不应只归结为“又出现了一个聊天模型”。它让更多团队同时看到三件事：推理模型可以通过训练与测试时计算改善复杂任务表现…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8E0F36D-412B-4F87-AB68-4A9FD591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D665A39-A24A-46A8-A28A-0EA73906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OV-005 · OV-005-S01</a:t>
            </a:r>
          </a:p>
        </p:txBody>
      </p:sp>
    </p:spTree>
    <p:extLst>
      <p:ext uri="{BB962C8B-B14F-4D97-AF65-F5344CB8AC3E}">
        <p14:creationId xmlns:p14="http://schemas.microsoft.com/office/powerpoint/2010/main" val="4198309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9CFB449-A1AA-47E1-804F-11139C13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BD579250-2579-41FA-9E15-35EF36C5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27008FAD-A894-4E8F-9323-35586771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4DDB1BD4-12C9-4475-BF21-F5691A17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720A744D-4B57-4982-BBA5-925A55B4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5D0F78B0-1A82-4BD4-8F41-E1FB0202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 DeepSeek-R1 所代表的推理模型路线，以及强化学习、监督微调和蒸馏各自解决什么问题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9B6FAB6-A781-4A6F-818D-EF8E940A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区分开放权重、开放代码、开放数据与完整开源，读懂模型许可证的实际边界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E175BCB-2A77-488B-9871-DDFFAFEC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根据任务质量、数据敏感度、时延、吞吐、成本和运维能力选择 API、托管服务或本地部署</a:t>
            </a:r>
          </a:p>
        </p:txBody>
      </p:sp>
    </p:spTree>
    <p:extLst>
      <p:ext uri="{BB962C8B-B14F-4D97-AF65-F5344CB8AC3E}">
        <p14:creationId xmlns:p14="http://schemas.microsoft.com/office/powerpoint/2010/main" val="16205072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504999FF-88F7-486C-A3A5-746F1D2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2313172-6B22-421D-935B-0DC278E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6F53004A-DB9F-4EA0-95D5-29CFC60A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E688E61-0938-4729-A5B8-422F324B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2088001B-99E4-4C75-9BEE-F13AF5BB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8CABBE7-0B4F-4678-8899-C337EEFB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636C390-251F-4834-961D-4A06985C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推理模型改变了什么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CF3069-3B4F-4051-AEC3-BD6C11F8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普通生成模型倾向于直接预测下一个 token。推理模型则通过训练，使模型在数学、代码、规划等任务上更善于分解问题、检查中间结果并在推理阶段投入更多计算。它并不意味着模型拥有稳定的逻辑真理…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34979E6-06DC-4472-8E44-B6142D06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5D9499B-3B87-4E66-9138-6DE82D5E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DeepSeek-R1 论文描述的路线包含冷启动监督数据、面向推理的强化学习、混合数据监督微调和后续强化学习等阶段。强化学习用于奖励可验证的正确结果和合适行为…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23B976B7-1A7A-4764-95FD-BE4F9254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44189A1-AFEB-4016-990E-340128B6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</p:spTree>
    <p:extLst>
      <p:ext uri="{BB962C8B-B14F-4D97-AF65-F5344CB8AC3E}">
        <p14:creationId xmlns:p14="http://schemas.microsoft.com/office/powerpoint/2010/main" val="1541901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97D4F66C-A03F-481B-A2A0-84BEFF4E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0B09DC46-88EC-48EF-BE8A-B6B0EBB1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7BDCB45-1781-4897-A49A-5AA4D01B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DC36D36A-D7FC-4B49-8641-67E467C9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413284B-422E-4EBB-8CD6-F3060350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00F29AA-3716-4BBA-BC7E-E41FB930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BB4A48F-84F3-4A8C-A696-D770077E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“开源模型”要拆成四个问题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FCDC94E-7916-4B06-B512-C9C962CC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日常讨论常把可下载模型统称为开源，但工程决策要继续追问：模型权重是否可得？推理与训练代码是否公开？训练数据和处理方法是否可追溯？许可证是否允许修改、商用、再分发和生成衍生模型？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3467EE8-F641-44E2-AFF3-B4E9DCF1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732CC42-FC37-4D2B-B1AC-C32E56BE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只有权重可下载，通常更准确地称为 开放权重模型 。它仍然很有价值：团队可以在自己的基础设施上运行、量化、评测和微调；但它并不自动带来训练透明度，也不代表所有用途都无条件允许…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C75B7B0-A443-4AEE-94AE-4B5F2E08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00655373-428A-455F-A3A7-05EE8BC0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</p:spTree>
    <p:extLst>
      <p:ext uri="{BB962C8B-B14F-4D97-AF65-F5344CB8AC3E}">
        <p14:creationId xmlns:p14="http://schemas.microsoft.com/office/powerpoint/2010/main" val="1580849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AFD9BFB-359B-44A2-905F-4DFC5FE1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B9CFCE7-AB17-4109-9DFA-7C4CA7BB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F2AAFDB6-3994-423A-9141-17F4E05B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79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调用外部 API 上手快、无需管理 GPU，适合快速试验和波动负载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82825B01-343E-471F-B493-EB9C2C51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55E3E8F-D776-4DFC-825D-4FB3202B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4D1F0CE-16CD-464D-92AC-E4692C58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682EF00-C6D9-45F8-A46E-878AB7B1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API、托管与本地部署的取舍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FD04CB8-2BCF-4A07-8142-4B689641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调用外部 API 上手快、无需管理 GPU，适合快速试验和波动负载；托管专属实例能增加网络与容量控制；本地部署可以让数据、日志和模型运行环境留在组织边界内，却要自己承担硬件、推理框架、容量规划…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FC50164-722B-4A2B-9FCB-AEEE73E4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A12528D-E01D-4AFA-98B6-AF38F4C9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判断方案时至少测六项：目标任务质量、端到端时延、峰值吞吐、单位任务总成本、敏感数据暴露面和持续运维能力。参数量不是硬件需求的唯一决定因素；权重量化、上下文长度…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90F485EE-2878-4167-972F-72960746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104B413-711C-4E41-B3DD-728329B5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调用外部 API 上手快、无需管理 GPU，适合快速试验和波动负载</a:t>
            </a:r>
          </a:p>
        </p:txBody>
      </p:sp>
    </p:spTree>
    <p:extLst>
      <p:ext uri="{BB962C8B-B14F-4D97-AF65-F5344CB8AC3E}">
        <p14:creationId xmlns:p14="http://schemas.microsoft.com/office/powerpoint/2010/main" val="11880500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17ECBB5-BDEB-4FB7-86BE-94ACC93D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261F4487-13D9-4976-B461-3BF2FB08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B2D49F5C-DE1E-4DBA-864B-5924C858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公开榜单适合形成候选列表，最终选择应使用自己的代表性任务集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85EC0F9-160C-46AA-80CD-6B73E868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A72A2B42-C7F5-456B-A24A-80BB4FDE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EA608B4-E810-4C84-8F0B-F73C8904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0C81E51-F57D-4D6C-9B27-FA17CB8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模型评测必须贴近真实任务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B33567D-6435-4C20-B06B-2FF4D09C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公开榜单适合形成候选列表，最终选择应使用自己的代表性任务集。知识问答要检查引用是否支持结论；代码任务要运行测试；结构化抽取要核对字段；推理任务要验证最终答案和关键约束；高风险任务还要测拒答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7E5B276-DFFC-41B1-AE32-F3AD1162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0AB72C9-9FEF-4EA9-AC1D-1D476722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评测结果应记录模型版本、推理参数、提示模板、工具、数据集版本和运行日期。模型升级后重新跑同一套基线，才能知道变化来自模型本身还是调用配置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059DC25-98F4-4A50-8A6B-629D1908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10EB6B7-072C-42A8-BB1A-CD32A70E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公开榜单适合形成候选列表，最终选择应使用自己的代表性任务集</a:t>
            </a:r>
          </a:p>
        </p:txBody>
      </p:sp>
    </p:spTree>
    <p:extLst>
      <p:ext uri="{BB962C8B-B14F-4D97-AF65-F5344CB8AC3E}">
        <p14:creationId xmlns:p14="http://schemas.microsoft.com/office/powerpoint/2010/main" val="8419077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ACFFF692-D30F-49F3-9AB5-BC16F54B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1784BED-A3B3-4954-A65C-1C880C3B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954101A3-6EE6-4340-8235-FA41338B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85007E4-E2B3-4BA9-A9B1-0DCFE30F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387186B-D944-4534-8BCC-15585678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7A64F4E-5FD5-4D5A-9159-AF1CFBE6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CE5270C-909F-4F73-B24C-43C11445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63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场景｜一家企业希望员工查询内部制度，初看适合本地部署。团队先把 100 个真实问题整理成评测集，要求回答同时给出制度名称、章节和生效日期。方案采用权限过滤后的文档检索…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4A03557-8245-4C6E-BCFB-F999A22A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63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机制｜试点同时比较外部 API、专属托管和本地开放权重模型。最终选择不由单次演示决定，而由引用正确率、无依据回答率、响应时延、单位任务成本、运维工时和敏感数据边界共同决定…</a:t>
            </a:r>
          </a:p>
        </p:txBody>
      </p:sp>
      <p:sp>
        <p:nvSpPr>
          <p:cNvPr id="9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C3DB306A-3FE0-4363-A463-5131AA6B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7-takeaway">
            <a:extLst xmlns:a="http://schemas.openxmlformats.org/drawingml/2006/main">
              <a:ext uri="{FF2B5EF4-FFF2-40B4-BE49-F238E27FC236}">
                <a16:creationId xmlns:a16="http://schemas.microsoft.com/office/drawing/2014/main" id="{BB5C417D-E5D2-4EE3-8629-364F68F2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</p:spTree>
    <p:extLst>
      <p:ext uri="{BB962C8B-B14F-4D97-AF65-F5344CB8AC3E}">
        <p14:creationId xmlns:p14="http://schemas.microsoft.com/office/powerpoint/2010/main" val="5754463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C654B0C-29BC-4D6C-81C0-59809FBB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14BDFC4-1233-4ADB-9395-B46AD601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F2B786A7-8527-46B4-987C-2D2B5C44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D4343A3-4338-4226-85AB-0D4DE2BA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B4729E7A-E77B-4894-B96D-AACEA0A0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OV-005-S08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6A2F0DB8-AEA8-4E1F-9112-D3ABAB7D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8D9113D9-453A-4677-8BFD-5BB917D0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38AC9ADE-0B78-461C-AC47-7D046D9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选择一个真实任务，写出 20 条最小评测集，并定义“答对”的证据，而不是只给主观评分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5CE4666-1FCD-4D0C-81A1-E81D41F7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299B2004-650B-4CA9-9CB4-879F6F7D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0C0A607C-39F0-4310-95B4-D44F5F4A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FCEFF3C8-A338-48C1-947D-6D815EE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为同一任务比较外部 API、托管实例和本地部署，列出质量、时延、成本、数据、运维六栏假设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1F3AF6F-8882-4EE5-9D5C-07566986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E6ABF51-68F2-4EB7-A8A2-E646D35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73CFB5F-1376-4E29-AA56-29442535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4697F61F-2A50-4AE3-94FD-1858F6FE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找到一个拟用模型的许可证，分别回答：能否商用、能否改模型、能否再分发、是否有额外使用限制</a:t>
            </a:r>
          </a:p>
        </p:txBody>
      </p:sp>
    </p:spTree>
    <p:extLst>
      <p:ext uri="{BB962C8B-B14F-4D97-AF65-F5344CB8AC3E}">
        <p14:creationId xmlns:p14="http://schemas.microsoft.com/office/powerpoint/2010/main" val="20502678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3196DA2-62EB-4682-A0AD-DF419C69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DEE4597A-7788-441A-A13E-619BE7F0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869D8216-4471-42F7-BC0B-628A01EB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0851F19-A998-44A9-906C-F80BE58D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894A927-44FF-4ECC-9238-640C9376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OV-005-S09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3CF4D85F-BF75-4044-A53B-B0D591CE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671563F-A281-4079-9B86-4B4E3CCE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DE09BFB-3C94-4B13-84E8-444E42A8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6C48088B-DA1D-42F5-A475-64BAB53A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E0B3C78-855A-4B39-AA88-8F44B2A4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A8F3A406-DC82-4484-B2AB-4CF286FC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E503B071-7351-408D-AF36-BC1B6A71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9123195-AFE6-4458-9145-FA053F80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754578D3-A889-4086-B8E4-58DEA1D0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FBB534E6-9743-4954-82E3-B494BFA8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7277F2A-8A0B-4BCC-8476-72B1E990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公开榜单适合形成候选列表，最终选择应使用自己的代表性任务集</a:t>
            </a:r>
          </a:p>
        </p:txBody>
      </p:sp>
    </p:spTree>
    <p:extLst>
      <p:ext uri="{BB962C8B-B14F-4D97-AF65-F5344CB8AC3E}">
        <p14:creationId xmlns:p14="http://schemas.microsoft.com/office/powerpoint/2010/main" val="8585039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BB5D940-D548-4A09-A870-FF7146B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DC9BBF31-3FCD-4BFA-9483-52152E94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60931606-EE09-41BB-B4D9-2A01DA2D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161744A7-C911-4D7A-9773-214FC019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99D69B9-29C8-47A2-A803-1EED113D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OV-005-S10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A59E2F9-4EEC-47C3-B462-2DECCBB2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14BDFB49-EA9B-4FB7-A4A6-BDACF5F0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DeepSeek-R1: Incentivizing Reasoning Capability in LLMs via Reinforcement Learning：DeepSeek-R1 官方技术论文…</a:t>
            </a:r>
          </a:p>
        </p:txBody>
      </p:sp>
      <p:sp>
        <p:nvSpPr>
          <p:cNvPr id="8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1824830A-0D59-41FE-A01C-6806BEB8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FAAB108D-6549-4E5B-B970-F9F665D7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898840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2026-07-11T12:05:12.4670000Z</dcterms:created>
  <dcterms:modified xsi:type="dcterms:W3CDTF">2026-07-11T12:05:12.4670000Z</dcterms:modified>
</coreProperties>
</file>