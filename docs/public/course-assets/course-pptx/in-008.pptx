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2782a3b1bd43bc" /><Relationship Type="http://schemas.openxmlformats.org/officeDocument/2006/relationships/extended-properties" Target="/docProps/app.xml" Id="Rd1fe3c59443a4b38" /><Relationship Type="http://schemas.openxmlformats.org/officeDocument/2006/relationships/officeDocument" Target="/ppt/presentation.xml" Id="R9ef0570e74ee43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61392c552d4822"/>
  </p:sldMasterIdLst>
  <p:notesMasterIdLst>
    <p:notesMasterId xmlns:r="http://schemas.openxmlformats.org/officeDocument/2006/relationships" r:id="R846f6affd94c4b63"/>
  </p:notesMasterIdLst>
  <p:sldIdLst>
    <p:sldId xmlns:r="http://schemas.openxmlformats.org/officeDocument/2006/relationships" id="256" r:id="Rf5ba0996040d49df"/>
    <p:sldId xmlns:r="http://schemas.openxmlformats.org/officeDocument/2006/relationships" id="257" r:id="R8ed80f53f2d0454b"/>
    <p:sldId xmlns:r="http://schemas.openxmlformats.org/officeDocument/2006/relationships" id="258" r:id="R85406e9b3b314690"/>
    <p:sldId xmlns:r="http://schemas.openxmlformats.org/officeDocument/2006/relationships" id="259" r:id="Ra947179a69264b30"/>
    <p:sldId xmlns:r="http://schemas.openxmlformats.org/officeDocument/2006/relationships" id="260" r:id="R0610296c382d46db"/>
    <p:sldId xmlns:r="http://schemas.openxmlformats.org/officeDocument/2006/relationships" id="261" r:id="Rd447726cac494d9f"/>
    <p:sldId xmlns:r="http://schemas.openxmlformats.org/officeDocument/2006/relationships" id="262" r:id="R139bbe8871f14a3b"/>
    <p:sldId xmlns:r="http://schemas.openxmlformats.org/officeDocument/2006/relationships" id="263" r:id="Rbf71dc0cee1e429c"/>
    <p:sldId xmlns:r="http://schemas.openxmlformats.org/officeDocument/2006/relationships" id="264" r:id="Rb8be3165650947e9"/>
    <p:sldId xmlns:r="http://schemas.openxmlformats.org/officeDocument/2006/relationships" id="265" r:id="R8c9ab71d21ec4e1d"/>
    <p:sldId xmlns:r="http://schemas.openxmlformats.org/officeDocument/2006/relationships" id="266" r:id="R7ee44430369748e8"/>
    <p:sldId xmlns:r="http://schemas.openxmlformats.org/officeDocument/2006/relationships" id="267" r:id="R9bacd9430b80490a"/>
    <p:sldId xmlns:r="http://schemas.openxmlformats.org/officeDocument/2006/relationships" id="268" r:id="Rae4dc4eae21940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80f64a02d941c2" /><Relationship Type="http://schemas.openxmlformats.org/officeDocument/2006/relationships/slideMaster" Target="/ppt/slideMasters/slideMaster1.xml" Id="R4d61392c552d4822" /><Relationship Type="http://schemas.openxmlformats.org/officeDocument/2006/relationships/notesMaster" Target="/ppt/notesMasters/notesMaster1.xml" Id="R846f6affd94c4b63" /><Relationship Type="http://schemas.openxmlformats.org/officeDocument/2006/relationships/presProps" Target="/ppt/presProps.xml" Id="Rce8edda54ee94c15" /><Relationship Type="http://schemas.openxmlformats.org/officeDocument/2006/relationships/tableStyles" Target="/ppt/tableStyles.xml" Id="Rcd8edf793ef341be" /><Relationship Type="http://schemas.openxmlformats.org/officeDocument/2006/relationships/slide" Target="/ppt/slides/slide1.xml" Id="Rf5ba0996040d49df" /><Relationship Type="http://schemas.openxmlformats.org/officeDocument/2006/relationships/slide" Target="/ppt/slides/slide2.xml" Id="R8ed80f53f2d0454b" /><Relationship Type="http://schemas.openxmlformats.org/officeDocument/2006/relationships/slide" Target="/ppt/slides/slide3.xml" Id="R85406e9b3b314690" /><Relationship Type="http://schemas.openxmlformats.org/officeDocument/2006/relationships/slide" Target="/ppt/slides/slide4.xml" Id="Ra947179a69264b30" /><Relationship Type="http://schemas.openxmlformats.org/officeDocument/2006/relationships/slide" Target="/ppt/slides/slide5.xml" Id="R0610296c382d46db" /><Relationship Type="http://schemas.openxmlformats.org/officeDocument/2006/relationships/slide" Target="/ppt/slides/slide6.xml" Id="Rd447726cac494d9f" /><Relationship Type="http://schemas.openxmlformats.org/officeDocument/2006/relationships/slide" Target="/ppt/slides/slide7.xml" Id="R139bbe8871f14a3b" /><Relationship Type="http://schemas.openxmlformats.org/officeDocument/2006/relationships/slide" Target="/ppt/slides/slide8.xml" Id="Rbf71dc0cee1e429c" /><Relationship Type="http://schemas.openxmlformats.org/officeDocument/2006/relationships/slide" Target="/ppt/slides/slide9.xml" Id="Rb8be3165650947e9" /><Relationship Type="http://schemas.openxmlformats.org/officeDocument/2006/relationships/slide" Target="/ppt/slides/slide10.xml" Id="R8c9ab71d21ec4e1d" /><Relationship Type="http://schemas.openxmlformats.org/officeDocument/2006/relationships/slide" Target="/ppt/slides/slide11.xml" Id="R7ee44430369748e8" /><Relationship Type="http://schemas.openxmlformats.org/officeDocument/2006/relationships/slide" Target="/ppt/slides/slide12.xml" Id="R9bacd9430b80490a" /><Relationship Type="http://schemas.openxmlformats.org/officeDocument/2006/relationships/slide" Target="/ppt/slides/slide13.xml" Id="Rae4dc4eae21940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36f55c491549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af25eff0a14e4d" /><Relationship Type="http://schemas.openxmlformats.org/officeDocument/2006/relationships/notesMaster" Target="/ppt/notesMasters/notesMaster1.xml" Id="R180ad3a182ff47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a47cf4b3a741b8" /><Relationship Type="http://schemas.openxmlformats.org/officeDocument/2006/relationships/notesMaster" Target="/ppt/notesMasters/notesMaster1.xml" Id="R6fa7c016badd45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7c76cca7764c56" /><Relationship Type="http://schemas.openxmlformats.org/officeDocument/2006/relationships/notesMaster" Target="/ppt/notesMasters/notesMaster1.xml" Id="R94d9cea2555a45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04648a14014f45" /><Relationship Type="http://schemas.openxmlformats.org/officeDocument/2006/relationships/notesMaster" Target="/ppt/notesMasters/notesMaster1.xml" Id="R626a93c653094f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7af8ffcafa4683" /><Relationship Type="http://schemas.openxmlformats.org/officeDocument/2006/relationships/notesMaster" Target="/ppt/notesMasters/notesMaster1.xml" Id="R8bbd7be2449a49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d0d741174645e0" /><Relationship Type="http://schemas.openxmlformats.org/officeDocument/2006/relationships/notesMaster" Target="/ppt/notesMasters/notesMaster1.xml" Id="R1ff285b2043541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e97bac0e5a4133" /><Relationship Type="http://schemas.openxmlformats.org/officeDocument/2006/relationships/notesMaster" Target="/ppt/notesMasters/notesMaster1.xml" Id="R1415009d4e6f47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0cc3abf500402e" /><Relationship Type="http://schemas.openxmlformats.org/officeDocument/2006/relationships/notesMaster" Target="/ppt/notesMasters/notesMaster1.xml" Id="R2028a2d48c7649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e37518b5c04897" /><Relationship Type="http://schemas.openxmlformats.org/officeDocument/2006/relationships/notesMaster" Target="/ppt/notesMasters/notesMaster1.xml" Id="R28331181cb8a4e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a10c982c3b4e23" /><Relationship Type="http://schemas.openxmlformats.org/officeDocument/2006/relationships/notesMaster" Target="/ppt/notesMasters/notesMaster1.xml" Id="Red35dc1f7f674c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5357831cc9400d" /><Relationship Type="http://schemas.openxmlformats.org/officeDocument/2006/relationships/notesMaster" Target="/ppt/notesMasters/notesMaster1.xml" Id="R17d371e593b44d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bc570963cb4b75" /><Relationship Type="http://schemas.openxmlformats.org/officeDocument/2006/relationships/notesMaster" Target="/ppt/notesMasters/notesMaster1.xml" Id="R0feaed529ae04e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f4ce7b49aa4f63" /><Relationship Type="http://schemas.openxmlformats.org/officeDocument/2006/relationships/notesMaster" Target="/ppt/notesMasters/notesMaster1.xml" Id="R83c297949ac84b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88fcbfde6743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03c064f3ad4954" /><Relationship Type="http://schemas.openxmlformats.org/officeDocument/2006/relationships/slideLayout" Target="/ppt/slideLayouts/slideLayout1.xml" Id="R6c9ef3ebaed948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9ef3ebaed948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7626b1f2f41b9" /><Relationship Type="http://schemas.openxmlformats.org/officeDocument/2006/relationships/notesSlide" Target="/ppt/notesSlides/notesSlide1.xml" Id="R60cdfbe701b645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8ec304064444f" /><Relationship Type="http://schemas.openxmlformats.org/officeDocument/2006/relationships/notesSlide" Target="/ppt/notesSlides/notesSlide2.xml" Id="Rf11ec17edd954e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c44dac3644af7" /><Relationship Type="http://schemas.openxmlformats.org/officeDocument/2006/relationships/notesSlide" Target="/ppt/notesSlides/notesSlide3.xml" Id="R4aeebee2f57e48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ecdbef116441e" /><Relationship Type="http://schemas.openxmlformats.org/officeDocument/2006/relationships/notesSlide" Target="/ppt/notesSlides/notesSlide4.xml" Id="Rfa306d98086849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9a83d484941be" /><Relationship Type="http://schemas.openxmlformats.org/officeDocument/2006/relationships/notesSlide" Target="/ppt/notesSlides/notesSlide5.xml" Id="R92045d64a99443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f1b92061a407e" /><Relationship Type="http://schemas.openxmlformats.org/officeDocument/2006/relationships/notesSlide" Target="/ppt/notesSlides/notesSlide6.xml" Id="R534affcc2e154c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f825777844b81" /><Relationship Type="http://schemas.openxmlformats.org/officeDocument/2006/relationships/notesSlide" Target="/ppt/notesSlides/notesSlide7.xml" Id="R251a3fe2b49c48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16faaeaa6406a" /><Relationship Type="http://schemas.openxmlformats.org/officeDocument/2006/relationships/notesSlide" Target="/ppt/notesSlides/notesSlide8.xml" Id="R6d9cfb15034e49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3dfa7d8fb4563" /><Relationship Type="http://schemas.openxmlformats.org/officeDocument/2006/relationships/notesSlide" Target="/ppt/notesSlides/notesSlide9.xml" Id="Rd3d834fc600a48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6d5baf00a4b72" /><Relationship Type="http://schemas.openxmlformats.org/officeDocument/2006/relationships/notesSlide" Target="/ppt/notesSlides/notesSlide10.xml" Id="R2f9b2ae0221f4c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9a5987aaf4053" /><Relationship Type="http://schemas.openxmlformats.org/officeDocument/2006/relationships/notesSlide" Target="/ppt/notesSlides/notesSlide11.xml" Id="R6a80f9a9631a48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e23acfb204723" /><Relationship Type="http://schemas.openxmlformats.org/officeDocument/2006/relationships/notesSlide" Target="/ppt/notesSlides/notesSlide12.xml" Id="R67bb4089d5b049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adfec27084c3e" /><Relationship Type="http://schemas.openxmlformats.org/officeDocument/2006/relationships/notesSlide" Target="/ppt/notesSlides/notesSlide13.xml" Id="Rd304545734a44b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9A18F95-505A-42ED-93B1-039AA707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C8D0CEA-6B58-435E-BE3C-407C329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2E04F63-07F5-4419-9955-340B8492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85B9161-47DA-4CEE-9969-B2EBE8E3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7FBB6718-1580-4F40-A2C5-D7E3CA6F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E2E257C5-A404-4266-9F47-F627879B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5ACDB3A-2B03-47C6-905A-BE16FBF5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929237D-B69A-4270-AD3A-CFCAAD61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海洋与地理空间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03E2714-899C-46D7-BEEB-C5309D50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连接卫星遥感、浮标、船舶、时空模型和智能体工作流，形成可追溯的海洋空间服务。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0A3D182A-14EA-4339-A315-9338C7AA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海洋和地理空间问题天然具有“在哪里、什么时候、以什么尺度观察”的属性；卫星能够提供大范围重复观测；却可能受云、传感器和分辨率影响；浮标与岸站提供现场序列；但位置有限且可能缺测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4F838C4-0C04-4986-9BE6-C026E2D2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68C9ACB2-C743-4A88-89C8-05BC4F48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IN-008 · IN-008-S01</a:t>
            </a:r>
          </a:p>
        </p:txBody>
      </p:sp>
    </p:spTree>
    <p:extLst>
      <p:ext uri="{BB962C8B-B14F-4D97-AF65-F5344CB8AC3E}">
        <p14:creationId xmlns:p14="http://schemas.microsoft.com/office/powerpoint/2010/main" val="16868302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A95903E-CF3F-4886-B136-53B77EF8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F53BAA81-BD2C-45A0-9C82-0A905835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1FA23E4-6D97-4B95-A186-D1817E9A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F512852F-909F-43A0-B313-9FC1B583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31EC85F6-A716-404A-8026-674A1F31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26535EB5-B8EE-4874-9DD8-098E4B6D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区分卫星遥感、浮标与站点观测、船舶记录、数值数据各自的时空覆盖和限制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288A0625-D37B-476D-B8FF-D0ECCEDA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把海洋或地理空间任务拆成数据目录、预处理、模型工具、产品生成和专家复核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5F07CE7B-FFB9-4E2D-B002-0B32CDD7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识别坐标、尺度、时间错配、云遮、缺测、数据泄漏和许可等常见风险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9E9572DB-1265-4115-A3CA-1ACF4CAA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为地图、图表和报告保留来源、处理步骤、适用范围与不确定性说明</a:t>
            </a:r>
          </a:p>
        </p:txBody>
      </p:sp>
    </p:spTree>
    <p:extLst>
      <p:ext uri="{BB962C8B-B14F-4D97-AF65-F5344CB8AC3E}">
        <p14:creationId xmlns:p14="http://schemas.microsoft.com/office/powerpoint/2010/main" val="8799979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B5FB75C-E831-4BF6-91AA-18FDCE74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BE89566C-F46F-4FA8-A670-382FB07B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10E9FF07-310E-4B4F-B2E8-D7FBF8C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6439D88F-9ED6-4EED-B2DF-093415AF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5F1C534-03E8-4068-BFDB-000434C7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8F7C225-F4E6-46BC-BC8D-5F907682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85896EA-DC52-4CC3-932E-53DBDF0D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7499122-4687-4756-97BB-B5A0A1E9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常见资料包括光学或雷达卫星遥感、航空与无人机影像、岸站与浮标、剖面观测、船舶位置与航迹、测深、海图、数值模式和再分析数据；每类数据都应有元数据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8BB3E22-2A60-4D81-B3D7-53DE63AB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4ECA574-6925-4AED-B5E4-B078BEE8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遥感产品往往是经过校正或反演的结果；不等于直接测量目标量；现场观测也会受仪器漂移、维护和环境干扰；两类数据相互验证时；应考虑尺度是否匹配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648D0B2-AECB-4F73-BA5C-F2D56FD3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6F1C9B7-CE5B-4FA9-9C90-102BF8E9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船舶自动识别与业务轨迹可帮助理解活动分布，但覆盖取决于设备、规则和使用情境。涉及个体或敏感设施时，还要执行访问、脱敏和用途限制，不能因为数据具有空间坐标就默认可以公开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B96F3160-42F1-4606-A5AB-91C446F3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EB73960-A1AF-49FE-936D-C010DB0F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</p:spTree>
    <p:extLst>
      <p:ext uri="{BB962C8B-B14F-4D97-AF65-F5344CB8AC3E}">
        <p14:creationId xmlns:p14="http://schemas.microsoft.com/office/powerpoint/2010/main" val="474168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A6D9330-2F79-44E0-92B7-07B42591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6A39CDAE-6504-41F7-8C8B-2FD5B330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69DC253-DD04-457F-B55C-4EBC0A7D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CF4F92F-DF6C-404E-BB83-84E56B4E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0E5C9B42-678B-45BE-B234-E1F57AD8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63D03F1-DE81-4836-9DB8-65BF05E6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2B3CFF1-DD0F-45E2-992F-F4254D23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时空对齐决定分析是否成立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D0E8345-3CE1-4425-B887-96FE982A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空间数据可能采用不同坐标参考系、投影、网格与垂直基准；叠加前应明确转换方法；并保留原始坐标和精度；时间也要统一时区、观测时刻、汇总窗口和预报有效时间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E498B2F-A308-4397-8B82-B78D92C2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1D4E792-3708-4704-804D-8AA1A282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缺测、云遮、岸线混合像元和传感器变化不应被静默填补；插值或生成式修复要标出方法与掩膜；让使用者区分观测值、估计值和不可用区域；数据目录还要记录处理链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9D0032D-BBD3-4569-A0EF-D1AE0EAB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909F7D7-8C1C-42C4-8DB2-5DE95754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在机器学习评测中，随机拆分相邻像元容易造成空间泄漏，前后相邻时刻也可能造成时间泄漏。更可靠的验证会按区域、时间段或事件分组，检查模型能否迁移到未见地点、季节和极端条件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6BF66AA4-AB5C-493F-9F63-268A85A6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8C240751-4AF4-4429-9227-113A4010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</p:spTree>
    <p:extLst>
      <p:ext uri="{BB962C8B-B14F-4D97-AF65-F5344CB8AC3E}">
        <p14:creationId xmlns:p14="http://schemas.microsoft.com/office/powerpoint/2010/main" val="1503489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BF972F01-1190-4E24-B65D-FF57A86A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F18B888-04C0-4DC3-BD67-1FE83EB9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B1347B4-3884-4B7C-84CE-3A95C155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21F03A8-B141-4093-BF0C-0C25A2EF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064EF1A6-1B75-496A-8C6F-671D5D61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174DDBA-A204-4B58-9991-F792E4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AE3DE41-11D5-4482-A2CB-9E4CA646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通用的信息服务架构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F07A212-ED66-40ED-B7F0-0415ED7E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可复核架构可分为六层；数据目录保存元数据和权限；预处理服务完成质量检查与时空对齐；领域模型进行分类、预测或异常发现；工具层提供数据库查询、地理计算、统计和可视化；编排层根据任务调用工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F18298C-531B-4FEC-9FB7-223FC4BF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EBE817A-7363-480F-9811-E52850D2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语言模型更适合解释任务、组织步骤、调用受控工具和撰写有依据的草稿；不应自行计算经纬度、猜测缺测值或虚构数据产品；关键计算由可重复运行的空间分析或科学模型完成；语言模型展示参数、结果路径和限制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A88684D-CEB1-4E20-9E9E-AC62DBD9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61893F1F-8101-40D7-88A5-7D51AAD1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</p:spTree>
    <p:extLst>
      <p:ext uri="{BB962C8B-B14F-4D97-AF65-F5344CB8AC3E}">
        <p14:creationId xmlns:p14="http://schemas.microsoft.com/office/powerpoint/2010/main" val="542995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A230FF66-77C7-42AA-B3EF-C17AC42B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8DBC71A-67B2-432E-B120-22A9B4D6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2BBA7DF6-CD17-474B-8118-7F39E63D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海洋观测重尺度变化，空间服务重位置关系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D44D1EE8-1DB8-4575-B815-970CB651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444A47D-7442-41A6-925D-E383D116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1235ADD-4950-41F2-93C0-141C38D9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3457E3A-CCF6-442D-9D89-A7611761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海洋任务与地理空间任务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4EAD693-5AEE-466D-83C1-D4751FAD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海洋服务可以围绕海况信息汇总、观测质量检查、生态现象监测、航线环境信息或灾害态势整理；地理空间服务还包括土地覆盖变化、基础设施巡查、公共服务可达性和应急制图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42AABB4-57DC-4FA9-872A-6091F16F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05160D4-7C71-4941-886F-C7269C24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必须包含标题、时间、范围、图例、比例或分辨率、坐标信息、数据来源和不可用区域；报告中的数字应能链接回数据与计算步骤；若不同来源结论冲突；应并列展示并解释可能原因；而不是让模型平均成一个答案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8474D08-5EE7-4E92-B4AC-A6C48EFC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24DE8009-B725-46C8-B523-9A5447E1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用于高风险行动时，产品要标明“观测到什么、模型估计什么、专家确认什么”。系统可提示候选区域和信息缺口，但最终航行、救援、管制或资源调度仍依据正式数据源和授权岗位决定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D02B8B3-9371-4B45-AB41-FBDAB727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574A53F-E59F-4FFC-ABFE-BA917103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海洋观测重尺度变化，空间服务重位置关系</a:t>
            </a:r>
          </a:p>
        </p:txBody>
      </p:sp>
    </p:spTree>
    <p:extLst>
      <p:ext uri="{BB962C8B-B14F-4D97-AF65-F5344CB8AC3E}">
        <p14:creationId xmlns:p14="http://schemas.microsoft.com/office/powerpoint/2010/main" val="19662734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D23AD9F9-5286-483B-B9C7-E68FF13B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5C81E623-0AFB-4BB9-81D2-D50B6B2D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C7CA4E46-E1C7-431C-9B08-F131667A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9F1F9DDE-E4D6-442F-9A32-2229DA7E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BAB019C9-2CA1-4594-84C6-38078F3D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D7A1C68-A72D-4F1A-841E-C8D5E5D3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857E075-2EA1-4472-8856-6D701115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如何理解团队课件中的 AIMS、OceanFM 与 Dify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A61D80E-0AC2-4387-B062-947D2C0E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团队课件以“AIMS”描述一个海洋信息服务案例；并在方案中提到“OceanFM”和“Dify”；这些名称展示了“领域模型加工具编排”的思路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0A924A3-3F47-4AAC-BF51-E1A78969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1165833-D958-44F8-B0FF-C704F099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学习时可把 AIMS 看作团队案例中的整体服务构想；把 OceanFM 看作课件中提及、需要结合文档和评测确认的领域模型；把 Dify 看作可选的工作流编排工具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E39119C2-C680-4183-926D-4BE4A2CB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533EE253-28A8-4E70-8EA5-301CDA36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</p:spTree>
    <p:extLst>
      <p:ext uri="{BB962C8B-B14F-4D97-AF65-F5344CB8AC3E}">
        <p14:creationId xmlns:p14="http://schemas.microsoft.com/office/powerpoint/2010/main" val="10965448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FC4E89D-9D7F-40A0-8230-B2A7B1F6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06D12C13-2117-4A06-88B4-0D9FFC92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3D30F455-150E-42A9-B59B-7DAD16E7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7F765BB-14B6-49BB-B601-33B16D6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BA54C2E-4475-44E1-82EA-7D369A04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F124693-A165-456C-9EBC-2DFC50C6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CE4E7E0-2EC6-4115-83FD-8DD4C5C8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D03625B-AD28-449B-84E2-6F527CEF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模型评测可按变量误差、分类遗漏、空间边界偏差、时间提前量和不确定性校准展开；服务评测还要检查数据新鲜度、工具成功率、引用完整性、错误转交和专家复核时间。常规样本和极端事件应分开报告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CBEC322-BEF8-4F8B-A68E-AE65C320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1803548-4D77-4DA5-8DC7-9309AD38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数据源、传感器、海岸线、业务定义和气候背景都会变化；系统需要监测缺测率、分布漂移和异常输出；保存模型与数据版本；并在超过适用范围时降级或停止；专家纠错应进入评测样本与数据治理流程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A584D9E9-B6A6-4C89-AC60-C31B342E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84F1B01-3873-414F-9F98-64173C7B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13967126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E70E4C7-CD11-4D07-9E9E-6FE72039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2B43663-DA3B-481B-9276-CE007A98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8DCED290-A4DC-484D-9828-71A0A2A3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8A1205B-BB2F-462A-843A-F90F4B77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2467F1FF-0410-49B8-BB1D-EDF64AFB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78E9A00-D047-4610-934A-124FC378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近岸观测周报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1EE1EAA-9768-4C07-A2EC-2780C291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边界｜海洋专业人员检查异常与尺度解释，再决定是否需要补充观测或发布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0155C5A-C759-4ACD-A2C9-71FF714B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输入｜卫星产品、岸站与浮标观测、质量标记和适用的数值数据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A036E1A-B2BB-4EEE-9170-5B3DE06C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机制｜系统统一时间和坐标，标出云遮与缺测，由科学工具计算变化，语言模型只组织带来源的解释草稿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C4E94300-E041-45AE-86A7-6D1DEAAA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交付｜地图显示观测区、估计区和不可用区，报告附数据日期、分辨率、方法和不确定性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A33E40C-071B-4A33-8953-B5316243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2B88307C-9261-4BDC-BD26-5C378AC1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</p:spTree>
    <p:extLst>
      <p:ext uri="{BB962C8B-B14F-4D97-AF65-F5344CB8AC3E}">
        <p14:creationId xmlns:p14="http://schemas.microsoft.com/office/powerpoint/2010/main" val="141089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2FC8CE4-B52E-4891-958E-D6650E0E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0336F813-46EE-4519-BD9F-85A141D2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0D07CBF5-553F-420B-B749-B55AFD43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应急地图要分层呈现来源与可信状态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1817112-DBC6-482A-BAB4-A2084A56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6234C18-47F8-43A3-A495-5E103D73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1402CC1-8C0B-4EC9-BE5F-956A6DA8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应急地理信息图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B229075-3F7C-4BAB-91BE-00DB102E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边界｜不同来源按时间和可信状态分层，未经确认的信息不覆盖正式底图；路线建议还需核对实时管制和现场情况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D1A063C-FBE9-48F3-A63C-B2B4486F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任务｜把现场报告、遥感影像、道路和设施资料组织为共同态势图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E61E0C6-3EA4-4DA7-90B3-96618B1B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责任｜系统辅助制图与更新，授权人员确认图件用途、发布时间和行动指令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F4E1DE8F-8FDD-4307-B3BF-C495EBE7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0C47DE2E-F32D-4DC3-8E15-7332B1E4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应急地图要分层呈现来源与可信状态</a:t>
            </a:r>
          </a:p>
        </p:txBody>
      </p:sp>
    </p:spTree>
    <p:extLst>
      <p:ext uri="{BB962C8B-B14F-4D97-AF65-F5344CB8AC3E}">
        <p14:creationId xmlns:p14="http://schemas.microsoft.com/office/powerpoint/2010/main" val="17656393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823D2AC-D7B2-421E-8D71-29311BAF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D00BBD5-8A0C-4649-B448-DDC4938C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E44AC1C2-BEC8-455C-B7D0-5C44472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864BD9F5-A8EB-4018-990A-F540314C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8DF82BB6-9C64-4A5F-9276-5D5357E9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7F680F5-A17C-48EA-B0D8-2BE94B43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43E49673-0C7C-4882-9E18-64478916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072A0389-1734-47BD-9FC8-5E12F827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为一个海洋或地理空间问题建立数据清单，填写变量、单位、时间、坐标、分辨率、质量、许可和更新频率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767E535A-A1F7-45D9-9E17-688B604B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08B21A8-CA1E-4D50-86BE-1AAD4080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759F6FC-8467-407D-A6EA-D52581F2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16450A23-75A4-49C0-ABE1-9F35A110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画出从原始观测到地图报告的处理链，明确哪些步骤由科学工具完成、哪些由语言模型辅助、哪些必须由专家确认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4C0D0C18-352F-4E41-A3F8-D2F247C9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EFFF3CA4-1C88-4BCB-A11D-A0D9A019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9A51D32-3EE4-4BC9-ABFA-A9DBB92A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D16567A-C1FA-4229-9EC3-15E12C2A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设计一次按区域和时间分组的评测，并列出地图上必须展示的来源、尺度、缺测和不确定性字段</a:t>
            </a:r>
          </a:p>
        </p:txBody>
      </p:sp>
    </p:spTree>
    <p:extLst>
      <p:ext uri="{BB962C8B-B14F-4D97-AF65-F5344CB8AC3E}">
        <p14:creationId xmlns:p14="http://schemas.microsoft.com/office/powerpoint/2010/main" val="21071895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3589553-0C29-4AE3-8C7E-3EAA0826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D454657B-5A20-44E8-99F2-AC94833F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410780D3-26AC-4C99-BE34-5668EE88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A80D28D6-DB14-48BC-893E-2C6D958F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2419EE0-06F5-49A1-AE2D-631DCAF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8EA16BD0-6566-4A3E-93CD-EB39F835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AD2E242-9CE6-45B8-B4A9-2FBF9C99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0DA73DA2-724B-488E-8510-C0ADDED4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E5A8D532-F282-41DC-AAF7-F801DECB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C87D591E-85C2-4AB6-A44F-FE4F5DEC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E740936-2349-45B8-9F58-4794E835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AAD0CF4B-481C-4A1B-9EB0-90A76E1C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0EE0B3FD-2B7E-4F4B-B1A9-E339A1FC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02E73BA6-3E52-4E60-901F-E3AC8617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79C5A8E8-F5B1-431D-889B-5D84D585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242B9B0-DCAB-4FAD-A63E-9AAB419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1570493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B1068A1-5244-4EFC-863E-B29DCA13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76BF3D4-A0A2-415F-AE7A-AEB9A5F7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22996CCA-0739-41D4-945C-1FDC22F5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5D1BBA8E-A05E-4AEE-9FB1-6797C1DF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B70CF714-A1FF-4342-9152-257BEC45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F246205-F447-420B-98C6-F20AFDAB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032DF3B-2FCD-4ECE-B2AF-9671D6FE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Open Geospatial Consortium（OGC）标准目录：地理空间数据模型、编码与接口标准的官方入口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365E7616-1001-460E-B054-A089DB6E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Group on Earth Observations（GEO）：地球观测合作、数据共享与应用资料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113AA22B-97CC-4665-9DA0-F596EFFC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Argo 国际计划数据入口：剖面、轨迹、元数据、质量控制说明与使用工具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0E0CF988-BF04-4D4F-9AFA-30E98264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实际服务应同时遵守数据提供机构的许可、质量说明及相关海洋和测绘管理要求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1BC4F100-101B-4286-8818-7D7DC59D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D6DA61DD-ADE7-42B8-A52F-8CD91C6A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7609211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2026-07-12T03:32:11.8490000Z</dcterms:created>
  <dcterms:modified xsi:type="dcterms:W3CDTF">2026-07-12T03:32:11.8490000Z</dcterms:modified>
</coreProperties>
</file>