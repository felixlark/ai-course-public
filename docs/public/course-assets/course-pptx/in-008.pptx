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57290f890f41db" /><Relationship Type="http://schemas.openxmlformats.org/officeDocument/2006/relationships/extended-properties" Target="/docProps/app.xml" Id="R9421231bc3424a82" /><Relationship Type="http://schemas.openxmlformats.org/officeDocument/2006/relationships/officeDocument" Target="/ppt/presentation.xml" Id="R66f6bddfb1fb4d8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a2941276b44f87"/>
  </p:sldMasterIdLst>
  <p:notesMasterIdLst>
    <p:notesMasterId xmlns:r="http://schemas.openxmlformats.org/officeDocument/2006/relationships" r:id="Ra17dde9de2e94c63"/>
  </p:notesMasterIdLst>
  <p:sldIdLst>
    <p:sldId xmlns:r="http://schemas.openxmlformats.org/officeDocument/2006/relationships" id="256" r:id="Rd8cbe6fd6b774030"/>
    <p:sldId xmlns:r="http://schemas.openxmlformats.org/officeDocument/2006/relationships" id="257" r:id="Rc4214ed33ce243dc"/>
    <p:sldId xmlns:r="http://schemas.openxmlformats.org/officeDocument/2006/relationships" id="258" r:id="Rd52d6219571642b6"/>
    <p:sldId xmlns:r="http://schemas.openxmlformats.org/officeDocument/2006/relationships" id="259" r:id="R944f47a8756d4e78"/>
    <p:sldId xmlns:r="http://schemas.openxmlformats.org/officeDocument/2006/relationships" id="260" r:id="R2c810cf5c3bd4528"/>
    <p:sldId xmlns:r="http://schemas.openxmlformats.org/officeDocument/2006/relationships" id="261" r:id="Rccf1814887d44cb1"/>
    <p:sldId xmlns:r="http://schemas.openxmlformats.org/officeDocument/2006/relationships" id="262" r:id="R50440f4949ed4c80"/>
    <p:sldId xmlns:r="http://schemas.openxmlformats.org/officeDocument/2006/relationships" id="263" r:id="R8da8edd49c514a66"/>
    <p:sldId xmlns:r="http://schemas.openxmlformats.org/officeDocument/2006/relationships" id="264" r:id="Rce66f1974ecd430b"/>
    <p:sldId xmlns:r="http://schemas.openxmlformats.org/officeDocument/2006/relationships" id="265" r:id="R069d2154f3314469"/>
    <p:sldId xmlns:r="http://schemas.openxmlformats.org/officeDocument/2006/relationships" id="266" r:id="Rd7a7265a196a4531"/>
    <p:sldId xmlns:r="http://schemas.openxmlformats.org/officeDocument/2006/relationships" id="267" r:id="R7655b0ca9fcc41f4"/>
    <p:sldId xmlns:r="http://schemas.openxmlformats.org/officeDocument/2006/relationships" id="268" r:id="R4fb912fc21154e6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a38047519543aa" /><Relationship Type="http://schemas.openxmlformats.org/officeDocument/2006/relationships/slideMaster" Target="/ppt/slideMasters/slideMaster1.xml" Id="Rfba2941276b44f87" /><Relationship Type="http://schemas.openxmlformats.org/officeDocument/2006/relationships/notesMaster" Target="/ppt/notesMasters/notesMaster1.xml" Id="Ra17dde9de2e94c63" /><Relationship Type="http://schemas.openxmlformats.org/officeDocument/2006/relationships/presProps" Target="/ppt/presProps.xml" Id="Rc4f25bcc18d5431d" /><Relationship Type="http://schemas.openxmlformats.org/officeDocument/2006/relationships/tableStyles" Target="/ppt/tableStyles.xml" Id="Rbf3b2af40ea84687" /><Relationship Type="http://schemas.openxmlformats.org/officeDocument/2006/relationships/slide" Target="/ppt/slides/slide1.xml" Id="Rd8cbe6fd6b774030" /><Relationship Type="http://schemas.openxmlformats.org/officeDocument/2006/relationships/slide" Target="/ppt/slides/slide2.xml" Id="Rc4214ed33ce243dc" /><Relationship Type="http://schemas.openxmlformats.org/officeDocument/2006/relationships/slide" Target="/ppt/slides/slide3.xml" Id="Rd52d6219571642b6" /><Relationship Type="http://schemas.openxmlformats.org/officeDocument/2006/relationships/slide" Target="/ppt/slides/slide4.xml" Id="R944f47a8756d4e78" /><Relationship Type="http://schemas.openxmlformats.org/officeDocument/2006/relationships/slide" Target="/ppt/slides/slide5.xml" Id="R2c810cf5c3bd4528" /><Relationship Type="http://schemas.openxmlformats.org/officeDocument/2006/relationships/slide" Target="/ppt/slides/slide6.xml" Id="Rccf1814887d44cb1" /><Relationship Type="http://schemas.openxmlformats.org/officeDocument/2006/relationships/slide" Target="/ppt/slides/slide7.xml" Id="R50440f4949ed4c80" /><Relationship Type="http://schemas.openxmlformats.org/officeDocument/2006/relationships/slide" Target="/ppt/slides/slide8.xml" Id="R8da8edd49c514a66" /><Relationship Type="http://schemas.openxmlformats.org/officeDocument/2006/relationships/slide" Target="/ppt/slides/slide9.xml" Id="Rce66f1974ecd430b" /><Relationship Type="http://schemas.openxmlformats.org/officeDocument/2006/relationships/slide" Target="/ppt/slides/slide10.xml" Id="R069d2154f3314469" /><Relationship Type="http://schemas.openxmlformats.org/officeDocument/2006/relationships/slide" Target="/ppt/slides/slide11.xml" Id="Rd7a7265a196a4531" /><Relationship Type="http://schemas.openxmlformats.org/officeDocument/2006/relationships/slide" Target="/ppt/slides/slide12.xml" Id="R7655b0ca9fcc41f4" /><Relationship Type="http://schemas.openxmlformats.org/officeDocument/2006/relationships/slide" Target="/ppt/slides/slide13.xml" Id="R4fb912fc21154e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26ffd19b6d4e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d35b901505413a" /><Relationship Type="http://schemas.openxmlformats.org/officeDocument/2006/relationships/notesMaster" Target="/ppt/notesMasters/notesMaster1.xml" Id="R66c6c88c66a948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4c8003edd1b4cc3" /><Relationship Type="http://schemas.openxmlformats.org/officeDocument/2006/relationships/notesMaster" Target="/ppt/notesMasters/notesMaster1.xml" Id="R87b457a2fcfd443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dc27bc49c547ea" /><Relationship Type="http://schemas.openxmlformats.org/officeDocument/2006/relationships/notesMaster" Target="/ppt/notesMasters/notesMaster1.xml" Id="R079bd0f338e14a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8872b956654982" /><Relationship Type="http://schemas.openxmlformats.org/officeDocument/2006/relationships/notesMaster" Target="/ppt/notesMasters/notesMaster1.xml" Id="Rdfc23854e15c45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8586a867654e80" /><Relationship Type="http://schemas.openxmlformats.org/officeDocument/2006/relationships/notesMaster" Target="/ppt/notesMasters/notesMaster1.xml" Id="Rcc6ff4adba7141e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2e5d9ddef0b4843" /><Relationship Type="http://schemas.openxmlformats.org/officeDocument/2006/relationships/notesMaster" Target="/ppt/notesMasters/notesMaster1.xml" Id="R0cb5b56bffab41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457a2018a4c46b3" /><Relationship Type="http://schemas.openxmlformats.org/officeDocument/2006/relationships/notesMaster" Target="/ppt/notesMasters/notesMaster1.xml" Id="R73b17fa09d1c4f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59a845eb6f4022" /><Relationship Type="http://schemas.openxmlformats.org/officeDocument/2006/relationships/notesMaster" Target="/ppt/notesMasters/notesMaster1.xml" Id="Ra1441ad08f05444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7ff940fcd954d48" /><Relationship Type="http://schemas.openxmlformats.org/officeDocument/2006/relationships/notesMaster" Target="/ppt/notesMasters/notesMaster1.xml" Id="R08e024f13d83499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e91a19756c7465a" /><Relationship Type="http://schemas.openxmlformats.org/officeDocument/2006/relationships/notesMaster" Target="/ppt/notesMasters/notesMaster1.xml" Id="R3a3f1112ea4d42b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909d1decf92460e" /><Relationship Type="http://schemas.openxmlformats.org/officeDocument/2006/relationships/notesMaster" Target="/ppt/notesMasters/notesMaster1.xml" Id="Ra029123b620640a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85e6e0e19474079" /><Relationship Type="http://schemas.openxmlformats.org/officeDocument/2006/relationships/notesMaster" Target="/ppt/notesMasters/notesMaster1.xml" Id="Ra88ba5f36ef54e7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ed61cb4530149cd" /><Relationship Type="http://schemas.openxmlformats.org/officeDocument/2006/relationships/notesMaster" Target="/ppt/notesMasters/notesMaster1.xml" Id="Re79d78adc681461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fe2f185213438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f5620877e04e2f" /><Relationship Type="http://schemas.openxmlformats.org/officeDocument/2006/relationships/slideLayout" Target="/ppt/slideLayouts/slideLayout1.xml" Id="Rfaa6341e684d4a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a6341e684d4a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0f3f5ee5dd46b3" /><Relationship Type="http://schemas.openxmlformats.org/officeDocument/2006/relationships/notesSlide" Target="/ppt/notesSlides/notesSlide1.xml" Id="R6389507c5acf42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caacca2bc40de" /><Relationship Type="http://schemas.openxmlformats.org/officeDocument/2006/relationships/notesSlide" Target="/ppt/notesSlides/notesSlide2.xml" Id="Re96abe42e37d4d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e24d17444741f6" /><Relationship Type="http://schemas.openxmlformats.org/officeDocument/2006/relationships/notesSlide" Target="/ppt/notesSlides/notesSlide3.xml" Id="R780be244661b43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57c01689bb425a" /><Relationship Type="http://schemas.openxmlformats.org/officeDocument/2006/relationships/notesSlide" Target="/ppt/notesSlides/notesSlide4.xml" Id="Rf37465453b8044f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e82062f003466f" /><Relationship Type="http://schemas.openxmlformats.org/officeDocument/2006/relationships/notesSlide" Target="/ppt/notesSlides/notesSlide5.xml" Id="Rbac226079b4b4af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7fe4085dae48c4" /><Relationship Type="http://schemas.openxmlformats.org/officeDocument/2006/relationships/notesSlide" Target="/ppt/notesSlides/notesSlide6.xml" Id="R085e1645d02c4e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e396e487834e35" /><Relationship Type="http://schemas.openxmlformats.org/officeDocument/2006/relationships/notesSlide" Target="/ppt/notesSlides/notesSlide7.xml" Id="R545b5b43628b42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ecfcccc06f4011" /><Relationship Type="http://schemas.openxmlformats.org/officeDocument/2006/relationships/notesSlide" Target="/ppt/notesSlides/notesSlide8.xml" Id="R684fcd7f4fc14c0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ece89ba45f4af7" /><Relationship Type="http://schemas.openxmlformats.org/officeDocument/2006/relationships/notesSlide" Target="/ppt/notesSlides/notesSlide9.xml" Id="R4bf429687b274a2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4893d2196a4338" /><Relationship Type="http://schemas.openxmlformats.org/officeDocument/2006/relationships/notesSlide" Target="/ppt/notesSlides/notesSlide10.xml" Id="Rf4cc8dcaa465448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20d32bf79c4149" /><Relationship Type="http://schemas.openxmlformats.org/officeDocument/2006/relationships/notesSlide" Target="/ppt/notesSlides/notesSlide11.xml" Id="R84b3e7b77406483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4e5e3d26204dea" /><Relationship Type="http://schemas.openxmlformats.org/officeDocument/2006/relationships/notesSlide" Target="/ppt/notesSlides/notesSlide12.xml" Id="R4b6ff013f7534c3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81c08b978242e2" /><Relationship Type="http://schemas.openxmlformats.org/officeDocument/2006/relationships/notesSlide" Target="/ppt/notesSlides/notesSlide13.xml" Id="Rc60955720460445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5DCD79CE-1BDF-4A1B-AC4E-12F444D6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35923B57-A581-46F6-9230-52EC155F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563501F4-D8A8-4C07-9D45-C77FB4DC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2CE79F95-F62C-4AB4-B4B8-15DA7D66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11B560A8-2F74-423A-B67E-CC93D2E1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45F55F16-902E-431C-AC7D-D30DA8A48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9D11406C-3254-40A8-A2FB-A7BDD6C1D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FDFCA8F-F0CC-4380-9C24-545B4B8A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海洋与地理空间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E7554292-6D92-42DF-8420-B4510E161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连接卫星遥感、浮标、船舶、时空模型和智能体工作流，形成可追溯的海洋空间服务。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AD9A557F-4566-47F3-94DC-17FC2DA52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海洋和地理空间问题天然具有“在哪里、什么时候、以什么尺度观察”的属性；卫星能够提供大范围重复观测；却可能受云、传感器和分辨率影响；浮标与岸站提供现场序列；但位置有限且可能缺测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04E43CAA-CBF6-49F7-B5A0-316A22665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B23AD68B-7B6E-4323-9351-20300490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IN-008 · IN-008-S01</a:t>
            </a:r>
          </a:p>
        </p:txBody>
      </p:sp>
    </p:spTree>
    <p:extLst>
      <p:ext uri="{BB962C8B-B14F-4D97-AF65-F5344CB8AC3E}">
        <p14:creationId xmlns:p14="http://schemas.microsoft.com/office/powerpoint/2010/main" val="11294027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F416E69C-009A-4A00-946D-BBFBE453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A2F6C728-4398-48B2-A62D-6A399C8F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81AEECE4-579F-4EFC-B1D3-5918EA6E7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海洋与地理空间：4项学习结果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39FE466F-6DDF-4DFD-A754-6F9ADE3C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5ADCE7AF-0DF5-48DF-B3E2-1B8BCC1C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D03EADDA-DD65-47C1-84BE-C3143795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区分卫星遥感、浮标与站点观测、船舶记录、数值数据各自的时空覆盖和限制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56BC816C-DBCB-4715-A4F2-3AA9240E9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把海洋或地理空间任务拆成数据目录、预处理、模型工具、产品生成和专家复核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4C4DDEDF-21BB-497A-A0CB-0E6E38F5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识别坐标、尺度、时间错配、云遮、缺测、数据泄漏和许可等常见风险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8FDCCDBE-40F8-4F81-A2B6-2FF8D405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为地图、图表和报告保留来源、处理步骤、适用范围与不确定性说明</a:t>
            </a:r>
          </a:p>
        </p:txBody>
      </p:sp>
    </p:spTree>
    <p:extLst>
      <p:ext uri="{BB962C8B-B14F-4D97-AF65-F5344CB8AC3E}">
        <p14:creationId xmlns:p14="http://schemas.microsoft.com/office/powerpoint/2010/main" val="19692388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2822F37A-3B80-4B09-9FBA-82A760CFD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8B0E93C9-51A6-4D5D-A6B7-6EF8B742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1D003EC7-2DA6-4F60-984E-CEDDDAFE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理解多源观测的差异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D9897FEF-0A28-4022-9140-6F004A960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850B2D2C-B393-4EEF-A95B-16DE0523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098B231-062A-4D20-90AA-58D1E6D9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B03422D-878B-4DBC-B8FB-1D6AD2DF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理解多源观测的差异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6CB4C36A-08AE-4900-AD90-F531F8881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094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常见资料包括光学或雷达卫星遥感、航空与无人机影像、岸站与浮标、剖面观测、船舶位置与航迹、测深、海图、数值模式和再分析数据；每类数据都应有元数据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09EB5D1-B9C4-4E41-BD6C-95A2B2D7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6F27893-BA1C-4293-94D0-107EAF03B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遥感产品往往是经过校正或反演的结果；不等于直接测量目标量；现场观测也会受仪器漂移、维护和环境干扰；两类数据相互验证时；应考虑尺度是否匹配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B038FE4D-76A9-46B1-8C4D-63BD3692D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912BAD41-CB57-4171-BCE1-B73FD7F3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船舶自动识别与业务轨迹可帮助理解活动分布，但覆盖取决于设备、规则和使用情境。涉及个体或敏感设施时，还要执行访问、脱敏和用途限制，不能因为数据具有空间坐标就默认可以公开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E4EA0AAE-FEE9-4C9E-BE5A-04F6DB15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E4B6D153-F9CE-4BE7-AE8F-0E86408B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理解多源观测的差异</a:t>
            </a:r>
          </a:p>
        </p:txBody>
      </p:sp>
    </p:spTree>
    <p:extLst>
      <p:ext uri="{BB962C8B-B14F-4D97-AF65-F5344CB8AC3E}">
        <p14:creationId xmlns:p14="http://schemas.microsoft.com/office/powerpoint/2010/main" val="5731567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9DC4D578-0620-4BC6-9155-D858DE06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5A44BF85-A16E-4EFC-85D2-1401B7A3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FD3A1D4B-C4C0-4F8E-AAE8-834787D9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空间数据可能采用不同坐标参考系、投影、网格与垂直基准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6099CFD3-8702-4EB0-B210-BD09EC5CE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3E253936-241A-42D5-88D0-C55B72F2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C07785B-5B62-4F7E-8E53-EF28BF3B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FF4C466-87A4-4833-B428-A24EE915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时空对齐决定分析是否成立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4CC9E0D-3101-43C4-8370-A631D5B7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094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空间数据可能采用不同坐标参考系、投影、网格与垂直基准；叠加前应明确转换方法；并保留原始坐标和精度；时间也要统一时区、观测时刻、汇总窗口和预报有效时间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D38F70B-2B36-46F7-86C5-8F7BA0AFC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3DC052C-8E96-4B12-A02B-09E74530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缺测、云遮、岸线混合像元和传感器变化不应被静默填补；插值或生成式修复要标出方法与掩膜；让使用者区分观测值、估计值和不可用区域；数据目录还要记录处理链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F6D8EB21-1A0C-489D-8AAB-C22320DA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B3AB5975-BA9C-497F-A0CD-BE2937E39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在机器学习评测中，随机拆分相邻像元容易造成空间泄漏，前后相邻时刻也可能造成时间泄漏。更可靠的验证会按区域、时间段或事件分组，检查模型能否迁移到未见地点、季节和极端条件</a:t>
            </a:r>
          </a:p>
        </p:txBody>
      </p:sp>
      <p:sp>
        <p:nvSpPr>
          <p:cNvPr id="13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D8A58710-8612-475A-A5D5-FE87D983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4-takeaway">
            <a:extLst xmlns:a="http://schemas.openxmlformats.org/drawingml/2006/main">
              <a:ext uri="{FF2B5EF4-FFF2-40B4-BE49-F238E27FC236}">
                <a16:creationId xmlns:a16="http://schemas.microsoft.com/office/drawing/2014/main" id="{DE3F66F0-7146-4B3C-BCDE-3CBF3F9C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空间数据可能采用不同坐标参考系、投影、网格与垂直基准</a:t>
            </a:r>
          </a:p>
        </p:txBody>
      </p:sp>
    </p:spTree>
    <p:extLst>
      <p:ext uri="{BB962C8B-B14F-4D97-AF65-F5344CB8AC3E}">
        <p14:creationId xmlns:p14="http://schemas.microsoft.com/office/powerpoint/2010/main" val="13044908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9103F779-7F28-460D-8086-6E03E44F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2A5F38AF-EFA3-47BC-9986-4A3A1DEB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3A0CE244-C8F8-4D68-A595-8F9AAA966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一个可复核架构可分为六层：数据目录保存元数据和权限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86D67274-D0AD-4486-888E-FEBE2944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B150D4E4-81F9-4CD4-8EB0-9A648D318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C1C972A-F730-48E1-80CE-821C9CDA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3538776-EBC3-4DBE-9D4A-C24CB21E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通用的信息服务架构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EEE11CD-FB20-4EBD-80F4-9FABABAC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个可复核架构可分为六层；数据目录保存元数据和权限；预处理服务完成质量检查与时空对齐；领域模型进行分类、预测或异常发现；工具层提供数据库查询、地理计算、统计和可视化；编排层根据任务调用工具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56F92D1-FE0E-46C5-9C53-84DE4E38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79C8C18-8A3C-4224-BE4C-8DADD0C5B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语言模型更适合解释任务、组织步骤、调用受控工具和撰写有依据的草稿；不应自行计算经纬度、猜测缺测值或虚构数据产品；关键计算由可重复运行的空间分析或科学模型完成；语言模型展示参数、结果路径和限制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6A15B859-FD66-490A-8314-B74AF3FA4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54FA856B-BC4E-4DB4-8270-3FC614E8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一个可复核架构可分为六层：数据目录保存元数据和权限</a:t>
            </a:r>
          </a:p>
        </p:txBody>
      </p:sp>
    </p:spTree>
    <p:extLst>
      <p:ext uri="{BB962C8B-B14F-4D97-AF65-F5344CB8AC3E}">
        <p14:creationId xmlns:p14="http://schemas.microsoft.com/office/powerpoint/2010/main" val="18066200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608BA9C8-0919-4631-A925-EB13DCB2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FE06B28F-065A-4F5E-BA6A-8A0452E8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6A739DDC-583A-406C-A7F9-3F4D50500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海洋观测重尺度变化，空间服务重位置关系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EEEF20E9-1A3D-4E23-B7EF-1904D573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941F853A-733D-4EC3-9C96-CEB8378A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73003D3-6BA3-4DAE-8EC8-8B02051A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C0D1E84-6105-4F83-A53A-CE22E4C5B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海洋任务与地理空间任务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2AAE223-5CF2-4DBC-AAA5-5B2E76CE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海洋服务可以围绕海况信息汇总、观测质量检查、生态现象监测、航线环境信息或灾害态势整理；地理空间服务还包括土地覆盖变化、基础设施巡查、公共服务可达性和应急制图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F6EAE3E-019F-49CA-8A2D-EC0EE403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B7E14BD-2343-4026-B39A-387651BD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地图必须包含标题、时间、范围、图例、比例或分辨率、坐标信息、数据来源和不可用区域；报告中的数字应能链接回数据与计算步骤；若不同来源结论冲突；应并列展示并解释可能原因；而不是让模型平均成一个答案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E18382B9-D60B-4AAC-87A4-7B76D94B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DB8AC59A-46F1-4F63-8193-06927866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用于高风险行动时，产品要标明“观测到什么、模型估计什么、专家确认什么”。系统可提示候选区域和信息缺口，但最终航行、救援、管制或资源调度仍依据正式数据源和授权岗位决定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BE34F07B-E346-42C9-98CA-7A22EF9F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42BE47AB-B25E-426F-95EA-A2271268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海洋观测重尺度变化，空间服务重位置关系</a:t>
            </a:r>
          </a:p>
        </p:txBody>
      </p:sp>
    </p:spTree>
    <p:extLst>
      <p:ext uri="{BB962C8B-B14F-4D97-AF65-F5344CB8AC3E}">
        <p14:creationId xmlns:p14="http://schemas.microsoft.com/office/powerpoint/2010/main" val="5139683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40D944C0-1019-4801-8E92-02605BDF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DD272434-F05F-48BB-8A95-5533D717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D7BDD847-096B-48D1-8CE9-57E40B7F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团队课件以“AIMS”描述一个海洋信息服务案例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83D48071-004D-4643-A407-EE10CBA5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8840FEA5-B9BF-4098-A18F-D98FC6C5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7B8CAC1-31E6-4324-9EB5-A2F885144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B6977BE-1D1C-4A6D-AA68-E45A8CE5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如何理解团队课件中的 AIMS、OceanFM 与 Dify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EC4A0A5-F083-4CB6-895E-7210E281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团队课件以“AIMS”描述一个海洋信息服务案例；并在方案中提到“OceanFM”和“Dify”；这些名称展示了“领域模型加工具编排”的思路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3673B24-5F1F-4164-862D-803BD77A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BAC3E65-0AA2-4FA8-8BBB-3C0639053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学习时可把 AIMS 看作团队案例中的整体服务构想；把 OceanFM 看作课件中提及、需要结合文档和评测确认的领域模型；把 Dify 看作可选的工作流编排工具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AFFF5E00-5BF8-41D7-A314-ED68B8B0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180A9C88-B25F-4464-AFC1-2D79AB5E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团队课件以“AIMS”描述一个海洋信息服务案例</a:t>
            </a:r>
          </a:p>
        </p:txBody>
      </p:sp>
    </p:spTree>
    <p:extLst>
      <p:ext uri="{BB962C8B-B14F-4D97-AF65-F5344CB8AC3E}">
        <p14:creationId xmlns:p14="http://schemas.microsoft.com/office/powerpoint/2010/main" val="13445645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10D6851E-A089-4B45-B211-F98AD37D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F039E88C-260F-4301-AA85-71A94628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9668014C-ACCC-47E3-8052-4871596C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评测与长期运行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8B41DC81-B4A8-40BE-BCA2-E90BC9FB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5E23B2A8-21F4-489B-A7B1-B86D91C7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F29D32A-B001-41E4-891B-EA9B1BF6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C3F6F47-4894-4561-9B65-8A4F6048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评测与长期运行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6AED1C2-0733-4AD5-AFCE-2669D085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模型评测可按变量误差、分类遗漏、空间边界偏差、时间提前量和不确定性校准展开；服务评测还要检查数据新鲜度、工具成功率、引用完整性、错误转交和专家复核时间。常规样本和极端事件应分开报告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AA117A7-6CD7-4907-AD3F-84D85D927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C8FFAB7-B197-477E-8E1F-9851DE43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数据源、传感器、海岸线、业务定义和气候背景都会变化；系统需要监测缺测率、分布漂移和异常输出；保存模型与数据版本；并在超过适用范围时降级或停止；专家纠错应进入评测样本与数据治理流程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AD759A38-400E-4BDD-9216-43A60502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7B715EDC-F6B3-41BB-8552-227B0F66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评测与长期运行</a:t>
            </a:r>
          </a:p>
        </p:txBody>
      </p:sp>
    </p:spTree>
    <p:extLst>
      <p:ext uri="{BB962C8B-B14F-4D97-AF65-F5344CB8AC3E}">
        <p14:creationId xmlns:p14="http://schemas.microsoft.com/office/powerpoint/2010/main" val="2756049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938E1DB2-F9F2-4F7C-8055-850F23C8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74C40116-39B2-41E8-9D54-0273ACB3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D023DE1A-E705-43A7-851F-027FC769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系统统一时间和坐标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A621A9BB-3EEA-479A-AA13-ABC4E472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4A6A8BDE-3C19-4A6A-94C6-F0EDD885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0EB7F68D-750D-4E76-B52F-57D7B9D2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近岸观测周报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485900FF-DC7F-45A9-9706-36BBBFA3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边界｜海洋专业人员检查异常与尺度解释，再决定是否需要补充观测或发布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1496CF18-43D5-43A0-B624-284D00C1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输入｜卫星产品、岸站与浮标观测、质量标记和适用的数值数据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9BA87C73-1D33-4630-B37D-3E9EB6F9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694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机制｜系统统一时间和坐标，标出云遮与缺测，由科学工具计算变化，语言模型只组织带来源的解释草稿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EE469E77-A792-403A-9550-5D4997E7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交付｜地图显示观测区、估计区和不可用区，报告附数据日期、分辨率、方法和不确定性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ACB0943E-1B70-419A-818A-852F2829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864AFEFB-8964-4830-BF7E-CC5D7B50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系统统一时间和坐标</a:t>
            </a:r>
          </a:p>
        </p:txBody>
      </p:sp>
    </p:spTree>
    <p:extLst>
      <p:ext uri="{BB962C8B-B14F-4D97-AF65-F5344CB8AC3E}">
        <p14:creationId xmlns:p14="http://schemas.microsoft.com/office/powerpoint/2010/main" val="2613336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4FE2DEF8-B9D9-4B2E-822E-9D7F4840E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4DD43485-7A35-42B0-A379-D69934E4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4F9B548F-0F82-4258-AAEA-DA77D82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应急地图要分层呈现来源与可信状态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D8B34895-C726-40DB-AE6E-5AD37FC4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22E3EE62-96D2-4D0E-92A2-3A70FA58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B2B72DFE-A2B3-43D5-B3AD-FDC8315D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应急地理信息图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531EFFFF-ED54-441E-A7E2-9B6A4396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边界｜不同来源按时间和可信状态分层，未经确认的信息不覆盖正式底图；路线建议还需核对实时管制和现场情况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A7B7EB7A-ED49-4732-9BBA-B73D6DB7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任务｜把现场报告、遥感影像、道路和设施资料组织为共同态势图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B9F548AF-419F-402F-AF1A-ABFBE97F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责任｜系统辅助制图与更新，授权人员确认图件用途、发布时间和行动指令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9B29BC9E-0042-4617-ADC1-866A760BB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1211AB16-5A95-41B0-B698-D620DD90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应急地图要分层呈现来源与可信状态</a:t>
            </a:r>
          </a:p>
        </p:txBody>
      </p:sp>
    </p:spTree>
    <p:extLst>
      <p:ext uri="{BB962C8B-B14F-4D97-AF65-F5344CB8AC3E}">
        <p14:creationId xmlns:p14="http://schemas.microsoft.com/office/powerpoint/2010/main" val="3678315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5F36F600-EF33-4C65-818F-99832EF3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11B37774-49AD-412A-91EE-E3131E42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D8798281-871E-4AEA-8115-FA7BA67E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海洋与地理空间：一次可验收练习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EC56B582-AAA5-4CA9-BAAE-3B4BCD29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B24F0D09-06BF-4ECA-9019-8CFAA813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C4A288CB-A908-4CA2-959A-519A27D1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6DFA505F-6A90-40AA-95C8-39916A40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6B81BD38-F8EB-4890-83AD-8B1A0A11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为一个海洋或地理空间问题建立数据清单，填写变量、单位、时间、坐标、分辨率、质量、许可和更新频率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EC0CCD3E-CC0F-484C-B737-C451FE76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CDB4FD42-4124-4EA6-9C6F-1B82BFFB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64847978-2653-490F-B54B-205D8CCE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E0352BCC-106C-4E1D-B3E4-E6C906B7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画出从原始观测到地图报告的处理链，明确哪些步骤由科学工具完成、哪些由语言模型辅助、哪些必须由专家确认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2D666E8C-F60D-4780-810E-9F261A60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78C23777-2A86-4A2D-825B-2A2C4EEA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677D3531-0257-4E24-A1A6-63F107096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E90B8941-322E-4026-8F56-E63B9A1A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设计一次按区域和时间分组的评测，并列出地图上必须展示的来源、尺度、缺测和不确定性字段</a:t>
            </a:r>
          </a:p>
        </p:txBody>
      </p:sp>
    </p:spTree>
    <p:extLst>
      <p:ext uri="{BB962C8B-B14F-4D97-AF65-F5344CB8AC3E}">
        <p14:creationId xmlns:p14="http://schemas.microsoft.com/office/powerpoint/2010/main" val="7028247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13F243CF-3698-42F5-9B0F-94939DA5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2DF44F6F-8F8E-4D2B-A746-97C69D40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87DC2022-E250-4147-A130-8CA91D9F4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海洋与地理空间：判断时先抓住三点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F4A0CDD6-EDB6-43B9-9085-C8EAF309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557BB487-C3F0-49A8-B684-AF8D16F4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DC239278-7353-451C-B41F-89B0E5BB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E549C74F-5BC8-493B-8D95-1F9BABCB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78AF6659-D055-45F0-82D6-5A3BFD0F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理解多源观测的差异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DEF9FB30-AE66-4183-A327-9640414D6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DCE75D73-10E7-4D60-B834-56797A34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EA926F7D-7278-4C1C-8630-65ECCC72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F39DC2DF-AC3D-477C-AF04-08FF6A8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一个可复核架构可分为六层：数据目录保存元数据和权限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F1E08DE4-6365-4BB0-9089-2CD796F6D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1A9DF142-9B70-415F-93A6-7C7D2311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FBE235BD-AA57-42B2-80FB-1A39DD61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A4F28B7F-AE7C-4D56-916C-317A7C21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评测与长期运行</a:t>
            </a:r>
          </a:p>
        </p:txBody>
      </p:sp>
    </p:spTree>
    <p:extLst>
      <p:ext uri="{BB962C8B-B14F-4D97-AF65-F5344CB8AC3E}">
        <p14:creationId xmlns:p14="http://schemas.microsoft.com/office/powerpoint/2010/main" val="6285886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5FB56BC3-4BA0-4D22-B557-9AB6811A8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5BB48847-3DF1-4958-9C08-9F5AC63F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8BAD1E0E-1354-433C-9BE2-34B7380A2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海洋与地理空间：依据、边界与延伸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73AF0B1B-BB42-47BC-932C-58B7A6DC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4AF3CDF7-02DC-4676-B09A-96A7D5261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B51EB5A4-922D-4A2E-A726-2E3012BA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19F0A0F9-490E-401A-AF5C-FC53D780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Open Geospatial Consortium（OGC）标准目录：地理空间数据模型、编码与接口标准的官方入口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0FAD3F7F-9974-46FF-8F75-63C61D4E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Group on Earth Observations（GEO）：地球观测合作、数据共享与应用资料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19DD1B76-6F3A-4255-A76D-77ACD774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Argo 国际计划数据入口：剖面、轨迹、元数据、质量控制说明与使用工具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E940332F-81C4-4CAD-8EDD-DDCC7DAF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实际服务应同时遵守数据提供机构的许可、质量说明及相关海洋和测绘管理要求</a:t>
            </a:r>
          </a:p>
        </p:txBody>
      </p:sp>
      <p:sp>
        <p:nvSpPr>
          <p:cNvPr id="11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D4CE4993-A6C8-4284-9BAA-25467CDB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901B0520-3C12-4592-A20F-74747C999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20971089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2026-07-11T16:56:07.1530000Z</dcterms:created>
  <dcterms:modified xsi:type="dcterms:W3CDTF">2026-07-11T16:56:07.1530000Z</dcterms:modified>
</coreProperties>
</file>