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d90ab4c454662" /><Relationship Type="http://schemas.openxmlformats.org/officeDocument/2006/relationships/extended-properties" Target="/docProps/app.xml" Id="R1fbe2f8ff3de4cf3" /><Relationship Type="http://schemas.openxmlformats.org/officeDocument/2006/relationships/officeDocument" Target="/ppt/presentation.xml" Id="R6488581ebdc9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ce6a96db2f46cb"/>
  </p:sldMasterIdLst>
  <p:notesMasterIdLst>
    <p:notesMasterId xmlns:r="http://schemas.openxmlformats.org/officeDocument/2006/relationships" r:id="R6b48e617a9b04c7e"/>
  </p:notesMasterIdLst>
  <p:sldIdLst>
    <p:sldId xmlns:r="http://schemas.openxmlformats.org/officeDocument/2006/relationships" id="256" r:id="Rc827860e8e7d4fbf"/>
    <p:sldId xmlns:r="http://schemas.openxmlformats.org/officeDocument/2006/relationships" id="257" r:id="R714b82a528a64124"/>
    <p:sldId xmlns:r="http://schemas.openxmlformats.org/officeDocument/2006/relationships" id="258" r:id="R5c8304fe6f6a4cfc"/>
    <p:sldId xmlns:r="http://schemas.openxmlformats.org/officeDocument/2006/relationships" id="259" r:id="R220203be612f44ae"/>
    <p:sldId xmlns:r="http://schemas.openxmlformats.org/officeDocument/2006/relationships" id="260" r:id="Rd9ccb560909d458e"/>
    <p:sldId xmlns:r="http://schemas.openxmlformats.org/officeDocument/2006/relationships" id="261" r:id="Rafacce62a4c1482b"/>
    <p:sldId xmlns:r="http://schemas.openxmlformats.org/officeDocument/2006/relationships" id="262" r:id="R55171a152a0f4e3b"/>
    <p:sldId xmlns:r="http://schemas.openxmlformats.org/officeDocument/2006/relationships" id="263" r:id="R93116b8bcaba4475"/>
    <p:sldId xmlns:r="http://schemas.openxmlformats.org/officeDocument/2006/relationships" id="264" r:id="Rb30dd4f408f3436f"/>
    <p:sldId xmlns:r="http://schemas.openxmlformats.org/officeDocument/2006/relationships" id="265" r:id="R0b169fa58b3f4b96"/>
    <p:sldId xmlns:r="http://schemas.openxmlformats.org/officeDocument/2006/relationships" id="266" r:id="Re223e195f4d74066"/>
    <p:sldId xmlns:r="http://schemas.openxmlformats.org/officeDocument/2006/relationships" id="267" r:id="R3de8f039fc7849d9"/>
    <p:sldId xmlns:r="http://schemas.openxmlformats.org/officeDocument/2006/relationships" id="268" r:id="Re242435d1ddc47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8c90e22c1496c" /><Relationship Type="http://schemas.openxmlformats.org/officeDocument/2006/relationships/slideMaster" Target="/ppt/slideMasters/slideMaster1.xml" Id="Racce6a96db2f46cb" /><Relationship Type="http://schemas.openxmlformats.org/officeDocument/2006/relationships/notesMaster" Target="/ppt/notesMasters/notesMaster1.xml" Id="R6b48e617a9b04c7e" /><Relationship Type="http://schemas.openxmlformats.org/officeDocument/2006/relationships/presProps" Target="/ppt/presProps.xml" Id="R7f8ccc3906ea4aa2" /><Relationship Type="http://schemas.openxmlformats.org/officeDocument/2006/relationships/tableStyles" Target="/ppt/tableStyles.xml" Id="Red35351727924b2b" /><Relationship Type="http://schemas.openxmlformats.org/officeDocument/2006/relationships/slide" Target="/ppt/slides/slide1.xml" Id="Rc827860e8e7d4fbf" /><Relationship Type="http://schemas.openxmlformats.org/officeDocument/2006/relationships/slide" Target="/ppt/slides/slide2.xml" Id="R714b82a528a64124" /><Relationship Type="http://schemas.openxmlformats.org/officeDocument/2006/relationships/slide" Target="/ppt/slides/slide3.xml" Id="R5c8304fe6f6a4cfc" /><Relationship Type="http://schemas.openxmlformats.org/officeDocument/2006/relationships/slide" Target="/ppt/slides/slide4.xml" Id="R220203be612f44ae" /><Relationship Type="http://schemas.openxmlformats.org/officeDocument/2006/relationships/slide" Target="/ppt/slides/slide5.xml" Id="Rd9ccb560909d458e" /><Relationship Type="http://schemas.openxmlformats.org/officeDocument/2006/relationships/slide" Target="/ppt/slides/slide6.xml" Id="Rafacce62a4c1482b" /><Relationship Type="http://schemas.openxmlformats.org/officeDocument/2006/relationships/slide" Target="/ppt/slides/slide7.xml" Id="R55171a152a0f4e3b" /><Relationship Type="http://schemas.openxmlformats.org/officeDocument/2006/relationships/slide" Target="/ppt/slides/slide8.xml" Id="R93116b8bcaba4475" /><Relationship Type="http://schemas.openxmlformats.org/officeDocument/2006/relationships/slide" Target="/ppt/slides/slide9.xml" Id="Rb30dd4f408f3436f" /><Relationship Type="http://schemas.openxmlformats.org/officeDocument/2006/relationships/slide" Target="/ppt/slides/slide10.xml" Id="R0b169fa58b3f4b96" /><Relationship Type="http://schemas.openxmlformats.org/officeDocument/2006/relationships/slide" Target="/ppt/slides/slide11.xml" Id="Re223e195f4d74066" /><Relationship Type="http://schemas.openxmlformats.org/officeDocument/2006/relationships/slide" Target="/ppt/slides/slide12.xml" Id="R3de8f039fc7849d9" /><Relationship Type="http://schemas.openxmlformats.org/officeDocument/2006/relationships/slide" Target="/ppt/slides/slide13.xml" Id="Re242435d1ddc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8c108f7465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e021fb6704beb" /><Relationship Type="http://schemas.openxmlformats.org/officeDocument/2006/relationships/notesMaster" Target="/ppt/notesMasters/notesMaster1.xml" Id="Rf599fd0f7c634f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ec6717d8b46d0" /><Relationship Type="http://schemas.openxmlformats.org/officeDocument/2006/relationships/notesMaster" Target="/ppt/notesMasters/notesMaster1.xml" Id="Rb81936ef0a93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514b4e819c4163" /><Relationship Type="http://schemas.openxmlformats.org/officeDocument/2006/relationships/notesMaster" Target="/ppt/notesMasters/notesMaster1.xml" Id="R854a51c0331c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b2f3d85e0461d" /><Relationship Type="http://schemas.openxmlformats.org/officeDocument/2006/relationships/notesMaster" Target="/ppt/notesMasters/notesMaster1.xml" Id="R482a6be08fa34d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ddd3b88634941" /><Relationship Type="http://schemas.openxmlformats.org/officeDocument/2006/relationships/notesMaster" Target="/ppt/notesMasters/notesMaster1.xml" Id="Re3e81539b2ef4b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5eb0af79a74d4c" /><Relationship Type="http://schemas.openxmlformats.org/officeDocument/2006/relationships/notesMaster" Target="/ppt/notesMasters/notesMaster1.xml" Id="R92d53344973540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d4ce778504c7b" /><Relationship Type="http://schemas.openxmlformats.org/officeDocument/2006/relationships/notesMaster" Target="/ppt/notesMasters/notesMaster1.xml" Id="Rbb033671cce3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25a00f8b1c4fbc" /><Relationship Type="http://schemas.openxmlformats.org/officeDocument/2006/relationships/notesMaster" Target="/ppt/notesMasters/notesMaster1.xml" Id="Redb1b4ba16c94c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4ca62468254c89" /><Relationship Type="http://schemas.openxmlformats.org/officeDocument/2006/relationships/notesMaster" Target="/ppt/notesMasters/notesMaster1.xml" Id="R591e1f68958948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e74d239f34ec6" /><Relationship Type="http://schemas.openxmlformats.org/officeDocument/2006/relationships/notesMaster" Target="/ppt/notesMasters/notesMaster1.xml" Id="Rde0506c659664c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9a8fdef61749ec" /><Relationship Type="http://schemas.openxmlformats.org/officeDocument/2006/relationships/notesMaster" Target="/ppt/notesMasters/notesMaster1.xml" Id="R30c8d7da3af14e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ab4694b1744d76" /><Relationship Type="http://schemas.openxmlformats.org/officeDocument/2006/relationships/notesMaster" Target="/ppt/notesMasters/notesMaster1.xml" Id="R619cf5dc3d814e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9c5b708afe4573" /><Relationship Type="http://schemas.openxmlformats.org/officeDocument/2006/relationships/notesMaster" Target="/ppt/notesMasters/notesMaster1.xml" Id="Rd880d21b7788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4476864f1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eef01d8204c89" /><Relationship Type="http://schemas.openxmlformats.org/officeDocument/2006/relationships/slideLayout" Target="/ppt/slideLayouts/slideLayout1.xml" Id="R1c6aa87b67a7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aa87b67a7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bf3f4b2c24012" /><Relationship Type="http://schemas.openxmlformats.org/officeDocument/2006/relationships/notesSlide" Target="/ppt/notesSlides/notesSlide1.xml" Id="R122d9f9ee786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2fa7c5f64506" /><Relationship Type="http://schemas.openxmlformats.org/officeDocument/2006/relationships/notesSlide" Target="/ppt/notesSlides/notesSlide2.xml" Id="Rcd49f7a617b04c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5f55277f543bb" /><Relationship Type="http://schemas.openxmlformats.org/officeDocument/2006/relationships/notesSlide" Target="/ppt/notesSlides/notesSlide3.xml" Id="R5e846f3f2f5e4c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5c74e53974cb2" /><Relationship Type="http://schemas.openxmlformats.org/officeDocument/2006/relationships/notesSlide" Target="/ppt/notesSlides/notesSlide4.xml" Id="Rae62106244ad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81497e3c4969" /><Relationship Type="http://schemas.openxmlformats.org/officeDocument/2006/relationships/notesSlide" Target="/ppt/notesSlides/notesSlide5.xml" Id="Rcadbdaff49074c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df62407664045" /><Relationship Type="http://schemas.openxmlformats.org/officeDocument/2006/relationships/notesSlide" Target="/ppt/notesSlides/notesSlide6.xml" Id="R2b2a95eece6e47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bd961f51947e5" /><Relationship Type="http://schemas.openxmlformats.org/officeDocument/2006/relationships/notesSlide" Target="/ppt/notesSlides/notesSlide7.xml" Id="R06a185cb186d49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18129d3944e6d" /><Relationship Type="http://schemas.openxmlformats.org/officeDocument/2006/relationships/notesSlide" Target="/ppt/notesSlides/notesSlide8.xml" Id="Ra831cf938e18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50210fddc4c34" /><Relationship Type="http://schemas.openxmlformats.org/officeDocument/2006/relationships/notesSlide" Target="/ppt/notesSlides/notesSlide9.xml" Id="R2445cde3afec42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e1492542d4662" /><Relationship Type="http://schemas.openxmlformats.org/officeDocument/2006/relationships/notesSlide" Target="/ppt/notesSlides/notesSlide10.xml" Id="Ref8dfa0aba3a44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d480bb1d94791" /><Relationship Type="http://schemas.openxmlformats.org/officeDocument/2006/relationships/notesSlide" Target="/ppt/notesSlides/notesSlide11.xml" Id="Rf8921d6682d247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e1eb1b8724f27" /><Relationship Type="http://schemas.openxmlformats.org/officeDocument/2006/relationships/notesSlide" Target="/ppt/notesSlides/notesSlide12.xml" Id="R45a3df3583044f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88e8dfe0f4480" /><Relationship Type="http://schemas.openxmlformats.org/officeDocument/2006/relationships/notesSlide" Target="/ppt/notesSlides/notesSlide13.xml" Id="Rc2a2d4f3ed944b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73C28FEF-A24D-4A68-81B3-202CD65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891F0B3F-2151-4CBF-A6D3-2DB78627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290BF998-5043-4338-AE96-B6B2AF00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5A02976F-39E2-4117-83D6-0974FAE0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8315B0FB-EACD-4F87-9E10-C2D2074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8CB75B89-E0A2-4728-9726-453276B3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34B9D7D-8F59-425E-A9A3-E5AB0DE2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841968-A08B-4A48-AA34-8796A8F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海洋与地理空间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3EB934-F46D-49BB-9895-A71F109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连接卫星遥感、浮标、船舶、时空模型和智能体工作流，形成可追溯的海洋空间服务。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1F18E887-A1E5-4011-8602-984DD2D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海洋和地理空间问题天然具有“在哪里、什么时候、以什么尺度观察”的属性；卫星能够提供大范围重复观测；却可能受云、传感器和分辨率影响；浮标与岸站提供现场序列；但位置有限且可能缺测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2D13D087-274B-4E14-985C-39EA7E51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59FC52FC-4B29-40B6-88C1-C90B5A54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IN-008 · IN-008-S01</a:t>
            </a:r>
          </a:p>
        </p:txBody>
      </p:sp>
    </p:spTree>
    <p:extLst>
      <p:ext uri="{BB962C8B-B14F-4D97-AF65-F5344CB8AC3E}">
        <p14:creationId xmlns:p14="http://schemas.microsoft.com/office/powerpoint/2010/main" val="771677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D9352988-75C3-470B-9ABB-E4F38B9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1D61D534-423C-4456-BED7-FA1BC11C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48301529-DA34-43EB-8DF9-332A66E3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海洋与地理空间：4项学习结果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166C79D1-4CE6-4468-A5F3-D7EB157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04D3C105-D5F8-4F77-B4A2-58F49E3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AB2F1D80-C52C-4DD4-881C-A46A850A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区分卫星遥感、浮标与站点观测、船舶记录、数值数据各自的时空覆盖和限制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84B4F14-B815-427F-9004-F65CBE51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把海洋或地理空间任务拆成数据目录、预处理、模型工具、产品生成和专家复核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2B810D0F-C4AF-4B0D-B3F9-D4C6F0C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识别坐标、尺度、时间错配、云遮、缺测、数据泄漏和许可等常见风险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73A0C2CA-B316-4209-93E7-79F769B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为地图、图表和报告保留来源、处理步骤、适用范围与不确定性说明</a:t>
            </a:r>
          </a:p>
        </p:txBody>
      </p:sp>
    </p:spTree>
    <p:extLst>
      <p:ext uri="{BB962C8B-B14F-4D97-AF65-F5344CB8AC3E}">
        <p14:creationId xmlns:p14="http://schemas.microsoft.com/office/powerpoint/2010/main" val="1824914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B72C487A-1D13-43E6-9FFC-1D6354F2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22C976E5-E331-4FF3-8918-11C06749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F18874D1-557E-4042-A858-4ABA9E97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理解多源观测的差异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6EFDCF5B-AC1D-4A48-BAD2-56B7566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2699E4B4-7661-42EF-8603-19F49CC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A66BE18-412E-41E6-821B-310B1D6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BDF2AF2-8BD0-4CC3-AE62-1C73142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理解多源观测的差异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7690119-8697-40A9-856A-0E0A238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常见资料包括光学或雷达卫星遥感、航空与无人机影像、岸站与浮标、剖面观测、船舶位置与航迹、测深、海图、数值模式和再分析数据；每类数据都应有元数据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AE18228-D1DB-48EB-9FD1-F1CDDF55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268E046-8FEA-4612-9B9F-B9048B49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遥感产品往往是经过校正或反演的结果；不等于直接测量目标量；现场观测也会受仪器漂移、维护和环境干扰；两类数据相互验证时；应考虑尺度是否匹配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9EA9A036-3464-423F-9266-30660844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4E2A7DD6-BF8B-4D80-AA75-30343381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船舶自动识别与业务轨迹可帮助理解活动分布，但覆盖取决于设备、规则和使用情境。涉及个体或敏感设施时，还要执行访问、脱敏和用途限制，不能因为数据具有空间坐标就默认可以公开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E8E172DF-2C4C-465F-8D6C-5231390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24FFC8B5-316B-4BC2-AEED-591FE47D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理解多源观测的差异</a:t>
            </a:r>
          </a:p>
        </p:txBody>
      </p:sp>
    </p:spTree>
    <p:extLst>
      <p:ext uri="{BB962C8B-B14F-4D97-AF65-F5344CB8AC3E}">
        <p14:creationId xmlns:p14="http://schemas.microsoft.com/office/powerpoint/2010/main" val="601922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832D179F-8BBD-4D44-86CA-096CAF0D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9576C2D3-13DC-49EB-BAAC-9AB8DBA0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8ADFA706-4606-4139-AC24-A947E64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空间数据可能采用不同坐标参考系、投影、网格与垂直基准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74C2AD00-A0A4-486C-816A-6DDE5D1C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C6B27717-BE07-4EBC-BD4E-D3D4C3A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6F2E733-3932-4513-9927-C1BE7A6B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951F6B3-561A-48CF-8B45-5DC38FE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时空对齐决定分析是否成立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28C2584-406D-43D8-947D-5C7F478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空间数据可能采用不同坐标参考系、投影、网格与垂直基准；叠加前应明确转换方法；并保留原始坐标和精度；时间也要统一时区、观测时刻、汇总窗口和预报有效时间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39C509D-77A2-4080-B052-54A7D478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E95F0CA-DDB2-4B89-B087-EA8914AA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缺测、云遮、岸线混合像元和传感器变化不应被静默填补；插值或生成式修复要标出方法与掩膜；让使用者区分观测值、估计值和不可用区域；数据目录还要记录处理链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1FFE7E8-6ABC-4A90-BC85-65A0412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D58F8532-8C57-46B5-B9EA-676E5520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在机器学习评测中，随机拆分相邻像元容易造成空间泄漏，前后相邻时刻也可能造成时间泄漏。更可靠的验证会按区域、时间段或事件分组，检查模型能否迁移到未见地点、季节和极端条件</a:t>
            </a:r>
          </a:p>
        </p:txBody>
      </p:sp>
      <p:sp>
        <p:nvSpPr>
          <p:cNvPr id="13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62A09346-4743-49D4-A2AA-4A8DF49B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4-takeaway">
            <a:extLst xmlns:a="http://schemas.openxmlformats.org/drawingml/2006/main">
              <a:ext uri="{FF2B5EF4-FFF2-40B4-BE49-F238E27FC236}">
                <a16:creationId xmlns:a16="http://schemas.microsoft.com/office/drawing/2014/main" id="{BDBA081E-45AE-42ED-A7B6-6EA6779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空间数据可能采用不同坐标参考系、投影、网格与垂直基准</a:t>
            </a:r>
          </a:p>
        </p:txBody>
      </p:sp>
    </p:spTree>
    <p:extLst>
      <p:ext uri="{BB962C8B-B14F-4D97-AF65-F5344CB8AC3E}">
        <p14:creationId xmlns:p14="http://schemas.microsoft.com/office/powerpoint/2010/main" val="10293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1B50D485-174F-4AE1-ADB1-56361F6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E722062A-E194-4AD5-86D6-B9B0C101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7B29B877-0B16-4F2D-9A7C-FD6E3A5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一个可复核架构可分为六层：数据目录保存元数据和权限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6656E836-54F4-45BD-970C-B58686E4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20F0DD6B-C86A-461D-AC6F-DAD43D0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17121E6-8A2C-4B86-897C-1D2A150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F2D5E0BE-0B12-4FFA-83AE-48C2C48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通用的信息服务架构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B099127-BAFD-4BB2-A314-F92C9F76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个可复核架构可分为六层；数据目录保存元数据和权限；预处理服务完成质量检查与时空对齐；领域模型进行分类、预测或异常发现；工具层提供数据库查询、地理计算、统计和可视化；编排层根据任务调用工具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C65EEFD-6A33-434B-AB42-3AC57980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DE4FDC8-4879-4C86-BB4C-FED5A2AB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语言模型更适合解释任务、组织步骤、调用受控工具和撰写有依据的草稿；不应自行计算经纬度、猜测缺测值或虚构数据产品；关键计算由可重复运行的空间分析或科学模型完成；语言模型展示参数、结果路径和限制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EDE647AE-FEA7-47FD-866E-FB79628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F0CD4291-D950-4754-B980-724E58C8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一个可复核架构可分为六层：数据目录保存元数据和权限</a:t>
            </a:r>
          </a:p>
        </p:txBody>
      </p:sp>
    </p:spTree>
    <p:extLst>
      <p:ext uri="{BB962C8B-B14F-4D97-AF65-F5344CB8AC3E}">
        <p14:creationId xmlns:p14="http://schemas.microsoft.com/office/powerpoint/2010/main" val="166891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F933C50-20B2-4982-B550-19B1AF2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AF765368-B040-48CD-A055-B00DE51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56549F99-3C68-4471-8FBA-86BECDF7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海洋观测重尺度变化，空间服务重位置关系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2A5A249A-6B9D-430F-AEBB-30012CCB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E1804DD0-352E-40AA-AF85-4765F72C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916521B-3D84-42A2-902C-14DE71DC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13A9EF7-080E-4CAD-8922-22D7916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海洋任务与地理空间任务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78932EF-717C-4070-AFE5-F27FBB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海洋服务可以围绕海况信息汇总、观测质量检查、生态现象监测、航线环境信息或灾害态势整理；地理空间服务还包括土地覆盖变化、基础设施巡查、公共服务可达性和应急制图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9E6B585-4D80-4B90-8596-D301D59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54F2D38-72FE-44FC-8424-AFD206C5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地图必须包含标题、时间、范围、图例、比例或分辨率、坐标信息、数据来源和不可用区域；报告中的数字应能链接回数据与计算步骤；若不同来源结论冲突；应并列展示并解释可能原因；而不是让模型平均成一个答案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0520AA92-91DC-4F8F-9365-BA99398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79FFAC86-43B3-41D5-9B66-130E493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用于高风险行动时，产品要标明“观测到什么、模型估计什么、专家确认什么”。系统可提示候选区域和信息缺口，但最终航行、救援、管制或资源调度仍依据正式数据源和授权岗位决定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D1BB2D05-E224-4150-B8BD-43B5FAA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90BFEAD3-60D8-41F1-808A-2A47572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海洋观测重尺度变化，空间服务重位置关系</a:t>
            </a:r>
          </a:p>
        </p:txBody>
      </p:sp>
    </p:spTree>
    <p:extLst>
      <p:ext uri="{BB962C8B-B14F-4D97-AF65-F5344CB8AC3E}">
        <p14:creationId xmlns:p14="http://schemas.microsoft.com/office/powerpoint/2010/main" val="654127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C7AF68A4-D3E0-42BA-8623-4FF5ED3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A3298C7B-16DE-4416-B95E-C66B625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14263F6C-D4A2-46B0-8ACE-961645A3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团队课件以“AIMS”描述一个海洋信息服务案例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A0B7FF88-0EC0-4504-BC98-1DE4E769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EB386F74-7EA9-4145-AA5C-EB663AB4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8858AFC-F0BB-44CB-BCEF-B923DACF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BD82B45-9678-4DBC-AF4E-D45E7F06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如何理解团队课件中的 AIMS、OceanFM 与 Dify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DBFF377-14AB-4084-B252-F8EF8B7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团队课件以“AIMS”描述一个海洋信息服务案例；并在方案中提到“OceanFM”和“Dify”；这些名称展示了“领域模型加工具编排”的思路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D1CD272-42C9-48B9-A384-9EC45F2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9F7EF18-B9FE-4D31-B8EC-E3D8AA4C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学习时可把 AIMS 看作团队案例中的整体服务构想；把 OceanFM 看作课件中提及、需要结合文档和评测确认的领域模型；把 Dify 看作可选的工作流编排工具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842D22FC-43A9-43F9-9E72-D0B191E4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D4279108-B531-42AA-83DC-4AF0083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团队课件以“AIMS”描述一个海洋信息服务案例</a:t>
            </a:r>
          </a:p>
        </p:txBody>
      </p:sp>
    </p:spTree>
    <p:extLst>
      <p:ext uri="{BB962C8B-B14F-4D97-AF65-F5344CB8AC3E}">
        <p14:creationId xmlns:p14="http://schemas.microsoft.com/office/powerpoint/2010/main" val="488570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7D184D5A-B957-4D50-8ADA-031DCD7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688A97F5-2624-4D9B-82BD-94A28AF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66AD3414-AF16-4A57-B855-36FCDB7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评测与长期运行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E55BA5D2-4148-4F6D-BA80-7A6158D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344B615A-AFF9-4D7C-A1F6-3F0CCFF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9347D08-2D7A-4410-8ACA-B0D65BF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2B0568A-7F0D-465E-89C6-11E698A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评测与长期运行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B9D320C-2743-4303-AF98-123EA64F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模型评测可按变量误差、分类遗漏、空间边界偏差、时间提前量和不确定性校准展开；服务评测还要检查数据新鲜度、工具成功率、引用完整性、错误转交和专家复核时间。常规样本和极端事件应分开报告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2268429-4566-466B-A6AA-8157CEBA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E9A83CD-B632-4AD8-92A1-FB3ACD5C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数据源、传感器、海岸线、业务定义和气候背景都会变化；系统需要监测缺测率、分布漂移和异常输出；保存模型与数据版本；并在超过适用范围时降级或停止；专家纠错应进入评测样本与数据治理流程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8F4D72A2-044B-4EB2-B375-BF9775DA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4A1447AE-0F92-45B8-A5F6-B34BB2E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评测与长期运行</a:t>
            </a:r>
          </a:p>
        </p:txBody>
      </p:sp>
    </p:spTree>
    <p:extLst>
      <p:ext uri="{BB962C8B-B14F-4D97-AF65-F5344CB8AC3E}">
        <p14:creationId xmlns:p14="http://schemas.microsoft.com/office/powerpoint/2010/main" val="977046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0ADC2A5-5C21-4CF5-BC85-79605EA9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5F6F3DC2-7F01-4EBD-BE20-53D5B67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C22D9004-3A53-4080-92B2-32DB271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系统统一时间和坐标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7BA7472C-1947-4C43-8100-C734DEB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4958ABA1-00C4-49E3-AB53-D95163A5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56B811B7-5957-43B3-8105-1F66B6E0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近岸观测周报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74020A6B-75C0-4D60-8E46-BE058ED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边界｜海洋专业人员检查异常与尺度解释，再决定是否需要补充观测或发布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CCDA97E-4DFB-4D0A-B63C-3911B9F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输入｜卫星产品、岸站与浮标观测、质量标记和适用的数值数据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FE1895E3-30DC-4645-89E5-88629C6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69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机制｜系统统一时间和坐标，标出云遮与缺测，由科学工具计算变化，语言模型只组织带来源的解释草稿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F470F5AB-66B9-460D-9615-1B248957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交付｜地图显示观测区、估计区和不可用区，报告附数据日期、分辨率、方法和不确定性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1060B8CD-7381-42F4-83D0-A0468F5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808A2961-2623-4186-92FE-87D2480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系统统一时间和坐标</a:t>
            </a:r>
          </a:p>
        </p:txBody>
      </p:sp>
    </p:spTree>
    <p:extLst>
      <p:ext uri="{BB962C8B-B14F-4D97-AF65-F5344CB8AC3E}">
        <p14:creationId xmlns:p14="http://schemas.microsoft.com/office/powerpoint/2010/main" val="520801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42E23366-0D45-43FC-AC44-485C9F1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9CC635A9-A761-4FF0-9BBB-C34C7C5A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E561E7F1-E75F-4505-977D-2583CAA0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应急地图要分层呈现来源与可信状态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E0DBD1B2-3631-4CC1-9BCC-14EB5A9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559A13A5-7084-44CE-B853-A36CA1D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9019C549-4F8B-427C-860D-B16BE77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应急地理信息图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18D19261-D037-4333-B998-A1FDD17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边界｜不同来源按时间和可信状态分层，未经确认的信息不覆盖正式底图；路线建议还需核对实时管制和现场情况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E4E92E6C-E9CC-4ED4-B666-83FE616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任务｜把现场报告、遥感影像、道路和设施资料组织为共同态势图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61AE3942-40F2-40AC-9D77-0EF1177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责任｜系统辅助制图与更新，授权人员确认图件用途、发布时间和行动指令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DF1ADFC7-F8FF-4753-9DD1-86884FB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F7D3AB95-A9CB-498B-9122-A33E96AF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应急地图要分层呈现来源与可信状态</a:t>
            </a:r>
          </a:p>
        </p:txBody>
      </p:sp>
    </p:spTree>
    <p:extLst>
      <p:ext uri="{BB962C8B-B14F-4D97-AF65-F5344CB8AC3E}">
        <p14:creationId xmlns:p14="http://schemas.microsoft.com/office/powerpoint/2010/main" val="708345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BA63360E-E097-4C98-84E6-14291AC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8FF5FF65-047A-4F5A-9408-57F4412D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E8B4C3FC-1417-498D-ACD7-D3685252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海洋与地理空间：一次可验收练习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0CED756F-F42A-4CD1-BB6B-97692B76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61965AE8-7770-475E-B80B-102BCB46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BD9D644B-F1D2-429E-BBF8-270288B5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C06C3755-444F-4096-A8AC-C73B235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300201F2-D1B8-414D-9E42-DBDF346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为一个海洋或地理空间问题建立数据清单，填写变量、单位、时间、坐标、分辨率、质量、许可和更新频率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16906EE2-CDD3-49B1-AE36-25333D1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938409C6-0D8C-4264-A860-E70E24E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54153DD2-84B2-4889-8D0F-CB7DC799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3B4644F2-11DA-4F23-B010-2A868FB9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画出从原始观测到地图报告的处理链，明确哪些步骤由科学工具完成、哪些由语言模型辅助、哪些必须由专家确认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B89B7DBD-85D3-499B-B80C-6858FCD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5B8FD90B-3391-4B13-BF2A-D0B1BFC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422E948F-7FFA-40A5-895D-B508180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F1EFE48A-C52D-4CD2-BEE2-5416408E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设计一次按区域和时间分组的评测，并列出地图上必须展示的来源、尺度、缺测和不确定性字段</a:t>
            </a:r>
          </a:p>
        </p:txBody>
      </p:sp>
    </p:spTree>
    <p:extLst>
      <p:ext uri="{BB962C8B-B14F-4D97-AF65-F5344CB8AC3E}">
        <p14:creationId xmlns:p14="http://schemas.microsoft.com/office/powerpoint/2010/main" val="775715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A4F59058-386F-4AEB-B53A-32D89BBA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86EB7598-CC8B-4748-8F7D-486BE83D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BC200E60-B8D1-4F5C-807E-D6D7C85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海洋与地理空间：判断时先抓住三点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18E0C0B7-0946-46B5-A758-C316CEE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5EA040EF-38B0-4A60-A786-EC1BEEE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A71799CD-5D34-4B26-9694-350FD48C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4A84A724-28E2-47C0-8194-632DD5E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D8897EE4-D638-4CDF-8DF4-124C35D7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理解多源观测的差异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9AA4C22B-A00C-44EF-B94E-246E881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65B64094-085A-45CF-B048-F1CC6AE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3242834A-230D-44D9-82BF-D238BA3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DFCE2ADE-EB5C-4E08-B6EE-C362E64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一个可复核架构可分为六层：数据目录保存元数据和权限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D67FEA9B-BD9E-4FDA-AB4A-D5123E7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540B0A09-A8CB-49E5-AF56-4B9A21B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AA068A85-4119-44EE-97F6-305D8A8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695FEF5F-AEA1-4CD7-BA87-DFFDC911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评测与长期运行</a:t>
            </a:r>
          </a:p>
        </p:txBody>
      </p:sp>
    </p:spTree>
    <p:extLst>
      <p:ext uri="{BB962C8B-B14F-4D97-AF65-F5344CB8AC3E}">
        <p14:creationId xmlns:p14="http://schemas.microsoft.com/office/powerpoint/2010/main" val="14269702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8F36E76C-83EB-4592-87F4-1D5EF087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E4AB30A7-07BB-44A2-8F11-A370D07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20B1BEBC-1C6A-4593-999A-5DADE31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海洋与地理空间：依据、边界与延伸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E0A596C9-67FB-4D3B-8EC7-4D8D512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2F1BFC15-A64D-4601-939D-F0C5177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IN-008 · IN-008-S13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A76B5ABD-0141-4C86-96F5-083C1525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FF649A7A-75A7-443F-AD40-E5417F5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Open Geospatial Consortium（OGC）标准目录：地理空间数据模型、编码与接口标准的官方入口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98F0664F-6E70-4F78-894C-F43EB37B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Group on Earth Observations（GEO）：地球观测合作、数据共享与应用资料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A0073DBF-4C96-47A8-A3F7-939A14E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Argo 国际计划数据入口：剖面、轨迹、元数据、质量控制说明与使用工具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33E62BF1-8EE1-4798-AFE5-1EE0495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实际服务应同时遵守数据提供机构的许可、质量说明及相关海洋和测绘管理要求</a:t>
            </a:r>
          </a:p>
        </p:txBody>
      </p:sp>
      <p:sp>
        <p:nvSpPr>
          <p:cNvPr id="11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7FA07220-5811-4AE8-A394-C3BF7666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7D3D5D53-E066-40D5-8350-A3FA873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2106191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2026-07-12T08:20:34.8000000Z</dcterms:created>
  <dcterms:modified xsi:type="dcterms:W3CDTF">2026-07-12T08:20:34.8000000Z</dcterms:modified>
</coreProperties>
</file>