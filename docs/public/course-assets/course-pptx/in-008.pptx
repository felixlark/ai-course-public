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7fb7fba0ed74e0b" /><Relationship Type="http://schemas.openxmlformats.org/officeDocument/2006/relationships/extended-properties" Target="/docProps/app.xml" Id="R0232655a8a7c4223" /><Relationship Type="http://schemas.openxmlformats.org/officeDocument/2006/relationships/officeDocument" Target="/ppt/presentation.xml" Id="Ra485f182672140b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7bd1424542e4c1a"/>
  </p:sldMasterIdLst>
  <p:notesMasterIdLst>
    <p:notesMasterId xmlns:r="http://schemas.openxmlformats.org/officeDocument/2006/relationships" r:id="R8a09d2ba7d3f484a"/>
  </p:notesMasterIdLst>
  <p:sldIdLst>
    <p:sldId xmlns:r="http://schemas.openxmlformats.org/officeDocument/2006/relationships" id="256" r:id="Rc943bf3940fd4cea"/>
    <p:sldId xmlns:r="http://schemas.openxmlformats.org/officeDocument/2006/relationships" id="257" r:id="R66b27bb507d14a75"/>
    <p:sldId xmlns:r="http://schemas.openxmlformats.org/officeDocument/2006/relationships" id="258" r:id="R4c3126627217452c"/>
    <p:sldId xmlns:r="http://schemas.openxmlformats.org/officeDocument/2006/relationships" id="259" r:id="Reaca39e824074544"/>
    <p:sldId xmlns:r="http://schemas.openxmlformats.org/officeDocument/2006/relationships" id="260" r:id="R522ab40ac2ea476c"/>
    <p:sldId xmlns:r="http://schemas.openxmlformats.org/officeDocument/2006/relationships" id="261" r:id="R25c5c2325fc748b8"/>
    <p:sldId xmlns:r="http://schemas.openxmlformats.org/officeDocument/2006/relationships" id="262" r:id="Rc0f88f7f07df4c5f"/>
    <p:sldId xmlns:r="http://schemas.openxmlformats.org/officeDocument/2006/relationships" id="263" r:id="Rccbe2bd6fe384a87"/>
    <p:sldId xmlns:r="http://schemas.openxmlformats.org/officeDocument/2006/relationships" id="264" r:id="R763a0c143ed34e1f"/>
    <p:sldId xmlns:r="http://schemas.openxmlformats.org/officeDocument/2006/relationships" id="265" r:id="R670498e876b347a1"/>
    <p:sldId xmlns:r="http://schemas.openxmlformats.org/officeDocument/2006/relationships" id="266" r:id="R9e1d03a84e4e46b0"/>
    <p:sldId xmlns:r="http://schemas.openxmlformats.org/officeDocument/2006/relationships" id="267" r:id="R0b49ebe4f3bf47f8"/>
    <p:sldId xmlns:r="http://schemas.openxmlformats.org/officeDocument/2006/relationships" id="268" r:id="R79cc07b8e662450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89a4365727745ba" /><Relationship Type="http://schemas.openxmlformats.org/officeDocument/2006/relationships/slideMaster" Target="/ppt/slideMasters/slideMaster1.xml" Id="R27bd1424542e4c1a" /><Relationship Type="http://schemas.openxmlformats.org/officeDocument/2006/relationships/notesMaster" Target="/ppt/notesMasters/notesMaster1.xml" Id="R8a09d2ba7d3f484a" /><Relationship Type="http://schemas.openxmlformats.org/officeDocument/2006/relationships/presProps" Target="/ppt/presProps.xml" Id="R2cd19940d4bc4ef1" /><Relationship Type="http://schemas.openxmlformats.org/officeDocument/2006/relationships/tableStyles" Target="/ppt/tableStyles.xml" Id="R30d1b083af854a85" /><Relationship Type="http://schemas.openxmlformats.org/officeDocument/2006/relationships/slide" Target="/ppt/slides/slide1.xml" Id="Rc943bf3940fd4cea" /><Relationship Type="http://schemas.openxmlformats.org/officeDocument/2006/relationships/slide" Target="/ppt/slides/slide2.xml" Id="R66b27bb507d14a75" /><Relationship Type="http://schemas.openxmlformats.org/officeDocument/2006/relationships/slide" Target="/ppt/slides/slide3.xml" Id="R4c3126627217452c" /><Relationship Type="http://schemas.openxmlformats.org/officeDocument/2006/relationships/slide" Target="/ppt/slides/slide4.xml" Id="Reaca39e824074544" /><Relationship Type="http://schemas.openxmlformats.org/officeDocument/2006/relationships/slide" Target="/ppt/slides/slide5.xml" Id="R522ab40ac2ea476c" /><Relationship Type="http://schemas.openxmlformats.org/officeDocument/2006/relationships/slide" Target="/ppt/slides/slide6.xml" Id="R25c5c2325fc748b8" /><Relationship Type="http://schemas.openxmlformats.org/officeDocument/2006/relationships/slide" Target="/ppt/slides/slide7.xml" Id="Rc0f88f7f07df4c5f" /><Relationship Type="http://schemas.openxmlformats.org/officeDocument/2006/relationships/slide" Target="/ppt/slides/slide8.xml" Id="Rccbe2bd6fe384a87" /><Relationship Type="http://schemas.openxmlformats.org/officeDocument/2006/relationships/slide" Target="/ppt/slides/slide9.xml" Id="R763a0c143ed34e1f" /><Relationship Type="http://schemas.openxmlformats.org/officeDocument/2006/relationships/slide" Target="/ppt/slides/slide10.xml" Id="R670498e876b347a1" /><Relationship Type="http://schemas.openxmlformats.org/officeDocument/2006/relationships/slide" Target="/ppt/slides/slide11.xml" Id="R9e1d03a84e4e46b0" /><Relationship Type="http://schemas.openxmlformats.org/officeDocument/2006/relationships/slide" Target="/ppt/slides/slide12.xml" Id="R0b49ebe4f3bf47f8" /><Relationship Type="http://schemas.openxmlformats.org/officeDocument/2006/relationships/slide" Target="/ppt/slides/slide13.xml" Id="R79cc07b8e662450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49edb7f375e434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09b821feee64814" /><Relationship Type="http://schemas.openxmlformats.org/officeDocument/2006/relationships/notesMaster" Target="/ppt/notesMasters/notesMaster1.xml" Id="R8a41db1b185b4de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251827d9f764c97" /><Relationship Type="http://schemas.openxmlformats.org/officeDocument/2006/relationships/notesMaster" Target="/ppt/notesMasters/notesMaster1.xml" Id="Rde766a254326423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724900f39ea4c1a" /><Relationship Type="http://schemas.openxmlformats.org/officeDocument/2006/relationships/notesMaster" Target="/ppt/notesMasters/notesMaster1.xml" Id="R4ad36a31177b461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113f9024b7d42c5" /><Relationship Type="http://schemas.openxmlformats.org/officeDocument/2006/relationships/notesMaster" Target="/ppt/notesMasters/notesMaster1.xml" Id="Ree91ad802fc2431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05cb12bada54433" /><Relationship Type="http://schemas.openxmlformats.org/officeDocument/2006/relationships/notesMaster" Target="/ppt/notesMasters/notesMaster1.xml" Id="R224c8e964e5b4aa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05583ed666d44a4" /><Relationship Type="http://schemas.openxmlformats.org/officeDocument/2006/relationships/notesMaster" Target="/ppt/notesMasters/notesMaster1.xml" Id="R37d42b42c72d4b1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80a6890a32c4e8c" /><Relationship Type="http://schemas.openxmlformats.org/officeDocument/2006/relationships/notesMaster" Target="/ppt/notesMasters/notesMaster1.xml" Id="R42aa4372a1a6436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8a0b9f2aac74f43" /><Relationship Type="http://schemas.openxmlformats.org/officeDocument/2006/relationships/notesMaster" Target="/ppt/notesMasters/notesMaster1.xml" Id="Rc37c3c3d01444fe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c636d7036ac4ce3" /><Relationship Type="http://schemas.openxmlformats.org/officeDocument/2006/relationships/notesMaster" Target="/ppt/notesMasters/notesMaster1.xml" Id="Ra94050fc3bc947e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b1c8b8087cc4d57" /><Relationship Type="http://schemas.openxmlformats.org/officeDocument/2006/relationships/notesMaster" Target="/ppt/notesMasters/notesMaster1.xml" Id="Rb283d16d13994f2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1d634fea9c64ad6" /><Relationship Type="http://schemas.openxmlformats.org/officeDocument/2006/relationships/notesMaster" Target="/ppt/notesMasters/notesMaster1.xml" Id="Rb3d386b36e544a9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7137994b8ae411b" /><Relationship Type="http://schemas.openxmlformats.org/officeDocument/2006/relationships/notesMaster" Target="/ppt/notesMasters/notesMaster1.xml" Id="R03db6a537b7848c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154adbb88854a9c" /><Relationship Type="http://schemas.openxmlformats.org/officeDocument/2006/relationships/notesMaster" Target="/ppt/notesMasters/notesMaster1.xml" Id="Rb47a2131e36d467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c5f83773c04a5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46fee0a58cd4615" /><Relationship Type="http://schemas.openxmlformats.org/officeDocument/2006/relationships/slideLayout" Target="/ppt/slideLayouts/slideLayout1.xml" Id="R68a1bc52aa824d5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8a1bc52aa824d5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6e415633c34884" /><Relationship Type="http://schemas.openxmlformats.org/officeDocument/2006/relationships/notesSlide" Target="/ppt/notesSlides/notesSlide1.xml" Id="Ra452524af7a9454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10ed27dfcb4529" /><Relationship Type="http://schemas.openxmlformats.org/officeDocument/2006/relationships/notesSlide" Target="/ppt/notesSlides/notesSlide2.xml" Id="R219733f3a1304ea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00936ea31a48c1" /><Relationship Type="http://schemas.openxmlformats.org/officeDocument/2006/relationships/notesSlide" Target="/ppt/notesSlides/notesSlide3.xml" Id="Rf35a653064014c2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e2b5560e994c02" /><Relationship Type="http://schemas.openxmlformats.org/officeDocument/2006/relationships/notesSlide" Target="/ppt/notesSlides/notesSlide4.xml" Id="Rc1ecd473b67344b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94cf422a3d44e7" /><Relationship Type="http://schemas.openxmlformats.org/officeDocument/2006/relationships/notesSlide" Target="/ppt/notesSlides/notesSlide5.xml" Id="Rb2970076872b4be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00f50b1e72469d" /><Relationship Type="http://schemas.openxmlformats.org/officeDocument/2006/relationships/notesSlide" Target="/ppt/notesSlides/notesSlide6.xml" Id="Ra2b8c9ff0ca2490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25b0fdc9fa4a42" /><Relationship Type="http://schemas.openxmlformats.org/officeDocument/2006/relationships/notesSlide" Target="/ppt/notesSlides/notesSlide7.xml" Id="R212830d3ff844e3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8b2feed5d14f0c" /><Relationship Type="http://schemas.openxmlformats.org/officeDocument/2006/relationships/notesSlide" Target="/ppt/notesSlides/notesSlide8.xml" Id="R4e169ad40594482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4a5025818c4a2e" /><Relationship Type="http://schemas.openxmlformats.org/officeDocument/2006/relationships/notesSlide" Target="/ppt/notesSlides/notesSlide9.xml" Id="Rd97417bd954d488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ab3c61e3474046" /><Relationship Type="http://schemas.openxmlformats.org/officeDocument/2006/relationships/notesSlide" Target="/ppt/notesSlides/notesSlide10.xml" Id="R065d6f27f0e8485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49dff609ab449e" /><Relationship Type="http://schemas.openxmlformats.org/officeDocument/2006/relationships/notesSlide" Target="/ppt/notesSlides/notesSlide11.xml" Id="Re585fdd9c975482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adca478b974100" /><Relationship Type="http://schemas.openxmlformats.org/officeDocument/2006/relationships/notesSlide" Target="/ppt/notesSlides/notesSlide12.xml" Id="R6d6e7d8c57cb4d7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082141e53c406f" /><Relationship Type="http://schemas.openxmlformats.org/officeDocument/2006/relationships/notesSlide" Target="/ppt/notesSlides/notesSlide13.xml" Id="R1355679d4881492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9C2A80FD-575A-442B-9E9C-8585B29D7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7F68AC9C-C216-43A4-B3DC-DED59B605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11095D9E-B592-4A19-8583-659752BCD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83F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97815F20-D4E8-4309-BE92-411C4D7E5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5C3286D0-6D29-4AE3-8B06-B9D8ABE7E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7EA61F26-67A0-4120-A5CD-B9DC8F568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83F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551C902B-BF97-4124-B9DF-6D2ED9DF1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第 4 章 · 行业应用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4CA4FB9B-CAA3-4CE2-954A-88C9F6617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海洋与地理空间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2C3E83A1-915F-4109-B544-F9AF4C3FB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连接卫星遥感、浮标、船舶、时空模型和智能体工作流，形成可追溯的海洋空间服务。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A86D47E0-0F6F-461A-B3A5-354276278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海洋和地理空间问题天然具有“在哪里、什么时候、以什么尺度观察”的属性。卫星能够提供大范围重复观测，却可能受云、传感器和分辨率影响；浮标与岸站提供现场序列，但位置有限且可能缺测…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FE99A6AA-62A2-4761-9866-C88698204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4E65943D-B8EC-46C6-983B-78FC9B565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IN-008 · IN-008-S01</a:t>
            </a:r>
          </a:p>
        </p:txBody>
      </p:sp>
    </p:spTree>
    <p:extLst>
      <p:ext uri="{BB962C8B-B14F-4D97-AF65-F5344CB8AC3E}">
        <p14:creationId xmlns:p14="http://schemas.microsoft.com/office/powerpoint/2010/main" val="109887018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9285CBCA-1394-48F3-BF24-AA1F9E987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9D8F3014-C25B-4862-9EEA-5FA8684B0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B7BA731D-F816-4FE6-80D0-804732F03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学完这一节，你能完成这些判断与行动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BF745161-E143-48CD-A3AA-8F861909D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1A3D6462-25AF-4126-98B9-B7B9DE712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IN-008 · IN-008-S02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3B55470E-656D-4323-A30A-AD0C1884D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区分卫星遥感、浮标与站点观测、船舶记录、数值数据各自的时空覆盖和限制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CF67C0DC-0D01-49EC-B17F-E5E0BF626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把海洋或地理空间任务拆成数据目录、预处理、模型工具、产品生成和专家复核</a:t>
            </a:r>
          </a:p>
        </p:txBody>
      </p:sp>
      <p:sp>
        <p:nvSpPr>
          <p:cNvPr id="8" name="objective-3">
            <a:extLst xmlns:a="http://schemas.openxmlformats.org/drawingml/2006/main">
              <a:ext uri="{FF2B5EF4-FFF2-40B4-BE49-F238E27FC236}">
                <a16:creationId xmlns:a16="http://schemas.microsoft.com/office/drawing/2014/main" id="{5B180D89-5033-40B7-B23C-4DD25C587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03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识别坐标、尺度、时间错配、云遮、缺测、数据泄漏和许可等常见风险</a:t>
            </a:r>
          </a:p>
        </p:txBody>
      </p:sp>
      <p:sp>
        <p:nvSpPr>
          <p:cNvPr id="9" name="objective-4">
            <a:extLst xmlns:a="http://schemas.openxmlformats.org/drawingml/2006/main">
              <a:ext uri="{FF2B5EF4-FFF2-40B4-BE49-F238E27FC236}">
                <a16:creationId xmlns:a16="http://schemas.microsoft.com/office/drawing/2014/main" id="{1B740B76-B672-4127-ABDD-8A900B447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04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为地图、图表和报告保留来源、处理步骤、适用范围与不确定性说明</a:t>
            </a:r>
          </a:p>
        </p:txBody>
      </p:sp>
    </p:spTree>
    <p:extLst>
      <p:ext uri="{BB962C8B-B14F-4D97-AF65-F5344CB8AC3E}">
        <p14:creationId xmlns:p14="http://schemas.microsoft.com/office/powerpoint/2010/main" val="212087082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1EFA06B9-B476-48D5-AAED-1D98D329C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5356EF35-DC86-4B0D-B939-D4A8F9A23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1 / 6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8BFF956C-C906-42EA-8653-2F1C5BA38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理解多源观测的差异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349D7A83-923F-44EB-9E4A-B0F1384CA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09D4B95D-22A2-4348-AF3B-9D834B650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IN-008 · IN-008-S03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BC23F76E-4859-49C8-A040-421A127DF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AE827197-9149-4DA7-A53B-89A745ECB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理解多源观测的差异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BC12958A-512F-48A6-B665-125CD7EE2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5261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常见资料包括光学或雷达卫星遥感、航空与无人机影像、岸站与浮标、剖面观测、船舶位置与航迹、测深、海图、数值模式和再分析数据。每类数据都应有元数据：传感器、变量与单位、采集时间、空间分辨率…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19634677-1CCF-4438-A6E4-6C0041004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53D31A6E-B5CC-49A7-AE59-DC4C6F684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遥感产品往往是经过校正或反演的结果，不等于直接测量目标量；现场观测也会受仪器漂移、维护和环境干扰。两类数据相互验证时，应考虑尺度是否匹配。例如…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CE87011F-D90D-4D6F-97EA-CE5280DC4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B2FF441D-0D9E-4C57-BE60-30C4AE19E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船舶自动识别与业务轨迹可帮助理解活动分布，但覆盖取决于设备、规则和使用情境。涉及个体或敏感设施时，还要执行访问、脱敏和用途限制，不能因为数据具有空间坐标就默认可以公开</a:t>
            </a:r>
          </a:p>
        </p:txBody>
      </p:sp>
      <p:sp>
        <p:nvSpPr>
          <p:cNvPr id="13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613713B4-53D8-4B49-96BD-F66148499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4" name="s3-takeaway">
            <a:extLst xmlns:a="http://schemas.openxmlformats.org/drawingml/2006/main">
              <a:ext uri="{FF2B5EF4-FFF2-40B4-BE49-F238E27FC236}">
                <a16:creationId xmlns:a16="http://schemas.microsoft.com/office/drawing/2014/main" id="{64FA3BF3-F932-4654-8B9E-5F7F35460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理解多源观测的差异</a:t>
            </a:r>
          </a:p>
        </p:txBody>
      </p:sp>
    </p:spTree>
    <p:extLst>
      <p:ext uri="{BB962C8B-B14F-4D97-AF65-F5344CB8AC3E}">
        <p14:creationId xmlns:p14="http://schemas.microsoft.com/office/powerpoint/2010/main" val="176922130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646E7FBF-55A5-4208-80AD-C1CF7D9D8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B59724E1-E27B-4334-94EC-6E88600BF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2 / 6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822194C5-5490-48D6-A73B-E1FAA5519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7028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空间数据可能采用不同坐标参考系、投影、网格与垂直基准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64A6B44E-AD39-46BC-88D4-C3E2D874B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94EE5869-199D-4568-A5C1-E7AABE979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IN-008 · IN-008-S04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CABCC633-675B-43FC-A6E9-34243934D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E525C53A-7A45-4567-A6C0-09B5960A9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时空对齐决定分析是否成立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22DAFF3B-A20E-4DC4-9739-61FCD1967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0943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空间数据可能采用不同坐标参考系、投影、网格与垂直基准。叠加前应明确转换方法，并保留原始坐标和精度。时间也要统一时区、观测时刻、汇总窗口和预报有效时间…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25BB1F0A-93A6-4DA7-BE84-4A6F2EE4D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6C90B77B-8028-4F14-9F12-BB1E487ED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缺测、云遮、岸线混合像元和传感器变化不应被静默填补。插值或生成式修复要标出方法与掩膜，让使用者区分观测值、估计值和不可用区域。数据目录还要记录处理链：裁剪、重采样、滤波…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58EF535D-9CB4-4664-819D-9B71DB317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795D95A1-40B8-4458-95D9-6B97CC592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在机器学习评测中，随机拆分相邻像元容易造成空间泄漏，前后相邻时刻也可能造成时间泄漏。更可靠的验证会按区域、时间段或事件分组，检查模型能否迁移到未见地点、季节和极端条件</a:t>
            </a:r>
          </a:p>
        </p:txBody>
      </p:sp>
      <p:sp>
        <p:nvSpPr>
          <p:cNvPr id="13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DB73385D-BF02-4868-876E-F84AD30FB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4" name="s4-takeaway">
            <a:extLst xmlns:a="http://schemas.openxmlformats.org/drawingml/2006/main">
              <a:ext uri="{FF2B5EF4-FFF2-40B4-BE49-F238E27FC236}">
                <a16:creationId xmlns:a16="http://schemas.microsoft.com/office/drawing/2014/main" id="{10004EE0-C1C7-4ED7-9088-7964EB462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空间数据可能采用不同坐标参考系、投影、网格与垂直基准</a:t>
            </a:r>
          </a:p>
        </p:txBody>
      </p:sp>
    </p:spTree>
    <p:extLst>
      <p:ext uri="{BB962C8B-B14F-4D97-AF65-F5344CB8AC3E}">
        <p14:creationId xmlns:p14="http://schemas.microsoft.com/office/powerpoint/2010/main" val="195622049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F0E34277-29FE-45FF-B399-2353ADB0D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4F4B6630-A119-43EC-B883-BC04E340B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3 / 6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09E68DF3-F357-4F98-BB88-CE7822CB6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一个可复核架构可分为六层：数据目录保存元数据和权限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1EF91E3B-380C-48D3-BA3E-9811E4EB5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DDECB0F1-9E81-422B-82B4-BA931848B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IN-008 · IN-008-S05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831FBFDA-91D7-46DE-9648-981709949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4C6C9CC9-43D4-4C5C-BD97-CF6A90FA6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通用的信息服务架构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1389D6DE-ED80-4715-97E0-7EE5F748B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一个可复核架构可分为六层：数据目录保存元数据和权限；预处理服务完成质量检查与时空对齐；领域模型进行分类、预测或异常发现；工具层提供数据库查询、地理计算、统计和可视化；编排层根据任务调用工具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DB592898-1509-4E51-827D-C6AF6E05E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800BBFE3-E633-4FD8-AFA8-1D9EC32EA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大语言模型更适合解释任务、组织步骤、调用受控工具和撰写有依据的草稿，不应自行计算经纬度、猜测缺测值或虚构数据产品。关键计算由可重复运行的空间分析或科学模型完成，语言模型展示参数、结果路径和限制…</a:t>
            </a:r>
          </a:p>
        </p:txBody>
      </p:sp>
      <p:sp>
        <p:nvSpPr>
          <p:cNvPr id="11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21B76EA1-235D-45D7-B99F-C6F6ABCEB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5-takeaway">
            <a:extLst xmlns:a="http://schemas.openxmlformats.org/drawingml/2006/main">
              <a:ext uri="{FF2B5EF4-FFF2-40B4-BE49-F238E27FC236}">
                <a16:creationId xmlns:a16="http://schemas.microsoft.com/office/drawing/2014/main" id="{624DD796-179C-4064-88E2-797E203BE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一个可复核架构可分为六层：数据目录保存元数据和权限</a:t>
            </a:r>
          </a:p>
        </p:txBody>
      </p:sp>
    </p:spTree>
    <p:extLst>
      <p:ext uri="{BB962C8B-B14F-4D97-AF65-F5344CB8AC3E}">
        <p14:creationId xmlns:p14="http://schemas.microsoft.com/office/powerpoint/2010/main" val="71739718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3343E69D-823A-4747-AA8D-75671F6FB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F73EBA86-3822-4798-A896-19983A718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4 / 6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28D30703-99CF-4A70-8B69-72829A63B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海洋任务与地理空间任务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C76CC4C4-F0F9-4B5B-B894-3A92F73D3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8288D487-7BEF-424B-A139-EB758AD62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IN-008 · IN-008-S06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074CE2C0-E588-4C29-92C5-1B116D6F7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5750F258-3B15-4A86-BB38-05FE729FA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海洋任务与地理空间任务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50207AFE-CA4A-449D-B595-B9B5F0B75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5261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海洋服务可以围绕海况信息汇总、观测质量检查、生态现象监测、航线环境信息或灾害态势整理。地理空间服务还包括土地覆盖变化、基础设施巡查、公共服务可达性和应急制图。每个任务都要明确使用者、空间范围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9810D8B6-D54E-4C47-85E5-EC09E15EA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EE347D8C-D183-48C5-8D5D-7E65B88F1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地图必须包含标题、时间、范围、图例、比例或分辨率、坐标信息、数据来源和不可用区域。报告中的数字应能链接回数据与计算步骤。若不同来源结论冲突，应并列展示并解释可能原因，而不是让模型平均成一个答案…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BD18A02D-D64B-4D70-A550-350A8CA02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421303A5-53F7-4B2E-ABE1-129072073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用于高风险行动时，产品要标明“观测到什么、模型估计什么、专家确认什么”。系统可提示候选区域和信息缺口，但最终航行、救援、管制或资源调度仍依据正式数据源和授权岗位决定</a:t>
            </a:r>
          </a:p>
        </p:txBody>
      </p:sp>
      <p:sp>
        <p:nvSpPr>
          <p:cNvPr id="13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C333A514-21F3-46CB-9A29-E627A52C5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4" name="s6-takeaway">
            <a:extLst xmlns:a="http://schemas.openxmlformats.org/drawingml/2006/main">
              <a:ext uri="{FF2B5EF4-FFF2-40B4-BE49-F238E27FC236}">
                <a16:creationId xmlns:a16="http://schemas.microsoft.com/office/drawing/2014/main" id="{17580EE1-04B5-4360-A21F-3ABD703F3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海洋任务与地理空间任务</a:t>
            </a:r>
          </a:p>
        </p:txBody>
      </p:sp>
    </p:spTree>
    <p:extLst>
      <p:ext uri="{BB962C8B-B14F-4D97-AF65-F5344CB8AC3E}">
        <p14:creationId xmlns:p14="http://schemas.microsoft.com/office/powerpoint/2010/main" val="67422332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561120F0-962D-420C-B8B0-9BF165A60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C8AE04AC-68CE-4521-85E6-7620E1DB6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5 / 6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41850D70-E683-4FDB-99C9-5CE1A3EB6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团队课件以“AIMS”描述一个海洋信息服务案例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0B1EA198-ADFB-4EF0-8F5D-623FCCEB2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6D50BD20-7669-4418-A2A9-D38FB5C90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IN-008 · IN-008-S07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ECCE5878-A07B-433F-B8B6-A7D74C75E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A64F3DBE-3F37-4D88-B7A1-83DBD8ADD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如何理解团队课件中的 AIMS、OceanFM 与 Dify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BAE45A98-8C43-4440-8370-184457B8E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团队课件以“AIMS”描述一个海洋信息服务案例，并在方案中提到“OceanFM”和“Dify”。这些名称展示了“领域模型加工具编排”的思路，但其公开版本…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71F0B48B-9149-4B41-951E-CDB7FFC6B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7BB1CBA3-B0D2-4C28-A7A0-2121C215C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学习时可把 AIMS 看作团队案例中的整体服务构想，把 OceanFM 看作课件中提及、需要结合文档和评测确认的领域模型，把 Dify 看作可选的工作流编排工具。真正要验收的是…</a:t>
            </a:r>
          </a:p>
        </p:txBody>
      </p:sp>
      <p:sp>
        <p:nvSpPr>
          <p:cNvPr id="11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3EE5BC37-509E-4CAB-A7B7-2F0C7AEE1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7-takeaway">
            <a:extLst xmlns:a="http://schemas.openxmlformats.org/drawingml/2006/main">
              <a:ext uri="{FF2B5EF4-FFF2-40B4-BE49-F238E27FC236}">
                <a16:creationId xmlns:a16="http://schemas.microsoft.com/office/drawing/2014/main" id="{07277FA9-B6EE-45A7-B527-583DFB355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团队课件以“AIMS”描述一个海洋信息服务案例</a:t>
            </a:r>
          </a:p>
        </p:txBody>
      </p:sp>
    </p:spTree>
    <p:extLst>
      <p:ext uri="{BB962C8B-B14F-4D97-AF65-F5344CB8AC3E}">
        <p14:creationId xmlns:p14="http://schemas.microsoft.com/office/powerpoint/2010/main" val="159874335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7B357C86-A4B9-49CE-B62A-621FBABEE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33249987-85E5-4D27-BAE6-46E93004B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6 / 6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05CE3794-BDFC-48FF-A05A-97710B77D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评测与长期运行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41AEB638-3C07-4220-9BF7-391E8DB2B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A58265EE-C132-47DE-A8EA-DCADE6CEF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IN-008 · IN-008-S08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0EF38C44-4703-4C3D-A636-E5EA14CFB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0056658A-0D23-4A4D-B16A-B1CC7F238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评测与长期运行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C49B3429-0F17-4F02-AC16-4E1C51CC5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模型评测可按变量误差、分类遗漏、空间边界偏差、时间提前量和不确定性校准展开；服务评测还要检查数据新鲜度、工具成功率、引用完整性、错误转交和专家复核时间。常规样本和极端事件应分开报告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B375A4D6-F512-4B23-8BB1-FB63B464E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BCB3F7BA-5D69-4837-AC22-A29853293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数据源、传感器、海岸线、业务定义和气候背景都会变化。系统需要监测缺测率、分布漂移和异常输出，保存模型与数据版本，并在超过适用范围时降级或停止。专家纠错应进入评测样本与数据治理流程…</a:t>
            </a:r>
          </a:p>
        </p:txBody>
      </p:sp>
      <p:sp>
        <p:nvSpPr>
          <p:cNvPr id="11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6136EC53-0A4C-4C95-8BC3-D0FA42972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8-takeaway">
            <a:extLst xmlns:a="http://schemas.openxmlformats.org/drawingml/2006/main">
              <a:ext uri="{FF2B5EF4-FFF2-40B4-BE49-F238E27FC236}">
                <a16:creationId xmlns:a16="http://schemas.microsoft.com/office/drawing/2014/main" id="{497C8C46-65DB-4CED-9449-7C130CF53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评测与长期运行</a:t>
            </a:r>
          </a:p>
        </p:txBody>
      </p:sp>
    </p:spTree>
    <p:extLst>
      <p:ext uri="{BB962C8B-B14F-4D97-AF65-F5344CB8AC3E}">
        <p14:creationId xmlns:p14="http://schemas.microsoft.com/office/powerpoint/2010/main" val="198998438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62B08EB1-1A0C-4BD9-A98F-54CDFC43F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9750DEB6-95C2-49FA-A8B0-5221782B9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案例与边界 1 / 2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72C5CDE1-56B0-4466-B46C-A763E02F0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系统统一时间和坐标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5068C0E8-4ECA-4ABA-A603-713475305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63803A48-7FAA-4046-BC37-4ACF03BD5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IN-008 · IN-008-S09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559D618A-FDFD-46D1-9EEE-D381BE54C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744027"/>
          </a:solidFill>
          <a:ln xmlns:a="http://schemas.openxmlformats.org/drawingml/2006/main" w="0">
            <a:solidFill>
              <a:srgbClr val="74402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近岸观测周报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2FB31D9B-101B-4788-9641-9DFC9AA1C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228850"/>
            <a:ext cx="6534150" cy="12382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边界｜海洋专业人员检查异常与尺度解释，再决定是否需要补充观测或发布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03BD6524-B5DD-47C5-B4AD-B06C85B05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714750"/>
            <a:ext cx="6534150" cy="12382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验证｜验收“近岸观测周报”时，要同时记录适用场景、证据来源、失败条件与人工责任</a:t>
            </a:r>
          </a:p>
        </p:txBody>
      </p:sp>
      <p:sp>
        <p:nvSpPr>
          <p:cNvPr id="9" name="s9-takeaway-rule">
            <a:extLst xmlns:a="http://schemas.openxmlformats.org/drawingml/2006/main">
              <a:ext uri="{FF2B5EF4-FFF2-40B4-BE49-F238E27FC236}">
                <a16:creationId xmlns:a16="http://schemas.microsoft.com/office/drawing/2014/main" id="{9D21F50D-0E38-4009-A669-8E7AA2D77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0" name="s9-takeaway">
            <a:extLst xmlns:a="http://schemas.openxmlformats.org/drawingml/2006/main">
              <a:ext uri="{FF2B5EF4-FFF2-40B4-BE49-F238E27FC236}">
                <a16:creationId xmlns:a16="http://schemas.microsoft.com/office/drawing/2014/main" id="{CF7E21E0-048F-4C69-8D64-747A1BFC7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系统统一时间和坐标</a:t>
            </a:r>
          </a:p>
        </p:txBody>
      </p:sp>
    </p:spTree>
    <p:extLst>
      <p:ext uri="{BB962C8B-B14F-4D97-AF65-F5344CB8AC3E}">
        <p14:creationId xmlns:p14="http://schemas.microsoft.com/office/powerpoint/2010/main" val="64198556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AE01814E-F7C7-41D5-9561-54CE4650B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6563D4DC-943C-4AF7-92D6-BD1717F78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案例与边界 2 / 2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036F45CF-29B6-42F9-942D-D9A91D470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应急地理信息图必须经过边界验证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C095E054-E9A2-42E3-8776-274B1DB6D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3F661D04-AF9A-4452-9BC0-67BE8BA98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IN-008 · IN-008-S10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C08C0E05-E040-49C3-AED0-8B46581B5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744027"/>
          </a:solidFill>
          <a:ln xmlns:a="http://schemas.openxmlformats.org/drawingml/2006/main" w="0">
            <a:solidFill>
              <a:srgbClr val="74402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应急地理信息图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08CC49A3-377C-4344-B2C9-0E1CC4D52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228850"/>
            <a:ext cx="6534150" cy="12382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边界｜不同来源按时间和可信状态分层，未经确认的信息不覆盖正式底图；路线建议还需核对实时管制和现场情况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0DE4F40B-45E5-46B7-8DD2-48C5D9164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714750"/>
            <a:ext cx="6534150" cy="12382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验证｜验收“应急地理信息图”时，要同时记录适用场景、证据来源、失败条件与人工责任</a:t>
            </a:r>
          </a:p>
        </p:txBody>
      </p:sp>
      <p:sp>
        <p:nvSpPr>
          <p:cNvPr id="9" name="s10-takeaway-rule">
            <a:extLst xmlns:a="http://schemas.openxmlformats.org/drawingml/2006/main">
              <a:ext uri="{FF2B5EF4-FFF2-40B4-BE49-F238E27FC236}">
                <a16:creationId xmlns:a16="http://schemas.microsoft.com/office/drawing/2014/main" id="{CD57EACF-13D0-4ECD-9220-1CA50391F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0" name="s10-takeaway">
            <a:extLst xmlns:a="http://schemas.openxmlformats.org/drawingml/2006/main">
              <a:ext uri="{FF2B5EF4-FFF2-40B4-BE49-F238E27FC236}">
                <a16:creationId xmlns:a16="http://schemas.microsoft.com/office/drawing/2014/main" id="{7CB6649E-8B89-4F0D-B8A1-D8516DD31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应急地理信息图必须经过边界验证</a:t>
            </a:r>
          </a:p>
        </p:txBody>
      </p:sp>
    </p:spTree>
    <p:extLst>
      <p:ext uri="{BB962C8B-B14F-4D97-AF65-F5344CB8AC3E}">
        <p14:creationId xmlns:p14="http://schemas.microsoft.com/office/powerpoint/2010/main" val="90721716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1F77A2C3-6803-4BBD-BB5C-E28C1571E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F9504B8B-4217-4722-BEAD-BC5AA7D6A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33665F45-6A4A-4256-97C9-3B13CE82E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把方法落实为可验证的行动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2BC2B6A0-7D95-4B70-88DA-C153CB3FB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961DFE9A-C684-440F-941B-AE148A0C7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IN-008 · IN-008-S11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12787A9E-7D2E-4922-B33E-BDF79434E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88301CC4-311B-4F75-AB3E-8C66490B9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49814D11-05BF-49CD-99C2-771A19255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为一个海洋或地理空间问题建立数据清单，填写变量、单位、时间、坐标、分辨率、质量、许可和更新频率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AEFF7341-B133-4430-8BEA-5798BE42F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5783F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A5AA485B-0DE0-49C4-8520-3A743C65F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0AC0D0EC-FE18-4122-A286-0849E69D0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FE02623A-4E73-480C-A89C-D91CC703E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画出从原始观测到地图报告的处理链，明确哪些步骤由科学工具完成、哪些由语言模型辅助、哪些必须由专家确认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78FBC907-73AF-4C4E-ACBB-8355DA591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5783F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02E1FB4C-F2CE-4419-BFF9-C5A679C12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B0272980-30DC-4426-A85E-34ACFA288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D46AB800-B12F-4790-A300-4C9524145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设计一次按区域和时间分组的评测，并列出地图上必须展示的来源、尺度、缺测和不确定性字段</a:t>
            </a:r>
          </a:p>
        </p:txBody>
      </p:sp>
    </p:spTree>
    <p:extLst>
      <p:ext uri="{BB962C8B-B14F-4D97-AF65-F5344CB8AC3E}">
        <p14:creationId xmlns:p14="http://schemas.microsoft.com/office/powerpoint/2010/main" val="97068360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2-rule">
            <a:extLst xmlns:a="http://schemas.openxmlformats.org/drawingml/2006/main">
              <a:ext uri="{FF2B5EF4-FFF2-40B4-BE49-F238E27FC236}">
                <a16:creationId xmlns:a16="http://schemas.microsoft.com/office/drawing/2014/main" id="{CF5E0F21-56B3-4394-AE40-3CE16B055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2-eyebrow">
            <a:extLst xmlns:a="http://schemas.openxmlformats.org/drawingml/2006/main">
              <a:ext uri="{FF2B5EF4-FFF2-40B4-BE49-F238E27FC236}">
                <a16:creationId xmlns:a16="http://schemas.microsoft.com/office/drawing/2014/main" id="{67384A73-6FFC-4875-BEBB-457A43180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2-title">
            <a:extLst xmlns:a="http://schemas.openxmlformats.org/drawingml/2006/main">
              <a:ext uri="{FF2B5EF4-FFF2-40B4-BE49-F238E27FC236}">
                <a16:creationId xmlns:a16="http://schemas.microsoft.com/office/drawing/2014/main" id="{69EF034F-47F5-4F4A-B143-8E7A607BF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带走三条可复用的判断原则</a:t>
            </a:r>
          </a:p>
        </p:txBody>
      </p:sp>
      <p:sp>
        <p:nvSpPr>
          <p:cNvPr id="4" name="s12-footer">
            <a:extLst xmlns:a="http://schemas.openxmlformats.org/drawingml/2006/main">
              <a:ext uri="{FF2B5EF4-FFF2-40B4-BE49-F238E27FC236}">
                <a16:creationId xmlns:a16="http://schemas.microsoft.com/office/drawing/2014/main" id="{5988449E-D840-408A-A7D3-16432DC8A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2-identity">
            <a:extLst xmlns:a="http://schemas.openxmlformats.org/drawingml/2006/main">
              <a:ext uri="{FF2B5EF4-FFF2-40B4-BE49-F238E27FC236}">
                <a16:creationId xmlns:a16="http://schemas.microsoft.com/office/drawing/2014/main" id="{188546BA-EFD1-437D-9572-B0225C9DB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IN-008 · IN-008-S12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9CD18DF8-D702-44ED-805B-FEF0684C1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8BA99F99-6246-41D9-A5CE-940E5D1E8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38DD33DC-105F-4ED7-8DA8-8D5FA6F1B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理解多源观测的差异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9D77250E-B39B-4C57-B00D-00CA70FD5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5783F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1E48A0EB-E80C-462C-98DD-C08070697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086D7CFB-78FC-4F45-9975-AA1510E69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EB6CC10F-5CF4-458B-815B-2540EE5A7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一个可复核架构可分为六层：数据目录保存元数据和权限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F2C291D1-1802-4F9C-854D-674EFC58C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5783F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E204555E-4523-4E85-A007-914463C42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D6258753-BCCB-4BDB-836A-8B90C2C42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97FB349D-CAAF-48A6-AD31-AF7617F35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评测与长期运行</a:t>
            </a:r>
          </a:p>
        </p:txBody>
      </p:sp>
    </p:spTree>
    <p:extLst>
      <p:ext uri="{BB962C8B-B14F-4D97-AF65-F5344CB8AC3E}">
        <p14:creationId xmlns:p14="http://schemas.microsoft.com/office/powerpoint/2010/main" val="109598989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3-rule">
            <a:extLst xmlns:a="http://schemas.openxmlformats.org/drawingml/2006/main">
              <a:ext uri="{FF2B5EF4-FFF2-40B4-BE49-F238E27FC236}">
                <a16:creationId xmlns:a16="http://schemas.microsoft.com/office/drawing/2014/main" id="{B8E31573-1BD8-419B-84A4-5A0965881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3-eyebrow">
            <a:extLst xmlns:a="http://schemas.openxmlformats.org/drawingml/2006/main">
              <a:ext uri="{FF2B5EF4-FFF2-40B4-BE49-F238E27FC236}">
                <a16:creationId xmlns:a16="http://schemas.microsoft.com/office/drawing/2014/main" id="{B716DD74-7FA6-47D6-92D9-6177F7FB1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3-title">
            <a:extLst xmlns:a="http://schemas.openxmlformats.org/drawingml/2006/main">
              <a:ext uri="{FF2B5EF4-FFF2-40B4-BE49-F238E27FC236}">
                <a16:creationId xmlns:a16="http://schemas.microsoft.com/office/drawing/2014/main" id="{14A4BAB3-5CB3-4921-B195-3D9713E46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从公开重制课件回到可核对的学习资料</a:t>
            </a:r>
          </a:p>
        </p:txBody>
      </p:sp>
      <p:sp>
        <p:nvSpPr>
          <p:cNvPr id="4" name="s13-footer">
            <a:extLst xmlns:a="http://schemas.openxmlformats.org/drawingml/2006/main">
              <a:ext uri="{FF2B5EF4-FFF2-40B4-BE49-F238E27FC236}">
                <a16:creationId xmlns:a16="http://schemas.microsoft.com/office/drawing/2014/main" id="{EE6DDD21-EDAA-497C-8F12-C473DA982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3-identity">
            <a:extLst xmlns:a="http://schemas.openxmlformats.org/drawingml/2006/main">
              <a:ext uri="{FF2B5EF4-FFF2-40B4-BE49-F238E27FC236}">
                <a16:creationId xmlns:a16="http://schemas.microsoft.com/office/drawing/2014/main" id="{D2150A23-5486-466A-A3C8-82DA85CDC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IN-008 · IN-008-S13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8F4F282D-5848-4F0B-9672-65C0606D9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ABCDAA95-21F5-4127-B959-41E8A22BC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Open Geospatial Consortium（OGC）标准目录：地理空间数据模型、编码与接口标准的官方入口</a:t>
            </a:r>
          </a:p>
        </p:txBody>
      </p:sp>
      <p:sp>
        <p:nvSpPr>
          <p:cNvPr id="8" name="source-2">
            <a:extLst xmlns:a="http://schemas.openxmlformats.org/drawingml/2006/main">
              <a:ext uri="{FF2B5EF4-FFF2-40B4-BE49-F238E27FC236}">
                <a16:creationId xmlns:a16="http://schemas.microsoft.com/office/drawing/2014/main" id="{A87DF6EA-9261-4DDC-8C80-EA8052311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147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03  Group on Earth Observations（GEO）：地球观测合作、数据共享与应用资料</a:t>
            </a:r>
          </a:p>
        </p:txBody>
      </p:sp>
      <p:sp>
        <p:nvSpPr>
          <p:cNvPr id="9" name="source-3">
            <a:extLst xmlns:a="http://schemas.openxmlformats.org/drawingml/2006/main">
              <a:ext uri="{FF2B5EF4-FFF2-40B4-BE49-F238E27FC236}">
                <a16:creationId xmlns:a16="http://schemas.microsoft.com/office/drawing/2014/main" id="{32BF5AAE-EDF0-4D06-A393-18B94AA26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005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04  Argo 国际计划数据入口：剖面、轨迹、元数据、质量控制说明与使用工具</a:t>
            </a:r>
          </a:p>
        </p:txBody>
      </p:sp>
      <p:sp>
        <p:nvSpPr>
          <p:cNvPr id="10" name="source-4">
            <a:extLst xmlns:a="http://schemas.openxmlformats.org/drawingml/2006/main">
              <a:ext uri="{FF2B5EF4-FFF2-40B4-BE49-F238E27FC236}">
                <a16:creationId xmlns:a16="http://schemas.microsoft.com/office/drawing/2014/main" id="{A3A07F2B-7356-4D5F-BE94-164101961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863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05  实际服务应同时遵守数据提供机构的许可、质量说明及相关海洋和测绘管理要求</a:t>
            </a:r>
          </a:p>
        </p:txBody>
      </p:sp>
      <p:sp>
        <p:nvSpPr>
          <p:cNvPr id="11" name="s13-takeaway-rule">
            <a:extLst xmlns:a="http://schemas.openxmlformats.org/drawingml/2006/main">
              <a:ext uri="{FF2B5EF4-FFF2-40B4-BE49-F238E27FC236}">
                <a16:creationId xmlns:a16="http://schemas.microsoft.com/office/drawing/2014/main" id="{BB96FB5D-4493-49C5-935A-0F46F6BD3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13-takeaway">
            <a:extLst xmlns:a="http://schemas.openxmlformats.org/drawingml/2006/main">
              <a:ext uri="{FF2B5EF4-FFF2-40B4-BE49-F238E27FC236}">
                <a16:creationId xmlns:a16="http://schemas.microsoft.com/office/drawing/2014/main" id="{D52E7676-CD8D-438B-9C59-F6FA2FC27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公开幻灯片只使用课程原创文字与原生图形；完整论证、链接和事实边界请见本节讲义。</a:t>
            </a:r>
          </a:p>
        </p:txBody>
      </p:sp>
    </p:spTree>
    <p:extLst>
      <p:ext uri="{BB962C8B-B14F-4D97-AF65-F5344CB8AC3E}">
        <p14:creationId xmlns:p14="http://schemas.microsoft.com/office/powerpoint/2010/main" val="186039864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2026-07-11T12:05:49.4770000Z</dcterms:created>
  <dcterms:modified xsi:type="dcterms:W3CDTF">2026-07-11T12:05:49.4770000Z</dcterms:modified>
</coreProperties>
</file>