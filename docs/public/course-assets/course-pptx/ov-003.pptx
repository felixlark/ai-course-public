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85dc727c0442da" /><Relationship Type="http://schemas.openxmlformats.org/officeDocument/2006/relationships/extended-properties" Target="/docProps/app.xml" Id="Rf65e1d5c702f44a1" /><Relationship Type="http://schemas.openxmlformats.org/officeDocument/2006/relationships/officeDocument" Target="/ppt/presentation.xml" Id="R9c272f41402340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729bcbfb00472d"/>
  </p:sldMasterIdLst>
  <p:notesMasterIdLst>
    <p:notesMasterId xmlns:r="http://schemas.openxmlformats.org/officeDocument/2006/relationships" r:id="Rbee9011d5cb64c93"/>
  </p:notesMasterIdLst>
  <p:sldIdLst>
    <p:sldId xmlns:r="http://schemas.openxmlformats.org/officeDocument/2006/relationships" id="256" r:id="R404f1dd0e1334711"/>
    <p:sldId xmlns:r="http://schemas.openxmlformats.org/officeDocument/2006/relationships" id="257" r:id="Raac5bd24da5049bd"/>
    <p:sldId xmlns:r="http://schemas.openxmlformats.org/officeDocument/2006/relationships" id="258" r:id="Rd4c860b7fba44663"/>
    <p:sldId xmlns:r="http://schemas.openxmlformats.org/officeDocument/2006/relationships" id="259" r:id="R692e0f15cb194751"/>
    <p:sldId xmlns:r="http://schemas.openxmlformats.org/officeDocument/2006/relationships" id="260" r:id="R65182d0cf9d84263"/>
    <p:sldId xmlns:r="http://schemas.openxmlformats.org/officeDocument/2006/relationships" id="261" r:id="R7b142f5b3e2944e1"/>
    <p:sldId xmlns:r="http://schemas.openxmlformats.org/officeDocument/2006/relationships" id="262" r:id="R5e16a07845b942f4"/>
    <p:sldId xmlns:r="http://schemas.openxmlformats.org/officeDocument/2006/relationships" id="263" r:id="R60bde9d6b9ad4f48"/>
    <p:sldId xmlns:r="http://schemas.openxmlformats.org/officeDocument/2006/relationships" id="264" r:id="R83a3357bed5a477a"/>
    <p:sldId xmlns:r="http://schemas.openxmlformats.org/officeDocument/2006/relationships" id="265" r:id="R01d7595d85fd4671"/>
    <p:sldId xmlns:r="http://schemas.openxmlformats.org/officeDocument/2006/relationships" id="266" r:id="R11ab33a37296472a"/>
    <p:sldId xmlns:r="http://schemas.openxmlformats.org/officeDocument/2006/relationships" id="267" r:id="R28a567bac6314947"/>
    <p:sldId xmlns:r="http://schemas.openxmlformats.org/officeDocument/2006/relationships" id="268" r:id="R73e50f6d14f34ebf"/>
    <p:sldId xmlns:r="http://schemas.openxmlformats.org/officeDocument/2006/relationships" id="269" r:id="R86c0d793134c42b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8b6a6201064b51" /><Relationship Type="http://schemas.openxmlformats.org/officeDocument/2006/relationships/slideMaster" Target="/ppt/slideMasters/slideMaster1.xml" Id="R6f729bcbfb00472d" /><Relationship Type="http://schemas.openxmlformats.org/officeDocument/2006/relationships/notesMaster" Target="/ppt/notesMasters/notesMaster1.xml" Id="Rbee9011d5cb64c93" /><Relationship Type="http://schemas.openxmlformats.org/officeDocument/2006/relationships/presProps" Target="/ppt/presProps.xml" Id="R4ae958ccaef4409b" /><Relationship Type="http://schemas.openxmlformats.org/officeDocument/2006/relationships/tableStyles" Target="/ppt/tableStyles.xml" Id="R841724bdafb24f9b" /><Relationship Type="http://schemas.openxmlformats.org/officeDocument/2006/relationships/slide" Target="/ppt/slides/slide1.xml" Id="R404f1dd0e1334711" /><Relationship Type="http://schemas.openxmlformats.org/officeDocument/2006/relationships/slide" Target="/ppt/slides/slide2.xml" Id="Raac5bd24da5049bd" /><Relationship Type="http://schemas.openxmlformats.org/officeDocument/2006/relationships/slide" Target="/ppt/slides/slide3.xml" Id="Rd4c860b7fba44663" /><Relationship Type="http://schemas.openxmlformats.org/officeDocument/2006/relationships/slide" Target="/ppt/slides/slide4.xml" Id="R692e0f15cb194751" /><Relationship Type="http://schemas.openxmlformats.org/officeDocument/2006/relationships/slide" Target="/ppt/slides/slide5.xml" Id="R65182d0cf9d84263" /><Relationship Type="http://schemas.openxmlformats.org/officeDocument/2006/relationships/slide" Target="/ppt/slides/slide6.xml" Id="R7b142f5b3e2944e1" /><Relationship Type="http://schemas.openxmlformats.org/officeDocument/2006/relationships/slide" Target="/ppt/slides/slide7.xml" Id="R5e16a07845b942f4" /><Relationship Type="http://schemas.openxmlformats.org/officeDocument/2006/relationships/slide" Target="/ppt/slides/slide8.xml" Id="R60bde9d6b9ad4f48" /><Relationship Type="http://schemas.openxmlformats.org/officeDocument/2006/relationships/slide" Target="/ppt/slides/slide9.xml" Id="R83a3357bed5a477a" /><Relationship Type="http://schemas.openxmlformats.org/officeDocument/2006/relationships/slide" Target="/ppt/slides/slide10.xml" Id="R01d7595d85fd4671" /><Relationship Type="http://schemas.openxmlformats.org/officeDocument/2006/relationships/slide" Target="/ppt/slides/slide11.xml" Id="R11ab33a37296472a" /><Relationship Type="http://schemas.openxmlformats.org/officeDocument/2006/relationships/slide" Target="/ppt/slides/slide12.xml" Id="R28a567bac6314947" /><Relationship Type="http://schemas.openxmlformats.org/officeDocument/2006/relationships/slide" Target="/ppt/slides/slide13.xml" Id="R73e50f6d14f34ebf" /><Relationship Type="http://schemas.openxmlformats.org/officeDocument/2006/relationships/slide" Target="/ppt/slides/slide14.xml" Id="R86c0d793134c42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42cbe7c91c4f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75b9f875694d56" /><Relationship Type="http://schemas.openxmlformats.org/officeDocument/2006/relationships/notesMaster" Target="/ppt/notesMasters/notesMaster1.xml" Id="R2c0405aad97a404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0f09e6392f4ff3" /><Relationship Type="http://schemas.openxmlformats.org/officeDocument/2006/relationships/notesMaster" Target="/ppt/notesMasters/notesMaster1.xml" Id="Rae4da122678e41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9f164e768d4742" /><Relationship Type="http://schemas.openxmlformats.org/officeDocument/2006/relationships/notesMaster" Target="/ppt/notesMasters/notesMaster1.xml" Id="R2cc8650f97874d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eab366f06b47f5" /><Relationship Type="http://schemas.openxmlformats.org/officeDocument/2006/relationships/notesMaster" Target="/ppt/notesMasters/notesMaster1.xml" Id="R8aed7f249b094e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7a8c7f43e649a4" /><Relationship Type="http://schemas.openxmlformats.org/officeDocument/2006/relationships/notesMaster" Target="/ppt/notesMasters/notesMaster1.xml" Id="R0f3a4f559d6a46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ad7b2bf7fc4259" /><Relationship Type="http://schemas.openxmlformats.org/officeDocument/2006/relationships/notesMaster" Target="/ppt/notesMasters/notesMaster1.xml" Id="R5729635d8c7044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16caa6d07f41fb" /><Relationship Type="http://schemas.openxmlformats.org/officeDocument/2006/relationships/notesMaster" Target="/ppt/notesMasters/notesMaster1.xml" Id="Rd4a25d2085044a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5586aa5c9342dc" /><Relationship Type="http://schemas.openxmlformats.org/officeDocument/2006/relationships/notesMaster" Target="/ppt/notesMasters/notesMaster1.xml" Id="R3a366dd0ff8f41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d9df4ebd5241ed" /><Relationship Type="http://schemas.openxmlformats.org/officeDocument/2006/relationships/notesMaster" Target="/ppt/notesMasters/notesMaster1.xml" Id="R66c4d2d4fada4b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7151fb382d439c" /><Relationship Type="http://schemas.openxmlformats.org/officeDocument/2006/relationships/notesMaster" Target="/ppt/notesMasters/notesMaster1.xml" Id="R2d36605b3f0f47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11a2b51a2242ce" /><Relationship Type="http://schemas.openxmlformats.org/officeDocument/2006/relationships/notesMaster" Target="/ppt/notesMasters/notesMaster1.xml" Id="R74b5b9fa7a13462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85c5aa3597435d" /><Relationship Type="http://schemas.openxmlformats.org/officeDocument/2006/relationships/notesMaster" Target="/ppt/notesMasters/notesMaster1.xml" Id="Re9c1170ea61d40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fb0f04d77084399" /><Relationship Type="http://schemas.openxmlformats.org/officeDocument/2006/relationships/notesMaster" Target="/ppt/notesMasters/notesMaster1.xml" Id="Rf796b07a2e76442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b7c30a9d1a4030" /><Relationship Type="http://schemas.openxmlformats.org/officeDocument/2006/relationships/notesMaster" Target="/ppt/notesMasters/notesMaster1.xml" Id="R4e063c48104745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fbf86c6d5e4b4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6738737f074b66" /><Relationship Type="http://schemas.openxmlformats.org/officeDocument/2006/relationships/slideLayout" Target="/ppt/slideLayouts/slideLayout1.xml" Id="Ra929795a60e64f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29795a60e64f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c9b0135a140b8" /><Relationship Type="http://schemas.openxmlformats.org/officeDocument/2006/relationships/notesSlide" Target="/ppt/notesSlides/notesSlide1.xml" Id="Ra99004257b164b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5c96173824d2e" /><Relationship Type="http://schemas.openxmlformats.org/officeDocument/2006/relationships/notesSlide" Target="/ppt/notesSlides/notesSlide2.xml" Id="Re61a47669c4248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9572f53ae4361" /><Relationship Type="http://schemas.openxmlformats.org/officeDocument/2006/relationships/notesSlide" Target="/ppt/notesSlides/notesSlide3.xml" Id="R72a3d35e3e5348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00420c0954b9a" /><Relationship Type="http://schemas.openxmlformats.org/officeDocument/2006/relationships/notesSlide" Target="/ppt/notesSlides/notesSlide4.xml" Id="R3517c28386b843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c3c72f7c264ee1" /><Relationship Type="http://schemas.openxmlformats.org/officeDocument/2006/relationships/notesSlide" Target="/ppt/notesSlides/notesSlide5.xml" Id="R64567c9a746a4f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32d03b98c42cc" /><Relationship Type="http://schemas.openxmlformats.org/officeDocument/2006/relationships/notesSlide" Target="/ppt/notesSlides/notesSlide6.xml" Id="R21a82694c23d4f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9aaf6cf2141a8" /><Relationship Type="http://schemas.openxmlformats.org/officeDocument/2006/relationships/notesSlide" Target="/ppt/notesSlides/notesSlide7.xml" Id="Ra77f0a26b4e045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a72147228e4fca" /><Relationship Type="http://schemas.openxmlformats.org/officeDocument/2006/relationships/notesSlide" Target="/ppt/notesSlides/notesSlide8.xml" Id="R20d03dfabdcc47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e6685cdfb4013" /><Relationship Type="http://schemas.openxmlformats.org/officeDocument/2006/relationships/notesSlide" Target="/ppt/notesSlides/notesSlide9.xml" Id="R0ced7845280f42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a8652c1e574a83" /><Relationship Type="http://schemas.openxmlformats.org/officeDocument/2006/relationships/notesSlide" Target="/ppt/notesSlides/notesSlide10.xml" Id="Rf2008e1683af4d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811dc29fb4ada" /><Relationship Type="http://schemas.openxmlformats.org/officeDocument/2006/relationships/notesSlide" Target="/ppt/notesSlides/notesSlide11.xml" Id="R45cf30de0c4f4d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1cf7055b442f0" /><Relationship Type="http://schemas.openxmlformats.org/officeDocument/2006/relationships/notesSlide" Target="/ppt/notesSlides/notesSlide12.xml" Id="R3501fff326534ff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3c2e6e38f4a07" /><Relationship Type="http://schemas.openxmlformats.org/officeDocument/2006/relationships/notesSlide" Target="/ppt/notesSlides/notesSlide13.xml" Id="Rfcca740afd00433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7a2166a464adb" /><Relationship Type="http://schemas.openxmlformats.org/officeDocument/2006/relationships/notesSlide" Target="/ppt/notesSlides/notesSlide14.xml" Id="Rc41a58a34b7048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139A37F6-BEAE-456F-8F3C-F8C4F4F6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C438646A-9805-4052-B41E-D7DF2DF48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B7B2C433-B35F-48AE-9BF0-2F13DE4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6A40B0D7-398C-4A8B-8AEB-0C7C4BB0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E2FF045E-A6BB-4EE8-BEB1-7343ADEA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12A5CF22-DD94-472E-8291-A43E9814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C8955EF-5C6F-488F-8E2B-6925E086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AED6C74-27B3-4CDA-9964-77EE97B8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机器学习与深度学习基础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314B6B8-94CD-42A9-9716-EC1E79DC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从数据、模型、损失和泛化进入神经网络、反向传播与卷积网络。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2D4E61BD-924E-4DA8-ABF9-C7D88F5E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相册应用自动把家人的照片归到一组；输入法预测你要打的下一个词；地图软件预估到达时间——这些功能背后没有一条条人工写死的判断规则；支撑它们的是同一件事；让程序从数据中自己找出规律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8E11A23C-9B0D-484A-B1B9-22CE58CD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23BAB2BC-55AA-4B6C-9274-79A69F10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OV-003 · OV-003-S01</a:t>
            </a:r>
          </a:p>
        </p:txBody>
      </p:sp>
    </p:spTree>
    <p:extLst>
      <p:ext uri="{BB962C8B-B14F-4D97-AF65-F5344CB8AC3E}">
        <p14:creationId xmlns:p14="http://schemas.microsoft.com/office/powerpoint/2010/main" val="2138274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0B6E2D1-3F18-43FB-8C8D-0C0375C4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342FED83-153D-4F48-8599-8106C93A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3F19C6E1-D7E0-4BDC-A52F-5939E50E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机器学习与深度学习：3项学习结果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A359FE2C-80B5-43F6-B275-903CC7EE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EB04283A-77A6-4BAE-9ABC-0C9D15A7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7DB0CA5E-068B-4243-AA4D-D70EF30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解释数据、模型、损失函数和优化如何组成机器学习闭环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23CEE0D1-0BFE-4ADE-AD35-69F4A066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区分训练表现、测试表现、过拟合与泛化能力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E2BE532A-99FF-47F3-A818-39DDE4AB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说明深度网络如何自动学习特征，以及梯度下降和反向传播各自承担什么角色</a:t>
            </a:r>
          </a:p>
        </p:txBody>
      </p:sp>
    </p:spTree>
    <p:extLst>
      <p:ext uri="{BB962C8B-B14F-4D97-AF65-F5344CB8AC3E}">
        <p14:creationId xmlns:p14="http://schemas.microsoft.com/office/powerpoint/2010/main" val="17001152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DF57CE47-6EFD-4C9F-BABC-D9B0D52D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78139ACC-ADC4-4941-B794-81A8D3CC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56253FBB-5D38-4DEC-8990-66289FB2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机器学习用数据、模型与损失替代手写规则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88B1B67E-A8DE-4011-877C-BDE717AE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29BFB1CA-08BE-4E25-BFA0-ECF9CD82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950A831-732D-4C86-AF46-DAF4EB75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DA29078-1F6E-4336-8527-B201DF4A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机器学习：从数据中学习规律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D628C4C-095B-4559-A37D-A255E20D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9219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传统程序的工作方式是"人定规则、机器执行"；机器学习颠倒了这个次序；先给机器大量"输入—答案"的样例；由算法从中归纳出一个映射函数 f；再用这个函数去处理没见过的新输入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A580F0D-1448-499C-ABC0-E64B3C7F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317BF4DD-8A15-4245-B136-AFCE500E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监督学习的三个要素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D396B71-5362-4C3F-AD33-8A650741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要让"从例子中学习"真正跑起来，三样东西缺一不可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13CED845-0B53-4D86-8D22-E0751A21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66B44776-DC3E-42BF-AD5C-FF365791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机器学习用数据、模型与损失替代手写规则</a:t>
            </a:r>
          </a:p>
        </p:txBody>
      </p:sp>
    </p:spTree>
    <p:extLst>
      <p:ext uri="{BB962C8B-B14F-4D97-AF65-F5344CB8AC3E}">
        <p14:creationId xmlns:p14="http://schemas.microsoft.com/office/powerpoint/2010/main" val="10865642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A47F41C7-7909-45E6-B195-9AF5D1B4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154DE841-6345-46E0-8360-F25A3784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8F7EC801-AA24-4702-A17E-53C2B3F4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数据划分检验泛化，线性回归提供基线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A7CDEFE8-9F66-44F2-9CBD-08939D3E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BE85B250-26E2-4610-A4DC-B9CF21D9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827789B-218A-48D5-A369-7C999F22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CD1A9D9-8829-4B90-B33D-59607281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训练、验证与测试：学得好还要用得好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37273CF-6BCB-410E-984D-76ABDDD5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一个关键追问随之而来；模型在见过的数据上表现好；能保证它遇到新数据还行吗；规范做法通常把数据分成三份；训练集 用来学习参数；验证集 用来选择模型、阈值和超参数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848C775-6A4F-48C3-9FA2-8DFD801F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E5766C25-D775-4604-BDC6-E57CB2C8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线性回归：最经典的入门模型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5FF592C-5DF0-4498-9927-C1B7C48EE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0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最能把上面这套流程讲透的模型是 线性回归；19 世纪，英国学者高尔顿研究父母身高与子女身高的关系时发现；高个子父母的子女平均而言也高；但会向人群平均值靠拢——"回归"一词就源于这个现象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73E57158-225C-4CBB-B6DA-3F1CD8D7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4F8ED9B9-A4EE-4F1F-955C-16AF4251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数据划分检验泛化，线性回归提供基线</a:t>
            </a:r>
          </a:p>
        </p:txBody>
      </p:sp>
    </p:spTree>
    <p:extLst>
      <p:ext uri="{BB962C8B-B14F-4D97-AF65-F5344CB8AC3E}">
        <p14:creationId xmlns:p14="http://schemas.microsoft.com/office/powerpoint/2010/main" val="5751745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F081F4D9-F349-43BA-ACDB-090BB4FB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B4B66B84-39BD-4D6B-ACF0-35CE3AED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D87F0A8-CB0E-4F68-B45C-D3420BEC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任务类型决定分类或回归，经典模型各有偏置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6174BC6-4A5B-4330-A940-2607ACDF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DC6FAE4-00C1-4601-B4E9-B2D342FF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D4FC3CB-BD2B-4E12-A5A6-90099B29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FE855AD-C956-4785-A904-91982851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从回归到分类：逻辑斯蒂回归与决策树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503CE96-3C41-4866-AD66-9DFC4212E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回归输出连续数值，分类输出离散类别；监督学习的任务基本落在这两类里；想用普通线性回归直接做二分类会遇到一个根本问题；预测值没有被限制在 0 到 1 之间；也不对应适合二分类的似然模型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346A87A-3C6C-455B-9443-F3309530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2A41B72F-A5E0-4AAD-AFDF-348E5227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经典模型速览：LDA、AdaBoost 与支持向量机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7BF88EF-33B5-428B-BBA5-356E1468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监督学习几十年的发展攒下了一批各有绝活的经典模型，了解它们的核心思想，就能看懂大部分传统机器学习系统的设计逻辑</a:t>
            </a:r>
          </a:p>
        </p:txBody>
      </p:sp>
      <p:sp>
        <p:nvSpPr>
          <p:cNvPr id="12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D67B4306-A97E-4202-9F10-31027502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5-takeaway">
            <a:extLst xmlns:a="http://schemas.openxmlformats.org/drawingml/2006/main">
              <a:ext uri="{FF2B5EF4-FFF2-40B4-BE49-F238E27FC236}">
                <a16:creationId xmlns:a16="http://schemas.microsoft.com/office/drawing/2014/main" id="{16915530-6895-4232-89A7-8A7A8EE5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任务类型决定分类或回归，经典模型各有偏置</a:t>
            </a:r>
          </a:p>
        </p:txBody>
      </p:sp>
    </p:spTree>
    <p:extLst>
      <p:ext uri="{BB962C8B-B14F-4D97-AF65-F5344CB8AC3E}">
        <p14:creationId xmlns:p14="http://schemas.microsoft.com/office/powerpoint/2010/main" val="16289223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EF63794F-F195-4138-8E14-B8EE90B9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53392B3-1B54-452C-A189-24B853D9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414F03CA-9C61-45C0-8676-C72DC328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57CE6488-0FA6-4934-AB54-921922E6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41C1333C-B485-47D6-863A-49835BAF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8C2EEE5-915D-4D71-9FF9-8BBE8B34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8DE187C-5373-4D37-81A8-C1C1D0EF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深度学习：让机器自己学特征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EA4D205-F8C5-44E2-AA2A-58AC9919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在深度学习之前，一个图像识别系统是"分段"组装的；人工设计特征提取（边缘、纹理、视觉词典）；再接一个分类器，每一段单独调优；深度学习改成 端到端；原始像素直接进网络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FCB1102E-C38D-42FD-94CE-0C2BBC47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B4FE347-6D28-4CAD-A669-7B14F3CA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网络内部发生的事情可以理解为 逐层抽象；低层单元常响应边缘和亮暗；中层组合出角点和部件；高层形成与对象类别相关的表示；这种层级处理受到生物视觉研究启发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5832294-9DB8-40D1-A5CC-6EB498A9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A2C43C17-023C-49AB-87F8-37DD83B1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网络的基本单元常被称为 人工神经元；1943 年 McCulloch 和 Pitts 受生物神经元"兴奋/抑制"机制启发提出 MCP 模型；对输入加权求和，再经过一个激活函数决定输出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9FF1F60C-A911-4481-97F0-4E09BD9D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618CA829-F362-4F5A-A63E-53348756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</p:spTree>
    <p:extLst>
      <p:ext uri="{BB962C8B-B14F-4D97-AF65-F5344CB8AC3E}">
        <p14:creationId xmlns:p14="http://schemas.microsoft.com/office/powerpoint/2010/main" val="2761026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1FF2C88-03D7-4EBE-B641-C20B9F85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DCB66BBB-F9AD-493D-976D-213A9B44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43ED2B92-0639-4B24-A9F8-964CD0C8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B37F2BDE-DB19-48E9-85E0-56DB5EF0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4CE664FA-CF7C-4232-AC2C-8A0F7C54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93C039B-01D9-4DE3-A5A8-EB35F80D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DC9ACA6-5A44-4D9C-945C-142829FE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神经网络怎么训练：梯度下降与误差反向传播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C5398A2-F4E7-473E-9868-1EBC2157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网络结构定了，剩下的问题是：这么多参数（权重）怎么定？答案仍是监督学习那套流程——定义损失函数，然后优化它。回归任务常用均方误差；分类任务常用交叉熵，它度量预测概率分布与真实分布的差距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A430C3F-1D84-40AB-BD45-70388E8B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53F909C-1A8A-4965-A346-1C4010A4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优化的主力算法是 梯度下降；把损失函数想象成参数空间里的一片山地；当前参数是站立的位置；梯度指向上坡最陡的方向；往梯度的反方向挪一小步；损失就下降最快，步子的大小叫学习率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109134DC-26AE-4A0F-A6AD-A793AD7F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D99BA57-6A8E-4C71-9CCF-D2842AE8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深层网络的参数分布在一层层结构里；输出端算出的误差如何反馈给前面每一层；误差反向传播 （BP）解决了这件事；利用链式求导法则，把输出误差从后向前逐层传递；算出每个参数对总误差该负多大"责任"</a:t>
            </a:r>
          </a:p>
        </p:txBody>
      </p:sp>
      <p:sp>
        <p:nvSpPr>
          <p:cNvPr id="13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025E7AB4-2CBC-4B62-A377-A0833BAB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7-takeaway">
            <a:extLst xmlns:a="http://schemas.openxmlformats.org/drawingml/2006/main">
              <a:ext uri="{FF2B5EF4-FFF2-40B4-BE49-F238E27FC236}">
                <a16:creationId xmlns:a16="http://schemas.microsoft.com/office/drawing/2014/main" id="{6EA2645D-9471-4E0C-8B9B-3735A625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网络结构定了，剩下的问题是：这么多参数（权重）怎么定</a:t>
            </a:r>
          </a:p>
        </p:txBody>
      </p:sp>
    </p:spTree>
    <p:extLst>
      <p:ext uri="{BB962C8B-B14F-4D97-AF65-F5344CB8AC3E}">
        <p14:creationId xmlns:p14="http://schemas.microsoft.com/office/powerpoint/2010/main" val="8846249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B34BDABF-FBD5-4146-B60A-FADDA2777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3D1F2AF-CD74-49C2-ACEB-F8C3E420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CFCFEAE5-315D-49F9-A37F-7A78966B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把一张图像直接摊平接进全连接网络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00D67DF-9EC8-4FF5-B379-E8000CA8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CB2A74A5-8ED4-4B1E-8210-7013D672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8293C89-8ECC-44BA-8A0B-D8E0389E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F8E51E4-9731-4A7A-8D64-89C11FE8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卷积神经网络：看懂图像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A186719-2D9F-43DC-9728-A32A636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3489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把一张图像直接摊平接进全连接网络；参数会瞬间爆炸，一张 1000×1000 的图片仅一层就要处理百万维输入；图像有两个可以利用的特点—— 模式是局部的 （一条边缘只占几个像素）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ACD784F-ACAA-4B89-B9C7-4FF1139F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F6B6E17-A258-42C0-B0E1-03AC7ADB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核心是 卷积操作，用一个小小的卷积核（如 3×3 的权重矩阵）在图像上滑动；每停一处就与覆盖区域做加权求和；输出一张特征图，同一个卷积核的参数在整张图上 共享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8486B2A9-F37F-47BF-A92F-80392F74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6D6EA28B-3125-4D0D-826D-16E8B797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不同的卷积核提取不同特征：有的对竖直边缘敏感，有的响应特定纹理——这与视觉神经细胞的"特征选择性"相互呼应。多个卷积核并行工作，就得到多张互补的特征图</a:t>
            </a:r>
          </a:p>
        </p:txBody>
      </p:sp>
      <p:sp>
        <p:nvSpPr>
          <p:cNvPr id="13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E94208E1-977F-48A7-8334-CDD347D7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6E2749B-AD04-4D8F-A875-2EBC3353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把一张图像直接摊平接进全连接网络</a:t>
            </a:r>
          </a:p>
        </p:txBody>
      </p:sp>
    </p:spTree>
    <p:extLst>
      <p:ext uri="{BB962C8B-B14F-4D97-AF65-F5344CB8AC3E}">
        <p14:creationId xmlns:p14="http://schemas.microsoft.com/office/powerpoint/2010/main" val="2032341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DF39ABF8-CDE0-4E3D-A53D-BE46B286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37351902-70FD-4E44-9C5A-FC06BE08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A8AD989-B53C-423F-AB76-B187C8CC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C387A00F-156F-4A22-874E-64498815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51729FC5-EF37-43CF-9E4C-C3DDF6EF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D51233C-E607-4C11-842A-5C86C2D6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5685069-826C-4345-8CD7-CE0EC8A53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序列与生成：循环网络、生成对抗与词向量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756DCD5-790A-48A1-9803-578CDA4D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239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图像一次性输入就好；语言、语音、时序数据却有前后依赖；循环神经网络 （RNN）为此在网络里加了一条"记忆"通路；每读一个词，把当前输入和上一步的隐状态一起加工；隐状态就像一路携带的笔记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2624260-EE1D-4376-AB4E-13AD36D2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2C9AA02-BEC9-44C4-8026-35C071DE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序列一长，RNN 的梯度在层层回传中容易消失；早先的信息就被"忘掉"；长短时记忆网络 （LSTM）用输入门、遗忘门、输出门管理一个内部记忆单元；学会该记什么、该忘什么；明显改善了长序列建模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D180C5C-7530-4361-BE66-0AEB5B57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8A5A0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42438B2-C6B3-405A-BF95-BEB0A9D9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前面讲的模型都在做判断；深度生成学习 反过来让网络学会"创造"；生成对抗网络 （GAN）的设计精彩之处在于左右互搏；生成器负责伪造数据；判别器负责鉴别真伪；两者在博弈中共同进步</a:t>
            </a:r>
          </a:p>
        </p:txBody>
      </p:sp>
      <p:sp>
        <p:nvSpPr>
          <p:cNvPr id="13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0874B2F7-521C-4CDE-8B41-4FC6A59F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9-takeaway">
            <a:extLst xmlns:a="http://schemas.openxmlformats.org/drawingml/2006/main">
              <a:ext uri="{FF2B5EF4-FFF2-40B4-BE49-F238E27FC236}">
                <a16:creationId xmlns:a16="http://schemas.microsoft.com/office/drawing/2014/main" id="{7D0BB559-EB16-486C-9C03-75057DB5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</p:spTree>
    <p:extLst>
      <p:ext uri="{BB962C8B-B14F-4D97-AF65-F5344CB8AC3E}">
        <p14:creationId xmlns:p14="http://schemas.microsoft.com/office/powerpoint/2010/main" val="4106506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F5666E7C-D998-428A-8CC6-2333F316D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D7C0D48B-ECA0-4275-90F5-44792DD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878B3C0F-2577-4E85-B0EC-CFF6477CD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分类与回归都要为高代价错误保留人工判断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4645F2FE-6050-4415-9221-8C46C7A6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31337957-B4C9-4898-8401-5626A763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OV-003-S10</a:t>
            </a:r>
          </a:p>
        </p:txBody>
      </p:sp>
      <p:sp>
        <p:nvSpPr>
          <p:cNvPr id="6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6C39D5AE-5C2A-46EE-B79A-CF68AB06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 1：垃圾邮件过滤</a:t>
            </a:r>
          </a:p>
        </p:txBody>
      </p:sp>
      <p:sp>
        <p:nvSpPr>
          <p:cNvPr id="7" name="case-0-row-0">
            <a:extLst xmlns:a="http://schemas.openxmlformats.org/drawingml/2006/main">
              <a:ext uri="{FF2B5EF4-FFF2-40B4-BE49-F238E27FC236}">
                <a16:creationId xmlns:a16="http://schemas.microsoft.com/office/drawing/2014/main" id="{7B4B392C-78D4-4C81-89CE-29D0AB14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415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邮件系统需要自动判断新到的一封邮件是否为垃圾邮件</a:t>
            </a:r>
          </a:p>
        </p:txBody>
      </p:sp>
      <p:sp>
        <p:nvSpPr>
          <p:cNvPr id="8" name="case-0-row-1">
            <a:extLst xmlns:a="http://schemas.openxmlformats.org/drawingml/2006/main">
              <a:ext uri="{FF2B5EF4-FFF2-40B4-BE49-F238E27FC236}">
                <a16:creationId xmlns:a16="http://schemas.microsoft.com/office/drawing/2014/main" id="{D4934584-764D-4660-9BC2-B64A7DF0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61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用大量已标注邮件训练分类模型（逻辑斯蒂回归即可作基线），并留出测试数据检验对新邮件的识别率</a:t>
            </a:r>
          </a:p>
        </p:txBody>
      </p:sp>
      <p:sp>
        <p:nvSpPr>
          <p:cNvPr id="9" name="case-0-row-2">
            <a:extLst xmlns:a="http://schemas.openxmlformats.org/drawingml/2006/main">
              <a:ext uri="{FF2B5EF4-FFF2-40B4-BE49-F238E27FC236}">
                <a16:creationId xmlns:a16="http://schemas.microsoft.com/office/drawing/2014/main" id="{9B740EC6-B143-49B4-B1C7-DAC90C0A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828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</a:t>
            </a:r>
          </a:p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误拦正常邮件代价高，需要保留申诉通道，并定期用新样本重新训练</a:t>
            </a:r>
          </a:p>
        </p:txBody>
      </p:sp>
      <p:sp>
        <p:nvSpPr>
          <p:cNvPr id="10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B3DB7CBF-5316-4592-AED5-FDFF1404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981200"/>
            <a:ext cx="485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 2：森林火灾面积预测</a:t>
            </a:r>
          </a:p>
        </p:txBody>
      </p:sp>
      <p:sp>
        <p:nvSpPr>
          <p:cNvPr id="11" name="case-1-row-0">
            <a:extLst xmlns:a="http://schemas.openxmlformats.org/drawingml/2006/main">
              <a:ext uri="{FF2B5EF4-FFF2-40B4-BE49-F238E27FC236}">
                <a16:creationId xmlns:a16="http://schemas.microsoft.com/office/drawing/2014/main" id="{5409B7D1-6B61-4868-83EF-59C7C9FA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670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098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林业部门想根据气象条件预估火灾可能波及的面积，提前调配力量</a:t>
            </a:r>
          </a:p>
        </p:txBody>
      </p:sp>
      <p:sp>
        <p:nvSpPr>
          <p:cNvPr id="12" name="case-1-row-1">
            <a:extLst xmlns:a="http://schemas.openxmlformats.org/drawingml/2006/main">
              <a:ext uri="{FF2B5EF4-FFF2-40B4-BE49-F238E27FC236}">
                <a16:creationId xmlns:a16="http://schemas.microsoft.com/office/drawing/2014/main" id="{FF69E36D-8D39-46A7-AD5A-B67895BD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0045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61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</a:t>
            </a:r>
          </a:p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用历史记录建立回归模型：先从"气温 → 过火面积"的一元线性回归入手，再加入风力等因素扩展为多元回归</a:t>
            </a:r>
          </a:p>
        </p:txBody>
      </p:sp>
      <p:sp>
        <p:nvSpPr>
          <p:cNvPr id="13" name="case-1-row-2">
            <a:extLst xmlns:a="http://schemas.openxmlformats.org/drawingml/2006/main">
              <a:ext uri="{FF2B5EF4-FFF2-40B4-BE49-F238E27FC236}">
                <a16:creationId xmlns:a16="http://schemas.microsoft.com/office/drawing/2014/main" id="{B5621D36-A4E3-4091-97DD-6F5452F2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33900"/>
            <a:ext cx="485775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908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</a:t>
            </a:r>
          </a:p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极端天气超出历史数据分布时模型不可靠，需人工研判并把新数据补入训练集</a:t>
            </a:r>
          </a:p>
        </p:txBody>
      </p:sp>
      <p:sp>
        <p:nvSpPr>
          <p:cNvPr id="14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924327CD-2DA5-4A53-BF6D-A2BC567C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5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CDA26078-2F4E-4CC1-A3DD-F4D6BF62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分类与回归都要为高代价错误保留人工判断</a:t>
            </a:r>
          </a:p>
        </p:txBody>
      </p:sp>
    </p:spTree>
    <p:extLst>
      <p:ext uri="{BB962C8B-B14F-4D97-AF65-F5344CB8AC3E}">
        <p14:creationId xmlns:p14="http://schemas.microsoft.com/office/powerpoint/2010/main" val="7003560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AE8E47D-EB54-422E-9B22-1D1C0E16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8A8409C3-9BBC-4CC3-9041-C0DC90BA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7B09E4DD-3C41-4AB0-B3AB-ED6E2FEE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低置信度识别必须转人工，避免金额差错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C3CF956C-4903-4DDF-93A0-504018BA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D44E61FF-2688-4021-AD21-88727C31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OV-003-S11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4B59309-661B-4A79-B5C6-9B830250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案例 3：手写数字识别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82119E19-187D-451C-BEC8-6039DB3D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场景｜银行票据和邮政编码上的手写数字需要机器自动读取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33CB3D99-2AC4-40C2-918C-1D1A6E735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问题｜每个人笔迹不同，人工设计的特征始终覆盖不了书写变化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E30498A-84B7-4F2F-A69E-3CD575CB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3417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方法｜用卷积神经网络端到端训练：卷积层自动学习笔画特征，池化层压缩冗余，全连接层输出 0 到 9 的概率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C0422B9D-7300-46B7-B087-2AA8E6B2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489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结果｜经典的 LeNet 网络早在上世纪九十年代就投入美国支票识别系统，是深度学习最早的规模化应用之一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9670582C-0EBF-4A18-B1E3-AC4F4A62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边界｜低置信度样本转人工录入，识别错误会直接造成金额差错，阈值设置要保守</a:t>
            </a:r>
          </a:p>
        </p:txBody>
      </p:sp>
      <p:sp>
        <p:nvSpPr>
          <p:cNvPr id="12" name="s11-takeaway-rule">
            <a:extLst xmlns:a="http://schemas.openxmlformats.org/drawingml/2006/main">
              <a:ext uri="{FF2B5EF4-FFF2-40B4-BE49-F238E27FC236}">
                <a16:creationId xmlns:a16="http://schemas.microsoft.com/office/drawing/2014/main" id="{6536302A-B9D0-4497-AC76-51E6D570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3" name="s11-takeaway">
            <a:extLst xmlns:a="http://schemas.openxmlformats.org/drawingml/2006/main">
              <a:ext uri="{FF2B5EF4-FFF2-40B4-BE49-F238E27FC236}">
                <a16:creationId xmlns:a16="http://schemas.microsoft.com/office/drawing/2014/main" id="{C8684CBC-E99C-480E-A302-4766479D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低置信度识别必须转人工，避免金额差错</a:t>
            </a:r>
          </a:p>
        </p:txBody>
      </p:sp>
    </p:spTree>
    <p:extLst>
      <p:ext uri="{BB962C8B-B14F-4D97-AF65-F5344CB8AC3E}">
        <p14:creationId xmlns:p14="http://schemas.microsoft.com/office/powerpoint/2010/main" val="16623773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AFFEC7A3-B190-4E17-8C8A-2579AE5C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2953444D-3DE2-4984-965C-E50C1368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E3B5F6AB-9761-4E41-8A40-28DCADCB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机器学习与深度学习：一次可验收练习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D6934AA2-59D5-4677-A01A-AC943F47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F561FBA3-CB0B-46B3-BD29-21294F06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OV-003-S12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008E2E56-71EF-4616-A121-BDCDA513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0452C6D7-A137-4790-871C-F15B0042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9A42D3C4-39AF-4DBE-810F-63592081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用表格软件对 10 组"气温—用电量"数据画散点图并添加线性趋势线；读出斜率和截距，说明它们各自的现实含义；把你工作中的一个真实问题改写成监督学习任务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D0E3CA9E-D7C9-4D62-9606-8BA997B0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8A2448E9-78EF-4793-9A1F-8A1E6D38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C5E7120C-4485-419D-9FA5-F774D6F7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669A872B-67DD-4E7B-BBDC-2D4E5BFA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打开浏览器版 Teachable Machine；训练一个两类图像分类器；先每类只给 5 张样本；再增加到 30 张；对比测试效果，体会数据量与过拟合的关系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424172AA-E88B-41BA-9E75-7F62EFBE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69A42EF9-F06C-4562-B917-D8426734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BD8D2EED-9643-43A4-A0A4-FE803CB5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A588622C-0AA8-48CC-B6D0-F149B422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完成后保留你的数据、步骤和结论，下一节讨论 AI 能力边界时会用它们做对照材料</a:t>
            </a:r>
          </a:p>
        </p:txBody>
      </p:sp>
    </p:spTree>
    <p:extLst>
      <p:ext uri="{BB962C8B-B14F-4D97-AF65-F5344CB8AC3E}">
        <p14:creationId xmlns:p14="http://schemas.microsoft.com/office/powerpoint/2010/main" val="10552061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F7FDFDAB-7B06-431D-97BB-FC543506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F85B7A73-9AC9-409F-8CCF-1007F261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FCC6550F-0AC6-470A-91A8-1FFF99F8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机器学习与深度学习：判断时先抓住三点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627ED54C-7EDC-4B3B-AFF2-D70CB242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C9614C18-F2F7-46EA-936E-86485A72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OV-003-S13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63DAD8AA-C805-42BC-B827-E11DE6EB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866F6F8F-2916-4C6E-8DF9-7B4084EB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267D134B-82DE-4217-906F-9A841BB9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机器学习用数据、模型与损失替代手写规则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6421C617-EFD9-4DBC-8E2E-6257BBB7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191EB506-9081-4954-A6A0-7DC79F04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DFECB4AD-5035-441F-9551-84270195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1521EBA5-19BD-41A0-BCE0-FD7A1389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一个图像识别系统是"分段"组装的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1FACFFAF-4C65-4EBA-9F2C-DB99A119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5A0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BA8B454B-1634-458E-BA31-7F334AE6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0ED4D668-7855-4EEE-AB92-11389DD0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80E18E96-81FD-47EE-A855-86C8C330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图像一次性输入就好，语言、语音、时序数据却有前后依赖</a:t>
            </a:r>
          </a:p>
        </p:txBody>
      </p:sp>
    </p:spTree>
    <p:extLst>
      <p:ext uri="{BB962C8B-B14F-4D97-AF65-F5344CB8AC3E}">
        <p14:creationId xmlns:p14="http://schemas.microsoft.com/office/powerpoint/2010/main" val="11957256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4-rule">
            <a:extLst xmlns:a="http://schemas.openxmlformats.org/drawingml/2006/main">
              <a:ext uri="{FF2B5EF4-FFF2-40B4-BE49-F238E27FC236}">
                <a16:creationId xmlns:a16="http://schemas.microsoft.com/office/drawing/2014/main" id="{BC42DB81-7197-46A6-B3C7-F5076C53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14-eyebrow">
            <a:extLst xmlns:a="http://schemas.openxmlformats.org/drawingml/2006/main">
              <a:ext uri="{FF2B5EF4-FFF2-40B4-BE49-F238E27FC236}">
                <a16:creationId xmlns:a16="http://schemas.microsoft.com/office/drawing/2014/main" id="{42C7478C-0533-4998-B43A-5FAAE92E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4-title">
            <a:extLst xmlns:a="http://schemas.openxmlformats.org/drawingml/2006/main">
              <a:ext uri="{FF2B5EF4-FFF2-40B4-BE49-F238E27FC236}">
                <a16:creationId xmlns:a16="http://schemas.microsoft.com/office/drawing/2014/main" id="{F76C2B64-95BA-4CD0-9E6B-84449697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机器学习与深度学习：依据、边界与延伸</a:t>
            </a:r>
          </a:p>
        </p:txBody>
      </p:sp>
      <p:sp>
        <p:nvSpPr>
          <p:cNvPr id="4" name="s14-footer">
            <a:extLst xmlns:a="http://schemas.openxmlformats.org/drawingml/2006/main">
              <a:ext uri="{FF2B5EF4-FFF2-40B4-BE49-F238E27FC236}">
                <a16:creationId xmlns:a16="http://schemas.microsoft.com/office/drawing/2014/main" id="{CF0EB4B3-9C8C-42F7-9901-754140BD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4-identity">
            <a:extLst xmlns:a="http://schemas.openxmlformats.org/drawingml/2006/main">
              <a:ext uri="{FF2B5EF4-FFF2-40B4-BE49-F238E27FC236}">
                <a16:creationId xmlns:a16="http://schemas.microsoft.com/office/drawing/2014/main" id="{65EF88EE-671C-4F00-A901-98C42461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OV-003 · OV-003-S14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86EC6307-C05D-4D45-9714-AE7EB832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8A5A0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411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MIT 6.S191 Introduction to Deep Learning：麻省理工的深度学习入门课，讲座、幻灯片和实验齐全，适合系统深入神经网络与生成模型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17865CD4-1CE1-4DEF-8EE4-56D7631D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3Blue1Brown：神经网络系列视频：用可视化动画直观呈现神经网络、梯度下降与反向传播的运行机制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79A819C5-129A-4546-A294-F8B15647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吴恩达 Machine Learning Specialization：面向零基础的机器学习系统课程，配有编程练习</a:t>
            </a:r>
          </a:p>
        </p:txBody>
      </p:sp>
      <p:sp>
        <p:nvSpPr>
          <p:cNvPr id="9" name="s14-takeaway-rule">
            <a:extLst xmlns:a="http://schemas.openxmlformats.org/drawingml/2006/main">
              <a:ext uri="{FF2B5EF4-FFF2-40B4-BE49-F238E27FC236}">
                <a16:creationId xmlns:a16="http://schemas.microsoft.com/office/drawing/2014/main" id="{C31D69BC-40BB-4537-A0D2-5E3E05E3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14-takeaway">
            <a:extLst xmlns:a="http://schemas.openxmlformats.org/drawingml/2006/main">
              <a:ext uri="{FF2B5EF4-FFF2-40B4-BE49-F238E27FC236}">
                <a16:creationId xmlns:a16="http://schemas.microsoft.com/office/drawing/2014/main" id="{242F6AA5-0E33-4654-9875-7712FD60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课程正文与幻灯片共享同一知识主线，图片和视频用于帮助理解本节概念与案例。</a:t>
            </a:r>
          </a:p>
        </p:txBody>
      </p:sp>
    </p:spTree>
    <p:extLst>
      <p:ext uri="{BB962C8B-B14F-4D97-AF65-F5344CB8AC3E}">
        <p14:creationId xmlns:p14="http://schemas.microsoft.com/office/powerpoint/2010/main" val="7870553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2026-07-12T08:20:03.3120000Z</dcterms:created>
  <dcterms:modified xsi:type="dcterms:W3CDTF">2026-07-12T08:20:03.3120000Z</dcterms:modified>
</coreProperties>
</file>