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73c85711214cda" /><Relationship Type="http://schemas.openxmlformats.org/officeDocument/2006/relationships/extended-properties" Target="/docProps/app.xml" Id="R9c55d7b4b8b94093" /><Relationship Type="http://schemas.openxmlformats.org/officeDocument/2006/relationships/officeDocument" Target="/ppt/presentation.xml" Id="R8d604419f5e94a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a35efcddb64ee1"/>
  </p:sldMasterIdLst>
  <p:notesMasterIdLst>
    <p:notesMasterId xmlns:r="http://schemas.openxmlformats.org/officeDocument/2006/relationships" r:id="R0624a54418074c45"/>
  </p:notesMasterIdLst>
  <p:sldIdLst>
    <p:sldId xmlns:r="http://schemas.openxmlformats.org/officeDocument/2006/relationships" id="256" r:id="Rad31b300cb654bd4"/>
    <p:sldId xmlns:r="http://schemas.openxmlformats.org/officeDocument/2006/relationships" id="257" r:id="R782196030baa451e"/>
    <p:sldId xmlns:r="http://schemas.openxmlformats.org/officeDocument/2006/relationships" id="258" r:id="R571a517215734a99"/>
    <p:sldId xmlns:r="http://schemas.openxmlformats.org/officeDocument/2006/relationships" id="259" r:id="R690efdf495ed4be8"/>
    <p:sldId xmlns:r="http://schemas.openxmlformats.org/officeDocument/2006/relationships" id="260" r:id="Rf5052ead54eb4100"/>
    <p:sldId xmlns:r="http://schemas.openxmlformats.org/officeDocument/2006/relationships" id="261" r:id="R3fec75785f0745bb"/>
    <p:sldId xmlns:r="http://schemas.openxmlformats.org/officeDocument/2006/relationships" id="262" r:id="Rf5eb693a795b4674"/>
    <p:sldId xmlns:r="http://schemas.openxmlformats.org/officeDocument/2006/relationships" id="263" r:id="R715ea7f2f6d64fcb"/>
    <p:sldId xmlns:r="http://schemas.openxmlformats.org/officeDocument/2006/relationships" id="264" r:id="R7badad541b63423d"/>
    <p:sldId xmlns:r="http://schemas.openxmlformats.org/officeDocument/2006/relationships" id="265" r:id="R3dbdf08154b84a88"/>
    <p:sldId xmlns:r="http://schemas.openxmlformats.org/officeDocument/2006/relationships" id="266" r:id="R0dfc587114994f96"/>
    <p:sldId xmlns:r="http://schemas.openxmlformats.org/officeDocument/2006/relationships" id="267" r:id="R8735ac366bb24801"/>
    <p:sldId xmlns:r="http://schemas.openxmlformats.org/officeDocument/2006/relationships" id="268" r:id="Raf72093498de44ca"/>
    <p:sldId xmlns:r="http://schemas.openxmlformats.org/officeDocument/2006/relationships" id="269" r:id="R89f783522ebb4c5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3d58d176f44389" /><Relationship Type="http://schemas.openxmlformats.org/officeDocument/2006/relationships/slideMaster" Target="/ppt/slideMasters/slideMaster1.xml" Id="R7ca35efcddb64ee1" /><Relationship Type="http://schemas.openxmlformats.org/officeDocument/2006/relationships/notesMaster" Target="/ppt/notesMasters/notesMaster1.xml" Id="R0624a54418074c45" /><Relationship Type="http://schemas.openxmlformats.org/officeDocument/2006/relationships/presProps" Target="/ppt/presProps.xml" Id="R95d90971389d4cc7" /><Relationship Type="http://schemas.openxmlformats.org/officeDocument/2006/relationships/tableStyles" Target="/ppt/tableStyles.xml" Id="R381f64d990654595" /><Relationship Type="http://schemas.openxmlformats.org/officeDocument/2006/relationships/slide" Target="/ppt/slides/slide1.xml" Id="Rad31b300cb654bd4" /><Relationship Type="http://schemas.openxmlformats.org/officeDocument/2006/relationships/slide" Target="/ppt/slides/slide2.xml" Id="R782196030baa451e" /><Relationship Type="http://schemas.openxmlformats.org/officeDocument/2006/relationships/slide" Target="/ppt/slides/slide3.xml" Id="R571a517215734a99" /><Relationship Type="http://schemas.openxmlformats.org/officeDocument/2006/relationships/slide" Target="/ppt/slides/slide4.xml" Id="R690efdf495ed4be8" /><Relationship Type="http://schemas.openxmlformats.org/officeDocument/2006/relationships/slide" Target="/ppt/slides/slide5.xml" Id="Rf5052ead54eb4100" /><Relationship Type="http://schemas.openxmlformats.org/officeDocument/2006/relationships/slide" Target="/ppt/slides/slide6.xml" Id="R3fec75785f0745bb" /><Relationship Type="http://schemas.openxmlformats.org/officeDocument/2006/relationships/slide" Target="/ppt/slides/slide7.xml" Id="Rf5eb693a795b4674" /><Relationship Type="http://schemas.openxmlformats.org/officeDocument/2006/relationships/slide" Target="/ppt/slides/slide8.xml" Id="R715ea7f2f6d64fcb" /><Relationship Type="http://schemas.openxmlformats.org/officeDocument/2006/relationships/slide" Target="/ppt/slides/slide9.xml" Id="R7badad541b63423d" /><Relationship Type="http://schemas.openxmlformats.org/officeDocument/2006/relationships/slide" Target="/ppt/slides/slide10.xml" Id="R3dbdf08154b84a88" /><Relationship Type="http://schemas.openxmlformats.org/officeDocument/2006/relationships/slide" Target="/ppt/slides/slide11.xml" Id="R0dfc587114994f96" /><Relationship Type="http://schemas.openxmlformats.org/officeDocument/2006/relationships/slide" Target="/ppt/slides/slide12.xml" Id="R8735ac366bb24801" /><Relationship Type="http://schemas.openxmlformats.org/officeDocument/2006/relationships/slide" Target="/ppt/slides/slide13.xml" Id="Raf72093498de44ca" /><Relationship Type="http://schemas.openxmlformats.org/officeDocument/2006/relationships/slide" Target="/ppt/slides/slide14.xml" Id="R89f783522ebb4c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968248952449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c85dd13cee4c2d" /><Relationship Type="http://schemas.openxmlformats.org/officeDocument/2006/relationships/notesMaster" Target="/ppt/notesMasters/notesMaster1.xml" Id="R6ad9f4ef9b4a42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f734df7eb44dbd" /><Relationship Type="http://schemas.openxmlformats.org/officeDocument/2006/relationships/notesMaster" Target="/ppt/notesMasters/notesMaster1.xml" Id="R37ef0390927340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d5c56e207d4525" /><Relationship Type="http://schemas.openxmlformats.org/officeDocument/2006/relationships/notesMaster" Target="/ppt/notesMasters/notesMaster1.xml" Id="R54abdca73fa942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9b9a2b7a8149bd" /><Relationship Type="http://schemas.openxmlformats.org/officeDocument/2006/relationships/notesMaster" Target="/ppt/notesMasters/notesMaster1.xml" Id="Rfd6986dfdbae47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afff4829d34360" /><Relationship Type="http://schemas.openxmlformats.org/officeDocument/2006/relationships/notesMaster" Target="/ppt/notesMasters/notesMaster1.xml" Id="Rd6fc9db74ca543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3bda281f1d48d4" /><Relationship Type="http://schemas.openxmlformats.org/officeDocument/2006/relationships/notesMaster" Target="/ppt/notesMasters/notesMaster1.xml" Id="Rff715b3bfeea43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22368dbbf94ae5" /><Relationship Type="http://schemas.openxmlformats.org/officeDocument/2006/relationships/notesMaster" Target="/ppt/notesMasters/notesMaster1.xml" Id="Rd1b413a6e6374e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7663a660594773" /><Relationship Type="http://schemas.openxmlformats.org/officeDocument/2006/relationships/notesMaster" Target="/ppt/notesMasters/notesMaster1.xml" Id="Rb55399eddf2345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3a0ecf126545b3" /><Relationship Type="http://schemas.openxmlformats.org/officeDocument/2006/relationships/notesMaster" Target="/ppt/notesMasters/notesMaster1.xml" Id="R2341c27339f64e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b3003263634773" /><Relationship Type="http://schemas.openxmlformats.org/officeDocument/2006/relationships/notesMaster" Target="/ppt/notesMasters/notesMaster1.xml" Id="Rb409afbb50b142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832335fc8549c9" /><Relationship Type="http://schemas.openxmlformats.org/officeDocument/2006/relationships/notesMaster" Target="/ppt/notesMasters/notesMaster1.xml" Id="Reff482c252e64f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fc7323e55048cc" /><Relationship Type="http://schemas.openxmlformats.org/officeDocument/2006/relationships/notesMaster" Target="/ppt/notesMasters/notesMaster1.xml" Id="Rb282210f320244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fdf612189b4576" /><Relationship Type="http://schemas.openxmlformats.org/officeDocument/2006/relationships/notesMaster" Target="/ppt/notesMasters/notesMaster1.xml" Id="Rb39771466c734e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676c78ecc64234" /><Relationship Type="http://schemas.openxmlformats.org/officeDocument/2006/relationships/notesMaster" Target="/ppt/notesMasters/notesMaster1.xml" Id="R09821d2c54dd4c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17bf56ac644e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63bf24f2b94956" /><Relationship Type="http://schemas.openxmlformats.org/officeDocument/2006/relationships/slideLayout" Target="/ppt/slideLayouts/slideLayout1.xml" Id="R2291aef8f85e4a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91aef8f85e4a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e744f63834eb9" /><Relationship Type="http://schemas.openxmlformats.org/officeDocument/2006/relationships/notesSlide" Target="/ppt/notesSlides/notesSlide1.xml" Id="R47e266e5b5ff45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fc72d21f84186" /><Relationship Type="http://schemas.openxmlformats.org/officeDocument/2006/relationships/notesSlide" Target="/ppt/notesSlides/notesSlide2.xml" Id="Rc3aaf82d169b48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072edfbed4884" /><Relationship Type="http://schemas.openxmlformats.org/officeDocument/2006/relationships/notesSlide" Target="/ppt/notesSlides/notesSlide3.xml" Id="R504847976bea41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9cf77c0946424b" /><Relationship Type="http://schemas.openxmlformats.org/officeDocument/2006/relationships/notesSlide" Target="/ppt/notesSlides/notesSlide4.xml" Id="Rc040bff249be46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e3fec68bb4026" /><Relationship Type="http://schemas.openxmlformats.org/officeDocument/2006/relationships/notesSlide" Target="/ppt/notesSlides/notesSlide5.xml" Id="R11191ebf7f844e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3134d02a44d7b" /><Relationship Type="http://schemas.openxmlformats.org/officeDocument/2006/relationships/notesSlide" Target="/ppt/notesSlides/notesSlide6.xml" Id="Red98a0531bfc40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027cfb9e942bc" /><Relationship Type="http://schemas.openxmlformats.org/officeDocument/2006/relationships/notesSlide" Target="/ppt/notesSlides/notesSlide7.xml" Id="R15b38b7afb7447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9559170c44346" /><Relationship Type="http://schemas.openxmlformats.org/officeDocument/2006/relationships/notesSlide" Target="/ppt/notesSlides/notesSlide8.xml" Id="R908ee95f62854d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5f4be41604f6f" /><Relationship Type="http://schemas.openxmlformats.org/officeDocument/2006/relationships/notesSlide" Target="/ppt/notesSlides/notesSlide9.xml" Id="R7d95ba92533a44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563b6db1948c4" /><Relationship Type="http://schemas.openxmlformats.org/officeDocument/2006/relationships/notesSlide" Target="/ppt/notesSlides/notesSlide10.xml" Id="R06b9c43407c448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48a05f7b440f4" /><Relationship Type="http://schemas.openxmlformats.org/officeDocument/2006/relationships/notesSlide" Target="/ppt/notesSlides/notesSlide11.xml" Id="Ra4253696e7f849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2fa144a0e4e18" /><Relationship Type="http://schemas.openxmlformats.org/officeDocument/2006/relationships/notesSlide" Target="/ppt/notesSlides/notesSlide12.xml" Id="Re9fbe5d3f7be48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8089651ca4343" /><Relationship Type="http://schemas.openxmlformats.org/officeDocument/2006/relationships/notesSlide" Target="/ppt/notesSlides/notesSlide13.xml" Id="Rffdf0fd025bd43e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beb48b4884427c" /><Relationship Type="http://schemas.openxmlformats.org/officeDocument/2006/relationships/notesSlide" Target="/ppt/notesSlides/notesSlide14.xml" Id="R0de63ff3c5d24c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ule">
            <a:extLst xmlns:a="http://schemas.openxmlformats.org/drawingml/2006/main">
              <a:ext uri="{FF2B5EF4-FFF2-40B4-BE49-F238E27FC236}">
                <a16:creationId xmlns:a16="http://schemas.microsoft.com/office/drawing/2014/main" id="{13833AD7-E226-4158-AEAF-F6F4474F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14300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cover-ring-1">
            <a:extLst xmlns:a="http://schemas.openxmlformats.org/drawingml/2006/main">
              <a:ext uri="{FF2B5EF4-FFF2-40B4-BE49-F238E27FC236}">
                <a16:creationId xmlns:a16="http://schemas.microsoft.com/office/drawing/2014/main" id="{C6716A55-50D5-4234-B5AA-9274D39C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66800"/>
            <a:ext cx="2857500" cy="2857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1459C7"/>
            </a:solidFill>
            <a:prstDash val="solid"/>
          </a:ln>
        </p:spPr>
      </p:sp>
      <p:sp>
        <p:nvSpPr>
          <p:cNvPr id="3" name="cover-ring-2">
            <a:extLst xmlns:a="http://schemas.openxmlformats.org/drawingml/2006/main">
              <a:ext uri="{FF2B5EF4-FFF2-40B4-BE49-F238E27FC236}">
                <a16:creationId xmlns:a16="http://schemas.microsoft.com/office/drawing/2014/main" id="{8AC8F716-4A80-4974-88B6-2C706C6F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19250"/>
            <a:ext cx="1752600" cy="1752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4" name="cover-core">
            <a:extLst xmlns:a="http://schemas.openxmlformats.org/drawingml/2006/main">
              <a:ext uri="{FF2B5EF4-FFF2-40B4-BE49-F238E27FC236}">
                <a16:creationId xmlns:a16="http://schemas.microsoft.com/office/drawing/2014/main" id="{E735F7BA-D034-431C-A559-8B2113B8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907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5" name="cover-line-1">
            <a:extLst xmlns:a="http://schemas.openxmlformats.org/drawingml/2006/main">
              <a:ext uri="{FF2B5EF4-FFF2-40B4-BE49-F238E27FC236}">
                <a16:creationId xmlns:a16="http://schemas.microsoft.com/office/drawing/2014/main" id="{5A2F03F1-55C3-48B7-A7DA-A0A798C2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76750"/>
            <a:ext cx="337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1459C7"/>
            </a:solidFill>
            <a:prstDash val="solid"/>
          </a:ln>
        </p:spPr>
      </p:sp>
      <p:sp>
        <p:nvSpPr>
          <p:cNvPr id="6" name="cover-line-2">
            <a:extLst xmlns:a="http://schemas.openxmlformats.org/drawingml/2006/main">
              <a:ext uri="{FF2B5EF4-FFF2-40B4-BE49-F238E27FC236}">
                <a16:creationId xmlns:a16="http://schemas.microsoft.com/office/drawing/2014/main" id="{356C7C69-C946-4F0E-81BB-67B3FFB8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9585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6A33A"/>
            </a:solidFill>
            <a:prstDash val="solid"/>
          </a:ln>
        </p:spPr>
      </p:sp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6219719C-C608-4997-AA74-F1C1EE79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876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第 1 章 · 人工智能概述</a:t>
            </a:r>
          </a:p>
        </p:txBody>
      </p:sp>
      <p:sp>
        <p:nvSpPr>
          <p:cNvPr id="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3FA1AA8-D58D-4C06-8588-8E261331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049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机器学习与深度学习基础</a:t>
            </a:r>
          </a:p>
        </p:txBody>
      </p:sp>
      <p:sp>
        <p:nvSpPr>
          <p:cNvPr id="9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AF767F3-8F22-4ED8-9CDC-F7F03034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6477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defRPr>
            </a:pPr>
            <a:r>
              <a:rPr sz="2175">
                <a:solidFill>
                  <a:srgbClr val="DDEBFA"/>
                </a:solidFill>
                <a:latin typeface="PingFang SC"/>
                <a:ea typeface="PingFang SC"/>
                <a:cs typeface="PingFang SC"/>
              </a:rPr>
              <a:t>从数据、模型、损失和泛化进入神经网络、反向传播与卷积网络。</a:t>
            </a:r>
          </a:p>
        </p:txBody>
      </p:sp>
      <p:sp>
        <p:nvSpPr>
          <p:cNvPr id="10" name="cover-lead">
            <a:extLst xmlns:a="http://schemas.openxmlformats.org/drawingml/2006/main">
              <a:ext uri="{FF2B5EF4-FFF2-40B4-BE49-F238E27FC236}">
                <a16:creationId xmlns:a16="http://schemas.microsoft.com/office/drawing/2014/main" id="{08222B5F-9E96-4927-86D6-6856BE87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05300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相册应用自动把家人的照片归到一组；输入法预测你要打的下一个词；地图软件预估到达时间——这些功能背后没有一条条人工写死的判断规则；支撑它们的是同一件事；让程序从数据中自己找出规律</a:t>
            </a:r>
          </a:p>
        </p:txBody>
      </p:sp>
      <p:sp>
        <p:nvSpPr>
          <p:cNvPr id="11" name="cover-course">
            <a:extLst xmlns:a="http://schemas.openxmlformats.org/drawingml/2006/main">
              <a:ext uri="{FF2B5EF4-FFF2-40B4-BE49-F238E27FC236}">
                <a16:creationId xmlns:a16="http://schemas.microsoft.com/office/drawing/2014/main" id="{4BB26E3C-8CD2-4E3D-AE30-BEE26B6F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陈龙彪团队人工智能公开课</a:t>
            </a:r>
          </a:p>
        </p:txBody>
      </p:sp>
      <p:sp>
        <p:nvSpPr>
          <p:cNvPr id="12" name="cover-id">
            <a:extLst xmlns:a="http://schemas.openxmlformats.org/drawingml/2006/main">
              <a:ext uri="{FF2B5EF4-FFF2-40B4-BE49-F238E27FC236}">
                <a16:creationId xmlns:a16="http://schemas.microsoft.com/office/drawing/2014/main" id="{EB0C23D0-9058-4047-A3FA-9B079A5B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73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A33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6A33A"/>
                </a:solidFill>
                <a:latin typeface="PingFang SC"/>
                <a:ea typeface="PingFang SC"/>
                <a:cs typeface="PingFang SC"/>
              </a:rPr>
              <a:t>OV-003 · OV-003-S01</a:t>
            </a:r>
          </a:p>
        </p:txBody>
      </p:sp>
    </p:spTree>
    <p:extLst>
      <p:ext uri="{BB962C8B-B14F-4D97-AF65-F5344CB8AC3E}">
        <p14:creationId xmlns:p14="http://schemas.microsoft.com/office/powerpoint/2010/main" val="129982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rule">
            <a:extLst xmlns:a="http://schemas.openxmlformats.org/drawingml/2006/main">
              <a:ext uri="{FF2B5EF4-FFF2-40B4-BE49-F238E27FC236}">
                <a16:creationId xmlns:a16="http://schemas.microsoft.com/office/drawing/2014/main" id="{FF8ED62B-750C-48B1-AF0A-729914B5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2-eyebrow">
            <a:extLst xmlns:a="http://schemas.openxmlformats.org/drawingml/2006/main">
              <a:ext uri="{FF2B5EF4-FFF2-40B4-BE49-F238E27FC236}">
                <a16:creationId xmlns:a16="http://schemas.microsoft.com/office/drawing/2014/main" id="{E2416F80-121D-4D0E-8E82-299A0CDB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学习结果</a:t>
            </a:r>
          </a:p>
        </p:txBody>
      </p:sp>
      <p:sp>
        <p:nvSpPr>
          <p:cNvPr id="3" name="s2-title">
            <a:extLst xmlns:a="http://schemas.openxmlformats.org/drawingml/2006/main">
              <a:ext uri="{FF2B5EF4-FFF2-40B4-BE49-F238E27FC236}">
                <a16:creationId xmlns:a16="http://schemas.microsoft.com/office/drawing/2014/main" id="{26FBF80D-19AF-42E2-85D0-1F32DF55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机器学习与深度学习：3项学习结果</a:t>
            </a:r>
          </a:p>
        </p:txBody>
      </p:sp>
      <p:sp>
        <p:nvSpPr>
          <p:cNvPr id="4" name="s2-footer">
            <a:extLst xmlns:a="http://schemas.openxmlformats.org/drawingml/2006/main">
              <a:ext uri="{FF2B5EF4-FFF2-40B4-BE49-F238E27FC236}">
                <a16:creationId xmlns:a16="http://schemas.microsoft.com/office/drawing/2014/main" id="{F5F03F2E-17B4-48DA-AEEC-54E14BA3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2-identity">
            <a:extLst xmlns:a="http://schemas.openxmlformats.org/drawingml/2006/main">
              <a:ext uri="{FF2B5EF4-FFF2-40B4-BE49-F238E27FC236}">
                <a16:creationId xmlns:a16="http://schemas.microsoft.com/office/drawing/2014/main" id="{46C8DB43-35D6-48B8-A438-2D0BBDEA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OV-003 · OV-003-S02</a:t>
            </a:r>
          </a:p>
        </p:txBody>
      </p:sp>
      <p:sp>
        <p:nvSpPr>
          <p:cNvPr id="6" name="objective-1">
            <a:extLst xmlns:a="http://schemas.openxmlformats.org/drawingml/2006/main">
              <a:ext uri="{FF2B5EF4-FFF2-40B4-BE49-F238E27FC236}">
                <a16:creationId xmlns:a16="http://schemas.microsoft.com/office/drawing/2014/main" id="{D8BDAF39-4D18-4B2A-A142-EF889924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01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解释数据、模型、损失函数和优化如何组成机器学习闭环</a:t>
            </a:r>
          </a:p>
        </p:txBody>
      </p:sp>
      <p:sp>
        <p:nvSpPr>
          <p:cNvPr id="7" name="objective-2">
            <a:extLst xmlns:a="http://schemas.openxmlformats.org/drawingml/2006/main">
              <a:ext uri="{FF2B5EF4-FFF2-40B4-BE49-F238E27FC236}">
                <a16:creationId xmlns:a16="http://schemas.microsoft.com/office/drawing/2014/main" id="{198F16A8-B816-4EDD-AFB5-403CDCE2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02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区分训练表现、测试表现、过拟合与泛化能力</a:t>
            </a:r>
          </a:p>
        </p:txBody>
      </p:sp>
      <p:sp>
        <p:nvSpPr>
          <p:cNvPr id="8" name="objective-3">
            <a:extLst xmlns:a="http://schemas.openxmlformats.org/drawingml/2006/main">
              <a:ext uri="{FF2B5EF4-FFF2-40B4-BE49-F238E27FC236}">
                <a16:creationId xmlns:a16="http://schemas.microsoft.com/office/drawing/2014/main" id="{892FD4D5-6F5E-4D8A-838B-98FF95CC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953000" cy="1466850"/>
          </a:xfrm>
          <a:prstGeom xmlns:a="http://schemas.openxmlformats.org/drawingml/2006/main" prst="roundRect">
            <a:avLst>
              <a:gd name="adj" fmla="val 11688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03</a:t>
            </a:r>
          </a:p>
          <a:p xmlns:a="http://schemas.openxmlformats.org/drawingml/2006/main">
            <a:pPr algn="l">
              <a:def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说明深度网络如何自动学习特征，以及梯度下降和反向传播各自承担什么角色</a:t>
            </a:r>
          </a:p>
        </p:txBody>
      </p:sp>
    </p:spTree>
    <p:extLst>
      <p:ext uri="{BB962C8B-B14F-4D97-AF65-F5344CB8AC3E}">
        <p14:creationId xmlns:p14="http://schemas.microsoft.com/office/powerpoint/2010/main" val="1788787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rule">
            <a:extLst xmlns:a="http://schemas.openxmlformats.org/drawingml/2006/main">
              <a:ext uri="{FF2B5EF4-FFF2-40B4-BE49-F238E27FC236}">
                <a16:creationId xmlns:a16="http://schemas.microsoft.com/office/drawing/2014/main" id="{809F08FB-EB48-4764-B25A-B802E912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3-eyebrow">
            <a:extLst xmlns:a="http://schemas.openxmlformats.org/drawingml/2006/main">
              <a:ext uri="{FF2B5EF4-FFF2-40B4-BE49-F238E27FC236}">
                <a16:creationId xmlns:a16="http://schemas.microsoft.com/office/drawing/2014/main" id="{C4E6A21A-B861-4DA6-884E-30AD2431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1 / 7</a:t>
            </a:r>
          </a:p>
        </p:txBody>
      </p:sp>
      <p:sp>
        <p:nvSpPr>
          <p:cNvPr id="3" name="s3-title">
            <a:extLst xmlns:a="http://schemas.openxmlformats.org/drawingml/2006/main">
              <a:ext uri="{FF2B5EF4-FFF2-40B4-BE49-F238E27FC236}">
                <a16:creationId xmlns:a16="http://schemas.microsoft.com/office/drawing/2014/main" id="{BFDFF999-B35C-47C0-BE41-729035BE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机器学习用数据、模型与损失替代手写规则</a:t>
            </a:r>
          </a:p>
        </p:txBody>
      </p:sp>
      <p:sp>
        <p:nvSpPr>
          <p:cNvPr id="4" name="s3-footer">
            <a:extLst xmlns:a="http://schemas.openxmlformats.org/drawingml/2006/main">
              <a:ext uri="{FF2B5EF4-FFF2-40B4-BE49-F238E27FC236}">
                <a16:creationId xmlns:a16="http://schemas.microsoft.com/office/drawing/2014/main" id="{F57DD2F5-034E-47DD-BE33-F50C1448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3-identity">
            <a:extLst xmlns:a="http://schemas.openxmlformats.org/drawingml/2006/main">
              <a:ext uri="{FF2B5EF4-FFF2-40B4-BE49-F238E27FC236}">
                <a16:creationId xmlns:a16="http://schemas.microsoft.com/office/drawing/2014/main" id="{6745A473-A225-4EF2-8E62-CA0AA337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OV-003 · OV-003-S03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E32E102D-6662-4224-A213-62372B8C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996BED72-85C5-42EF-A524-0EDCFC08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机器学习：从数据中学习规律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EC6C0961-0F2D-4B7E-B8B9-FFD647C8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9219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传统程序的工作方式是"人定规则、机器执行"；机器学习颠倒了这个次序；先给机器大量"输入—答案"的样例；由算法从中归纳出一个映射函数 f；再用这个函数去处理没见过的新输入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AF3E3B79-9988-4700-A250-73518B98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label-1">
            <a:extLst xmlns:a="http://schemas.openxmlformats.org/drawingml/2006/main">
              <a:ext uri="{FF2B5EF4-FFF2-40B4-BE49-F238E27FC236}">
                <a16:creationId xmlns:a16="http://schemas.microsoft.com/office/drawing/2014/main" id="{F3743CB5-3843-4EB9-B935-796B7DCEC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监督学习的三个要素</a:t>
            </a:r>
          </a:p>
        </p:txBody>
      </p:sp>
      <p:sp>
        <p:nvSpPr>
          <p:cNvPr id="11" name="core-body-1">
            <a:extLst xmlns:a="http://schemas.openxmlformats.org/drawingml/2006/main">
              <a:ext uri="{FF2B5EF4-FFF2-40B4-BE49-F238E27FC236}">
                <a16:creationId xmlns:a16="http://schemas.microsoft.com/office/drawing/2014/main" id="{39017744-CBEE-4D63-8F34-A63F5462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要让"从例子中学习"真正跑起来，三样东西缺一不可</a:t>
            </a:r>
          </a:p>
        </p:txBody>
      </p:sp>
      <p:sp>
        <p:nvSpPr>
          <p:cNvPr id="12" name="s3-takeaway-rule">
            <a:extLst xmlns:a="http://schemas.openxmlformats.org/drawingml/2006/main">
              <a:ext uri="{FF2B5EF4-FFF2-40B4-BE49-F238E27FC236}">
                <a16:creationId xmlns:a16="http://schemas.microsoft.com/office/drawing/2014/main" id="{8D8BBEE1-80AF-4EEA-B918-688D3809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3" name="s3-takeaway">
            <a:extLst xmlns:a="http://schemas.openxmlformats.org/drawingml/2006/main">
              <a:ext uri="{FF2B5EF4-FFF2-40B4-BE49-F238E27FC236}">
                <a16:creationId xmlns:a16="http://schemas.microsoft.com/office/drawing/2014/main" id="{7A10A2A4-2481-40CB-A140-85CD04E6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机器学习用数据、模型与损失替代手写规则</a:t>
            </a:r>
          </a:p>
        </p:txBody>
      </p:sp>
    </p:spTree>
    <p:extLst>
      <p:ext uri="{BB962C8B-B14F-4D97-AF65-F5344CB8AC3E}">
        <p14:creationId xmlns:p14="http://schemas.microsoft.com/office/powerpoint/2010/main" val="2519951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rule">
            <a:extLst xmlns:a="http://schemas.openxmlformats.org/drawingml/2006/main">
              <a:ext uri="{FF2B5EF4-FFF2-40B4-BE49-F238E27FC236}">
                <a16:creationId xmlns:a16="http://schemas.microsoft.com/office/drawing/2014/main" id="{BD4EEB67-7158-4426-8CB0-C0515709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4-eyebrow">
            <a:extLst xmlns:a="http://schemas.openxmlformats.org/drawingml/2006/main">
              <a:ext uri="{FF2B5EF4-FFF2-40B4-BE49-F238E27FC236}">
                <a16:creationId xmlns:a16="http://schemas.microsoft.com/office/drawing/2014/main" id="{6CCF1760-38C3-4C21-BD5A-FCE3C20A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2 / 7</a:t>
            </a:r>
          </a:p>
        </p:txBody>
      </p:sp>
      <p:sp>
        <p:nvSpPr>
          <p:cNvPr id="3" name="s4-title">
            <a:extLst xmlns:a="http://schemas.openxmlformats.org/drawingml/2006/main">
              <a:ext uri="{FF2B5EF4-FFF2-40B4-BE49-F238E27FC236}">
                <a16:creationId xmlns:a16="http://schemas.microsoft.com/office/drawing/2014/main" id="{CEAAB200-43CE-4832-ACD4-55240CD4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数据划分检验泛化，线性回归提供基线</a:t>
            </a:r>
          </a:p>
        </p:txBody>
      </p:sp>
      <p:sp>
        <p:nvSpPr>
          <p:cNvPr id="4" name="s4-footer">
            <a:extLst xmlns:a="http://schemas.openxmlformats.org/drawingml/2006/main">
              <a:ext uri="{FF2B5EF4-FFF2-40B4-BE49-F238E27FC236}">
                <a16:creationId xmlns:a16="http://schemas.microsoft.com/office/drawing/2014/main" id="{935FD7A2-C434-4EF9-8691-26F35FF1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4-identity">
            <a:extLst xmlns:a="http://schemas.openxmlformats.org/drawingml/2006/main">
              <a:ext uri="{FF2B5EF4-FFF2-40B4-BE49-F238E27FC236}">
                <a16:creationId xmlns:a16="http://schemas.microsoft.com/office/drawing/2014/main" id="{4B761BA6-1E3D-4D9F-A98C-BDF29C2F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OV-003 · OV-003-S04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047C0E3B-8600-4FF4-98CF-A059BDDE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B9BABC87-B444-4D04-963D-FBF21132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训练、验证与测试：学得好还要用得好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AAD77BA2-8F2F-4FFC-9F62-59BE8390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一个关键追问随之而来；模型在见过的数据上表现好；能保证它遇到新数据还行吗；规范做法通常把数据分成三份；训练集 用来学习参数；验证集 用来选择模型、阈值和超参数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31C1AA8A-F17C-4108-B41B-6B5CC648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label-1">
            <a:extLst xmlns:a="http://schemas.openxmlformats.org/drawingml/2006/main">
              <a:ext uri="{FF2B5EF4-FFF2-40B4-BE49-F238E27FC236}">
                <a16:creationId xmlns:a16="http://schemas.microsoft.com/office/drawing/2014/main" id="{9455814E-02FB-4E2C-B39E-9D73E1B4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线性回归：最经典的入门模型</a:t>
            </a:r>
          </a:p>
        </p:txBody>
      </p:sp>
      <p:sp>
        <p:nvSpPr>
          <p:cNvPr id="11" name="core-body-1">
            <a:extLst xmlns:a="http://schemas.openxmlformats.org/drawingml/2006/main">
              <a:ext uri="{FF2B5EF4-FFF2-40B4-BE49-F238E27FC236}">
                <a16:creationId xmlns:a16="http://schemas.microsoft.com/office/drawing/2014/main" id="{D4EC7AC6-53FD-4C65-BE54-70C7C65D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501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最能把上面这套流程讲透的模型是 线性回归；19 世纪，英国学者高尔顿研究父母身高与子女身高的关系时发现；高个子父母的子女平均而言也高；但会向人群平均值靠拢——"回归"一词就源于这个现象</a:t>
            </a:r>
          </a:p>
        </p:txBody>
      </p:sp>
      <p:sp>
        <p:nvSpPr>
          <p:cNvPr id="12" name="s4-takeaway-rule">
            <a:extLst xmlns:a="http://schemas.openxmlformats.org/drawingml/2006/main">
              <a:ext uri="{FF2B5EF4-FFF2-40B4-BE49-F238E27FC236}">
                <a16:creationId xmlns:a16="http://schemas.microsoft.com/office/drawing/2014/main" id="{94E113CB-095C-481C-B96E-B08B35D3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3" name="s4-takeaway">
            <a:extLst xmlns:a="http://schemas.openxmlformats.org/drawingml/2006/main">
              <a:ext uri="{FF2B5EF4-FFF2-40B4-BE49-F238E27FC236}">
                <a16:creationId xmlns:a16="http://schemas.microsoft.com/office/drawing/2014/main" id="{DB835978-CBA8-404D-8D35-053646AF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数据划分检验泛化，线性回归提供基线</a:t>
            </a:r>
          </a:p>
        </p:txBody>
      </p:sp>
    </p:spTree>
    <p:extLst>
      <p:ext uri="{BB962C8B-B14F-4D97-AF65-F5344CB8AC3E}">
        <p14:creationId xmlns:p14="http://schemas.microsoft.com/office/powerpoint/2010/main" val="16125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rule">
            <a:extLst xmlns:a="http://schemas.openxmlformats.org/drawingml/2006/main">
              <a:ext uri="{FF2B5EF4-FFF2-40B4-BE49-F238E27FC236}">
                <a16:creationId xmlns:a16="http://schemas.microsoft.com/office/drawing/2014/main" id="{35498A14-80E3-4A5F-BCC5-025B3034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5-eyebrow">
            <a:extLst xmlns:a="http://schemas.openxmlformats.org/drawingml/2006/main">
              <a:ext uri="{FF2B5EF4-FFF2-40B4-BE49-F238E27FC236}">
                <a16:creationId xmlns:a16="http://schemas.microsoft.com/office/drawing/2014/main" id="{77BF5E07-BC99-4C62-8292-3A91081B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3 / 7</a:t>
            </a:r>
          </a:p>
        </p:txBody>
      </p:sp>
      <p:sp>
        <p:nvSpPr>
          <p:cNvPr id="3" name="s5-title">
            <a:extLst xmlns:a="http://schemas.openxmlformats.org/drawingml/2006/main">
              <a:ext uri="{FF2B5EF4-FFF2-40B4-BE49-F238E27FC236}">
                <a16:creationId xmlns:a16="http://schemas.microsoft.com/office/drawing/2014/main" id="{DC786F90-F96E-4DA3-B15A-FFF76595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任务类型决定分类或回归，经典模型各有偏置</a:t>
            </a:r>
          </a:p>
        </p:txBody>
      </p:sp>
      <p:sp>
        <p:nvSpPr>
          <p:cNvPr id="4" name="s5-footer">
            <a:extLst xmlns:a="http://schemas.openxmlformats.org/drawingml/2006/main">
              <a:ext uri="{FF2B5EF4-FFF2-40B4-BE49-F238E27FC236}">
                <a16:creationId xmlns:a16="http://schemas.microsoft.com/office/drawing/2014/main" id="{BE781C48-C3C9-437D-A5FD-660E8994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5-identity">
            <a:extLst xmlns:a="http://schemas.openxmlformats.org/drawingml/2006/main">
              <a:ext uri="{FF2B5EF4-FFF2-40B4-BE49-F238E27FC236}">
                <a16:creationId xmlns:a16="http://schemas.microsoft.com/office/drawing/2014/main" id="{04ABE1F9-630E-42F9-B3A3-AC5ADF8F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OV-003 · OV-003-S05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EA4C152C-11B7-442C-905B-0BC241B7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CDA48DF6-21E8-426C-B5A0-C5D97BD3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从回归到分类：逻辑斯蒂回归与决策树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4768CC97-393C-4708-ADF5-32E7D5C4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8233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回归输出连续数值，分类输出离散类别；监督学习的任务基本落在这两类里；想用普通线性回归直接做二分类会遇到一个根本问题；预测值没有被限制在 0 到 1 之间；也不对应适合二分类的似然模型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FA2A809D-96D5-48CD-8067-AAAA2C90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label-1">
            <a:extLst xmlns:a="http://schemas.openxmlformats.org/drawingml/2006/main">
              <a:ext uri="{FF2B5EF4-FFF2-40B4-BE49-F238E27FC236}">
                <a16:creationId xmlns:a16="http://schemas.microsoft.com/office/drawing/2014/main" id="{41144FCE-687B-4087-814F-2DE701A6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90800"/>
            <a:ext cx="50387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经典模型速览：LDA、AdaBoost 与支持向量机</a:t>
            </a:r>
          </a:p>
        </p:txBody>
      </p:sp>
      <p:sp>
        <p:nvSpPr>
          <p:cNvPr id="11" name="core-body-1">
            <a:extLst xmlns:a="http://schemas.openxmlformats.org/drawingml/2006/main">
              <a:ext uri="{FF2B5EF4-FFF2-40B4-BE49-F238E27FC236}">
                <a16:creationId xmlns:a16="http://schemas.microsoft.com/office/drawing/2014/main" id="{205FCC28-BC60-43CC-98F4-AEADF772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90900"/>
            <a:ext cx="5038725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监督学习几十年的发展攒下了一批各有绝活的经典模型，了解它们的核心思想，就能看懂大部分传统机器学习系统的设计逻辑</a:t>
            </a:r>
          </a:p>
        </p:txBody>
      </p:sp>
      <p:sp>
        <p:nvSpPr>
          <p:cNvPr id="12" name="s5-takeaway-rule">
            <a:extLst xmlns:a="http://schemas.openxmlformats.org/drawingml/2006/main">
              <a:ext uri="{FF2B5EF4-FFF2-40B4-BE49-F238E27FC236}">
                <a16:creationId xmlns:a16="http://schemas.microsoft.com/office/drawing/2014/main" id="{A8E4F8EE-4824-4848-9587-B642DA35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3" name="s5-takeaway">
            <a:extLst xmlns:a="http://schemas.openxmlformats.org/drawingml/2006/main">
              <a:ext uri="{FF2B5EF4-FFF2-40B4-BE49-F238E27FC236}">
                <a16:creationId xmlns:a16="http://schemas.microsoft.com/office/drawing/2014/main" id="{06B94E91-91BE-431D-96D8-469C1BC2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任务类型决定分类或回归，经典模型各有偏置</a:t>
            </a:r>
          </a:p>
        </p:txBody>
      </p:sp>
    </p:spTree>
    <p:extLst>
      <p:ext uri="{BB962C8B-B14F-4D97-AF65-F5344CB8AC3E}">
        <p14:creationId xmlns:p14="http://schemas.microsoft.com/office/powerpoint/2010/main" val="6142368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rule">
            <a:extLst xmlns:a="http://schemas.openxmlformats.org/drawingml/2006/main">
              <a:ext uri="{FF2B5EF4-FFF2-40B4-BE49-F238E27FC236}">
                <a16:creationId xmlns:a16="http://schemas.microsoft.com/office/drawing/2014/main" id="{3EF05959-5DE2-46D9-B3E2-C5CF0D1D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6-eyebrow">
            <a:extLst xmlns:a="http://schemas.openxmlformats.org/drawingml/2006/main">
              <a:ext uri="{FF2B5EF4-FFF2-40B4-BE49-F238E27FC236}">
                <a16:creationId xmlns:a16="http://schemas.microsoft.com/office/drawing/2014/main" id="{6218888F-DA62-4902-933B-827FB8F4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4 / 7</a:t>
            </a:r>
          </a:p>
        </p:txBody>
      </p:sp>
      <p:sp>
        <p:nvSpPr>
          <p:cNvPr id="3" name="s6-title">
            <a:extLst xmlns:a="http://schemas.openxmlformats.org/drawingml/2006/main">
              <a:ext uri="{FF2B5EF4-FFF2-40B4-BE49-F238E27FC236}">
                <a16:creationId xmlns:a16="http://schemas.microsoft.com/office/drawing/2014/main" id="{91FCED93-A8E8-432D-9975-24BA1B83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一个图像识别系统是"分段"组装的</a:t>
            </a:r>
          </a:p>
        </p:txBody>
      </p:sp>
      <p:sp>
        <p:nvSpPr>
          <p:cNvPr id="4" name="s6-footer">
            <a:extLst xmlns:a="http://schemas.openxmlformats.org/drawingml/2006/main">
              <a:ext uri="{FF2B5EF4-FFF2-40B4-BE49-F238E27FC236}">
                <a16:creationId xmlns:a16="http://schemas.microsoft.com/office/drawing/2014/main" id="{27A1AF9C-114F-4BD1-B11E-87441C71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6-identity">
            <a:extLst xmlns:a="http://schemas.openxmlformats.org/drawingml/2006/main">
              <a:ext uri="{FF2B5EF4-FFF2-40B4-BE49-F238E27FC236}">
                <a16:creationId xmlns:a16="http://schemas.microsoft.com/office/drawing/2014/main" id="{452A708D-032F-4B63-99EC-912EFE18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OV-003 · OV-003-S06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983F2207-C8E2-4A39-BFFA-33FF6B72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A490435A-73F4-4600-9F98-D5968388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深度学习：让机器自己学特征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C2D6BA37-FBF2-4538-A0D1-A35DA3EC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9303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在深度学习之前，一个图像识别系统是"分段"组装的；人工设计特征提取（边缘、纹理、视觉词典）；再接一个分类器，每一段单独调优；深度学习改成 端到端；原始像素直接进网络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E8273060-E17C-4559-9F4B-7FF081A49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E3AB8DE7-EF44-4C27-A8D5-47466B89D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网络内部发生的事情可以理解为 逐层抽象；低层单元常响应边缘和亮暗；中层组合出角点和部件；高层形成与对象类别相关的表示；这种层级处理受到生物视觉研究启发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77898684-2290-4D4C-B193-BB3422B2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72A114ED-5204-4828-B889-9AF387D2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网络的基本单元常被称为 人工神经元；1943 年 McCulloch 和 Pitts 受生物神经元"兴奋/抑制"机制启发提出 MCP 模型；对输入加权求和，再经过一个激活函数决定输出</a:t>
            </a:r>
          </a:p>
        </p:txBody>
      </p:sp>
      <p:sp>
        <p:nvSpPr>
          <p:cNvPr id="13" name="s6-takeaway-rule">
            <a:extLst xmlns:a="http://schemas.openxmlformats.org/drawingml/2006/main">
              <a:ext uri="{FF2B5EF4-FFF2-40B4-BE49-F238E27FC236}">
                <a16:creationId xmlns:a16="http://schemas.microsoft.com/office/drawing/2014/main" id="{A0ADFE05-2B19-412E-99A1-4F534779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4" name="s6-takeaway">
            <a:extLst xmlns:a="http://schemas.openxmlformats.org/drawingml/2006/main">
              <a:ext uri="{FF2B5EF4-FFF2-40B4-BE49-F238E27FC236}">
                <a16:creationId xmlns:a16="http://schemas.microsoft.com/office/drawing/2014/main" id="{7A55FA9C-6EDF-44FC-8133-AFB9184E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一个图像识别系统是"分段"组装的</a:t>
            </a:r>
          </a:p>
        </p:txBody>
      </p:sp>
    </p:spTree>
    <p:extLst>
      <p:ext uri="{BB962C8B-B14F-4D97-AF65-F5344CB8AC3E}">
        <p14:creationId xmlns:p14="http://schemas.microsoft.com/office/powerpoint/2010/main" val="1180035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7-rule">
            <a:extLst xmlns:a="http://schemas.openxmlformats.org/drawingml/2006/main">
              <a:ext uri="{FF2B5EF4-FFF2-40B4-BE49-F238E27FC236}">
                <a16:creationId xmlns:a16="http://schemas.microsoft.com/office/drawing/2014/main" id="{1751DCB9-B4DC-4C2B-A26A-16156867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7-eyebrow">
            <a:extLst xmlns:a="http://schemas.openxmlformats.org/drawingml/2006/main">
              <a:ext uri="{FF2B5EF4-FFF2-40B4-BE49-F238E27FC236}">
                <a16:creationId xmlns:a16="http://schemas.microsoft.com/office/drawing/2014/main" id="{5744B374-69A5-417B-95CA-20B32122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5 / 7</a:t>
            </a:r>
          </a:p>
        </p:txBody>
      </p:sp>
      <p:sp>
        <p:nvSpPr>
          <p:cNvPr id="3" name="s7-title">
            <a:extLst xmlns:a="http://schemas.openxmlformats.org/drawingml/2006/main">
              <a:ext uri="{FF2B5EF4-FFF2-40B4-BE49-F238E27FC236}">
                <a16:creationId xmlns:a16="http://schemas.microsoft.com/office/drawing/2014/main" id="{F904C52A-4B95-4EB3-8F1E-806CDB04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028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网络结构定了，剩下的问题是：这么多参数（权重）怎么定</a:t>
            </a:r>
          </a:p>
        </p:txBody>
      </p:sp>
      <p:sp>
        <p:nvSpPr>
          <p:cNvPr id="4" name="s7-footer">
            <a:extLst xmlns:a="http://schemas.openxmlformats.org/drawingml/2006/main">
              <a:ext uri="{FF2B5EF4-FFF2-40B4-BE49-F238E27FC236}">
                <a16:creationId xmlns:a16="http://schemas.microsoft.com/office/drawing/2014/main" id="{A2E2ED6C-324F-4877-9333-29CF4700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7-identity">
            <a:extLst xmlns:a="http://schemas.openxmlformats.org/drawingml/2006/main">
              <a:ext uri="{FF2B5EF4-FFF2-40B4-BE49-F238E27FC236}">
                <a16:creationId xmlns:a16="http://schemas.microsoft.com/office/drawing/2014/main" id="{1A282A69-9275-4BE4-96A8-772730FE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OV-003 · OV-003-S07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B6083B0E-1C0F-4F46-8F04-5FF10584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59B1A286-163D-4E6F-B1EC-6B7BCB99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神经网络怎么训练：梯度下降与误差反向传播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12EF17C2-A227-46B1-8DE5-DC2CC488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5261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网络结构定了，剩下的问题是：这么多参数（权重）怎么定？答案仍是监督学习那套流程——定义损失函数，然后优化它。回归任务常用均方误差；分类任务常用交叉熵，它度量预测概率分布与真实分布的差距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4045B7AE-55FB-4C2B-9689-C6D98B0D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B3D66DAF-FB86-49B8-A229-6A2DDD45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优化的主力算法是 梯度下降；把损失函数想象成参数空间里的一片山地；当前参数是站立的位置；梯度指向上坡最陡的方向；往梯度的反方向挪一小步；损失就下降最快，步子的大小叫学习率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658FACFC-4CDE-49F3-BC1E-16839DAF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AF8A1939-B90E-42C6-A12A-79DE0334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深层网络的参数分布在一层层结构里；输出端算出的误差如何反馈给前面每一层；误差反向传播 （BP）解决了这件事；利用链式求导法则，把输出误差从后向前逐层传递；算出每个参数对总误差该负多大"责任"</a:t>
            </a:r>
          </a:p>
        </p:txBody>
      </p:sp>
      <p:sp>
        <p:nvSpPr>
          <p:cNvPr id="13" name="s7-takeaway-rule">
            <a:extLst xmlns:a="http://schemas.openxmlformats.org/drawingml/2006/main">
              <a:ext uri="{FF2B5EF4-FFF2-40B4-BE49-F238E27FC236}">
                <a16:creationId xmlns:a16="http://schemas.microsoft.com/office/drawing/2014/main" id="{4AD89652-D1F5-49FE-B5D9-EF1707B1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4" name="s7-takeaway">
            <a:extLst xmlns:a="http://schemas.openxmlformats.org/drawingml/2006/main">
              <a:ext uri="{FF2B5EF4-FFF2-40B4-BE49-F238E27FC236}">
                <a16:creationId xmlns:a16="http://schemas.microsoft.com/office/drawing/2014/main" id="{82B15E5E-E127-432D-92F1-1EE7F82B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网络结构定了，剩下的问题是：这么多参数（权重）怎么定</a:t>
            </a:r>
          </a:p>
        </p:txBody>
      </p:sp>
    </p:spTree>
    <p:extLst>
      <p:ext uri="{BB962C8B-B14F-4D97-AF65-F5344CB8AC3E}">
        <p14:creationId xmlns:p14="http://schemas.microsoft.com/office/powerpoint/2010/main" val="6529592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8-rule">
            <a:extLst xmlns:a="http://schemas.openxmlformats.org/drawingml/2006/main">
              <a:ext uri="{FF2B5EF4-FFF2-40B4-BE49-F238E27FC236}">
                <a16:creationId xmlns:a16="http://schemas.microsoft.com/office/drawing/2014/main" id="{82E15746-E739-4A10-9A48-F74BD859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8-eyebrow">
            <a:extLst xmlns:a="http://schemas.openxmlformats.org/drawingml/2006/main">
              <a:ext uri="{FF2B5EF4-FFF2-40B4-BE49-F238E27FC236}">
                <a16:creationId xmlns:a16="http://schemas.microsoft.com/office/drawing/2014/main" id="{9B0FC43B-E9D2-4067-81F3-0EBA69AC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6 / 7</a:t>
            </a:r>
          </a:p>
        </p:txBody>
      </p:sp>
      <p:sp>
        <p:nvSpPr>
          <p:cNvPr id="3" name="s8-title">
            <a:extLst xmlns:a="http://schemas.openxmlformats.org/drawingml/2006/main">
              <a:ext uri="{FF2B5EF4-FFF2-40B4-BE49-F238E27FC236}">
                <a16:creationId xmlns:a16="http://schemas.microsoft.com/office/drawing/2014/main" id="{05E14907-C648-4353-AE51-B835A12B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把一张图像直接摊平接进全连接网络</a:t>
            </a:r>
          </a:p>
        </p:txBody>
      </p:sp>
      <p:sp>
        <p:nvSpPr>
          <p:cNvPr id="4" name="s8-footer">
            <a:extLst xmlns:a="http://schemas.openxmlformats.org/drawingml/2006/main">
              <a:ext uri="{FF2B5EF4-FFF2-40B4-BE49-F238E27FC236}">
                <a16:creationId xmlns:a16="http://schemas.microsoft.com/office/drawing/2014/main" id="{66A9B304-1C90-4BC7-86F4-B65AC6FE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8-identity">
            <a:extLst xmlns:a="http://schemas.openxmlformats.org/drawingml/2006/main">
              <a:ext uri="{FF2B5EF4-FFF2-40B4-BE49-F238E27FC236}">
                <a16:creationId xmlns:a16="http://schemas.microsoft.com/office/drawing/2014/main" id="{BB67CEDC-875B-4835-B554-D714FD67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OV-003 · OV-003-S08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8AE2565F-2D9B-4CA8-85C1-3D221D00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C89D3720-879D-4415-A695-78AB4833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卷积神经网络：看懂图像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2A74C634-01F6-4668-B42C-BBF1774B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3489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把一张图像直接摊平接进全连接网络；参数会瞬间爆炸，一张 1000×1000 的图片仅一层就要处理百万维输入；图像有两个可以利用的特点—— 模式是局部的 （一条边缘只占几个像素）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8D467459-BDE5-45F8-80C7-F29D438C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7D7E87F6-91FD-4FDD-A4F4-9ED0C42C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核心是 卷积操作，用一个小小的卷积核（如 3×3 的权重矩阵）在图像上滑动；每停一处就与覆盖区域做加权求和；输出一张特征图，同一个卷积核的参数在整张图上 共享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4902E244-3B67-47C2-B5B1-A9E15D8C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BD9ADAFD-3183-44BF-869E-125EF5CE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不同的卷积核提取不同特征：有的对竖直边缘敏感，有的响应特定纹理——这与视觉神经细胞的"特征选择性"相互呼应。多个卷积核并行工作，就得到多张互补的特征图</a:t>
            </a:r>
          </a:p>
        </p:txBody>
      </p:sp>
      <p:sp>
        <p:nvSpPr>
          <p:cNvPr id="13" name="s8-takeaway-rule">
            <a:extLst xmlns:a="http://schemas.openxmlformats.org/drawingml/2006/main">
              <a:ext uri="{FF2B5EF4-FFF2-40B4-BE49-F238E27FC236}">
                <a16:creationId xmlns:a16="http://schemas.microsoft.com/office/drawing/2014/main" id="{3D6D4D35-BB20-44D4-950F-0F22E7C2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4" name="s8-takeaway">
            <a:extLst xmlns:a="http://schemas.openxmlformats.org/drawingml/2006/main">
              <a:ext uri="{FF2B5EF4-FFF2-40B4-BE49-F238E27FC236}">
                <a16:creationId xmlns:a16="http://schemas.microsoft.com/office/drawing/2014/main" id="{4450F270-D785-4BED-B60B-ACF5BA85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把一张图像直接摊平接进全连接网络</a:t>
            </a:r>
          </a:p>
        </p:txBody>
      </p:sp>
    </p:spTree>
    <p:extLst>
      <p:ext uri="{BB962C8B-B14F-4D97-AF65-F5344CB8AC3E}">
        <p14:creationId xmlns:p14="http://schemas.microsoft.com/office/powerpoint/2010/main" val="2207684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9-rule">
            <a:extLst xmlns:a="http://schemas.openxmlformats.org/drawingml/2006/main">
              <a:ext uri="{FF2B5EF4-FFF2-40B4-BE49-F238E27FC236}">
                <a16:creationId xmlns:a16="http://schemas.microsoft.com/office/drawing/2014/main" id="{1E70630D-776D-4096-A100-2922587A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9-eyebrow">
            <a:extLst xmlns:a="http://schemas.openxmlformats.org/drawingml/2006/main">
              <a:ext uri="{FF2B5EF4-FFF2-40B4-BE49-F238E27FC236}">
                <a16:creationId xmlns:a16="http://schemas.microsoft.com/office/drawing/2014/main" id="{75A886DF-2AC6-4563-9CF7-D7857B5D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核心论点 7 / 7</a:t>
            </a:r>
          </a:p>
        </p:txBody>
      </p:sp>
      <p:sp>
        <p:nvSpPr>
          <p:cNvPr id="3" name="s9-title">
            <a:extLst xmlns:a="http://schemas.openxmlformats.org/drawingml/2006/main">
              <a:ext uri="{FF2B5EF4-FFF2-40B4-BE49-F238E27FC236}">
                <a16:creationId xmlns:a16="http://schemas.microsoft.com/office/drawing/2014/main" id="{1441D758-DDFF-4D79-9DAA-BD3D5E96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028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图像一次性输入就好，语言、语音、时序数据却有前后依赖</a:t>
            </a:r>
          </a:p>
        </p:txBody>
      </p:sp>
      <p:sp>
        <p:nvSpPr>
          <p:cNvPr id="4" name="s9-footer">
            <a:extLst xmlns:a="http://schemas.openxmlformats.org/drawingml/2006/main">
              <a:ext uri="{FF2B5EF4-FFF2-40B4-BE49-F238E27FC236}">
                <a16:creationId xmlns:a16="http://schemas.microsoft.com/office/drawing/2014/main" id="{00225490-9EC0-4AD6-ADF7-12D086CE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9-identity">
            <a:extLst xmlns:a="http://schemas.openxmlformats.org/drawingml/2006/main">
              <a:ext uri="{FF2B5EF4-FFF2-40B4-BE49-F238E27FC236}">
                <a16:creationId xmlns:a16="http://schemas.microsoft.com/office/drawing/2014/main" id="{77C8888F-7AE7-4137-84C5-C12A5B5A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OV-003 · OV-003-S09</a:t>
            </a:r>
          </a:p>
        </p:txBody>
      </p:sp>
      <p:sp>
        <p:nvSpPr>
          <p:cNvPr id="6" name="core-no-0">
            <a:extLst xmlns:a="http://schemas.openxmlformats.org/drawingml/2006/main">
              <a:ext uri="{FF2B5EF4-FFF2-40B4-BE49-F238E27FC236}">
                <a16:creationId xmlns:a16="http://schemas.microsoft.com/office/drawing/2014/main" id="{824C31EE-E0DF-4529-98A3-83047F09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7" name="core-label-0">
            <a:extLst xmlns:a="http://schemas.openxmlformats.org/drawingml/2006/main">
              <a:ext uri="{FF2B5EF4-FFF2-40B4-BE49-F238E27FC236}">
                <a16:creationId xmlns:a16="http://schemas.microsoft.com/office/drawing/2014/main" id="{72F9549B-F884-40C0-8F57-A5AEC1BB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90800"/>
            <a:ext cx="3263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序列与生成：循环网络、生成对抗与词向量</a:t>
            </a:r>
          </a:p>
        </p:txBody>
      </p:sp>
      <p:sp>
        <p:nvSpPr>
          <p:cNvPr id="8" name="core-body-0">
            <a:extLst xmlns:a="http://schemas.openxmlformats.org/drawingml/2006/main">
              <a:ext uri="{FF2B5EF4-FFF2-40B4-BE49-F238E27FC236}">
                <a16:creationId xmlns:a16="http://schemas.microsoft.com/office/drawing/2014/main" id="{69D5C747-AA94-48E1-9814-44C04273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3263900" cy="1714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0239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图像一次性输入就好；语言、语音、时序数据却有前后依赖；循环神经网络 （RNN）为此在网络里加了一条"记忆"通路；每读一个词，把当前输入和上一步的隐状态一起加工；隐状态就像一路携带的笔记</a:t>
            </a:r>
          </a:p>
        </p:txBody>
      </p:sp>
      <p:sp>
        <p:nvSpPr>
          <p:cNvPr id="9" name="core-no-1">
            <a:extLst xmlns:a="http://schemas.openxmlformats.org/drawingml/2006/main">
              <a:ext uri="{FF2B5EF4-FFF2-40B4-BE49-F238E27FC236}">
                <a16:creationId xmlns:a16="http://schemas.microsoft.com/office/drawing/2014/main" id="{501C5B65-EFBA-48AF-A7E6-A46BC5E7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core-body-1">
            <a:extLst xmlns:a="http://schemas.openxmlformats.org/drawingml/2006/main">
              <a:ext uri="{FF2B5EF4-FFF2-40B4-BE49-F238E27FC236}">
                <a16:creationId xmlns:a16="http://schemas.microsoft.com/office/drawing/2014/main" id="{84D247A4-C12F-4FCD-9C02-309AC6169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序列一长，RNN 的梯度在层层回传中容易消失；早先的信息就被"忘掉"；长短时记忆网络 （LSTM）用输入门、遗忘门、输出门管理一个内部记忆单元；学会该记什么、该忘什么；明显改善了长序列建模</a:t>
            </a:r>
          </a:p>
        </p:txBody>
      </p:sp>
      <p:sp>
        <p:nvSpPr>
          <p:cNvPr id="11" name="core-no-2">
            <a:extLst xmlns:a="http://schemas.openxmlformats.org/drawingml/2006/main">
              <a:ext uri="{FF2B5EF4-FFF2-40B4-BE49-F238E27FC236}">
                <a16:creationId xmlns:a16="http://schemas.microsoft.com/office/drawing/2014/main" id="{E030EDDB-80EF-4B2D-B237-0FD5D819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0764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8A5A0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2" name="core-body-2">
            <a:extLst xmlns:a="http://schemas.openxmlformats.org/drawingml/2006/main">
              <a:ext uri="{FF2B5EF4-FFF2-40B4-BE49-F238E27FC236}">
                <a16:creationId xmlns:a16="http://schemas.microsoft.com/office/drawing/2014/main" id="{9C0A7D2F-071F-4D97-BAE4-000643EA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590800"/>
            <a:ext cx="3263900" cy="25146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65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前面讲的模型都在做判断；深度生成学习 反过来让网络学会"创造"；生成对抗网络 （GAN）的设计精彩之处在于左右互搏；生成器负责伪造数据；判别器负责鉴别真伪；两者在博弈中共同进步</a:t>
            </a:r>
          </a:p>
        </p:txBody>
      </p:sp>
      <p:sp>
        <p:nvSpPr>
          <p:cNvPr id="13" name="s9-takeaway-rule">
            <a:extLst xmlns:a="http://schemas.openxmlformats.org/drawingml/2006/main">
              <a:ext uri="{FF2B5EF4-FFF2-40B4-BE49-F238E27FC236}">
                <a16:creationId xmlns:a16="http://schemas.microsoft.com/office/drawing/2014/main" id="{1239C7E9-1EF2-4984-8E7B-725262E1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4" name="s9-takeaway">
            <a:extLst xmlns:a="http://schemas.openxmlformats.org/drawingml/2006/main">
              <a:ext uri="{FF2B5EF4-FFF2-40B4-BE49-F238E27FC236}">
                <a16:creationId xmlns:a16="http://schemas.microsoft.com/office/drawing/2014/main" id="{ABF631BC-CDC1-414A-B99D-7BD04383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图像一次性输入就好，语言、语音、时序数据却有前后依赖</a:t>
            </a:r>
          </a:p>
        </p:txBody>
      </p:sp>
    </p:spTree>
    <p:extLst>
      <p:ext uri="{BB962C8B-B14F-4D97-AF65-F5344CB8AC3E}">
        <p14:creationId xmlns:p14="http://schemas.microsoft.com/office/powerpoint/2010/main" val="12366929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0-rule">
            <a:extLst xmlns:a="http://schemas.openxmlformats.org/drawingml/2006/main">
              <a:ext uri="{FF2B5EF4-FFF2-40B4-BE49-F238E27FC236}">
                <a16:creationId xmlns:a16="http://schemas.microsoft.com/office/drawing/2014/main" id="{66731149-D2F9-4A7C-B316-B81D43D9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10-eyebrow">
            <a:extLst xmlns:a="http://schemas.openxmlformats.org/drawingml/2006/main">
              <a:ext uri="{FF2B5EF4-FFF2-40B4-BE49-F238E27FC236}">
                <a16:creationId xmlns:a16="http://schemas.microsoft.com/office/drawing/2014/main" id="{A6383310-E14C-4954-874C-5BBD912F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案例与边界 1 / 2</a:t>
            </a:r>
          </a:p>
        </p:txBody>
      </p:sp>
      <p:sp>
        <p:nvSpPr>
          <p:cNvPr id="3" name="s10-title">
            <a:extLst xmlns:a="http://schemas.openxmlformats.org/drawingml/2006/main">
              <a:ext uri="{FF2B5EF4-FFF2-40B4-BE49-F238E27FC236}">
                <a16:creationId xmlns:a16="http://schemas.microsoft.com/office/drawing/2014/main" id="{D9BF1102-2309-4D11-8CCC-8FF7A265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分类与回归都要为高代价错误保留人工判断</a:t>
            </a:r>
          </a:p>
        </p:txBody>
      </p:sp>
      <p:sp>
        <p:nvSpPr>
          <p:cNvPr id="4" name="s10-footer">
            <a:extLst xmlns:a="http://schemas.openxmlformats.org/drawingml/2006/main">
              <a:ext uri="{FF2B5EF4-FFF2-40B4-BE49-F238E27FC236}">
                <a16:creationId xmlns:a16="http://schemas.microsoft.com/office/drawing/2014/main" id="{709A5B9A-7999-4F51-BDB0-76A4F936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0-identity">
            <a:extLst xmlns:a="http://schemas.openxmlformats.org/drawingml/2006/main">
              <a:ext uri="{FF2B5EF4-FFF2-40B4-BE49-F238E27FC236}">
                <a16:creationId xmlns:a16="http://schemas.microsoft.com/office/drawing/2014/main" id="{94ED7DC0-D3B9-49B7-B5C2-E4A18F55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OV-003 · OV-003-S10</a:t>
            </a:r>
          </a:p>
        </p:txBody>
      </p:sp>
      <p:sp>
        <p:nvSpPr>
          <p:cNvPr id="6" name="case-label-0">
            <a:extLst xmlns:a="http://schemas.openxmlformats.org/drawingml/2006/main">
              <a:ext uri="{FF2B5EF4-FFF2-40B4-BE49-F238E27FC236}">
                <a16:creationId xmlns:a16="http://schemas.microsoft.com/office/drawing/2014/main" id="{A045E74E-B2C5-42A2-B0F7-EAB4376E6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案例 1：垃圾邮件过滤</a:t>
            </a:r>
          </a:p>
        </p:txBody>
      </p:sp>
      <p:sp>
        <p:nvSpPr>
          <p:cNvPr id="7" name="case-0-row-0">
            <a:extLst xmlns:a="http://schemas.openxmlformats.org/drawingml/2006/main">
              <a:ext uri="{FF2B5EF4-FFF2-40B4-BE49-F238E27FC236}">
                <a16:creationId xmlns:a16="http://schemas.microsoft.com/office/drawing/2014/main" id="{378828D1-1560-44C1-8E4B-AB428360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8577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5415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场景</a:t>
            </a:r>
          </a:p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邮件系统需要自动判断新到的一封邮件是否为垃圾邮件</a:t>
            </a:r>
          </a:p>
        </p:txBody>
      </p:sp>
      <p:sp>
        <p:nvSpPr>
          <p:cNvPr id="8" name="case-0-row-1">
            <a:extLst xmlns:a="http://schemas.openxmlformats.org/drawingml/2006/main">
              <a:ext uri="{FF2B5EF4-FFF2-40B4-BE49-F238E27FC236}">
                <a16:creationId xmlns:a16="http://schemas.microsoft.com/office/drawing/2014/main" id="{A674FBEE-3F30-4C54-9A44-553126CD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8577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6361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方法</a:t>
            </a:r>
          </a:p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用大量已标注邮件训练分类模型（逻辑斯蒂回归即可作基线），并留出测试数据检验对新邮件的识别率</a:t>
            </a:r>
          </a:p>
        </p:txBody>
      </p:sp>
      <p:sp>
        <p:nvSpPr>
          <p:cNvPr id="9" name="case-0-row-2">
            <a:extLst xmlns:a="http://schemas.openxmlformats.org/drawingml/2006/main">
              <a:ext uri="{FF2B5EF4-FFF2-40B4-BE49-F238E27FC236}">
                <a16:creationId xmlns:a16="http://schemas.microsoft.com/office/drawing/2014/main" id="{86088E53-204E-4ECB-BEB6-16C78D0DF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8577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828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</a:t>
            </a:r>
          </a:p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误拦正常邮件代价高，需要保留申诉通道，并定期用新样本重新训练</a:t>
            </a:r>
          </a:p>
        </p:txBody>
      </p:sp>
      <p:sp>
        <p:nvSpPr>
          <p:cNvPr id="10" name="case-label-1">
            <a:extLst xmlns:a="http://schemas.openxmlformats.org/drawingml/2006/main">
              <a:ext uri="{FF2B5EF4-FFF2-40B4-BE49-F238E27FC236}">
                <a16:creationId xmlns:a16="http://schemas.microsoft.com/office/drawing/2014/main" id="{A93FBEAD-81FB-4DE0-A840-E7813A7B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81200"/>
            <a:ext cx="485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案例 2：森林火灾面积预测</a:t>
            </a:r>
          </a:p>
        </p:txBody>
      </p:sp>
      <p:sp>
        <p:nvSpPr>
          <p:cNvPr id="11" name="case-1-row-0">
            <a:extLst xmlns:a="http://schemas.openxmlformats.org/drawingml/2006/main">
              <a:ext uri="{FF2B5EF4-FFF2-40B4-BE49-F238E27FC236}">
                <a16:creationId xmlns:a16="http://schemas.microsoft.com/office/drawing/2014/main" id="{F41E2DBE-61CF-4DB8-897C-773FA2BB4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48577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098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场景</a:t>
            </a:r>
          </a:p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林业部门想根据气象条件预估火灾可能波及的面积，提前调配力量</a:t>
            </a:r>
          </a:p>
        </p:txBody>
      </p:sp>
      <p:sp>
        <p:nvSpPr>
          <p:cNvPr id="12" name="case-1-row-1">
            <a:extLst xmlns:a="http://schemas.openxmlformats.org/drawingml/2006/main">
              <a:ext uri="{FF2B5EF4-FFF2-40B4-BE49-F238E27FC236}">
                <a16:creationId xmlns:a16="http://schemas.microsoft.com/office/drawing/2014/main" id="{1F24C317-7DF1-4C2E-A77B-B51F8A5B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0450"/>
            <a:ext cx="48577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6361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方法</a:t>
            </a:r>
          </a:p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用历史记录建立回归模型：先从"气温 → 过火面积"的一元线性回归入手，再加入风力等因素扩展为多元回归</a:t>
            </a:r>
          </a:p>
        </p:txBody>
      </p:sp>
      <p:sp>
        <p:nvSpPr>
          <p:cNvPr id="13" name="case-1-row-2">
            <a:extLst xmlns:a="http://schemas.openxmlformats.org/drawingml/2006/main">
              <a:ext uri="{FF2B5EF4-FFF2-40B4-BE49-F238E27FC236}">
                <a16:creationId xmlns:a16="http://schemas.microsoft.com/office/drawing/2014/main" id="{95B9BE56-5234-4DEE-BF6E-EE301624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33900"/>
            <a:ext cx="48577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6908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</a:t>
            </a:r>
          </a:p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极端天气超出历史数据分布时模型不可靠，需人工研判并把新数据补入训练集</a:t>
            </a:r>
          </a:p>
        </p:txBody>
      </p:sp>
      <p:sp>
        <p:nvSpPr>
          <p:cNvPr id="14" name="s10-takeaway-rule">
            <a:extLst xmlns:a="http://schemas.openxmlformats.org/drawingml/2006/main">
              <a:ext uri="{FF2B5EF4-FFF2-40B4-BE49-F238E27FC236}">
                <a16:creationId xmlns:a16="http://schemas.microsoft.com/office/drawing/2014/main" id="{791DE177-DC11-4911-8582-C65032E1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5" name="s10-takeaway">
            <a:extLst xmlns:a="http://schemas.openxmlformats.org/drawingml/2006/main">
              <a:ext uri="{FF2B5EF4-FFF2-40B4-BE49-F238E27FC236}">
                <a16:creationId xmlns:a16="http://schemas.microsoft.com/office/drawing/2014/main" id="{7ED04938-6822-4FDC-BC4F-AF6BECCD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分类与回归都要为高代价错误保留人工判断</a:t>
            </a:r>
          </a:p>
        </p:txBody>
      </p:sp>
    </p:spTree>
    <p:extLst>
      <p:ext uri="{BB962C8B-B14F-4D97-AF65-F5344CB8AC3E}">
        <p14:creationId xmlns:p14="http://schemas.microsoft.com/office/powerpoint/2010/main" val="2226838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1-rule">
            <a:extLst xmlns:a="http://schemas.openxmlformats.org/drawingml/2006/main">
              <a:ext uri="{FF2B5EF4-FFF2-40B4-BE49-F238E27FC236}">
                <a16:creationId xmlns:a16="http://schemas.microsoft.com/office/drawing/2014/main" id="{4A209369-0659-4781-BE31-097E3CAA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11-eyebrow">
            <a:extLst xmlns:a="http://schemas.openxmlformats.org/drawingml/2006/main">
              <a:ext uri="{FF2B5EF4-FFF2-40B4-BE49-F238E27FC236}">
                <a16:creationId xmlns:a16="http://schemas.microsoft.com/office/drawing/2014/main" id="{162F3B8B-043E-4937-B87B-05C3ED1A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案例与边界 2 / 2</a:t>
            </a:r>
          </a:p>
        </p:txBody>
      </p:sp>
      <p:sp>
        <p:nvSpPr>
          <p:cNvPr id="3" name="s11-title">
            <a:extLst xmlns:a="http://schemas.openxmlformats.org/drawingml/2006/main">
              <a:ext uri="{FF2B5EF4-FFF2-40B4-BE49-F238E27FC236}">
                <a16:creationId xmlns:a16="http://schemas.microsoft.com/office/drawing/2014/main" id="{F5275C2F-87DE-44EE-A68B-0B1B83BD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低置信度识别必须转人工，避免金额差错</a:t>
            </a:r>
          </a:p>
        </p:txBody>
      </p:sp>
      <p:sp>
        <p:nvSpPr>
          <p:cNvPr id="4" name="s11-footer">
            <a:extLst xmlns:a="http://schemas.openxmlformats.org/drawingml/2006/main">
              <a:ext uri="{FF2B5EF4-FFF2-40B4-BE49-F238E27FC236}">
                <a16:creationId xmlns:a16="http://schemas.microsoft.com/office/drawing/2014/main" id="{3C0126CA-D9C8-4FED-843E-7E7B46E4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1-identity">
            <a:extLst xmlns:a="http://schemas.openxmlformats.org/drawingml/2006/main">
              <a:ext uri="{FF2B5EF4-FFF2-40B4-BE49-F238E27FC236}">
                <a16:creationId xmlns:a16="http://schemas.microsoft.com/office/drawing/2014/main" id="{01773B70-FC00-4F6F-A517-F56E9630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OV-003 · OV-003-S11</a:t>
            </a:r>
          </a:p>
        </p:txBody>
      </p:sp>
      <p:sp>
        <p:nvSpPr>
          <p:cNvPr id="6" name="case-title">
            <a:extLst xmlns:a="http://schemas.openxmlformats.org/drawingml/2006/main">
              <a:ext uri="{FF2B5EF4-FFF2-40B4-BE49-F238E27FC236}">
                <a16:creationId xmlns:a16="http://schemas.microsoft.com/office/drawing/2014/main" id="{F0959CC6-AD8E-424C-8F6A-1C464F87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724150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123B67"/>
          </a:solidFill>
          <a:ln xmlns:a="http://schemas.openxmlformats.org/drawingml/2006/main" w="0">
            <a:solidFill>
              <a:srgbClr val="123B67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案例 3：手写数字识别</a:t>
            </a:r>
          </a:p>
        </p:txBody>
      </p:sp>
      <p:sp>
        <p:nvSpPr>
          <p:cNvPr id="7" name="case-row-0">
            <a:extLst xmlns:a="http://schemas.openxmlformats.org/drawingml/2006/main">
              <a:ext uri="{FF2B5EF4-FFF2-40B4-BE49-F238E27FC236}">
                <a16:creationId xmlns:a16="http://schemas.microsoft.com/office/drawing/2014/main" id="{823967E4-A67C-49EC-B520-AAFBA4F9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383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场景｜银行票据和邮政编码上的手写数字需要机器自动读取</a:t>
            </a:r>
          </a:p>
        </p:txBody>
      </p:sp>
      <p:sp>
        <p:nvSpPr>
          <p:cNvPr id="8" name="case-row-1">
            <a:extLst xmlns:a="http://schemas.openxmlformats.org/drawingml/2006/main">
              <a:ext uri="{FF2B5EF4-FFF2-40B4-BE49-F238E27FC236}">
                <a16:creationId xmlns:a16="http://schemas.microsoft.com/office/drawing/2014/main" id="{10A3ADA6-957F-42E7-AA27-50C66206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670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问题｜每个人笔迹不同，人工设计的特征始终覆盖不了书写变化</a:t>
            </a:r>
          </a:p>
        </p:txBody>
      </p:sp>
      <p:sp>
        <p:nvSpPr>
          <p:cNvPr id="9" name="case-row-2">
            <a:extLst xmlns:a="http://schemas.openxmlformats.org/drawingml/2006/main">
              <a:ext uri="{FF2B5EF4-FFF2-40B4-BE49-F238E27FC236}">
                <a16:creationId xmlns:a16="http://schemas.microsoft.com/office/drawing/2014/main" id="{3C9A07BB-A6EE-4B60-B7D2-C8D8B496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6341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方法｜用卷积神经网络端到端训练：卷积层自动学习笔画特征，池化层压缩冗余，全连接层输出 0 到 9 的概率</a:t>
            </a:r>
          </a:p>
        </p:txBody>
      </p:sp>
      <p:sp>
        <p:nvSpPr>
          <p:cNvPr id="10" name="case-row-3">
            <a:extLst xmlns:a="http://schemas.openxmlformats.org/drawingml/2006/main">
              <a:ext uri="{FF2B5EF4-FFF2-40B4-BE49-F238E27FC236}">
                <a16:creationId xmlns:a16="http://schemas.microsoft.com/office/drawing/2014/main" id="{68975DE1-7C6E-4298-B724-78114CF7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2430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6489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结果｜经典的 LeNet 网络早在上世纪九十年代就投入美国支票识别系统，是深度学习最早的规模化应用之一</a:t>
            </a:r>
          </a:p>
        </p:txBody>
      </p:sp>
      <p:sp>
        <p:nvSpPr>
          <p:cNvPr id="11" name="case-row-4">
            <a:extLst xmlns:a="http://schemas.openxmlformats.org/drawingml/2006/main">
              <a:ext uri="{FF2B5EF4-FFF2-40B4-BE49-F238E27FC236}">
                <a16:creationId xmlns:a16="http://schemas.microsoft.com/office/drawing/2014/main" id="{F42EB87F-E131-41B7-B8A9-FAAB4B69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6534150" cy="514350"/>
          </a:xfrm>
          <a:prstGeom xmlns:a="http://schemas.openxmlformats.org/drawingml/2006/main" prst="roundRect">
            <a:avLst>
              <a:gd name="adj" fmla="val 24074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7295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边界｜低置信度样本转人工录入，识别错误会直接造成金额差错，阈值设置要保守</a:t>
            </a:r>
          </a:p>
        </p:txBody>
      </p:sp>
      <p:sp>
        <p:nvSpPr>
          <p:cNvPr id="12" name="s11-takeaway-rule">
            <a:extLst xmlns:a="http://schemas.openxmlformats.org/drawingml/2006/main">
              <a:ext uri="{FF2B5EF4-FFF2-40B4-BE49-F238E27FC236}">
                <a16:creationId xmlns:a16="http://schemas.microsoft.com/office/drawing/2014/main" id="{68690E42-CD1F-4BF7-B43D-0574917D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3" name="s11-takeaway">
            <a:extLst xmlns:a="http://schemas.openxmlformats.org/drawingml/2006/main">
              <a:ext uri="{FF2B5EF4-FFF2-40B4-BE49-F238E27FC236}">
                <a16:creationId xmlns:a16="http://schemas.microsoft.com/office/drawing/2014/main" id="{C470F0F3-AF97-41FD-9F39-B1951676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673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低置信度识别必须转人工，避免金额差错</a:t>
            </a:r>
          </a:p>
        </p:txBody>
      </p:sp>
    </p:spTree>
    <p:extLst>
      <p:ext uri="{BB962C8B-B14F-4D97-AF65-F5344CB8AC3E}">
        <p14:creationId xmlns:p14="http://schemas.microsoft.com/office/powerpoint/2010/main" val="10299698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2-rule">
            <a:extLst xmlns:a="http://schemas.openxmlformats.org/drawingml/2006/main">
              <a:ext uri="{FF2B5EF4-FFF2-40B4-BE49-F238E27FC236}">
                <a16:creationId xmlns:a16="http://schemas.microsoft.com/office/drawing/2014/main" id="{D145F63C-FC71-4331-B08E-69A1320C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12-eyebrow">
            <a:extLst xmlns:a="http://schemas.openxmlformats.org/drawingml/2006/main">
              <a:ext uri="{FF2B5EF4-FFF2-40B4-BE49-F238E27FC236}">
                <a16:creationId xmlns:a16="http://schemas.microsoft.com/office/drawing/2014/main" id="{E1555771-5741-4DAB-A5CF-BA77FE9A1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动手实践</a:t>
            </a:r>
          </a:p>
        </p:txBody>
      </p:sp>
      <p:sp>
        <p:nvSpPr>
          <p:cNvPr id="3" name="s12-title">
            <a:extLst xmlns:a="http://schemas.openxmlformats.org/drawingml/2006/main">
              <a:ext uri="{FF2B5EF4-FFF2-40B4-BE49-F238E27FC236}">
                <a16:creationId xmlns:a16="http://schemas.microsoft.com/office/drawing/2014/main" id="{148435BD-AB44-45D7-9426-6D13737A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机器学习与深度学习：一次可验收练习</a:t>
            </a:r>
          </a:p>
        </p:txBody>
      </p:sp>
      <p:sp>
        <p:nvSpPr>
          <p:cNvPr id="4" name="s12-footer">
            <a:extLst xmlns:a="http://schemas.openxmlformats.org/drawingml/2006/main">
              <a:ext uri="{FF2B5EF4-FFF2-40B4-BE49-F238E27FC236}">
                <a16:creationId xmlns:a16="http://schemas.microsoft.com/office/drawing/2014/main" id="{38695893-09E2-4CF6-A941-D5FF7F64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2-identity">
            <a:extLst xmlns:a="http://schemas.openxmlformats.org/drawingml/2006/main">
              <a:ext uri="{FF2B5EF4-FFF2-40B4-BE49-F238E27FC236}">
                <a16:creationId xmlns:a16="http://schemas.microsoft.com/office/drawing/2014/main" id="{7F67BBDF-7666-4E95-AE70-5FA64D3B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OV-003 · OV-003-S12</a:t>
            </a:r>
          </a:p>
        </p:txBody>
      </p:sp>
      <p:sp>
        <p:nvSpPr>
          <p:cNvPr id="6" name="practice-circle-0">
            <a:extLst xmlns:a="http://schemas.openxmlformats.org/drawingml/2006/main">
              <a:ext uri="{FF2B5EF4-FFF2-40B4-BE49-F238E27FC236}">
                <a16:creationId xmlns:a16="http://schemas.microsoft.com/office/drawing/2014/main" id="{48EE1544-9C31-45A7-9DC3-2C05D481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practice-number-0">
            <a:extLst xmlns:a="http://schemas.openxmlformats.org/drawingml/2006/main">
              <a:ext uri="{FF2B5EF4-FFF2-40B4-BE49-F238E27FC236}">
                <a16:creationId xmlns:a16="http://schemas.microsoft.com/office/drawing/2014/main" id="{B0CF24DF-8FEC-4C6A-B2AE-A4F1F343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practice-item-0">
            <a:extLst xmlns:a="http://schemas.openxmlformats.org/drawingml/2006/main">
              <a:ext uri="{FF2B5EF4-FFF2-40B4-BE49-F238E27FC236}">
                <a16:creationId xmlns:a16="http://schemas.microsoft.com/office/drawing/2014/main" id="{02A6C3D3-B9DC-406D-973E-C9D41142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93921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用表格软件对 10 组"气温—用电量"数据画散点图并添加线性趋势线；读出斜率和截距，说明它们各自的现实含义；把你工作中的一个真实问题改写成监督学习任务</a:t>
            </a:r>
          </a:p>
        </p:txBody>
      </p:sp>
      <p:sp>
        <p:nvSpPr>
          <p:cNvPr id="9" name="practice-connector-0">
            <a:extLst xmlns:a="http://schemas.openxmlformats.org/drawingml/2006/main">
              <a:ext uri="{FF2B5EF4-FFF2-40B4-BE49-F238E27FC236}">
                <a16:creationId xmlns:a16="http://schemas.microsoft.com/office/drawing/2014/main" id="{9DBF33AD-1CCF-4C9A-BFB5-A26DE0DD6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0" name="practice-circle-1">
            <a:extLst xmlns:a="http://schemas.openxmlformats.org/drawingml/2006/main">
              <a:ext uri="{FF2B5EF4-FFF2-40B4-BE49-F238E27FC236}">
                <a16:creationId xmlns:a16="http://schemas.microsoft.com/office/drawing/2014/main" id="{01E34527-1082-435E-8F91-4C0C303F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practice-number-1">
            <a:extLst xmlns:a="http://schemas.openxmlformats.org/drawingml/2006/main">
              <a:ext uri="{FF2B5EF4-FFF2-40B4-BE49-F238E27FC236}">
                <a16:creationId xmlns:a16="http://schemas.microsoft.com/office/drawing/2014/main" id="{E6EA2892-AE49-44AE-90F2-056E59E9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practice-item-1">
            <a:extLst xmlns:a="http://schemas.openxmlformats.org/drawingml/2006/main">
              <a:ext uri="{FF2B5EF4-FFF2-40B4-BE49-F238E27FC236}">
                <a16:creationId xmlns:a16="http://schemas.microsoft.com/office/drawing/2014/main" id="{5FAF3CD4-8719-4638-B376-4407C127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打开浏览器版 Teachable Machine；训练一个两类图像分类器；先每类只给 5 张样本；再增加到 30 张；对比测试效果，体会数据量与过拟合的关系</a:t>
            </a:r>
          </a:p>
        </p:txBody>
      </p:sp>
      <p:sp>
        <p:nvSpPr>
          <p:cNvPr id="13" name="practice-connector-1">
            <a:extLst xmlns:a="http://schemas.openxmlformats.org/drawingml/2006/main">
              <a:ext uri="{FF2B5EF4-FFF2-40B4-BE49-F238E27FC236}">
                <a16:creationId xmlns:a16="http://schemas.microsoft.com/office/drawing/2014/main" id="{ADF20C3B-FC7B-4E86-A6B0-1551ABA2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4" name="practice-circle-2">
            <a:extLst xmlns:a="http://schemas.openxmlformats.org/drawingml/2006/main">
              <a:ext uri="{FF2B5EF4-FFF2-40B4-BE49-F238E27FC236}">
                <a16:creationId xmlns:a16="http://schemas.microsoft.com/office/drawing/2014/main" id="{3BF2EC43-63B6-45DF-890E-0BAA1596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practice-number-2">
            <a:extLst xmlns:a="http://schemas.openxmlformats.org/drawingml/2006/main">
              <a:ext uri="{FF2B5EF4-FFF2-40B4-BE49-F238E27FC236}">
                <a16:creationId xmlns:a16="http://schemas.microsoft.com/office/drawing/2014/main" id="{97F993F8-CBFA-42D5-8D2D-2BD723BB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practice-item-2">
            <a:extLst xmlns:a="http://schemas.openxmlformats.org/drawingml/2006/main">
              <a:ext uri="{FF2B5EF4-FFF2-40B4-BE49-F238E27FC236}">
                <a16:creationId xmlns:a16="http://schemas.microsoft.com/office/drawing/2014/main" id="{8F0B7553-7950-42FB-A7AB-E2EAD0FE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完成后保留你的数据、步骤和结论，下一节讨论 AI 能力边界时会用它们做对照材料</a:t>
            </a:r>
          </a:p>
        </p:txBody>
      </p:sp>
    </p:spTree>
    <p:extLst>
      <p:ext uri="{BB962C8B-B14F-4D97-AF65-F5344CB8AC3E}">
        <p14:creationId xmlns:p14="http://schemas.microsoft.com/office/powerpoint/2010/main" val="5003282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3-rule">
            <a:extLst xmlns:a="http://schemas.openxmlformats.org/drawingml/2006/main">
              <a:ext uri="{FF2B5EF4-FFF2-40B4-BE49-F238E27FC236}">
                <a16:creationId xmlns:a16="http://schemas.microsoft.com/office/drawing/2014/main" id="{F8BEA273-80ED-4D42-8A0B-13345BC4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13-eyebrow">
            <a:extLst xmlns:a="http://schemas.openxmlformats.org/drawingml/2006/main">
              <a:ext uri="{FF2B5EF4-FFF2-40B4-BE49-F238E27FC236}">
                <a16:creationId xmlns:a16="http://schemas.microsoft.com/office/drawing/2014/main" id="{22BF3525-FF8E-41E8-9F5D-64B1D32F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课后复盘</a:t>
            </a:r>
          </a:p>
        </p:txBody>
      </p:sp>
      <p:sp>
        <p:nvSpPr>
          <p:cNvPr id="3" name="s13-title">
            <a:extLst xmlns:a="http://schemas.openxmlformats.org/drawingml/2006/main">
              <a:ext uri="{FF2B5EF4-FFF2-40B4-BE49-F238E27FC236}">
                <a16:creationId xmlns:a16="http://schemas.microsoft.com/office/drawing/2014/main" id="{98FAC361-335F-4808-B010-90E33934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机器学习与深度学习：判断时先抓住三点</a:t>
            </a:r>
          </a:p>
        </p:txBody>
      </p:sp>
      <p:sp>
        <p:nvSpPr>
          <p:cNvPr id="4" name="s13-footer">
            <a:extLst xmlns:a="http://schemas.openxmlformats.org/drawingml/2006/main">
              <a:ext uri="{FF2B5EF4-FFF2-40B4-BE49-F238E27FC236}">
                <a16:creationId xmlns:a16="http://schemas.microsoft.com/office/drawing/2014/main" id="{E7529982-C941-43F7-9C54-95E89AE8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3-identity">
            <a:extLst xmlns:a="http://schemas.openxmlformats.org/drawingml/2006/main">
              <a:ext uri="{FF2B5EF4-FFF2-40B4-BE49-F238E27FC236}">
                <a16:creationId xmlns:a16="http://schemas.microsoft.com/office/drawing/2014/main" id="{FEC18911-FE26-4854-B3B8-76B5038D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OV-003 · OV-003-S13</a:t>
            </a:r>
          </a:p>
        </p:txBody>
      </p:sp>
      <p:sp>
        <p:nvSpPr>
          <p:cNvPr id="6" name="recap-circle-0">
            <a:extLst xmlns:a="http://schemas.openxmlformats.org/drawingml/2006/main">
              <a:ext uri="{FF2B5EF4-FFF2-40B4-BE49-F238E27FC236}">
                <a16:creationId xmlns:a16="http://schemas.microsoft.com/office/drawing/2014/main" id="{5DA3FAFE-F73D-4E24-9639-02B06B96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8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recap-number-0">
            <a:extLst xmlns:a="http://schemas.openxmlformats.org/drawingml/2006/main">
              <a:ext uri="{FF2B5EF4-FFF2-40B4-BE49-F238E27FC236}">
                <a16:creationId xmlns:a16="http://schemas.microsoft.com/office/drawing/2014/main" id="{6C810821-49C1-43E9-9475-19481DFC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recap-item-0">
            <a:extLst xmlns:a="http://schemas.openxmlformats.org/drawingml/2006/main">
              <a:ext uri="{FF2B5EF4-FFF2-40B4-BE49-F238E27FC236}">
                <a16:creationId xmlns:a16="http://schemas.microsoft.com/office/drawing/2014/main" id="{177C7E18-1D4D-4CBB-B848-391AE101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机器学习用数据、模型与损失替代手写规则</a:t>
            </a:r>
          </a:p>
        </p:txBody>
      </p:sp>
      <p:sp>
        <p:nvSpPr>
          <p:cNvPr id="9" name="recap-connector-0">
            <a:extLst xmlns:a="http://schemas.openxmlformats.org/drawingml/2006/main">
              <a:ext uri="{FF2B5EF4-FFF2-40B4-BE49-F238E27FC236}">
                <a16:creationId xmlns:a16="http://schemas.microsoft.com/office/drawing/2014/main" id="{A980F610-C750-40BE-ABD0-8185D206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0" name="recap-circle-1">
            <a:extLst xmlns:a="http://schemas.openxmlformats.org/drawingml/2006/main">
              <a:ext uri="{FF2B5EF4-FFF2-40B4-BE49-F238E27FC236}">
                <a16:creationId xmlns:a16="http://schemas.microsoft.com/office/drawing/2014/main" id="{0A0297A8-8FBF-4308-9D80-467C2C22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3B67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1" name="recap-number-1">
            <a:extLst xmlns:a="http://schemas.openxmlformats.org/drawingml/2006/main">
              <a:ext uri="{FF2B5EF4-FFF2-40B4-BE49-F238E27FC236}">
                <a16:creationId xmlns:a16="http://schemas.microsoft.com/office/drawing/2014/main" id="{57C3758C-1216-4AD0-86E7-2EB88641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2" name="recap-item-1">
            <a:extLst xmlns:a="http://schemas.openxmlformats.org/drawingml/2006/main">
              <a:ext uri="{FF2B5EF4-FFF2-40B4-BE49-F238E27FC236}">
                <a16:creationId xmlns:a16="http://schemas.microsoft.com/office/drawing/2014/main" id="{21665785-ED25-4210-89FC-DC2D3618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5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一个图像识别系统是"分段"组装的</a:t>
            </a:r>
          </a:p>
        </p:txBody>
      </p:sp>
      <p:sp>
        <p:nvSpPr>
          <p:cNvPr id="13" name="recap-connector-1">
            <a:extLst xmlns:a="http://schemas.openxmlformats.org/drawingml/2006/main">
              <a:ext uri="{FF2B5EF4-FFF2-40B4-BE49-F238E27FC236}">
                <a16:creationId xmlns:a16="http://schemas.microsoft.com/office/drawing/2014/main" id="{DE5C4FD0-4A2D-4D18-971B-04C7ABB2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9850" y="234315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5A00"/>
            </a:solidFill>
            <a:prstDash val="solid"/>
          </a:ln>
        </p:spPr>
      </p:sp>
      <p:sp>
        <p:nvSpPr>
          <p:cNvPr id="14" name="recap-circle-2">
            <a:extLst xmlns:a="http://schemas.openxmlformats.org/drawingml/2006/main">
              <a:ext uri="{FF2B5EF4-FFF2-40B4-BE49-F238E27FC236}">
                <a16:creationId xmlns:a16="http://schemas.microsoft.com/office/drawing/2014/main" id="{38E2F0C8-C250-4CC7-943C-B16E8757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550" y="20383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5A0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recap-number-2">
            <a:extLst xmlns:a="http://schemas.openxmlformats.org/drawingml/2006/main">
              <a:ext uri="{FF2B5EF4-FFF2-40B4-BE49-F238E27FC236}">
                <a16:creationId xmlns:a16="http://schemas.microsoft.com/office/drawing/2014/main" id="{FD211958-14CE-4CFC-9961-364AC549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950" y="218122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6" name="recap-item-2">
            <a:extLst xmlns:a="http://schemas.openxmlformats.org/drawingml/2006/main">
              <a:ext uri="{FF2B5EF4-FFF2-40B4-BE49-F238E27FC236}">
                <a16:creationId xmlns:a16="http://schemas.microsoft.com/office/drawing/2014/main" id="{29C6B77E-BBB3-4611-AC0D-B2B93490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952750"/>
            <a:ext cx="3035300" cy="20955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19050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图像一次性输入就好，语言、语音、时序数据却有前后依赖</a:t>
            </a:r>
          </a:p>
        </p:txBody>
      </p:sp>
    </p:spTree>
    <p:extLst>
      <p:ext uri="{BB962C8B-B14F-4D97-AF65-F5344CB8AC3E}">
        <p14:creationId xmlns:p14="http://schemas.microsoft.com/office/powerpoint/2010/main" val="3415499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14-rule">
            <a:extLst xmlns:a="http://schemas.openxmlformats.org/drawingml/2006/main">
              <a:ext uri="{FF2B5EF4-FFF2-40B4-BE49-F238E27FC236}">
                <a16:creationId xmlns:a16="http://schemas.microsoft.com/office/drawing/2014/main" id="{3ACE1727-656F-416D-95E6-F16C2D6E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2" name="s14-eyebrow">
            <a:extLst xmlns:a="http://schemas.openxmlformats.org/drawingml/2006/main">
              <a:ext uri="{FF2B5EF4-FFF2-40B4-BE49-F238E27FC236}">
                <a16:creationId xmlns:a16="http://schemas.microsoft.com/office/drawing/2014/main" id="{DD15896E-DE17-4417-83FE-91D7CC34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来源与延伸</a:t>
            </a:r>
          </a:p>
        </p:txBody>
      </p:sp>
      <p:sp>
        <p:nvSpPr>
          <p:cNvPr id="3" name="s14-title">
            <a:extLst xmlns:a="http://schemas.openxmlformats.org/drawingml/2006/main">
              <a:ext uri="{FF2B5EF4-FFF2-40B4-BE49-F238E27FC236}">
                <a16:creationId xmlns:a16="http://schemas.microsoft.com/office/drawing/2014/main" id="{B9EE618C-1CE6-4E04-92AF-C81F83BF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B1F3A"/>
                </a:solidFill>
                <a:latin typeface="PingFang SC"/>
                <a:ea typeface="PingFang SC"/>
                <a:cs typeface="PingFang SC"/>
              </a:rPr>
              <a:t>机器学习与深度学习：依据、边界与延伸</a:t>
            </a:r>
          </a:p>
        </p:txBody>
      </p:sp>
      <p:sp>
        <p:nvSpPr>
          <p:cNvPr id="4" name="s14-footer">
            <a:extLst xmlns:a="http://schemas.openxmlformats.org/drawingml/2006/main">
              <a:ext uri="{FF2B5EF4-FFF2-40B4-BE49-F238E27FC236}">
                <a16:creationId xmlns:a16="http://schemas.microsoft.com/office/drawing/2014/main" id="{D5DFDE48-9DD3-4E37-8DA2-ED8539E4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81725"/>
            <a:ext cx="1009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s14-identity">
            <a:extLst xmlns:a="http://schemas.openxmlformats.org/drawingml/2006/main">
              <a:ext uri="{FF2B5EF4-FFF2-40B4-BE49-F238E27FC236}">
                <a16:creationId xmlns:a16="http://schemas.microsoft.com/office/drawing/2014/main" id="{9EC099BA-757C-49E3-90C6-240425B9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38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OV-003 · OV-003-S14</a:t>
            </a:r>
          </a:p>
        </p:txBody>
      </p:sp>
      <p:sp>
        <p:nvSpPr>
          <p:cNvPr id="6" name="source-0">
            <a:extLst xmlns:a="http://schemas.openxmlformats.org/drawingml/2006/main">
              <a:ext uri="{FF2B5EF4-FFF2-40B4-BE49-F238E27FC236}">
                <a16:creationId xmlns:a16="http://schemas.microsoft.com/office/drawing/2014/main" id="{53834092-B89B-4D6D-9B24-05F641D2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8A5A00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411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01  MIT 6.S191 Introduction to Deep Learning：麻省理工的深度学习入门课，讲座、幻灯片和实验齐全，适合系统深入神经网络与生成模型</a:t>
            </a:r>
          </a:p>
        </p:txBody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921CB756-7762-4C00-AF2F-9A4D7506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02  3Blue1Brown：神经网络系列视频：用可视化动画直观呈现神经网络、梯度下降与反向传播的运行机制</a:t>
            </a:r>
          </a:p>
        </p:txBody>
      </p:sp>
      <p:sp>
        <p:nvSpPr>
          <p:cNvPr id="8" name="source-2">
            <a:extLst xmlns:a="http://schemas.openxmlformats.org/drawingml/2006/main">
              <a:ext uri="{FF2B5EF4-FFF2-40B4-BE49-F238E27FC236}">
                <a16:creationId xmlns:a16="http://schemas.microsoft.com/office/drawing/2014/main" id="{A5B8534C-9E93-4265-9460-142F0519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103632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  <p:txBody>
          <a:bodyPr xmlns:a="http://schemas.openxmlformats.org/drawingml/2006/main" lIns="152400" tIns="133350" rIns="152400" bIns="133350" anchor="ctr">
            <a:normAutofit fontScale="8737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0233F"/>
                </a:solidFill>
                <a:latin typeface="PingFang SC"/>
                <a:ea typeface="PingFang SC"/>
                <a:cs typeface="PingFang SC"/>
              </a:rPr>
              <a:t>03  吴恩达 Machine Learning Specialization：面向零基础的机器学习系统课程，配有编程练习</a:t>
            </a:r>
          </a:p>
        </p:txBody>
      </p:sp>
      <p:sp>
        <p:nvSpPr>
          <p:cNvPr id="9" name="s14-takeaway-rule">
            <a:extLst xmlns:a="http://schemas.openxmlformats.org/drawingml/2006/main">
              <a:ext uri="{FF2B5EF4-FFF2-40B4-BE49-F238E27FC236}">
                <a16:creationId xmlns:a16="http://schemas.microsoft.com/office/drawing/2014/main" id="{1C6986AE-DD4A-4C2F-85B6-781C6311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76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33A"/>
          </a:solidFill>
          <a:ln xmlns:a="http://schemas.openxmlformats.org/drawingml/2006/main" w="0">
            <a:solidFill>
              <a:srgbClr val="D6A33A"/>
            </a:solidFill>
            <a:prstDash val="solid"/>
          </a:ln>
        </p:spPr>
      </p:sp>
      <p:sp>
        <p:nvSpPr>
          <p:cNvPr id="10" name="s14-takeaway">
            <a:extLst xmlns:a="http://schemas.openxmlformats.org/drawingml/2006/main">
              <a:ext uri="{FF2B5EF4-FFF2-40B4-BE49-F238E27FC236}">
                <a16:creationId xmlns:a16="http://schemas.microsoft.com/office/drawing/2014/main" id="{60A932A5-01CD-485B-8D28-FB1C80E7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23B67"/>
                </a:solidFill>
                <a:latin typeface="PingFang SC"/>
                <a:ea typeface="PingFang SC"/>
                <a:cs typeface="PingFang SC"/>
              </a:rPr>
              <a:t>公开幻灯片只使用课程原创文字与原生图形；完整论证、链接和事实边界请见本节讲义。</a:t>
            </a:r>
          </a:p>
        </p:txBody>
      </p:sp>
    </p:spTree>
    <p:extLst>
      <p:ext uri="{BB962C8B-B14F-4D97-AF65-F5344CB8AC3E}">
        <p14:creationId xmlns:p14="http://schemas.microsoft.com/office/powerpoint/2010/main" val="11630660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2026-07-11T16:55:22.4370000Z</dcterms:created>
  <dcterms:modified xsi:type="dcterms:W3CDTF">2026-07-11T16:55:22.4370000Z</dcterms:modified>
</coreProperties>
</file>