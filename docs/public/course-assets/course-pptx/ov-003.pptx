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a20563103a4d07" /><Relationship Type="http://schemas.openxmlformats.org/officeDocument/2006/relationships/extended-properties" Target="/docProps/app.xml" Id="Rdca6209833b34ebc" /><Relationship Type="http://schemas.openxmlformats.org/officeDocument/2006/relationships/officeDocument" Target="/ppt/presentation.xml" Id="R9b1d0ac56bc942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af52acc7e014065"/>
  </p:sldMasterIdLst>
  <p:notesMasterIdLst>
    <p:notesMasterId xmlns:r="http://schemas.openxmlformats.org/officeDocument/2006/relationships" r:id="R1e11b808ce434130"/>
  </p:notesMasterIdLst>
  <p:sldIdLst>
    <p:sldId xmlns:r="http://schemas.openxmlformats.org/officeDocument/2006/relationships" id="256" r:id="R4035bff8998d4439"/>
    <p:sldId xmlns:r="http://schemas.openxmlformats.org/officeDocument/2006/relationships" id="257" r:id="R017a136352114849"/>
    <p:sldId xmlns:r="http://schemas.openxmlformats.org/officeDocument/2006/relationships" id="258" r:id="R458188a5bdd448f0"/>
    <p:sldId xmlns:r="http://schemas.openxmlformats.org/officeDocument/2006/relationships" id="259" r:id="Re77ad543c6604dbe"/>
    <p:sldId xmlns:r="http://schemas.openxmlformats.org/officeDocument/2006/relationships" id="260" r:id="R8a1ece3a26b64517"/>
    <p:sldId xmlns:r="http://schemas.openxmlformats.org/officeDocument/2006/relationships" id="261" r:id="R61f43325d09b44c4"/>
    <p:sldId xmlns:r="http://schemas.openxmlformats.org/officeDocument/2006/relationships" id="262" r:id="R520634986fbf4868"/>
    <p:sldId xmlns:r="http://schemas.openxmlformats.org/officeDocument/2006/relationships" id="263" r:id="R13fe9e05c74c412e"/>
    <p:sldId xmlns:r="http://schemas.openxmlformats.org/officeDocument/2006/relationships" id="264" r:id="Rc24d36eff0bc46df"/>
    <p:sldId xmlns:r="http://schemas.openxmlformats.org/officeDocument/2006/relationships" id="265" r:id="R2afc3c05385248d5"/>
    <p:sldId xmlns:r="http://schemas.openxmlformats.org/officeDocument/2006/relationships" id="266" r:id="R4e89ec05e0824d41"/>
    <p:sldId xmlns:r="http://schemas.openxmlformats.org/officeDocument/2006/relationships" id="267" r:id="R4e0a9d8eeab54b0d"/>
    <p:sldId xmlns:r="http://schemas.openxmlformats.org/officeDocument/2006/relationships" id="268" r:id="Ra48350bf5d1d4d38"/>
    <p:sldId xmlns:r="http://schemas.openxmlformats.org/officeDocument/2006/relationships" id="269" r:id="Rdd2d10d04d114a0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d54d9841f84a74" /><Relationship Type="http://schemas.openxmlformats.org/officeDocument/2006/relationships/slideMaster" Target="/ppt/slideMasters/slideMaster1.xml" Id="R9af52acc7e014065" /><Relationship Type="http://schemas.openxmlformats.org/officeDocument/2006/relationships/notesMaster" Target="/ppt/notesMasters/notesMaster1.xml" Id="R1e11b808ce434130" /><Relationship Type="http://schemas.openxmlformats.org/officeDocument/2006/relationships/presProps" Target="/ppt/presProps.xml" Id="R7ef2b7b0802940b2" /><Relationship Type="http://schemas.openxmlformats.org/officeDocument/2006/relationships/tableStyles" Target="/ppt/tableStyles.xml" Id="R34447f5c7b584746" /><Relationship Type="http://schemas.openxmlformats.org/officeDocument/2006/relationships/slide" Target="/ppt/slides/slide1.xml" Id="R4035bff8998d4439" /><Relationship Type="http://schemas.openxmlformats.org/officeDocument/2006/relationships/slide" Target="/ppt/slides/slide2.xml" Id="R017a136352114849" /><Relationship Type="http://schemas.openxmlformats.org/officeDocument/2006/relationships/slide" Target="/ppt/slides/slide3.xml" Id="R458188a5bdd448f0" /><Relationship Type="http://schemas.openxmlformats.org/officeDocument/2006/relationships/slide" Target="/ppt/slides/slide4.xml" Id="Re77ad543c6604dbe" /><Relationship Type="http://schemas.openxmlformats.org/officeDocument/2006/relationships/slide" Target="/ppt/slides/slide5.xml" Id="R8a1ece3a26b64517" /><Relationship Type="http://schemas.openxmlformats.org/officeDocument/2006/relationships/slide" Target="/ppt/slides/slide6.xml" Id="R61f43325d09b44c4" /><Relationship Type="http://schemas.openxmlformats.org/officeDocument/2006/relationships/slide" Target="/ppt/slides/slide7.xml" Id="R520634986fbf4868" /><Relationship Type="http://schemas.openxmlformats.org/officeDocument/2006/relationships/slide" Target="/ppt/slides/slide8.xml" Id="R13fe9e05c74c412e" /><Relationship Type="http://schemas.openxmlformats.org/officeDocument/2006/relationships/slide" Target="/ppt/slides/slide9.xml" Id="Rc24d36eff0bc46df" /><Relationship Type="http://schemas.openxmlformats.org/officeDocument/2006/relationships/slide" Target="/ppt/slides/slide10.xml" Id="R2afc3c05385248d5" /><Relationship Type="http://schemas.openxmlformats.org/officeDocument/2006/relationships/slide" Target="/ppt/slides/slide11.xml" Id="R4e89ec05e0824d41" /><Relationship Type="http://schemas.openxmlformats.org/officeDocument/2006/relationships/slide" Target="/ppt/slides/slide12.xml" Id="R4e0a9d8eeab54b0d" /><Relationship Type="http://schemas.openxmlformats.org/officeDocument/2006/relationships/slide" Target="/ppt/slides/slide13.xml" Id="Ra48350bf5d1d4d38" /><Relationship Type="http://schemas.openxmlformats.org/officeDocument/2006/relationships/slide" Target="/ppt/slides/slide14.xml" Id="Rdd2d10d04d114a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2896da36cbe4e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c108b2418974786" /><Relationship Type="http://schemas.openxmlformats.org/officeDocument/2006/relationships/notesMaster" Target="/ppt/notesMasters/notesMaster1.xml" Id="R8e1a93e7ded846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f715d7756964664" /><Relationship Type="http://schemas.openxmlformats.org/officeDocument/2006/relationships/notesMaster" Target="/ppt/notesMasters/notesMaster1.xml" Id="R5204ad59aa44495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6923b1172e54091" /><Relationship Type="http://schemas.openxmlformats.org/officeDocument/2006/relationships/notesMaster" Target="/ppt/notesMasters/notesMaster1.xml" Id="R65b47532fd4143f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9a05fb01ce64d9a" /><Relationship Type="http://schemas.openxmlformats.org/officeDocument/2006/relationships/notesMaster" Target="/ppt/notesMasters/notesMaster1.xml" Id="R0d4f3f5bcafe40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9e8c18396ff43e1" /><Relationship Type="http://schemas.openxmlformats.org/officeDocument/2006/relationships/notesMaster" Target="/ppt/notesMasters/notesMaster1.xml" Id="R0c1c75503d4a439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0e4cdbcf10c4b36" /><Relationship Type="http://schemas.openxmlformats.org/officeDocument/2006/relationships/notesMaster" Target="/ppt/notesMasters/notesMaster1.xml" Id="R685803fdc038409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7cb8766f01248ac" /><Relationship Type="http://schemas.openxmlformats.org/officeDocument/2006/relationships/notesMaster" Target="/ppt/notesMasters/notesMaster1.xml" Id="R3ea86eed904a48d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67d08cc73104cf4" /><Relationship Type="http://schemas.openxmlformats.org/officeDocument/2006/relationships/notesMaster" Target="/ppt/notesMasters/notesMaster1.xml" Id="R1559edf56989432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2a801719170437c" /><Relationship Type="http://schemas.openxmlformats.org/officeDocument/2006/relationships/notesMaster" Target="/ppt/notesMasters/notesMaster1.xml" Id="Rfe2a7323fed1469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a8e82db7b7241c0" /><Relationship Type="http://schemas.openxmlformats.org/officeDocument/2006/relationships/notesMaster" Target="/ppt/notesMasters/notesMaster1.xml" Id="Re7a7eaea61e2488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84795e077b0425e" /><Relationship Type="http://schemas.openxmlformats.org/officeDocument/2006/relationships/notesMaster" Target="/ppt/notesMasters/notesMaster1.xml" Id="Rc17cc9cd9b0b40b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b69cfa8ad934a79" /><Relationship Type="http://schemas.openxmlformats.org/officeDocument/2006/relationships/notesMaster" Target="/ppt/notesMasters/notesMaster1.xml" Id="R8eadaa4596264df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9c20e2cf95c4c1c" /><Relationship Type="http://schemas.openxmlformats.org/officeDocument/2006/relationships/notesMaster" Target="/ppt/notesMasters/notesMaster1.xml" Id="Rdf45da3c03b4405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a3a28996b334b02" /><Relationship Type="http://schemas.openxmlformats.org/officeDocument/2006/relationships/notesMaster" Target="/ppt/notesMasters/notesMaster1.xml" Id="Re9a1200b70674a6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0380755cda4fe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edbd38097a54fff" /><Relationship Type="http://schemas.openxmlformats.org/officeDocument/2006/relationships/slideLayout" Target="/ppt/slideLayouts/slideLayout1.xml" Id="Racf3a83fbc104d9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f3a83fbc104d9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3009901df94440" /><Relationship Type="http://schemas.openxmlformats.org/officeDocument/2006/relationships/notesSlide" Target="/ppt/notesSlides/notesSlide1.xml" Id="Rdef164931e5645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c4ba28969b402d" /><Relationship Type="http://schemas.openxmlformats.org/officeDocument/2006/relationships/notesSlide" Target="/ppt/notesSlides/notesSlide2.xml" Id="Rb36426b37650445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a0b734d82d424e" /><Relationship Type="http://schemas.openxmlformats.org/officeDocument/2006/relationships/notesSlide" Target="/ppt/notesSlides/notesSlide3.xml" Id="R8bfb90581fa64f8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39d376d30143a8" /><Relationship Type="http://schemas.openxmlformats.org/officeDocument/2006/relationships/notesSlide" Target="/ppt/notesSlides/notesSlide4.xml" Id="Rc0dba8a4aa274d3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85c605d849412b" /><Relationship Type="http://schemas.openxmlformats.org/officeDocument/2006/relationships/notesSlide" Target="/ppt/notesSlides/notesSlide5.xml" Id="Rc6dafb30aea344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84de9ae8794347" /><Relationship Type="http://schemas.openxmlformats.org/officeDocument/2006/relationships/notesSlide" Target="/ppt/notesSlides/notesSlide6.xml" Id="Ra03f56c4b2e4448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53ed3b820e4c5c" /><Relationship Type="http://schemas.openxmlformats.org/officeDocument/2006/relationships/notesSlide" Target="/ppt/notesSlides/notesSlide7.xml" Id="Re05c788674d644d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3d89a9ffa54e2b" /><Relationship Type="http://schemas.openxmlformats.org/officeDocument/2006/relationships/notesSlide" Target="/ppt/notesSlides/notesSlide8.xml" Id="R269361b2d3504cb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7e9f039d2b4115" /><Relationship Type="http://schemas.openxmlformats.org/officeDocument/2006/relationships/notesSlide" Target="/ppt/notesSlides/notesSlide9.xml" Id="R10aa3018708e479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6b0fb6f49c481d" /><Relationship Type="http://schemas.openxmlformats.org/officeDocument/2006/relationships/notesSlide" Target="/ppt/notesSlides/notesSlide10.xml" Id="R669479f77f07415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24fdd8d76a45a4" /><Relationship Type="http://schemas.openxmlformats.org/officeDocument/2006/relationships/notesSlide" Target="/ppt/notesSlides/notesSlide11.xml" Id="R64abd531b92e410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ebcc046f9b47c9" /><Relationship Type="http://schemas.openxmlformats.org/officeDocument/2006/relationships/notesSlide" Target="/ppt/notesSlides/notesSlide12.xml" Id="R1543731bd75d41b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3dd8b38f9e4f99" /><Relationship Type="http://schemas.openxmlformats.org/officeDocument/2006/relationships/notesSlide" Target="/ppt/notesSlides/notesSlide13.xml" Id="R648177cc092143c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7f515825fb4517" /><Relationship Type="http://schemas.openxmlformats.org/officeDocument/2006/relationships/notesSlide" Target="/ppt/notesSlides/notesSlide14.xml" Id="R7bb2a04f5b0f4fc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AF4DDE63-B688-4E19-BE0E-28C086996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866A12D4-1435-4D6B-9BD1-0F0982DD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8B6D5A03-F3E2-4D17-9463-AAC1850A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397B8FC0-7D8A-4276-BDCA-B88BBA42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5CB7B8EF-64E0-4F8C-A30F-B60FCB8C0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F7B0B637-8231-4951-82DC-F16F57E19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09DB734D-B6CB-425E-950C-AD9B7267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第 1 章 · 人工智能概述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362D85A1-4150-424F-A5BD-3CFA188B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机器学习与深度学习基础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639011B9-54CA-4342-8680-64826600F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从数据、模型、损失和泛化进入神经网络、反向传播与卷积网络。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1BFEF3D0-C1AE-4E89-966D-309A314E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相册应用自动把家人的照片归到一组，输入法预测你要打的下一个词，地图软件预估到达时间——这些功能背后没有一条条人工写死的判断规则。支撑它们的是同一件事…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5E20B057-1CD5-43FC-9703-B212DD2B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692D3477-2B2E-4023-A319-0804AEE9A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OV-003 · OV-003-S01</a:t>
            </a:r>
          </a:p>
        </p:txBody>
      </p:sp>
    </p:spTree>
    <p:extLst>
      <p:ext uri="{BB962C8B-B14F-4D97-AF65-F5344CB8AC3E}">
        <p14:creationId xmlns:p14="http://schemas.microsoft.com/office/powerpoint/2010/main" val="13087442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BA49A658-58A3-46CF-BDDA-6227D190C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14C92F47-B338-4BF6-840A-BA7B6295D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FBE876CE-D01A-4EB7-B911-8A37C050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0D0436EB-640C-47B8-AEAC-B62FF454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3E79BC69-40E1-4EBB-9891-39E342D4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7DE10436-8942-4CCD-AA2B-839537995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解释数据、模型、损失函数和优化如何组成机器学习闭环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92FD8FA7-C2AA-47FE-A10A-0EE3F8E08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区分训练表现、测试表现、过拟合与泛化能力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9995A4BB-1885-4F80-9519-D36342B0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说明深度网络如何自动学习特征，以及梯度下降和反向传播各自承担什么角色</a:t>
            </a:r>
          </a:p>
        </p:txBody>
      </p:sp>
    </p:spTree>
    <p:extLst>
      <p:ext uri="{BB962C8B-B14F-4D97-AF65-F5344CB8AC3E}">
        <p14:creationId xmlns:p14="http://schemas.microsoft.com/office/powerpoint/2010/main" val="247469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968B70A7-FB37-440C-B58C-95B698DB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6E12E992-DD1C-4ECC-A0C2-792B18B4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1 / 7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BB13FAA9-48B4-4B8C-82F1-64EFB7FC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传统程序的工作方式是"人定规则、机器执行"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58644FB4-FF1E-41B6-879E-67994774A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509BA443-2CD4-455A-B019-A0F29089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0B96FAE-AF1B-4957-9623-20C760A9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318050E-5E0F-42AC-A609-B2AA05919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机器学习：从数据中学习规律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B8B6787-CA10-49C3-A238-1BFE2C32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传统程序的工作方式是"人定规则、机器执行"。机器学习颠倒了这个次序：先给机器大量"输入—答案"的样例，由算法从中归纳出一个映射函数 f，再用这个函数去处理没见过的新输入…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7DB7504-15B1-46F3-B605-5D770600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6A92D36C-2850-475A-AA22-D6317262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监督学习的三个要素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998C4EF-5900-45C3-BEFF-BFF75447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要让"从例子中学习"真正跑起来，三样东西缺一不可</a:t>
            </a:r>
          </a:p>
        </p:txBody>
      </p:sp>
      <p:sp>
        <p:nvSpPr>
          <p:cNvPr id="12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4B828FC8-3BC5-4AED-B7E7-FFC3B74C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3" name="s3-takeaway">
            <a:extLst xmlns:a="http://schemas.openxmlformats.org/drawingml/2006/main">
              <a:ext uri="{FF2B5EF4-FFF2-40B4-BE49-F238E27FC236}">
                <a16:creationId xmlns:a16="http://schemas.microsoft.com/office/drawing/2014/main" id="{D1BCAB57-6E50-4B0B-9B76-319758D79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传统程序的工作方式是"人定规则、机器执行"</a:t>
            </a:r>
          </a:p>
        </p:txBody>
      </p:sp>
    </p:spTree>
    <p:extLst>
      <p:ext uri="{BB962C8B-B14F-4D97-AF65-F5344CB8AC3E}">
        <p14:creationId xmlns:p14="http://schemas.microsoft.com/office/powerpoint/2010/main" val="3370560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1497EDF0-3821-4FBF-B379-C0927577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BCF24869-4719-4F41-AFCE-7BD13588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2 / 7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1AF2A939-7C96-4788-BA52-B053D73B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模型在见过的数据上表现好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09CFEAA2-E06F-44FA-A529-542A32BA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7A960367-FE4A-435A-A033-5F4C24080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D13AF2B-0104-4B67-BB6C-1502BF309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23BF4C8-7F03-4230-9EA8-462772CF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训练、验证与测试：学得好还要用得好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FE9CC4F-E765-43CC-9B20-7ECB90D43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一个关键追问随之而来：模型在见过的数据上表现好，能保证它遇到新数据还行吗？规范做法通常把数据分成三份： 训练集 用来学习参数， 验证集 用来选择模型、阈值和超参数…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1E9E6B8-53A5-4F05-94D9-0B71E9CEE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60E79C28-0EFF-4DDE-AA06-8FFBD4BC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线性回归：最经典的入门模型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F1DD324-4574-4D94-9759-633CA0A17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最能把上面这套流程讲透的模型是 线性回归 。19 世纪，英国学者高尔顿研究父母身高与子女身高的关系时发现：高个子父母的子女平均而言也高…</a:t>
            </a:r>
          </a:p>
        </p:txBody>
      </p:sp>
      <p:sp>
        <p:nvSpPr>
          <p:cNvPr id="12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BBF62BA6-3E12-4F23-9D5F-BEE9B76DA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3" name="s4-takeaway">
            <a:extLst xmlns:a="http://schemas.openxmlformats.org/drawingml/2006/main">
              <a:ext uri="{FF2B5EF4-FFF2-40B4-BE49-F238E27FC236}">
                <a16:creationId xmlns:a16="http://schemas.microsoft.com/office/drawing/2014/main" id="{4CE05360-EAAC-4126-B10A-9A91C42F3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模型在见过的数据上表现好</a:t>
            </a:r>
          </a:p>
        </p:txBody>
      </p:sp>
    </p:spTree>
    <p:extLst>
      <p:ext uri="{BB962C8B-B14F-4D97-AF65-F5344CB8AC3E}">
        <p14:creationId xmlns:p14="http://schemas.microsoft.com/office/powerpoint/2010/main" val="4005888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78800EE4-427B-47AC-856B-1BEA4D34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82B7669D-E8A7-4539-A9D2-BC973DF3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3 / 7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D6D7BE52-91E6-4BFF-8FCD-272593A9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6449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回归输出连续数值，分类输出离散类别，监督学习的任务基本落在这两类里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276EDF7F-50EF-4835-B18B-5669A073C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59FFB81B-51D0-4AC4-9D35-C044D881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2E18A96-866D-49A6-B87B-6349E2CF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D58DA6C-FAD1-4741-97F8-8CB17CEFA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从回归到分类：逻辑斯蒂回归与决策树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EC3387B-E169-4D2B-B7C7-D53305230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回归输出连续数值，分类输出离散类别，监督学习的任务基本落在这两类里。想用普通线性回归直接做二分类会遇到一个根本问题：预测值没有被限制在 0 到 1 之间，也不对应适合二分类的似然模型…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966788D-B980-4935-84CF-26BB22587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4352E685-4A1F-4AB9-A686-345A97D50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经典模型速览：LDA、AdaBoost 与支持向量机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4B1424FE-886A-49D6-8337-95297EB57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监督学习几十年的发展攒下了一批各有绝活的经典模型，了解它们的核心思想，就能看懂大部分传统机器学习系统的设计逻辑</a:t>
            </a:r>
          </a:p>
        </p:txBody>
      </p:sp>
      <p:sp>
        <p:nvSpPr>
          <p:cNvPr id="12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BBAA8A04-6143-4164-BA5F-9037DD42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3" name="s5-takeaway">
            <a:extLst xmlns:a="http://schemas.openxmlformats.org/drawingml/2006/main">
              <a:ext uri="{FF2B5EF4-FFF2-40B4-BE49-F238E27FC236}">
                <a16:creationId xmlns:a16="http://schemas.microsoft.com/office/drawing/2014/main" id="{0631E65B-F22E-4642-AC3B-50B89351A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回归输出连续数值，分类输出离散类别，监督学习的任务基本落在这两类里</a:t>
            </a:r>
          </a:p>
        </p:txBody>
      </p:sp>
    </p:spTree>
    <p:extLst>
      <p:ext uri="{BB962C8B-B14F-4D97-AF65-F5344CB8AC3E}">
        <p14:creationId xmlns:p14="http://schemas.microsoft.com/office/powerpoint/2010/main" val="12047748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861B76C2-FA9B-4B4D-9491-3E0C4A9B6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FFA71E9B-F3F9-4A62-A25B-04974AF18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4 / 7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577459B6-4093-471D-93E4-0375D7EA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一个图像识别系统是"分段"组装的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9776B11C-0728-492D-AB42-BE53582A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47923685-6B5B-4684-8215-8DB4FABEA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802B939-7C47-475F-B0F4-BEF4E63D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4A1EBA8-B1A0-4C09-BD5E-D2232EAAE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深度学习：让机器自己学特征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E85F3A3-2D5E-42F1-B353-16C826D6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6545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在深度学习之前，一个图像识别系统是"分段"组装的：人工设计特征提取（边缘、纹理、视觉词典），再接一个分类器，每一段单独调优。深度学习改成 端到端 ：原始像素直接进网络，识别结果直接出来…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DD675E8-9C8D-417D-99A6-FB6E5597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1D0E830C-8E32-489E-B3EA-61080F93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网络内部发生的事情可以理解为 逐层抽象 ：低层单元常响应边缘和亮暗，中层组合出角点和部件，高层形成与对象类别相关的表示。这种层级处理受到生物视觉研究启发，也存在有限类比…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6198F294-C870-498E-AAC9-7EC0CC93D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CFFCF941-E1C0-489E-B4EB-52B0CB9C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网络的基本单元常被称为 人工神经元 。1943 年 McCulloch 和 Pitts 受生物神经元"兴奋/抑制"机制启发提出 MCP 模型：对输入加权求和，再经过一个激活函数决定输出…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3CCD9D44-0176-4DE2-863A-AC8DA700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9EA05236-D7F3-4DD4-A381-EDA4C75A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一个图像识别系统是"分段"组装的</a:t>
            </a:r>
          </a:p>
        </p:txBody>
      </p:sp>
    </p:spTree>
    <p:extLst>
      <p:ext uri="{BB962C8B-B14F-4D97-AF65-F5344CB8AC3E}">
        <p14:creationId xmlns:p14="http://schemas.microsoft.com/office/powerpoint/2010/main" val="20868760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E1BE5BCC-B484-4433-812B-88C503BD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85501381-D302-4810-B1AD-DA776C8D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5 / 7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C44242F4-1DB6-4511-BA30-3B2F2A5E5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7028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网络结构定了，剩下的问题是：这么多参数（权重）怎么定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D099089C-BCD2-46D1-A83B-38FBAC2D1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9E5646C6-0E01-44DA-AA72-4CDAB0FF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C5C49B09-8590-48F3-99FE-64DCAE3D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FA33E1F-E352-4E88-8AAC-011D4A5BA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神经网络怎么训练：梯度下降与误差反向传播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4FC7AC3-50BC-4452-A2DC-C0A25265E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网络结构定了，剩下的问题是：这么多参数（权重）怎么定？答案仍是监督学习那套流程——定义损失函数，然后优化它。回归任务常用均方误差；分类任务常用交叉熵，它度量预测概率分布与真实分布的差距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A61C4DB-C1F9-4AA9-954F-3F4EF146C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DBD7215-7174-45FB-90CB-5A252193C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优化的主力算法是 梯度下降 。把损失函数想象成参数空间里的一片山地，当前参数是站立的位置：梯度指向上坡最陡的方向，往梯度的反方向挪一小步，损失就下降最快。步子的大小叫学习率，一步步走下去…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9EF43B78-0453-4F3C-81B6-8A34048E4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73952A3A-6502-46B6-B300-7B52F0DB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深层网络的参数分布在一层层结构里，输出端算出的误差如何反馈给前面每一层？ 误差反向传播 （BP）解决了这件事：利用链式求导法则，把输出误差从后向前逐层传递，算出每个参数对总误差该负多大"责任"…</a:t>
            </a:r>
          </a:p>
        </p:txBody>
      </p:sp>
      <p:sp>
        <p:nvSpPr>
          <p:cNvPr id="13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590868C7-6D6C-4978-9A5F-BB1C2A60C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7-takeaway">
            <a:extLst xmlns:a="http://schemas.openxmlformats.org/drawingml/2006/main">
              <a:ext uri="{FF2B5EF4-FFF2-40B4-BE49-F238E27FC236}">
                <a16:creationId xmlns:a16="http://schemas.microsoft.com/office/drawing/2014/main" id="{01626176-1417-41B3-9E8D-0B9C2CEE1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网络结构定了，剩下的问题是：这么多参数（权重）怎么定</a:t>
            </a:r>
          </a:p>
        </p:txBody>
      </p:sp>
    </p:spTree>
    <p:extLst>
      <p:ext uri="{BB962C8B-B14F-4D97-AF65-F5344CB8AC3E}">
        <p14:creationId xmlns:p14="http://schemas.microsoft.com/office/powerpoint/2010/main" val="19744720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FBFCC499-EDA9-4D76-96FD-5820930B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519887CD-0D7A-455E-897C-D1E164FE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6 / 7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B07201CD-D981-4B92-B44A-FDEA50DF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把一张图像直接摊平接进全连接网络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BA8CAA5A-7277-4AAC-905F-012DA9548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2B69C49C-AD3D-4136-B1A5-4BF5FEB5B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2C597CA-8AC8-45A7-9538-2A467BEF9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FAB4400-C487-48CA-BB6D-65921B97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卷积神经网络：看懂图像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08FE7AB-0E66-4567-BB1A-5B11837D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3489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把一张图像直接摊平接进全连接网络，参数会瞬间爆炸：一张 1000×1000 的图片仅一层就要处理百万维输入。图像有两个可以利用的特点—— 模式是局部的 （一条边缘只占几个像素）…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1B7E567-6C46-4C69-ABEF-E6AD2B79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F5BFF0B-39E0-445B-96B4-953DFE6C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核心是 卷积操作 ：用一个小小的卷积核（如 3×3 的权重矩阵）在图像上滑动，每停一处就与覆盖区域做加权求和，输出一张特征图。同一个卷积核的参数在整张图上 共享 ，参数量骤减…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1321BBD9-C28C-4741-817D-21229CBA3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1B68AF2E-BC05-48DF-8421-FB7A56255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不同的卷积核提取不同特征：有的对竖直边缘敏感，有的响应特定纹理——这与视觉神经细胞的"特征选择性"相互呼应。多个卷积核并行工作，就得到多张互补的特征图</a:t>
            </a:r>
          </a:p>
        </p:txBody>
      </p:sp>
      <p:sp>
        <p:nvSpPr>
          <p:cNvPr id="13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7FBE5DE4-99CD-4BF7-AEE6-8F4DB4851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8-takeaway">
            <a:extLst xmlns:a="http://schemas.openxmlformats.org/drawingml/2006/main">
              <a:ext uri="{FF2B5EF4-FFF2-40B4-BE49-F238E27FC236}">
                <a16:creationId xmlns:a16="http://schemas.microsoft.com/office/drawing/2014/main" id="{2B331ADE-C982-4D0E-9853-0107D41FB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把一张图像直接摊平接进全连接网络</a:t>
            </a:r>
          </a:p>
        </p:txBody>
      </p:sp>
    </p:spTree>
    <p:extLst>
      <p:ext uri="{BB962C8B-B14F-4D97-AF65-F5344CB8AC3E}">
        <p14:creationId xmlns:p14="http://schemas.microsoft.com/office/powerpoint/2010/main" val="17493138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D13E02FC-CE70-418B-9192-6778C117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45EC5818-FABB-456C-8E47-2F5855F6B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7 / 7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2BE0ACAB-9462-4C96-AE1E-7EB2E3142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7028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图像一次性输入就好，语言、语音、时序数据却有前后依赖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0017E5FC-A0C0-47BC-BEA8-0C36F30DF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7A6249E0-A822-4FBC-AD68-9483EB7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OV-003-S09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1895416-6B94-4C1D-8F4D-82853F79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65C77C5-252D-46E4-B9A0-0FDDCD72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序列与生成：循环网络、生成对抗与词向量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B5DC136-75F7-480C-ABDE-A223691B8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0239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图像一次性输入就好，语言、语音、时序数据却有前后依赖。 循环神经网络 （RNN）为此在网络里加了一条"记忆"通路：每读一个词，把当前输入和上一步的隐状态一起加工，隐状态就像一路携带的笔记…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B4C721B1-899A-4C84-8791-6E2C1C40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DB45038-2897-47DA-BA36-A7A580DF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序列一长，RNN 的梯度在层层回传中容易消失，早先的信息就被"忘掉"。 长短时记忆网络 （LSTM）用输入门、遗忘门、输出门管理一个内部记忆单元，学会该记什么、该忘什么，明显改善了长序列建模…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D8E6957A-E580-40C5-93B2-2293A75F6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118ABFE2-AFE3-4150-8220-8BD936BD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前面讲的模型都在做判断， 深度生成学习 反过来让网络学会"创造"。 生成对抗网络 （GAN）的设计精彩之处在于左右互搏：生成器负责伪造数据，判别器负责鉴别真伪，两者在博弈中共同进步…</a:t>
            </a:r>
          </a:p>
        </p:txBody>
      </p:sp>
      <p:sp>
        <p:nvSpPr>
          <p:cNvPr id="13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16B87B1E-C7D9-4646-B7C6-0726D67A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9-takeaway">
            <a:extLst xmlns:a="http://schemas.openxmlformats.org/drawingml/2006/main">
              <a:ext uri="{FF2B5EF4-FFF2-40B4-BE49-F238E27FC236}">
                <a16:creationId xmlns:a16="http://schemas.microsoft.com/office/drawing/2014/main" id="{090C6759-E132-41F2-8D70-1E4D0F48A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图像一次性输入就好，语言、语音、时序数据却有前后依赖</a:t>
            </a:r>
          </a:p>
        </p:txBody>
      </p:sp>
    </p:spTree>
    <p:extLst>
      <p:ext uri="{BB962C8B-B14F-4D97-AF65-F5344CB8AC3E}">
        <p14:creationId xmlns:p14="http://schemas.microsoft.com/office/powerpoint/2010/main" val="871282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29295A5C-4EE9-4476-A0DC-013123206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6BCD414D-0556-4DB3-8D1A-A51747990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80F81C89-0417-4DD0-8466-3FECE51A9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409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误拦正常邮件代价高，需要保留申诉通道，并定期用新样本重新训练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4D191B66-45A3-482D-A9D0-4B7EF582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85A29EBC-7B34-4201-A18A-B29C62A3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OV-003-S10</a:t>
            </a:r>
          </a:p>
        </p:txBody>
      </p:sp>
      <p:sp>
        <p:nvSpPr>
          <p:cNvPr id="6" name="case-label-0">
            <a:extLst xmlns:a="http://schemas.openxmlformats.org/drawingml/2006/main">
              <a:ext uri="{FF2B5EF4-FFF2-40B4-BE49-F238E27FC236}">
                <a16:creationId xmlns:a16="http://schemas.microsoft.com/office/drawing/2014/main" id="{0CFB8EBD-2870-4086-A1A3-EC7EA037C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4857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 1：垃圾邮件过滤</a:t>
            </a:r>
          </a:p>
        </p:txBody>
      </p:sp>
      <p:sp>
        <p:nvSpPr>
          <p:cNvPr id="7" name="case-0-row-0">
            <a:extLst xmlns:a="http://schemas.openxmlformats.org/drawingml/2006/main">
              <a:ext uri="{FF2B5EF4-FFF2-40B4-BE49-F238E27FC236}">
                <a16:creationId xmlns:a16="http://schemas.microsoft.com/office/drawing/2014/main" id="{5E4402D4-1623-4881-B880-80C74E90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85775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5415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</a:t>
            </a:r>
          </a:p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邮件系统需要自动判断新到的一封邮件是否为垃圾邮件</a:t>
            </a:r>
          </a:p>
        </p:txBody>
      </p:sp>
      <p:sp>
        <p:nvSpPr>
          <p:cNvPr id="8" name="case-0-row-1">
            <a:extLst xmlns:a="http://schemas.openxmlformats.org/drawingml/2006/main">
              <a:ext uri="{FF2B5EF4-FFF2-40B4-BE49-F238E27FC236}">
                <a16:creationId xmlns:a16="http://schemas.microsoft.com/office/drawing/2014/main" id="{FAC09FE0-C545-422A-81B4-475F96706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485775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361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</a:t>
            </a:r>
          </a:p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用大量已标注邮件训练分类模型（逻辑斯蒂回归即可作基线），并留出测试数据检验对新邮件的识别率</a:t>
            </a:r>
          </a:p>
        </p:txBody>
      </p:sp>
      <p:sp>
        <p:nvSpPr>
          <p:cNvPr id="9" name="case-0-row-2">
            <a:extLst xmlns:a="http://schemas.openxmlformats.org/drawingml/2006/main">
              <a:ext uri="{FF2B5EF4-FFF2-40B4-BE49-F238E27FC236}">
                <a16:creationId xmlns:a16="http://schemas.microsoft.com/office/drawing/2014/main" id="{035B5026-194C-4D44-9D31-F33D5F0C0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485775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828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</a:t>
            </a:r>
          </a:p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误拦正常邮件代价高，需要保留申诉通道，并定期用新样本重新训练</a:t>
            </a:r>
          </a:p>
        </p:txBody>
      </p:sp>
      <p:sp>
        <p:nvSpPr>
          <p:cNvPr id="10" name="case-label-1">
            <a:extLst xmlns:a="http://schemas.openxmlformats.org/drawingml/2006/main">
              <a:ext uri="{FF2B5EF4-FFF2-40B4-BE49-F238E27FC236}">
                <a16:creationId xmlns:a16="http://schemas.microsoft.com/office/drawing/2014/main" id="{1B67BB7B-8AA7-4898-B114-4F80A83CF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981200"/>
            <a:ext cx="4857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 2：森林火灾面积预测</a:t>
            </a:r>
          </a:p>
        </p:txBody>
      </p:sp>
      <p:sp>
        <p:nvSpPr>
          <p:cNvPr id="11" name="case-1-row-0">
            <a:extLst xmlns:a="http://schemas.openxmlformats.org/drawingml/2006/main">
              <a:ext uri="{FF2B5EF4-FFF2-40B4-BE49-F238E27FC236}">
                <a16:creationId xmlns:a16="http://schemas.microsoft.com/office/drawing/2014/main" id="{33D2FB51-81F0-4E1E-B8AB-C15C3E46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667000"/>
            <a:ext cx="485775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098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</a:t>
            </a:r>
          </a:p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林业部门想根据气象条件预估火灾可能波及的面积，提前调配力量</a:t>
            </a:r>
          </a:p>
        </p:txBody>
      </p:sp>
      <p:sp>
        <p:nvSpPr>
          <p:cNvPr id="12" name="case-1-row-1">
            <a:extLst xmlns:a="http://schemas.openxmlformats.org/drawingml/2006/main">
              <a:ext uri="{FF2B5EF4-FFF2-40B4-BE49-F238E27FC236}">
                <a16:creationId xmlns:a16="http://schemas.microsoft.com/office/drawing/2014/main" id="{98A036C8-3242-4C6F-A445-0CEA5E8B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600450"/>
            <a:ext cx="485775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361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</a:t>
            </a:r>
          </a:p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用历史记录建立回归模型：先从"气温 → 过火面积"的一元线性回归入手，再加入风力等因素扩展为多元回归</a:t>
            </a:r>
          </a:p>
        </p:txBody>
      </p:sp>
      <p:sp>
        <p:nvSpPr>
          <p:cNvPr id="13" name="case-1-row-2">
            <a:extLst xmlns:a="http://schemas.openxmlformats.org/drawingml/2006/main">
              <a:ext uri="{FF2B5EF4-FFF2-40B4-BE49-F238E27FC236}">
                <a16:creationId xmlns:a16="http://schemas.microsoft.com/office/drawing/2014/main" id="{16A85497-A51A-4EA8-A5D6-8A8188F0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533900"/>
            <a:ext cx="485775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908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</a:t>
            </a:r>
          </a:p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极端天气超出历史数据分布时模型不可靠，需人工研判并把新数据补入训练集</a:t>
            </a:r>
          </a:p>
        </p:txBody>
      </p:sp>
      <p:sp>
        <p:nvSpPr>
          <p:cNvPr id="14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39C3B8B1-3905-46D0-90CA-4BE305663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5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0738DA90-E1E8-4346-9D67-8D31E1F2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误拦正常邮件代价高，需要保留申诉通道，并定期用新样本重新训练</a:t>
            </a:r>
          </a:p>
        </p:txBody>
      </p:sp>
    </p:spTree>
    <p:extLst>
      <p:ext uri="{BB962C8B-B14F-4D97-AF65-F5344CB8AC3E}">
        <p14:creationId xmlns:p14="http://schemas.microsoft.com/office/powerpoint/2010/main" val="2837086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046526A4-4720-4E28-A0C3-C41DF9B84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66C914B6-C716-4027-8E12-0FF20306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9474F873-E600-434C-BDCC-772647410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6449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低置信度样本转人工录入，识别错误会直接造成金额差错，阈值设置要保守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0C89EF0D-F37B-4942-ADED-46BF126F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C89DAE98-81F0-4646-B4E8-1890B860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OV-003-S11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9C528C76-8484-46BD-AE5E-B9B467C55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案例 3：手写数字识别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4212CF9C-63B9-4DC5-B5BE-0B8364E87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场景｜银行票据和邮政编码上的手写数字需要机器自动读取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570EA3A0-9FAE-4137-AC44-96BE69C26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问题｜每个人笔迹不同，人工设计的特征始终覆盖不了书写变化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B0694853-D4DB-41E0-9120-CDF24F825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3417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方法｜用卷积神经网络端到端训练：卷积层自动学习笔画特征，池化层压缩冗余，全连接层输出 0 到 9 的概率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30213B50-8F0D-41D9-9A13-471443C6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4893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结果｜经典的 LeNet 网络早在上世纪九十年代就投入美国支票识别系统，是深度学习最早的规模化应用之一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B800D2AB-2219-4800-8F01-574ED769F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边界｜低置信度样本转人工录入，识别错误会直接造成金额差错，阈值设置要保守</a:t>
            </a:r>
          </a:p>
        </p:txBody>
      </p:sp>
      <p:sp>
        <p:nvSpPr>
          <p:cNvPr id="12" name="s11-takeaway-rule">
            <a:extLst xmlns:a="http://schemas.openxmlformats.org/drawingml/2006/main">
              <a:ext uri="{FF2B5EF4-FFF2-40B4-BE49-F238E27FC236}">
                <a16:creationId xmlns:a16="http://schemas.microsoft.com/office/drawing/2014/main" id="{EE0684F7-5521-476B-BF8F-7A327F925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3" name="s11-takeaway">
            <a:extLst xmlns:a="http://schemas.openxmlformats.org/drawingml/2006/main">
              <a:ext uri="{FF2B5EF4-FFF2-40B4-BE49-F238E27FC236}">
                <a16:creationId xmlns:a16="http://schemas.microsoft.com/office/drawing/2014/main" id="{5E26C4B5-94DE-4961-855A-3C97BB6E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低置信度样本转人工录入，识别错误会直接造成金额差错，阈值设置要保守</a:t>
            </a:r>
          </a:p>
        </p:txBody>
      </p:sp>
    </p:spTree>
    <p:extLst>
      <p:ext uri="{BB962C8B-B14F-4D97-AF65-F5344CB8AC3E}">
        <p14:creationId xmlns:p14="http://schemas.microsoft.com/office/powerpoint/2010/main" val="17006694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C6845BF4-9471-45CE-B64B-BA20DCAE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9FAB96FD-150A-4FDC-8A8D-11E2F9C9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C5A33246-4CDE-45BB-9591-BCA1AB90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200BAE91-ECDB-4394-B191-87B36A599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40C9A061-88BD-4844-A3C9-A2A1709A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OV-003-S12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92BD791D-4297-4A89-B19B-9A39A49B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C9EF262C-8D6E-46BC-B655-8B358837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1CEA1AC9-EC32-44E9-B1F0-28259DE71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75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用表格软件对 10 组"气温—用电量"数据画散点图并添加线性趋势线，读出斜率和截距，说明它们各自的现实含义。；把你工作中的一个真实问题改写成监督学习任务：写清输入特征是什么、标签是什么…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900C6D8D-D250-450E-AA38-D140207C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02B91D8B-96B9-4290-8936-8F5D89075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54A1E3E3-6FF0-421C-B493-04667E29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B298968A-11A0-4C02-A8A6-911A92CCE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打开浏览器版 Teachable Machine，训练一个两类图像分类器：先每类只给 5 张样本，再增加到 30 张，对比测试效果，体会数据量与过拟合的关系…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7D2C2852-B217-43DC-B0B4-C0E884EB9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EFDDAA43-B0B6-414F-A925-365FE4EEA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29155D1D-43F8-4EFB-96D4-B2506803C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FD804C3E-9B2B-40B8-B8C9-900420D8D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完成后保留你的数据、步骤和结论，下一节讨论 AI 能力边界时会用它们做对照材料</a:t>
            </a:r>
          </a:p>
        </p:txBody>
      </p:sp>
    </p:spTree>
    <p:extLst>
      <p:ext uri="{BB962C8B-B14F-4D97-AF65-F5344CB8AC3E}">
        <p14:creationId xmlns:p14="http://schemas.microsoft.com/office/powerpoint/2010/main" val="8269971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F77801C2-0EE4-4083-9B7E-3CAF845D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59B83421-9F0A-418C-92F5-5620C960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86F59A6C-E1B8-4185-86ED-0256C59F2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124DC41F-34B4-44B3-BF1E-7954B81A6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72B1DCC0-197C-4CB7-951D-F328150C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OV-003-S13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B1255B09-972B-41AE-875A-99117518C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77475A53-6226-4B15-89D5-46B1B707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2ABCFF48-0210-4780-ADE6-34F24633B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传统程序的工作方式是"人定规则、机器执行"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C4494B81-74FD-447A-9303-58194B63F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466B831F-0D9F-44F3-AB3A-569966419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1E826D66-1183-4445-B37F-4DA31B23E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24FB3A03-2658-4651-88F0-B889D979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一个图像识别系统是"分段"组装的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6DCF9D8B-343E-46CC-9470-22870BD45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42C97C7B-28CF-478C-B9EF-45107DE4A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156C9323-8433-4D70-9C1D-6182DD9CF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579B3C71-CF72-43A6-9DAE-3454BCDE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图像一次性输入就好，语言、语音、时序数据却有前后依赖</a:t>
            </a:r>
          </a:p>
        </p:txBody>
      </p:sp>
    </p:spTree>
    <p:extLst>
      <p:ext uri="{BB962C8B-B14F-4D97-AF65-F5344CB8AC3E}">
        <p14:creationId xmlns:p14="http://schemas.microsoft.com/office/powerpoint/2010/main" val="29646558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4-rule">
            <a:extLst xmlns:a="http://schemas.openxmlformats.org/drawingml/2006/main">
              <a:ext uri="{FF2B5EF4-FFF2-40B4-BE49-F238E27FC236}">
                <a16:creationId xmlns:a16="http://schemas.microsoft.com/office/drawing/2014/main" id="{DC6EA388-EE14-4E25-B60E-D28E13401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4-eyebrow">
            <a:extLst xmlns:a="http://schemas.openxmlformats.org/drawingml/2006/main">
              <a:ext uri="{FF2B5EF4-FFF2-40B4-BE49-F238E27FC236}">
                <a16:creationId xmlns:a16="http://schemas.microsoft.com/office/drawing/2014/main" id="{2DBEF101-AFDF-484F-8E60-CBBD0D0C2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4-title">
            <a:extLst xmlns:a="http://schemas.openxmlformats.org/drawingml/2006/main">
              <a:ext uri="{FF2B5EF4-FFF2-40B4-BE49-F238E27FC236}">
                <a16:creationId xmlns:a16="http://schemas.microsoft.com/office/drawing/2014/main" id="{7D62BF11-3A3A-4CEA-933B-3F54CD946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14-footer">
            <a:extLst xmlns:a="http://schemas.openxmlformats.org/drawingml/2006/main">
              <a:ext uri="{FF2B5EF4-FFF2-40B4-BE49-F238E27FC236}">
                <a16:creationId xmlns:a16="http://schemas.microsoft.com/office/drawing/2014/main" id="{B69FDAB3-BA4F-4B57-9714-6094E03DD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4-identity">
            <a:extLst xmlns:a="http://schemas.openxmlformats.org/drawingml/2006/main">
              <a:ext uri="{FF2B5EF4-FFF2-40B4-BE49-F238E27FC236}">
                <a16:creationId xmlns:a16="http://schemas.microsoft.com/office/drawing/2014/main" id="{BC2D33C6-979B-49F9-809D-B18E646DE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OV-003-S14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6A907494-9B3E-4A3B-84B5-7D632DEE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4112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MIT 6.S191 Introduction to Deep Learning：麻省理工的深度学习入门课，讲座、幻灯片和实验齐全，适合系统深入神经网络与生成模型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CF0A814C-D249-4C61-B393-62ABB3352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3Blue1Brown：神经网络系列视频：用可视化动画直观呈现神经网络、梯度下降与反向传播的运行机制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88E400F2-6C32-4E2E-AD81-291764DF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吴恩达 Machine Learning Specialization：面向零基础的机器学习系统课程，配有编程练习</a:t>
            </a:r>
          </a:p>
        </p:txBody>
      </p:sp>
      <p:sp>
        <p:nvSpPr>
          <p:cNvPr id="9" name="s14-takeaway-rule">
            <a:extLst xmlns:a="http://schemas.openxmlformats.org/drawingml/2006/main">
              <a:ext uri="{FF2B5EF4-FFF2-40B4-BE49-F238E27FC236}">
                <a16:creationId xmlns:a16="http://schemas.microsoft.com/office/drawing/2014/main" id="{6D7E9676-A105-486A-8A04-7D64F7012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14-takeaway">
            <a:extLst xmlns:a="http://schemas.openxmlformats.org/drawingml/2006/main">
              <a:ext uri="{FF2B5EF4-FFF2-40B4-BE49-F238E27FC236}">
                <a16:creationId xmlns:a16="http://schemas.microsoft.com/office/drawing/2014/main" id="{0FE23EFF-1E15-48B9-B328-5B810F8B0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18383478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2026-07-11T12:05:08.4960000Z</dcterms:created>
  <dcterms:modified xsi:type="dcterms:W3CDTF">2026-07-11T12:05:08.4960000Z</dcterms:modified>
</coreProperties>
</file>