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b039faba0c24e9f" /><Relationship Type="http://schemas.openxmlformats.org/officeDocument/2006/relationships/extended-properties" Target="/docProps/app.xml" Id="R3748f72a434348c2" /><Relationship Type="http://schemas.openxmlformats.org/officeDocument/2006/relationships/officeDocument" Target="/ppt/presentation.xml" Id="R0f1c611038a148c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c81b64b3d94269"/>
  </p:sldMasterIdLst>
  <p:notesMasterIdLst>
    <p:notesMasterId xmlns:r="http://schemas.openxmlformats.org/officeDocument/2006/relationships" r:id="R243c7bcd34464600"/>
  </p:notesMasterIdLst>
  <p:sldIdLst>
    <p:sldId xmlns:r="http://schemas.openxmlformats.org/officeDocument/2006/relationships" id="256" r:id="R2de4c3288cdc475a"/>
    <p:sldId xmlns:r="http://schemas.openxmlformats.org/officeDocument/2006/relationships" id="257" r:id="R03bffb98d6474492"/>
    <p:sldId xmlns:r="http://schemas.openxmlformats.org/officeDocument/2006/relationships" id="258" r:id="Ra33b43021a264b6c"/>
    <p:sldId xmlns:r="http://schemas.openxmlformats.org/officeDocument/2006/relationships" id="259" r:id="Rbaa4c7d6ff2548d1"/>
    <p:sldId xmlns:r="http://schemas.openxmlformats.org/officeDocument/2006/relationships" id="260" r:id="R8c8ac955781a4e54"/>
    <p:sldId xmlns:r="http://schemas.openxmlformats.org/officeDocument/2006/relationships" id="261" r:id="Ra8f2aaa8701c4ce0"/>
    <p:sldId xmlns:r="http://schemas.openxmlformats.org/officeDocument/2006/relationships" id="262" r:id="R6474d10e72a148de"/>
    <p:sldId xmlns:r="http://schemas.openxmlformats.org/officeDocument/2006/relationships" id="263" r:id="R19cc6c16804d4bf3"/>
    <p:sldId xmlns:r="http://schemas.openxmlformats.org/officeDocument/2006/relationships" id="264" r:id="R6731e2afca7249a9"/>
    <p:sldId xmlns:r="http://schemas.openxmlformats.org/officeDocument/2006/relationships" id="265" r:id="Rac2ec3fb6b4a4e26"/>
    <p:sldId xmlns:r="http://schemas.openxmlformats.org/officeDocument/2006/relationships" id="266" r:id="R003932c8c9054bbc"/>
    <p:sldId xmlns:r="http://schemas.openxmlformats.org/officeDocument/2006/relationships" id="267" r:id="R6adbc125ae0445d2"/>
    <p:sldId xmlns:r="http://schemas.openxmlformats.org/officeDocument/2006/relationships" id="268" r:id="Rb2502055c4c74259"/>
    <p:sldId xmlns:r="http://schemas.openxmlformats.org/officeDocument/2006/relationships" id="269" r:id="R95e47547a8ba477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17fe853fb34494c" /><Relationship Type="http://schemas.openxmlformats.org/officeDocument/2006/relationships/slideMaster" Target="/ppt/slideMasters/slideMaster1.xml" Id="Rcfc81b64b3d94269" /><Relationship Type="http://schemas.openxmlformats.org/officeDocument/2006/relationships/notesMaster" Target="/ppt/notesMasters/notesMaster1.xml" Id="R243c7bcd34464600" /><Relationship Type="http://schemas.openxmlformats.org/officeDocument/2006/relationships/presProps" Target="/ppt/presProps.xml" Id="R2ed5e51a2aeb4b09" /><Relationship Type="http://schemas.openxmlformats.org/officeDocument/2006/relationships/tableStyles" Target="/ppt/tableStyles.xml" Id="R99cb074b84374d22" /><Relationship Type="http://schemas.openxmlformats.org/officeDocument/2006/relationships/slide" Target="/ppt/slides/slide1.xml" Id="R2de4c3288cdc475a" /><Relationship Type="http://schemas.openxmlformats.org/officeDocument/2006/relationships/slide" Target="/ppt/slides/slide2.xml" Id="R03bffb98d6474492" /><Relationship Type="http://schemas.openxmlformats.org/officeDocument/2006/relationships/slide" Target="/ppt/slides/slide3.xml" Id="Ra33b43021a264b6c" /><Relationship Type="http://schemas.openxmlformats.org/officeDocument/2006/relationships/slide" Target="/ppt/slides/slide4.xml" Id="Rbaa4c7d6ff2548d1" /><Relationship Type="http://schemas.openxmlformats.org/officeDocument/2006/relationships/slide" Target="/ppt/slides/slide5.xml" Id="R8c8ac955781a4e54" /><Relationship Type="http://schemas.openxmlformats.org/officeDocument/2006/relationships/slide" Target="/ppt/slides/slide6.xml" Id="Ra8f2aaa8701c4ce0" /><Relationship Type="http://schemas.openxmlformats.org/officeDocument/2006/relationships/slide" Target="/ppt/slides/slide7.xml" Id="R6474d10e72a148de" /><Relationship Type="http://schemas.openxmlformats.org/officeDocument/2006/relationships/slide" Target="/ppt/slides/slide8.xml" Id="R19cc6c16804d4bf3" /><Relationship Type="http://schemas.openxmlformats.org/officeDocument/2006/relationships/slide" Target="/ppt/slides/slide9.xml" Id="R6731e2afca7249a9" /><Relationship Type="http://schemas.openxmlformats.org/officeDocument/2006/relationships/slide" Target="/ppt/slides/slide10.xml" Id="Rac2ec3fb6b4a4e26" /><Relationship Type="http://schemas.openxmlformats.org/officeDocument/2006/relationships/slide" Target="/ppt/slides/slide11.xml" Id="R003932c8c9054bbc" /><Relationship Type="http://schemas.openxmlformats.org/officeDocument/2006/relationships/slide" Target="/ppt/slides/slide12.xml" Id="R6adbc125ae0445d2" /><Relationship Type="http://schemas.openxmlformats.org/officeDocument/2006/relationships/slide" Target="/ppt/slides/slide13.xml" Id="Rb2502055c4c74259" /><Relationship Type="http://schemas.openxmlformats.org/officeDocument/2006/relationships/slide" Target="/ppt/slides/slide14.xml" Id="R95e47547a8ba477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4f7cb3c965046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fc909d02ea847e2" /><Relationship Type="http://schemas.openxmlformats.org/officeDocument/2006/relationships/notesMaster" Target="/ppt/notesMasters/notesMaster1.xml" Id="R578c26ad46ee41b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ca4e64fd6c8495c" /><Relationship Type="http://schemas.openxmlformats.org/officeDocument/2006/relationships/notesMaster" Target="/ppt/notesMasters/notesMaster1.xml" Id="Re909c149d0b149a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1820451ae344771" /><Relationship Type="http://schemas.openxmlformats.org/officeDocument/2006/relationships/notesMaster" Target="/ppt/notesMasters/notesMaster1.xml" Id="R1dc2a4dfc53c481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b5dc9aa0a9c4649" /><Relationship Type="http://schemas.openxmlformats.org/officeDocument/2006/relationships/notesMaster" Target="/ppt/notesMasters/notesMaster1.xml" Id="Rbae0071c9e8f44a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ed050999ff5477e" /><Relationship Type="http://schemas.openxmlformats.org/officeDocument/2006/relationships/notesMaster" Target="/ppt/notesMasters/notesMaster1.xml" Id="Re279d1244a44450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97be3fd40dd464e" /><Relationship Type="http://schemas.openxmlformats.org/officeDocument/2006/relationships/notesMaster" Target="/ppt/notesMasters/notesMaster1.xml" Id="R8e081d78d63c4e9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610c52054647ef" /><Relationship Type="http://schemas.openxmlformats.org/officeDocument/2006/relationships/notesMaster" Target="/ppt/notesMasters/notesMaster1.xml" Id="Rfd116369fe0d41e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410f907afb146ec" /><Relationship Type="http://schemas.openxmlformats.org/officeDocument/2006/relationships/notesMaster" Target="/ppt/notesMasters/notesMaster1.xml" Id="R27290a5b149b42c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8bfcbe7c0ff49a0" /><Relationship Type="http://schemas.openxmlformats.org/officeDocument/2006/relationships/notesMaster" Target="/ppt/notesMasters/notesMaster1.xml" Id="Re18f474a034f498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0f81fe2bb9d46f0" /><Relationship Type="http://schemas.openxmlformats.org/officeDocument/2006/relationships/notesMaster" Target="/ppt/notesMasters/notesMaster1.xml" Id="Rcbdd554f7b9d4b6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b5e3a4ec9a54296" /><Relationship Type="http://schemas.openxmlformats.org/officeDocument/2006/relationships/notesMaster" Target="/ppt/notesMasters/notesMaster1.xml" Id="R0ee9cfe0c80642c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ae0b6fcf87f4bbd" /><Relationship Type="http://schemas.openxmlformats.org/officeDocument/2006/relationships/notesMaster" Target="/ppt/notesMasters/notesMaster1.xml" Id="R85a54c7e35f348f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51b4f9326c34aee" /><Relationship Type="http://schemas.openxmlformats.org/officeDocument/2006/relationships/notesMaster" Target="/ppt/notesMasters/notesMaster1.xml" Id="R036d9b4e7db6428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7676720ba65424a" /><Relationship Type="http://schemas.openxmlformats.org/officeDocument/2006/relationships/notesMaster" Target="/ppt/notesMasters/notesMaster1.xml" Id="Re8195e49a3f64ce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ba9a233f5042f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00514fcbfdc4857" /><Relationship Type="http://schemas.openxmlformats.org/officeDocument/2006/relationships/slideLayout" Target="/ppt/slideLayouts/slideLayout1.xml" Id="R010abd6b5933407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10abd6b5933407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8ead471c8b4182" /><Relationship Type="http://schemas.openxmlformats.org/officeDocument/2006/relationships/notesSlide" Target="/ppt/notesSlides/notesSlide1.xml" Id="Rb9386c60506b4f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37036c2f3e4335" /><Relationship Type="http://schemas.openxmlformats.org/officeDocument/2006/relationships/notesSlide" Target="/ppt/notesSlides/notesSlide2.xml" Id="R4a8331faff46427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be2e5f7ffa46e7" /><Relationship Type="http://schemas.openxmlformats.org/officeDocument/2006/relationships/notesSlide" Target="/ppt/notesSlides/notesSlide3.xml" Id="R1162ebc87b2840a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82c1a4dd4c43c2" /><Relationship Type="http://schemas.openxmlformats.org/officeDocument/2006/relationships/notesSlide" Target="/ppt/notesSlides/notesSlide4.xml" Id="R81915fecff964f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5d914b750d487c" /><Relationship Type="http://schemas.openxmlformats.org/officeDocument/2006/relationships/notesSlide" Target="/ppt/notesSlides/notesSlide5.xml" Id="R73f9434c9532448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33622ba9de410c" /><Relationship Type="http://schemas.openxmlformats.org/officeDocument/2006/relationships/notesSlide" Target="/ppt/notesSlides/notesSlide6.xml" Id="Rad020f7f611847c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c93b73cd8e483c" /><Relationship Type="http://schemas.openxmlformats.org/officeDocument/2006/relationships/notesSlide" Target="/ppt/notesSlides/notesSlide7.xml" Id="Rbbe868ecf76d4c3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353142dd6c4e60" /><Relationship Type="http://schemas.openxmlformats.org/officeDocument/2006/relationships/notesSlide" Target="/ppt/notesSlides/notesSlide8.xml" Id="R0f111e2fef4a424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12d1c2c59a454d" /><Relationship Type="http://schemas.openxmlformats.org/officeDocument/2006/relationships/notesSlide" Target="/ppt/notesSlides/notesSlide9.xml" Id="R4ab9ac84ed4343c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1af52e47c244d2" /><Relationship Type="http://schemas.openxmlformats.org/officeDocument/2006/relationships/notesSlide" Target="/ppt/notesSlides/notesSlide10.xml" Id="R0651de5b949b4e9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0b8d1f34864577" /><Relationship Type="http://schemas.openxmlformats.org/officeDocument/2006/relationships/notesSlide" Target="/ppt/notesSlides/notesSlide11.xml" Id="R9a04e3758eca4e4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16cda938bf4f31" /><Relationship Type="http://schemas.openxmlformats.org/officeDocument/2006/relationships/notesSlide" Target="/ppt/notesSlides/notesSlide12.xml" Id="Rf914d1cb62824ba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d51c8218104a25" /><Relationship Type="http://schemas.openxmlformats.org/officeDocument/2006/relationships/notesSlide" Target="/ppt/notesSlides/notesSlide13.xml" Id="R858fde3ad45a4f7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214cce56e74b40" /><Relationship Type="http://schemas.openxmlformats.org/officeDocument/2006/relationships/notesSlide" Target="/ppt/notesSlides/notesSlide14.xml" Id="Rdce5c2c777bd427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B4F22531-762C-446C-A11A-E2D407ADE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2DFC64F7-F0C8-4DC4-877D-3D499974F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1BB67CFF-3CE4-4EA2-ABB7-CE8F7ADC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4CCDD449-3DFA-4592-BCD0-C55F7A6CC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DDA6E7D9-5771-457E-AB4D-9E5C6ED0E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0B081CBB-843A-4B79-8A7A-B95839F8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11C35DFD-159F-4EB1-83CB-06A9C0CF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第 1 章 · 人工智能概述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88DA9D3-BAF6-433A-8776-92A1D967B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机器学习与深度学习基础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48CC459B-9562-41C2-B0D4-AD295758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从数据、模型、损失和泛化进入神经网络、反向传播与卷积网络。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F43FD5E4-4696-41E2-8142-5AF973E4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相册应用自动把家人的照片归到一组；输入法预测你要打的下一个词；地图软件预估到达时间——这些功能背后没有一条条人工写死的判断规则；支撑它们的是同一件事；让程序从数据中自己找出规律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53E51C52-E215-4726-957C-F68E657F3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23F179B5-442A-47CC-B0C5-33655B427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OV-003 · OV-003-S01</a:t>
            </a:r>
          </a:p>
        </p:txBody>
      </p:sp>
    </p:spTree>
    <p:extLst>
      <p:ext uri="{BB962C8B-B14F-4D97-AF65-F5344CB8AC3E}">
        <p14:creationId xmlns:p14="http://schemas.microsoft.com/office/powerpoint/2010/main" val="9622154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24AFA55B-F442-44A0-92AA-19AAF08DB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23EFAF4D-5C73-48F8-BAB4-E936123F7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B41BF292-379E-43F5-B3E6-FC2BB06D6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机器学习与深度学习：3项学习结果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D85EDDDF-840C-4B24-AB5D-856F41629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419A4757-585C-4965-956F-2AE101BE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1B6EB374-1E21-42A7-8F19-268C58D06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解释数据、模型、损失函数和优化如何组成机器学习闭环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C8C685C0-88E5-4AE7-A579-C3925919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区分训练表现、测试表现、过拟合与泛化能力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91735F32-6168-4069-95A6-0A2DCC08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说明深度网络如何自动学习特征，以及梯度下降和反向传播各自承担什么角色</a:t>
            </a:r>
          </a:p>
        </p:txBody>
      </p:sp>
    </p:spTree>
    <p:extLst>
      <p:ext uri="{BB962C8B-B14F-4D97-AF65-F5344CB8AC3E}">
        <p14:creationId xmlns:p14="http://schemas.microsoft.com/office/powerpoint/2010/main" val="11138535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811F66E6-88DC-421C-B1A0-6682FC9A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2C38CDCF-B7D8-4FD3-8EE1-7AB4603B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1 / 7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09F7DB4D-5A68-425E-BB38-DE7114BA7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机器学习用数据、模型与损失替代手写规则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9DDED9A6-3A00-4DC0-B998-4F7BE345F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677E2652-CA59-4367-BF71-9DEA8BBD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28CA0547-A6C8-4DA4-9A5A-368B119A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0982668-437C-49E6-87CF-9E39AB45B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机器学习：从数据中学习规律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DF127BA9-0818-412C-B880-25115CC4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9219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传统程序的工作方式是"人定规则、机器执行"；机器学习颠倒了这个次序；先给机器大量"输入—答案"的样例；由算法从中归纳出一个映射函数 f；再用这个函数去处理没见过的新输入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ABEAD7BA-B5FA-407A-A120-229A7861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04C55AAA-0357-49CC-8346-F76C8F25D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监督学习的三个要素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844BDFD-D3D3-42DE-9467-051F2B70C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要让"从例子中学习"真正跑起来，三样东西缺一不可</a:t>
            </a:r>
          </a:p>
        </p:txBody>
      </p:sp>
      <p:sp>
        <p:nvSpPr>
          <p:cNvPr id="12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4DBDF1A9-ED29-49DC-8156-20B91CCCB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3" name="s3-takeaway">
            <a:extLst xmlns:a="http://schemas.openxmlformats.org/drawingml/2006/main">
              <a:ext uri="{FF2B5EF4-FFF2-40B4-BE49-F238E27FC236}">
                <a16:creationId xmlns:a16="http://schemas.microsoft.com/office/drawing/2014/main" id="{BED7DA0C-6B28-49B1-BF68-5BAD3A4C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机器学习用数据、模型与损失替代手写规则</a:t>
            </a:r>
          </a:p>
        </p:txBody>
      </p:sp>
    </p:spTree>
    <p:extLst>
      <p:ext uri="{BB962C8B-B14F-4D97-AF65-F5344CB8AC3E}">
        <p14:creationId xmlns:p14="http://schemas.microsoft.com/office/powerpoint/2010/main" val="9549556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AD05E86E-12F4-43BE-8CA0-6DEBF443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A7D780BB-305B-452D-95A4-00C55E9D2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2 / 7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B9263076-0339-4029-B49C-75A824760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数据划分检验泛化，线性回归提供基线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AAAE71E5-98C1-4897-A1CE-D55F405D8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348B9A29-1F97-4BF9-87D7-C0B10D3B9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FC4BD9E-C928-43F0-9491-0FFA4350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C79245F-A346-442E-9A42-842E9832C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训练、验证与测试：学得好还要用得好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D0F14F0B-CA58-4710-BC26-F523B32F5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一个关键追问随之而来；模型在见过的数据上表现好；能保证它遇到新数据还行吗；规范做法通常把数据分成三份；训练集 用来学习参数；验证集 用来选择模型、阈值和超参数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E17A9EF-41AD-4329-AC5F-1EED2FBB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B00B322F-DF1B-431C-A849-C714CF02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线性回归：最经典的入门模型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0DCC5157-B071-428B-A3E6-CB4B12F62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501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最能把上面这套流程讲透的模型是 线性回归；19 世纪，英国学者高尔顿研究父母身高与子女身高的关系时发现；高个子父母的子女平均而言也高；但会向人群平均值靠拢——"回归"一词就源于这个现象</a:t>
            </a:r>
          </a:p>
        </p:txBody>
      </p:sp>
      <p:sp>
        <p:nvSpPr>
          <p:cNvPr id="12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2112A49F-0805-4481-A449-AF792E87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3" name="s4-takeaway">
            <a:extLst xmlns:a="http://schemas.openxmlformats.org/drawingml/2006/main">
              <a:ext uri="{FF2B5EF4-FFF2-40B4-BE49-F238E27FC236}">
                <a16:creationId xmlns:a16="http://schemas.microsoft.com/office/drawing/2014/main" id="{C0E67907-5E51-4F0D-981A-59F4F2EF7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数据划分检验泛化，线性回归提供基线</a:t>
            </a:r>
          </a:p>
        </p:txBody>
      </p:sp>
    </p:spTree>
    <p:extLst>
      <p:ext uri="{BB962C8B-B14F-4D97-AF65-F5344CB8AC3E}">
        <p14:creationId xmlns:p14="http://schemas.microsoft.com/office/powerpoint/2010/main" val="948070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C505AE22-A0F0-424F-B525-73419AD18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20D3DA39-F864-4052-A0B5-C2F489CD3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3 / 7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CD33E7DB-650F-4095-A075-67B80ACA1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任务类型决定分类或回归，经典模型各有偏置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6A572E3F-8AA3-4EAA-B36D-B3CA7A1E6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4B0DE8CC-9B78-4E68-BBC3-BC244EF8D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C8AF9B6-201B-415E-84BF-33E502339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20C132C-C8CF-4BDE-95FF-0A3958B2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从回归到分类：逻辑斯蒂回归与决策树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037EB6B-F2F3-455C-8E0D-F53E41B96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回归输出连续数值，分类输出离散类别；监督学习的任务基本落在这两类里；想用普通线性回归直接做二分类会遇到一个根本问题；预测值没有被限制在 0 到 1 之间；也不对应适合二分类的似然模型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A3B34C28-964D-41A6-945E-09098AFC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C0D02A38-0A46-45A0-AEFE-8E14B20C3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经典模型速览：LDA、AdaBoost 与支持向量机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98AE321-7C49-4153-9BED-FF4701DB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监督学习几十年的发展攒下了一批各有绝活的经典模型，了解它们的核心思想，就能看懂大部分传统机器学习系统的设计逻辑</a:t>
            </a:r>
          </a:p>
        </p:txBody>
      </p:sp>
      <p:sp>
        <p:nvSpPr>
          <p:cNvPr id="12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CEC2F227-F708-466F-A178-C3163D8C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3" name="s5-takeaway">
            <a:extLst xmlns:a="http://schemas.openxmlformats.org/drawingml/2006/main">
              <a:ext uri="{FF2B5EF4-FFF2-40B4-BE49-F238E27FC236}">
                <a16:creationId xmlns:a16="http://schemas.microsoft.com/office/drawing/2014/main" id="{FF26A018-89B0-408F-B122-6FF4725C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任务类型决定分类或回归，经典模型各有偏置</a:t>
            </a:r>
          </a:p>
        </p:txBody>
      </p:sp>
    </p:spTree>
    <p:extLst>
      <p:ext uri="{BB962C8B-B14F-4D97-AF65-F5344CB8AC3E}">
        <p14:creationId xmlns:p14="http://schemas.microsoft.com/office/powerpoint/2010/main" val="3149615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C7815D9A-E73F-4A5D-9B2B-BB17AD7FB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BAFDF140-9AEB-47C7-95C1-ED4FC5963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4 / 7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87AEC01B-FCC9-420B-98CE-A3C3B5DCF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一个图像识别系统是"分段"组装的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4F39368D-9F7F-45D1-9950-176CA8CB6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069AB18F-E440-47F5-BFBA-57707F39F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8EFE734-506E-4B45-BDC4-CEB451E8D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706809A-C43B-42C6-8D57-5DC5F4FF2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深度学习：让机器自己学特征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D4A8B588-0ED2-4BD7-A091-6A7B55B46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在深度学习之前，一个图像识别系统是"分段"组装的；人工设计特征提取（边缘、纹理、视觉词典）；再接一个分类器，每一段单独调优；深度学习改成 端到端；原始像素直接进网络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CBAC58E-C9A1-48E1-A2C8-0BEDA3661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1D22ACB-98EE-43FE-9D81-86C8B86D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网络内部发生的事情可以理解为 逐层抽象；低层单元常响应边缘和亮暗；中层组合出角点和部件；高层形成与对象类别相关的表示；这种层级处理受到生物视觉研究启发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BFE31064-636E-4606-8C11-F68AA77A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D580BC77-7552-445E-8397-49DD2D88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网络的基本单元常被称为 人工神经元；1943 年 McCulloch 和 Pitts 受生物神经元"兴奋/抑制"机制启发提出 MCP 模型；对输入加权求和，再经过一个激活函数决定输出</a:t>
            </a:r>
          </a:p>
        </p:txBody>
      </p:sp>
      <p:sp>
        <p:nvSpPr>
          <p:cNvPr id="13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6FDC305B-8142-4BA0-B121-F32C6DDF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6-takeaway">
            <a:extLst xmlns:a="http://schemas.openxmlformats.org/drawingml/2006/main">
              <a:ext uri="{FF2B5EF4-FFF2-40B4-BE49-F238E27FC236}">
                <a16:creationId xmlns:a16="http://schemas.microsoft.com/office/drawing/2014/main" id="{934A3B10-2EF9-4122-BE22-72EFF440E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一个图像识别系统是"分段"组装的</a:t>
            </a:r>
          </a:p>
        </p:txBody>
      </p:sp>
    </p:spTree>
    <p:extLst>
      <p:ext uri="{BB962C8B-B14F-4D97-AF65-F5344CB8AC3E}">
        <p14:creationId xmlns:p14="http://schemas.microsoft.com/office/powerpoint/2010/main" val="128838054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F3809C00-926F-4D5B-B54D-BFFB53244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4DD852A0-F8B9-4E43-B8A7-C2A81A3D4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5 / 7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5CBB4678-B291-433F-A92F-CD6E9F36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7028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网络结构定了，剩下的问题是：这么多参数（权重）怎么定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83C65ED7-CC48-4091-834E-320FC9E6C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DE3E8703-B9CC-4611-8BC1-58E9274B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F7E3732-8D73-484A-96CB-1D5F050D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E0550BA-5D54-4907-89F5-4A9C0EAC8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神经网络怎么训练：梯度下降与误差反向传播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5C820D6-90F2-4FDF-B9B6-CA119DB5E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网络结构定了，剩下的问题是：这么多参数（权重）怎么定？答案仍是监督学习那套流程——定义损失函数，然后优化它。回归任务常用均方误差；分类任务常用交叉熵，它度量预测概率分布与真实分布的差距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A4A8435C-8C3D-46CA-85E8-04ACC1720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89CEF42-A1E1-4E4F-80B6-2886715C8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优化的主力算法是 梯度下降；把损失函数想象成参数空间里的一片山地；当前参数是站立的位置；梯度指向上坡最陡的方向；往梯度的反方向挪一小步；损失就下降最快，步子的大小叫学习率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B419125D-3E1A-417E-95D9-12CCBF4DB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19CF1FC7-D65D-448F-8084-B89C34994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深层网络的参数分布在一层层结构里；输出端算出的误差如何反馈给前面每一层；误差反向传播 （BP）解决了这件事；利用链式求导法则，把输出误差从后向前逐层传递；算出每个参数对总误差该负多大"责任"</a:t>
            </a:r>
          </a:p>
        </p:txBody>
      </p:sp>
      <p:sp>
        <p:nvSpPr>
          <p:cNvPr id="13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0A0ED7A0-9A39-4C5D-9532-675A8635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7-takeaway">
            <a:extLst xmlns:a="http://schemas.openxmlformats.org/drawingml/2006/main">
              <a:ext uri="{FF2B5EF4-FFF2-40B4-BE49-F238E27FC236}">
                <a16:creationId xmlns:a16="http://schemas.microsoft.com/office/drawing/2014/main" id="{CE0AC6DD-010D-48B1-927E-BE061F31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网络结构定了，剩下的问题是：这么多参数（权重）怎么定</a:t>
            </a:r>
          </a:p>
        </p:txBody>
      </p:sp>
    </p:spTree>
    <p:extLst>
      <p:ext uri="{BB962C8B-B14F-4D97-AF65-F5344CB8AC3E}">
        <p14:creationId xmlns:p14="http://schemas.microsoft.com/office/powerpoint/2010/main" val="625283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B0BBDA6A-778E-421C-A34C-ECB62208E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6372359C-D878-45E7-8C51-F150FE036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6 / 7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CB8FCAA5-61F4-41B4-963E-E54866DD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把一张图像直接摊平接进全连接网络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1789450A-13E2-4223-8899-14A2612E5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356F152A-60E0-408C-9646-AB56674E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77A2C6F-C981-4E3C-B105-C0CD94C1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580A42D-8876-45F6-B3F3-AEA4988E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卷积神经网络：看懂图像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6FF8978-507C-4286-AC41-5FCA427A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3489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把一张图像直接摊平接进全连接网络；参数会瞬间爆炸，一张 1000×1000 的图片仅一层就要处理百万维输入；图像有两个可以利用的特点—— 模式是局部的 （一条边缘只占几个像素）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2BCEC5D-0220-41B2-9D07-4579FD04F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2ABBBA5-14E4-42EA-9F6E-744E16872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核心是 卷积操作，用一个小小的卷积核（如 3×3 的权重矩阵）在图像上滑动；每停一处就与覆盖区域做加权求和；输出一张特征图，同一个卷积核的参数在整张图上 共享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F8F18D94-DC8A-460D-9C48-06247016D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B3CABF2E-CD75-4FC6-9DCF-2C0E6F4CB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不同的卷积核提取不同特征：有的对竖直边缘敏感，有的响应特定纹理——这与视觉神经细胞的"特征选择性"相互呼应。多个卷积核并行工作，就得到多张互补的特征图</a:t>
            </a:r>
          </a:p>
        </p:txBody>
      </p:sp>
      <p:sp>
        <p:nvSpPr>
          <p:cNvPr id="13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59AC90BE-42F1-4604-8BB0-F8F83ACC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8-takeaway">
            <a:extLst xmlns:a="http://schemas.openxmlformats.org/drawingml/2006/main">
              <a:ext uri="{FF2B5EF4-FFF2-40B4-BE49-F238E27FC236}">
                <a16:creationId xmlns:a16="http://schemas.microsoft.com/office/drawing/2014/main" id="{07794917-8135-4968-A8E1-22DC3C122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把一张图像直接摊平接进全连接网络</a:t>
            </a:r>
          </a:p>
        </p:txBody>
      </p:sp>
    </p:spTree>
    <p:extLst>
      <p:ext uri="{BB962C8B-B14F-4D97-AF65-F5344CB8AC3E}">
        <p14:creationId xmlns:p14="http://schemas.microsoft.com/office/powerpoint/2010/main" val="10269578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463C5135-C6D8-4E36-9B23-570E90A2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965C0FFA-5A22-4D9C-89C5-DFA116ED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7 / 7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98050603-F1B4-4F73-AD4C-98CE958A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7028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图像一次性输入就好，语言、语音、时序数据却有前后依赖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E9D5A375-979E-4981-B816-CEACCDD62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ADFC3BFF-BFEF-49E9-8453-B080B258F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OV-003-S09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01BA42F-801E-4096-8DD6-1ED5B3AE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B04E66A-EDBE-45FB-B809-E87084B3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序列与生成：循环网络、生成对抗与词向量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25E28E0-A586-450D-B4FD-D2E5D7C7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0239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图像一次性输入就好；语言、语音、时序数据却有前后依赖；循环神经网络 （RNN）为此在网络里加了一条"记忆"通路；每读一个词，把当前输入和上一步的隐状态一起加工；隐状态就像一路携带的笔记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81E00F1-CEAA-4AA4-A49F-F0113648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4A49CDF6-CEC3-4FBE-8551-0C1D3DAD1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序列一长，RNN 的梯度在层层回传中容易消失；早先的信息就被"忘掉"；长短时记忆网络 （LSTM）用输入门、遗忘门、输出门管理一个内部记忆单元；学会该记什么、该忘什么；明显改善了长序列建模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57505594-6744-474F-AF8C-452C668F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5CA5CE50-ABA7-4578-A09D-51C3D432B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前面讲的模型都在做判断；深度生成学习 反过来让网络学会"创造"；生成对抗网络 （GAN）的设计精彩之处在于左右互搏；生成器负责伪造数据；判别器负责鉴别真伪；两者在博弈中共同进步</a:t>
            </a:r>
          </a:p>
        </p:txBody>
      </p:sp>
      <p:sp>
        <p:nvSpPr>
          <p:cNvPr id="13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F92398B8-7DCE-463B-B101-BBFABE9C0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9-takeaway">
            <a:extLst xmlns:a="http://schemas.openxmlformats.org/drawingml/2006/main">
              <a:ext uri="{FF2B5EF4-FFF2-40B4-BE49-F238E27FC236}">
                <a16:creationId xmlns:a16="http://schemas.microsoft.com/office/drawing/2014/main" id="{342715B4-5DA5-4158-B3C0-F9A08FA4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图像一次性输入就好，语言、语音、时序数据却有前后依赖</a:t>
            </a:r>
          </a:p>
        </p:txBody>
      </p:sp>
    </p:spTree>
    <p:extLst>
      <p:ext uri="{BB962C8B-B14F-4D97-AF65-F5344CB8AC3E}">
        <p14:creationId xmlns:p14="http://schemas.microsoft.com/office/powerpoint/2010/main" val="124604617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B4F92569-0DD1-46A5-97EA-D5EE89B2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F3FB1343-2E5B-4D81-90D7-A9DD0827A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C5C18806-6A48-4237-B064-0FC6B98C6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分类与回归都要为高代价错误保留人工判断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6F1CAFA0-E004-4C03-9382-5C5024175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12FF27B3-38F2-4718-AD16-46852D48A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OV-003-S10</a:t>
            </a:r>
          </a:p>
        </p:txBody>
      </p:sp>
      <p:sp>
        <p:nvSpPr>
          <p:cNvPr id="6" name="case-label-0">
            <a:extLst xmlns:a="http://schemas.openxmlformats.org/drawingml/2006/main">
              <a:ext uri="{FF2B5EF4-FFF2-40B4-BE49-F238E27FC236}">
                <a16:creationId xmlns:a16="http://schemas.microsoft.com/office/drawing/2014/main" id="{E80E319A-67BB-4707-9BF5-6992CBF0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4857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 1：垃圾邮件过滤</a:t>
            </a:r>
          </a:p>
        </p:txBody>
      </p:sp>
      <p:sp>
        <p:nvSpPr>
          <p:cNvPr id="7" name="case-0-row-0">
            <a:extLst xmlns:a="http://schemas.openxmlformats.org/drawingml/2006/main">
              <a:ext uri="{FF2B5EF4-FFF2-40B4-BE49-F238E27FC236}">
                <a16:creationId xmlns:a16="http://schemas.microsoft.com/office/drawing/2014/main" id="{2660EF1B-4360-493D-AD3C-607CD526B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85775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5415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</a:t>
            </a:r>
          </a:p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邮件系统需要自动判断新到的一封邮件是否为垃圾邮件</a:t>
            </a:r>
          </a:p>
        </p:txBody>
      </p:sp>
      <p:sp>
        <p:nvSpPr>
          <p:cNvPr id="8" name="case-0-row-1">
            <a:extLst xmlns:a="http://schemas.openxmlformats.org/drawingml/2006/main">
              <a:ext uri="{FF2B5EF4-FFF2-40B4-BE49-F238E27FC236}">
                <a16:creationId xmlns:a16="http://schemas.microsoft.com/office/drawing/2014/main" id="{1754F617-BF62-4E2A-95EA-113C763F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485775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361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</a:t>
            </a:r>
          </a:p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用大量已标注邮件训练分类模型（逻辑斯蒂回归即可作基线），并留出测试数据检验对新邮件的识别率</a:t>
            </a:r>
          </a:p>
        </p:txBody>
      </p:sp>
      <p:sp>
        <p:nvSpPr>
          <p:cNvPr id="9" name="case-0-row-2">
            <a:extLst xmlns:a="http://schemas.openxmlformats.org/drawingml/2006/main">
              <a:ext uri="{FF2B5EF4-FFF2-40B4-BE49-F238E27FC236}">
                <a16:creationId xmlns:a16="http://schemas.microsoft.com/office/drawing/2014/main" id="{320D3BB9-DD8E-42AF-A86A-6EE48FF3E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485775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828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</a:t>
            </a:r>
          </a:p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误拦正常邮件代价高，需要保留申诉通道，并定期用新样本重新训练</a:t>
            </a:r>
          </a:p>
        </p:txBody>
      </p:sp>
      <p:sp>
        <p:nvSpPr>
          <p:cNvPr id="10" name="case-label-1">
            <a:extLst xmlns:a="http://schemas.openxmlformats.org/drawingml/2006/main">
              <a:ext uri="{FF2B5EF4-FFF2-40B4-BE49-F238E27FC236}">
                <a16:creationId xmlns:a16="http://schemas.microsoft.com/office/drawing/2014/main" id="{6E21ABC9-242F-4B47-AF86-C1E2356C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981200"/>
            <a:ext cx="4857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 2：森林火灾面积预测</a:t>
            </a:r>
          </a:p>
        </p:txBody>
      </p:sp>
      <p:sp>
        <p:nvSpPr>
          <p:cNvPr id="11" name="case-1-row-0">
            <a:extLst xmlns:a="http://schemas.openxmlformats.org/drawingml/2006/main">
              <a:ext uri="{FF2B5EF4-FFF2-40B4-BE49-F238E27FC236}">
                <a16:creationId xmlns:a16="http://schemas.microsoft.com/office/drawing/2014/main" id="{6A05DB9E-D8F4-47E3-9CD3-91002EE45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667000"/>
            <a:ext cx="485775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098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</a:t>
            </a:r>
          </a:p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林业部门想根据气象条件预估火灾可能波及的面积，提前调配力量</a:t>
            </a:r>
          </a:p>
        </p:txBody>
      </p:sp>
      <p:sp>
        <p:nvSpPr>
          <p:cNvPr id="12" name="case-1-row-1">
            <a:extLst xmlns:a="http://schemas.openxmlformats.org/drawingml/2006/main">
              <a:ext uri="{FF2B5EF4-FFF2-40B4-BE49-F238E27FC236}">
                <a16:creationId xmlns:a16="http://schemas.microsoft.com/office/drawing/2014/main" id="{AB4C672F-8E69-4405-B81E-B28418A8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600450"/>
            <a:ext cx="485775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361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</a:t>
            </a:r>
          </a:p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用历史记录建立回归模型：先从"气温 → 过火面积"的一元线性回归入手，再加入风力等因素扩展为多元回归</a:t>
            </a:r>
          </a:p>
        </p:txBody>
      </p:sp>
      <p:sp>
        <p:nvSpPr>
          <p:cNvPr id="13" name="case-1-row-2">
            <a:extLst xmlns:a="http://schemas.openxmlformats.org/drawingml/2006/main">
              <a:ext uri="{FF2B5EF4-FFF2-40B4-BE49-F238E27FC236}">
                <a16:creationId xmlns:a16="http://schemas.microsoft.com/office/drawing/2014/main" id="{DC2B74F4-D608-4830-B657-51FC1F80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533900"/>
            <a:ext cx="485775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908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</a:t>
            </a:r>
          </a:p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极端天气超出历史数据分布时模型不可靠，需人工研判并把新数据补入训练集</a:t>
            </a:r>
          </a:p>
        </p:txBody>
      </p:sp>
      <p:sp>
        <p:nvSpPr>
          <p:cNvPr id="14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A5983DAF-8EFF-4F14-A69A-19F53B66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5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7966DE75-591C-43F8-A7BA-11180E77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分类与回归都要为高代价错误保留人工判断</a:t>
            </a:r>
          </a:p>
        </p:txBody>
      </p:sp>
    </p:spTree>
    <p:extLst>
      <p:ext uri="{BB962C8B-B14F-4D97-AF65-F5344CB8AC3E}">
        <p14:creationId xmlns:p14="http://schemas.microsoft.com/office/powerpoint/2010/main" val="153897347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24BDFF7E-B1FA-4D8D-BFB6-C00AEA90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43355243-E7BF-45B8-B621-7377E926C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BF3B79AD-D1C9-44DA-B33C-DEE54B441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低置信度识别必须转人工，避免金额差错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38A0312E-6599-46EA-92BA-7FC02FE4D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ADC839FB-61A3-4A28-A65E-A42F4BA9F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OV-003-S11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8B36C190-CB7E-476E-B791-6BE5878D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案例 3：手写数字识别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770D619F-2FEC-4013-A7CE-BF52A915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场景｜银行票据和邮政编码上的手写数字需要机器自动读取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FC51AEF5-69A5-4EA5-89AF-7DD62640A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问题｜每个人笔迹不同，人工设计的特征始终覆盖不了书写变化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1399A8AB-A7C6-415B-8B3C-FEF0E66C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3417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方法｜用卷积神经网络端到端训练：卷积层自动学习笔画特征，池化层压缩冗余，全连接层输出 0 到 9 的概率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F689AFD2-6715-414B-A4EC-EF032419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4893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结果｜经典的 LeNet 网络早在上世纪九十年代就投入美国支票识别系统，是深度学习最早的规模化应用之一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EF9E16DB-3D18-4462-A4A9-B1682329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边界｜低置信度样本转人工录入，识别错误会直接造成金额差错，阈值设置要保守</a:t>
            </a:r>
          </a:p>
        </p:txBody>
      </p:sp>
      <p:sp>
        <p:nvSpPr>
          <p:cNvPr id="12" name="s11-takeaway-rule">
            <a:extLst xmlns:a="http://schemas.openxmlformats.org/drawingml/2006/main">
              <a:ext uri="{FF2B5EF4-FFF2-40B4-BE49-F238E27FC236}">
                <a16:creationId xmlns:a16="http://schemas.microsoft.com/office/drawing/2014/main" id="{0611EA21-7B9B-43CC-B60C-E0D7908A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3" name="s11-takeaway">
            <a:extLst xmlns:a="http://schemas.openxmlformats.org/drawingml/2006/main">
              <a:ext uri="{FF2B5EF4-FFF2-40B4-BE49-F238E27FC236}">
                <a16:creationId xmlns:a16="http://schemas.microsoft.com/office/drawing/2014/main" id="{5A9D6159-4C30-4B12-99A5-107BCB485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低置信度识别必须转人工，避免金额差错</a:t>
            </a:r>
          </a:p>
        </p:txBody>
      </p:sp>
    </p:spTree>
    <p:extLst>
      <p:ext uri="{BB962C8B-B14F-4D97-AF65-F5344CB8AC3E}">
        <p14:creationId xmlns:p14="http://schemas.microsoft.com/office/powerpoint/2010/main" val="20390479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5A9514D3-708B-48F4-9A88-EE8159008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B3A57EC4-E553-4690-BB96-224A56B6D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C305BFDC-256E-437F-A291-BB5BFF24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机器学习与深度学习：一次可验收练习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D8DFD7A7-2EB9-4B2D-AF77-08B99E38F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15DEA56C-6F00-45BA-A559-9187B97AE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OV-003-S12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13A981E3-EDC1-4A2F-91D7-9B2FDEC8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1C03D06B-B91A-44DE-AA0F-371DD0E0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1F082480-54D8-446B-BC4C-83F7E2EC5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921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用表格软件对 10 组"气温—用电量"数据画散点图并添加线性趋势线；读出斜率和截距，说明它们各自的现实含义；把你工作中的一个真实问题改写成监督学习任务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BC90A265-82CC-4F63-8293-BE45C4E0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FAA07B01-7576-44B2-9A0B-C40BCE57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5E87C3C4-C977-4C55-BDBD-6DF3FDDC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58C59118-7B84-49DD-AA86-11EA5028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打开浏览器版 Teachable Machine；训练一个两类图像分类器；先每类只给 5 张样本；再增加到 30 张；对比测试效果，体会数据量与过拟合的关系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0DCBD3CC-BA4F-4598-B8DE-84203EF38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369A0F5D-EB34-48D4-BA40-1D9687CDB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2728B14E-AE93-459D-B710-414DA288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C584C8F6-CD00-4C7F-A41E-34CD3E86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完成后保留你的数据、步骤和结论，下一节讨论 AI 能力边界时会用它们做对照材料</a:t>
            </a:r>
          </a:p>
        </p:txBody>
      </p:sp>
    </p:spTree>
    <p:extLst>
      <p:ext uri="{BB962C8B-B14F-4D97-AF65-F5344CB8AC3E}">
        <p14:creationId xmlns:p14="http://schemas.microsoft.com/office/powerpoint/2010/main" val="3451408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8E91A3C2-FC41-4486-BF9E-A643DF5C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C9449C8B-12A9-4141-9067-EABAD2EE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AEB0164E-0720-461D-A112-13211665E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机器学习与深度学习：判断时先抓住三点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6E8CCB6F-63EF-42FF-99A3-F7420C2A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A5DF428C-6B48-477A-A601-F93B3362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OV-003-S13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2846C938-CB22-4BFF-B497-E6B72B3BF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661CDACD-1AC5-462E-95F1-BD3F16E5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3E3FBEF4-4533-474D-A118-5992863F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机器学习用数据、模型与损失替代手写规则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C0DF1EA7-4A54-4C32-BD78-42BD7062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93C0926E-FBE9-48B8-9D1E-C0549AD28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6DF04D67-6D01-4EA5-A956-971DE280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74ECEE9E-6807-4B79-98E9-0160423F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一个图像识别系统是"分段"组装的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692334D0-FB54-439E-9A71-F835503D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7EFCA929-83AA-4EE9-95FD-24CE51A6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52252209-81C6-48F3-B4DA-CAB4AC6E1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EA6CA09D-01C3-44F6-A876-8CD937736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图像一次性输入就好，语言、语音、时序数据却有前后依赖</a:t>
            </a:r>
          </a:p>
        </p:txBody>
      </p:sp>
    </p:spTree>
    <p:extLst>
      <p:ext uri="{BB962C8B-B14F-4D97-AF65-F5344CB8AC3E}">
        <p14:creationId xmlns:p14="http://schemas.microsoft.com/office/powerpoint/2010/main" val="78737727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4-rule">
            <a:extLst xmlns:a="http://schemas.openxmlformats.org/drawingml/2006/main">
              <a:ext uri="{FF2B5EF4-FFF2-40B4-BE49-F238E27FC236}">
                <a16:creationId xmlns:a16="http://schemas.microsoft.com/office/drawing/2014/main" id="{F7CC6FD2-B862-4AA9-B955-E0C418784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4-eyebrow">
            <a:extLst xmlns:a="http://schemas.openxmlformats.org/drawingml/2006/main">
              <a:ext uri="{FF2B5EF4-FFF2-40B4-BE49-F238E27FC236}">
                <a16:creationId xmlns:a16="http://schemas.microsoft.com/office/drawing/2014/main" id="{90C9550D-B421-41B4-9ECF-797147E3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4-title">
            <a:extLst xmlns:a="http://schemas.openxmlformats.org/drawingml/2006/main">
              <a:ext uri="{FF2B5EF4-FFF2-40B4-BE49-F238E27FC236}">
                <a16:creationId xmlns:a16="http://schemas.microsoft.com/office/drawing/2014/main" id="{057613A2-D5EB-4A12-880E-BCFAC73E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机器学习与深度学习：依据、边界与延伸</a:t>
            </a:r>
          </a:p>
        </p:txBody>
      </p:sp>
      <p:sp>
        <p:nvSpPr>
          <p:cNvPr id="4" name="s14-footer">
            <a:extLst xmlns:a="http://schemas.openxmlformats.org/drawingml/2006/main">
              <a:ext uri="{FF2B5EF4-FFF2-40B4-BE49-F238E27FC236}">
                <a16:creationId xmlns:a16="http://schemas.microsoft.com/office/drawing/2014/main" id="{B4354C67-9EFF-4411-AED0-59B92866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4-identity">
            <a:extLst xmlns:a="http://schemas.openxmlformats.org/drawingml/2006/main">
              <a:ext uri="{FF2B5EF4-FFF2-40B4-BE49-F238E27FC236}">
                <a16:creationId xmlns:a16="http://schemas.microsoft.com/office/drawing/2014/main" id="{22AFC71E-E43F-4446-BA00-9BFD9F827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OV-003-S14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A6CF25CA-BA09-4931-8749-FDBEEECAC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4112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MIT 6.S191 Introduction to Deep Learning：麻省理工的深度学习入门课，讲座、幻灯片和实验齐全，适合系统深入神经网络与生成模型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78ED7005-1CC6-4224-B28A-F7EF73CD4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3Blue1Brown：神经网络系列视频：用可视化动画直观呈现神经网络、梯度下降与反向传播的运行机制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DFBC80D9-12C0-46E9-9580-CA9658CD2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吴恩达 Machine Learning Specialization：面向零基础的机器学习系统课程，配有编程练习</a:t>
            </a:r>
          </a:p>
        </p:txBody>
      </p:sp>
      <p:sp>
        <p:nvSpPr>
          <p:cNvPr id="9" name="s14-takeaway-rule">
            <a:extLst xmlns:a="http://schemas.openxmlformats.org/drawingml/2006/main">
              <a:ext uri="{FF2B5EF4-FFF2-40B4-BE49-F238E27FC236}">
                <a16:creationId xmlns:a16="http://schemas.microsoft.com/office/drawing/2014/main" id="{4D4206A4-109F-431D-A9B8-D7A158751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14-takeaway">
            <a:extLst xmlns:a="http://schemas.openxmlformats.org/drawingml/2006/main">
              <a:ext uri="{FF2B5EF4-FFF2-40B4-BE49-F238E27FC236}">
                <a16:creationId xmlns:a16="http://schemas.microsoft.com/office/drawing/2014/main" id="{41033236-AFF1-4409-B483-C5C3C37C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91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课程精编页用于讲授主线；播放器中的“原课件”模式保留团队 PowerPoint 精选页、真实图片和可播放视频。</a:t>
            </a:r>
          </a:p>
        </p:txBody>
      </p:sp>
    </p:spTree>
    <p:extLst>
      <p:ext uri="{BB962C8B-B14F-4D97-AF65-F5344CB8AC3E}">
        <p14:creationId xmlns:p14="http://schemas.microsoft.com/office/powerpoint/2010/main" val="10567772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2026-07-12T03:31:39.8540000Z</dcterms:created>
  <dcterms:modified xsi:type="dcterms:W3CDTF">2026-07-12T03:31:39.8540000Z</dcterms:modified>
</coreProperties>
</file>