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2344d41d76487a" /><Relationship Type="http://schemas.openxmlformats.org/officeDocument/2006/relationships/extended-properties" Target="/docProps/app.xml" Id="R99e47797a5904e83" /><Relationship Type="http://schemas.openxmlformats.org/officeDocument/2006/relationships/officeDocument" Target="/ppt/presentation.xml" Id="R2d85d50590d74dd8" /></Relationships>
</file>

<file path=ppt/presentation.xml><?xml version="1.0" encoding="utf-8"?>
<p:presentation xmlns:p="http://schemas.openxmlformats.org/presentationml/2006/main">
  <p:sldMasterIdLst>
    <p:sldMasterId xmlns:r="http://schemas.openxmlformats.org/officeDocument/2006/relationships" id="2147483648" r:id="R22b6d1fa246a435a"/>
  </p:sldMasterIdLst>
  <p:notesMasterIdLst>
    <p:notesMasterId xmlns:r="http://schemas.openxmlformats.org/officeDocument/2006/relationships" r:id="Ra03bf3436fac4936"/>
  </p:notesMasterIdLst>
  <p:sldIdLst>
    <p:sldId xmlns:r="http://schemas.openxmlformats.org/officeDocument/2006/relationships" id="256" r:id="Rabd8f2d831be4766"/>
    <p:sldId xmlns:r="http://schemas.openxmlformats.org/officeDocument/2006/relationships" id="257" r:id="Radd734a090824662"/>
    <p:sldId xmlns:r="http://schemas.openxmlformats.org/officeDocument/2006/relationships" id="258" r:id="Rea9ad57ddfae4cb9"/>
    <p:sldId xmlns:r="http://schemas.openxmlformats.org/officeDocument/2006/relationships" id="259" r:id="R0005dc6a41f24841"/>
    <p:sldId xmlns:r="http://schemas.openxmlformats.org/officeDocument/2006/relationships" id="260" r:id="Re5e791f6084c4e50"/>
    <p:sldId xmlns:r="http://schemas.openxmlformats.org/officeDocument/2006/relationships" id="261" r:id="Rad98a35e09604053"/>
    <p:sldId xmlns:r="http://schemas.openxmlformats.org/officeDocument/2006/relationships" id="262" r:id="Rb882ed5aa8ae4e7a"/>
    <p:sldId xmlns:r="http://schemas.openxmlformats.org/officeDocument/2006/relationships" id="263" r:id="R3956940e444f45fb"/>
    <p:sldId xmlns:r="http://schemas.openxmlformats.org/officeDocument/2006/relationships" id="264" r:id="R8c94edf724d44f38"/>
    <p:sldId xmlns:r="http://schemas.openxmlformats.org/officeDocument/2006/relationships" id="265" r:id="Rabbb7b0978ea4312"/>
    <p:sldId xmlns:r="http://schemas.openxmlformats.org/officeDocument/2006/relationships" id="266" r:id="R723261453f9d4e30"/>
    <p:sldId xmlns:r="http://schemas.openxmlformats.org/officeDocument/2006/relationships" id="267" r:id="Rf8687ddab0e74e36"/>
    <p:sldId xmlns:r="http://schemas.openxmlformats.org/officeDocument/2006/relationships" id="268" r:id="R73b4517f19334d2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3dc1ab893c4381" /><Relationship Type="http://schemas.openxmlformats.org/officeDocument/2006/relationships/slideMaster" Target="/ppt/slideMasters/slideMaster1.xml" Id="R22b6d1fa246a435a" /><Relationship Type="http://schemas.openxmlformats.org/officeDocument/2006/relationships/notesMaster" Target="/ppt/notesMasters/notesMaster1.xml" Id="Ra03bf3436fac4936" /><Relationship Type="http://schemas.openxmlformats.org/officeDocument/2006/relationships/presProps" Target="/ppt/presProps.xml" Id="Reed8fed818944a79" /><Relationship Type="http://schemas.openxmlformats.org/officeDocument/2006/relationships/tableStyles" Target="/ppt/tableStyles.xml" Id="R81199ba66ef84c6d" /><Relationship Type="http://schemas.openxmlformats.org/officeDocument/2006/relationships/slide" Target="/ppt/slides/slide1.xml" Id="Rabd8f2d831be4766" /><Relationship Type="http://schemas.openxmlformats.org/officeDocument/2006/relationships/slide" Target="/ppt/slides/slide2.xml" Id="Radd734a090824662" /><Relationship Type="http://schemas.openxmlformats.org/officeDocument/2006/relationships/slide" Target="/ppt/slides/slide3.xml" Id="Rea9ad57ddfae4cb9" /><Relationship Type="http://schemas.openxmlformats.org/officeDocument/2006/relationships/slide" Target="/ppt/slides/slide4.xml" Id="R0005dc6a41f24841" /><Relationship Type="http://schemas.openxmlformats.org/officeDocument/2006/relationships/slide" Target="/ppt/slides/slide5.xml" Id="Re5e791f6084c4e50" /><Relationship Type="http://schemas.openxmlformats.org/officeDocument/2006/relationships/slide" Target="/ppt/slides/slide6.xml" Id="Rad98a35e09604053" /><Relationship Type="http://schemas.openxmlformats.org/officeDocument/2006/relationships/slide" Target="/ppt/slides/slide7.xml" Id="Rb882ed5aa8ae4e7a" /><Relationship Type="http://schemas.openxmlformats.org/officeDocument/2006/relationships/slide" Target="/ppt/slides/slide8.xml" Id="R3956940e444f45fb" /><Relationship Type="http://schemas.openxmlformats.org/officeDocument/2006/relationships/slide" Target="/ppt/slides/slide9.xml" Id="R8c94edf724d44f38" /><Relationship Type="http://schemas.openxmlformats.org/officeDocument/2006/relationships/slide" Target="/ppt/slides/slide10.xml" Id="Rabbb7b0978ea4312" /><Relationship Type="http://schemas.openxmlformats.org/officeDocument/2006/relationships/slide" Target="/ppt/slides/slide11.xml" Id="R723261453f9d4e30" /><Relationship Type="http://schemas.openxmlformats.org/officeDocument/2006/relationships/slide" Target="/ppt/slides/slide12.xml" Id="Rf8687ddab0e74e36" /><Relationship Type="http://schemas.openxmlformats.org/officeDocument/2006/relationships/slide" Target="/ppt/slides/slide13.xml" Id="R73b4517f1933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181fda1e9648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41c6a34b444a8e" /><Relationship Type="http://schemas.openxmlformats.org/officeDocument/2006/relationships/notesMaster" Target="/ppt/notesMasters/notesMaster1.xml" Id="R7d069376ed3041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e1b5dd7a344ce8" /><Relationship Type="http://schemas.openxmlformats.org/officeDocument/2006/relationships/notesMaster" Target="/ppt/notesMasters/notesMaster1.xml" Id="Rc7dafa88492040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430c1b779246a1" /><Relationship Type="http://schemas.openxmlformats.org/officeDocument/2006/relationships/notesMaster" Target="/ppt/notesMasters/notesMaster1.xml" Id="R52cfe081f4ca4a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c6341b9fcf4ee6" /><Relationship Type="http://schemas.openxmlformats.org/officeDocument/2006/relationships/notesMaster" Target="/ppt/notesMasters/notesMaster1.xml" Id="R7baf68f8e6c94b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a4282c144d4744" /><Relationship Type="http://schemas.openxmlformats.org/officeDocument/2006/relationships/notesMaster" Target="/ppt/notesMasters/notesMaster1.xml" Id="Rbc24c4f9000f41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5b0573276f40bb" /><Relationship Type="http://schemas.openxmlformats.org/officeDocument/2006/relationships/notesMaster" Target="/ppt/notesMasters/notesMaster1.xml" Id="Rc754aa440a3640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021c286f2e48ce" /><Relationship Type="http://schemas.openxmlformats.org/officeDocument/2006/relationships/notesMaster" Target="/ppt/notesMasters/notesMaster1.xml" Id="R9709fb70ba634a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cf0da2659349e1" /><Relationship Type="http://schemas.openxmlformats.org/officeDocument/2006/relationships/notesMaster" Target="/ppt/notesMasters/notesMaster1.xml" Id="R1835f0c09d6f42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e982a4b1cd48b2" /><Relationship Type="http://schemas.openxmlformats.org/officeDocument/2006/relationships/notesMaster" Target="/ppt/notesMasters/notesMaster1.xml" Id="Rdcbda901b73647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f4ecd642364482" /><Relationship Type="http://schemas.openxmlformats.org/officeDocument/2006/relationships/notesMaster" Target="/ppt/notesMasters/notesMaster1.xml" Id="R0c72f045ecfc4b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d73ba8d1f648da" /><Relationship Type="http://schemas.openxmlformats.org/officeDocument/2006/relationships/notesMaster" Target="/ppt/notesMasters/notesMaster1.xml" Id="Rf93f55586d4e4e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868afef377489d" /><Relationship Type="http://schemas.openxmlformats.org/officeDocument/2006/relationships/notesMaster" Target="/ppt/notesMasters/notesMaster1.xml" Id="Rfd1022c7de9345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26c93844c24f94" /><Relationship Type="http://schemas.openxmlformats.org/officeDocument/2006/relationships/notesMaster" Target="/ppt/notesMasters/notesMaster1.xml" Id="R03068ba3cab148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e018af5eb441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9385d988f8456b" /><Relationship Type="http://schemas.openxmlformats.org/officeDocument/2006/relationships/slideLayout" Target="/ppt/slideLayouts/slideLayout1.xml" Id="R0987a428f5f94d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87a428f5f94d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98f8ac4e09469d" /><Relationship Type="http://schemas.openxmlformats.org/officeDocument/2006/relationships/notesSlide" Target="/ppt/notesSlides/notesSlide1.xml" Id="R536c815a2b134e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76b02e5c914a30" /><Relationship Type="http://schemas.openxmlformats.org/officeDocument/2006/relationships/notesSlide" Target="/ppt/notesSlides/notesSlide2.xml" Id="R999a64e6e27341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fe7344e0348d6" /><Relationship Type="http://schemas.openxmlformats.org/officeDocument/2006/relationships/notesSlide" Target="/ppt/notesSlides/notesSlide3.xml" Id="Redd159d8de12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f2c897e1874f89" /><Relationship Type="http://schemas.openxmlformats.org/officeDocument/2006/relationships/notesSlide" Target="/ppt/notesSlides/notesSlide4.xml" Id="R92f9cb728a854e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93d81232da4f28" /><Relationship Type="http://schemas.openxmlformats.org/officeDocument/2006/relationships/notesSlide" Target="/ppt/notesSlides/notesSlide5.xml" Id="R39902dfae03941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07f82fe01a4a93" /><Relationship Type="http://schemas.openxmlformats.org/officeDocument/2006/relationships/notesSlide" Target="/ppt/notesSlides/notesSlide6.xml" Id="R04be2f7e42364b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318c687b274ed9" /><Relationship Type="http://schemas.openxmlformats.org/officeDocument/2006/relationships/notesSlide" Target="/ppt/notesSlides/notesSlide7.xml" Id="R8222a682ebaf4f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7a9b1bb4884b9d" /><Relationship Type="http://schemas.openxmlformats.org/officeDocument/2006/relationships/notesSlide" Target="/ppt/notesSlides/notesSlide8.xml" Id="R045c3b5d433041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e78beb9174493f" /><Relationship Type="http://schemas.openxmlformats.org/officeDocument/2006/relationships/notesSlide" Target="/ppt/notesSlides/notesSlide9.xml" Id="Rf516544394f34a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3a769427994480" /><Relationship Type="http://schemas.openxmlformats.org/officeDocument/2006/relationships/notesSlide" Target="/ppt/notesSlides/notesSlide10.xml" Id="R76a602ce543547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9a332634e74a2f" /><Relationship Type="http://schemas.openxmlformats.org/officeDocument/2006/relationships/notesSlide" Target="/ppt/notesSlides/notesSlide11.xml" Id="Rb333a14a34b447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893ace5c98423d" /><Relationship Type="http://schemas.openxmlformats.org/officeDocument/2006/relationships/notesSlide" Target="/ppt/notesSlides/notesSlide12.xml" Id="R9d96fdbb44964b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4616d41a7e4942" /><Relationship Type="http://schemas.openxmlformats.org/officeDocument/2006/relationships/notesSlide" Target="/ppt/notesSlides/notesSlide13.xml" Id="R3c00ddadfbcd4a38"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1" name="cover-rule">
            <a:extLst xmlns:a="http://schemas.openxmlformats.org/drawingml/2006/main">
              <a:ext uri="{FF2B5EF4-FFF2-40B4-BE49-F238E27FC236}">
                <a16:creationId xmlns:a16="http://schemas.microsoft.com/office/drawing/2014/main" id="{7A9D7600-7571-4CE1-93A7-57F951321BB9}"/>
              </a:ext>
            </a:extLst>
          </p:cNvPr>
          <p:cNvSpPr>
            <a:spLocks xmlns:a="http://schemas.openxmlformats.org/drawingml/2006/main" noGrp="1"/>
          </p:cNvSpPr>
          <p:nvPr/>
        </p:nvSpPr>
        <p:spPr>
          <a:xfrm xmlns:a="http://schemas.openxmlformats.org/drawingml/2006/main">
            <a:off x="685800" y="781050"/>
            <a:ext cx="114300" cy="46672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cover-ring-1">
            <a:extLst xmlns:a="http://schemas.openxmlformats.org/drawingml/2006/main">
              <a:ext uri="{FF2B5EF4-FFF2-40B4-BE49-F238E27FC236}">
                <a16:creationId xmlns:a16="http://schemas.microsoft.com/office/drawing/2014/main" id="{885A97AB-9928-4C3F-BF19-411476B71786}"/>
              </a:ext>
            </a:extLst>
          </p:cNvPr>
          <p:cNvSpPr>
            <a:spLocks xmlns:a="http://schemas.openxmlformats.org/drawingml/2006/main" noGrp="1"/>
          </p:cNvSpPr>
          <p:nvPr/>
        </p:nvSpPr>
        <p:spPr>
          <a:xfrm xmlns:a="http://schemas.openxmlformats.org/drawingml/2006/main">
            <a:off x="8286750" y="1066800"/>
            <a:ext cx="2857500" cy="2857500"/>
          </a:xfrm>
          <a:prstGeom xmlns:a="http://schemas.openxmlformats.org/drawingml/2006/main" prst="ellipse">
            <a:avLst/>
          </a:prstGeom>
          <a:noFill xmlns:a="http://schemas.openxmlformats.org/drawingml/2006/main"/>
          <a:ln xmlns:a="http://schemas.openxmlformats.org/drawingml/2006/main" w="57150">
            <a:solidFill>
              <a:srgbClr val="1459C7"/>
            </a:solidFill>
            <a:prstDash val="solid"/>
          </a:ln>
        </p:spPr>
      </p:sp>
      <p:sp>
        <p:nvSpPr>
          <p:cNvPr id="3" name="cover-ring-2">
            <a:extLst xmlns:a="http://schemas.openxmlformats.org/drawingml/2006/main">
              <a:ext uri="{FF2B5EF4-FFF2-40B4-BE49-F238E27FC236}">
                <a16:creationId xmlns:a16="http://schemas.microsoft.com/office/drawing/2014/main" id="{4FE73382-2DD0-424E-A938-36AA8DDC781B}"/>
              </a:ext>
            </a:extLst>
          </p:cNvPr>
          <p:cNvSpPr>
            <a:spLocks xmlns:a="http://schemas.openxmlformats.org/drawingml/2006/main" noGrp="1"/>
          </p:cNvSpPr>
          <p:nvPr/>
        </p:nvSpPr>
        <p:spPr>
          <a:xfrm xmlns:a="http://schemas.openxmlformats.org/drawingml/2006/main">
            <a:off x="8839200" y="1619250"/>
            <a:ext cx="1752600" cy="1752600"/>
          </a:xfrm>
          <a:prstGeom xmlns:a="http://schemas.openxmlformats.org/drawingml/2006/main" prst="ellipse">
            <a:avLst/>
          </a:prstGeom>
          <a:noFill xmlns:a="http://schemas.openxmlformats.org/drawingml/2006/main"/>
          <a:ln xmlns:a="http://schemas.openxmlformats.org/drawingml/2006/main" w="38100">
            <a:solidFill>
              <a:srgbClr val="2D9B72"/>
            </a:solidFill>
            <a:prstDash val="solid"/>
          </a:ln>
        </p:spPr>
      </p:sp>
      <p:sp>
        <p:nvSpPr>
          <p:cNvPr id="4" name="cover-core">
            <a:extLst xmlns:a="http://schemas.openxmlformats.org/drawingml/2006/main">
              <a:ext uri="{FF2B5EF4-FFF2-40B4-BE49-F238E27FC236}">
                <a16:creationId xmlns:a16="http://schemas.microsoft.com/office/drawing/2014/main" id="{776F59F9-6F39-42FE-B636-158465E3E687}"/>
              </a:ext>
            </a:extLst>
          </p:cNvPr>
          <p:cNvSpPr>
            <a:spLocks xmlns:a="http://schemas.openxmlformats.org/drawingml/2006/main" noGrp="1"/>
          </p:cNvSpPr>
          <p:nvPr/>
        </p:nvSpPr>
        <p:spPr>
          <a:xfrm xmlns:a="http://schemas.openxmlformats.org/drawingml/2006/main">
            <a:off x="9410700" y="2190750"/>
            <a:ext cx="609600" cy="609600"/>
          </a:xfrm>
          <a:prstGeom xmlns:a="http://schemas.openxmlformats.org/drawingml/2006/main" prst="ellipse">
            <a:avLst/>
          </a:prstGeom>
          <a:solidFill xmlns:a="http://schemas.openxmlformats.org/drawingml/2006/main">
            <a:srgbClr val="2D9B72"/>
          </a:solidFill>
          <a:ln xmlns:a="http://schemas.openxmlformats.org/drawingml/2006/main" w="0">
            <a:solidFill>
              <a:srgbClr val="2D9B72"/>
            </a:solidFill>
            <a:prstDash val="solid"/>
          </a:ln>
        </p:spPr>
      </p:sp>
      <p:sp>
        <p:nvSpPr>
          <p:cNvPr id="5" name="cover-line-1">
            <a:extLst xmlns:a="http://schemas.openxmlformats.org/drawingml/2006/main">
              <a:ext uri="{FF2B5EF4-FFF2-40B4-BE49-F238E27FC236}">
                <a16:creationId xmlns:a16="http://schemas.microsoft.com/office/drawing/2014/main" id="{2E53FD52-DDD5-431D-93E9-1C00ED5E030A}"/>
              </a:ext>
            </a:extLst>
          </p:cNvPr>
          <p:cNvSpPr>
            <a:spLocks xmlns:a="http://schemas.openxmlformats.org/drawingml/2006/main" noGrp="1"/>
          </p:cNvSpPr>
          <p:nvPr/>
        </p:nvSpPr>
        <p:spPr>
          <a:xfrm xmlns:a="http://schemas.openxmlformats.org/drawingml/2006/main">
            <a:off x="7810500" y="4476750"/>
            <a:ext cx="3371850" cy="0"/>
          </a:xfrm>
          <a:prstGeom xmlns:a="http://schemas.openxmlformats.org/drawingml/2006/main" prst="line">
            <a:avLst/>
          </a:prstGeom>
          <a:noFill xmlns:a="http://schemas.openxmlformats.org/drawingml/2006/main"/>
          <a:ln xmlns:a="http://schemas.openxmlformats.org/drawingml/2006/main" w="76200">
            <a:solidFill>
              <a:srgbClr val="1459C7"/>
            </a:solidFill>
            <a:prstDash val="solid"/>
          </a:ln>
        </p:spPr>
      </p:sp>
      <p:sp>
        <p:nvSpPr>
          <p:cNvPr id="6" name="cover-line-2">
            <a:extLst xmlns:a="http://schemas.openxmlformats.org/drawingml/2006/main">
              <a:ext uri="{FF2B5EF4-FFF2-40B4-BE49-F238E27FC236}">
                <a16:creationId xmlns:a16="http://schemas.microsoft.com/office/drawing/2014/main" id="{7823AEC0-2B01-43CA-96FE-7EBB93976ABC}"/>
              </a:ext>
            </a:extLst>
          </p:cNvPr>
          <p:cNvSpPr>
            <a:spLocks xmlns:a="http://schemas.openxmlformats.org/drawingml/2006/main" noGrp="1"/>
          </p:cNvSpPr>
          <p:nvPr/>
        </p:nvSpPr>
        <p:spPr>
          <a:xfrm xmlns:a="http://schemas.openxmlformats.org/drawingml/2006/main">
            <a:off x="8515350" y="4895850"/>
            <a:ext cx="2667000" cy="0"/>
          </a:xfrm>
          <a:prstGeom xmlns:a="http://schemas.openxmlformats.org/drawingml/2006/main" prst="line">
            <a:avLst/>
          </a:prstGeom>
          <a:noFill xmlns:a="http://schemas.openxmlformats.org/drawingml/2006/main"/>
          <a:ln xmlns:a="http://schemas.openxmlformats.org/drawingml/2006/main" w="38100">
            <a:solidFill>
              <a:srgbClr val="2D9B72"/>
            </a:solidFill>
            <a:prstDash val="solid"/>
          </a:ln>
        </p:spPr>
      </p:sp>
      <p:sp>
        <p:nvSpPr>
          <p:cNvPr id="7" name="cover-eyebrow">
            <a:extLst xmlns:a="http://schemas.openxmlformats.org/drawingml/2006/main">
              <a:ext uri="{FF2B5EF4-FFF2-40B4-BE49-F238E27FC236}">
                <a16:creationId xmlns:a16="http://schemas.microsoft.com/office/drawing/2014/main" id="{1E4045A4-8BE0-4E55-9D6D-98004F849DD3}"/>
              </a:ext>
            </a:extLst>
          </p:cNvPr>
          <p:cNvSpPr>
            <a:spLocks xmlns:a="http://schemas.openxmlformats.org/drawingml/2006/main" noGrp="1"/>
          </p:cNvSpPr>
          <p:nvPr/>
        </p:nvSpPr>
        <p:spPr>
          <a:xfrm xmlns:a="http://schemas.openxmlformats.org/drawingml/2006/main">
            <a:off x="1066800" y="8763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D9B72"/>
                </a:solidFill>
                <a:latin typeface="PingFang SC"/>
                <a:ea typeface="PingFang SC"/>
                <a:cs typeface="PingFang SC"/>
              </a:defRPr>
            </a:pPr>
            <a:r>
              <a:rPr sz="1650" b="1">
                <a:solidFill>
                  <a:srgbClr val="2D9B72"/>
                </a:solidFill>
                <a:latin typeface="PingFang SC"/>
                <a:ea typeface="PingFang SC"/>
                <a:cs typeface="PingFang SC"/>
              </a:rPr>
              <a:t>第 3 章 · 具身智能</a:t>
            </a:r>
          </a:p>
        </p:txBody>
      </p:sp>
      <p:sp>
        <p:nvSpPr>
          <p:cNvPr id="8" name="cover-title">
            <a:extLst xmlns:a="http://schemas.openxmlformats.org/drawingml/2006/main">
              <a:ext uri="{FF2B5EF4-FFF2-40B4-BE49-F238E27FC236}">
                <a16:creationId xmlns:a16="http://schemas.microsoft.com/office/drawing/2014/main" id="{D3EEEA45-1C2E-4812-A74F-5E4708B5E6D3}"/>
              </a:ext>
            </a:extLst>
          </p:cNvPr>
          <p:cNvSpPr>
            <a:spLocks xmlns:a="http://schemas.openxmlformats.org/drawingml/2006/main" noGrp="1"/>
          </p:cNvSpPr>
          <p:nvPr/>
        </p:nvSpPr>
        <p:spPr>
          <a:xfrm xmlns:a="http://schemas.openxmlformats.org/drawingml/2006/main">
            <a:off x="1066800" y="1504950"/>
            <a:ext cx="685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627"/>
          </a:bodyPr>
          <a:lstStyle xmlns:a="http://schemas.openxmlformats.org/drawingml/2006/main"/>
          <a:p xmlns:a="http://schemas.openxmlformats.org/drawingml/2006/main">
            <a:pPr algn="l">
              <a:defRPr sz="4650" b="1">
                <a:solidFill>
                  <a:srgbClr val="FFFFFF"/>
                </a:solidFill>
                <a:latin typeface="PingFang SC"/>
                <a:ea typeface="PingFang SC"/>
                <a:cs typeface="PingFang SC"/>
              </a:defRPr>
            </a:pPr>
            <a:r>
              <a:rPr sz="4650" b="1">
                <a:solidFill>
                  <a:srgbClr val="FFFFFF"/>
                </a:solidFill>
                <a:latin typeface="PingFang SC"/>
                <a:ea typeface="PingFang SC"/>
                <a:cs typeface="PingFang SC"/>
              </a:rPr>
              <a:t>Crowdverse 与群体具身智能</a:t>
            </a:r>
          </a:p>
        </p:txBody>
      </p:sp>
      <p:sp>
        <p:nvSpPr>
          <p:cNvPr id="9" name="cover-subtitle">
            <a:extLst xmlns:a="http://schemas.openxmlformats.org/drawingml/2006/main">
              <a:ext uri="{FF2B5EF4-FFF2-40B4-BE49-F238E27FC236}">
                <a16:creationId xmlns:a16="http://schemas.microsoft.com/office/drawing/2014/main" id="{115EAC12-A217-4812-942B-947698ACBB52}"/>
              </a:ext>
            </a:extLst>
          </p:cNvPr>
          <p:cNvSpPr>
            <a:spLocks xmlns:a="http://schemas.openxmlformats.org/drawingml/2006/main" noGrp="1"/>
          </p:cNvSpPr>
          <p:nvPr/>
        </p:nvSpPr>
        <p:spPr>
          <a:xfrm xmlns:a="http://schemas.openxmlformats.org/drawingml/2006/main">
            <a:off x="1066800" y="2914650"/>
            <a:ext cx="647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175">
                <a:solidFill>
                  <a:srgbClr val="DDEBFA"/>
                </a:solidFill>
                <a:latin typeface="PingFang SC"/>
                <a:ea typeface="PingFang SC"/>
                <a:cs typeface="PingFang SC"/>
              </a:defRPr>
            </a:pPr>
            <a:r>
              <a:rPr sz="2175">
                <a:solidFill>
                  <a:srgbClr val="DDEBFA"/>
                </a:solidFill>
                <a:latin typeface="PingFang SC"/>
                <a:ea typeface="PingFang SC"/>
                <a:cs typeface="PingFang SC"/>
              </a:rPr>
              <a:t>用数字孪生训练场理解多智能体任务、群体行为、协同评测与仿真到现实。</a:t>
            </a:r>
          </a:p>
        </p:txBody>
      </p:sp>
      <p:sp>
        <p:nvSpPr>
          <p:cNvPr id="10" name="cover-lead">
            <a:extLst xmlns:a="http://schemas.openxmlformats.org/drawingml/2006/main">
              <a:ext uri="{FF2B5EF4-FFF2-40B4-BE49-F238E27FC236}">
                <a16:creationId xmlns:a16="http://schemas.microsoft.com/office/drawing/2014/main" id="{B230A845-667E-431B-AE3C-2C13EC43C4B9}"/>
              </a:ext>
            </a:extLst>
          </p:cNvPr>
          <p:cNvSpPr>
            <a:spLocks xmlns:a="http://schemas.openxmlformats.org/drawingml/2006/main" noGrp="1"/>
          </p:cNvSpPr>
          <p:nvPr/>
        </p:nvSpPr>
        <p:spPr>
          <a:xfrm xmlns:a="http://schemas.openxmlformats.org/drawingml/2006/main">
            <a:off x="1066800" y="4305300"/>
            <a:ext cx="647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a:solidFill>
                  <a:srgbClr val="FFFFFF"/>
                </a:solidFill>
                <a:latin typeface="PingFang SC"/>
                <a:ea typeface="PingFang SC"/>
                <a:cs typeface="PingFang SC"/>
              </a:defRPr>
            </a:pPr>
            <a:r>
              <a:rPr sz="1575">
                <a:solidFill>
                  <a:srgbClr val="FFFFFF"/>
                </a:solidFill>
                <a:latin typeface="PingFang SC"/>
                <a:ea typeface="PingFang SC"/>
                <a:cs typeface="PingFang SC"/>
              </a:rPr>
              <a:t>单个机器人完成目标导航时；主要处理自己与环境的关系；数十或数百个智能体共享空间后；还会出现拥堵、争抢、队列、局部协作和连锁故障；群体表现并不是单个体性能的简单相加</a:t>
            </a:r>
          </a:p>
        </p:txBody>
      </p:sp>
      <p:sp>
        <p:nvSpPr>
          <p:cNvPr id="11" name="cover-course">
            <a:extLst xmlns:a="http://schemas.openxmlformats.org/drawingml/2006/main">
              <a:ext uri="{FF2B5EF4-FFF2-40B4-BE49-F238E27FC236}">
                <a16:creationId xmlns:a16="http://schemas.microsoft.com/office/drawing/2014/main" id="{F3BEE3E4-ACA4-4C9B-BB7F-D9A305B67643}"/>
              </a:ext>
            </a:extLst>
          </p:cNvPr>
          <p:cNvSpPr>
            <a:spLocks xmlns:a="http://schemas.openxmlformats.org/drawingml/2006/main" noGrp="1"/>
          </p:cNvSpPr>
          <p:nvPr/>
        </p:nvSpPr>
        <p:spPr>
          <a:xfrm xmlns:a="http://schemas.openxmlformats.org/drawingml/2006/main">
            <a:off x="1066800" y="5734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a:solidFill>
                  <a:srgbClr val="FFFFFF"/>
                </a:solidFill>
                <a:latin typeface="PingFang SC"/>
                <a:ea typeface="PingFang SC"/>
                <a:cs typeface="PingFang SC"/>
              </a:defRPr>
            </a:pPr>
            <a:r>
              <a:rPr sz="1350">
                <a:solidFill>
                  <a:srgbClr val="FFFFFF"/>
                </a:solidFill>
                <a:latin typeface="PingFang SC"/>
                <a:ea typeface="PingFang SC"/>
                <a:cs typeface="PingFang SC"/>
              </a:rPr>
              <a:t>陈龙彪团队人工智能公开课</a:t>
            </a:r>
          </a:p>
        </p:txBody>
      </p:sp>
      <p:sp>
        <p:nvSpPr>
          <p:cNvPr id="12" name="cover-id">
            <a:extLst xmlns:a="http://schemas.openxmlformats.org/drawingml/2006/main">
              <a:ext uri="{FF2B5EF4-FFF2-40B4-BE49-F238E27FC236}">
                <a16:creationId xmlns:a16="http://schemas.microsoft.com/office/drawing/2014/main" id="{CC4EFCAB-09BC-453D-808C-74AA3846ADF9}"/>
              </a:ext>
            </a:extLst>
          </p:cNvPr>
          <p:cNvSpPr>
            <a:spLocks xmlns:a="http://schemas.openxmlformats.org/drawingml/2006/main" noGrp="1"/>
          </p:cNvSpPr>
          <p:nvPr/>
        </p:nvSpPr>
        <p:spPr>
          <a:xfrm xmlns:a="http://schemas.openxmlformats.org/drawingml/2006/main">
            <a:off x="8953500" y="5734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2D9B72"/>
                </a:solidFill>
                <a:latin typeface="PingFang SC"/>
                <a:ea typeface="PingFang SC"/>
                <a:cs typeface="PingFang SC"/>
              </a:defRPr>
            </a:pPr>
            <a:r>
              <a:rPr sz="1350" b="1">
                <a:solidFill>
                  <a:srgbClr val="2D9B72"/>
                </a:solidFill>
                <a:latin typeface="PingFang SC"/>
                <a:ea typeface="PingFang SC"/>
                <a:cs typeface="PingFang SC"/>
              </a:rPr>
              <a:t>EM-006 · EM-006-S01</a:t>
            </a:r>
          </a:p>
        </p:txBody>
      </p:sp>
    </p:spTree>
    <p:extLst>
      <p:ext uri="{BB962C8B-B14F-4D97-AF65-F5344CB8AC3E}">
        <p14:creationId xmlns:p14="http://schemas.microsoft.com/office/powerpoint/2010/main" val="132003305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2-rule">
            <a:extLst xmlns:a="http://schemas.openxmlformats.org/drawingml/2006/main">
              <a:ext uri="{FF2B5EF4-FFF2-40B4-BE49-F238E27FC236}">
                <a16:creationId xmlns:a16="http://schemas.microsoft.com/office/drawing/2014/main" id="{CC4FA5CB-5D6A-432B-9D26-2B021BA5FCF7}"/>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2-eyebrow">
            <a:extLst xmlns:a="http://schemas.openxmlformats.org/drawingml/2006/main">
              <a:ext uri="{FF2B5EF4-FFF2-40B4-BE49-F238E27FC236}">
                <a16:creationId xmlns:a16="http://schemas.microsoft.com/office/drawing/2014/main" id="{8D452371-87DD-4FF2-BC45-4B3474415BD0}"/>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学习结果</a:t>
            </a:r>
          </a:p>
        </p:txBody>
      </p:sp>
      <p:sp>
        <p:nvSpPr>
          <p:cNvPr id="3" name="s2-title">
            <a:extLst xmlns:a="http://schemas.openxmlformats.org/drawingml/2006/main">
              <a:ext uri="{FF2B5EF4-FFF2-40B4-BE49-F238E27FC236}">
                <a16:creationId xmlns:a16="http://schemas.microsoft.com/office/drawing/2014/main" id="{7CE2DB67-C4EE-464B-8C03-49A993B68C96}"/>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群体具身智能：4项学习结果</a:t>
            </a:r>
          </a:p>
        </p:txBody>
      </p:sp>
      <p:sp>
        <p:nvSpPr>
          <p:cNvPr id="4" name="s2-footer">
            <a:extLst xmlns:a="http://schemas.openxmlformats.org/drawingml/2006/main">
              <a:ext uri="{FF2B5EF4-FFF2-40B4-BE49-F238E27FC236}">
                <a16:creationId xmlns:a16="http://schemas.microsoft.com/office/drawing/2014/main" id="{F378FBDC-ACC7-4E97-9924-C1DB3D876F38}"/>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2-identity">
            <a:extLst xmlns:a="http://schemas.openxmlformats.org/drawingml/2006/main">
              <a:ext uri="{FF2B5EF4-FFF2-40B4-BE49-F238E27FC236}">
                <a16:creationId xmlns:a16="http://schemas.microsoft.com/office/drawing/2014/main" id="{945678BC-AEB7-4BD4-B4A2-1A6FA1350A9D}"/>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EM-006-S02</a:t>
            </a:r>
          </a:p>
        </p:txBody>
      </p:sp>
      <p:sp>
        <p:nvSpPr>
          <p:cNvPr id="6" name="objective-1">
            <a:extLst xmlns:a="http://schemas.openxmlformats.org/drawingml/2006/main">
              <a:ext uri="{FF2B5EF4-FFF2-40B4-BE49-F238E27FC236}">
                <a16:creationId xmlns:a16="http://schemas.microsoft.com/office/drawing/2014/main" id="{03CCDD2B-98B1-4FE2-82E5-3BCC7470030E}"/>
              </a:ext>
            </a:extLst>
          </p:cNvPr>
          <p:cNvSpPr>
            <a:spLocks xmlns:a="http://schemas.openxmlformats.org/drawingml/2006/main" noGrp="1"/>
          </p:cNvSpPr>
          <p:nvPr/>
        </p:nvSpPr>
        <p:spPr>
          <a:xfrm xmlns:a="http://schemas.openxmlformats.org/drawingml/2006/main">
            <a:off x="876300" y="2000250"/>
            <a:ext cx="495300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01</a:t>
            </a:r>
          </a:p>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解释群体任务为什么不能只把多个单机器人算法复制在一起</a:t>
            </a:r>
          </a:p>
        </p:txBody>
      </p:sp>
      <p:sp>
        <p:nvSpPr>
          <p:cNvPr id="7" name="objective-2">
            <a:extLst xmlns:a="http://schemas.openxmlformats.org/drawingml/2006/main">
              <a:ext uri="{FF2B5EF4-FFF2-40B4-BE49-F238E27FC236}">
                <a16:creationId xmlns:a16="http://schemas.microsoft.com/office/drawing/2014/main" id="{4BD5A022-D148-49CB-81D2-820F67B7B4E4}"/>
              </a:ext>
            </a:extLst>
          </p:cNvPr>
          <p:cNvSpPr>
            <a:spLocks xmlns:a="http://schemas.openxmlformats.org/drawingml/2006/main" noGrp="1"/>
          </p:cNvSpPr>
          <p:nvPr/>
        </p:nvSpPr>
        <p:spPr>
          <a:xfrm xmlns:a="http://schemas.openxmlformats.org/drawingml/2006/main">
            <a:off x="6172200" y="2000250"/>
            <a:ext cx="495300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02</a:t>
            </a:r>
          </a:p>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用个体规则、环境变量、通信拓扑、扰动和指标定义一个可复现实验</a:t>
            </a:r>
          </a:p>
        </p:txBody>
      </p:sp>
      <p:sp>
        <p:nvSpPr>
          <p:cNvPr id="8" name="objective-3">
            <a:extLst xmlns:a="http://schemas.openxmlformats.org/drawingml/2006/main">
              <a:ext uri="{FF2B5EF4-FFF2-40B4-BE49-F238E27FC236}">
                <a16:creationId xmlns:a16="http://schemas.microsoft.com/office/drawing/2014/main" id="{9AE070DA-30C8-479C-9672-D8E2BC983CDF}"/>
              </a:ext>
            </a:extLst>
          </p:cNvPr>
          <p:cNvSpPr>
            <a:spLocks xmlns:a="http://schemas.openxmlformats.org/drawingml/2006/main" noGrp="1"/>
          </p:cNvSpPr>
          <p:nvPr/>
        </p:nvSpPr>
        <p:spPr>
          <a:xfrm xmlns:a="http://schemas.openxmlformats.org/drawingml/2006/main">
            <a:off x="876300" y="3695700"/>
            <a:ext cx="4953000" cy="1466850"/>
          </a:xfrm>
          <a:prstGeom xmlns:a="http://schemas.openxmlformats.org/drawingml/2006/main" prst="roundRect">
            <a:avLst>
              <a:gd name="adj" fmla="val 1168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03</a:t>
            </a:r>
          </a:p>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说明大模型在任务描述、角色编排和结果解释中的作用与边界</a:t>
            </a:r>
          </a:p>
        </p:txBody>
      </p:sp>
      <p:sp>
        <p:nvSpPr>
          <p:cNvPr id="9" name="objective-4">
            <a:extLst xmlns:a="http://schemas.openxmlformats.org/drawingml/2006/main">
              <a:ext uri="{FF2B5EF4-FFF2-40B4-BE49-F238E27FC236}">
                <a16:creationId xmlns:a16="http://schemas.microsoft.com/office/drawing/2014/main" id="{E86BDF22-81C3-48CC-AF60-4D64F160AC5A}"/>
              </a:ext>
            </a:extLst>
          </p:cNvPr>
          <p:cNvSpPr>
            <a:spLocks xmlns:a="http://schemas.openxmlformats.org/drawingml/2006/main" noGrp="1"/>
          </p:cNvSpPr>
          <p:nvPr/>
        </p:nvSpPr>
        <p:spPr>
          <a:xfrm xmlns:a="http://schemas.openxmlformats.org/drawingml/2006/main">
            <a:off x="6172200" y="3695700"/>
            <a:ext cx="4953000" cy="1466850"/>
          </a:xfrm>
          <a:prstGeom xmlns:a="http://schemas.openxmlformats.org/drawingml/2006/main" prst="roundRect">
            <a:avLst>
              <a:gd name="adj" fmla="val 11688"/>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04</a:t>
            </a:r>
          </a:p>
          <a:p xmlns:a="http://schemas.openxmlformats.org/drawingml/2006/main">
            <a:pPr algn="l">
              <a:defRPr sz="1800" b="1">
                <a:solidFill>
                  <a:srgbClr val="0B1F3A"/>
                </a:solidFill>
                <a:latin typeface="PingFang SC"/>
                <a:ea typeface="PingFang SC"/>
                <a:cs typeface="PingFang SC"/>
              </a:defRPr>
            </a:pPr>
            <a:r>
              <a:rPr sz="1800" b="1">
                <a:solidFill>
                  <a:srgbClr val="0B1F3A"/>
                </a:solidFill>
                <a:latin typeface="PingFang SC"/>
                <a:ea typeface="PingFang SC"/>
                <a:cs typeface="PingFang SC"/>
              </a:rPr>
              <a:t>区分仿真内成绩、经过现实数据校准的结论和可用于真实决策的证据</a:t>
            </a:r>
          </a:p>
        </p:txBody>
      </p:sp>
    </p:spTree>
    <p:extLst>
      <p:ext uri="{BB962C8B-B14F-4D97-AF65-F5344CB8AC3E}">
        <p14:creationId xmlns:p14="http://schemas.microsoft.com/office/powerpoint/2010/main" val="18362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3-rule">
            <a:extLst xmlns:a="http://schemas.openxmlformats.org/drawingml/2006/main">
              <a:ext uri="{FF2B5EF4-FFF2-40B4-BE49-F238E27FC236}">
                <a16:creationId xmlns:a16="http://schemas.microsoft.com/office/drawing/2014/main" id="{2C5862C7-35AE-4538-9100-CD8A9145136D}"/>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3-eyebrow">
            <a:extLst xmlns:a="http://schemas.openxmlformats.org/drawingml/2006/main">
              <a:ext uri="{FF2B5EF4-FFF2-40B4-BE49-F238E27FC236}">
                <a16:creationId xmlns:a16="http://schemas.microsoft.com/office/drawing/2014/main" id="{3D23682B-B582-46B8-92E7-877D7ECF3204}"/>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1 / 6</a:t>
            </a:r>
          </a:p>
        </p:txBody>
      </p:sp>
      <p:sp>
        <p:nvSpPr>
          <p:cNvPr id="3" name="s3-title">
            <a:extLst xmlns:a="http://schemas.openxmlformats.org/drawingml/2006/main">
              <a:ext uri="{FF2B5EF4-FFF2-40B4-BE49-F238E27FC236}">
                <a16:creationId xmlns:a16="http://schemas.microsoft.com/office/drawing/2014/main" id="{5C6F127D-16F5-47A1-990F-DB60C85B3971}"/>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每个智能体可以只有局部观测和简单规则</a:t>
            </a:r>
          </a:p>
        </p:txBody>
      </p:sp>
      <p:sp>
        <p:nvSpPr>
          <p:cNvPr id="4" name="s3-footer">
            <a:extLst xmlns:a="http://schemas.openxmlformats.org/drawingml/2006/main">
              <a:ext uri="{FF2B5EF4-FFF2-40B4-BE49-F238E27FC236}">
                <a16:creationId xmlns:a16="http://schemas.microsoft.com/office/drawing/2014/main" id="{8E82ADC3-28F0-4CBF-BC6B-920E6FC06C84}"/>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3-identity">
            <a:extLst xmlns:a="http://schemas.openxmlformats.org/drawingml/2006/main">
              <a:ext uri="{FF2B5EF4-FFF2-40B4-BE49-F238E27FC236}">
                <a16:creationId xmlns:a16="http://schemas.microsoft.com/office/drawing/2014/main" id="{69812379-64EC-4CCA-940E-8F9D8B0AE431}"/>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EM-006-S03</a:t>
            </a:r>
          </a:p>
        </p:txBody>
      </p:sp>
      <p:sp>
        <p:nvSpPr>
          <p:cNvPr id="6" name="core-no-0">
            <a:extLst xmlns:a="http://schemas.openxmlformats.org/drawingml/2006/main">
              <a:ext uri="{FF2B5EF4-FFF2-40B4-BE49-F238E27FC236}">
                <a16:creationId xmlns:a16="http://schemas.microsoft.com/office/drawing/2014/main" id="{5388E0CA-AE43-4C65-89A5-59C35031CDC1}"/>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E1304C29-F830-48E4-98C3-3E390508D4B2}"/>
              </a:ext>
            </a:extLst>
          </p:cNvPr>
          <p:cNvSpPr>
            <a:spLocks xmlns:a="http://schemas.openxmlformats.org/drawingml/2006/main" noGrp="1"/>
          </p:cNvSpPr>
          <p:nvPr/>
        </p:nvSpPr>
        <p:spPr>
          <a:xfrm xmlns:a="http://schemas.openxmlformats.org/drawingml/2006/main">
            <a:off x="914400" y="2590800"/>
            <a:ext cx="326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从个体策略到群体涌现</a:t>
            </a:r>
          </a:p>
        </p:txBody>
      </p:sp>
      <p:sp>
        <p:nvSpPr>
          <p:cNvPr id="8" name="core-body-0">
            <a:extLst xmlns:a="http://schemas.openxmlformats.org/drawingml/2006/main">
              <a:ext uri="{FF2B5EF4-FFF2-40B4-BE49-F238E27FC236}">
                <a16:creationId xmlns:a16="http://schemas.microsoft.com/office/drawing/2014/main" id="{48C3FB07-87D6-42B8-9D00-755419E46CCA}"/>
              </a:ext>
            </a:extLst>
          </p:cNvPr>
          <p:cNvSpPr>
            <a:spLocks xmlns:a="http://schemas.openxmlformats.org/drawingml/2006/main" noGrp="1"/>
          </p:cNvSpPr>
          <p:nvPr/>
        </p:nvSpPr>
        <p:spPr>
          <a:xfrm xmlns:a="http://schemas.openxmlformats.org/drawingml/2006/main">
            <a:off x="914400" y="3390900"/>
            <a:ext cx="3263900"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89303"/>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每个智能体可以只有局部观测和简单规则，例如保持距离、朝目标移动、避开障碍、跟随邻居；当许多个体同时行动时，整体可能形成队列、簇、波或拥堵。这样的宏观模式称为涌现行为</a:t>
            </a:r>
          </a:p>
        </p:txBody>
      </p:sp>
      <p:sp>
        <p:nvSpPr>
          <p:cNvPr id="9" name="core-no-1">
            <a:extLst xmlns:a="http://schemas.openxmlformats.org/drawingml/2006/main">
              <a:ext uri="{FF2B5EF4-FFF2-40B4-BE49-F238E27FC236}">
                <a16:creationId xmlns:a16="http://schemas.microsoft.com/office/drawing/2014/main" id="{64967489-A13B-4974-A671-CFE3FC297322}"/>
              </a:ext>
            </a:extLst>
          </p:cNvPr>
          <p:cNvSpPr>
            <a:spLocks xmlns:a="http://schemas.openxmlformats.org/drawingml/2006/main" noGrp="1"/>
          </p:cNvSpPr>
          <p:nvPr/>
        </p:nvSpPr>
        <p:spPr>
          <a:xfrm xmlns:a="http://schemas.openxmlformats.org/drawingml/2006/main">
            <a:off x="446405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2CB79A4A-2002-4A52-8745-5924898A8E26}"/>
              </a:ext>
            </a:extLst>
          </p:cNvPr>
          <p:cNvSpPr>
            <a:spLocks xmlns:a="http://schemas.openxmlformats.org/drawingml/2006/main" noGrp="1"/>
          </p:cNvSpPr>
          <p:nvPr/>
        </p:nvSpPr>
        <p:spPr>
          <a:xfrm xmlns:a="http://schemas.openxmlformats.org/drawingml/2006/main">
            <a:off x="4464050" y="2590800"/>
            <a:ext cx="3263900"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研究群体智能既要看个体是否完成任务，也要看整体效率、公平性、稳定性与安全。平均速度提高可能以少数个体长时间等待为代价；总疏散时间下降也可能伴随局部密度过高。因此指标不能只保留一个总分</a:t>
            </a:r>
          </a:p>
        </p:txBody>
      </p:sp>
      <p:sp>
        <p:nvSpPr>
          <p:cNvPr id="11" name="core-no-2">
            <a:extLst xmlns:a="http://schemas.openxmlformats.org/drawingml/2006/main">
              <a:ext uri="{FF2B5EF4-FFF2-40B4-BE49-F238E27FC236}">
                <a16:creationId xmlns:a16="http://schemas.microsoft.com/office/drawing/2014/main" id="{66B5232A-4D07-4837-ADAE-E682BD81F0CA}"/>
              </a:ext>
            </a:extLst>
          </p:cNvPr>
          <p:cNvSpPr>
            <a:spLocks xmlns:a="http://schemas.openxmlformats.org/drawingml/2006/main" noGrp="1"/>
          </p:cNvSpPr>
          <p:nvPr/>
        </p:nvSpPr>
        <p:spPr>
          <a:xfrm xmlns:a="http://schemas.openxmlformats.org/drawingml/2006/main">
            <a:off x="80137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03</a:t>
            </a:r>
          </a:p>
        </p:txBody>
      </p:sp>
      <p:sp>
        <p:nvSpPr>
          <p:cNvPr id="12" name="core-body-2">
            <a:extLst xmlns:a="http://schemas.openxmlformats.org/drawingml/2006/main">
              <a:ext uri="{FF2B5EF4-FFF2-40B4-BE49-F238E27FC236}">
                <a16:creationId xmlns:a16="http://schemas.microsoft.com/office/drawing/2014/main" id="{BD83A30D-1E52-49E2-A713-DE104E9F868A}"/>
              </a:ext>
            </a:extLst>
          </p:cNvPr>
          <p:cNvSpPr>
            <a:spLocks xmlns:a="http://schemas.openxmlformats.org/drawingml/2006/main" noGrp="1"/>
          </p:cNvSpPr>
          <p:nvPr/>
        </p:nvSpPr>
        <p:spPr>
          <a:xfrm xmlns:a="http://schemas.openxmlformats.org/drawingml/2006/main">
            <a:off x="8013700" y="2590800"/>
            <a:ext cx="3263900"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群体涌现、机器人车队调度和异构设备互操作是三类不同问题；前者关注局部规则怎样形成宏观模式；第二类关注任务分配、路线冲突和故障恢复；第三类还要处理不同设备能力与接口</a:t>
            </a:r>
          </a:p>
        </p:txBody>
      </p:sp>
      <p:sp>
        <p:nvSpPr>
          <p:cNvPr id="13" name="s3-takeaway-rule">
            <a:extLst xmlns:a="http://schemas.openxmlformats.org/drawingml/2006/main">
              <a:ext uri="{FF2B5EF4-FFF2-40B4-BE49-F238E27FC236}">
                <a16:creationId xmlns:a16="http://schemas.microsoft.com/office/drawing/2014/main" id="{BF211B6A-1C1D-4E40-911F-629B2371C42A}"/>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4" name="s3-takeaway">
            <a:extLst xmlns:a="http://schemas.openxmlformats.org/drawingml/2006/main">
              <a:ext uri="{FF2B5EF4-FFF2-40B4-BE49-F238E27FC236}">
                <a16:creationId xmlns:a16="http://schemas.microsoft.com/office/drawing/2014/main" id="{580117BC-0BB4-46D8-9A91-B013345C7681}"/>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每个智能体可以只有局部观测和简单规则</a:t>
            </a:r>
          </a:p>
        </p:txBody>
      </p:sp>
    </p:spTree>
    <p:extLst>
      <p:ext uri="{BB962C8B-B14F-4D97-AF65-F5344CB8AC3E}">
        <p14:creationId xmlns:p14="http://schemas.microsoft.com/office/powerpoint/2010/main" val="57557890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4-rule">
            <a:extLst xmlns:a="http://schemas.openxmlformats.org/drawingml/2006/main">
              <a:ext uri="{FF2B5EF4-FFF2-40B4-BE49-F238E27FC236}">
                <a16:creationId xmlns:a16="http://schemas.microsoft.com/office/drawing/2014/main" id="{BBB047B1-3660-484F-A96B-C2584B324D41}"/>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4-eyebrow">
            <a:extLst xmlns:a="http://schemas.openxmlformats.org/drawingml/2006/main">
              <a:ext uri="{FF2B5EF4-FFF2-40B4-BE49-F238E27FC236}">
                <a16:creationId xmlns:a16="http://schemas.microsoft.com/office/drawing/2014/main" id="{070B646A-9903-4CE7-BA36-C18B07008D14}"/>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2 / 6</a:t>
            </a:r>
          </a:p>
        </p:txBody>
      </p:sp>
      <p:sp>
        <p:nvSpPr>
          <p:cNvPr id="3" name="s4-title">
            <a:extLst xmlns:a="http://schemas.openxmlformats.org/drawingml/2006/main">
              <a:ext uri="{FF2B5EF4-FFF2-40B4-BE49-F238E27FC236}">
                <a16:creationId xmlns:a16="http://schemas.microsoft.com/office/drawing/2014/main" id="{90AFFEA3-0157-4B67-90A9-D46E1352A73E}"/>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环境层 描述地图、道路、障碍、资源、入口与出口</a:t>
            </a:r>
          </a:p>
        </p:txBody>
      </p:sp>
      <p:sp>
        <p:nvSpPr>
          <p:cNvPr id="4" name="s4-footer">
            <a:extLst xmlns:a="http://schemas.openxmlformats.org/drawingml/2006/main">
              <a:ext uri="{FF2B5EF4-FFF2-40B4-BE49-F238E27FC236}">
                <a16:creationId xmlns:a16="http://schemas.microsoft.com/office/drawing/2014/main" id="{AD5B90FA-42B7-4054-A342-0B8E920C8084}"/>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4-identity">
            <a:extLst xmlns:a="http://schemas.openxmlformats.org/drawingml/2006/main">
              <a:ext uri="{FF2B5EF4-FFF2-40B4-BE49-F238E27FC236}">
                <a16:creationId xmlns:a16="http://schemas.microsoft.com/office/drawing/2014/main" id="{792B955F-69A6-468D-B5AE-35EE78619D65}"/>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EM-006-S04</a:t>
            </a:r>
          </a:p>
        </p:txBody>
      </p:sp>
      <p:sp>
        <p:nvSpPr>
          <p:cNvPr id="6" name="core-no-0">
            <a:extLst xmlns:a="http://schemas.openxmlformats.org/drawingml/2006/main">
              <a:ext uri="{FF2B5EF4-FFF2-40B4-BE49-F238E27FC236}">
                <a16:creationId xmlns:a16="http://schemas.microsoft.com/office/drawing/2014/main" id="{4AE5930D-FCB9-4DBE-A7F9-8786016FBB9F}"/>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36873719-E9E8-47C9-AF39-302E7AC0EEA5}"/>
              </a:ext>
            </a:extLst>
          </p:cNvPr>
          <p:cNvSpPr>
            <a:spLocks xmlns:a="http://schemas.openxmlformats.org/drawingml/2006/main" noGrp="1"/>
          </p:cNvSpPr>
          <p:nvPr/>
        </p:nvSpPr>
        <p:spPr>
          <a:xfrm xmlns:a="http://schemas.openxmlformats.org/drawingml/2006/main">
            <a:off x="914400" y="2590800"/>
            <a:ext cx="326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数字孪生训练场的四层</a:t>
            </a:r>
          </a:p>
        </p:txBody>
      </p:sp>
      <p:sp>
        <p:nvSpPr>
          <p:cNvPr id="8" name="core-body-0">
            <a:extLst xmlns:a="http://schemas.openxmlformats.org/drawingml/2006/main">
              <a:ext uri="{FF2B5EF4-FFF2-40B4-BE49-F238E27FC236}">
                <a16:creationId xmlns:a16="http://schemas.microsoft.com/office/drawing/2014/main" id="{2E24D78E-C8CA-44B5-8104-8E79F381A981}"/>
              </a:ext>
            </a:extLst>
          </p:cNvPr>
          <p:cNvSpPr>
            <a:spLocks xmlns:a="http://schemas.openxmlformats.org/drawingml/2006/main" noGrp="1"/>
          </p:cNvSpPr>
          <p:nvPr/>
        </p:nvSpPr>
        <p:spPr>
          <a:xfrm xmlns:a="http://schemas.openxmlformats.org/drawingml/2006/main">
            <a:off x="914400" y="3390900"/>
            <a:ext cx="3263900"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环境层 描述地图、道路、障碍、资源、入口与出口</a:t>
            </a:r>
          </a:p>
        </p:txBody>
      </p:sp>
      <p:sp>
        <p:nvSpPr>
          <p:cNvPr id="9" name="core-no-1">
            <a:extLst xmlns:a="http://schemas.openxmlformats.org/drawingml/2006/main">
              <a:ext uri="{FF2B5EF4-FFF2-40B4-BE49-F238E27FC236}">
                <a16:creationId xmlns:a16="http://schemas.microsoft.com/office/drawing/2014/main" id="{D17439C6-40A9-4278-B536-E60422BEF5AC}"/>
              </a:ext>
            </a:extLst>
          </p:cNvPr>
          <p:cNvSpPr>
            <a:spLocks xmlns:a="http://schemas.openxmlformats.org/drawingml/2006/main" noGrp="1"/>
          </p:cNvSpPr>
          <p:nvPr/>
        </p:nvSpPr>
        <p:spPr>
          <a:xfrm xmlns:a="http://schemas.openxmlformats.org/drawingml/2006/main">
            <a:off x="446405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9C2981FF-778A-4E33-AB0C-D1D4AB978102}"/>
              </a:ext>
            </a:extLst>
          </p:cNvPr>
          <p:cNvSpPr>
            <a:spLocks xmlns:a="http://schemas.openxmlformats.org/drawingml/2006/main" noGrp="1"/>
          </p:cNvSpPr>
          <p:nvPr/>
        </p:nvSpPr>
        <p:spPr>
          <a:xfrm xmlns:a="http://schemas.openxmlformats.org/drawingml/2006/main">
            <a:off x="4464050" y="2590800"/>
            <a:ext cx="3263900"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个体层 描述身体尺寸、动力学、传感范围、目标和策略</a:t>
            </a:r>
          </a:p>
        </p:txBody>
      </p:sp>
      <p:sp>
        <p:nvSpPr>
          <p:cNvPr id="11" name="core-no-2">
            <a:extLst xmlns:a="http://schemas.openxmlformats.org/drawingml/2006/main">
              <a:ext uri="{FF2B5EF4-FFF2-40B4-BE49-F238E27FC236}">
                <a16:creationId xmlns:a16="http://schemas.microsoft.com/office/drawing/2014/main" id="{779BB4B4-428B-4A82-B803-03DDA8A3A4E9}"/>
              </a:ext>
            </a:extLst>
          </p:cNvPr>
          <p:cNvSpPr>
            <a:spLocks xmlns:a="http://schemas.openxmlformats.org/drawingml/2006/main" noGrp="1"/>
          </p:cNvSpPr>
          <p:nvPr/>
        </p:nvSpPr>
        <p:spPr>
          <a:xfrm xmlns:a="http://schemas.openxmlformats.org/drawingml/2006/main">
            <a:off x="80137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03</a:t>
            </a:r>
          </a:p>
        </p:txBody>
      </p:sp>
      <p:sp>
        <p:nvSpPr>
          <p:cNvPr id="12" name="core-body-2">
            <a:extLst xmlns:a="http://schemas.openxmlformats.org/drawingml/2006/main">
              <a:ext uri="{FF2B5EF4-FFF2-40B4-BE49-F238E27FC236}">
                <a16:creationId xmlns:a16="http://schemas.microsoft.com/office/drawing/2014/main" id="{B741FFDB-C0EE-484C-9E07-EF55C1EAE66D}"/>
              </a:ext>
            </a:extLst>
          </p:cNvPr>
          <p:cNvSpPr>
            <a:spLocks xmlns:a="http://schemas.openxmlformats.org/drawingml/2006/main" noGrp="1"/>
          </p:cNvSpPr>
          <p:nvPr/>
        </p:nvSpPr>
        <p:spPr>
          <a:xfrm xmlns:a="http://schemas.openxmlformats.org/drawingml/2006/main">
            <a:off x="8013700" y="2590800"/>
            <a:ext cx="3263900"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650">
                <a:solidFill>
                  <a:srgbClr val="10233F"/>
                </a:solidFill>
                <a:latin typeface="PingFang SC"/>
                <a:ea typeface="PingFang SC"/>
                <a:cs typeface="PingFang SC"/>
              </a:defRPr>
            </a:pPr>
            <a:r>
              <a:rPr sz="1650">
                <a:solidFill>
                  <a:srgbClr val="10233F"/>
                </a:solidFill>
                <a:latin typeface="PingFang SC"/>
                <a:ea typeface="PingFang SC"/>
                <a:cs typeface="PingFang SC"/>
              </a:rPr>
              <a:t>交互层 描述通信、共享资源、冲突与协作规则</a:t>
            </a:r>
          </a:p>
        </p:txBody>
      </p:sp>
      <p:sp>
        <p:nvSpPr>
          <p:cNvPr id="13" name="s4-takeaway-rule">
            <a:extLst xmlns:a="http://schemas.openxmlformats.org/drawingml/2006/main">
              <a:ext uri="{FF2B5EF4-FFF2-40B4-BE49-F238E27FC236}">
                <a16:creationId xmlns:a16="http://schemas.microsoft.com/office/drawing/2014/main" id="{5A826D1A-C8A2-49E6-B693-511DEC4B26A5}"/>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4" name="s4-takeaway">
            <a:extLst xmlns:a="http://schemas.openxmlformats.org/drawingml/2006/main">
              <a:ext uri="{FF2B5EF4-FFF2-40B4-BE49-F238E27FC236}">
                <a16:creationId xmlns:a16="http://schemas.microsoft.com/office/drawing/2014/main" id="{B791DA1B-B83D-4C62-915B-C4384F10E405}"/>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环境层 描述地图、道路、障碍、资源、入口与出口</a:t>
            </a:r>
          </a:p>
        </p:txBody>
      </p:sp>
    </p:spTree>
    <p:extLst>
      <p:ext uri="{BB962C8B-B14F-4D97-AF65-F5344CB8AC3E}">
        <p14:creationId xmlns:p14="http://schemas.microsoft.com/office/powerpoint/2010/main" val="615405058"/>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5-rule">
            <a:extLst xmlns:a="http://schemas.openxmlformats.org/drawingml/2006/main">
              <a:ext uri="{FF2B5EF4-FFF2-40B4-BE49-F238E27FC236}">
                <a16:creationId xmlns:a16="http://schemas.microsoft.com/office/drawing/2014/main" id="{DA73C38C-260E-45E3-8023-D059FA8A193D}"/>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5-eyebrow">
            <a:extLst xmlns:a="http://schemas.openxmlformats.org/drawingml/2006/main">
              <a:ext uri="{FF2B5EF4-FFF2-40B4-BE49-F238E27FC236}">
                <a16:creationId xmlns:a16="http://schemas.microsoft.com/office/drawing/2014/main" id="{D274FBA0-B31D-45FF-9724-8949A840127F}"/>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3 / 6</a:t>
            </a:r>
          </a:p>
        </p:txBody>
      </p:sp>
      <p:sp>
        <p:nvSpPr>
          <p:cNvPr id="3" name="s5-title">
            <a:extLst xmlns:a="http://schemas.openxmlformats.org/drawingml/2006/main">
              <a:ext uri="{FF2B5EF4-FFF2-40B4-BE49-F238E27FC236}">
                <a16:creationId xmlns:a16="http://schemas.microsoft.com/office/drawing/2014/main" id="{30EC12CF-3300-4321-9406-E6127C04F1AE}"/>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028"/>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大模型可以把自然语言目标整理成角色、约束和候选任务图</a:t>
            </a:r>
          </a:p>
        </p:txBody>
      </p:sp>
      <p:sp>
        <p:nvSpPr>
          <p:cNvPr id="4" name="s5-footer">
            <a:extLst xmlns:a="http://schemas.openxmlformats.org/drawingml/2006/main">
              <a:ext uri="{FF2B5EF4-FFF2-40B4-BE49-F238E27FC236}">
                <a16:creationId xmlns:a16="http://schemas.microsoft.com/office/drawing/2014/main" id="{EAB5578D-BE0E-45DF-B7FB-0F6AB5D2BCCD}"/>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5-identity">
            <a:extLst xmlns:a="http://schemas.openxmlformats.org/drawingml/2006/main">
              <a:ext uri="{FF2B5EF4-FFF2-40B4-BE49-F238E27FC236}">
                <a16:creationId xmlns:a16="http://schemas.microsoft.com/office/drawing/2014/main" id="{5795AB20-665F-4A4E-BCD4-46E5BAAC9F3B}"/>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EM-006-S05</a:t>
            </a:r>
          </a:p>
        </p:txBody>
      </p:sp>
      <p:sp>
        <p:nvSpPr>
          <p:cNvPr id="6" name="core-no-0">
            <a:extLst xmlns:a="http://schemas.openxmlformats.org/drawingml/2006/main">
              <a:ext uri="{FF2B5EF4-FFF2-40B4-BE49-F238E27FC236}">
                <a16:creationId xmlns:a16="http://schemas.microsoft.com/office/drawing/2014/main" id="{3643A5BB-0110-40AB-8AE2-FC707DA9D5E4}"/>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2442449B-6606-49F4-9473-BA6623BD2185}"/>
              </a:ext>
            </a:extLst>
          </p:cNvPr>
          <p:cNvSpPr>
            <a:spLocks xmlns:a="http://schemas.openxmlformats.org/drawingml/2006/main" noGrp="1"/>
          </p:cNvSpPr>
          <p:nvPr/>
        </p:nvSpPr>
        <p:spPr>
          <a:xfrm xmlns:a="http://schemas.openxmlformats.org/drawingml/2006/main">
            <a:off x="914400" y="2590800"/>
            <a:ext cx="50387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大模型适合放在哪一层</a:t>
            </a:r>
          </a:p>
        </p:txBody>
      </p:sp>
      <p:sp>
        <p:nvSpPr>
          <p:cNvPr id="8" name="core-body-0">
            <a:extLst xmlns:a="http://schemas.openxmlformats.org/drawingml/2006/main">
              <a:ext uri="{FF2B5EF4-FFF2-40B4-BE49-F238E27FC236}">
                <a16:creationId xmlns:a16="http://schemas.microsoft.com/office/drawing/2014/main" id="{F5397ABD-49EC-47FA-9C96-54DD86A162B6}"/>
              </a:ext>
            </a:extLst>
          </p:cNvPr>
          <p:cNvSpPr>
            <a:spLocks xmlns:a="http://schemas.openxmlformats.org/drawingml/2006/main" noGrp="1"/>
          </p:cNvSpPr>
          <p:nvPr/>
        </p:nvSpPr>
        <p:spPr>
          <a:xfrm xmlns:a="http://schemas.openxmlformats.org/drawingml/2006/main">
            <a:off x="914400" y="3390900"/>
            <a:ext cx="5038725"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98233"/>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大模型可以把自然语言目标整理成角色、约束和候选任务图，也可以帮助生成场景变体、解释日志和形成实验报告。它不应直接绕过物理引擎、安全约束和可验证规则去控制所有低层动作</a:t>
            </a:r>
          </a:p>
        </p:txBody>
      </p:sp>
      <p:sp>
        <p:nvSpPr>
          <p:cNvPr id="9" name="core-no-1">
            <a:extLst xmlns:a="http://schemas.openxmlformats.org/drawingml/2006/main">
              <a:ext uri="{FF2B5EF4-FFF2-40B4-BE49-F238E27FC236}">
                <a16:creationId xmlns:a16="http://schemas.microsoft.com/office/drawing/2014/main" id="{A05868E1-82F0-477F-9C1F-1FF38A7D1B8B}"/>
              </a:ext>
            </a:extLst>
          </p:cNvPr>
          <p:cNvSpPr>
            <a:spLocks xmlns:a="http://schemas.openxmlformats.org/drawingml/2006/main" noGrp="1"/>
          </p:cNvSpPr>
          <p:nvPr/>
        </p:nvSpPr>
        <p:spPr>
          <a:xfrm xmlns:a="http://schemas.openxmlformats.org/drawingml/2006/main">
            <a:off x="6238875"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023D5C06-C85A-41BF-A78B-3CE2557C5B28}"/>
              </a:ext>
            </a:extLst>
          </p:cNvPr>
          <p:cNvSpPr>
            <a:spLocks xmlns:a="http://schemas.openxmlformats.org/drawingml/2006/main" noGrp="1"/>
          </p:cNvSpPr>
          <p:nvPr/>
        </p:nvSpPr>
        <p:spPr>
          <a:xfrm xmlns:a="http://schemas.openxmlformats.org/drawingml/2006/main">
            <a:off x="6238875" y="2590800"/>
            <a:ext cx="5038725"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可靠流程先把自然语言转换成结构化任务，再进行 schema 校验、范围检查和人工确认；执行仍由确定的仿真接口与策略完成。这样既利用大模型的表达与组合能力，又避免一句含糊指令悄悄改变安全边界</a:t>
            </a:r>
          </a:p>
        </p:txBody>
      </p:sp>
      <p:sp>
        <p:nvSpPr>
          <p:cNvPr id="11" name="s5-takeaway-rule">
            <a:extLst xmlns:a="http://schemas.openxmlformats.org/drawingml/2006/main">
              <a:ext uri="{FF2B5EF4-FFF2-40B4-BE49-F238E27FC236}">
                <a16:creationId xmlns:a16="http://schemas.microsoft.com/office/drawing/2014/main" id="{582EB692-99E5-4383-B797-9CA3AED6770D}"/>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2" name="s5-takeaway">
            <a:extLst xmlns:a="http://schemas.openxmlformats.org/drawingml/2006/main">
              <a:ext uri="{FF2B5EF4-FFF2-40B4-BE49-F238E27FC236}">
                <a16:creationId xmlns:a16="http://schemas.microsoft.com/office/drawing/2014/main" id="{AFF76F2D-ACDA-4938-BD55-53CA692434A5}"/>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大模型可以把自然语言目标整理成角色、约束和候选任务图</a:t>
            </a:r>
          </a:p>
        </p:txBody>
      </p:sp>
    </p:spTree>
    <p:extLst>
      <p:ext uri="{BB962C8B-B14F-4D97-AF65-F5344CB8AC3E}">
        <p14:creationId xmlns:p14="http://schemas.microsoft.com/office/powerpoint/2010/main" val="95285547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6-rule">
            <a:extLst xmlns:a="http://schemas.openxmlformats.org/drawingml/2006/main">
              <a:ext uri="{FF2B5EF4-FFF2-40B4-BE49-F238E27FC236}">
                <a16:creationId xmlns:a16="http://schemas.microsoft.com/office/drawing/2014/main" id="{0639B858-3BD9-466C-BE50-56A48FCF8C43}"/>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6-eyebrow">
            <a:extLst xmlns:a="http://schemas.openxmlformats.org/drawingml/2006/main">
              <a:ext uri="{FF2B5EF4-FFF2-40B4-BE49-F238E27FC236}">
                <a16:creationId xmlns:a16="http://schemas.microsoft.com/office/drawing/2014/main" id="{9FEFC3C2-BB4C-45A3-8BD3-73063D6FDCED}"/>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4 / 6</a:t>
            </a:r>
          </a:p>
        </p:txBody>
      </p:sp>
      <p:sp>
        <p:nvSpPr>
          <p:cNvPr id="3" name="s6-title">
            <a:extLst xmlns:a="http://schemas.openxmlformats.org/drawingml/2006/main">
              <a:ext uri="{FF2B5EF4-FFF2-40B4-BE49-F238E27FC236}">
                <a16:creationId xmlns:a16="http://schemas.microsoft.com/office/drawing/2014/main" id="{7CEF619E-BA2D-45E8-A2C6-AFC9FE580E69}"/>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群体关系会随时间变化</a:t>
            </a:r>
          </a:p>
        </p:txBody>
      </p:sp>
      <p:sp>
        <p:nvSpPr>
          <p:cNvPr id="4" name="s6-footer">
            <a:extLst xmlns:a="http://schemas.openxmlformats.org/drawingml/2006/main">
              <a:ext uri="{FF2B5EF4-FFF2-40B4-BE49-F238E27FC236}">
                <a16:creationId xmlns:a16="http://schemas.microsoft.com/office/drawing/2014/main" id="{BF4FCA02-A190-4820-A530-A8EADCEBA379}"/>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6-identity">
            <a:extLst xmlns:a="http://schemas.openxmlformats.org/drawingml/2006/main">
              <a:ext uri="{FF2B5EF4-FFF2-40B4-BE49-F238E27FC236}">
                <a16:creationId xmlns:a16="http://schemas.microsoft.com/office/drawing/2014/main" id="{8C6AE882-B286-4020-9DD7-AF66A884FB3E}"/>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EM-006-S06</a:t>
            </a:r>
          </a:p>
        </p:txBody>
      </p:sp>
      <p:sp>
        <p:nvSpPr>
          <p:cNvPr id="6" name="core-no-0">
            <a:extLst xmlns:a="http://schemas.openxmlformats.org/drawingml/2006/main">
              <a:ext uri="{FF2B5EF4-FFF2-40B4-BE49-F238E27FC236}">
                <a16:creationId xmlns:a16="http://schemas.microsoft.com/office/drawing/2014/main" id="{449FF0B6-5953-4C07-818E-122CD4A34256}"/>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1B4C6B73-054C-4B45-A105-7B69C8249FC4}"/>
              </a:ext>
            </a:extLst>
          </p:cNvPr>
          <p:cNvSpPr>
            <a:spLocks xmlns:a="http://schemas.openxmlformats.org/drawingml/2006/main" noGrp="1"/>
          </p:cNvSpPr>
          <p:nvPr/>
        </p:nvSpPr>
        <p:spPr>
          <a:xfrm xmlns:a="http://schemas.openxmlformats.org/drawingml/2006/main">
            <a:off x="914400" y="2590800"/>
            <a:ext cx="50387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动态协同与群体模式分析</a:t>
            </a:r>
          </a:p>
        </p:txBody>
      </p:sp>
      <p:sp>
        <p:nvSpPr>
          <p:cNvPr id="8" name="core-body-0">
            <a:extLst xmlns:a="http://schemas.openxmlformats.org/drawingml/2006/main">
              <a:ext uri="{FF2B5EF4-FFF2-40B4-BE49-F238E27FC236}">
                <a16:creationId xmlns:a16="http://schemas.microsoft.com/office/drawing/2014/main" id="{F6073330-34CC-4AAD-B983-44549229274A}"/>
              </a:ext>
            </a:extLst>
          </p:cNvPr>
          <p:cNvSpPr>
            <a:spLocks xmlns:a="http://schemas.openxmlformats.org/drawingml/2006/main" noGrp="1"/>
          </p:cNvSpPr>
          <p:nvPr/>
        </p:nvSpPr>
        <p:spPr>
          <a:xfrm xmlns:a="http://schemas.openxmlformats.org/drawingml/2006/main">
            <a:off x="914400" y="3390900"/>
            <a:ext cx="5038725"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98233"/>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群体关系会随时间变化；动态聚类可以根据位置、速度或交互关系识别暂时形成的群组；时空张量等表示方法可以把“个体—时间—特征”组织起来；帮助发现周期、异常或协同行为；这些方法是分析工具</a:t>
            </a:r>
          </a:p>
        </p:txBody>
      </p:sp>
      <p:sp>
        <p:nvSpPr>
          <p:cNvPr id="9" name="core-no-1">
            <a:extLst xmlns:a="http://schemas.openxmlformats.org/drawingml/2006/main">
              <a:ext uri="{FF2B5EF4-FFF2-40B4-BE49-F238E27FC236}">
                <a16:creationId xmlns:a16="http://schemas.microsoft.com/office/drawing/2014/main" id="{7E9440D6-EC8F-4FA0-A7D1-B0E0CCE9E711}"/>
              </a:ext>
            </a:extLst>
          </p:cNvPr>
          <p:cNvSpPr>
            <a:spLocks xmlns:a="http://schemas.openxmlformats.org/drawingml/2006/main" noGrp="1"/>
          </p:cNvSpPr>
          <p:nvPr/>
        </p:nvSpPr>
        <p:spPr>
          <a:xfrm xmlns:a="http://schemas.openxmlformats.org/drawingml/2006/main">
            <a:off x="6238875"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D5F4AA2A-19C4-4478-A24F-78AB75034FBF}"/>
              </a:ext>
            </a:extLst>
          </p:cNvPr>
          <p:cNvSpPr>
            <a:spLocks xmlns:a="http://schemas.openxmlformats.org/drawingml/2006/main" noGrp="1"/>
          </p:cNvSpPr>
          <p:nvPr/>
        </p:nvSpPr>
        <p:spPr>
          <a:xfrm xmlns:a="http://schemas.openxmlformats.org/drawingml/2006/main">
            <a:off x="6238875" y="2590800"/>
            <a:ext cx="5038725"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分析时要先说明相似度、窗口、阈值和缺失数据处理，再用可视化与个体轨迹回查结果。若聚类标签变化只是传感噪声或参数选择造成，就不能解释成真实协作</a:t>
            </a:r>
          </a:p>
        </p:txBody>
      </p:sp>
      <p:sp>
        <p:nvSpPr>
          <p:cNvPr id="11" name="s6-takeaway-rule">
            <a:extLst xmlns:a="http://schemas.openxmlformats.org/drawingml/2006/main">
              <a:ext uri="{FF2B5EF4-FFF2-40B4-BE49-F238E27FC236}">
                <a16:creationId xmlns:a16="http://schemas.microsoft.com/office/drawing/2014/main" id="{0D9A0090-835E-4F03-B7FA-7D0269A34DE1}"/>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2" name="s6-takeaway">
            <a:extLst xmlns:a="http://schemas.openxmlformats.org/drawingml/2006/main">
              <a:ext uri="{FF2B5EF4-FFF2-40B4-BE49-F238E27FC236}">
                <a16:creationId xmlns:a16="http://schemas.microsoft.com/office/drawing/2014/main" id="{4FD53EC4-19A4-4145-BD2E-FAB522D78271}"/>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群体关系会随时间变化</a:t>
            </a:r>
          </a:p>
        </p:txBody>
      </p:sp>
    </p:spTree>
    <p:extLst>
      <p:ext uri="{BB962C8B-B14F-4D97-AF65-F5344CB8AC3E}">
        <p14:creationId xmlns:p14="http://schemas.microsoft.com/office/powerpoint/2010/main" val="98665877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7-rule">
            <a:extLst xmlns:a="http://schemas.openxmlformats.org/drawingml/2006/main">
              <a:ext uri="{FF2B5EF4-FFF2-40B4-BE49-F238E27FC236}">
                <a16:creationId xmlns:a16="http://schemas.microsoft.com/office/drawing/2014/main" id="{C00A4A38-0598-4A67-9085-A5417D54D980}"/>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7-eyebrow">
            <a:extLst xmlns:a="http://schemas.openxmlformats.org/drawingml/2006/main">
              <a:ext uri="{FF2B5EF4-FFF2-40B4-BE49-F238E27FC236}">
                <a16:creationId xmlns:a16="http://schemas.microsoft.com/office/drawing/2014/main" id="{3EF11A50-91D9-45EE-A11C-D3CEC77A514A}"/>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5 / 6</a:t>
            </a:r>
          </a:p>
        </p:txBody>
      </p:sp>
      <p:sp>
        <p:nvSpPr>
          <p:cNvPr id="3" name="s7-title">
            <a:extLst xmlns:a="http://schemas.openxmlformats.org/drawingml/2006/main">
              <a:ext uri="{FF2B5EF4-FFF2-40B4-BE49-F238E27FC236}">
                <a16:creationId xmlns:a16="http://schemas.microsoft.com/office/drawing/2014/main" id="{D4356608-393C-40DB-B643-C0C0143740D8}"/>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个体层可测完成率、路径长度、能耗和碰撞</a:t>
            </a:r>
          </a:p>
        </p:txBody>
      </p:sp>
      <p:sp>
        <p:nvSpPr>
          <p:cNvPr id="4" name="s7-footer">
            <a:extLst xmlns:a="http://schemas.openxmlformats.org/drawingml/2006/main">
              <a:ext uri="{FF2B5EF4-FFF2-40B4-BE49-F238E27FC236}">
                <a16:creationId xmlns:a16="http://schemas.microsoft.com/office/drawing/2014/main" id="{AD522ECB-D1C2-49B0-9D6B-952C9E4BE5D4}"/>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7-identity">
            <a:extLst xmlns:a="http://schemas.openxmlformats.org/drawingml/2006/main">
              <a:ext uri="{FF2B5EF4-FFF2-40B4-BE49-F238E27FC236}">
                <a16:creationId xmlns:a16="http://schemas.microsoft.com/office/drawing/2014/main" id="{84206E95-E6C7-4430-A530-0483B4AEE367}"/>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EM-006-S07</a:t>
            </a:r>
          </a:p>
        </p:txBody>
      </p:sp>
      <p:sp>
        <p:nvSpPr>
          <p:cNvPr id="6" name="core-no-0">
            <a:extLst xmlns:a="http://schemas.openxmlformats.org/drawingml/2006/main">
              <a:ext uri="{FF2B5EF4-FFF2-40B4-BE49-F238E27FC236}">
                <a16:creationId xmlns:a16="http://schemas.microsoft.com/office/drawing/2014/main" id="{564ECCC5-3349-4429-9DF2-52EED0AEE8FC}"/>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C352EBAE-DEC5-454D-8583-9E192345EA28}"/>
              </a:ext>
            </a:extLst>
          </p:cNvPr>
          <p:cNvSpPr>
            <a:spLocks xmlns:a="http://schemas.openxmlformats.org/drawingml/2006/main" noGrp="1"/>
          </p:cNvSpPr>
          <p:nvPr/>
        </p:nvSpPr>
        <p:spPr>
          <a:xfrm xmlns:a="http://schemas.openxmlformats.org/drawingml/2006/main">
            <a:off x="914400" y="2590800"/>
            <a:ext cx="50387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评测：同时看个体、群体与系统</a:t>
            </a:r>
          </a:p>
        </p:txBody>
      </p:sp>
      <p:sp>
        <p:nvSpPr>
          <p:cNvPr id="8" name="core-body-0">
            <a:extLst xmlns:a="http://schemas.openxmlformats.org/drawingml/2006/main">
              <a:ext uri="{FF2B5EF4-FFF2-40B4-BE49-F238E27FC236}">
                <a16:creationId xmlns:a16="http://schemas.microsoft.com/office/drawing/2014/main" id="{50DF8568-555D-42B5-89A1-C2F7884086B1}"/>
              </a:ext>
            </a:extLst>
          </p:cNvPr>
          <p:cNvSpPr>
            <a:spLocks xmlns:a="http://schemas.openxmlformats.org/drawingml/2006/main" noGrp="1"/>
          </p:cNvSpPr>
          <p:nvPr/>
        </p:nvSpPr>
        <p:spPr>
          <a:xfrm xmlns:a="http://schemas.openxmlformats.org/drawingml/2006/main">
            <a:off x="914400" y="3390900"/>
            <a:ext cx="5038725"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个体层可测完成率、路径长度、能耗和碰撞；群体层可测总完成时间、吞吐、拥堵密度、资源公平和对扰动的恢复；系统层还要测计算负载、通信开销、仿真步长和可复现性</a:t>
            </a:r>
          </a:p>
        </p:txBody>
      </p:sp>
      <p:sp>
        <p:nvSpPr>
          <p:cNvPr id="9" name="core-no-1">
            <a:extLst xmlns:a="http://schemas.openxmlformats.org/drawingml/2006/main">
              <a:ext uri="{FF2B5EF4-FFF2-40B4-BE49-F238E27FC236}">
                <a16:creationId xmlns:a16="http://schemas.microsoft.com/office/drawing/2014/main" id="{9C393243-B1D7-4D2B-91A7-39EAED68D0B6}"/>
              </a:ext>
            </a:extLst>
          </p:cNvPr>
          <p:cNvSpPr>
            <a:spLocks xmlns:a="http://schemas.openxmlformats.org/drawingml/2006/main" noGrp="1"/>
          </p:cNvSpPr>
          <p:nvPr/>
        </p:nvSpPr>
        <p:spPr>
          <a:xfrm xmlns:a="http://schemas.openxmlformats.org/drawingml/2006/main">
            <a:off x="6238875"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7F1C6113-5EED-4299-8D61-F6E53563497B}"/>
              </a:ext>
            </a:extLst>
          </p:cNvPr>
          <p:cNvSpPr>
            <a:spLocks xmlns:a="http://schemas.openxmlformats.org/drawingml/2006/main" noGrp="1"/>
          </p:cNvSpPr>
          <p:nvPr/>
        </p:nvSpPr>
        <p:spPr>
          <a:xfrm xmlns:a="http://schemas.openxmlformats.org/drawingml/2006/main">
            <a:off x="6238875" y="2590800"/>
            <a:ext cx="5038725"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一次漂亮演示不能代表鲁棒性。应改变人数、初始位置、通信延迟、传感噪声、障碍和关键智能体失效，观察性能怎样退化，并报告失败分布而非只报告最佳运行</a:t>
            </a:r>
          </a:p>
        </p:txBody>
      </p:sp>
      <p:sp>
        <p:nvSpPr>
          <p:cNvPr id="11" name="s7-takeaway-rule">
            <a:extLst xmlns:a="http://schemas.openxmlformats.org/drawingml/2006/main">
              <a:ext uri="{FF2B5EF4-FFF2-40B4-BE49-F238E27FC236}">
                <a16:creationId xmlns:a16="http://schemas.microsoft.com/office/drawing/2014/main" id="{79C95F60-BE98-4467-9329-01893918A163}"/>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2" name="s7-takeaway">
            <a:extLst xmlns:a="http://schemas.openxmlformats.org/drawingml/2006/main">
              <a:ext uri="{FF2B5EF4-FFF2-40B4-BE49-F238E27FC236}">
                <a16:creationId xmlns:a16="http://schemas.microsoft.com/office/drawing/2014/main" id="{59B573A8-3B18-4FDB-8BAD-E2B86C488484}"/>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个体层可测完成率、路径长度、能耗和碰撞</a:t>
            </a:r>
          </a:p>
        </p:txBody>
      </p:sp>
    </p:spTree>
    <p:extLst>
      <p:ext uri="{BB962C8B-B14F-4D97-AF65-F5344CB8AC3E}">
        <p14:creationId xmlns:p14="http://schemas.microsoft.com/office/powerpoint/2010/main" val="177119368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8-rule">
            <a:extLst xmlns:a="http://schemas.openxmlformats.org/drawingml/2006/main">
              <a:ext uri="{FF2B5EF4-FFF2-40B4-BE49-F238E27FC236}">
                <a16:creationId xmlns:a16="http://schemas.microsoft.com/office/drawing/2014/main" id="{0B4C535C-173C-4B60-8FA9-8BE4B39FC66C}"/>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8-eyebrow">
            <a:extLst xmlns:a="http://schemas.openxmlformats.org/drawingml/2006/main">
              <a:ext uri="{FF2B5EF4-FFF2-40B4-BE49-F238E27FC236}">
                <a16:creationId xmlns:a16="http://schemas.microsoft.com/office/drawing/2014/main" id="{4EBA5864-63BE-4C8D-B52D-2CD1684062F6}"/>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核心论点 6 / 6</a:t>
            </a:r>
          </a:p>
        </p:txBody>
      </p:sp>
      <p:sp>
        <p:nvSpPr>
          <p:cNvPr id="3" name="s8-title">
            <a:extLst xmlns:a="http://schemas.openxmlformats.org/drawingml/2006/main">
              <a:ext uri="{FF2B5EF4-FFF2-40B4-BE49-F238E27FC236}">
                <a16:creationId xmlns:a16="http://schemas.microsoft.com/office/drawing/2014/main" id="{C34DC01F-32E3-471B-BEDB-1EAC06D917A4}"/>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数字孪生需要现实数据校准</a:t>
            </a:r>
          </a:p>
        </p:txBody>
      </p:sp>
      <p:sp>
        <p:nvSpPr>
          <p:cNvPr id="4" name="s8-footer">
            <a:extLst xmlns:a="http://schemas.openxmlformats.org/drawingml/2006/main">
              <a:ext uri="{FF2B5EF4-FFF2-40B4-BE49-F238E27FC236}">
                <a16:creationId xmlns:a16="http://schemas.microsoft.com/office/drawing/2014/main" id="{B657BF10-F305-41ED-B045-F1CCEF7D9521}"/>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8-identity">
            <a:extLst xmlns:a="http://schemas.openxmlformats.org/drawingml/2006/main">
              <a:ext uri="{FF2B5EF4-FFF2-40B4-BE49-F238E27FC236}">
                <a16:creationId xmlns:a16="http://schemas.microsoft.com/office/drawing/2014/main" id="{2A471633-B2CF-4DC2-A256-D96C43C6B072}"/>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EM-006-S08</a:t>
            </a:r>
          </a:p>
        </p:txBody>
      </p:sp>
      <p:sp>
        <p:nvSpPr>
          <p:cNvPr id="6" name="core-no-0">
            <a:extLst xmlns:a="http://schemas.openxmlformats.org/drawingml/2006/main">
              <a:ext uri="{FF2B5EF4-FFF2-40B4-BE49-F238E27FC236}">
                <a16:creationId xmlns:a16="http://schemas.microsoft.com/office/drawing/2014/main" id="{AE98A4F2-CFB3-49E4-98F5-A79FC3AE5B97}"/>
              </a:ext>
            </a:extLst>
          </p:cNvPr>
          <p:cNvSpPr>
            <a:spLocks xmlns:a="http://schemas.openxmlformats.org/drawingml/2006/main" noGrp="1"/>
          </p:cNvSpPr>
          <p:nvPr/>
        </p:nvSpPr>
        <p:spPr>
          <a:xfrm xmlns:a="http://schemas.openxmlformats.org/drawingml/2006/main">
            <a:off x="914400"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01</a:t>
            </a:r>
          </a:p>
        </p:txBody>
      </p:sp>
      <p:sp>
        <p:nvSpPr>
          <p:cNvPr id="7" name="core-label-0">
            <a:extLst xmlns:a="http://schemas.openxmlformats.org/drawingml/2006/main">
              <a:ext uri="{FF2B5EF4-FFF2-40B4-BE49-F238E27FC236}">
                <a16:creationId xmlns:a16="http://schemas.microsoft.com/office/drawing/2014/main" id="{CF5DF0F4-C770-42ED-B71E-41906220E6ED}"/>
              </a:ext>
            </a:extLst>
          </p:cNvPr>
          <p:cNvSpPr>
            <a:spLocks xmlns:a="http://schemas.openxmlformats.org/drawingml/2006/main" noGrp="1"/>
          </p:cNvSpPr>
          <p:nvPr/>
        </p:nvSpPr>
        <p:spPr>
          <a:xfrm xmlns:a="http://schemas.openxmlformats.org/drawingml/2006/main">
            <a:off x="914400" y="2590800"/>
            <a:ext cx="50387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100" b="1">
                <a:solidFill>
                  <a:srgbClr val="165642"/>
                </a:solidFill>
                <a:latin typeface="PingFang SC"/>
                <a:ea typeface="PingFang SC"/>
                <a:cs typeface="PingFang SC"/>
              </a:defRPr>
            </a:pPr>
            <a:r>
              <a:rPr sz="2100" b="1">
                <a:solidFill>
                  <a:srgbClr val="165642"/>
                </a:solidFill>
                <a:latin typeface="PingFang SC"/>
                <a:ea typeface="PingFang SC"/>
                <a:cs typeface="PingFang SC"/>
              </a:rPr>
              <a:t>从仿真到现实：校准、验证与适用域</a:t>
            </a:r>
          </a:p>
        </p:txBody>
      </p:sp>
      <p:sp>
        <p:nvSpPr>
          <p:cNvPr id="8" name="core-body-0">
            <a:extLst xmlns:a="http://schemas.openxmlformats.org/drawingml/2006/main">
              <a:ext uri="{FF2B5EF4-FFF2-40B4-BE49-F238E27FC236}">
                <a16:creationId xmlns:a16="http://schemas.microsoft.com/office/drawing/2014/main" id="{2E532556-54C2-4D0D-9DF7-A73CB9573864}"/>
              </a:ext>
            </a:extLst>
          </p:cNvPr>
          <p:cNvSpPr>
            <a:spLocks xmlns:a="http://schemas.openxmlformats.org/drawingml/2006/main" noGrp="1"/>
          </p:cNvSpPr>
          <p:nvPr/>
        </p:nvSpPr>
        <p:spPr>
          <a:xfrm xmlns:a="http://schemas.openxmlformats.org/drawingml/2006/main">
            <a:off x="914400" y="3390900"/>
            <a:ext cx="5038725" cy="1714500"/>
          </a:xfrm>
          <a:prstGeom xmlns:a="http://schemas.openxmlformats.org/drawingml/2006/main" prst="roundRect">
            <a:avLst>
              <a:gd name="adj" fmla="val 10000"/>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数字孪生需要现实数据校准，例如行走速度分布、机器人转向半径、传感延迟和道路容量。随后用未参与校准的现实片段验证模型是否能复现关键统计与故障模式</a:t>
            </a:r>
          </a:p>
        </p:txBody>
      </p:sp>
      <p:sp>
        <p:nvSpPr>
          <p:cNvPr id="9" name="core-no-1">
            <a:extLst xmlns:a="http://schemas.openxmlformats.org/drawingml/2006/main">
              <a:ext uri="{FF2B5EF4-FFF2-40B4-BE49-F238E27FC236}">
                <a16:creationId xmlns:a16="http://schemas.microsoft.com/office/drawing/2014/main" id="{9C8EAAC9-9D01-40F7-8DB2-9949D93B5C2D}"/>
              </a:ext>
            </a:extLst>
          </p:cNvPr>
          <p:cNvSpPr>
            <a:spLocks xmlns:a="http://schemas.openxmlformats.org/drawingml/2006/main" noGrp="1"/>
          </p:cNvSpPr>
          <p:nvPr/>
        </p:nvSpPr>
        <p:spPr>
          <a:xfrm xmlns:a="http://schemas.openxmlformats.org/drawingml/2006/main">
            <a:off x="6238875" y="2076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0B6B4F"/>
                </a:solidFill>
                <a:latin typeface="PingFang SC"/>
                <a:ea typeface="PingFang SC"/>
                <a:cs typeface="PingFang SC"/>
              </a:defRPr>
            </a:pPr>
            <a:r>
              <a:rPr sz="2250" b="1">
                <a:solidFill>
                  <a:srgbClr val="0B6B4F"/>
                </a:solidFill>
                <a:latin typeface="PingFang SC"/>
                <a:ea typeface="PingFang SC"/>
                <a:cs typeface="PingFang SC"/>
              </a:rPr>
              <a:t>02</a:t>
            </a:r>
          </a:p>
        </p:txBody>
      </p:sp>
      <p:sp>
        <p:nvSpPr>
          <p:cNvPr id="10" name="core-body-1">
            <a:extLst xmlns:a="http://schemas.openxmlformats.org/drawingml/2006/main">
              <a:ext uri="{FF2B5EF4-FFF2-40B4-BE49-F238E27FC236}">
                <a16:creationId xmlns:a16="http://schemas.microsoft.com/office/drawing/2014/main" id="{3E736530-2AE2-4029-BE64-E85DD4654959}"/>
              </a:ext>
            </a:extLst>
          </p:cNvPr>
          <p:cNvSpPr>
            <a:spLocks xmlns:a="http://schemas.openxmlformats.org/drawingml/2006/main" noGrp="1"/>
          </p:cNvSpPr>
          <p:nvPr/>
        </p:nvSpPr>
        <p:spPr>
          <a:xfrm xmlns:a="http://schemas.openxmlformats.org/drawingml/2006/main">
            <a:off x="6238875" y="2590800"/>
            <a:ext cx="5038725" cy="25146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800">
                <a:solidFill>
                  <a:srgbClr val="10233F"/>
                </a:solidFill>
                <a:latin typeface="PingFang SC"/>
                <a:ea typeface="PingFang SC"/>
                <a:cs typeface="PingFang SC"/>
              </a:defRPr>
            </a:pPr>
            <a:r>
              <a:rPr sz="1800">
                <a:solidFill>
                  <a:srgbClr val="10233F"/>
                </a:solidFill>
                <a:latin typeface="PingFang SC"/>
                <a:ea typeface="PingFang SC"/>
                <a:cs typeface="PingFang SC"/>
              </a:rPr>
              <a:t>即使验证通过，结论也只在已覆盖的人群、场地和任务范围内有效。疏散或公共安全场景中的仿真可以帮助比较方案、发现风险，不能单独替代现场规范、专家判断和真实演练</a:t>
            </a:r>
          </a:p>
        </p:txBody>
      </p:sp>
      <p:sp>
        <p:nvSpPr>
          <p:cNvPr id="11" name="s8-takeaway-rule">
            <a:extLst xmlns:a="http://schemas.openxmlformats.org/drawingml/2006/main">
              <a:ext uri="{FF2B5EF4-FFF2-40B4-BE49-F238E27FC236}">
                <a16:creationId xmlns:a16="http://schemas.microsoft.com/office/drawing/2014/main" id="{F20F42BA-D475-43F2-B4BF-3A3460E2005D}"/>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2" name="s8-takeaway">
            <a:extLst xmlns:a="http://schemas.openxmlformats.org/drawingml/2006/main">
              <a:ext uri="{FF2B5EF4-FFF2-40B4-BE49-F238E27FC236}">
                <a16:creationId xmlns:a16="http://schemas.microsoft.com/office/drawing/2014/main" id="{8F1459D3-D86C-4207-AAE2-56BA9F8A4307}"/>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数字孪生需要现实数据校准</a:t>
            </a:r>
          </a:p>
        </p:txBody>
      </p:sp>
    </p:spTree>
    <p:extLst>
      <p:ext uri="{BB962C8B-B14F-4D97-AF65-F5344CB8AC3E}">
        <p14:creationId xmlns:p14="http://schemas.microsoft.com/office/powerpoint/2010/main" val="194358080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9-rule">
            <a:extLst xmlns:a="http://schemas.openxmlformats.org/drawingml/2006/main">
              <a:ext uri="{FF2B5EF4-FFF2-40B4-BE49-F238E27FC236}">
                <a16:creationId xmlns:a16="http://schemas.microsoft.com/office/drawing/2014/main" id="{373208E9-1306-4135-8BE1-F23B8536E975}"/>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9-eyebrow">
            <a:extLst xmlns:a="http://schemas.openxmlformats.org/drawingml/2006/main">
              <a:ext uri="{FF2B5EF4-FFF2-40B4-BE49-F238E27FC236}">
                <a16:creationId xmlns:a16="http://schemas.microsoft.com/office/drawing/2014/main" id="{4878B07F-10F3-4A17-8AB5-71B4BAE95AA0}"/>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案例与边界 1 / 2</a:t>
            </a:r>
          </a:p>
        </p:txBody>
      </p:sp>
      <p:sp>
        <p:nvSpPr>
          <p:cNvPr id="3" name="s9-title">
            <a:extLst xmlns:a="http://schemas.openxmlformats.org/drawingml/2006/main">
              <a:ext uri="{FF2B5EF4-FFF2-40B4-BE49-F238E27FC236}">
                <a16:creationId xmlns:a16="http://schemas.microsoft.com/office/drawing/2014/main" id="{290D27B6-C551-46E0-9C5A-0AB3BC196677}"/>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人群疏散方案对照实验</a:t>
            </a:r>
          </a:p>
        </p:txBody>
      </p:sp>
      <p:sp>
        <p:nvSpPr>
          <p:cNvPr id="4" name="s9-footer">
            <a:extLst xmlns:a="http://schemas.openxmlformats.org/drawingml/2006/main">
              <a:ext uri="{FF2B5EF4-FFF2-40B4-BE49-F238E27FC236}">
                <a16:creationId xmlns:a16="http://schemas.microsoft.com/office/drawing/2014/main" id="{BEDBC610-91B4-49DA-B1A5-4F5E7204C586}"/>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9-identity">
            <a:extLst xmlns:a="http://schemas.openxmlformats.org/drawingml/2006/main">
              <a:ext uri="{FF2B5EF4-FFF2-40B4-BE49-F238E27FC236}">
                <a16:creationId xmlns:a16="http://schemas.microsoft.com/office/drawing/2014/main" id="{9B707665-5AD8-4747-A2F7-39316CFD65B3}"/>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EM-006-S09</a:t>
            </a:r>
          </a:p>
        </p:txBody>
      </p:sp>
      <p:sp>
        <p:nvSpPr>
          <p:cNvPr id="6" name="case-title">
            <a:extLst xmlns:a="http://schemas.openxmlformats.org/drawingml/2006/main">
              <a:ext uri="{FF2B5EF4-FFF2-40B4-BE49-F238E27FC236}">
                <a16:creationId xmlns:a16="http://schemas.microsoft.com/office/drawing/2014/main" id="{5868E6BB-8E2B-4FB4-9057-DDACE7714299}"/>
              </a:ext>
            </a:extLst>
          </p:cNvPr>
          <p:cNvSpPr>
            <a:spLocks xmlns:a="http://schemas.openxmlformats.org/drawingml/2006/main" noGrp="1"/>
          </p:cNvSpPr>
          <p:nvPr/>
        </p:nvSpPr>
        <p:spPr>
          <a:xfrm xmlns:a="http://schemas.openxmlformats.org/drawingml/2006/main">
            <a:off x="723900" y="2190750"/>
            <a:ext cx="3048000" cy="2724150"/>
          </a:xfrm>
          <a:prstGeom xmlns:a="http://schemas.openxmlformats.org/drawingml/2006/main" prst="roundRect">
            <a:avLst>
              <a:gd name="adj" fmla="val 6993"/>
            </a:avLst>
          </a:prstGeom>
          <a:solidFill xmlns:a="http://schemas.openxmlformats.org/drawingml/2006/main">
            <a:srgbClr val="165642"/>
          </a:solidFill>
          <a:ln xmlns:a="http://schemas.openxmlformats.org/drawingml/2006/main" w="0">
            <a:solidFill>
              <a:srgbClr val="165642"/>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2550" b="1">
                <a:solidFill>
                  <a:srgbClr val="FFFFFF"/>
                </a:solidFill>
                <a:latin typeface="PingFang SC"/>
                <a:ea typeface="PingFang SC"/>
                <a:cs typeface="PingFang SC"/>
              </a:defRPr>
            </a:pPr>
            <a:r>
              <a:rPr sz="2550" b="1">
                <a:solidFill>
                  <a:srgbClr val="FFFFFF"/>
                </a:solidFill>
                <a:latin typeface="PingFang SC"/>
                <a:ea typeface="PingFang SC"/>
                <a:cs typeface="PingFang SC"/>
              </a:rPr>
              <a:t>人群疏散方案对照实验</a:t>
            </a:r>
          </a:p>
        </p:txBody>
      </p:sp>
      <p:sp>
        <p:nvSpPr>
          <p:cNvPr id="7" name="case-row-0">
            <a:extLst xmlns:a="http://schemas.openxmlformats.org/drawingml/2006/main">
              <a:ext uri="{FF2B5EF4-FFF2-40B4-BE49-F238E27FC236}">
                <a16:creationId xmlns:a16="http://schemas.microsoft.com/office/drawing/2014/main" id="{2DED1835-6979-4456-BBF0-06095BDDA8E6}"/>
              </a:ext>
            </a:extLst>
          </p:cNvPr>
          <p:cNvSpPr>
            <a:spLocks xmlns:a="http://schemas.openxmlformats.org/drawingml/2006/main" noGrp="1"/>
          </p:cNvSpPr>
          <p:nvPr/>
        </p:nvSpPr>
        <p:spPr>
          <a:xfrm xmlns:a="http://schemas.openxmlformats.org/drawingml/2006/main">
            <a:off x="4286250" y="2038350"/>
            <a:ext cx="6534150" cy="514350"/>
          </a:xfrm>
          <a:prstGeom xmlns:a="http://schemas.openxmlformats.org/drawingml/2006/main" prst="roundRect">
            <a:avLst>
              <a:gd name="adj" fmla="val 24074"/>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2956"/>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场景｜实验定义两处出口、三类行动速度、局部可见范围和无全局通信的个体</a:t>
            </a:r>
          </a:p>
        </p:txBody>
      </p:sp>
      <p:sp>
        <p:nvSpPr>
          <p:cNvPr id="8" name="case-row-1">
            <a:extLst xmlns:a="http://schemas.openxmlformats.org/drawingml/2006/main">
              <a:ext uri="{FF2B5EF4-FFF2-40B4-BE49-F238E27FC236}">
                <a16:creationId xmlns:a16="http://schemas.microsoft.com/office/drawing/2014/main" id="{076555C4-A3A1-4862-B41B-1DE2EACAE3AC}"/>
              </a:ext>
            </a:extLst>
          </p:cNvPr>
          <p:cNvSpPr>
            <a:spLocks xmlns:a="http://schemas.openxmlformats.org/drawingml/2006/main" noGrp="1"/>
          </p:cNvSpPr>
          <p:nvPr/>
        </p:nvSpPr>
        <p:spPr>
          <a:xfrm xmlns:a="http://schemas.openxmlformats.org/drawingml/2006/main">
            <a:off x="4286250" y="2667000"/>
            <a:ext cx="6534150" cy="514350"/>
          </a:xfrm>
          <a:prstGeom xmlns:a="http://schemas.openxmlformats.org/drawingml/2006/main" prst="roundRect">
            <a:avLst>
              <a:gd name="adj" fmla="val 24074"/>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2956"/>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机制｜方案 A 让个体选择最近出口，方案 B 在局部拥堵超过阈值时引导部分个体改道</a:t>
            </a:r>
          </a:p>
        </p:txBody>
      </p:sp>
      <p:sp>
        <p:nvSpPr>
          <p:cNvPr id="9" name="case-row-2">
            <a:extLst xmlns:a="http://schemas.openxmlformats.org/drawingml/2006/main">
              <a:ext uri="{FF2B5EF4-FFF2-40B4-BE49-F238E27FC236}">
                <a16:creationId xmlns:a16="http://schemas.microsoft.com/office/drawing/2014/main" id="{D84624ED-6600-476E-B5ED-38B27D9D4A5C}"/>
              </a:ext>
            </a:extLst>
          </p:cNvPr>
          <p:cNvSpPr>
            <a:spLocks xmlns:a="http://schemas.openxmlformats.org/drawingml/2006/main" noGrp="1"/>
          </p:cNvSpPr>
          <p:nvPr/>
        </p:nvSpPr>
        <p:spPr>
          <a:xfrm xmlns:a="http://schemas.openxmlformats.org/drawingml/2006/main">
            <a:off x="4286250" y="3295650"/>
            <a:ext cx="6534150" cy="514350"/>
          </a:xfrm>
          <a:prstGeom xmlns:a="http://schemas.openxmlformats.org/drawingml/2006/main" prst="roundRect">
            <a:avLst>
              <a:gd name="adj" fmla="val 24074"/>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2956"/>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机制｜每个方案使用相同的 30 组随机初始状态运行</a:t>
            </a:r>
          </a:p>
        </p:txBody>
      </p:sp>
      <p:sp>
        <p:nvSpPr>
          <p:cNvPr id="10" name="case-row-3">
            <a:extLst xmlns:a="http://schemas.openxmlformats.org/drawingml/2006/main">
              <a:ext uri="{FF2B5EF4-FFF2-40B4-BE49-F238E27FC236}">
                <a16:creationId xmlns:a16="http://schemas.microsoft.com/office/drawing/2014/main" id="{3C412532-144D-4303-879C-24EE9DAEFF4E}"/>
              </a:ext>
            </a:extLst>
          </p:cNvPr>
          <p:cNvSpPr>
            <a:spLocks xmlns:a="http://schemas.openxmlformats.org/drawingml/2006/main" noGrp="1"/>
          </p:cNvSpPr>
          <p:nvPr/>
        </p:nvSpPr>
        <p:spPr>
          <a:xfrm xmlns:a="http://schemas.openxmlformats.org/drawingml/2006/main">
            <a:off x="4286250" y="3924300"/>
            <a:ext cx="6534150" cy="514350"/>
          </a:xfrm>
          <a:prstGeom xmlns:a="http://schemas.openxmlformats.org/drawingml/2006/main" prst="roundRect">
            <a:avLst>
              <a:gd name="adj" fmla="val 24074"/>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2956"/>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方法｜评测同时记录总疏散时间、最高局部密度、个体等待时间分布和出口利用率</a:t>
            </a:r>
          </a:p>
        </p:txBody>
      </p:sp>
      <p:sp>
        <p:nvSpPr>
          <p:cNvPr id="11" name="case-row-4">
            <a:extLst xmlns:a="http://schemas.openxmlformats.org/drawingml/2006/main">
              <a:ext uri="{FF2B5EF4-FFF2-40B4-BE49-F238E27FC236}">
                <a16:creationId xmlns:a16="http://schemas.microsoft.com/office/drawing/2014/main" id="{033E2CBF-BA9B-47EF-918A-56419DE7743C}"/>
              </a:ext>
            </a:extLst>
          </p:cNvPr>
          <p:cNvSpPr>
            <a:spLocks xmlns:a="http://schemas.openxmlformats.org/drawingml/2006/main" noGrp="1"/>
          </p:cNvSpPr>
          <p:nvPr/>
        </p:nvSpPr>
        <p:spPr>
          <a:xfrm xmlns:a="http://schemas.openxmlformats.org/drawingml/2006/main">
            <a:off x="4286250" y="4552950"/>
            <a:ext cx="6534150" cy="514350"/>
          </a:xfrm>
          <a:prstGeom xmlns:a="http://schemas.openxmlformats.org/drawingml/2006/main" prst="roundRect">
            <a:avLst>
              <a:gd name="adj" fmla="val 24074"/>
            </a:avLst>
          </a:prstGeom>
          <a:solidFill xmlns:a="http://schemas.openxmlformats.org/drawingml/2006/main">
            <a:srgbClr val="E1F6ED"/>
          </a:solidFill>
          <a:ln xmlns:a="http://schemas.openxmlformats.org/drawingml/2006/main" w="9525">
            <a:solidFill>
              <a:srgbClr val="0B6B4F"/>
            </a:solidFill>
            <a:prstDash val="solid"/>
          </a:ln>
        </p:spPr>
        <p:txBody>
          <a:bodyPr xmlns:a="http://schemas.openxmlformats.org/drawingml/2006/main" lIns="152400" tIns="133350" rIns="152400" bIns="133350" anchor="ctr">
            <a:normAutofit fontScale="72679"/>
          </a:bodyPr>
          <a:lstStyle xmlns:a="http://schemas.openxmlformats.org/drawingml/2006/main"/>
          <a:p xmlns:a="http://schemas.openxmlformats.org/drawingml/2006/main">
            <a:pPr algn="l">
              <a:defRPr sz="1575" b="1">
                <a:solidFill>
                  <a:srgbClr val="10233F"/>
                </a:solidFill>
                <a:latin typeface="PingFang SC"/>
                <a:ea typeface="PingFang SC"/>
                <a:cs typeface="PingFang SC"/>
              </a:defRPr>
            </a:pPr>
            <a:r>
              <a:rPr sz="1575" b="1">
                <a:solidFill>
                  <a:srgbClr val="10233F"/>
                </a:solidFill>
                <a:latin typeface="PingFang SC"/>
                <a:ea typeface="PingFang SC"/>
                <a:cs typeface="PingFang SC"/>
              </a:rPr>
              <a:t>边界｜若方案 B 只降低平均时间，却让行动较慢群体等待更久，就需要继续调整公平与安全约束</a:t>
            </a:r>
          </a:p>
        </p:txBody>
      </p:sp>
      <p:sp>
        <p:nvSpPr>
          <p:cNvPr id="12" name="s9-takeaway-rule">
            <a:extLst xmlns:a="http://schemas.openxmlformats.org/drawingml/2006/main">
              <a:ext uri="{FF2B5EF4-FFF2-40B4-BE49-F238E27FC236}">
                <a16:creationId xmlns:a16="http://schemas.microsoft.com/office/drawing/2014/main" id="{A672AD09-C23D-447E-B94E-1DEB859E1DE8}"/>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3" name="s9-takeaway">
            <a:extLst xmlns:a="http://schemas.openxmlformats.org/drawingml/2006/main">
              <a:ext uri="{FF2B5EF4-FFF2-40B4-BE49-F238E27FC236}">
                <a16:creationId xmlns:a16="http://schemas.microsoft.com/office/drawing/2014/main" id="{4BF74255-7B8B-4C20-AD68-BE4CB6A2C829}"/>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人群疏散方案对照实验</a:t>
            </a:r>
          </a:p>
        </p:txBody>
      </p:sp>
    </p:spTree>
    <p:extLst>
      <p:ext uri="{BB962C8B-B14F-4D97-AF65-F5344CB8AC3E}">
        <p14:creationId xmlns:p14="http://schemas.microsoft.com/office/powerpoint/2010/main" val="1281600139"/>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10-rule">
            <a:extLst xmlns:a="http://schemas.openxmlformats.org/drawingml/2006/main">
              <a:ext uri="{FF2B5EF4-FFF2-40B4-BE49-F238E27FC236}">
                <a16:creationId xmlns:a16="http://schemas.microsoft.com/office/drawing/2014/main" id="{C9CB1F30-EC0F-42F4-BDA5-BE2E03FB611A}"/>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10-eyebrow">
            <a:extLst xmlns:a="http://schemas.openxmlformats.org/drawingml/2006/main">
              <a:ext uri="{FF2B5EF4-FFF2-40B4-BE49-F238E27FC236}">
                <a16:creationId xmlns:a16="http://schemas.microsoft.com/office/drawing/2014/main" id="{12F51744-0ADC-446C-B0F8-257096F96BDB}"/>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案例与边界 2 / 2</a:t>
            </a:r>
          </a:p>
        </p:txBody>
      </p:sp>
      <p:sp>
        <p:nvSpPr>
          <p:cNvPr id="3" name="s10-title">
            <a:extLst xmlns:a="http://schemas.openxmlformats.org/drawingml/2006/main">
              <a:ext uri="{FF2B5EF4-FFF2-40B4-BE49-F238E27FC236}">
                <a16:creationId xmlns:a16="http://schemas.microsoft.com/office/drawing/2014/main" id="{8AC99B2E-4F23-4502-AE78-FC6A08854406}"/>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通信失效测试揭示协作策略的恢复能力</a:t>
            </a:r>
          </a:p>
        </p:txBody>
      </p:sp>
      <p:sp>
        <p:nvSpPr>
          <p:cNvPr id="4" name="s10-footer">
            <a:extLst xmlns:a="http://schemas.openxmlformats.org/drawingml/2006/main">
              <a:ext uri="{FF2B5EF4-FFF2-40B4-BE49-F238E27FC236}">
                <a16:creationId xmlns:a16="http://schemas.microsoft.com/office/drawing/2014/main" id="{79FB09A4-5B7C-431B-8EE6-BAB940B01418}"/>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10-identity">
            <a:extLst xmlns:a="http://schemas.openxmlformats.org/drawingml/2006/main">
              <a:ext uri="{FF2B5EF4-FFF2-40B4-BE49-F238E27FC236}">
                <a16:creationId xmlns:a16="http://schemas.microsoft.com/office/drawing/2014/main" id="{97BDDB9C-4318-43D7-B7E6-912366C5DA2E}"/>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EM-006-S10</a:t>
            </a:r>
          </a:p>
        </p:txBody>
      </p:sp>
      <p:sp>
        <p:nvSpPr>
          <p:cNvPr id="6" name="case-title">
            <a:extLst xmlns:a="http://schemas.openxmlformats.org/drawingml/2006/main">
              <a:ext uri="{FF2B5EF4-FFF2-40B4-BE49-F238E27FC236}">
                <a16:creationId xmlns:a16="http://schemas.microsoft.com/office/drawing/2014/main" id="{CEE27B30-9CFD-4587-B974-0EB6A97736C2}"/>
              </a:ext>
            </a:extLst>
          </p:cNvPr>
          <p:cNvSpPr>
            <a:spLocks xmlns:a="http://schemas.openxmlformats.org/drawingml/2006/main" noGrp="1"/>
          </p:cNvSpPr>
          <p:nvPr/>
        </p:nvSpPr>
        <p:spPr>
          <a:xfrm xmlns:a="http://schemas.openxmlformats.org/drawingml/2006/main">
            <a:off x="723900" y="2190750"/>
            <a:ext cx="3048000" cy="2724150"/>
          </a:xfrm>
          <a:prstGeom xmlns:a="http://schemas.openxmlformats.org/drawingml/2006/main" prst="roundRect">
            <a:avLst>
              <a:gd name="adj" fmla="val 6993"/>
            </a:avLst>
          </a:prstGeom>
          <a:solidFill xmlns:a="http://schemas.openxmlformats.org/drawingml/2006/main">
            <a:srgbClr val="165642"/>
          </a:solidFill>
          <a:ln xmlns:a="http://schemas.openxmlformats.org/drawingml/2006/main" w="0">
            <a:solidFill>
              <a:srgbClr val="165642"/>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2550" b="1">
                <a:solidFill>
                  <a:srgbClr val="FFFFFF"/>
                </a:solidFill>
                <a:latin typeface="PingFang SC"/>
                <a:ea typeface="PingFang SC"/>
                <a:cs typeface="PingFang SC"/>
              </a:defRPr>
            </a:pPr>
            <a:r>
              <a:rPr sz="2550" b="1">
                <a:solidFill>
                  <a:srgbClr val="FFFFFF"/>
                </a:solidFill>
                <a:latin typeface="PingFang SC"/>
                <a:ea typeface="PingFang SC"/>
                <a:cs typeface="PingFang SC"/>
              </a:rPr>
              <a:t>多机器人巡检的通信失效</a:t>
            </a:r>
          </a:p>
        </p:txBody>
      </p:sp>
      <p:sp>
        <p:nvSpPr>
          <p:cNvPr id="7" name="case-row-0">
            <a:extLst xmlns:a="http://schemas.openxmlformats.org/drawingml/2006/main">
              <a:ext uri="{FF2B5EF4-FFF2-40B4-BE49-F238E27FC236}">
                <a16:creationId xmlns:a16="http://schemas.microsoft.com/office/drawing/2014/main" id="{BD1CFF01-A489-4AC4-8E6A-476DDC16C39B}"/>
              </a:ext>
            </a:extLst>
          </p:cNvPr>
          <p:cNvSpPr>
            <a:spLocks xmlns:a="http://schemas.openxmlformats.org/drawingml/2006/main" noGrp="1"/>
          </p:cNvSpPr>
          <p:nvPr/>
        </p:nvSpPr>
        <p:spPr>
          <a:xfrm xmlns:a="http://schemas.openxmlformats.org/drawingml/2006/main">
            <a:off x="4286250" y="2057400"/>
            <a:ext cx="6534150" cy="838200"/>
          </a:xfrm>
          <a:prstGeom xmlns:a="http://schemas.openxmlformats.org/drawingml/2006/main" prst="roundRect">
            <a:avLst>
              <a:gd name="adj" fmla="val 14773"/>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边界｜多台机器人分区巡检时，可在训练场中注入延迟、丢包和单机失效</a:t>
            </a:r>
          </a:p>
        </p:txBody>
      </p:sp>
      <p:sp>
        <p:nvSpPr>
          <p:cNvPr id="8" name="case-row-1">
            <a:extLst xmlns:a="http://schemas.openxmlformats.org/drawingml/2006/main">
              <a:ext uri="{FF2B5EF4-FFF2-40B4-BE49-F238E27FC236}">
                <a16:creationId xmlns:a16="http://schemas.microsoft.com/office/drawing/2014/main" id="{C00FA1BC-15E6-4F5B-856A-D368902FF8BA}"/>
              </a:ext>
            </a:extLst>
          </p:cNvPr>
          <p:cNvSpPr>
            <a:spLocks xmlns:a="http://schemas.openxmlformats.org/drawingml/2006/main" noGrp="1"/>
          </p:cNvSpPr>
          <p:nvPr/>
        </p:nvSpPr>
        <p:spPr>
          <a:xfrm xmlns:a="http://schemas.openxmlformats.org/drawingml/2006/main">
            <a:off x="4286250" y="3086100"/>
            <a:ext cx="6534150" cy="838200"/>
          </a:xfrm>
          <a:prstGeom xmlns:a="http://schemas.openxmlformats.org/drawingml/2006/main" prst="roundRect">
            <a:avLst>
              <a:gd name="adj" fmla="val 14773"/>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575" b="0">
                <a:solidFill>
                  <a:srgbClr val="10233F"/>
                </a:solidFill>
                <a:latin typeface="PingFang SC"/>
                <a:ea typeface="PingFang SC"/>
                <a:cs typeface="PingFang SC"/>
              </a:defRPr>
            </a:pPr>
            <a:r>
              <a:rPr sz="1575" b="0">
                <a:solidFill>
                  <a:srgbClr val="10233F"/>
                </a:solidFill>
                <a:latin typeface="PingFang SC"/>
                <a:ea typeface="PingFang SC"/>
                <a:cs typeface="PingFang SC"/>
              </a:rPr>
              <a:t>方法｜系统比较集中式调度、邻居协商和预设分区三种策略，观察覆盖率、重复路径、恢复时间和通信开销</a:t>
            </a:r>
          </a:p>
        </p:txBody>
      </p:sp>
      <p:sp>
        <p:nvSpPr>
          <p:cNvPr id="9" name="case-row-2">
            <a:extLst xmlns:a="http://schemas.openxmlformats.org/drawingml/2006/main">
              <a:ext uri="{FF2B5EF4-FFF2-40B4-BE49-F238E27FC236}">
                <a16:creationId xmlns:a16="http://schemas.microsoft.com/office/drawing/2014/main" id="{1FFBA638-0E16-46E4-A24F-D14E3ED49BAE}"/>
              </a:ext>
            </a:extLst>
          </p:cNvPr>
          <p:cNvSpPr>
            <a:spLocks xmlns:a="http://schemas.openxmlformats.org/drawingml/2006/main" noGrp="1"/>
          </p:cNvSpPr>
          <p:nvPr/>
        </p:nvSpPr>
        <p:spPr>
          <a:xfrm xmlns:a="http://schemas.openxmlformats.org/drawingml/2006/main">
            <a:off x="4286250" y="4114800"/>
            <a:ext cx="6534150" cy="838200"/>
          </a:xfrm>
          <a:prstGeom xmlns:a="http://schemas.openxmlformats.org/drawingml/2006/main" prst="roundRect">
            <a:avLst>
              <a:gd name="adj" fmla="val 14773"/>
            </a:avLst>
          </a:prstGeom>
          <a:solidFill xmlns:a="http://schemas.openxmlformats.org/drawingml/2006/main">
            <a:srgbClr val="E1F6ED"/>
          </a:solidFill>
          <a:ln xmlns:a="http://schemas.openxmlformats.org/drawingml/2006/main" w="9525">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l">
              <a:defRPr sz="1575" b="1">
                <a:solidFill>
                  <a:srgbClr val="10233F"/>
                </a:solidFill>
                <a:latin typeface="PingFang SC"/>
                <a:ea typeface="PingFang SC"/>
                <a:cs typeface="PingFang SC"/>
              </a:defRPr>
            </a:pPr>
            <a:r>
              <a:rPr sz="1575" b="1">
                <a:solidFill>
                  <a:srgbClr val="10233F"/>
                </a:solidFill>
                <a:latin typeface="PingFang SC"/>
                <a:ea typeface="PingFang SC"/>
                <a:cs typeface="PingFang SC"/>
              </a:rPr>
              <a:t>启示｜结果帮助团队选择在正常状态高效、故障时仍可降级运行的方案</a:t>
            </a:r>
          </a:p>
        </p:txBody>
      </p:sp>
      <p:sp>
        <p:nvSpPr>
          <p:cNvPr id="10" name="s10-takeaway-rule">
            <a:extLst xmlns:a="http://schemas.openxmlformats.org/drawingml/2006/main">
              <a:ext uri="{FF2B5EF4-FFF2-40B4-BE49-F238E27FC236}">
                <a16:creationId xmlns:a16="http://schemas.microsoft.com/office/drawing/2014/main" id="{EE70116C-8A0F-4983-B6D0-45C5A87CD12F}"/>
              </a:ext>
            </a:extLst>
          </p:cNvPr>
          <p:cNvSpPr>
            <a:spLocks xmlns:a="http://schemas.openxmlformats.org/drawingml/2006/main" noGrp="1"/>
          </p:cNvSpPr>
          <p:nvPr/>
        </p:nvSpPr>
        <p:spPr>
          <a:xfrm xmlns:a="http://schemas.openxmlformats.org/drawingml/2006/main">
            <a:off x="685800" y="54483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1" name="s10-takeaway">
            <a:extLst xmlns:a="http://schemas.openxmlformats.org/drawingml/2006/main">
              <a:ext uri="{FF2B5EF4-FFF2-40B4-BE49-F238E27FC236}">
                <a16:creationId xmlns:a16="http://schemas.microsoft.com/office/drawing/2014/main" id="{748F9975-CA0D-49EE-989B-FDE3A03FFB03}"/>
              </a:ext>
            </a:extLst>
          </p:cNvPr>
          <p:cNvSpPr>
            <a:spLocks xmlns:a="http://schemas.openxmlformats.org/drawingml/2006/main" noGrp="1"/>
          </p:cNvSpPr>
          <p:nvPr/>
        </p:nvSpPr>
        <p:spPr>
          <a:xfrm xmlns:a="http://schemas.openxmlformats.org/drawingml/2006/main">
            <a:off x="933450" y="54673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通信失效测试揭示协作策略的恢复能力</a:t>
            </a:r>
          </a:p>
        </p:txBody>
      </p:sp>
    </p:spTree>
    <p:extLst>
      <p:ext uri="{BB962C8B-B14F-4D97-AF65-F5344CB8AC3E}">
        <p14:creationId xmlns:p14="http://schemas.microsoft.com/office/powerpoint/2010/main" val="414178688"/>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11-rule">
            <a:extLst xmlns:a="http://schemas.openxmlformats.org/drawingml/2006/main">
              <a:ext uri="{FF2B5EF4-FFF2-40B4-BE49-F238E27FC236}">
                <a16:creationId xmlns:a16="http://schemas.microsoft.com/office/drawing/2014/main" id="{707AAB96-2996-4396-A172-A6C82A8900C5}"/>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11-eyebrow">
            <a:extLst xmlns:a="http://schemas.openxmlformats.org/drawingml/2006/main">
              <a:ext uri="{FF2B5EF4-FFF2-40B4-BE49-F238E27FC236}">
                <a16:creationId xmlns:a16="http://schemas.microsoft.com/office/drawing/2014/main" id="{3BD1FA50-079A-403B-8371-0ABB40919B14}"/>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动手实践</a:t>
            </a:r>
          </a:p>
        </p:txBody>
      </p:sp>
      <p:sp>
        <p:nvSpPr>
          <p:cNvPr id="3" name="s11-title">
            <a:extLst xmlns:a="http://schemas.openxmlformats.org/drawingml/2006/main">
              <a:ext uri="{FF2B5EF4-FFF2-40B4-BE49-F238E27FC236}">
                <a16:creationId xmlns:a16="http://schemas.microsoft.com/office/drawing/2014/main" id="{62224490-9C70-46A1-AFF5-CB1E4E0263B4}"/>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群体具身智能：一次可验收练习</a:t>
            </a:r>
          </a:p>
        </p:txBody>
      </p:sp>
      <p:sp>
        <p:nvSpPr>
          <p:cNvPr id="4" name="s11-footer">
            <a:extLst xmlns:a="http://schemas.openxmlformats.org/drawingml/2006/main">
              <a:ext uri="{FF2B5EF4-FFF2-40B4-BE49-F238E27FC236}">
                <a16:creationId xmlns:a16="http://schemas.microsoft.com/office/drawing/2014/main" id="{742EC510-A1D1-488E-97AD-55D6E293FF97}"/>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11-identity">
            <a:extLst xmlns:a="http://schemas.openxmlformats.org/drawingml/2006/main">
              <a:ext uri="{FF2B5EF4-FFF2-40B4-BE49-F238E27FC236}">
                <a16:creationId xmlns:a16="http://schemas.microsoft.com/office/drawing/2014/main" id="{58805EDC-AEDA-4383-BE01-96CEF608EB5D}"/>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EM-006-S11</a:t>
            </a:r>
          </a:p>
        </p:txBody>
      </p:sp>
      <p:sp>
        <p:nvSpPr>
          <p:cNvPr id="6" name="practice-circle-0">
            <a:extLst xmlns:a="http://schemas.openxmlformats.org/drawingml/2006/main">
              <a:ext uri="{FF2B5EF4-FFF2-40B4-BE49-F238E27FC236}">
                <a16:creationId xmlns:a16="http://schemas.microsoft.com/office/drawing/2014/main" id="{7EB57850-7DD0-415A-A8FC-4F6012EFEF0B}"/>
              </a:ext>
            </a:extLst>
          </p:cNvPr>
          <p:cNvSpPr>
            <a:spLocks xmlns:a="http://schemas.openxmlformats.org/drawingml/2006/main" noGrp="1"/>
          </p:cNvSpPr>
          <p:nvPr/>
        </p:nvSpPr>
        <p:spPr>
          <a:xfrm xmlns:a="http://schemas.openxmlformats.org/drawingml/2006/main">
            <a:off x="2355850" y="2038350"/>
            <a:ext cx="609600" cy="609600"/>
          </a:xfrm>
          <a:prstGeom xmlns:a="http://schemas.openxmlformats.org/drawingml/2006/main" prst="ellipse">
            <a:avLst/>
          </a:prstGeom>
          <a:solidFill xmlns:a="http://schemas.openxmlformats.org/drawingml/2006/main">
            <a:srgbClr val="165642"/>
          </a:solidFill>
          <a:ln xmlns:a="http://schemas.openxmlformats.org/drawingml/2006/main" w="28575">
            <a:solidFill>
              <a:srgbClr val="FFFFFF"/>
            </a:solidFill>
            <a:prstDash val="solid"/>
          </a:ln>
        </p:spPr>
      </p:sp>
      <p:sp>
        <p:nvSpPr>
          <p:cNvPr id="7" name="practice-number-0">
            <a:extLst xmlns:a="http://schemas.openxmlformats.org/drawingml/2006/main">
              <a:ext uri="{FF2B5EF4-FFF2-40B4-BE49-F238E27FC236}">
                <a16:creationId xmlns:a16="http://schemas.microsoft.com/office/drawing/2014/main" id="{C88EB17E-72B6-4BEF-A31C-F9698DFD1BFE}"/>
              </a:ext>
            </a:extLst>
          </p:cNvPr>
          <p:cNvSpPr>
            <a:spLocks xmlns:a="http://schemas.openxmlformats.org/drawingml/2006/main" noGrp="1"/>
          </p:cNvSpPr>
          <p:nvPr/>
        </p:nvSpPr>
        <p:spPr>
          <a:xfrm xmlns:a="http://schemas.openxmlformats.org/drawingml/2006/main">
            <a:off x="250825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1</a:t>
            </a:r>
          </a:p>
        </p:txBody>
      </p:sp>
      <p:sp>
        <p:nvSpPr>
          <p:cNvPr id="8" name="practice-item-0">
            <a:extLst xmlns:a="http://schemas.openxmlformats.org/drawingml/2006/main">
              <a:ext uri="{FF2B5EF4-FFF2-40B4-BE49-F238E27FC236}">
                <a16:creationId xmlns:a16="http://schemas.microsoft.com/office/drawing/2014/main" id="{936B522B-09E0-44CA-BBBD-501921BF1539}"/>
              </a:ext>
            </a:extLst>
          </p:cNvPr>
          <p:cNvSpPr>
            <a:spLocks xmlns:a="http://schemas.openxmlformats.org/drawingml/2006/main" noGrp="1"/>
          </p:cNvSpPr>
          <p:nvPr/>
        </p:nvSpPr>
        <p:spPr>
          <a:xfrm xmlns:a="http://schemas.openxmlformats.org/drawingml/2006/main">
            <a:off x="1143000" y="2952750"/>
            <a:ext cx="303530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0">
                <a:solidFill>
                  <a:srgbClr val="0B1F3A"/>
                </a:solidFill>
                <a:latin typeface="PingFang SC"/>
                <a:ea typeface="PingFang SC"/>
                <a:cs typeface="PingFang SC"/>
              </a:defRPr>
            </a:pPr>
            <a:r>
              <a:rPr sz="1725" b="0">
                <a:solidFill>
                  <a:srgbClr val="0B1F3A"/>
                </a:solidFill>
                <a:latin typeface="PingFang SC"/>
                <a:ea typeface="PingFang SC"/>
                <a:cs typeface="PingFang SC"/>
              </a:rPr>
              <a:t>设计一个群体任务，写出环境、个体、交互和实验四层配置；选择至少两个个体指标、三个群体指标和两个系统指标，并说明彼此可能冲突的地方</a:t>
            </a:r>
          </a:p>
        </p:txBody>
      </p:sp>
      <p:sp>
        <p:nvSpPr>
          <p:cNvPr id="9" name="practice-connector-0">
            <a:extLst xmlns:a="http://schemas.openxmlformats.org/drawingml/2006/main">
              <a:ext uri="{FF2B5EF4-FFF2-40B4-BE49-F238E27FC236}">
                <a16:creationId xmlns:a16="http://schemas.microsoft.com/office/drawing/2014/main" id="{7C44C17C-62FE-4777-9733-94D0B117A084}"/>
              </a:ext>
            </a:extLst>
          </p:cNvPr>
          <p:cNvSpPr>
            <a:spLocks xmlns:a="http://schemas.openxmlformats.org/drawingml/2006/main" noGrp="1"/>
          </p:cNvSpPr>
          <p:nvPr/>
        </p:nvSpPr>
        <p:spPr>
          <a:xfrm xmlns:a="http://schemas.openxmlformats.org/drawingml/2006/main">
            <a:off x="4254500" y="2343150"/>
            <a:ext cx="247650" cy="0"/>
          </a:xfrm>
          <a:prstGeom xmlns:a="http://schemas.openxmlformats.org/drawingml/2006/main" prst="line">
            <a:avLst/>
          </a:prstGeom>
          <a:noFill xmlns:a="http://schemas.openxmlformats.org/drawingml/2006/main"/>
          <a:ln xmlns:a="http://schemas.openxmlformats.org/drawingml/2006/main" w="28575">
            <a:solidFill>
              <a:srgbClr val="0B6B4F"/>
            </a:solidFill>
            <a:prstDash val="solid"/>
          </a:ln>
        </p:spPr>
      </p:sp>
      <p:sp>
        <p:nvSpPr>
          <p:cNvPr id="10" name="practice-circle-1">
            <a:extLst xmlns:a="http://schemas.openxmlformats.org/drawingml/2006/main">
              <a:ext uri="{FF2B5EF4-FFF2-40B4-BE49-F238E27FC236}">
                <a16:creationId xmlns:a16="http://schemas.microsoft.com/office/drawing/2014/main" id="{BD29409F-DBDE-4AEF-B680-7F47898159C2}"/>
              </a:ext>
            </a:extLst>
          </p:cNvPr>
          <p:cNvSpPr>
            <a:spLocks xmlns:a="http://schemas.openxmlformats.org/drawingml/2006/main" noGrp="1"/>
          </p:cNvSpPr>
          <p:nvPr/>
        </p:nvSpPr>
        <p:spPr>
          <a:xfrm xmlns:a="http://schemas.openxmlformats.org/drawingml/2006/main">
            <a:off x="5791200" y="2038350"/>
            <a:ext cx="609600" cy="609600"/>
          </a:xfrm>
          <a:prstGeom xmlns:a="http://schemas.openxmlformats.org/drawingml/2006/main" prst="ellipse">
            <a:avLst/>
          </a:prstGeom>
          <a:solidFill xmlns:a="http://schemas.openxmlformats.org/drawingml/2006/main">
            <a:srgbClr val="165642"/>
          </a:solidFill>
          <a:ln xmlns:a="http://schemas.openxmlformats.org/drawingml/2006/main" w="28575">
            <a:solidFill>
              <a:srgbClr val="FFFFFF"/>
            </a:solidFill>
            <a:prstDash val="solid"/>
          </a:ln>
        </p:spPr>
      </p:sp>
      <p:sp>
        <p:nvSpPr>
          <p:cNvPr id="11" name="practice-number-1">
            <a:extLst xmlns:a="http://schemas.openxmlformats.org/drawingml/2006/main">
              <a:ext uri="{FF2B5EF4-FFF2-40B4-BE49-F238E27FC236}">
                <a16:creationId xmlns:a16="http://schemas.microsoft.com/office/drawing/2014/main" id="{6CA1EAB3-1ECC-4369-BD1B-56A057E517F7}"/>
              </a:ext>
            </a:extLst>
          </p:cNvPr>
          <p:cNvSpPr>
            <a:spLocks xmlns:a="http://schemas.openxmlformats.org/drawingml/2006/main" noGrp="1"/>
          </p:cNvSpPr>
          <p:nvPr/>
        </p:nvSpPr>
        <p:spPr>
          <a:xfrm xmlns:a="http://schemas.openxmlformats.org/drawingml/2006/main">
            <a:off x="594360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2</a:t>
            </a:r>
          </a:p>
        </p:txBody>
      </p:sp>
      <p:sp>
        <p:nvSpPr>
          <p:cNvPr id="12" name="practice-item-1">
            <a:extLst xmlns:a="http://schemas.openxmlformats.org/drawingml/2006/main">
              <a:ext uri="{FF2B5EF4-FFF2-40B4-BE49-F238E27FC236}">
                <a16:creationId xmlns:a16="http://schemas.microsoft.com/office/drawing/2014/main" id="{F6EA38C5-9B44-4231-B060-CC87E88A52D0}"/>
              </a:ext>
            </a:extLst>
          </p:cNvPr>
          <p:cNvSpPr>
            <a:spLocks xmlns:a="http://schemas.openxmlformats.org/drawingml/2006/main" noGrp="1"/>
          </p:cNvSpPr>
          <p:nvPr/>
        </p:nvSpPr>
        <p:spPr>
          <a:xfrm xmlns:a="http://schemas.openxmlformats.org/drawingml/2006/main">
            <a:off x="4578350" y="2952750"/>
            <a:ext cx="303530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0">
                <a:solidFill>
                  <a:srgbClr val="0B1F3A"/>
                </a:solidFill>
                <a:latin typeface="PingFang SC"/>
                <a:ea typeface="PingFang SC"/>
                <a:cs typeface="PingFang SC"/>
              </a:defRPr>
            </a:pPr>
            <a:r>
              <a:rPr sz="1725" b="0">
                <a:solidFill>
                  <a:srgbClr val="0B1F3A"/>
                </a:solidFill>
                <a:latin typeface="PingFang SC"/>
                <a:ea typeface="PingFang SC"/>
                <a:cs typeface="PingFang SC"/>
              </a:rPr>
              <a:t>为实验列出随机种子、场景版本、扰动和日志字段，确保同学可以复现</a:t>
            </a:r>
          </a:p>
        </p:txBody>
      </p:sp>
      <p:sp>
        <p:nvSpPr>
          <p:cNvPr id="13" name="practice-connector-1">
            <a:extLst xmlns:a="http://schemas.openxmlformats.org/drawingml/2006/main">
              <a:ext uri="{FF2B5EF4-FFF2-40B4-BE49-F238E27FC236}">
                <a16:creationId xmlns:a16="http://schemas.microsoft.com/office/drawing/2014/main" id="{C5018FE5-336C-4C5E-91A3-20AD3DF76B0A}"/>
              </a:ext>
            </a:extLst>
          </p:cNvPr>
          <p:cNvSpPr>
            <a:spLocks xmlns:a="http://schemas.openxmlformats.org/drawingml/2006/main" noGrp="1"/>
          </p:cNvSpPr>
          <p:nvPr/>
        </p:nvSpPr>
        <p:spPr>
          <a:xfrm xmlns:a="http://schemas.openxmlformats.org/drawingml/2006/main">
            <a:off x="7689850" y="2343150"/>
            <a:ext cx="247650" cy="0"/>
          </a:xfrm>
          <a:prstGeom xmlns:a="http://schemas.openxmlformats.org/drawingml/2006/main" prst="line">
            <a:avLst/>
          </a:prstGeom>
          <a:noFill xmlns:a="http://schemas.openxmlformats.org/drawingml/2006/main"/>
          <a:ln xmlns:a="http://schemas.openxmlformats.org/drawingml/2006/main" w="28575">
            <a:solidFill>
              <a:srgbClr val="0B6B4F"/>
            </a:solidFill>
            <a:prstDash val="solid"/>
          </a:ln>
        </p:spPr>
      </p:sp>
      <p:sp>
        <p:nvSpPr>
          <p:cNvPr id="14" name="practice-circle-2">
            <a:extLst xmlns:a="http://schemas.openxmlformats.org/drawingml/2006/main">
              <a:ext uri="{FF2B5EF4-FFF2-40B4-BE49-F238E27FC236}">
                <a16:creationId xmlns:a16="http://schemas.microsoft.com/office/drawing/2014/main" id="{E57CAFA5-C06F-47DD-979A-DE68A17894D1}"/>
              </a:ext>
            </a:extLst>
          </p:cNvPr>
          <p:cNvSpPr>
            <a:spLocks xmlns:a="http://schemas.openxmlformats.org/drawingml/2006/main" noGrp="1"/>
          </p:cNvSpPr>
          <p:nvPr/>
        </p:nvSpPr>
        <p:spPr>
          <a:xfrm xmlns:a="http://schemas.openxmlformats.org/drawingml/2006/main">
            <a:off x="9226550" y="2038350"/>
            <a:ext cx="609600" cy="609600"/>
          </a:xfrm>
          <a:prstGeom xmlns:a="http://schemas.openxmlformats.org/drawingml/2006/main" prst="ellipse">
            <a:avLst/>
          </a:prstGeom>
          <a:solidFill xmlns:a="http://schemas.openxmlformats.org/drawingml/2006/main">
            <a:srgbClr val="0B6B4F"/>
          </a:solidFill>
          <a:ln xmlns:a="http://schemas.openxmlformats.org/drawingml/2006/main" w="28575">
            <a:solidFill>
              <a:srgbClr val="FFFFFF"/>
            </a:solidFill>
            <a:prstDash val="solid"/>
          </a:ln>
        </p:spPr>
      </p:sp>
      <p:sp>
        <p:nvSpPr>
          <p:cNvPr id="15" name="practice-number-2">
            <a:extLst xmlns:a="http://schemas.openxmlformats.org/drawingml/2006/main">
              <a:ext uri="{FF2B5EF4-FFF2-40B4-BE49-F238E27FC236}">
                <a16:creationId xmlns:a16="http://schemas.microsoft.com/office/drawing/2014/main" id="{0C81F668-49D1-4E9B-A967-29AD0F9B9F96}"/>
              </a:ext>
            </a:extLst>
          </p:cNvPr>
          <p:cNvSpPr>
            <a:spLocks xmlns:a="http://schemas.openxmlformats.org/drawingml/2006/main" noGrp="1"/>
          </p:cNvSpPr>
          <p:nvPr/>
        </p:nvSpPr>
        <p:spPr>
          <a:xfrm xmlns:a="http://schemas.openxmlformats.org/drawingml/2006/main">
            <a:off x="937895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3</a:t>
            </a:r>
          </a:p>
        </p:txBody>
      </p:sp>
      <p:sp>
        <p:nvSpPr>
          <p:cNvPr id="16" name="practice-item-2">
            <a:extLst xmlns:a="http://schemas.openxmlformats.org/drawingml/2006/main">
              <a:ext uri="{FF2B5EF4-FFF2-40B4-BE49-F238E27FC236}">
                <a16:creationId xmlns:a16="http://schemas.microsoft.com/office/drawing/2014/main" id="{85EDFDB4-43A0-4401-B259-C86F3BFEF48B}"/>
              </a:ext>
            </a:extLst>
          </p:cNvPr>
          <p:cNvSpPr>
            <a:spLocks xmlns:a="http://schemas.openxmlformats.org/drawingml/2006/main" noGrp="1"/>
          </p:cNvSpPr>
          <p:nvPr/>
        </p:nvSpPr>
        <p:spPr>
          <a:xfrm xmlns:a="http://schemas.openxmlformats.org/drawingml/2006/main">
            <a:off x="8013700" y="2952750"/>
            <a:ext cx="3035300" cy="2095500"/>
          </a:xfrm>
          <a:prstGeom xmlns:a="http://schemas.openxmlformats.org/drawingml/2006/main" prst="roundRect">
            <a:avLst>
              <a:gd name="adj" fmla="val 8182"/>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0">
                <a:solidFill>
                  <a:srgbClr val="0B1F3A"/>
                </a:solidFill>
                <a:latin typeface="PingFang SC"/>
                <a:ea typeface="PingFang SC"/>
                <a:cs typeface="PingFang SC"/>
              </a:defRPr>
            </a:pPr>
            <a:r>
              <a:rPr sz="1725" b="0">
                <a:solidFill>
                  <a:srgbClr val="0B1F3A"/>
                </a:solidFill>
                <a:latin typeface="PingFang SC"/>
                <a:ea typeface="PingFang SC"/>
                <a:cs typeface="PingFang SC"/>
              </a:rPr>
              <a:t>写出从现实数据校准到独立验证的步骤，并限定结论适用范围</a:t>
            </a:r>
          </a:p>
        </p:txBody>
      </p:sp>
    </p:spTree>
    <p:extLst>
      <p:ext uri="{BB962C8B-B14F-4D97-AF65-F5344CB8AC3E}">
        <p14:creationId xmlns:p14="http://schemas.microsoft.com/office/powerpoint/2010/main" val="123931593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12-rule">
            <a:extLst xmlns:a="http://schemas.openxmlformats.org/drawingml/2006/main">
              <a:ext uri="{FF2B5EF4-FFF2-40B4-BE49-F238E27FC236}">
                <a16:creationId xmlns:a16="http://schemas.microsoft.com/office/drawing/2014/main" id="{F0116A5C-38DE-4337-816C-C050B0579B67}"/>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12-eyebrow">
            <a:extLst xmlns:a="http://schemas.openxmlformats.org/drawingml/2006/main">
              <a:ext uri="{FF2B5EF4-FFF2-40B4-BE49-F238E27FC236}">
                <a16:creationId xmlns:a16="http://schemas.microsoft.com/office/drawing/2014/main" id="{B42C824B-A3DB-4D97-91CD-51A627A6F37E}"/>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课后复盘</a:t>
            </a:r>
          </a:p>
        </p:txBody>
      </p:sp>
      <p:sp>
        <p:nvSpPr>
          <p:cNvPr id="3" name="s12-title">
            <a:extLst xmlns:a="http://schemas.openxmlformats.org/drawingml/2006/main">
              <a:ext uri="{FF2B5EF4-FFF2-40B4-BE49-F238E27FC236}">
                <a16:creationId xmlns:a16="http://schemas.microsoft.com/office/drawing/2014/main" id="{399B6934-4842-4D49-81A0-E0C9A1EDF179}"/>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群体具身智能：判断时先抓住三点</a:t>
            </a:r>
          </a:p>
        </p:txBody>
      </p:sp>
      <p:sp>
        <p:nvSpPr>
          <p:cNvPr id="4" name="s12-footer">
            <a:extLst xmlns:a="http://schemas.openxmlformats.org/drawingml/2006/main">
              <a:ext uri="{FF2B5EF4-FFF2-40B4-BE49-F238E27FC236}">
                <a16:creationId xmlns:a16="http://schemas.microsoft.com/office/drawing/2014/main" id="{41466D4C-E76D-4C59-98B8-F11B46A2333C}"/>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12-identity">
            <a:extLst xmlns:a="http://schemas.openxmlformats.org/drawingml/2006/main">
              <a:ext uri="{FF2B5EF4-FFF2-40B4-BE49-F238E27FC236}">
                <a16:creationId xmlns:a16="http://schemas.microsoft.com/office/drawing/2014/main" id="{E3520B6D-603E-4459-86C7-A3A14EB9BEB9}"/>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EM-006-S12</a:t>
            </a:r>
          </a:p>
        </p:txBody>
      </p:sp>
      <p:sp>
        <p:nvSpPr>
          <p:cNvPr id="6" name="recap-circle-0">
            <a:extLst xmlns:a="http://schemas.openxmlformats.org/drawingml/2006/main">
              <a:ext uri="{FF2B5EF4-FFF2-40B4-BE49-F238E27FC236}">
                <a16:creationId xmlns:a16="http://schemas.microsoft.com/office/drawing/2014/main" id="{A00DE648-F2F1-4BC8-A3D6-B97923B33469}"/>
              </a:ext>
            </a:extLst>
          </p:cNvPr>
          <p:cNvSpPr>
            <a:spLocks xmlns:a="http://schemas.openxmlformats.org/drawingml/2006/main" noGrp="1"/>
          </p:cNvSpPr>
          <p:nvPr/>
        </p:nvSpPr>
        <p:spPr>
          <a:xfrm xmlns:a="http://schemas.openxmlformats.org/drawingml/2006/main">
            <a:off x="2355850" y="2038350"/>
            <a:ext cx="609600" cy="609600"/>
          </a:xfrm>
          <a:prstGeom xmlns:a="http://schemas.openxmlformats.org/drawingml/2006/main" prst="ellipse">
            <a:avLst/>
          </a:prstGeom>
          <a:solidFill xmlns:a="http://schemas.openxmlformats.org/drawingml/2006/main">
            <a:srgbClr val="165642"/>
          </a:solidFill>
          <a:ln xmlns:a="http://schemas.openxmlformats.org/drawingml/2006/main" w="28575">
            <a:solidFill>
              <a:srgbClr val="FFFFFF"/>
            </a:solidFill>
            <a:prstDash val="solid"/>
          </a:ln>
        </p:spPr>
      </p:sp>
      <p:sp>
        <p:nvSpPr>
          <p:cNvPr id="7" name="recap-number-0">
            <a:extLst xmlns:a="http://schemas.openxmlformats.org/drawingml/2006/main">
              <a:ext uri="{FF2B5EF4-FFF2-40B4-BE49-F238E27FC236}">
                <a16:creationId xmlns:a16="http://schemas.microsoft.com/office/drawing/2014/main" id="{5D60A669-EFD4-412E-BED7-B3FC1C4D111B}"/>
              </a:ext>
            </a:extLst>
          </p:cNvPr>
          <p:cNvSpPr>
            <a:spLocks xmlns:a="http://schemas.openxmlformats.org/drawingml/2006/main" noGrp="1"/>
          </p:cNvSpPr>
          <p:nvPr/>
        </p:nvSpPr>
        <p:spPr>
          <a:xfrm xmlns:a="http://schemas.openxmlformats.org/drawingml/2006/main">
            <a:off x="250825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1</a:t>
            </a:r>
          </a:p>
        </p:txBody>
      </p:sp>
      <p:sp>
        <p:nvSpPr>
          <p:cNvPr id="8" name="recap-item-0">
            <a:extLst xmlns:a="http://schemas.openxmlformats.org/drawingml/2006/main">
              <a:ext uri="{FF2B5EF4-FFF2-40B4-BE49-F238E27FC236}">
                <a16:creationId xmlns:a16="http://schemas.microsoft.com/office/drawing/2014/main" id="{BD535644-12B0-4C78-8A08-63F2265C1F7B}"/>
              </a:ext>
            </a:extLst>
          </p:cNvPr>
          <p:cNvSpPr>
            <a:spLocks xmlns:a="http://schemas.openxmlformats.org/drawingml/2006/main" noGrp="1"/>
          </p:cNvSpPr>
          <p:nvPr/>
        </p:nvSpPr>
        <p:spPr>
          <a:xfrm xmlns:a="http://schemas.openxmlformats.org/drawingml/2006/main">
            <a:off x="1143000" y="2952750"/>
            <a:ext cx="303530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1">
                <a:solidFill>
                  <a:srgbClr val="0B1F3A"/>
                </a:solidFill>
                <a:latin typeface="PingFang SC"/>
                <a:ea typeface="PingFang SC"/>
                <a:cs typeface="PingFang SC"/>
              </a:defRPr>
            </a:pPr>
            <a:r>
              <a:rPr sz="1725" b="1">
                <a:solidFill>
                  <a:srgbClr val="0B1F3A"/>
                </a:solidFill>
                <a:latin typeface="PingFang SC"/>
                <a:ea typeface="PingFang SC"/>
                <a:cs typeface="PingFang SC"/>
              </a:rPr>
              <a:t>每个智能体可以只有局部观测和简单规则</a:t>
            </a:r>
          </a:p>
        </p:txBody>
      </p:sp>
      <p:sp>
        <p:nvSpPr>
          <p:cNvPr id="9" name="recap-connector-0">
            <a:extLst xmlns:a="http://schemas.openxmlformats.org/drawingml/2006/main">
              <a:ext uri="{FF2B5EF4-FFF2-40B4-BE49-F238E27FC236}">
                <a16:creationId xmlns:a16="http://schemas.microsoft.com/office/drawing/2014/main" id="{F11421A5-E908-4C84-AE28-5197529A93EC}"/>
              </a:ext>
            </a:extLst>
          </p:cNvPr>
          <p:cNvSpPr>
            <a:spLocks xmlns:a="http://schemas.openxmlformats.org/drawingml/2006/main" noGrp="1"/>
          </p:cNvSpPr>
          <p:nvPr/>
        </p:nvSpPr>
        <p:spPr>
          <a:xfrm xmlns:a="http://schemas.openxmlformats.org/drawingml/2006/main">
            <a:off x="4254500" y="2343150"/>
            <a:ext cx="247650" cy="0"/>
          </a:xfrm>
          <a:prstGeom xmlns:a="http://schemas.openxmlformats.org/drawingml/2006/main" prst="line">
            <a:avLst/>
          </a:prstGeom>
          <a:noFill xmlns:a="http://schemas.openxmlformats.org/drawingml/2006/main"/>
          <a:ln xmlns:a="http://schemas.openxmlformats.org/drawingml/2006/main" w="28575">
            <a:solidFill>
              <a:srgbClr val="0B6B4F"/>
            </a:solidFill>
            <a:prstDash val="solid"/>
          </a:ln>
        </p:spPr>
      </p:sp>
      <p:sp>
        <p:nvSpPr>
          <p:cNvPr id="10" name="recap-circle-1">
            <a:extLst xmlns:a="http://schemas.openxmlformats.org/drawingml/2006/main">
              <a:ext uri="{FF2B5EF4-FFF2-40B4-BE49-F238E27FC236}">
                <a16:creationId xmlns:a16="http://schemas.microsoft.com/office/drawing/2014/main" id="{144705AF-579B-47FC-8762-42E14CC54B65}"/>
              </a:ext>
            </a:extLst>
          </p:cNvPr>
          <p:cNvSpPr>
            <a:spLocks xmlns:a="http://schemas.openxmlformats.org/drawingml/2006/main" noGrp="1"/>
          </p:cNvSpPr>
          <p:nvPr/>
        </p:nvSpPr>
        <p:spPr>
          <a:xfrm xmlns:a="http://schemas.openxmlformats.org/drawingml/2006/main">
            <a:off x="5791200" y="2038350"/>
            <a:ext cx="609600" cy="609600"/>
          </a:xfrm>
          <a:prstGeom xmlns:a="http://schemas.openxmlformats.org/drawingml/2006/main" prst="ellipse">
            <a:avLst/>
          </a:prstGeom>
          <a:solidFill xmlns:a="http://schemas.openxmlformats.org/drawingml/2006/main">
            <a:srgbClr val="165642"/>
          </a:solidFill>
          <a:ln xmlns:a="http://schemas.openxmlformats.org/drawingml/2006/main" w="28575">
            <a:solidFill>
              <a:srgbClr val="FFFFFF"/>
            </a:solidFill>
            <a:prstDash val="solid"/>
          </a:ln>
        </p:spPr>
      </p:sp>
      <p:sp>
        <p:nvSpPr>
          <p:cNvPr id="11" name="recap-number-1">
            <a:extLst xmlns:a="http://schemas.openxmlformats.org/drawingml/2006/main">
              <a:ext uri="{FF2B5EF4-FFF2-40B4-BE49-F238E27FC236}">
                <a16:creationId xmlns:a16="http://schemas.microsoft.com/office/drawing/2014/main" id="{4D207F4C-1733-4F7C-B1E3-A6BC05532170}"/>
              </a:ext>
            </a:extLst>
          </p:cNvPr>
          <p:cNvSpPr>
            <a:spLocks xmlns:a="http://schemas.openxmlformats.org/drawingml/2006/main" noGrp="1"/>
          </p:cNvSpPr>
          <p:nvPr/>
        </p:nvSpPr>
        <p:spPr>
          <a:xfrm xmlns:a="http://schemas.openxmlformats.org/drawingml/2006/main">
            <a:off x="594360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2</a:t>
            </a:r>
          </a:p>
        </p:txBody>
      </p:sp>
      <p:sp>
        <p:nvSpPr>
          <p:cNvPr id="12" name="recap-item-1">
            <a:extLst xmlns:a="http://schemas.openxmlformats.org/drawingml/2006/main">
              <a:ext uri="{FF2B5EF4-FFF2-40B4-BE49-F238E27FC236}">
                <a16:creationId xmlns:a16="http://schemas.microsoft.com/office/drawing/2014/main" id="{E885962A-9238-461D-BD29-7A447197054C}"/>
              </a:ext>
            </a:extLst>
          </p:cNvPr>
          <p:cNvSpPr>
            <a:spLocks xmlns:a="http://schemas.openxmlformats.org/drawingml/2006/main" noGrp="1"/>
          </p:cNvSpPr>
          <p:nvPr/>
        </p:nvSpPr>
        <p:spPr>
          <a:xfrm xmlns:a="http://schemas.openxmlformats.org/drawingml/2006/main">
            <a:off x="4578350" y="2952750"/>
            <a:ext cx="303530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19050">
            <a:solidFill>
              <a:srgbClr val="D8E0E8"/>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1">
                <a:solidFill>
                  <a:srgbClr val="0B1F3A"/>
                </a:solidFill>
                <a:latin typeface="PingFang SC"/>
                <a:ea typeface="PingFang SC"/>
                <a:cs typeface="PingFang SC"/>
              </a:defRPr>
            </a:pPr>
            <a:r>
              <a:rPr sz="1725" b="1">
                <a:solidFill>
                  <a:srgbClr val="0B1F3A"/>
                </a:solidFill>
                <a:latin typeface="PingFang SC"/>
                <a:ea typeface="PingFang SC"/>
                <a:cs typeface="PingFang SC"/>
              </a:rPr>
              <a:t>大模型可以把自然语言目标整理成角色、约束和候选任务图</a:t>
            </a:r>
          </a:p>
        </p:txBody>
      </p:sp>
      <p:sp>
        <p:nvSpPr>
          <p:cNvPr id="13" name="recap-connector-1">
            <a:extLst xmlns:a="http://schemas.openxmlformats.org/drawingml/2006/main">
              <a:ext uri="{FF2B5EF4-FFF2-40B4-BE49-F238E27FC236}">
                <a16:creationId xmlns:a16="http://schemas.microsoft.com/office/drawing/2014/main" id="{C28CB60D-A861-467D-94DD-2615C73B61A1}"/>
              </a:ext>
            </a:extLst>
          </p:cNvPr>
          <p:cNvSpPr>
            <a:spLocks xmlns:a="http://schemas.openxmlformats.org/drawingml/2006/main" noGrp="1"/>
          </p:cNvSpPr>
          <p:nvPr/>
        </p:nvSpPr>
        <p:spPr>
          <a:xfrm xmlns:a="http://schemas.openxmlformats.org/drawingml/2006/main">
            <a:off x="7689850" y="2343150"/>
            <a:ext cx="247650" cy="0"/>
          </a:xfrm>
          <a:prstGeom xmlns:a="http://schemas.openxmlformats.org/drawingml/2006/main" prst="line">
            <a:avLst/>
          </a:prstGeom>
          <a:noFill xmlns:a="http://schemas.openxmlformats.org/drawingml/2006/main"/>
          <a:ln xmlns:a="http://schemas.openxmlformats.org/drawingml/2006/main" w="28575">
            <a:solidFill>
              <a:srgbClr val="0B6B4F"/>
            </a:solidFill>
            <a:prstDash val="solid"/>
          </a:ln>
        </p:spPr>
      </p:sp>
      <p:sp>
        <p:nvSpPr>
          <p:cNvPr id="14" name="recap-circle-2">
            <a:extLst xmlns:a="http://schemas.openxmlformats.org/drawingml/2006/main">
              <a:ext uri="{FF2B5EF4-FFF2-40B4-BE49-F238E27FC236}">
                <a16:creationId xmlns:a16="http://schemas.microsoft.com/office/drawing/2014/main" id="{FFAF5FAC-B6BD-433A-A1CD-14CD648366FC}"/>
              </a:ext>
            </a:extLst>
          </p:cNvPr>
          <p:cNvSpPr>
            <a:spLocks xmlns:a="http://schemas.openxmlformats.org/drawingml/2006/main" noGrp="1"/>
          </p:cNvSpPr>
          <p:nvPr/>
        </p:nvSpPr>
        <p:spPr>
          <a:xfrm xmlns:a="http://schemas.openxmlformats.org/drawingml/2006/main">
            <a:off x="9226550" y="2038350"/>
            <a:ext cx="609600" cy="609600"/>
          </a:xfrm>
          <a:prstGeom xmlns:a="http://schemas.openxmlformats.org/drawingml/2006/main" prst="ellipse">
            <a:avLst/>
          </a:prstGeom>
          <a:solidFill xmlns:a="http://schemas.openxmlformats.org/drawingml/2006/main">
            <a:srgbClr val="0B6B4F"/>
          </a:solidFill>
          <a:ln xmlns:a="http://schemas.openxmlformats.org/drawingml/2006/main" w="28575">
            <a:solidFill>
              <a:srgbClr val="FFFFFF"/>
            </a:solidFill>
            <a:prstDash val="solid"/>
          </a:ln>
        </p:spPr>
      </p:sp>
      <p:sp>
        <p:nvSpPr>
          <p:cNvPr id="15" name="recap-number-2">
            <a:extLst xmlns:a="http://schemas.openxmlformats.org/drawingml/2006/main">
              <a:ext uri="{FF2B5EF4-FFF2-40B4-BE49-F238E27FC236}">
                <a16:creationId xmlns:a16="http://schemas.microsoft.com/office/drawing/2014/main" id="{E934C6EB-211F-432A-B35F-046DCCB9B167}"/>
              </a:ext>
            </a:extLst>
          </p:cNvPr>
          <p:cNvSpPr>
            <a:spLocks xmlns:a="http://schemas.openxmlformats.org/drawingml/2006/main" noGrp="1"/>
          </p:cNvSpPr>
          <p:nvPr/>
        </p:nvSpPr>
        <p:spPr>
          <a:xfrm xmlns:a="http://schemas.openxmlformats.org/drawingml/2006/main">
            <a:off x="9378950" y="21812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3</a:t>
            </a:r>
          </a:p>
        </p:txBody>
      </p:sp>
      <p:sp>
        <p:nvSpPr>
          <p:cNvPr id="16" name="recap-item-2">
            <a:extLst xmlns:a="http://schemas.openxmlformats.org/drawingml/2006/main">
              <a:ext uri="{FF2B5EF4-FFF2-40B4-BE49-F238E27FC236}">
                <a16:creationId xmlns:a16="http://schemas.microsoft.com/office/drawing/2014/main" id="{76D98DBE-243D-4292-9C7E-71F1BBFB147A}"/>
              </a:ext>
            </a:extLst>
          </p:cNvPr>
          <p:cNvSpPr>
            <a:spLocks xmlns:a="http://schemas.openxmlformats.org/drawingml/2006/main" noGrp="1"/>
          </p:cNvSpPr>
          <p:nvPr/>
        </p:nvSpPr>
        <p:spPr>
          <a:xfrm xmlns:a="http://schemas.openxmlformats.org/drawingml/2006/main">
            <a:off x="8013700" y="2952750"/>
            <a:ext cx="3035300" cy="2095500"/>
          </a:xfrm>
          <a:prstGeom xmlns:a="http://schemas.openxmlformats.org/drawingml/2006/main" prst="roundRect">
            <a:avLst>
              <a:gd name="adj" fmla="val 8182"/>
            </a:avLst>
          </a:prstGeom>
          <a:solidFill xmlns:a="http://schemas.openxmlformats.org/drawingml/2006/main">
            <a:srgbClr val="E1F6ED"/>
          </a:solidFill>
          <a:ln xmlns:a="http://schemas.openxmlformats.org/drawingml/2006/main" w="19050">
            <a:solidFill>
              <a:srgbClr val="0B6B4F"/>
            </a:solidFill>
            <a:prstDash val="solid"/>
          </a:ln>
        </p:spPr>
        <p:txBody>
          <a:bodyPr xmlns:a="http://schemas.openxmlformats.org/drawingml/2006/main" lIns="152400" tIns="133350" rIns="152400" bIns="133350" anchor="ctr">
            <a:normAutofit fontScale="100000"/>
          </a:bodyPr>
          <a:lstStyle xmlns:a="http://schemas.openxmlformats.org/drawingml/2006/main"/>
          <a:p xmlns:a="http://schemas.openxmlformats.org/drawingml/2006/main">
            <a:pPr algn="ctr">
              <a:defRPr sz="1725" b="1">
                <a:solidFill>
                  <a:srgbClr val="0B1F3A"/>
                </a:solidFill>
                <a:latin typeface="PingFang SC"/>
                <a:ea typeface="PingFang SC"/>
                <a:cs typeface="PingFang SC"/>
              </a:defRPr>
            </a:pPr>
            <a:r>
              <a:rPr sz="1725" b="1">
                <a:solidFill>
                  <a:srgbClr val="0B1F3A"/>
                </a:solidFill>
                <a:latin typeface="PingFang SC"/>
                <a:ea typeface="PingFang SC"/>
                <a:cs typeface="PingFang SC"/>
              </a:rPr>
              <a:t>数字孪生需要现实数据校准</a:t>
            </a:r>
          </a:p>
        </p:txBody>
      </p:sp>
    </p:spTree>
    <p:extLst>
      <p:ext uri="{BB962C8B-B14F-4D97-AF65-F5344CB8AC3E}">
        <p14:creationId xmlns:p14="http://schemas.microsoft.com/office/powerpoint/2010/main" val="126349673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13-rule">
            <a:extLst xmlns:a="http://schemas.openxmlformats.org/drawingml/2006/main">
              <a:ext uri="{FF2B5EF4-FFF2-40B4-BE49-F238E27FC236}">
                <a16:creationId xmlns:a16="http://schemas.microsoft.com/office/drawing/2014/main" id="{72DB5AAA-B497-407A-9800-A33459E8D02D}"/>
              </a:ext>
            </a:extLst>
          </p:cNvPr>
          <p:cNvSpPr>
            <a:spLocks xmlns:a="http://schemas.openxmlformats.org/drawingml/2006/main" noGrp="1"/>
          </p:cNvSpPr>
          <p:nvPr/>
        </p:nvSpPr>
        <p:spPr>
          <a:xfrm xmlns:a="http://schemas.openxmlformats.org/drawingml/2006/main">
            <a:off x="685800" y="438150"/>
            <a:ext cx="666750" cy="7620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2" name="s13-eyebrow">
            <a:extLst xmlns:a="http://schemas.openxmlformats.org/drawingml/2006/main">
              <a:ext uri="{FF2B5EF4-FFF2-40B4-BE49-F238E27FC236}">
                <a16:creationId xmlns:a16="http://schemas.microsoft.com/office/drawing/2014/main" id="{EC90EEFF-8002-4935-8C82-69F6520451F8}"/>
              </a:ext>
            </a:extLst>
          </p:cNvPr>
          <p:cNvSpPr>
            <a:spLocks xmlns:a="http://schemas.openxmlformats.org/drawingml/2006/main" noGrp="1"/>
          </p:cNvSpPr>
          <p:nvPr/>
        </p:nvSpPr>
        <p:spPr>
          <a:xfrm xmlns:a="http://schemas.openxmlformats.org/drawingml/2006/main">
            <a:off x="685800" y="6286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5642"/>
                </a:solidFill>
                <a:latin typeface="PingFang SC"/>
                <a:ea typeface="PingFang SC"/>
                <a:cs typeface="PingFang SC"/>
              </a:defRPr>
            </a:pPr>
            <a:r>
              <a:rPr sz="1350" b="1">
                <a:solidFill>
                  <a:srgbClr val="165642"/>
                </a:solidFill>
                <a:latin typeface="PingFang SC"/>
                <a:ea typeface="PingFang SC"/>
                <a:cs typeface="PingFang SC"/>
              </a:rPr>
              <a:t>来源与延伸</a:t>
            </a:r>
          </a:p>
        </p:txBody>
      </p:sp>
      <p:sp>
        <p:nvSpPr>
          <p:cNvPr id="3" name="s13-title">
            <a:extLst xmlns:a="http://schemas.openxmlformats.org/drawingml/2006/main">
              <a:ext uri="{FF2B5EF4-FFF2-40B4-BE49-F238E27FC236}">
                <a16:creationId xmlns:a16="http://schemas.microsoft.com/office/drawing/2014/main" id="{2784B90A-F1E9-46EF-9BFC-3DF2F6ACB61F}"/>
              </a:ext>
            </a:extLst>
          </p:cNvPr>
          <p:cNvSpPr>
            <a:spLocks xmlns:a="http://schemas.openxmlformats.org/drawingml/2006/main" noGrp="1"/>
          </p:cNvSpPr>
          <p:nvPr/>
        </p:nvSpPr>
        <p:spPr>
          <a:xfrm xmlns:a="http://schemas.openxmlformats.org/drawingml/2006/main">
            <a:off x="685800" y="9334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300" b="1">
                <a:solidFill>
                  <a:srgbClr val="0B1F3A"/>
                </a:solidFill>
                <a:latin typeface="PingFang SC"/>
                <a:ea typeface="PingFang SC"/>
                <a:cs typeface="PingFang SC"/>
              </a:defRPr>
            </a:pPr>
            <a:r>
              <a:rPr sz="3300" b="1">
                <a:solidFill>
                  <a:srgbClr val="0B1F3A"/>
                </a:solidFill>
                <a:latin typeface="PingFang SC"/>
                <a:ea typeface="PingFang SC"/>
                <a:cs typeface="PingFang SC"/>
              </a:rPr>
              <a:t>群体具身智能：依据、边界与延伸</a:t>
            </a:r>
          </a:p>
        </p:txBody>
      </p:sp>
      <p:sp>
        <p:nvSpPr>
          <p:cNvPr id="4" name="s13-footer">
            <a:extLst xmlns:a="http://schemas.openxmlformats.org/drawingml/2006/main">
              <a:ext uri="{FF2B5EF4-FFF2-40B4-BE49-F238E27FC236}">
                <a16:creationId xmlns:a16="http://schemas.microsoft.com/office/drawing/2014/main" id="{91E6B0C1-C0C9-427D-9955-D8A34977E968}"/>
              </a:ext>
            </a:extLst>
          </p:cNvPr>
          <p:cNvSpPr>
            <a:spLocks xmlns:a="http://schemas.openxmlformats.org/drawingml/2006/main" noGrp="1"/>
          </p:cNvSpPr>
          <p:nvPr/>
        </p:nvSpPr>
        <p:spPr>
          <a:xfrm xmlns:a="http://schemas.openxmlformats.org/drawingml/2006/main">
            <a:off x="685800" y="6181725"/>
            <a:ext cx="10096500" cy="0"/>
          </a:xfrm>
          <a:prstGeom xmlns:a="http://schemas.openxmlformats.org/drawingml/2006/main" prst="line">
            <a:avLst/>
          </a:prstGeom>
          <a:noFill xmlns:a="http://schemas.openxmlformats.org/drawingml/2006/main"/>
          <a:ln xmlns:a="http://schemas.openxmlformats.org/drawingml/2006/main" w="9525">
            <a:solidFill>
              <a:srgbClr val="D8E0E8"/>
            </a:solidFill>
            <a:prstDash val="solid"/>
          </a:ln>
        </p:spPr>
      </p:sp>
      <p:sp>
        <p:nvSpPr>
          <p:cNvPr id="5" name="s13-identity">
            <a:extLst xmlns:a="http://schemas.openxmlformats.org/drawingml/2006/main">
              <a:ext uri="{FF2B5EF4-FFF2-40B4-BE49-F238E27FC236}">
                <a16:creationId xmlns:a16="http://schemas.microsoft.com/office/drawing/2014/main" id="{F2541D3C-BD48-459B-AA42-CB111DFCEE6E}"/>
              </a:ext>
            </a:extLst>
          </p:cNvPr>
          <p:cNvSpPr>
            <a:spLocks xmlns:a="http://schemas.openxmlformats.org/drawingml/2006/main" noGrp="1"/>
          </p:cNvSpPr>
          <p:nvPr/>
        </p:nvSpPr>
        <p:spPr>
          <a:xfrm xmlns:a="http://schemas.openxmlformats.org/drawingml/2006/main">
            <a:off x="8858250" y="6238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a:solidFill>
                  <a:srgbClr val="165642"/>
                </a:solidFill>
                <a:latin typeface="PingFang SC"/>
                <a:ea typeface="PingFang SC"/>
                <a:cs typeface="PingFang SC"/>
              </a:defRPr>
            </a:pPr>
            <a:r>
              <a:rPr sz="1050" b="1">
                <a:solidFill>
                  <a:srgbClr val="165642"/>
                </a:solidFill>
                <a:latin typeface="PingFang SC"/>
                <a:ea typeface="PingFang SC"/>
                <a:cs typeface="PingFang SC"/>
              </a:rPr>
              <a:t>EM-006 · EM-006-S13</a:t>
            </a:r>
          </a:p>
        </p:txBody>
      </p:sp>
      <p:sp>
        <p:nvSpPr>
          <p:cNvPr id="6" name="source-0">
            <a:extLst xmlns:a="http://schemas.openxmlformats.org/drawingml/2006/main">
              <a:ext uri="{FF2B5EF4-FFF2-40B4-BE49-F238E27FC236}">
                <a16:creationId xmlns:a16="http://schemas.microsoft.com/office/drawing/2014/main" id="{94887E4C-2D78-44DB-941D-06911CF962BD}"/>
              </a:ext>
            </a:extLst>
          </p:cNvPr>
          <p:cNvSpPr>
            <a:spLocks xmlns:a="http://schemas.openxmlformats.org/drawingml/2006/main" noGrp="1"/>
          </p:cNvSpPr>
          <p:nvPr/>
        </p:nvSpPr>
        <p:spPr>
          <a:xfrm xmlns:a="http://schemas.openxmlformats.org/drawingml/2006/main">
            <a:off x="914400" y="1943100"/>
            <a:ext cx="10363200" cy="533400"/>
          </a:xfrm>
          <a:prstGeom xmlns:a="http://schemas.openxmlformats.org/drawingml/2006/main" prst="roundRect">
            <a:avLst>
              <a:gd name="adj" fmla="val 21429"/>
            </a:avLst>
          </a:prstGeom>
          <a:solidFill xmlns:a="http://schemas.openxmlformats.org/drawingml/2006/main">
            <a:srgbClr val="E1F6ED"/>
          </a:solidFill>
          <a:ln xmlns:a="http://schemas.openxmlformats.org/drawingml/2006/main" w="9525">
            <a:solidFill>
              <a:srgbClr val="0B6B4F"/>
            </a:solidFill>
            <a:prstDash val="solid"/>
          </a:ln>
        </p:spPr>
        <p:txBody>
          <a:bodyPr xmlns:a="http://schemas.openxmlformats.org/drawingml/2006/main" lIns="152400" tIns="133350" rIns="152400" bIns="133350" anchor="ctr">
            <a:normAutofit fontScale="87377"/>
          </a:bodyPr>
          <a:lstStyle xmlns:a="http://schemas.openxmlformats.org/drawingml/2006/main"/>
          <a:p xmlns:a="http://schemas.openxmlformats.org/drawingml/2006/main">
            <a:pPr algn="l">
              <a:defRPr sz="1500" b="1">
                <a:solidFill>
                  <a:srgbClr val="10233F"/>
                </a:solidFill>
                <a:latin typeface="PingFang SC"/>
                <a:ea typeface="PingFang SC"/>
                <a:cs typeface="PingFang SC"/>
              </a:defRPr>
            </a:pPr>
            <a:r>
              <a:rPr sz="1500" b="1">
                <a:solidFill>
                  <a:srgbClr val="10233F"/>
                </a:solidFill>
                <a:latin typeface="PingFang SC"/>
                <a:ea typeface="PingFang SC"/>
                <a:cs typeface="PingFang SC"/>
              </a:rPr>
              <a:t>01  团队既有课程资料经重新组织、改写与原创视觉重制</a:t>
            </a:r>
          </a:p>
        </p:txBody>
      </p:sp>
      <p:sp>
        <p:nvSpPr>
          <p:cNvPr id="7" name="source-1">
            <a:extLst xmlns:a="http://schemas.openxmlformats.org/drawingml/2006/main">
              <a:ext uri="{FF2B5EF4-FFF2-40B4-BE49-F238E27FC236}">
                <a16:creationId xmlns:a16="http://schemas.microsoft.com/office/drawing/2014/main" id="{FA59314B-E6E4-4B16-9823-9C74AD94E813}"/>
              </a:ext>
            </a:extLst>
          </p:cNvPr>
          <p:cNvSpPr>
            <a:spLocks xmlns:a="http://schemas.openxmlformats.org/drawingml/2006/main" noGrp="1"/>
          </p:cNvSpPr>
          <p:nvPr/>
        </p:nvSpPr>
        <p:spPr>
          <a:xfrm xmlns:a="http://schemas.openxmlformats.org/drawingml/2006/main">
            <a:off x="914400" y="2628900"/>
            <a:ext cx="103632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0467"/>
          </a:bodyPr>
          <a:lstStyle xmlns:a="http://schemas.openxmlformats.org/drawingml/2006/main"/>
          <a:p xmlns:a="http://schemas.openxmlformats.org/drawingml/2006/main">
            <a:pPr algn="l">
              <a:defRPr sz="1500" b="0">
                <a:solidFill>
                  <a:srgbClr val="10233F"/>
                </a:solidFill>
                <a:latin typeface="PingFang SC"/>
                <a:ea typeface="PingFang SC"/>
                <a:cs typeface="PingFang SC"/>
              </a:defRPr>
            </a:pPr>
            <a:r>
              <a:rPr sz="1500" b="0">
                <a:solidFill>
                  <a:srgbClr val="10233F"/>
                </a:solidFill>
                <a:latin typeface="PingFang SC"/>
                <a:ea typeface="PingFang SC"/>
                <a:cs typeface="PingFang SC"/>
              </a:rPr>
              <a:t>02  Reynolds：Flocks, Herds, and Schools：局部感知与简单规则产生宏观群体运动的原始计算机动画模型；不能自动证明真实群体机制。（核对日期：2026-07-12）</a:t>
            </a:r>
          </a:p>
        </p:txBody>
      </p:sp>
      <p:sp>
        <p:nvSpPr>
          <p:cNvPr id="8" name="source-2">
            <a:extLst xmlns:a="http://schemas.openxmlformats.org/drawingml/2006/main">
              <a:ext uri="{FF2B5EF4-FFF2-40B4-BE49-F238E27FC236}">
                <a16:creationId xmlns:a16="http://schemas.microsoft.com/office/drawing/2014/main" id="{9877B519-BA19-4542-AFCF-22AB518B1B57}"/>
              </a:ext>
            </a:extLst>
          </p:cNvPr>
          <p:cNvSpPr>
            <a:spLocks xmlns:a="http://schemas.openxmlformats.org/drawingml/2006/main" noGrp="1"/>
          </p:cNvSpPr>
          <p:nvPr/>
        </p:nvSpPr>
        <p:spPr>
          <a:xfrm xmlns:a="http://schemas.openxmlformats.org/drawingml/2006/main">
            <a:off x="914400" y="3314700"/>
            <a:ext cx="103632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85627"/>
          </a:bodyPr>
          <a:lstStyle xmlns:a="http://schemas.openxmlformats.org/drawingml/2006/main"/>
          <a:p xmlns:a="http://schemas.openxmlformats.org/drawingml/2006/main">
            <a:pPr algn="l">
              <a:defRPr sz="1500" b="0">
                <a:solidFill>
                  <a:srgbClr val="10233F"/>
                </a:solidFill>
                <a:latin typeface="PingFang SC"/>
                <a:ea typeface="PingFang SC"/>
                <a:cs typeface="PingFang SC"/>
              </a:defRPr>
            </a:pPr>
            <a:r>
              <a:rPr sz="1500" b="0">
                <a:solidFill>
                  <a:srgbClr val="10233F"/>
                </a:solidFill>
                <a:latin typeface="PingFang SC"/>
                <a:ea typeface="PingFang SC"/>
                <a:cs typeface="PingFang SC"/>
              </a:rPr>
              <a:t>03  ARGoS 原论文：面向大规模、异构多机器人实验的模块化仿真系统；性能和精度结论只对具体场景成立。（核对日期：2026-07-12）</a:t>
            </a:r>
          </a:p>
        </p:txBody>
      </p:sp>
      <p:sp>
        <p:nvSpPr>
          <p:cNvPr id="9" name="source-3">
            <a:extLst xmlns:a="http://schemas.openxmlformats.org/drawingml/2006/main">
              <a:ext uri="{FF2B5EF4-FFF2-40B4-BE49-F238E27FC236}">
                <a16:creationId xmlns:a16="http://schemas.microsoft.com/office/drawing/2014/main" id="{1D4F915E-E4A2-47B1-8DAE-66717310FCE2}"/>
              </a:ext>
            </a:extLst>
          </p:cNvPr>
          <p:cNvSpPr>
            <a:spLocks xmlns:a="http://schemas.openxmlformats.org/drawingml/2006/main" noGrp="1"/>
          </p:cNvSpPr>
          <p:nvPr/>
        </p:nvSpPr>
        <p:spPr>
          <a:xfrm xmlns:a="http://schemas.openxmlformats.org/drawingml/2006/main">
            <a:off x="914400" y="4000500"/>
            <a:ext cx="103632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7562"/>
          </a:bodyPr>
          <a:lstStyle xmlns:a="http://schemas.openxmlformats.org/drawingml/2006/main"/>
          <a:p xmlns:a="http://schemas.openxmlformats.org/drawingml/2006/main">
            <a:pPr algn="l">
              <a:defRPr sz="1500" b="0">
                <a:solidFill>
                  <a:srgbClr val="10233F"/>
                </a:solidFill>
                <a:latin typeface="PingFang SC"/>
                <a:ea typeface="PingFang SC"/>
                <a:cs typeface="PingFang SC"/>
              </a:defRPr>
            </a:pPr>
            <a:r>
              <a:rPr sz="1500" b="0">
                <a:solidFill>
                  <a:srgbClr val="10233F"/>
                </a:solidFill>
                <a:latin typeface="PingFang SC"/>
                <a:ea typeface="PingFang SC"/>
                <a:cs typeface="PingFang SC"/>
              </a:rPr>
              <a:t>04  ROS2 QoS 官方设计：核对可靠性、队列、历史与兼容性；通信失效实验要区分丢包、延迟、消息过期和 QoS 不兼容。（核对日期：2026-07-12）</a:t>
            </a:r>
          </a:p>
        </p:txBody>
      </p:sp>
      <p:sp>
        <p:nvSpPr>
          <p:cNvPr id="10" name="source-4">
            <a:extLst xmlns:a="http://schemas.openxmlformats.org/drawingml/2006/main">
              <a:ext uri="{FF2B5EF4-FFF2-40B4-BE49-F238E27FC236}">
                <a16:creationId xmlns:a16="http://schemas.microsoft.com/office/drawing/2014/main" id="{6314C1B0-3BC2-4834-B565-5ED7FE69A69C}"/>
              </a:ext>
            </a:extLst>
          </p:cNvPr>
          <p:cNvSpPr>
            <a:spLocks xmlns:a="http://schemas.openxmlformats.org/drawingml/2006/main" noGrp="1"/>
          </p:cNvSpPr>
          <p:nvPr/>
        </p:nvSpPr>
        <p:spPr>
          <a:xfrm xmlns:a="http://schemas.openxmlformats.org/drawingml/2006/main">
            <a:off x="914400" y="4686300"/>
            <a:ext cx="103632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D8E0E8"/>
            </a:solidFill>
            <a:prstDash val="solid"/>
          </a:ln>
        </p:spPr>
        <p:txBody>
          <a:bodyPr xmlns:a="http://schemas.openxmlformats.org/drawingml/2006/main" lIns="152400" tIns="133350" rIns="152400" bIns="133350" anchor="ctr">
            <a:normAutofit fontScale="70412"/>
          </a:bodyPr>
          <a:lstStyle xmlns:a="http://schemas.openxmlformats.org/drawingml/2006/main"/>
          <a:p xmlns:a="http://schemas.openxmlformats.org/drawingml/2006/main">
            <a:pPr algn="l">
              <a:defRPr sz="1500" b="0">
                <a:solidFill>
                  <a:srgbClr val="10233F"/>
                </a:solidFill>
                <a:latin typeface="PingFang SC"/>
                <a:ea typeface="PingFang SC"/>
                <a:cs typeface="PingFang SC"/>
              </a:defRPr>
            </a:pPr>
            <a:r>
              <a:rPr sz="1500" b="0">
                <a:solidFill>
                  <a:srgbClr val="10233F"/>
                </a:solidFill>
                <a:latin typeface="PingFang SC"/>
                <a:ea typeface="PingFang SC"/>
                <a:cs typeface="PingFang SC"/>
              </a:rPr>
              <a:t>05  Open-RMF 多机器人协同架构：理解未来行程、冲突检测、路线协商与 fleet adapter；多机器人协作不是复制单机器人节点即可完成。（核对日期：2026-07-12）</a:t>
            </a:r>
          </a:p>
        </p:txBody>
      </p:sp>
      <p:sp>
        <p:nvSpPr>
          <p:cNvPr id="11" name="s13-takeaway-rule">
            <a:extLst xmlns:a="http://schemas.openxmlformats.org/drawingml/2006/main">
              <a:ext uri="{FF2B5EF4-FFF2-40B4-BE49-F238E27FC236}">
                <a16:creationId xmlns:a16="http://schemas.microsoft.com/office/drawing/2014/main" id="{042892BB-AD2D-47A8-BDB3-406E054085D2}"/>
              </a:ext>
            </a:extLst>
          </p:cNvPr>
          <p:cNvSpPr>
            <a:spLocks xmlns:a="http://schemas.openxmlformats.org/drawingml/2006/main" noGrp="1"/>
          </p:cNvSpPr>
          <p:nvPr/>
        </p:nvSpPr>
        <p:spPr>
          <a:xfrm xmlns:a="http://schemas.openxmlformats.org/drawingml/2006/main">
            <a:off x="685800" y="5562600"/>
            <a:ext cx="76200" cy="438150"/>
          </a:xfrm>
          <a:prstGeom xmlns:a="http://schemas.openxmlformats.org/drawingml/2006/main" prst="rect">
            <a:avLst/>
          </a:prstGeom>
          <a:solidFill xmlns:a="http://schemas.openxmlformats.org/drawingml/2006/main">
            <a:srgbClr val="2D9B72"/>
          </a:solidFill>
          <a:ln xmlns:a="http://schemas.openxmlformats.org/drawingml/2006/main" w="0">
            <a:solidFill>
              <a:srgbClr val="2D9B72"/>
            </a:solidFill>
            <a:prstDash val="solid"/>
          </a:ln>
        </p:spPr>
      </p:sp>
      <p:sp>
        <p:nvSpPr>
          <p:cNvPr id="12" name="s13-takeaway">
            <a:extLst xmlns:a="http://schemas.openxmlformats.org/drawingml/2006/main">
              <a:ext uri="{FF2B5EF4-FFF2-40B4-BE49-F238E27FC236}">
                <a16:creationId xmlns:a16="http://schemas.microsoft.com/office/drawing/2014/main" id="{A3939414-059C-4F94-BA4A-CD61006DDBBD}"/>
              </a:ext>
            </a:extLst>
          </p:cNvPr>
          <p:cNvSpPr>
            <a:spLocks xmlns:a="http://schemas.openxmlformats.org/drawingml/2006/main" noGrp="1"/>
          </p:cNvSpPr>
          <p:nvPr/>
        </p:nvSpPr>
        <p:spPr>
          <a:xfrm xmlns:a="http://schemas.openxmlformats.org/drawingml/2006/main">
            <a:off x="933450" y="55816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911"/>
          </a:bodyPr>
          <a:lstStyle xmlns:a="http://schemas.openxmlformats.org/drawingml/2006/main"/>
          <a:p xmlns:a="http://schemas.openxmlformats.org/drawingml/2006/main">
            <a:pPr algn="l">
              <a:defRPr sz="1650" b="1">
                <a:solidFill>
                  <a:srgbClr val="165642"/>
                </a:solidFill>
                <a:latin typeface="PingFang SC"/>
                <a:ea typeface="PingFang SC"/>
                <a:cs typeface="PingFang SC"/>
              </a:defRPr>
            </a:pPr>
            <a:r>
              <a:rPr sz="1650" b="1">
                <a:solidFill>
                  <a:srgbClr val="165642"/>
                </a:solidFill>
                <a:latin typeface="PingFang SC"/>
                <a:ea typeface="PingFang SC"/>
                <a:cs typeface="PingFang SC"/>
              </a:rPr>
              <a:t>课程精编页用于讲授主线；播放器中的“原课件”模式保留团队 PowerPoint 精选页、真实图片和可播放视频。</a:t>
            </a:r>
          </a:p>
        </p:txBody>
      </p:sp>
    </p:spTree>
    <p:extLst>
      <p:ext uri="{BB962C8B-B14F-4D97-AF65-F5344CB8AC3E}">
        <p14:creationId xmlns:p14="http://schemas.microsoft.com/office/powerpoint/2010/main" val="348508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2026-07-12T03:32:00.5260000Z</dcterms:created>
  <dcterms:modified xsi:type="dcterms:W3CDTF">2026-07-12T03:32:00.5260000Z</dcterms:modified>
</coreProperties>
</file>