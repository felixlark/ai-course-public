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25aabdfb3cb4a00" /><Relationship Type="http://schemas.openxmlformats.org/officeDocument/2006/relationships/extended-properties" Target="/docProps/app.xml" Id="R60ff16399eb64a06" /><Relationship Type="http://schemas.openxmlformats.org/officeDocument/2006/relationships/officeDocument" Target="/ppt/presentation.xml" Id="R9ba5acbe0f4645a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0b6aefa596644bf"/>
  </p:sldMasterIdLst>
  <p:notesMasterIdLst>
    <p:notesMasterId xmlns:r="http://schemas.openxmlformats.org/officeDocument/2006/relationships" r:id="R54f11173d50b4fc7"/>
  </p:notesMasterIdLst>
  <p:sldIdLst>
    <p:sldId xmlns:r="http://schemas.openxmlformats.org/officeDocument/2006/relationships" id="256" r:id="Rb90b250e444349c6"/>
    <p:sldId xmlns:r="http://schemas.openxmlformats.org/officeDocument/2006/relationships" id="257" r:id="R11a251d20e7c41f3"/>
    <p:sldId xmlns:r="http://schemas.openxmlformats.org/officeDocument/2006/relationships" id="258" r:id="R75b7397a415b463c"/>
    <p:sldId xmlns:r="http://schemas.openxmlformats.org/officeDocument/2006/relationships" id="259" r:id="Re5b5c523a6ad401d"/>
    <p:sldId xmlns:r="http://schemas.openxmlformats.org/officeDocument/2006/relationships" id="260" r:id="Re5d7b202e9494c4b"/>
    <p:sldId xmlns:r="http://schemas.openxmlformats.org/officeDocument/2006/relationships" id="261" r:id="Raea8143343404a8f"/>
    <p:sldId xmlns:r="http://schemas.openxmlformats.org/officeDocument/2006/relationships" id="262" r:id="Rec56883b237646fc"/>
    <p:sldId xmlns:r="http://schemas.openxmlformats.org/officeDocument/2006/relationships" id="263" r:id="Rf8f520a70a2c4d7f"/>
    <p:sldId xmlns:r="http://schemas.openxmlformats.org/officeDocument/2006/relationships" id="264" r:id="R24aa573042a8433f"/>
    <p:sldId xmlns:r="http://schemas.openxmlformats.org/officeDocument/2006/relationships" id="265" r:id="R7bff1ab3321b4ad3"/>
    <p:sldId xmlns:r="http://schemas.openxmlformats.org/officeDocument/2006/relationships" id="266" r:id="R51718413656a430b"/>
    <p:sldId xmlns:r="http://schemas.openxmlformats.org/officeDocument/2006/relationships" id="267" r:id="Rc2b7710a409d48fa"/>
    <p:sldId xmlns:r="http://schemas.openxmlformats.org/officeDocument/2006/relationships" id="268" r:id="R34a18022208e4ed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8ec55da6cbe45cd" /><Relationship Type="http://schemas.openxmlformats.org/officeDocument/2006/relationships/slideMaster" Target="/ppt/slideMasters/slideMaster1.xml" Id="R40b6aefa596644bf" /><Relationship Type="http://schemas.openxmlformats.org/officeDocument/2006/relationships/notesMaster" Target="/ppt/notesMasters/notesMaster1.xml" Id="R54f11173d50b4fc7" /><Relationship Type="http://schemas.openxmlformats.org/officeDocument/2006/relationships/presProps" Target="/ppt/presProps.xml" Id="R5bdcaa089696447c" /><Relationship Type="http://schemas.openxmlformats.org/officeDocument/2006/relationships/tableStyles" Target="/ppt/tableStyles.xml" Id="Ra51e8fe32f6442f6" /><Relationship Type="http://schemas.openxmlformats.org/officeDocument/2006/relationships/slide" Target="/ppt/slides/slide1.xml" Id="Rb90b250e444349c6" /><Relationship Type="http://schemas.openxmlformats.org/officeDocument/2006/relationships/slide" Target="/ppt/slides/slide2.xml" Id="R11a251d20e7c41f3" /><Relationship Type="http://schemas.openxmlformats.org/officeDocument/2006/relationships/slide" Target="/ppt/slides/slide3.xml" Id="R75b7397a415b463c" /><Relationship Type="http://schemas.openxmlformats.org/officeDocument/2006/relationships/slide" Target="/ppt/slides/slide4.xml" Id="Re5b5c523a6ad401d" /><Relationship Type="http://schemas.openxmlformats.org/officeDocument/2006/relationships/slide" Target="/ppt/slides/slide5.xml" Id="Re5d7b202e9494c4b" /><Relationship Type="http://schemas.openxmlformats.org/officeDocument/2006/relationships/slide" Target="/ppt/slides/slide6.xml" Id="Raea8143343404a8f" /><Relationship Type="http://schemas.openxmlformats.org/officeDocument/2006/relationships/slide" Target="/ppt/slides/slide7.xml" Id="Rec56883b237646fc" /><Relationship Type="http://schemas.openxmlformats.org/officeDocument/2006/relationships/slide" Target="/ppt/slides/slide8.xml" Id="Rf8f520a70a2c4d7f" /><Relationship Type="http://schemas.openxmlformats.org/officeDocument/2006/relationships/slide" Target="/ppt/slides/slide9.xml" Id="R24aa573042a8433f" /><Relationship Type="http://schemas.openxmlformats.org/officeDocument/2006/relationships/slide" Target="/ppt/slides/slide10.xml" Id="R7bff1ab3321b4ad3" /><Relationship Type="http://schemas.openxmlformats.org/officeDocument/2006/relationships/slide" Target="/ppt/slides/slide11.xml" Id="R51718413656a430b" /><Relationship Type="http://schemas.openxmlformats.org/officeDocument/2006/relationships/slide" Target="/ppt/slides/slide12.xml" Id="Rc2b7710a409d48fa" /><Relationship Type="http://schemas.openxmlformats.org/officeDocument/2006/relationships/slide" Target="/ppt/slides/slide13.xml" Id="R34a18022208e4ed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69136bf934842d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7bb4a9900564525" /><Relationship Type="http://schemas.openxmlformats.org/officeDocument/2006/relationships/notesMaster" Target="/ppt/notesMasters/notesMaster1.xml" Id="Rdd6afb4eda0f4b9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8baf99341fa44d8" /><Relationship Type="http://schemas.openxmlformats.org/officeDocument/2006/relationships/notesMaster" Target="/ppt/notesMasters/notesMaster1.xml" Id="R117a042e657e4b2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7f5ff7e684140a6" /><Relationship Type="http://schemas.openxmlformats.org/officeDocument/2006/relationships/notesMaster" Target="/ppt/notesMasters/notesMaster1.xml" Id="R90c87793af2e4c3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a98dcf6596a4f89" /><Relationship Type="http://schemas.openxmlformats.org/officeDocument/2006/relationships/notesMaster" Target="/ppt/notesMasters/notesMaster1.xml" Id="Ra166fc987637477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eb5e41332ab48e4" /><Relationship Type="http://schemas.openxmlformats.org/officeDocument/2006/relationships/notesMaster" Target="/ppt/notesMasters/notesMaster1.xml" Id="R1b79131fe35d46e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237a425efe547fd" /><Relationship Type="http://schemas.openxmlformats.org/officeDocument/2006/relationships/notesMaster" Target="/ppt/notesMasters/notesMaster1.xml" Id="R3d4ccf58773c426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88976b981734712" /><Relationship Type="http://schemas.openxmlformats.org/officeDocument/2006/relationships/notesMaster" Target="/ppt/notesMasters/notesMaster1.xml" Id="R3adec201dbc1430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c4f3d42c7cf484a" /><Relationship Type="http://schemas.openxmlformats.org/officeDocument/2006/relationships/notesMaster" Target="/ppt/notesMasters/notesMaster1.xml" Id="Rd54ee2c445a940f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efc05f85fc443d5" /><Relationship Type="http://schemas.openxmlformats.org/officeDocument/2006/relationships/notesMaster" Target="/ppt/notesMasters/notesMaster1.xml" Id="Rf9b67b811989462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dbbc37d0b6f447a" /><Relationship Type="http://schemas.openxmlformats.org/officeDocument/2006/relationships/notesMaster" Target="/ppt/notesMasters/notesMaster1.xml" Id="R3d5787be86ef44b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5e0283b296b4f5f" /><Relationship Type="http://schemas.openxmlformats.org/officeDocument/2006/relationships/notesMaster" Target="/ppt/notesMasters/notesMaster1.xml" Id="R2c4edcf93ef3479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5b81cf8caf54201" /><Relationship Type="http://schemas.openxmlformats.org/officeDocument/2006/relationships/notesMaster" Target="/ppt/notesMasters/notesMaster1.xml" Id="Rc30d43cf4964471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176bb60cb3c4c82" /><Relationship Type="http://schemas.openxmlformats.org/officeDocument/2006/relationships/notesMaster" Target="/ppt/notesMasters/notesMaster1.xml" Id="R914a9025b1a9462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a93b00779b448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21402be85fc46f6" /><Relationship Type="http://schemas.openxmlformats.org/officeDocument/2006/relationships/slideLayout" Target="/ppt/slideLayouts/slideLayout1.xml" Id="R5a10fc58759e492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a10fc58759e492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021ffb85664a7e" /><Relationship Type="http://schemas.openxmlformats.org/officeDocument/2006/relationships/notesSlide" Target="/ppt/notesSlides/notesSlide1.xml" Id="Rc025d23afa8e444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917662626d452b" /><Relationship Type="http://schemas.openxmlformats.org/officeDocument/2006/relationships/notesSlide" Target="/ppt/notesSlides/notesSlide2.xml" Id="R4dfda60fa701409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8a7389db7a4643" /><Relationship Type="http://schemas.openxmlformats.org/officeDocument/2006/relationships/notesSlide" Target="/ppt/notesSlides/notesSlide3.xml" Id="R18fd4f7b327e439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4d5bef44494410" /><Relationship Type="http://schemas.openxmlformats.org/officeDocument/2006/relationships/notesSlide" Target="/ppt/notesSlides/notesSlide4.xml" Id="R63207b43001f4d3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37ee47763b4904" /><Relationship Type="http://schemas.openxmlformats.org/officeDocument/2006/relationships/notesSlide" Target="/ppt/notesSlides/notesSlide5.xml" Id="R5da0fdbfdd07414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d166e4005e471b" /><Relationship Type="http://schemas.openxmlformats.org/officeDocument/2006/relationships/notesSlide" Target="/ppt/notesSlides/notesSlide6.xml" Id="Rcee9f9969ade494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77b1c9c8684951" /><Relationship Type="http://schemas.openxmlformats.org/officeDocument/2006/relationships/notesSlide" Target="/ppt/notesSlides/notesSlide7.xml" Id="R7ca7f35a755643c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d173d432804dbb" /><Relationship Type="http://schemas.openxmlformats.org/officeDocument/2006/relationships/notesSlide" Target="/ppt/notesSlides/notesSlide8.xml" Id="Rc21dad1b439a4ab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0ce45b3cc14d93" /><Relationship Type="http://schemas.openxmlformats.org/officeDocument/2006/relationships/notesSlide" Target="/ppt/notesSlides/notesSlide9.xml" Id="Rcaeb0c65e768423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f6cf3f337d4f3c" /><Relationship Type="http://schemas.openxmlformats.org/officeDocument/2006/relationships/notesSlide" Target="/ppt/notesSlides/notesSlide10.xml" Id="Redb3cb776fce4c8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4a3a78e3d64640" /><Relationship Type="http://schemas.openxmlformats.org/officeDocument/2006/relationships/notesSlide" Target="/ppt/notesSlides/notesSlide11.xml" Id="R8f668ae74d004ff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f853abe18d4092" /><Relationship Type="http://schemas.openxmlformats.org/officeDocument/2006/relationships/notesSlide" Target="/ppt/notesSlides/notesSlide12.xml" Id="R1feb49009621472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5c58fd9d584aa8" /><Relationship Type="http://schemas.openxmlformats.org/officeDocument/2006/relationships/notesSlide" Target="/ppt/notesSlides/notesSlide13.xml" Id="Rfe4acb39ae3042a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6C59221E-F045-424D-8FC4-8B2A20AA0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42934833-683D-4B1D-8117-5E9133993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590ACF53-564B-4764-BE4C-DB8D90FB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9B72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4FF53231-E046-4300-97F6-C431BB7E3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36F40D75-3654-440E-8C2C-8F426D8D3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95222F34-1AF6-4FEC-B28B-5DC8676F6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9B72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0708BD8C-DF9B-4CBF-B7F1-0A10228FB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第 3 章 · 具身智能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9E92374-0CD5-469F-9630-434DB1F77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6021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具身智能：感知、决策、行动与反馈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8A87970A-8B52-4C8B-B42C-C77C00488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建立具身智能的闭环模型，理解物理世界中的不确定性、实时性和安全约束。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9A6842EE-46AE-4B6D-A411-5772D445B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具身智能关注 AI 如何在物理世界中感知、决策、行动并从反馈中学习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58D887B8-6290-42A0-AB84-2E894853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D4DDEA47-4626-413D-BEC7-8FF2921ED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EM-001 · EM-001-S01</a:t>
            </a:r>
          </a:p>
        </p:txBody>
      </p:sp>
    </p:spTree>
    <p:extLst>
      <p:ext uri="{BB962C8B-B14F-4D97-AF65-F5344CB8AC3E}">
        <p14:creationId xmlns:p14="http://schemas.microsoft.com/office/powerpoint/2010/main" val="19348394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33B2B9B1-5F80-4435-986B-73011FD53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50525F11-688E-4134-A7F7-469B3ED38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25725ED0-7D1E-43E3-A928-113745A17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具身智能闭环：2项学习结果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08D265EF-BA25-4D8B-900A-9AF677129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97E5D72E-C44F-417A-A667-56B44EE9E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487A6B95-EE64-40CD-A4AA-85B0C7982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解释感知、决策、行动和反馈如何构成具身闭环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EB09EAB9-ED64-46FB-AB04-9A59BA02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说明具身任务相较文本问答增加的实时、安全和环境约束</a:t>
            </a:r>
          </a:p>
        </p:txBody>
      </p:sp>
    </p:spTree>
    <p:extLst>
      <p:ext uri="{BB962C8B-B14F-4D97-AF65-F5344CB8AC3E}">
        <p14:creationId xmlns:p14="http://schemas.microsoft.com/office/powerpoint/2010/main" val="120191244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C8A35ED2-B386-403F-B7EF-97D9AF9F3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3198FE86-DB1B-4212-869D-3B7822AF6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1 / 7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1C690E27-B79E-4EFC-8D1E-B40451C5C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具身智能从身体与环境交互中获得可行动状态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035EEC2F-1BBC-4E30-B57E-2316F44CE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B1D075BE-15C8-4B01-B0E2-B214AEE99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857A9804-29C1-44E1-9D7C-CBCE6F54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161E4565-10E8-48DA-93CF-86A4C05B4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什么是具身智能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2EC52A17-5F22-4821-930E-583F2CC47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具身智能强调智能体拥有身体或执行载体，并与真实或仿真环境持续交互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8043B35E-D9E1-46AB-8DD6-DBEF46BB4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442C5706-0A20-4344-8E64-34C4BFDF4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感知：理解环境状态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27590291-B717-49DF-9DA1-F8912C92B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具身系统需要通过摄像头、深度相机、雷达、IMU 或触觉传感器感知环境</a:t>
            </a:r>
          </a:p>
        </p:txBody>
      </p:sp>
      <p:sp>
        <p:nvSpPr>
          <p:cNvPr id="12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3057DF4A-0704-47AA-877C-60CAF4821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3" name="s3-takeaway">
            <a:extLst xmlns:a="http://schemas.openxmlformats.org/drawingml/2006/main">
              <a:ext uri="{FF2B5EF4-FFF2-40B4-BE49-F238E27FC236}">
                <a16:creationId xmlns:a16="http://schemas.microsoft.com/office/drawing/2014/main" id="{E64306B5-96E9-4327-A7BB-4F3F8F29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具身智能从身体与环境交互中获得可行动状态</a:t>
            </a:r>
          </a:p>
        </p:txBody>
      </p:sp>
    </p:spTree>
    <p:extLst>
      <p:ext uri="{BB962C8B-B14F-4D97-AF65-F5344CB8AC3E}">
        <p14:creationId xmlns:p14="http://schemas.microsoft.com/office/powerpoint/2010/main" val="135528934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22E6439C-F791-4B50-BF80-22EB818E7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7A35C7E7-C6A9-4D9A-AB73-B9AF587B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2 / 7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0CB398BB-694C-478C-AC31-B22CE1B7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3437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推理环节把用户目标、环境状态和机器人能力转成可执行计划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7E559B8F-CA9A-4094-B6D6-1C9819B4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D3CCD112-866D-4190-AAE1-7D0742C1F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28FD5E5-3DD7-46EC-9D79-D7A9035A1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4D844D7-8450-4E80-8A71-C65F81A19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推理：从目标到计划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836CBF5A-F470-4948-A7B8-1CAAC8CAF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推理环节把用户目标、环境状态和机器人能力转成可执行计划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D88C3A6D-6B2A-434F-92CB-856595CE1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A810D81-6867-4831-AE5B-28D463478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大模型可以参与任务理解，但底层运动和安全约束仍需要专门控制系统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DF02030E-D098-485E-A11C-7E0F46440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5DCA240B-98CC-4388-B155-B0A80F2C2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推理环节把用户目标、环境状态和机器人能力转成可执行计划</a:t>
            </a:r>
          </a:p>
        </p:txBody>
      </p:sp>
    </p:spTree>
    <p:extLst>
      <p:ext uri="{BB962C8B-B14F-4D97-AF65-F5344CB8AC3E}">
        <p14:creationId xmlns:p14="http://schemas.microsoft.com/office/powerpoint/2010/main" val="18950378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63A19BA5-3E7B-4865-9DD5-E9EE977FF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F49B9169-9BFF-41A0-A2EB-49D837C46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3 / 7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C4CD2FC1-FFD3-4C5D-899B-B9CA6A171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执行需要在行动过程中持续读取反馈并修正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C72EE195-94B5-4E53-BC55-5C0E5DB51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DB912E61-B793-4213-8056-F44801895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8B3B1822-8C30-44DF-9E87-CF19DEB4D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F4A9082A-F118-494C-A5EC-BC74AA465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执行：动作与反馈闭环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43C233C3-1562-406F-AB43-9CD4CB61D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执行需要在行动过程中持续读取反馈并修正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DFAAFCA4-FC04-430B-B5B9-56E610974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4B0E854B-5D2C-4CEA-ABCC-D654F7DEF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真实世界会变化，具身智能必须处理滑倒、碰撞、定位漂移和任务中断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BBBBDBC6-29A9-4825-89BF-B1F8E839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B93ADA19-4DB0-4010-AEF2-64A131DD7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闭环中每个环节都有频率要求；任务规划可以按秒更新；运动控制往往需要更高频率；如果把慢速大模型直接放进底层控制回路；网络或推理抖动就可能变成不稳定动作</a:t>
            </a:r>
          </a:p>
        </p:txBody>
      </p:sp>
      <p:sp>
        <p:nvSpPr>
          <p:cNvPr id="13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1804B714-D1DB-4761-A773-D8B2A7DE8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4" name="s5-takeaway">
            <a:extLst xmlns:a="http://schemas.openxmlformats.org/drawingml/2006/main">
              <a:ext uri="{FF2B5EF4-FFF2-40B4-BE49-F238E27FC236}">
                <a16:creationId xmlns:a16="http://schemas.microsoft.com/office/drawing/2014/main" id="{F2B96DE7-BD86-4F24-A8F3-CE4D4996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执行需要在行动过程中持续读取反馈并修正</a:t>
            </a:r>
          </a:p>
        </p:txBody>
      </p:sp>
    </p:spTree>
    <p:extLst>
      <p:ext uri="{BB962C8B-B14F-4D97-AF65-F5344CB8AC3E}">
        <p14:creationId xmlns:p14="http://schemas.microsoft.com/office/powerpoint/2010/main" val="21069066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42639657-D6B9-4AB9-9362-37D69C50F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E7006497-BBC5-4CC1-9FCC-E903F6754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4 / 7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184A8089-86B6-4222-A573-8B3BB918D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传感器只提供带噪声、延迟和遮挡的观测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C4F8E686-9AC0-4D9C-811B-92718FD66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74CF14BA-1BF6-433A-BE89-CDBBAAF59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8FA58152-C797-46A8-B780-D371B6406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E8270EE-CE9C-40BC-9609-9C0F21444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世界状态：机器人知道什么，也要知道自己不知道什么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F919605F-48AE-4B67-A6A1-A24F80EE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传感器只提供带噪声、延迟和遮挡的观测；系统需要把多帧信息、机器人自身状态和任务上下文融合成可用于决策的状态估计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2E1D8B88-37E3-45D8-AFCC-D6DD7C24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3581A371-FC96-4854-A58C-D8F293DE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可靠决策要显式保留不确定性；目标位置不确定时可以换视角重新观察；路径被遮挡时可以减速；抓取失败时可以松开重试；当无法把风险降到允许范围时；应停止并请求人工处理；把“继续猜一个动作”设为默认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77BF3FCF-6155-4A88-8233-938B7895C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E2FFF86D-B945-4143-BCAF-C9A089110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传感器只提供带噪声、延迟和遮挡的观测</a:t>
            </a:r>
          </a:p>
        </p:txBody>
      </p:sp>
    </p:spTree>
    <p:extLst>
      <p:ext uri="{BB962C8B-B14F-4D97-AF65-F5344CB8AC3E}">
        <p14:creationId xmlns:p14="http://schemas.microsoft.com/office/powerpoint/2010/main" val="372874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23B824FB-2714-49A3-B70A-FEA559BE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6D54AD77-CCD7-4FA8-83C2-958CC2CB7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5 / 7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C9FC3744-D24C-43BC-9AFB-B09330A3D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一个常见架构把控制分为三层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A8A0E03C-F9D1-414B-B1E2-29D1A993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5727DCE3-8F4D-49A7-9748-90E472C0C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1D52587-C1FB-4164-88B1-0020515AB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6435D20F-8D53-4ECF-B2C4-743F26EC5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分层控制：任务、技能与安全互相约束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031E569-E4B8-4FE1-837F-EE2DD20D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一个常见架构把控制分为三层；任务层把“把水送到桌边”拆成导航、定位杯子、抓取和放置；技能层调用经过训练和测试的动作能力；实时层控制关节、轮子和接触力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7E9BE18-D875-447E-BBCF-A71BD4358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5998F12-4706-43C4-AC44-815CAA774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这种分层也让失败更容易定位：是目标理解错了、技能前置条件不满足，还是底层执行偏离？每层都应给出成功、失败、超时和可恢复状态，而不是只返回一条模糊的“任务失败”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78567CD8-66F3-4804-80DD-088383460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ADB8A9A1-F14A-4FD2-866F-1BBBDFEE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一个常见架构把控制分为三层</a:t>
            </a:r>
          </a:p>
        </p:txBody>
      </p:sp>
    </p:spTree>
    <p:extLst>
      <p:ext uri="{BB962C8B-B14F-4D97-AF65-F5344CB8AC3E}">
        <p14:creationId xmlns:p14="http://schemas.microsoft.com/office/powerpoint/2010/main" val="11612417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D074F16A-A10D-44B5-B669-63B4D9F2E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35C20123-9F05-4C11-9298-48EC89262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6 / 7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DF8362AF-F7F2-4131-827D-EF71C92BD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安全：先设计失败，再设计成功演示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07FD8C4B-7D72-42B0-8898-711EE491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398FF773-A66E-4095-A905-5319AA09E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B7C5215-16E4-4192-94B4-02A15817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C843D00-DB0F-4D3E-AC93-3367C8329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安全：先设计失败，再设计成功演示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26BC74FA-1D73-484F-8818-F2EA75831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具身任务要提前列出危险源、可接受动作范围、人员隔离、急停、失联策略和恢复步骤；仿真可以覆盖大量变化；却无法完整复制材料摩擦、柔性物体、传感器故障和人类不可预测行为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4AD8AD2F-EDAD-44C1-BFA4-0E43AF3CB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A2EB2C68-D549-4EBD-9857-3B007C207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评价系统时不仅看一次任务是否成功，还要看干预次数、近失事件、失败后果、恢复时间和重复运行的一致性。能完成任务但偶尔产生不可接受动作的系统，不能因为平均成功率很高就进入真实服务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24882640-62C7-4EC2-9A74-1B2455F6E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200B354E-32E4-4660-849E-8AF71EDF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安全：先设计失败，再设计成功演示</a:t>
            </a:r>
          </a:p>
        </p:txBody>
      </p:sp>
    </p:spTree>
    <p:extLst>
      <p:ext uri="{BB962C8B-B14F-4D97-AF65-F5344CB8AC3E}">
        <p14:creationId xmlns:p14="http://schemas.microsoft.com/office/powerpoint/2010/main" val="74181692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90A69E0C-1F64-4D23-B060-0C61EB02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9D275ADE-7940-41A3-AD5E-35294A497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7 / 7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0C4F9931-7C27-4861-87D2-D2A56C5D4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学习路径：从仿真到实机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7B591F85-41E7-4F6B-A894-21D8B8001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436699E0-B984-47C2-B6E0-BE855AA54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EM-001-S09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CD114031-0DE6-4565-B249-D1C5B3A1B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1F9512CB-D5FD-485D-BD34-D8CBC3F2C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学习路径：从仿真到实机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331A41F8-D33D-4E7D-9835-0DBA7133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学习具身智能可以从仿真环境、机器人平台、传感器数据和强化学习任务逐步进入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A6CD5749-9048-4137-B2CA-2156AF2D8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3B86362-EF81-4279-AD69-AAD239D6E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先在可控环境中验证，再迁移到实机，是降低成本和风险的基本路径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056D6F47-6366-47E2-BF2F-81F357BE4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0048F30A-9D47-403E-BA7F-C3CBD074C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学习路径：从仿真到实机</a:t>
            </a:r>
          </a:p>
        </p:txBody>
      </p:sp>
    </p:spTree>
    <p:extLst>
      <p:ext uri="{BB962C8B-B14F-4D97-AF65-F5344CB8AC3E}">
        <p14:creationId xmlns:p14="http://schemas.microsoft.com/office/powerpoint/2010/main" val="17882944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B62122CD-D338-4168-B93A-BA6502147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6C13B973-D33A-425D-9B84-B28FBBA6D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9E731FA6-7BC8-4228-A7F2-DD0554C2B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真实环境中必须有安全停止和人工接管机制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6D6B462F-3824-4F62-B891-7E38E3E3C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4394A9B5-4A52-4CDD-9E38-D8C671597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D3BCBAD5-D08B-4C4A-922C-CFDC02C28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65642"/>
          </a:solidFill>
          <a:ln xmlns:a="http://schemas.openxmlformats.org/drawingml/2006/main" w="0">
            <a:solidFill>
              <a:srgbClr val="16564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机器人倒咖啡为什么难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1C991A74-748E-4605-8A2D-EA615B898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场景｜机械臂需要识别杯子、规划轨迹并控制倒水动作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87807129-770B-44B4-985C-963CA7B6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问题｜位置误差、液体流动和碰撞风险都会影响结果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C81153AB-8AD5-4A4B-B313-025929DAF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方法｜系统结合视觉感知、任务规划和运动控制完成动作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F8C4747F-F26D-4B0A-BAD1-F7855E83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结果｜机器人可以执行简单服务任务</a:t>
            </a:r>
          </a:p>
        </p:txBody>
      </p:sp>
      <p:sp>
        <p:nvSpPr>
          <p:cNvPr id="11" name="case-row-4">
            <a:extLst xmlns:a="http://schemas.openxmlformats.org/drawingml/2006/main">
              <a:ext uri="{FF2B5EF4-FFF2-40B4-BE49-F238E27FC236}">
                <a16:creationId xmlns:a16="http://schemas.microsoft.com/office/drawing/2014/main" id="{BA4331DD-53CE-4FAE-93FB-92B3D9017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9525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边界｜真实环境中必须有安全停止和人工接管机制</a:t>
            </a:r>
          </a:p>
        </p:txBody>
      </p:sp>
      <p:sp>
        <p:nvSpPr>
          <p:cNvPr id="12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FC8CB535-0700-4472-AC8E-26E199543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3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A043E461-14F1-48B9-A5CB-4D8A47A2C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真实环境中必须有安全停止和人工接管机制</a:t>
            </a:r>
          </a:p>
        </p:txBody>
      </p:sp>
    </p:spTree>
    <p:extLst>
      <p:ext uri="{BB962C8B-B14F-4D97-AF65-F5344CB8AC3E}">
        <p14:creationId xmlns:p14="http://schemas.microsoft.com/office/powerpoint/2010/main" val="132415952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37F1B11E-B1AB-4F28-89CB-D7755FCE8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22BD439E-6492-4269-8303-F68A047BA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AC76AAF8-D346-4394-B915-9A52FEC0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具身智能闭环：一次可验收练习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D2F7A452-79B3-4AB0-AC52-B69F4B08A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6084851F-C483-4C2A-8C4C-31A1343AB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CDBED8E6-35D7-4A61-A402-4E5E199F8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B8261D3E-004C-43E3-B615-E04DABCE7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D1335176-2053-430C-8AE5-E2FABB34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选择一个具身任务，写出感知、推理、执行三个环节；列出这个任务可能失败的三个物理原因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DA61A485-44BA-4865-83A7-4FC6E6A0A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5570D9B4-6169-4D23-8AB0-C7F4F1B1A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3E39F085-D684-4F66-90E7-38BB99DE1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0182FEAA-CFA2-4A1B-BC3D-643022AC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把任务拆成任务层、技能层、实时控制层，并为每层定义失败状态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88016296-1838-493A-9D5D-F2228AC7C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ECA719A3-8ED9-426F-9F39-BC7FD57D8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1095542A-68A3-48E5-997F-BD21A0DB6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1F29F76A-7B8A-44DF-8316-7476B337D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说明哪些部分适合先在仿真中验证，哪些风险必须在受控真机环境检查</a:t>
            </a:r>
          </a:p>
        </p:txBody>
      </p:sp>
    </p:spTree>
    <p:extLst>
      <p:ext uri="{BB962C8B-B14F-4D97-AF65-F5344CB8AC3E}">
        <p14:creationId xmlns:p14="http://schemas.microsoft.com/office/powerpoint/2010/main" val="203025358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B61D9FCF-BF44-4FDE-A6E7-6A5923CF0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C4992733-B40A-4DA7-A011-CEC66B6E5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63F8940F-EACD-4056-BDD6-4FAA95B4A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具身智能闭环：判断时先抓住三点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58F1F9DF-8D5C-4FD3-8F4D-BF05F491A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F8720C03-2C69-492B-AD38-F8C7EF9C6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DA5D307D-FF5C-4398-A191-59A3E7172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8CCFB613-4DFA-480A-A1D7-BB60AC9ED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6719EDAA-3311-4D84-A387-93F4C3F67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具身智能从身体与环境交互中获得可行动状态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B4186390-5C39-4AED-BA87-43AC4BE6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03EE6523-AEF9-44CC-A0C0-F2116C9A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C2AC6150-90C4-4C52-9AE0-7B37AD4A8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2ACF7E22-F215-4F4A-B650-A3B614899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传感器只提供带噪声、延迟和遮挡的观测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AA9E0A00-A6DF-4D4D-A3CE-960EFF65C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50420A79-A8B6-4FBF-9A2A-885EC0D9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CED39CCB-A08A-4B21-8539-619314FE4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6E4E656F-53D9-4929-955B-27852DBB5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学习路径：从仿真到实机</a:t>
            </a:r>
          </a:p>
        </p:txBody>
      </p:sp>
    </p:spTree>
    <p:extLst>
      <p:ext uri="{BB962C8B-B14F-4D97-AF65-F5344CB8AC3E}">
        <p14:creationId xmlns:p14="http://schemas.microsoft.com/office/powerpoint/2010/main" val="114334699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503B6C83-9B97-4767-96D5-3422F5914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1A658134-85E1-49B0-9720-2D69B2FEA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A6D6BC3B-D95A-452A-A6A9-A9D589892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具身智能闭环：依据、边界与延伸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6222B74A-E8C1-44CD-8A3C-61C375603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E8E42ABF-50EE-40D7-B9F2-B0DEA64E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EM-001 · EM-001-S13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55785F56-7461-4625-B701-AF04967AE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9525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2585405F-7B38-458B-ABAA-CA20BA6C2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968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Rodney Brooks；Intelligence without Representation；具身与情境化智能的重要早期路线；它不是具身智能的唯一公认定义；也不意味着所有系统都应放弃内部表示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8DBCE17B-0BBE-42D9-8CCB-E939569A8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612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Embodied Question Answering：说明行动会改变后续可获得的信息；证据来自三维仿真任务，不能直接等同于真机能力。（核对日期：2026-07-12）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9E69C4DF-F057-46B5-AFBA-392DDC574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008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Google Research：PaLM-E：观察图像、机器人状态与高层语言计划如何组合；低层实时控制仍由专门策略承担。（核对日期：2026-07-12）</a:t>
            </a:r>
          </a:p>
        </p:txBody>
      </p:sp>
      <p:sp>
        <p:nvSpPr>
          <p:cNvPr id="10" name="source-4">
            <a:extLst xmlns:a="http://schemas.openxmlformats.org/drawingml/2006/main">
              <a:ext uri="{FF2B5EF4-FFF2-40B4-BE49-F238E27FC236}">
                <a16:creationId xmlns:a16="http://schemas.microsoft.com/office/drawing/2014/main" id="{D89B7982-876A-4E24-92BA-33853AFB1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138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05  Google DeepMind：RT-2：视觉—语言—动作研究系统；展示能力不能外推为开放环境中的通用性或安全保证。（核对日期：2026-07-12）</a:t>
            </a:r>
          </a:p>
        </p:txBody>
      </p:sp>
      <p:sp>
        <p:nvSpPr>
          <p:cNvPr id="11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073ABB3E-AC70-4465-AF62-A4805BE02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9013461C-E3FC-4041-AFD8-4DA9D67F5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911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课程精编页用于讲授主线；播放器中的“原课件”模式保留团队 PowerPoint 精选页、真实图片和可播放视频。</a:t>
            </a:r>
          </a:p>
        </p:txBody>
      </p:sp>
    </p:spTree>
    <p:extLst>
      <p:ext uri="{BB962C8B-B14F-4D97-AF65-F5344CB8AC3E}">
        <p14:creationId xmlns:p14="http://schemas.microsoft.com/office/powerpoint/2010/main" val="15959218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2026-07-12T03:31:53.8760000Z</dcterms:created>
  <dcterms:modified xsi:type="dcterms:W3CDTF">2026-07-12T03:31:53.8760000Z</dcterms:modified>
</coreProperties>
</file>