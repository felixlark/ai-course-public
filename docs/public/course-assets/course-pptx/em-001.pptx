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e839b0179486e" /><Relationship Type="http://schemas.openxmlformats.org/officeDocument/2006/relationships/extended-properties" Target="/docProps/app.xml" Id="R49cf4994ad614732" /><Relationship Type="http://schemas.openxmlformats.org/officeDocument/2006/relationships/officeDocument" Target="/ppt/presentation.xml" Id="R5976bc1c0e3247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8fbe3ff2542e2"/>
  </p:sldMasterIdLst>
  <p:notesMasterIdLst>
    <p:notesMasterId xmlns:r="http://schemas.openxmlformats.org/officeDocument/2006/relationships" r:id="R306845dfe8a24d7d"/>
  </p:notesMasterIdLst>
  <p:sldIdLst>
    <p:sldId xmlns:r="http://schemas.openxmlformats.org/officeDocument/2006/relationships" id="256" r:id="R0a1259b103b1482c"/>
    <p:sldId xmlns:r="http://schemas.openxmlformats.org/officeDocument/2006/relationships" id="257" r:id="Rba5c7e657a8e4e20"/>
    <p:sldId xmlns:r="http://schemas.openxmlformats.org/officeDocument/2006/relationships" id="258" r:id="Rddafc9c8cb604bf2"/>
    <p:sldId xmlns:r="http://schemas.openxmlformats.org/officeDocument/2006/relationships" id="259" r:id="R06b988e4e68a433f"/>
    <p:sldId xmlns:r="http://schemas.openxmlformats.org/officeDocument/2006/relationships" id="260" r:id="R6061b1ad2d634ec7"/>
    <p:sldId xmlns:r="http://schemas.openxmlformats.org/officeDocument/2006/relationships" id="261" r:id="Rb736f5a82b274414"/>
    <p:sldId xmlns:r="http://schemas.openxmlformats.org/officeDocument/2006/relationships" id="262" r:id="R0e748c63049241f0"/>
    <p:sldId xmlns:r="http://schemas.openxmlformats.org/officeDocument/2006/relationships" id="263" r:id="R0b4212cca6284eb4"/>
    <p:sldId xmlns:r="http://schemas.openxmlformats.org/officeDocument/2006/relationships" id="264" r:id="Ra57781d4feef4053"/>
    <p:sldId xmlns:r="http://schemas.openxmlformats.org/officeDocument/2006/relationships" id="265" r:id="R0bb38b703f4743cf"/>
    <p:sldId xmlns:r="http://schemas.openxmlformats.org/officeDocument/2006/relationships" id="266" r:id="Rd791153c76bc430c"/>
    <p:sldId xmlns:r="http://schemas.openxmlformats.org/officeDocument/2006/relationships" id="267" r:id="R2a4747916a9949dd"/>
    <p:sldId xmlns:r="http://schemas.openxmlformats.org/officeDocument/2006/relationships" id="268" r:id="Ra665003a1e2e4d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ad1068715b4ea6" /><Relationship Type="http://schemas.openxmlformats.org/officeDocument/2006/relationships/slideMaster" Target="/ppt/slideMasters/slideMaster1.xml" Id="R12a8fbe3ff2542e2" /><Relationship Type="http://schemas.openxmlformats.org/officeDocument/2006/relationships/notesMaster" Target="/ppt/notesMasters/notesMaster1.xml" Id="R306845dfe8a24d7d" /><Relationship Type="http://schemas.openxmlformats.org/officeDocument/2006/relationships/presProps" Target="/ppt/presProps.xml" Id="R545008f4b4a747df" /><Relationship Type="http://schemas.openxmlformats.org/officeDocument/2006/relationships/tableStyles" Target="/ppt/tableStyles.xml" Id="R01929512790d46f6" /><Relationship Type="http://schemas.openxmlformats.org/officeDocument/2006/relationships/slide" Target="/ppt/slides/slide1.xml" Id="R0a1259b103b1482c" /><Relationship Type="http://schemas.openxmlformats.org/officeDocument/2006/relationships/slide" Target="/ppt/slides/slide2.xml" Id="Rba5c7e657a8e4e20" /><Relationship Type="http://schemas.openxmlformats.org/officeDocument/2006/relationships/slide" Target="/ppt/slides/slide3.xml" Id="Rddafc9c8cb604bf2" /><Relationship Type="http://schemas.openxmlformats.org/officeDocument/2006/relationships/slide" Target="/ppt/slides/slide4.xml" Id="R06b988e4e68a433f" /><Relationship Type="http://schemas.openxmlformats.org/officeDocument/2006/relationships/slide" Target="/ppt/slides/slide5.xml" Id="R6061b1ad2d634ec7" /><Relationship Type="http://schemas.openxmlformats.org/officeDocument/2006/relationships/slide" Target="/ppt/slides/slide6.xml" Id="Rb736f5a82b274414" /><Relationship Type="http://schemas.openxmlformats.org/officeDocument/2006/relationships/slide" Target="/ppt/slides/slide7.xml" Id="R0e748c63049241f0" /><Relationship Type="http://schemas.openxmlformats.org/officeDocument/2006/relationships/slide" Target="/ppt/slides/slide8.xml" Id="R0b4212cca6284eb4" /><Relationship Type="http://schemas.openxmlformats.org/officeDocument/2006/relationships/slide" Target="/ppt/slides/slide9.xml" Id="Ra57781d4feef4053" /><Relationship Type="http://schemas.openxmlformats.org/officeDocument/2006/relationships/slide" Target="/ppt/slides/slide10.xml" Id="R0bb38b703f4743cf" /><Relationship Type="http://schemas.openxmlformats.org/officeDocument/2006/relationships/slide" Target="/ppt/slides/slide11.xml" Id="Rd791153c76bc430c" /><Relationship Type="http://schemas.openxmlformats.org/officeDocument/2006/relationships/slide" Target="/ppt/slides/slide12.xml" Id="R2a4747916a9949dd" /><Relationship Type="http://schemas.openxmlformats.org/officeDocument/2006/relationships/slide" Target="/ppt/slides/slide13.xml" Id="Ra665003a1e2e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dfbce3d3d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a66f3f34f24ba7" /><Relationship Type="http://schemas.openxmlformats.org/officeDocument/2006/relationships/notesMaster" Target="/ppt/notesMasters/notesMaster1.xml" Id="Rd92644c08e8a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4904f0f61448a" /><Relationship Type="http://schemas.openxmlformats.org/officeDocument/2006/relationships/notesMaster" Target="/ppt/notesMasters/notesMaster1.xml" Id="Rb1fe7144a8ed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6e63c5ab24090" /><Relationship Type="http://schemas.openxmlformats.org/officeDocument/2006/relationships/notesMaster" Target="/ppt/notesMasters/notesMaster1.xml" Id="R14f51ad3670d4d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da0f000984b2f" /><Relationship Type="http://schemas.openxmlformats.org/officeDocument/2006/relationships/notesMaster" Target="/ppt/notesMasters/notesMaster1.xml" Id="Re905f38eda35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2610bbf9b43c5" /><Relationship Type="http://schemas.openxmlformats.org/officeDocument/2006/relationships/notesMaster" Target="/ppt/notesMasters/notesMaster1.xml" Id="R3b92f5101cd44e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72fff6ee8f484a" /><Relationship Type="http://schemas.openxmlformats.org/officeDocument/2006/relationships/notesMaster" Target="/ppt/notesMasters/notesMaster1.xml" Id="R33d676ee3dc344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a885c6aae4329" /><Relationship Type="http://schemas.openxmlformats.org/officeDocument/2006/relationships/notesMaster" Target="/ppt/notesMasters/notesMaster1.xml" Id="Re93d86ad77b1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cb05e314e24488" /><Relationship Type="http://schemas.openxmlformats.org/officeDocument/2006/relationships/notesMaster" Target="/ppt/notesMasters/notesMaster1.xml" Id="R05ed8388c5cf4d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73b11acd8244e9" /><Relationship Type="http://schemas.openxmlformats.org/officeDocument/2006/relationships/notesMaster" Target="/ppt/notesMasters/notesMaster1.xml" Id="Rd89b87fa8c164b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dcf6d335924691" /><Relationship Type="http://schemas.openxmlformats.org/officeDocument/2006/relationships/notesMaster" Target="/ppt/notesMasters/notesMaster1.xml" Id="R69025907af654a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e62fbdb2104935" /><Relationship Type="http://schemas.openxmlformats.org/officeDocument/2006/relationships/notesMaster" Target="/ppt/notesMasters/notesMaster1.xml" Id="Rb1358738b0f045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5b3ba0a3134c88" /><Relationship Type="http://schemas.openxmlformats.org/officeDocument/2006/relationships/notesMaster" Target="/ppt/notesMasters/notesMaster1.xml" Id="R8c1e1960cc354a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14e1fd791f4485" /><Relationship Type="http://schemas.openxmlformats.org/officeDocument/2006/relationships/notesMaster" Target="/ppt/notesMasters/notesMaster1.xml" Id="Rb5895f4c9f50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8541dfad049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87cecb7194475" /><Relationship Type="http://schemas.openxmlformats.org/officeDocument/2006/relationships/slideLayout" Target="/ppt/slideLayouts/slideLayout1.xml" Id="R57799a5743c4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799a5743c4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b47ba50da4bc0" /><Relationship Type="http://schemas.openxmlformats.org/officeDocument/2006/relationships/notesSlide" Target="/ppt/notesSlides/notesSlide1.xml" Id="Rf853163be44a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67f30213e4813" /><Relationship Type="http://schemas.openxmlformats.org/officeDocument/2006/relationships/notesSlide" Target="/ppt/notesSlides/notesSlide2.xml" Id="Rae9a2e2b669e43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7af99ca714a2b" /><Relationship Type="http://schemas.openxmlformats.org/officeDocument/2006/relationships/notesSlide" Target="/ppt/notesSlides/notesSlide3.xml" Id="R903fc2b6620b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deb5761a440ae" /><Relationship Type="http://schemas.openxmlformats.org/officeDocument/2006/relationships/notesSlide" Target="/ppt/notesSlides/notesSlide4.xml" Id="R29b6a3d877f0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8d32ca874ba1" /><Relationship Type="http://schemas.openxmlformats.org/officeDocument/2006/relationships/notesSlide" Target="/ppt/notesSlides/notesSlide5.xml" Id="R83918b129e3d41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39e2742b2496d" /><Relationship Type="http://schemas.openxmlformats.org/officeDocument/2006/relationships/notesSlide" Target="/ppt/notesSlides/notesSlide6.xml" Id="Rcecb7571203a42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9622df0374632" /><Relationship Type="http://schemas.openxmlformats.org/officeDocument/2006/relationships/notesSlide" Target="/ppt/notesSlides/notesSlide7.xml" Id="Rbc0f72882ff948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e930534af4154" /><Relationship Type="http://schemas.openxmlformats.org/officeDocument/2006/relationships/notesSlide" Target="/ppt/notesSlides/notesSlide8.xml" Id="R9016952733094e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c7842686f4dcc" /><Relationship Type="http://schemas.openxmlformats.org/officeDocument/2006/relationships/notesSlide" Target="/ppt/notesSlides/notesSlide9.xml" Id="Rb680250e2a9945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44f98fd9f449a" /><Relationship Type="http://schemas.openxmlformats.org/officeDocument/2006/relationships/notesSlide" Target="/ppt/notesSlides/notesSlide10.xml" Id="R9adeade6f48849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ffaf0eb614a9f" /><Relationship Type="http://schemas.openxmlformats.org/officeDocument/2006/relationships/notesSlide" Target="/ppt/notesSlides/notesSlide11.xml" Id="R9ebcee12ec70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7ec41033b417b" /><Relationship Type="http://schemas.openxmlformats.org/officeDocument/2006/relationships/notesSlide" Target="/ppt/notesSlides/notesSlide12.xml" Id="Ree1308adff0d4f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84c796048465e" /><Relationship Type="http://schemas.openxmlformats.org/officeDocument/2006/relationships/notesSlide" Target="/ppt/notesSlides/notesSlide13.xml" Id="R9327800bbbef49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2571FD2D-A08B-4365-ADA6-0862CB9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BA2DD795-CA38-4BE7-900D-B8B23027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CCA1010C-D6C4-44EA-8B82-9C951CC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BAFDD279-1138-4C59-BB19-3804D52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35D27767-23E2-47C2-BA9E-422854BA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147342D9-DEAF-42D5-8736-0E650EE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4BBCEC7-54FD-4592-A511-AFEE17EC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第 3 章 · 具身智能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0A77C4-B9CE-4579-B225-92817FEE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具身智能：感知、决策、行动与反馈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68E7F41-8EEF-4727-BF41-E231016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建立具身智能的闭环模型，理解物理世界中的不确定性、实时性和安全约束。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D6F7D96B-76F1-4AA1-87AC-EB6F5E1F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具身智能关注 AI 如何在物理世界中感知、决策、行动并从反馈中学习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ACFCB31E-6EB5-4133-BE28-B6C025B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56EA58A7-FE03-4415-9957-D536AE3E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EM-001 · EM-001-S01</a:t>
            </a:r>
          </a:p>
        </p:txBody>
      </p:sp>
    </p:spTree>
    <p:extLst>
      <p:ext uri="{BB962C8B-B14F-4D97-AF65-F5344CB8AC3E}">
        <p14:creationId xmlns:p14="http://schemas.microsoft.com/office/powerpoint/2010/main" val="76687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564CBCA0-62E1-465B-89ED-C02ADC9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C41F30F9-DB44-402D-A239-769BC5B0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C54232B1-37E5-43B1-82C2-32B30845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具身智能闭环：2项学习结果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E62E8263-436B-4B30-A75C-5994618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EC2AB912-DA25-4BCF-BC26-24E8A1D8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7A53A324-DA50-4D61-887F-F181360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解释感知、决策、行动和反馈如何构成具身闭环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85D86381-9220-4004-87E3-6A5CA6BC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说明具身任务相较文本问答增加的实时、安全和环境约束</a:t>
            </a:r>
          </a:p>
        </p:txBody>
      </p:sp>
    </p:spTree>
    <p:extLst>
      <p:ext uri="{BB962C8B-B14F-4D97-AF65-F5344CB8AC3E}">
        <p14:creationId xmlns:p14="http://schemas.microsoft.com/office/powerpoint/2010/main" val="1798516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3A46FD31-CE5D-40BD-A53F-36D5AED0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F7166485-6037-4A4C-BD5E-CFADB5B1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B8B9D4CF-8B6C-409E-AA2F-AC96EC80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具身智能从身体与环境交互中获得可行动状态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29501B1B-EE4B-4271-AC3D-11ECCA05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85702985-1E25-4DBC-A7E3-AF2F97A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E0FB43E-D5B1-4DE5-80DE-E229474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C81F73F-B232-4032-BE28-82E1A84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什么是具身智能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BE6A99F-1F60-42D7-94EF-BE4140B0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具身智能强调智能体拥有身体或执行载体，并与真实或仿真环境持续交互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F2E4346-0F36-4340-9007-78B83720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31BB8B2E-A4AF-40AC-BAB5-ABDF0050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感知：理解环境状态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43CE1F9-FDE5-448D-92D0-A08AE5AB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具身系统需要通过摄像头、深度相机、雷达、IMU 或触觉传感器感知环境</a:t>
            </a:r>
          </a:p>
        </p:txBody>
      </p:sp>
      <p:sp>
        <p:nvSpPr>
          <p:cNvPr id="12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7F342FB4-9744-4AE6-936F-FFF609A7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ECC044E5-384E-4910-8F7B-007F2F1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具身智能从身体与环境交互中获得可行动状态</a:t>
            </a:r>
          </a:p>
        </p:txBody>
      </p:sp>
    </p:spTree>
    <p:extLst>
      <p:ext uri="{BB962C8B-B14F-4D97-AF65-F5344CB8AC3E}">
        <p14:creationId xmlns:p14="http://schemas.microsoft.com/office/powerpoint/2010/main" val="1901403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D18550CA-AFF9-46C2-ABCB-270B95E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C8FE8C7F-355E-48CB-9A41-11F693BC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5A9C2D79-C1F0-4E8C-8A7E-3FAC769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43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推理环节把用户目标、环境状态和机器人能力转成可执行计划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6CE8081F-0D17-4782-BDD9-EDF7667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EEA06891-5780-4D63-AA77-9D145E5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54C66D3A-89BC-43B5-B9AB-82B394BC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F888880A-EAE6-44A8-A0CC-C03C33D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推理：从目标到计划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3529621-D19D-4C84-A2F6-DAEAD2DA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推理环节把用户目标、环境状态和机器人能力转成可执行计划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B03E177-B934-4ACF-9D20-903A6941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7E0215C-EA61-4D82-B49C-F5A1783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大模型可以参与任务理解，但底层运动和安全约束仍需要专门控制系统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5BA59490-3895-41AD-B84E-E93C1F9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30A50578-D473-4F3F-9062-D303698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推理环节把用户目标、环境状态和机器人能力转成可执行计划</a:t>
            </a:r>
          </a:p>
        </p:txBody>
      </p:sp>
    </p:spTree>
    <p:extLst>
      <p:ext uri="{BB962C8B-B14F-4D97-AF65-F5344CB8AC3E}">
        <p14:creationId xmlns:p14="http://schemas.microsoft.com/office/powerpoint/2010/main" val="1423043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ED372D7E-82F6-4BB8-8663-06096026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D96BC4EC-FCD5-4A11-88DD-EC995183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E360EB07-112F-49CF-8D8C-FD0CCF48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执行需要在行动过程中持续读取反馈并修正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BF986982-7961-40D7-87B8-C4A3213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F1536DDC-B893-4B2B-9F48-179F959E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546D6BC-80A5-4DB0-A711-0F514F0C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82B8BA9-7905-4A40-A536-409D1F46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执行：动作与反馈闭环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15BD971-36E2-438F-857F-F7EE369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执行需要在行动过程中持续读取反馈并修正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BBBBDA5-A7BB-4039-A28A-FDE970E9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D52119B-0B9C-4630-B6E1-BECA1281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真实世界会变化，具身智能必须处理滑倒、碰撞、定位漂移和任务中断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3DA47D82-9DDF-4256-A759-772717E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56CC3B03-CF08-4E16-A264-A3801ECA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闭环中每个环节都有频率要求；任务规划可以按秒更新；运动控制往往需要更高频率；如果把慢速大模型直接放进底层控制回路；网络或推理抖动就可能变成不稳定动作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AA43C1EA-C19C-47B4-ABB1-63C3ADF3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BF92A765-47BC-40CC-9550-817B81DE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执行需要在行动过程中持续读取反馈并修正</a:t>
            </a:r>
          </a:p>
        </p:txBody>
      </p:sp>
    </p:spTree>
    <p:extLst>
      <p:ext uri="{BB962C8B-B14F-4D97-AF65-F5344CB8AC3E}">
        <p14:creationId xmlns:p14="http://schemas.microsoft.com/office/powerpoint/2010/main" val="897274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466AF478-F35D-444A-8D1C-573F610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B2E83A83-F5D4-4B21-8F1B-C849FE5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1D94942F-0E77-4A23-835F-5F084F9C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传感器只提供带噪声、延迟和遮挡的观测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9E657233-4AFA-40D4-8D70-C88117D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0D2C23F5-EB91-4497-88A4-AC4973F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7BAE492-F1A7-479B-802C-B72D552E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9F7724C-8AF8-4F97-9A7B-605A948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世界状态：机器人知道什么，也要知道自己不知道什么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D1DEAB9-A845-4E58-8A2E-991A453F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传感器只提供带噪声、延迟和遮挡的观测；系统需要把多帧信息、机器人自身状态和任务上下文融合成可用于决策的状态估计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B2040E3-E9FD-42BA-9785-F7B209C9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C4FF227-14FE-4FB7-B458-9985DAAB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可靠决策要显式保留不确定性；目标位置不确定时可以换视角重新观察；路径被遮挡时可以减速；抓取失败时可以松开重试；当无法把风险降到允许范围时；应停止并请求人工处理；把“继续猜一个动作”设为默认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47CDC8A8-A4B5-470B-92B4-F6D3D29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B4B9AD53-6107-4D72-9C66-23E2E735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传感器只提供带噪声、延迟和遮挡的观测</a:t>
            </a:r>
          </a:p>
        </p:txBody>
      </p:sp>
    </p:spTree>
    <p:extLst>
      <p:ext uri="{BB962C8B-B14F-4D97-AF65-F5344CB8AC3E}">
        <p14:creationId xmlns:p14="http://schemas.microsoft.com/office/powerpoint/2010/main" val="5830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F16AD78C-FB0A-4DDF-8EBE-A2D9EC35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49DF0319-362F-499D-A247-43627D67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D2F71CBF-C1F8-45CB-8ACA-063CC6E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一个常见架构把控制分为三层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43E7D069-5FA7-4DCE-9803-936A185D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331CE213-150C-4E0A-84FB-33AEC73A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84BFAD5-C823-4BA5-BE11-F3D8B4A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F53760D-C9CD-4504-9CB4-47F12A72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分层控制：任务、技能与安全互相约束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16C01F1-AA2F-48FD-AB79-35C305F9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一个常见架构把控制分为三层；任务层把“把水送到桌边”拆成导航、定位杯子、抓取和放置；技能层调用经过训练和测试的动作能力；实时层控制关节、轮子和接触力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C5BB585-153D-4C88-9C89-D93B0E5D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7C3A1B7-5465-4A55-A1BE-AAE5D0F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这种分层也让失败更容易定位：是目标理解错了、技能前置条件不满足，还是底层执行偏离？每层都应给出成功、失败、超时和可恢复状态，而不是只返回一条模糊的“任务失败”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62AAEB36-4C4B-44DE-8101-A2177475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A8A807FF-136B-4FAF-A3FF-954C5DF7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一个常见架构把控制分为三层</a:t>
            </a:r>
          </a:p>
        </p:txBody>
      </p:sp>
    </p:spTree>
    <p:extLst>
      <p:ext uri="{BB962C8B-B14F-4D97-AF65-F5344CB8AC3E}">
        <p14:creationId xmlns:p14="http://schemas.microsoft.com/office/powerpoint/2010/main" val="1381585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15AD79A6-D96E-4098-808B-E4795DBC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67A92034-249E-451F-B0AC-0EFF448C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9FB666FA-BF3B-4B8E-91B5-47EB6EB8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安全：先设计失败，再设计成功演示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907A56BC-21D1-45C5-ADDB-D8BCC593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194C211D-FA65-4431-8A16-E4330DE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A3621DD-D405-4B15-AF89-184B060F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1657CE6-7170-4118-9D3A-D43B99F0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安全：先设计失败，再设计成功演示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1ED966D-D8D3-4804-8CA4-F740D25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具身任务要提前列出危险源、可接受动作范围、人员隔离、急停、失联策略和恢复步骤；仿真可以覆盖大量变化；却无法完整复制材料摩擦、柔性物体、传感器故障和人类不可预测行为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5767BA1-8183-482B-B7AB-957B8FE8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672C6FC-2FB1-4170-9996-DF36B8B0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评价系统时不仅看一次任务是否成功，还要看干预次数、近失事件、失败后果、恢复时间和重复运行的一致性。能完成任务但偶尔产生不可接受动作的系统，不能因为平均成功率很高就进入真实服务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36C9668F-FADA-4F30-9CF1-F3A9795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1F026C4E-1388-47DB-822A-AF830DB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安全：先设计失败，再设计成功演示</a:t>
            </a:r>
          </a:p>
        </p:txBody>
      </p:sp>
    </p:spTree>
    <p:extLst>
      <p:ext uri="{BB962C8B-B14F-4D97-AF65-F5344CB8AC3E}">
        <p14:creationId xmlns:p14="http://schemas.microsoft.com/office/powerpoint/2010/main" val="2042580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AAACE42-F4BC-40D7-9B40-3D752C8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2CE967A7-F7FB-48F2-B539-26518D90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FA79183D-6BBD-4C7C-B35F-2805E7BD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学习路径：从仿真到实机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59984EDE-B4D6-447E-81CA-DCC3D4AD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7755C3F4-D5D1-4E3A-AA00-73DB28FA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994930F-8241-4EE1-88B4-89E6C1E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550D3CA-13B5-4B96-826D-2C8CCA49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学习路径：从仿真到实机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AED0DFB-149A-49CF-BD90-218087E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学习具身智能可以从仿真环境、机器人平台、传感器数据和强化学习任务逐步进入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87A1724-92A1-46F5-9157-BFF3D4A5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823D6B7-6000-4313-8D0B-9DF595B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先在可控环境中验证，再迁移到实机，是降低成本和风险的基本路径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F7B69BFA-7CA4-45B3-B29E-06FC7B4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D00AFF54-DEC1-494E-A2F4-E76A5580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学习路径：从仿真到实机</a:t>
            </a:r>
          </a:p>
        </p:txBody>
      </p:sp>
    </p:spTree>
    <p:extLst>
      <p:ext uri="{BB962C8B-B14F-4D97-AF65-F5344CB8AC3E}">
        <p14:creationId xmlns:p14="http://schemas.microsoft.com/office/powerpoint/2010/main" val="1266071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84402AC3-C954-495C-B5A8-EC896F1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1AFF2072-48E8-421A-86B5-8EAC0F6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0D68492C-9FC4-428A-8D0F-F9743D37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真实环境中必须有安全停止和人工接管机制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D698B03E-C796-4D9B-981F-3950C1A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192A538B-A00A-4265-A79C-9C96DC3A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777AE994-2163-4ADD-88FC-4054B22D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65642"/>
          </a:solidFill>
          <a:ln xmlns:a="http://schemas.openxmlformats.org/drawingml/2006/main" w="0">
            <a:solidFill>
              <a:srgbClr val="16564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机器人倒咖啡为什么难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8DDC34D8-2923-4C28-AD37-027FF7B5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场景｜机械臂需要识别杯子、规划轨迹并控制倒水动作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EE45CF8-9CDE-4639-998D-96D7EB5E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问题｜位置误差、液体流动和碰撞风险都会影响结果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BE65DA8F-4B38-45F4-8FE9-66F7359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方法｜系统结合视觉感知、任务规划和运动控制完成动作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2F47BCD2-A8F3-4EF4-BE2C-D584CE4D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结果｜机器人可以执行简单服务任务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6DA4E019-488F-4A6F-9BC0-D46B7EB8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边界｜真实环境中必须有安全停止和人工接管机制</a:t>
            </a:r>
          </a:p>
        </p:txBody>
      </p:sp>
      <p:sp>
        <p:nvSpPr>
          <p:cNvPr id="12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8A757F53-359C-4E5E-ABB7-6E06566E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EE1447E2-7638-4394-9081-0B3B81CB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真实环境中必须有安全停止和人工接管机制</a:t>
            </a:r>
          </a:p>
        </p:txBody>
      </p:sp>
    </p:spTree>
    <p:extLst>
      <p:ext uri="{BB962C8B-B14F-4D97-AF65-F5344CB8AC3E}">
        <p14:creationId xmlns:p14="http://schemas.microsoft.com/office/powerpoint/2010/main" val="1592541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F6242ABF-D95C-4504-8513-9E76702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AFCB0CBE-3586-46BE-A225-7D595D2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481F77CC-7A69-412F-8DC2-B84C68D9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具身智能闭环：一次可验收练习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CC607930-6873-4084-8D68-9BDCF31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992A5224-7E1A-4B8F-A9E1-487AA95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F2E76C2E-35DD-4012-B6B4-3F81EF1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26BBAAF0-F8F2-4A0F-8A28-AEAABFC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CAFDE297-5F31-410D-B609-E8E8B7D7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选择一个具身任务，写出感知、推理、执行三个环节；列出这个任务可能失败的三个物理原因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2DDE062B-1AB3-4A96-A3D9-CC7B79C8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AD95AF64-D8F4-4616-A7D3-16FEA35F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E3AEFA48-E6A1-4E2E-BA83-3F20C20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6E9ACCD0-8F6E-40B7-BAD7-E513830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把任务拆成任务层、技能层、实时控制层，并为每层定义失败状态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66CB10EC-A402-4EA5-8B82-CAE92B33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9A959935-C9FF-4895-93E2-57932C8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331F27E0-A166-4B89-B8B0-E7A674C6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E4BF8AEB-06FC-4F5E-9B77-8D79748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说明哪些部分适合先在仿真中验证，哪些风险必须在受控真机环境检查</a:t>
            </a:r>
          </a:p>
        </p:txBody>
      </p:sp>
    </p:spTree>
    <p:extLst>
      <p:ext uri="{BB962C8B-B14F-4D97-AF65-F5344CB8AC3E}">
        <p14:creationId xmlns:p14="http://schemas.microsoft.com/office/powerpoint/2010/main" val="1097823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5EB62303-A389-4C7A-B5B8-E2BD9C1F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435B3569-1F5B-4B68-805D-7E44CD4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D477DC8D-4F92-4AC8-8766-9DAF7F29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具身智能闭环：判断时先抓住三点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1ACE48A1-2A87-46D0-8458-0ED9E2C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8DA43837-4B9D-4C56-99C0-5166E62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A6ECD707-A809-4606-B80B-C71751F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9059C5E2-CA9E-420C-A616-251012A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C92A568A-472F-4D6E-BA9D-284AE889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具身智能从身体与环境交互中获得可行动状态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7DF8E20A-58D2-4232-B6B0-65FFF7AC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2ACFE125-4C31-45B9-9DD3-E5A17E55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EC91DAB9-3C66-4C34-A16B-AF6DF24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B436E784-61D4-451C-A3C1-3E2B2C8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传感器只提供带噪声、延迟和遮挡的观测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386E3B67-D2D8-4BD1-97A3-9717D46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CA63CF67-5297-4F2A-8340-9C5406C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F60DF35B-B99A-4D37-AC9E-AE84B99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61239FB3-7FE4-4A15-B0A4-9B6A830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学习路径：从仿真到实机</a:t>
            </a:r>
          </a:p>
        </p:txBody>
      </p:sp>
    </p:spTree>
    <p:extLst>
      <p:ext uri="{BB962C8B-B14F-4D97-AF65-F5344CB8AC3E}">
        <p14:creationId xmlns:p14="http://schemas.microsoft.com/office/powerpoint/2010/main" val="1716020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69D67EF3-64AE-4B0F-82C4-04A4C6F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8F8FE2C4-8E88-4BC7-8004-C0EF1E21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8D2D50B1-AFC1-4834-99BB-F30C0682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具身智能闭环：依据、边界与延伸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92B34023-B9CD-41DE-9E6A-1E14015C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E4A3A7AF-4D6C-4AE0-ACA4-E680D12D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EM-001 · EM-001-S13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FC9FC046-EC02-4201-8A3B-E9D9349F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DEC8D551-5563-4EAA-B5F1-C0A4A1E4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96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Rodney Brooks；Intelligence without Representation；具身与情境化智能的重要早期路线；它不是具身智能的唯一公认定义；也不意味着所有系统都应放弃内部表示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63C12F61-FE46-4CF8-868C-A080CEB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61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Embodied Question Answering：说明行动会改变后续可获得的信息；证据来自三维仿真任务，不能直接等同于真机能力。（核对日期：2026-07-12）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C63AFC2F-5703-4A4D-860B-37C00F5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00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Google Research：PaLM-E：观察图像、机器人状态与高层语言计划如何组合；低层实时控制仍由专门策略承担。（核对日期：2026-07-12）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D732DB4B-F355-46B1-8B64-FC87B547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13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Google DeepMind：RT-2：视觉—语言—动作研究系统；展示能力不能外推为开放环境中的通用性或安全保证。（核对日期：2026-07-12）</a:t>
            </a:r>
          </a:p>
        </p:txBody>
      </p:sp>
      <p:sp>
        <p:nvSpPr>
          <p:cNvPr id="11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A6810226-4F49-475F-8158-EF35EBFC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9E5070A6-746D-4FA0-B9BA-CAAD589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463560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2026-07-12T08:20:17.1170000Z</dcterms:created>
  <dcterms:modified xsi:type="dcterms:W3CDTF">2026-07-12T08:20:17.1170000Z</dcterms:modified>
</coreProperties>
</file>