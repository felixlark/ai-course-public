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b179882bbc4e63" /><Relationship Type="http://schemas.openxmlformats.org/officeDocument/2006/relationships/extended-properties" Target="/docProps/app.xml" Id="R3f8c924584b64b54" /><Relationship Type="http://schemas.openxmlformats.org/officeDocument/2006/relationships/officeDocument" Target="/ppt/presentation.xml" Id="R0f2bbe1d3e3d43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4396dcd6541ab"/>
  </p:sldMasterIdLst>
  <p:notesMasterIdLst>
    <p:notesMasterId xmlns:r="http://schemas.openxmlformats.org/officeDocument/2006/relationships" r:id="R48af32dc50c24312"/>
  </p:notesMasterIdLst>
  <p:sldIdLst>
    <p:sldId xmlns:r="http://schemas.openxmlformats.org/officeDocument/2006/relationships" id="256" r:id="Rd92d2c7598fd4d8b"/>
    <p:sldId xmlns:r="http://schemas.openxmlformats.org/officeDocument/2006/relationships" id="257" r:id="R4025d137aa324958"/>
    <p:sldId xmlns:r="http://schemas.openxmlformats.org/officeDocument/2006/relationships" id="258" r:id="R4e9ab158d6534aee"/>
    <p:sldId xmlns:r="http://schemas.openxmlformats.org/officeDocument/2006/relationships" id="259" r:id="R7451bc7565804e4c"/>
    <p:sldId xmlns:r="http://schemas.openxmlformats.org/officeDocument/2006/relationships" id="260" r:id="Rfcd1ebc6a1d7457f"/>
    <p:sldId xmlns:r="http://schemas.openxmlformats.org/officeDocument/2006/relationships" id="261" r:id="R4489880486684093"/>
    <p:sldId xmlns:r="http://schemas.openxmlformats.org/officeDocument/2006/relationships" id="262" r:id="Rbbf4bab679a243d9"/>
    <p:sldId xmlns:r="http://schemas.openxmlformats.org/officeDocument/2006/relationships" id="263" r:id="R5a9c97b6e8ec4dea"/>
    <p:sldId xmlns:r="http://schemas.openxmlformats.org/officeDocument/2006/relationships" id="264" r:id="R60b753f9a9344478"/>
    <p:sldId xmlns:r="http://schemas.openxmlformats.org/officeDocument/2006/relationships" id="265" r:id="Rce050e504e184582"/>
    <p:sldId xmlns:r="http://schemas.openxmlformats.org/officeDocument/2006/relationships" id="266" r:id="Rbe989af2ca48426d"/>
    <p:sldId xmlns:r="http://schemas.openxmlformats.org/officeDocument/2006/relationships" id="267" r:id="R49c0f5dd56f84e8b"/>
    <p:sldId xmlns:r="http://schemas.openxmlformats.org/officeDocument/2006/relationships" id="268" r:id="R2f0c0ac6b9bc449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055aba30814767" /><Relationship Type="http://schemas.openxmlformats.org/officeDocument/2006/relationships/slideMaster" Target="/ppt/slideMasters/slideMaster1.xml" Id="Rc434396dcd6541ab" /><Relationship Type="http://schemas.openxmlformats.org/officeDocument/2006/relationships/notesMaster" Target="/ppt/notesMasters/notesMaster1.xml" Id="R48af32dc50c24312" /><Relationship Type="http://schemas.openxmlformats.org/officeDocument/2006/relationships/presProps" Target="/ppt/presProps.xml" Id="R5b4d7c1d7ac6408c" /><Relationship Type="http://schemas.openxmlformats.org/officeDocument/2006/relationships/tableStyles" Target="/ppt/tableStyles.xml" Id="R51e951b38053488a" /><Relationship Type="http://schemas.openxmlformats.org/officeDocument/2006/relationships/slide" Target="/ppt/slides/slide1.xml" Id="Rd92d2c7598fd4d8b" /><Relationship Type="http://schemas.openxmlformats.org/officeDocument/2006/relationships/slide" Target="/ppt/slides/slide2.xml" Id="R4025d137aa324958" /><Relationship Type="http://schemas.openxmlformats.org/officeDocument/2006/relationships/slide" Target="/ppt/slides/slide3.xml" Id="R4e9ab158d6534aee" /><Relationship Type="http://schemas.openxmlformats.org/officeDocument/2006/relationships/slide" Target="/ppt/slides/slide4.xml" Id="R7451bc7565804e4c" /><Relationship Type="http://schemas.openxmlformats.org/officeDocument/2006/relationships/slide" Target="/ppt/slides/slide5.xml" Id="Rfcd1ebc6a1d7457f" /><Relationship Type="http://schemas.openxmlformats.org/officeDocument/2006/relationships/slide" Target="/ppt/slides/slide6.xml" Id="R4489880486684093" /><Relationship Type="http://schemas.openxmlformats.org/officeDocument/2006/relationships/slide" Target="/ppt/slides/slide7.xml" Id="Rbbf4bab679a243d9" /><Relationship Type="http://schemas.openxmlformats.org/officeDocument/2006/relationships/slide" Target="/ppt/slides/slide8.xml" Id="R5a9c97b6e8ec4dea" /><Relationship Type="http://schemas.openxmlformats.org/officeDocument/2006/relationships/slide" Target="/ppt/slides/slide9.xml" Id="R60b753f9a9344478" /><Relationship Type="http://schemas.openxmlformats.org/officeDocument/2006/relationships/slide" Target="/ppt/slides/slide10.xml" Id="Rce050e504e184582" /><Relationship Type="http://schemas.openxmlformats.org/officeDocument/2006/relationships/slide" Target="/ppt/slides/slide11.xml" Id="Rbe989af2ca48426d" /><Relationship Type="http://schemas.openxmlformats.org/officeDocument/2006/relationships/slide" Target="/ppt/slides/slide12.xml" Id="R49c0f5dd56f84e8b" /><Relationship Type="http://schemas.openxmlformats.org/officeDocument/2006/relationships/slide" Target="/ppt/slides/slide13.xml" Id="R2f0c0ac6b9bc44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24e41e0f264e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e579dd5f574765" /><Relationship Type="http://schemas.openxmlformats.org/officeDocument/2006/relationships/notesMaster" Target="/ppt/notesMasters/notesMaster1.xml" Id="R8ce8ce2a984046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347ff2b9bb4adc" /><Relationship Type="http://schemas.openxmlformats.org/officeDocument/2006/relationships/notesMaster" Target="/ppt/notesMasters/notesMaster1.xml" Id="R7155a82a9e8244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d4a9eb111d46c0" /><Relationship Type="http://schemas.openxmlformats.org/officeDocument/2006/relationships/notesMaster" Target="/ppt/notesMasters/notesMaster1.xml" Id="R417af3f2a4a54b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f38b39eb5f46f8" /><Relationship Type="http://schemas.openxmlformats.org/officeDocument/2006/relationships/notesMaster" Target="/ppt/notesMasters/notesMaster1.xml" Id="R61dc7bf2573247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112569864e476d" /><Relationship Type="http://schemas.openxmlformats.org/officeDocument/2006/relationships/notesMaster" Target="/ppt/notesMasters/notesMaster1.xml" Id="R81304c9db57943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350c82bc1d4854" /><Relationship Type="http://schemas.openxmlformats.org/officeDocument/2006/relationships/notesMaster" Target="/ppt/notesMasters/notesMaster1.xml" Id="Rb3b19763211343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e949695e524a44" /><Relationship Type="http://schemas.openxmlformats.org/officeDocument/2006/relationships/notesMaster" Target="/ppt/notesMasters/notesMaster1.xml" Id="Re799f7b254954b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581a12a63643bd" /><Relationship Type="http://schemas.openxmlformats.org/officeDocument/2006/relationships/notesMaster" Target="/ppt/notesMasters/notesMaster1.xml" Id="Ra50d26d0ab7442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e4cdb067424218" /><Relationship Type="http://schemas.openxmlformats.org/officeDocument/2006/relationships/notesMaster" Target="/ppt/notesMasters/notesMaster1.xml" Id="R475e2bc6e49a4b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5a5ef011494533" /><Relationship Type="http://schemas.openxmlformats.org/officeDocument/2006/relationships/notesMaster" Target="/ppt/notesMasters/notesMaster1.xml" Id="Rdc2028e05f6048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52b01f5c2f4d45" /><Relationship Type="http://schemas.openxmlformats.org/officeDocument/2006/relationships/notesMaster" Target="/ppt/notesMasters/notesMaster1.xml" Id="R3eaf71cf0f7a4e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7553aa52ef4948" /><Relationship Type="http://schemas.openxmlformats.org/officeDocument/2006/relationships/notesMaster" Target="/ppt/notesMasters/notesMaster1.xml" Id="Rc329440e16eb4c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ee89cc05574ec1" /><Relationship Type="http://schemas.openxmlformats.org/officeDocument/2006/relationships/notesMaster" Target="/ppt/notesMasters/notesMaster1.xml" Id="Ra9df95e53fba4a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1632186b8842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34e0746f5b4c8e" /><Relationship Type="http://schemas.openxmlformats.org/officeDocument/2006/relationships/slideLayout" Target="/ppt/slideLayouts/slideLayout1.xml" Id="Rb135c29f50874d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35c29f50874d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ea417d5f34580" /><Relationship Type="http://schemas.openxmlformats.org/officeDocument/2006/relationships/notesSlide" Target="/ppt/notesSlides/notesSlide1.xml" Id="R2f5be58a8cbe47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dd4ef458a4b02" /><Relationship Type="http://schemas.openxmlformats.org/officeDocument/2006/relationships/notesSlide" Target="/ppt/notesSlides/notesSlide2.xml" Id="R62c9a8c3360e40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5c9e978cc45d1" /><Relationship Type="http://schemas.openxmlformats.org/officeDocument/2006/relationships/notesSlide" Target="/ppt/notesSlides/notesSlide3.xml" Id="R7cd534db93ce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527aba23c49c4" /><Relationship Type="http://schemas.openxmlformats.org/officeDocument/2006/relationships/notesSlide" Target="/ppt/notesSlides/notesSlide4.xml" Id="R7f975fc4f40740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6c82eb1914e58" /><Relationship Type="http://schemas.openxmlformats.org/officeDocument/2006/relationships/notesSlide" Target="/ppt/notesSlides/notesSlide5.xml" Id="R6a45c69dabc844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971d3bf2b4058" /><Relationship Type="http://schemas.openxmlformats.org/officeDocument/2006/relationships/notesSlide" Target="/ppt/notesSlides/notesSlide6.xml" Id="Ra3cf8b3ca16d46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836b5ba634d22" /><Relationship Type="http://schemas.openxmlformats.org/officeDocument/2006/relationships/notesSlide" Target="/ppt/notesSlides/notesSlide7.xml" Id="R40a423c78a4d4a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1349fa3764348" /><Relationship Type="http://schemas.openxmlformats.org/officeDocument/2006/relationships/notesSlide" Target="/ppt/notesSlides/notesSlide8.xml" Id="R0fdfecb1c08745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c052c27b7447f" /><Relationship Type="http://schemas.openxmlformats.org/officeDocument/2006/relationships/notesSlide" Target="/ppt/notesSlides/notesSlide9.xml" Id="R76abdf065a2841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8d470b0584534" /><Relationship Type="http://schemas.openxmlformats.org/officeDocument/2006/relationships/notesSlide" Target="/ppt/notesSlides/notesSlide10.xml" Id="Rcb68e20115774f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4f211b203401d" /><Relationship Type="http://schemas.openxmlformats.org/officeDocument/2006/relationships/notesSlide" Target="/ppt/notesSlides/notesSlide11.xml" Id="R5911e4fa76a84c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0e416b577479c" /><Relationship Type="http://schemas.openxmlformats.org/officeDocument/2006/relationships/notesSlide" Target="/ppt/notesSlides/notesSlide12.xml" Id="R18ce18b8bf2c46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2a98b9a31492a" /><Relationship Type="http://schemas.openxmlformats.org/officeDocument/2006/relationships/notesSlide" Target="/ppt/notesSlides/notesSlide13.xml" Id="Rb297310cdf3e4d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C7496106-8102-4C74-AB7B-ED4F23DA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8BD84BD-FA7B-45DF-B98B-C1FFD1A4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868B382E-E61F-473D-9271-2E438628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5E34D99-7551-4BAA-BC74-CC1EE5C4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311B451-6920-46F9-84A9-B224877B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08C90C6-88AB-4F47-A5F4-F0CF9860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C8123B3-267D-42A7-A692-97A09309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1733D56-B424-41B4-86F5-74206FA9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交通与智慧机场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73D0669-BDB2-4F54-9972-2170C32C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用多模态交通大模型案例解释机场运行数据、知识服务、智慧运维和应急场景的系统集成。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6A623853-6F13-41AF-8DCD-BA5A66F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机场是一套持续运行的交通系统。航班计划、实时状态、气象、机位、行李、设备工单、道路接驳和旅客服务彼此关联，任何一个系统延迟或对象编码不一致，都可能让看似合理的模型回答失去意义…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612ED5A-03D4-45D1-8B4F-F691F508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259083C-3945-4E78-8D6F-BF03E435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IN-006 · IN-006-S01</a:t>
            </a:r>
          </a:p>
        </p:txBody>
      </p:sp>
    </p:spTree>
    <p:extLst>
      <p:ext uri="{BB962C8B-B14F-4D97-AF65-F5344CB8AC3E}">
        <p14:creationId xmlns:p14="http://schemas.microsoft.com/office/powerpoint/2010/main" val="2980854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465282D3-EAD8-4A5F-B5F3-267277DB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2FCE843-F33C-4B48-8E9C-A695BD1E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49AD0FB-30F6-4240-BDB4-08D572AF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4A5C900-63CC-4B64-A922-5C29FBF2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9DEB9CE-E328-4560-B892-9EB2EEB6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D38D033-5B77-4B36-A55E-8F3ABB53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说明航班、气象、旅客、设备、视频和地面交通数据如何按统一时空语义融合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2C02E4C-A567-44FC-A356-F2E559A1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分别设计机场知识服务、设备运维和应急协同任务的人机流程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8D878E6D-6959-494D-AD2D-EFBAF0A1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为三类任务选择可复现的质量、时效、安全和人工接管指标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73269B52-5902-449C-AB5A-4F15CB17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解释历史回放、影子运行、演练与岗位确认如何保护真实运行系统</a:t>
            </a:r>
          </a:p>
        </p:txBody>
      </p:sp>
    </p:spTree>
    <p:extLst>
      <p:ext uri="{BB962C8B-B14F-4D97-AF65-F5344CB8AC3E}">
        <p14:creationId xmlns:p14="http://schemas.microsoft.com/office/powerpoint/2010/main" val="18006707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4D4D43A8-F754-4D29-AC8B-47DC6498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32CC56E9-93F9-4E38-8DBC-639094D7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659CCDA7-30CA-41BA-870A-533ECBFE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CA72AFAC-36D1-46D7-91D8-5FDCE604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094F0A86-1100-4C4E-9EBF-45178FDB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BBB4A93-FE2B-40F9-8A93-63CBB68C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E94C17F-0CE3-49A8-B0FB-494E0DD5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数据融合先统一对象与时空基准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D3654C4-54CF-46CB-84B7-9CD40B38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3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场数据来自不同系统，更新节奏也不同。航班计划描述预期，运行状态描述当前变化，气象给出观测与预报，设备系统记录告警和维修，视频与门禁反映局部现场。融合前要统一航班、区域、设备、车辆和事件的标识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492E94D-9CD0-4ED0-A2C7-F6A36ED7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DECA204-C1FD-43B4-8A48-A13FB820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“接入成功”不等于“可以使用”。系统应记录每条数据的来源、更新时间、质量等级、缺失情况和访问范围。时钟偏差、重复事件、设备离线与人工补录都要显式标记。对于视频、人员轨迹等敏感数据…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7237525-EC5B-402B-8C61-917ABE4F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4234554-271E-48D6-B3E9-851C49CF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语义层把不同系统的对象关系连接起来，例如航班使用哪个机位、机位关联哪些保障设备、告警发生在哪个区域、对应哪份规程。关系图可以帮助检索，但不能覆盖原始记录…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A1D76FF7-1C4F-4C77-81D7-F6C642F0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D3CB6279-EBE3-46B6-BE17-384ED143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</p:spTree>
    <p:extLst>
      <p:ext uri="{BB962C8B-B14F-4D97-AF65-F5344CB8AC3E}">
        <p14:creationId xmlns:p14="http://schemas.microsoft.com/office/powerpoint/2010/main" val="2500212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32243F2-052A-4FCD-8D1C-E7545A3F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F02C3A5F-4E3C-4552-B118-A1932E1E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8267CE9-9395-4092-8435-D3986971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知识服务可以覆盖运行规程、设备手册、岗位问答和旅客服务信息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97F11B6-4E1E-45F7-A7D3-F050F55E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DF3BA62-2EB9-4530-84A7-3EFC49CD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386AC1A-666F-4BC4-B2DB-7F14102F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E7B7ED6-4048-4271-A0AB-C0A75787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知识服务：答案必须附有效依据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ACF5C14-4211-44CA-B700-DA2A67CA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知识服务可以覆盖运行规程、设备手册、岗位问答和旅客服务信息。入库资料应标明责任部门、版本、生效时间、适用区域和替代关系。用户提问后，系统先识别角色与任务，再从其有权访问的有效资料中检索…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ACF73BF-C864-4D92-B850-4063B380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D6F5B8D-11E5-4A55-ABD0-000E33D0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评测不能只看关键词命中。应检查引用是否真实存在、原文是否支持答案、是否使用当前版本、该拒答的问题有没有拒答、需要转岗的问题有没有正确转交。遇到资料冲突、状态数据过期或超出知识范围时…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A0F9E8C9-DC31-412E-B8A4-C43D8C3D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3A5B9B2-1CFA-4587-96B3-A1310684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知识服务可以覆盖运行规程、设备手册、岗位问答和旅客服务信息</a:t>
            </a:r>
          </a:p>
        </p:txBody>
      </p:sp>
    </p:spTree>
    <p:extLst>
      <p:ext uri="{BB962C8B-B14F-4D97-AF65-F5344CB8AC3E}">
        <p14:creationId xmlns:p14="http://schemas.microsoft.com/office/powerpoint/2010/main" val="18322792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6DDDA1BB-83B9-490A-A11F-93A8A672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44A9ABD3-C6B2-45A4-95D6-18EA28E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3855A1C8-072D-4208-96F7-C5FA7FEC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BD9F9760-19FA-4AAC-B368-2FDD1FF8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32FCBE2-F639-4E7A-BE92-8D769217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99A5BA8-CFBD-4E19-92E6-91FD6C5B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52BF9F-B1FC-4159-A2EA-6B48EAC7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智慧运维：从告警汇总到处置建议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BDC1FFE-4C0F-45EE-AD4A-ED376EA4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运维任务可结合传感器、巡检、报警、维修历史和备件信息，识别重复故障或异常趋势。模型适合整理时间线、检索相似工单、呈现相关规程和生成检查清单，但不能仅凭历史相似度下达控制指令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85CC434-4924-45BA-B8CA-8FB55965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4DEF49E-4EA8-47BA-A2A8-54E5E305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可执行建议应包含设备身份、当前工况、相关信号、可能影响、依据、建议检查和不确定性。值班人员需要现场复测，工程师结合运行窗口和安全要求决定是否处理。处置结果回写后，团队才能区分真实预警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B3A4FD3-FA88-442D-997B-36A11142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F22B778-02D3-4D8D-8CCB-8AF10447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运维评测应同时观察漏报、误报、提前量、建议可执行性、人工采纳与处置结果。平均准确率可能掩盖少见但关键的设备状态，所以应按设备类型、工况、班次和异常种类分层分析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9FBDB0F-97A1-4C62-A1F8-D5746DA5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FE2DBEB-4A73-45A6-9455-6A9C7204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</p:spTree>
    <p:extLst>
      <p:ext uri="{BB962C8B-B14F-4D97-AF65-F5344CB8AC3E}">
        <p14:creationId xmlns:p14="http://schemas.microsoft.com/office/powerpoint/2010/main" val="956794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F9BC23B0-A085-4CD0-A8F4-0C280D70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42460A0-3C5D-4867-9294-88BA2061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4B4B94B6-6011-42E8-86FA-4D16027B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极端天气、系统故障或地面交通中断发生时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A3110DD-0D87-43E2-8D26-DD38044E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E53855D-2F15-49F9-AA85-C8EDB369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3CF6BFE-16A1-4B7B-8312-90B30BF1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26C8526-E47D-45C4-981B-C447F773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应急协同：整理共同态势而非自动指挥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6128E30-99C1-4F53-8DF6-3C371D1D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极端天气、系统故障或地面交通中断发生时，AI 可以汇总事件时间线、受影响对象、有效预案、可用资源和待确认信息。不同岗位看到的内容应符合职责范围；来自传感器…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9813874-A885-4D00-BD47-DF28D65A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9FAA8B4-29C0-4FEA-83C3-0E83D831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应急输出要区分已确认事实、未确认报告、模型推断和建议行动。启动预案、改变运行方式、调配关键资源等决定由授权岗位按照现行程序作出。系统应保留每次引用、修改、批准和交接记录…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6820EDC-2980-4395-B856-526E3654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B4FB0E8A-FCF8-4AE8-8D7B-70532D1A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极端天气、系统故障或地面交通中断发生时</a:t>
            </a:r>
          </a:p>
        </p:txBody>
      </p:sp>
    </p:spTree>
    <p:extLst>
      <p:ext uri="{BB962C8B-B14F-4D97-AF65-F5344CB8AC3E}">
        <p14:creationId xmlns:p14="http://schemas.microsoft.com/office/powerpoint/2010/main" val="758414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3385AB2-108D-4E33-9531-379D8E42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AEEF706-8943-4F56-81DE-89AB0089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B8469FF-EF29-4853-8DA7-1E7A0892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FE7E2F3-D409-4F54-8522-305BE350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24200A1F-72AD-4301-AE75-FB2BD7BE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DD071A1-39F9-4AE0-B27F-2285718C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C1086D1-2C7F-453A-A880-ABB49E99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场景化评测与影子运行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1076E88-EF6D-4C5B-865C-1DE11EBE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知识、运维和应急是三类不同任务，不能用同一个综合分数判断。知识服务重视事实、引用、版本与拒答；运维重视异常发现、误报漏报、提前量和可执行性；应急协同重视信息完整、冲突提示、预案匹配…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299AA98-3F01-434F-9842-3A8152A7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4B95628-D2E0-45E8-9508-8D9C8797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上线前可使用历史事件回放、仿真数据和桌面演练。随后进入影子运行：系统在真实数据上生成建议，但不写回控制系统，也不改变岗位决定；业务人员将其与实际处置比较。只有在不同天气、流量…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0B1C609-3DD7-4ED6-AE84-70FD94FF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FA4C09D-1E82-4D10-A78F-029CEAA8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影子运行也要设置停止条件。出现越权访问、关键事实无来源、应转人工却自动输出、严重延迟或无法回退时，应暂停测试并调查。模型、知识资料、数据接口或业务程序变更后，原有结论不能自动沿用，必须重新验证…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3117A93-3B95-46CA-9BCA-546002F2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B65A634-A20A-4205-9DA3-2CD74EC4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</p:spTree>
    <p:extLst>
      <p:ext uri="{BB962C8B-B14F-4D97-AF65-F5344CB8AC3E}">
        <p14:creationId xmlns:p14="http://schemas.microsoft.com/office/powerpoint/2010/main" val="18673927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59FFFBB-25FF-4C6E-9179-1557DEC0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27C111B-9478-4176-8A4D-9F909D2E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7D1A319F-85D9-47CB-AE27-D5C63552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418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确认人员必须具备对应岗位权限，并能查看原始数据、引用、冲突和模型版本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862E2EB-F528-4D69-B771-B3D258C4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D633CD6C-5B78-454E-8D72-F148622E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9BB2D88-FAAE-4102-B595-0A34365F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88B3F40-0D25-46E7-B5AA-7D59EDF5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人工确认不是形式按钮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4F8C402-BAF5-463E-8A2A-56211243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确认人员必须具备对应岗位权限，并能查看原始数据、引用、冲突和模型版本。界面应允许修改、拒绝、说明理由和转交，而不是只提供“同意”。高风险动作还应执行既有双人确认、联锁或指挥程序…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A2B50A2-DD6F-4899-BF41-A1C87037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2D4E981-58C0-47BC-9F86-1788DD02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长期运行需要明确系统所有者、数据责任人、模型维护者和业务审批人。技术团队负责可用性和监测，业务岗位负责运行判断，安全与合规人员审查访问与变更；责任边界应写进流程而不是留在口头约定中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E27271A6-C3EB-4EE2-A4E3-CB66844A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5D6DA963-D89B-4158-AA27-E881F015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确认人员必须具备对应岗位权限，并能查看原始数据、引用、冲突和模型版本</a:t>
            </a:r>
          </a:p>
        </p:txBody>
      </p:sp>
    </p:spTree>
    <p:extLst>
      <p:ext uri="{BB962C8B-B14F-4D97-AF65-F5344CB8AC3E}">
        <p14:creationId xmlns:p14="http://schemas.microsoft.com/office/powerpoint/2010/main" val="921394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99B0A61-A81E-40B4-BFC3-819650A6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5CB299B-CAF6-4328-8442-B36824CA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E40A7982-0AF3-4C1A-B92C-07F879DF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ACE95514-693C-446B-A40F-FB1CC781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34F8E722-94D8-437A-BC7C-2E44D33A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353C2F8-2D2B-49DF-8AD3-58CFD076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极端天气下的机场运行信息助手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58B5E67-C0D0-417C-BF68-C2951ABB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输入｜航班状态、气象更新、机位与设备状态、地面接驳信息以及现行应急程序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D6E1554-D4DC-4444-91F5-A9811D9C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机制｜系统按统一时间线关联受影响对象，列出已确认事实、信息冲突、适用程序和缺失字段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7E9DA7F8-BFAF-476F-82C5-9A7CA84A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结果｜值班人员获得带来源的态势摘要和候选检查项，系统不自行启动预案或调配资源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1A9218F-6922-475C-AC6E-5CF84025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边界｜授权岗位核对业务系统和现场报告后作出决定；所有修改、批准和交接进入审计记录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357DC9C8-D740-40E8-8A51-9B657B51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A9F4103-EAC6-439C-B4A9-1D42FE84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</p:spTree>
    <p:extLst>
      <p:ext uri="{BB962C8B-B14F-4D97-AF65-F5344CB8AC3E}">
        <p14:creationId xmlns:p14="http://schemas.microsoft.com/office/powerpoint/2010/main" val="1092690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D155DE8-D7A4-45E5-B0CB-7C274CAC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50E2BBA-8095-4AC8-A44D-5AF4DF45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975E302-2C83-45E9-852B-07D01887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9F342E04-8292-4D64-9209-1DDA74E4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ACEAC862-9759-4790-A7A5-1D819133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0A39694-8332-4B2C-8146-5F3D76DA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行李设备异常的影子评测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E36A23F-D6CF-4F09-BDF7-388F03BF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设计｜模型并行读取报警和工单，只生成异常线索，不连接设备控制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36467F8-29D0-4FEB-846B-FB9BFB63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验证｜运维人员记录真实检查与处置，评测模型是否遗漏关键异常、是否产生无意义告警、建议能否在规定时间内核验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FA6F4D3-BBAE-45F2-8F64-D06913EA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边界｜达到预设门槛后也只逐步开放工单草稿等低风险能力，设备动作继续由现有系统和岗位控制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EB69303F-E318-467F-9B85-514021A4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264526A-408B-46D7-8584-05DC40A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</p:spTree>
    <p:extLst>
      <p:ext uri="{BB962C8B-B14F-4D97-AF65-F5344CB8AC3E}">
        <p14:creationId xmlns:p14="http://schemas.microsoft.com/office/powerpoint/2010/main" val="7713191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BFACFA43-AB03-4C4E-9B2E-CB1A8727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69EFA9F-774F-4687-A6B3-C19B69A8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46A2A79-F3B6-4E25-9866-F8B8EE86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9A159657-4005-47B9-B390-7032DF7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A70C701E-DC79-4813-86B3-C91FA8B7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766574DE-BAD6-4744-8FEF-4AE43C61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4D63C836-17A2-4E40-8F9F-3C357DDE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FC8CA84-88D0-4831-966D-04F2BA34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选择一个机场任务，列出五类输入数据，并为每类填写对象标识、时间、位置、质量、更新频率和访问权限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E433B7DF-5EA1-4E60-AA39-5009FA33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EFA9673-1B03-49BB-A9AB-65A4C896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25013A59-3D46-4EE3-9B24-0BC9D504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3F1108E-3A83-4F20-AB15-930C0C4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分别为知识问答、运维预警和应急协同设计三项指标，说明为何不能把它们合成一个平均分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12D9CBB4-D1A7-4521-8126-8BCEF94B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4F34A87E-9B49-47ED-BDCC-CB188116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0803ECD7-BBB3-4278-9FF8-931F1633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3F53514-E8F9-4B2C-AC43-64920772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画出影子运行流程，写明建议如何展示、谁来确认、哪些事件立即暂停、模型失效时如何回到原流程</a:t>
            </a:r>
          </a:p>
        </p:txBody>
      </p:sp>
    </p:spTree>
    <p:extLst>
      <p:ext uri="{BB962C8B-B14F-4D97-AF65-F5344CB8AC3E}">
        <p14:creationId xmlns:p14="http://schemas.microsoft.com/office/powerpoint/2010/main" val="10725071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1CD55ED3-A9A4-4D16-AA48-A8BD417C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EE65F5F4-0E25-49BF-BA80-4163AE3D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F9AA9846-7E12-4216-9D9D-B6244AE0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35F061E-9A4A-4385-9A6E-6FAEF0FE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BD37B82D-56FA-4899-BB6E-1C6744CB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0DB7F4F7-ECDA-442B-ACCC-DA49EB85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E9D0329F-3560-4615-BDD4-1DDDE446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A80BC6C-19DE-4E63-B4F6-CDF391DE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5F2D84B-6AA4-410B-8EB4-C26EA3CD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C61BED5-AFC5-448B-A1E1-7B547EB2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697BBC8-39F9-40FA-B17B-9CD3C943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439C917-1938-49A6-A3A9-E9AFC3A1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32B12EAC-02B6-4120-A539-423E8FE8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EA8EE71-9BD9-42E1-9CD7-2D68DEEB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D451E0B1-86D9-4543-A9B1-4B0533FA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E14D5FE-574D-4B21-BCC5-DBD6CE5A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确认人员必须具备对应岗位权限，并能查看原始数据、引用、冲突和模型版本</a:t>
            </a:r>
          </a:p>
        </p:txBody>
      </p:sp>
    </p:spTree>
    <p:extLst>
      <p:ext uri="{BB962C8B-B14F-4D97-AF65-F5344CB8AC3E}">
        <p14:creationId xmlns:p14="http://schemas.microsoft.com/office/powerpoint/2010/main" val="1678720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F757B744-E69A-4E2A-AD81-53FAD06C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28859C2B-C996-46E1-AFAD-A275C517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B2726B0E-3185-4D48-AEA4-83BCB575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6BC1BFBB-1249-48BD-8660-C19EFFD6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E08A97A1-6B9F-4E42-9CC8-6BB050F5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EC6C284-164C-4BE4-9AC6-FED3F4C7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394F8AF-F93B-4B9C-81C4-F4109F63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ICAO：Safety Management Manual（Doc 9859）：安全管理原则、国家安全方案与安全管理体系指导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2D86FB5-C8DB-4ECE-AACC-5DE4D95B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ICAO：Annex 14 — Aerodromes：机场设计、运行及相关设施的标准与建议措施入口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B3F05DCF-7503-41BB-9708-2A70C737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实际机场应用应以民航主管部门、机场运行单位和设备安全管理的现行规范为准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4F5AE1A7-3E78-4C38-BE03-7E15FA6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4DD5F844-8D21-463A-A0C3-38065A5C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4753057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2026-07-11T12:05:45.7600000Z</dcterms:created>
  <dcterms:modified xsi:type="dcterms:W3CDTF">2026-07-11T12:05:45.7600000Z</dcterms:modified>
</coreProperties>
</file>