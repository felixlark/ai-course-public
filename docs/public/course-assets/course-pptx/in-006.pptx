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059c0f8a05647bf" /><Relationship Type="http://schemas.openxmlformats.org/officeDocument/2006/relationships/extended-properties" Target="/docProps/app.xml" Id="Rcf3537ad17a24ebe" /><Relationship Type="http://schemas.openxmlformats.org/officeDocument/2006/relationships/officeDocument" Target="/ppt/presentation.xml" Id="Rf20aa546424f4aa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b3cb6083ca4750"/>
  </p:sldMasterIdLst>
  <p:notesMasterIdLst>
    <p:notesMasterId xmlns:r="http://schemas.openxmlformats.org/officeDocument/2006/relationships" r:id="Red78e92ce0994fb6"/>
  </p:notesMasterIdLst>
  <p:sldIdLst>
    <p:sldId xmlns:r="http://schemas.openxmlformats.org/officeDocument/2006/relationships" id="256" r:id="Radfa610322604e2f"/>
    <p:sldId xmlns:r="http://schemas.openxmlformats.org/officeDocument/2006/relationships" id="257" r:id="Rdfa4270275cd4a91"/>
    <p:sldId xmlns:r="http://schemas.openxmlformats.org/officeDocument/2006/relationships" id="258" r:id="R3cf23fbb78aa4618"/>
    <p:sldId xmlns:r="http://schemas.openxmlformats.org/officeDocument/2006/relationships" id="259" r:id="Rc713a5754dd14b62"/>
    <p:sldId xmlns:r="http://schemas.openxmlformats.org/officeDocument/2006/relationships" id="260" r:id="Rea895e6e9d834455"/>
    <p:sldId xmlns:r="http://schemas.openxmlformats.org/officeDocument/2006/relationships" id="261" r:id="Rfd0f41b9d579406c"/>
    <p:sldId xmlns:r="http://schemas.openxmlformats.org/officeDocument/2006/relationships" id="262" r:id="Rcab876f95632472c"/>
    <p:sldId xmlns:r="http://schemas.openxmlformats.org/officeDocument/2006/relationships" id="263" r:id="R55310caa92b04357"/>
    <p:sldId xmlns:r="http://schemas.openxmlformats.org/officeDocument/2006/relationships" id="264" r:id="R7433557b806b4b1e"/>
    <p:sldId xmlns:r="http://schemas.openxmlformats.org/officeDocument/2006/relationships" id="265" r:id="R50809d95862445f5"/>
    <p:sldId xmlns:r="http://schemas.openxmlformats.org/officeDocument/2006/relationships" id="266" r:id="R3c7752eae6e847d2"/>
    <p:sldId xmlns:r="http://schemas.openxmlformats.org/officeDocument/2006/relationships" id="267" r:id="R95e2e3189cb84ab3"/>
    <p:sldId xmlns:r="http://schemas.openxmlformats.org/officeDocument/2006/relationships" id="268" r:id="R45eaf1251fe746e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88727f42db49cc" /><Relationship Type="http://schemas.openxmlformats.org/officeDocument/2006/relationships/slideMaster" Target="/ppt/slideMasters/slideMaster1.xml" Id="Ra0b3cb6083ca4750" /><Relationship Type="http://schemas.openxmlformats.org/officeDocument/2006/relationships/notesMaster" Target="/ppt/notesMasters/notesMaster1.xml" Id="Red78e92ce0994fb6" /><Relationship Type="http://schemas.openxmlformats.org/officeDocument/2006/relationships/presProps" Target="/ppt/presProps.xml" Id="Rb22f864524a4418d" /><Relationship Type="http://schemas.openxmlformats.org/officeDocument/2006/relationships/tableStyles" Target="/ppt/tableStyles.xml" Id="R1e51821002d0465b" /><Relationship Type="http://schemas.openxmlformats.org/officeDocument/2006/relationships/slide" Target="/ppt/slides/slide1.xml" Id="Radfa610322604e2f" /><Relationship Type="http://schemas.openxmlformats.org/officeDocument/2006/relationships/slide" Target="/ppt/slides/slide2.xml" Id="Rdfa4270275cd4a91" /><Relationship Type="http://schemas.openxmlformats.org/officeDocument/2006/relationships/slide" Target="/ppt/slides/slide3.xml" Id="R3cf23fbb78aa4618" /><Relationship Type="http://schemas.openxmlformats.org/officeDocument/2006/relationships/slide" Target="/ppt/slides/slide4.xml" Id="Rc713a5754dd14b62" /><Relationship Type="http://schemas.openxmlformats.org/officeDocument/2006/relationships/slide" Target="/ppt/slides/slide5.xml" Id="Rea895e6e9d834455" /><Relationship Type="http://schemas.openxmlformats.org/officeDocument/2006/relationships/slide" Target="/ppt/slides/slide6.xml" Id="Rfd0f41b9d579406c" /><Relationship Type="http://schemas.openxmlformats.org/officeDocument/2006/relationships/slide" Target="/ppt/slides/slide7.xml" Id="Rcab876f95632472c" /><Relationship Type="http://schemas.openxmlformats.org/officeDocument/2006/relationships/slide" Target="/ppt/slides/slide8.xml" Id="R55310caa92b04357" /><Relationship Type="http://schemas.openxmlformats.org/officeDocument/2006/relationships/slide" Target="/ppt/slides/slide9.xml" Id="R7433557b806b4b1e" /><Relationship Type="http://schemas.openxmlformats.org/officeDocument/2006/relationships/slide" Target="/ppt/slides/slide10.xml" Id="R50809d95862445f5" /><Relationship Type="http://schemas.openxmlformats.org/officeDocument/2006/relationships/slide" Target="/ppt/slides/slide11.xml" Id="R3c7752eae6e847d2" /><Relationship Type="http://schemas.openxmlformats.org/officeDocument/2006/relationships/slide" Target="/ppt/slides/slide12.xml" Id="R95e2e3189cb84ab3" /><Relationship Type="http://schemas.openxmlformats.org/officeDocument/2006/relationships/slide" Target="/ppt/slides/slide13.xml" Id="R45eaf1251fe746e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d6196c02f042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0a7ebd6be5a4f1d" /><Relationship Type="http://schemas.openxmlformats.org/officeDocument/2006/relationships/notesMaster" Target="/ppt/notesMasters/notesMaster1.xml" Id="R71e159070de346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d7cf42897a44e7" /><Relationship Type="http://schemas.openxmlformats.org/officeDocument/2006/relationships/notesMaster" Target="/ppt/notesMasters/notesMaster1.xml" Id="R1838619f4abb4a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ee76f909124906" /><Relationship Type="http://schemas.openxmlformats.org/officeDocument/2006/relationships/notesMaster" Target="/ppt/notesMasters/notesMaster1.xml" Id="R1865664a437945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0da4dc1df54bf6" /><Relationship Type="http://schemas.openxmlformats.org/officeDocument/2006/relationships/notesMaster" Target="/ppt/notesMasters/notesMaster1.xml" Id="Rd10a4a6be44242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dc4cde451a4c6c" /><Relationship Type="http://schemas.openxmlformats.org/officeDocument/2006/relationships/notesMaster" Target="/ppt/notesMasters/notesMaster1.xml" Id="R6ab31268904d41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d683d2007040be" /><Relationship Type="http://schemas.openxmlformats.org/officeDocument/2006/relationships/notesMaster" Target="/ppt/notesMasters/notesMaster1.xml" Id="Rada96e160a2b4b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4ea7184808047da" /><Relationship Type="http://schemas.openxmlformats.org/officeDocument/2006/relationships/notesMaster" Target="/ppt/notesMasters/notesMaster1.xml" Id="R5f1ade51e69747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a3c85e1b024bcd" /><Relationship Type="http://schemas.openxmlformats.org/officeDocument/2006/relationships/notesMaster" Target="/ppt/notesMasters/notesMaster1.xml" Id="Ra8372fe0f99e4f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5ed1b92a8248fa" /><Relationship Type="http://schemas.openxmlformats.org/officeDocument/2006/relationships/notesMaster" Target="/ppt/notesMasters/notesMaster1.xml" Id="R8494f54665f543e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c3c028559941c7" /><Relationship Type="http://schemas.openxmlformats.org/officeDocument/2006/relationships/notesMaster" Target="/ppt/notesMasters/notesMaster1.xml" Id="Rc4f375d8a44044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b38791f962f4818" /><Relationship Type="http://schemas.openxmlformats.org/officeDocument/2006/relationships/notesMaster" Target="/ppt/notesMasters/notesMaster1.xml" Id="Rdb433a04a08149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0bcf134b534158" /><Relationship Type="http://schemas.openxmlformats.org/officeDocument/2006/relationships/notesMaster" Target="/ppt/notesMasters/notesMaster1.xml" Id="Rc2ef435ef8af452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5c074bdc6524b30" /><Relationship Type="http://schemas.openxmlformats.org/officeDocument/2006/relationships/notesMaster" Target="/ppt/notesMasters/notesMaster1.xml" Id="R42daf3a578f748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b6fa9f0451459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fd6f68fbe44d9d" /><Relationship Type="http://schemas.openxmlformats.org/officeDocument/2006/relationships/slideLayout" Target="/ppt/slideLayouts/slideLayout1.xml" Id="R51bbd0de9a754e3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bbd0de9a754e3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994aba934a4c01" /><Relationship Type="http://schemas.openxmlformats.org/officeDocument/2006/relationships/notesSlide" Target="/ppt/notesSlides/notesSlide1.xml" Id="R3ffda7c73fab4c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045515f88942de" /><Relationship Type="http://schemas.openxmlformats.org/officeDocument/2006/relationships/notesSlide" Target="/ppt/notesSlides/notesSlide2.xml" Id="R0d106e560e3e48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235b25d0b44c0" /><Relationship Type="http://schemas.openxmlformats.org/officeDocument/2006/relationships/notesSlide" Target="/ppt/notesSlides/notesSlide3.xml" Id="R371e7a5508534d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df3a72de04677" /><Relationship Type="http://schemas.openxmlformats.org/officeDocument/2006/relationships/notesSlide" Target="/ppt/notesSlides/notesSlide4.xml" Id="R9fca110878d240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dff98c2d9c4c0c" /><Relationship Type="http://schemas.openxmlformats.org/officeDocument/2006/relationships/notesSlide" Target="/ppt/notesSlides/notesSlide5.xml" Id="R49cea41adc6045a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e3132012f4e37" /><Relationship Type="http://schemas.openxmlformats.org/officeDocument/2006/relationships/notesSlide" Target="/ppt/notesSlides/notesSlide6.xml" Id="R29f81ad58c2848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62f10c9184bd7" /><Relationship Type="http://schemas.openxmlformats.org/officeDocument/2006/relationships/notesSlide" Target="/ppt/notesSlides/notesSlide7.xml" Id="Ra1e8e23c4e764a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25cfb70f5408a" /><Relationship Type="http://schemas.openxmlformats.org/officeDocument/2006/relationships/notesSlide" Target="/ppt/notesSlides/notesSlide8.xml" Id="Re370f55281e5498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e081aa8c834aa2" /><Relationship Type="http://schemas.openxmlformats.org/officeDocument/2006/relationships/notesSlide" Target="/ppt/notesSlides/notesSlide9.xml" Id="Rd1b225c5ad6a42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fc67f42ece4b08" /><Relationship Type="http://schemas.openxmlformats.org/officeDocument/2006/relationships/notesSlide" Target="/ppt/notesSlides/notesSlide10.xml" Id="R8af0b6b3ca7148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0a20e3c9dc466f" /><Relationship Type="http://schemas.openxmlformats.org/officeDocument/2006/relationships/notesSlide" Target="/ppt/notesSlides/notesSlide11.xml" Id="Rc5e8418a5232438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8bf26fd3744b1c" /><Relationship Type="http://schemas.openxmlformats.org/officeDocument/2006/relationships/notesSlide" Target="/ppt/notesSlides/notesSlide12.xml" Id="Rfe6ce54a7bc74c8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2493fe38744199" /><Relationship Type="http://schemas.openxmlformats.org/officeDocument/2006/relationships/notesSlide" Target="/ppt/notesSlides/notesSlide13.xml" Id="R69fcbf729e024d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33AD1D86-B42D-4333-9156-CC133750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B1C134B6-FCCD-4248-B32D-40A523F9A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27B4B70F-F3E6-4D48-81DC-204C14B6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A8E00618-3F5C-4B3E-B91C-356A0133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719677ED-4291-4492-8FE0-C10E93DC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CBF182AF-BADD-46D6-A7A9-31DC343F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E26ED4E8-4774-4083-8936-342524E4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A862469-AFE0-479D-A469-4EADFDAB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交通与智慧机场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8292780-C2F9-4298-AF25-179D888C9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用多模态交通大模型案例解释机场运行数据、知识服务、智慧运维和应急场景的系统集成。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46D0A045-4265-40B8-9AE2-F88F747D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机场是一套持续运行的交通系统；航班计划、实时状态、气象、机位、行李、设备工单、道路接驳和旅客服务彼此关联；任何一个系统延迟或对象编码不一致；都可能让看似合理的模型回答失去意义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992FBDD6-0F25-4EF0-9FF4-AA5334C9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6615179E-8FF1-4D4A-827A-20006C03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IN-006 · IN-006-S01</a:t>
            </a:r>
          </a:p>
        </p:txBody>
      </p:sp>
    </p:spTree>
    <p:extLst>
      <p:ext uri="{BB962C8B-B14F-4D97-AF65-F5344CB8AC3E}">
        <p14:creationId xmlns:p14="http://schemas.microsoft.com/office/powerpoint/2010/main" val="15314893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6AE28F22-CF7B-45AA-9B91-043DED75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80A43E21-7D22-427D-9FEA-94DA5430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82A77DF3-CDAF-42BB-922B-CCFF19D0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交通与智慧机场：4项学习结果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5DEEB92F-7417-4A1D-B68D-49CDE262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5224DB64-F3E6-4C36-B413-6CEF118A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2406255B-AA8D-4BFE-A9F2-B675ED2A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说明航班、气象、旅客、设备、视频和地面交通数据如何按统一时空语义融合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8CB9F1A4-0BCF-416E-9738-3142F56A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分别设计机场知识服务、设备运维和应急协同任务的人机流程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43AC6996-C864-4D3F-A109-0953CC75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为三类任务选择可复现的质量、时效、安全和人工接管指标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87CA84E8-3EC9-427F-B435-8BDDCF84F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解释历史回放、影子运行、演练与岗位确认如何保护真实运行系统</a:t>
            </a:r>
          </a:p>
        </p:txBody>
      </p:sp>
    </p:spTree>
    <p:extLst>
      <p:ext uri="{BB962C8B-B14F-4D97-AF65-F5344CB8AC3E}">
        <p14:creationId xmlns:p14="http://schemas.microsoft.com/office/powerpoint/2010/main" val="4180602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3B25A709-D945-48EB-9BE7-F34CDCF2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54CD92AD-7591-40B1-994E-0CC3914D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3A024B44-DEB8-4EA2-993C-F31C8ABB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机场数据来自不同系统，更新节奏也不同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F6BB9273-D948-4F9A-AF2A-208F1B7B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F09482E1-A957-4ED1-9E6B-8BEB10DC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675DD04-D6B1-4BBD-9703-2AD1966B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40A5A0D-3D92-4ABE-93A2-9A985A90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数据融合先统一对象与时空基准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3439E8C-57F9-4F35-8857-45DBAF50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场数据来自不同系统；更新节奏也不同，航班计划描述预期；运行状态描述当前变化；气象给出观测与预报；设备系统记录告警和维修；视频与门禁反映局部现场；融合前要统一航班、区域、设备、车辆和事件的标识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3837CFE-7804-46D4-B577-495A4C60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1861262-BBFE-4726-9A07-F4B896A9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“接入成功”不等于“可以使用”；系统应记录每条数据的来源、更新时间、质量等级、缺失情况和访问范围；时钟偏差、重复事件、设备离线与人工补录都要显式标记；对于视频、人员轨迹等敏感数据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DB06DF75-CDB3-4F86-B93C-2BDB6241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7629347C-D1D3-499D-A775-40337D2C7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语义层把不同系统的对象关系连接起来；例如航班使用哪个机位、机位关联哪些保障设备、告警发生在哪个区域、对应哪份规程；关系图可以帮助检索；但不能覆盖原始记录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9550BE84-1605-4C02-A63B-7A82F3D3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6B0B4FF6-077F-4451-82BA-01E907F8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机场数据来自不同系统，更新节奏也不同</a:t>
            </a:r>
          </a:p>
        </p:txBody>
      </p:sp>
    </p:spTree>
    <p:extLst>
      <p:ext uri="{BB962C8B-B14F-4D97-AF65-F5344CB8AC3E}">
        <p14:creationId xmlns:p14="http://schemas.microsoft.com/office/powerpoint/2010/main" val="832720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EBFF5394-B9E9-4DF9-B6E3-B9676FB1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FD9D57D3-4C28-4AB3-AA22-1150443FA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E59150C1-6E82-4745-95CC-534FDAFF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知识服务必须返回仍然有效的依据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449B744C-F58E-4C03-A66F-EE7B15FC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F3217799-AE03-4137-AF33-25F9D414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95FFB71-9D3E-42F3-8CEE-252B396C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0CC04E9-A42F-47FF-9ADE-1107F9EE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知识服务：答案必须附有效依据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A6D1BF9-3798-44EF-8D0F-B2D526B2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知识服务可以覆盖运行规程、设备手册、岗位问答和旅客服务信息；入库资料应标明责任部门、版本、生效时间、适用区域和替代关系；用户提问后，系统先识别角色与任务；再从其有权访问的有效资料中检索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A8F6A5E-5E2B-4BC5-A7C1-6350D098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DD1DF1C-F9C4-48E5-9E31-A34DA336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评测不能只看关键词命中；应检查引用是否真实存在、原文是否支持答案、是否使用当前版本、该拒答的问题有没有拒答、需要转岗的问题有没有正确转交；遇到资料冲突、状态数据过期或超出知识范围时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F927F404-58C7-49ED-8E61-C2BBF78C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A5C0E903-7508-4930-B2C3-1063D5A3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知识服务必须返回仍然有效的依据</a:t>
            </a:r>
          </a:p>
        </p:txBody>
      </p:sp>
    </p:spTree>
    <p:extLst>
      <p:ext uri="{BB962C8B-B14F-4D97-AF65-F5344CB8AC3E}">
        <p14:creationId xmlns:p14="http://schemas.microsoft.com/office/powerpoint/2010/main" val="6353089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0BD5ECE2-1EB4-46FD-A2FE-8AC62A50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33B46056-1812-41C7-A417-EEDD01C5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A4DFFE1D-6853-4393-A176-D132013A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运维任务可结合传感器、巡检、报警、维修历史和备件信息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10954496-7AD5-4379-9181-19F1EE34A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4A461539-4754-4487-BB23-AC5A05AA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286A3AC-F2ED-4A34-9429-F047B8F5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C54C7E8-DF42-4CFF-B1DE-77F5B788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智慧运维：从告警汇总到处置建议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1889893-2A44-4A82-BC05-D4EA5F0A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运维任务可结合传感器、巡检、报警、维修历史和备件信息，识别重复故障或异常趋势。模型适合整理时间线、检索相似工单、呈现相关规程和生成检查清单，但不能仅凭历史相似度下达控制指令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0DD9B6B-6A02-491E-81E3-FE24A8EC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5D75349-F5F3-40EA-B8AB-D26BA86A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一条可执行建议应包含设备身份、当前工况、相关信号、可能影响、依据、建议检查和不确定性；值班人员需要现场复测；工程师结合运行窗口和安全要求决定是否处理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107A62FE-033C-4599-9310-037926A2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1D2F1732-B3CD-49EE-8783-9E3CAA1D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运维评测应同时观察漏报、误报、提前量、建议可执行性、人工采纳与处置结果。平均准确率可能掩盖少见但关键的设备状态，所以应按设备类型、工况、班次和异常种类分层分析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917F7D49-30DE-4F63-932A-25BCA366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B984655B-6A61-4F27-BD5C-CA30AF04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运维任务可结合传感器、巡检、报警、维修历史和备件信息</a:t>
            </a:r>
          </a:p>
        </p:txBody>
      </p:sp>
    </p:spTree>
    <p:extLst>
      <p:ext uri="{BB962C8B-B14F-4D97-AF65-F5344CB8AC3E}">
        <p14:creationId xmlns:p14="http://schemas.microsoft.com/office/powerpoint/2010/main" val="9530774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0E9166BA-B304-49EA-AE6A-D45CBAD6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6952AF75-DD97-42B1-9D28-09B63A15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884B6266-D67F-4FAC-9777-9194EF189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应急协同先统一态势，再由授权岗位决策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B0B3F759-9278-47A1-AD30-0685989A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2C28CF21-3764-4C76-9EB4-3BB2394F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B96380E-E254-4766-BC94-D94D06DB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4AF918E-59BA-47A8-ABDE-2BB8FD39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应急协同：整理共同态势而非自动指挥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A90741E-2899-4FD5-BF98-BF46CE11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极端天气、系统故障或地面交通中断发生时；AI 可以汇总事件时间线、受影响对象、有效预案、可用资源和待确认信息；不同岗位看到的内容应符合职责范围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176EE29-D1F8-4373-8158-E985ACA3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1752E84-675F-4B93-999B-F4D01D4F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应急输出要区分已确认事实、未确认报告、模型推断和建议行动；启动预案、改变运行方式、调配关键资源等决定由授权岗位按照现行程序作出；系统应保留每次引用、修改、批准和交接记录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75EBA89C-A0DC-44D0-A4F2-C93F8871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5C86007D-4B70-4A80-9F2A-873F9BEB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应急协同先统一态势，再由授权岗位决策</a:t>
            </a:r>
          </a:p>
        </p:txBody>
      </p:sp>
    </p:spTree>
    <p:extLst>
      <p:ext uri="{BB962C8B-B14F-4D97-AF65-F5344CB8AC3E}">
        <p14:creationId xmlns:p14="http://schemas.microsoft.com/office/powerpoint/2010/main" val="9391921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1832DF74-AD92-4097-9D51-A06D1DE2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CD188DCE-8A66-4CB6-A6DF-31405C16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652D8D33-4DC1-4A96-80DE-77C4C46A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009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知识、运维和应急是三类不同任务，不能用同一个综合分数判断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2BC3BF3B-24D8-4846-8882-693F1EB8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FB5FF962-A8E1-45E7-8B3A-55AB6178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5AFD9D6-5439-4135-9F78-B25874F8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40A05BD-32F5-4A7C-83FB-3BAA6899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场景化评测与影子运行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6E1A9C4-EB92-4194-882D-77A46D95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74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知识、运维和应急是三类不同任务；不能用同一个综合分数判断；知识服务重视事实、引用、版本与拒答；运维重视异常发现、误报漏报、提前量和可执行性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81DC070-36EA-4890-BC4A-4639E65F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8688E73-ACB4-4FA5-824C-0A78972E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上线前可使用历史事件回放、仿真数据和桌面演练；随后进入影子运行，系统在真实数据上生成建议；但不写回控制系统，也不改变岗位决定；业务人员将其与实际处置比较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F2CC0793-3CBD-4969-A714-0F5765B1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0612D16B-F754-4DA9-BFB8-C01FAE69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影子运行也要设置停止条件；出现越权访问、关键事实无来源、应转人工却自动输出、严重延迟或无法回退时；应暂停测试并调查，模型、知识资料、数据接口或业务程序变更后；原有结论不能自动沿用；必须重新验证</a:t>
            </a:r>
          </a:p>
        </p:txBody>
      </p:sp>
      <p:sp>
        <p:nvSpPr>
          <p:cNvPr id="13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F10F5135-4127-41A1-868D-FB7D1193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7-takeaway">
            <a:extLst xmlns:a="http://schemas.openxmlformats.org/drawingml/2006/main">
              <a:ext uri="{FF2B5EF4-FFF2-40B4-BE49-F238E27FC236}">
                <a16:creationId xmlns:a16="http://schemas.microsoft.com/office/drawing/2014/main" id="{27BB6A62-88E8-4260-8767-8FD70F19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知识、运维和应急是三类不同任务，不能用同一个综合分数判断</a:t>
            </a:r>
          </a:p>
        </p:txBody>
      </p:sp>
    </p:spTree>
    <p:extLst>
      <p:ext uri="{BB962C8B-B14F-4D97-AF65-F5344CB8AC3E}">
        <p14:creationId xmlns:p14="http://schemas.microsoft.com/office/powerpoint/2010/main" val="13116916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7892678B-CEA5-42F4-9F88-D65B3D02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2E16128B-85BC-4654-B277-1A7839C6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EBE58CEF-5008-47BB-90DF-5AD8E3B9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人工确认必须具备权限并能回看原始证据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755D5448-62C3-48DF-A901-42C69FDA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DC60F5A0-3C11-4323-B58E-E8CE4E8D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C1D455D-ECE6-486B-8487-F043FAE2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B5F4D84-62BE-43C5-820F-4263C914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人工确认不是形式按钮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5C4E423-7633-43A4-A378-A6E21445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确认人员必须具备对应岗位权限；并能查看原始数据、引用、冲突和模型版本；界面应允许修改、拒绝、说明理由和转交；而不是只提供“同意”；高风险动作还应执行既有双人确认、联锁或指挥程序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E03337C-2FC4-4FFF-9F21-CEC68438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224D068-2ED9-43EF-9404-1FC26B23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长期运行需要明确系统所有者、数据责任人、模型维护者和业务审批人。技术团队负责可用性和监测，业务岗位负责运行判断，安全与合规人员审查访问与变更；责任边界应写进流程而不是留在口头约定中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85D46248-FAAD-404E-922B-F9FB57B0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DD6358C1-E286-4057-ACF5-801D3743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人工确认必须具备权限并能回看原始证据</a:t>
            </a:r>
          </a:p>
        </p:txBody>
      </p:sp>
    </p:spTree>
    <p:extLst>
      <p:ext uri="{BB962C8B-B14F-4D97-AF65-F5344CB8AC3E}">
        <p14:creationId xmlns:p14="http://schemas.microsoft.com/office/powerpoint/2010/main" val="6039787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D2370B2A-B0B8-4229-883D-9D54DA3E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22A3C4C1-2805-4D24-9F31-FF6043CB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DC3D8614-3EAD-4C37-8482-0D331FCE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授权岗位核对业务系统和现场报告后作出决定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CF2D5D1B-C578-41E5-9972-F1052DC1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8D62EB7C-46B6-49F3-B88F-9D2829DB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BAB8E891-1B71-422F-94A0-20F3511F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极端天气下的机场运行信息助手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69308CC4-868F-4FCE-9251-1B2D618F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输入｜航班状态、气象更新、机位与设备状态、地面接驳信息以及现行应急程序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F3EBE7D3-FD1C-4480-BA7A-AAE05F5C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机制｜系统按统一时间线关联受影响对象，列出已确认事实、信息冲突、适用程序和缺失字段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DA896EBA-563F-492A-837A-7EF4834F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结果｜值班人员获得带来源的态势摘要和候选检查项，系统不自行启动预案或调配资源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338F237D-9106-47B3-8470-D88AD2A68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边界｜授权岗位核对业务系统和现场报告后作出决定；所有修改、批准和交接进入审计记录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17EC3C24-4DD9-4EE7-8752-EDB6969A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D2844488-A4A3-4BE7-8363-5FF39330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授权岗位核对业务系统和现场报告后作出决定</a:t>
            </a:r>
          </a:p>
        </p:txBody>
      </p:sp>
    </p:spTree>
    <p:extLst>
      <p:ext uri="{BB962C8B-B14F-4D97-AF65-F5344CB8AC3E}">
        <p14:creationId xmlns:p14="http://schemas.microsoft.com/office/powerpoint/2010/main" val="2876929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3CF2563F-B424-4B24-B8F8-52E736B6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5C474882-897D-4861-9C4A-76515343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AB573CA4-CA8D-4F1F-A1E3-8B3707DC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达到预设门槛后也只逐步开放工单草稿等低风险能力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9DDAC958-AF16-400D-A978-C954C0F1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74437F87-8923-49A9-82ED-1C4FD10D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C4F4920F-3068-4423-8D64-460A70FC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行李设备异常的影子评测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DBCCB425-BEEC-4957-A2E8-F9E1ED42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设计｜模型并行读取报警和工单，只生成异常线索，不连接设备控制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3A34E254-118A-4DC4-9177-55607B81E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验证｜运维人员记录真实检查与处置，评测模型是否遗漏关键异常、是否产生无意义告警、建议能否在规定时间内核验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DD18E0CD-CFEB-4395-BF1E-EBF534C9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决策｜达到预设门槛后也只逐步开放工单草稿等低风险能力，设备动作继续由现有系统和岗位控制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168F40A7-A0CA-4C79-9875-02448AF8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BA935225-6210-4CBB-A5C9-CDECAEA6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达到预设门槛后也只逐步开放工单草稿等低风险能力</a:t>
            </a:r>
          </a:p>
        </p:txBody>
      </p:sp>
    </p:spTree>
    <p:extLst>
      <p:ext uri="{BB962C8B-B14F-4D97-AF65-F5344CB8AC3E}">
        <p14:creationId xmlns:p14="http://schemas.microsoft.com/office/powerpoint/2010/main" val="169252891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ADD42E91-6334-4EA2-9323-20D2AD5E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B16A81B5-2C57-41D7-A481-AD4D2D92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850FC3BF-D068-4A21-8727-84F868EE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交通与智慧机场：一次可验收练习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C0F92E4F-041F-4B9C-B900-CFDC89F3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984CABFF-ADBE-4BAB-8E62-8E668DA0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36814848-FED9-4DF8-9F40-815B666D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30FD4E6E-D457-4E72-8E0A-88ED4F73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88A33C5D-881F-4608-81DB-8294C800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选择一个机场任务，列出五类输入数据，并为每类填写对象标识、时间、位置、质量、更新频率和访问权限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26ECB019-16D2-4896-B20D-CE6831CF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835A81CB-AB6B-412E-994D-9864A164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CEDF16AA-F0D1-45C7-9D2F-28801FC4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EA0C269B-A93B-4106-B46A-2184BAA3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分别为知识问答、运维预警和应急协同设计三项指标，说明为何不能把它们合成一个平均分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ADDB8F53-BE92-4EA9-99E2-73638801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D776D7B9-7A22-4610-9600-14905BAA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393C1016-A86A-46FD-8601-538B64EE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BA74CD09-ABC6-459C-88DC-F62B3B6D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画出影子运行流程，写明建议如何展示、谁来确认、哪些事件立即暂停、模型失效时如何回到原流程</a:t>
            </a:r>
          </a:p>
        </p:txBody>
      </p:sp>
    </p:spTree>
    <p:extLst>
      <p:ext uri="{BB962C8B-B14F-4D97-AF65-F5344CB8AC3E}">
        <p14:creationId xmlns:p14="http://schemas.microsoft.com/office/powerpoint/2010/main" val="19105885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E5AE422F-AE33-4138-B294-A60E5751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C9C72957-A584-402C-958B-309F2DB6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9B05E6F6-FC65-495A-8B99-5D4EA2C5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交通与智慧机场：判断时先抓住三点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1223B220-41D3-4D39-B6AF-672EF2FC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DBF886C5-A4CE-4479-9543-30B74DB7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3F1E341E-EA3A-497B-9D6E-1A8F0777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0D48ACE1-0371-4FD3-9BDA-301D8B30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AD45AADE-8419-4E31-A85C-D665457D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机场数据来自不同系统，更新节奏也不同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93618940-50DC-46D9-9797-8220DC99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5877ADB3-F008-4B2A-A0AD-E34BF24D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2A136E84-EDD9-4C32-A881-923CC40D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9D1A5711-B869-4B0B-ACBB-6418319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运维任务可结合传感器、巡检、报警、维修历史和备件信息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6266B61A-247C-44E4-BF69-C3145531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66DF80EE-F3C2-4F26-A29B-8AB2F5EC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63E5310D-5DA5-45EC-97C5-A63BADFE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497B2069-8DE3-4DDB-863C-75380F94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人工确认必须具备权限并能回看原始证据</a:t>
            </a:r>
          </a:p>
        </p:txBody>
      </p:sp>
    </p:spTree>
    <p:extLst>
      <p:ext uri="{BB962C8B-B14F-4D97-AF65-F5344CB8AC3E}">
        <p14:creationId xmlns:p14="http://schemas.microsoft.com/office/powerpoint/2010/main" val="16697132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29997D73-4CBA-405B-B722-E091B839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3990BC71-E57E-4306-9B13-89B8319B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B1FBCF93-B0E2-4053-9832-F6B0EDDF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交通与智慧机场：依据、边界与延伸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173A7887-C487-4F1F-8AAB-C102E200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736E99E3-22D0-49BD-B90C-7EFB6D16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IN-006 · IN-006-S13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F8DFB575-A0EC-42A7-B0F8-3D286569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EC95C49F-3744-4AD8-8EFA-5730A2DD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ICAO：Safety Management Manual（Doc 9859）：安全管理原则、国家安全方案与安全管理体系指导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1C262149-FD66-4D0B-B2A2-1C94DC4F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ICAO：Annex 14 — Aerodromes：机场设计、运行及相关设施的标准与建议措施入口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01CC5488-0EE7-4EAE-8138-2D38DB32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实际机场应用应以民航主管部门、机场运行单位和设备安全管理的现行规范为准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0D523D6F-C826-450F-8EA1-900DCA94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5B595AC3-3D0E-4EDC-8338-B2853A86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9247707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2026-07-12T08:20:31.8580000Z</dcterms:created>
  <dcterms:modified xsi:type="dcterms:W3CDTF">2026-07-12T08:20:31.8580000Z</dcterms:modified>
</coreProperties>
</file>