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d7943cc4b642eb" /><Relationship Type="http://schemas.openxmlformats.org/officeDocument/2006/relationships/extended-properties" Target="/docProps/app.xml" Id="Re497605e9acb4cb1" /><Relationship Type="http://schemas.openxmlformats.org/officeDocument/2006/relationships/officeDocument" Target="/ppt/presentation.xml" Id="R24a83170512648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6fddf697f84b03"/>
  </p:sldMasterIdLst>
  <p:notesMasterIdLst>
    <p:notesMasterId xmlns:r="http://schemas.openxmlformats.org/officeDocument/2006/relationships" r:id="R45c581676d1b4f42"/>
  </p:notesMasterIdLst>
  <p:sldIdLst>
    <p:sldId xmlns:r="http://schemas.openxmlformats.org/officeDocument/2006/relationships" id="256" r:id="Rbaaeee02fb074d93"/>
    <p:sldId xmlns:r="http://schemas.openxmlformats.org/officeDocument/2006/relationships" id="257" r:id="R502efbb59b9046af"/>
    <p:sldId xmlns:r="http://schemas.openxmlformats.org/officeDocument/2006/relationships" id="258" r:id="Rd6de269821a34058"/>
    <p:sldId xmlns:r="http://schemas.openxmlformats.org/officeDocument/2006/relationships" id="259" r:id="R7b8c5feeec974585"/>
    <p:sldId xmlns:r="http://schemas.openxmlformats.org/officeDocument/2006/relationships" id="260" r:id="R97dba9ebf0794a74"/>
    <p:sldId xmlns:r="http://schemas.openxmlformats.org/officeDocument/2006/relationships" id="261" r:id="R9ba4b00145254de4"/>
    <p:sldId xmlns:r="http://schemas.openxmlformats.org/officeDocument/2006/relationships" id="262" r:id="R74dc08c8568b417f"/>
    <p:sldId xmlns:r="http://schemas.openxmlformats.org/officeDocument/2006/relationships" id="263" r:id="R0f8904db130f4bc0"/>
    <p:sldId xmlns:r="http://schemas.openxmlformats.org/officeDocument/2006/relationships" id="264" r:id="R2398abe82d7643bb"/>
    <p:sldId xmlns:r="http://schemas.openxmlformats.org/officeDocument/2006/relationships" id="265" r:id="R4c583fa232074435"/>
    <p:sldId xmlns:r="http://schemas.openxmlformats.org/officeDocument/2006/relationships" id="266" r:id="Ra78adb5bbf7f4524"/>
    <p:sldId xmlns:r="http://schemas.openxmlformats.org/officeDocument/2006/relationships" id="267" r:id="Ra961618c9ca9484f"/>
    <p:sldId xmlns:r="http://schemas.openxmlformats.org/officeDocument/2006/relationships" id="268" r:id="R3aa7377db16546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c7d3cf8ab74332" /><Relationship Type="http://schemas.openxmlformats.org/officeDocument/2006/relationships/slideMaster" Target="/ppt/slideMasters/slideMaster1.xml" Id="Rb16fddf697f84b03" /><Relationship Type="http://schemas.openxmlformats.org/officeDocument/2006/relationships/notesMaster" Target="/ppt/notesMasters/notesMaster1.xml" Id="R45c581676d1b4f42" /><Relationship Type="http://schemas.openxmlformats.org/officeDocument/2006/relationships/presProps" Target="/ppt/presProps.xml" Id="R006d4f9f85284562" /><Relationship Type="http://schemas.openxmlformats.org/officeDocument/2006/relationships/tableStyles" Target="/ppt/tableStyles.xml" Id="R0a36009aab9e4a95" /><Relationship Type="http://schemas.openxmlformats.org/officeDocument/2006/relationships/slide" Target="/ppt/slides/slide1.xml" Id="Rbaaeee02fb074d93" /><Relationship Type="http://schemas.openxmlformats.org/officeDocument/2006/relationships/slide" Target="/ppt/slides/slide2.xml" Id="R502efbb59b9046af" /><Relationship Type="http://schemas.openxmlformats.org/officeDocument/2006/relationships/slide" Target="/ppt/slides/slide3.xml" Id="Rd6de269821a34058" /><Relationship Type="http://schemas.openxmlformats.org/officeDocument/2006/relationships/slide" Target="/ppt/slides/slide4.xml" Id="R7b8c5feeec974585" /><Relationship Type="http://schemas.openxmlformats.org/officeDocument/2006/relationships/slide" Target="/ppt/slides/slide5.xml" Id="R97dba9ebf0794a74" /><Relationship Type="http://schemas.openxmlformats.org/officeDocument/2006/relationships/slide" Target="/ppt/slides/slide6.xml" Id="R9ba4b00145254de4" /><Relationship Type="http://schemas.openxmlformats.org/officeDocument/2006/relationships/slide" Target="/ppt/slides/slide7.xml" Id="R74dc08c8568b417f" /><Relationship Type="http://schemas.openxmlformats.org/officeDocument/2006/relationships/slide" Target="/ppt/slides/slide8.xml" Id="R0f8904db130f4bc0" /><Relationship Type="http://schemas.openxmlformats.org/officeDocument/2006/relationships/slide" Target="/ppt/slides/slide9.xml" Id="R2398abe82d7643bb" /><Relationship Type="http://schemas.openxmlformats.org/officeDocument/2006/relationships/slide" Target="/ppt/slides/slide10.xml" Id="R4c583fa232074435" /><Relationship Type="http://schemas.openxmlformats.org/officeDocument/2006/relationships/slide" Target="/ppt/slides/slide11.xml" Id="Ra78adb5bbf7f4524" /><Relationship Type="http://schemas.openxmlformats.org/officeDocument/2006/relationships/slide" Target="/ppt/slides/slide12.xml" Id="Ra961618c9ca9484f" /><Relationship Type="http://schemas.openxmlformats.org/officeDocument/2006/relationships/slide" Target="/ppt/slides/slide13.xml" Id="R3aa7377db16546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35038ca16844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0658fa86f14e66" /><Relationship Type="http://schemas.openxmlformats.org/officeDocument/2006/relationships/notesMaster" Target="/ppt/notesMasters/notesMaster1.xml" Id="R685ea36b1ab346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2d11215e374dc5" /><Relationship Type="http://schemas.openxmlformats.org/officeDocument/2006/relationships/notesMaster" Target="/ppt/notesMasters/notesMaster1.xml" Id="Re551455d2d0149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d9944371b44207" /><Relationship Type="http://schemas.openxmlformats.org/officeDocument/2006/relationships/notesMaster" Target="/ppt/notesMasters/notesMaster1.xml" Id="R2396ea651d414f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35a90609d64493" /><Relationship Type="http://schemas.openxmlformats.org/officeDocument/2006/relationships/notesMaster" Target="/ppt/notesMasters/notesMaster1.xml" Id="Rc3b890aa332940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95757f1c184b22" /><Relationship Type="http://schemas.openxmlformats.org/officeDocument/2006/relationships/notesMaster" Target="/ppt/notesMasters/notesMaster1.xml" Id="R87b76db3563f4a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ec285187114638" /><Relationship Type="http://schemas.openxmlformats.org/officeDocument/2006/relationships/notesMaster" Target="/ppt/notesMasters/notesMaster1.xml" Id="Rf08706e85062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fb00d207504efa" /><Relationship Type="http://schemas.openxmlformats.org/officeDocument/2006/relationships/notesMaster" Target="/ppt/notesMasters/notesMaster1.xml" Id="R77ac8c9eee7c48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7acc0592c9428c" /><Relationship Type="http://schemas.openxmlformats.org/officeDocument/2006/relationships/notesMaster" Target="/ppt/notesMasters/notesMaster1.xml" Id="Rf5fb5944d06a4b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80d21c8f5b4512" /><Relationship Type="http://schemas.openxmlformats.org/officeDocument/2006/relationships/notesMaster" Target="/ppt/notesMasters/notesMaster1.xml" Id="R08dc324e9d0f4e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a68c4ba9084c83" /><Relationship Type="http://schemas.openxmlformats.org/officeDocument/2006/relationships/notesMaster" Target="/ppt/notesMasters/notesMaster1.xml" Id="R69c8533d07f44b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38e2b50b414c29" /><Relationship Type="http://schemas.openxmlformats.org/officeDocument/2006/relationships/notesMaster" Target="/ppt/notesMasters/notesMaster1.xml" Id="R6ae3d955979f4d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962b5ebfa84b1a" /><Relationship Type="http://schemas.openxmlformats.org/officeDocument/2006/relationships/notesMaster" Target="/ppt/notesMasters/notesMaster1.xml" Id="R211b11a016c649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a45b80d2fa48f5" /><Relationship Type="http://schemas.openxmlformats.org/officeDocument/2006/relationships/notesMaster" Target="/ppt/notesMasters/notesMaster1.xml" Id="R37d3879075cb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a1c86b41747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8a91a93ed4440e" /><Relationship Type="http://schemas.openxmlformats.org/officeDocument/2006/relationships/slideLayout" Target="/ppt/slideLayouts/slideLayout1.xml" Id="R7fd44df6a74e41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d44df6a74e41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232cf365b4fb5" /><Relationship Type="http://schemas.openxmlformats.org/officeDocument/2006/relationships/notesSlide" Target="/ppt/notesSlides/notesSlide1.xml" Id="R2544e29b0f444d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ee7206af44e31" /><Relationship Type="http://schemas.openxmlformats.org/officeDocument/2006/relationships/notesSlide" Target="/ppt/notesSlides/notesSlide2.xml" Id="R9f2bad3cc3604f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ac27bc0e74d6e" /><Relationship Type="http://schemas.openxmlformats.org/officeDocument/2006/relationships/notesSlide" Target="/ppt/notesSlides/notesSlide3.xml" Id="R960fcff429974b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ab3d76da54e6a" /><Relationship Type="http://schemas.openxmlformats.org/officeDocument/2006/relationships/notesSlide" Target="/ppt/notesSlides/notesSlide4.xml" Id="R1e2edaf53c0d46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15f7f736a45ad" /><Relationship Type="http://schemas.openxmlformats.org/officeDocument/2006/relationships/notesSlide" Target="/ppt/notesSlides/notesSlide5.xml" Id="R8e7c2132460d4e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ceb5940514e41" /><Relationship Type="http://schemas.openxmlformats.org/officeDocument/2006/relationships/notesSlide" Target="/ppt/notesSlides/notesSlide6.xml" Id="Rc87dc391fe86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c0c7be9f64f17" /><Relationship Type="http://schemas.openxmlformats.org/officeDocument/2006/relationships/notesSlide" Target="/ppt/notesSlides/notesSlide7.xml" Id="R510245b9bbac4c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ed5d7a5ab4a79" /><Relationship Type="http://schemas.openxmlformats.org/officeDocument/2006/relationships/notesSlide" Target="/ppt/notesSlides/notesSlide8.xml" Id="Rc4308caefa964f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186d48f1a4742" /><Relationship Type="http://schemas.openxmlformats.org/officeDocument/2006/relationships/notesSlide" Target="/ppt/notesSlides/notesSlide9.xml" Id="R41cc5be4307c40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4eec308234638" /><Relationship Type="http://schemas.openxmlformats.org/officeDocument/2006/relationships/notesSlide" Target="/ppt/notesSlides/notesSlide10.xml" Id="R2bf0071086f046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39151479a433e" /><Relationship Type="http://schemas.openxmlformats.org/officeDocument/2006/relationships/notesSlide" Target="/ppt/notesSlides/notesSlide11.xml" Id="R2cd05315ed6f4c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cb5a0270f4da5" /><Relationship Type="http://schemas.openxmlformats.org/officeDocument/2006/relationships/notesSlide" Target="/ppt/notesSlides/notesSlide12.xml" Id="R680b232b9a3141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f8e9afee4490b" /><Relationship Type="http://schemas.openxmlformats.org/officeDocument/2006/relationships/notesSlide" Target="/ppt/notesSlides/notesSlide13.xml" Id="R8188f899d49541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214936D8-77C9-4BDE-AA90-223427EB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D147EA4F-1951-48C1-86C0-9387121C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7450EC62-6BDC-40E7-B25A-7188656C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7FA2174D-56CE-4486-9AF9-7E9EC22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AF92AC2C-1A89-494B-A030-C2B45B51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55DFB58B-F245-4515-B55B-A25D9DE3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1F36BCA-7922-47E3-BD98-BC93CFCE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第 4 章 · 行业应用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8BA0120-341C-4DD3-BE62-1CFEC354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交通与智慧机场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8B18695-5918-4269-BB24-AC17F80A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用多模态交通大模型案例解释机场运行数据、知识服务、智慧运维和应急场景的系统集成。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D3E1E9A3-BB26-4B4B-A8E0-E160E220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机场是一套持续运行的交通系统；航班计划、实时状态、气象、机位、行李、设备工单、道路接驳和旅客服务彼此关联；任何一个系统延迟或对象编码不一致；都可能让看似合理的模型回答失去意义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D31E840F-9C23-4C43-96BC-8BCBC584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30AEE29F-07BC-4A8B-8D9C-7F152222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IN-006 · IN-006-S01</a:t>
            </a:r>
          </a:p>
        </p:txBody>
      </p:sp>
    </p:spTree>
    <p:extLst>
      <p:ext uri="{BB962C8B-B14F-4D97-AF65-F5344CB8AC3E}">
        <p14:creationId xmlns:p14="http://schemas.microsoft.com/office/powerpoint/2010/main" val="1012311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FB83870A-3D5C-41F1-8283-26FA7BEC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7BC41F74-A4E8-475A-A7C5-3DFA74C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5A0F5D07-622F-4C3F-9913-4481C94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交通与智慧机场：4项学习结果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77CB7A1C-D2AA-47A5-BFDA-C068412C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CEB954C7-7438-45FF-800A-0A4274BE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D9ECEBED-ED66-4B1B-A2AD-36292640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说明航班、气象、旅客、设备、视频和地面交通数据如何按统一时空语义融合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4D03DF19-60F6-4E9C-BCEB-51C18F52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分别设计机场知识服务、设备运维和应急协同任务的人机流程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E6821743-AC26-4F03-B04E-DFEDFF95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为三类任务选择可复现的质量、时效、安全和人工接管指标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6F901DFF-868F-4D99-B2EB-B71FAE68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解释历史回放、影子运行、演练与岗位确认如何保护真实运行系统</a:t>
            </a:r>
          </a:p>
        </p:txBody>
      </p:sp>
    </p:spTree>
    <p:extLst>
      <p:ext uri="{BB962C8B-B14F-4D97-AF65-F5344CB8AC3E}">
        <p14:creationId xmlns:p14="http://schemas.microsoft.com/office/powerpoint/2010/main" val="2032967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19F74C99-9073-490F-BE44-283B4FBE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8A80C7F8-F579-454E-B2BB-538D7F04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C28865FC-84DD-4B4A-AF96-5F77D71A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机场数据来自不同系统，更新节奏也不同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0E546E73-935E-4020-8D9E-B138AC5D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A1D3BEE0-1FC7-458D-A49C-29EC374B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19942C6-31DF-482C-838C-387E68C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65835A1E-9FB0-4893-9048-9EC55748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数据融合先统一对象与时空基准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4EEE25EA-39D4-4273-ACDF-4AFCEBC1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526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场数据来自不同系统；更新节奏也不同，航班计划描述预期；运行状态描述当前变化；气象给出观测与预报；设备系统记录告警和维修；视频与门禁反映局部现场；融合前要统一航班、区域、设备、车辆和事件的标识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8D625329-FC7B-4956-AD10-3DD8EE9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AF66E008-C647-44A8-B716-6A23850D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“接入成功”不等于“可以使用”；系统应记录每条数据的来源、更新时间、质量等级、缺失情况和访问范围；时钟偏差、重复事件、设备离线与人工补录都要显式标记；对于视频、人员轨迹等敏感数据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AD4713C8-44AD-4B6D-8EB4-49A79400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6E3051E5-A16A-4E3F-A25E-C7CB1208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语义层把不同系统的对象关系连接起来；例如航班使用哪个机位、机位关联哪些保障设备、告警发生在哪个区域、对应哪份规程；关系图可以帮助检索；但不能覆盖原始记录</a:t>
            </a:r>
          </a:p>
        </p:txBody>
      </p:sp>
      <p:sp>
        <p:nvSpPr>
          <p:cNvPr id="13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9E679DE7-99BE-49D4-838D-C310ED7A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3-takeaway">
            <a:extLst xmlns:a="http://schemas.openxmlformats.org/drawingml/2006/main">
              <a:ext uri="{FF2B5EF4-FFF2-40B4-BE49-F238E27FC236}">
                <a16:creationId xmlns:a16="http://schemas.microsoft.com/office/drawing/2014/main" id="{9A003ECF-FB2A-46F1-B425-D29A8D5F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机场数据来自不同系统，更新节奏也不同</a:t>
            </a:r>
          </a:p>
        </p:txBody>
      </p:sp>
    </p:spTree>
    <p:extLst>
      <p:ext uri="{BB962C8B-B14F-4D97-AF65-F5344CB8AC3E}">
        <p14:creationId xmlns:p14="http://schemas.microsoft.com/office/powerpoint/2010/main" val="1351419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E596D58A-7855-4545-BD5E-594BD1A2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D4917261-A809-4192-BED2-FAC7710C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5122FBA8-016E-43AC-86A0-FCA9FCEF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知识服务必须返回仍然有效的依据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91F1E9DD-906C-48FA-9869-9567C26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B56A98E0-2698-4FD3-8E05-2A52E094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8094261-7758-4588-B97C-6B20F1D6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5069C6CD-17CF-40DB-BD06-74FA3E46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知识服务：答案必须附有效依据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20AE46E5-7D43-4F4A-BA50-4076E930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知识服务可以覆盖运行规程、设备手册、岗位问答和旅客服务信息；入库资料应标明责任部门、版本、生效时间、适用区域和替代关系；用户提问后，系统先识别角色与任务；再从其有权访问的有效资料中检索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DA565F2-AD50-4D23-A9C9-C1F3254B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2D4BD1E7-F0E0-47A4-A49B-43BCD38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评测不能只看关键词命中；应检查引用是否真实存在、原文是否支持答案、是否使用当前版本、该拒答的问题有没有拒答、需要转岗的问题有没有正确转交；遇到资料冲突、状态数据过期或超出知识范围时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5980DA1B-FE0A-4433-86A7-0943BA26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8323BA16-9606-4D88-A1E6-15EBE075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知识服务必须返回仍然有效的依据</a:t>
            </a:r>
          </a:p>
        </p:txBody>
      </p:sp>
    </p:spTree>
    <p:extLst>
      <p:ext uri="{BB962C8B-B14F-4D97-AF65-F5344CB8AC3E}">
        <p14:creationId xmlns:p14="http://schemas.microsoft.com/office/powerpoint/2010/main" val="148800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CEC6B62A-C971-41B0-BB36-6C77CECA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50A6A415-4B34-42AF-B6FE-E10710DB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3F16E317-F5CE-410F-93B0-EA02BD15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28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运维任务可结合传感器、巡检、报警、维修历史和备件信息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6B55950D-4A53-4E67-BE51-C13C6DD8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4ACBC7CD-231B-4C08-9E05-3AFD7C13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C0A4ED5-3FB6-4041-B90B-54266BEE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6E3916B6-C29D-438B-A839-A0FA3BDB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智慧运维：从告警汇总到处置建议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6A7F5640-1D95-47BC-8C84-6E6C996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30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运维任务可结合传感器、巡检、报警、维修历史和备件信息，识别重复故障或异常趋势。模型适合整理时间线、检索相似工单、呈现相关规程和生成检查清单，但不能仅凭历史相似度下达控制指令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E1DC8B6F-68E7-4ADB-AF9D-1420A109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116A8414-51EB-43BC-B6FB-36ED61F4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一条可执行建议应包含设备身份、当前工况、相关信号、可能影响、依据、建议检查和不确定性；值班人员需要现场复测；工程师结合运行窗口和安全要求决定是否处理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9E47A2DC-51FD-4C7C-8932-946C3DF3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74AB2009-7BCF-40CF-AAB2-1E129E57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运维评测应同时观察漏报、误报、提前量、建议可执行性、人工采纳与处置结果。平均准确率可能掩盖少见但关键的设备状态，所以应按设备类型、工况、班次和异常种类分层分析</a:t>
            </a:r>
          </a:p>
        </p:txBody>
      </p:sp>
      <p:sp>
        <p:nvSpPr>
          <p:cNvPr id="13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F7D9F826-1E25-47E9-B6C2-D9E3920F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5-takeaway">
            <a:extLst xmlns:a="http://schemas.openxmlformats.org/drawingml/2006/main">
              <a:ext uri="{FF2B5EF4-FFF2-40B4-BE49-F238E27FC236}">
                <a16:creationId xmlns:a16="http://schemas.microsoft.com/office/drawing/2014/main" id="{70C3C438-3907-41C4-864D-8C1B8F47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运维任务可结合传感器、巡检、报警、维修历史和备件信息</a:t>
            </a:r>
          </a:p>
        </p:txBody>
      </p:sp>
    </p:spTree>
    <p:extLst>
      <p:ext uri="{BB962C8B-B14F-4D97-AF65-F5344CB8AC3E}">
        <p14:creationId xmlns:p14="http://schemas.microsoft.com/office/powerpoint/2010/main" val="1008556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5729C341-5D03-4D9B-96AE-B40CA170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C78E5132-A81F-4681-B060-7B39A8FB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FC2332DD-74CE-46EB-9B9A-F9EA9111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应急协同先统一态势，再由授权岗位决策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F8617FD4-9BBF-4A18-BC51-B837B47C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73ABFE86-B61E-4F33-BB1B-70E64DBE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C9AE244-6810-4883-A101-78D05061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240CFC56-AC94-4B60-A2D9-87CC92A4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应急协同：整理共同态势而非自动指挥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30514369-2CC3-4285-92A1-9E64C36D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极端天气、系统故障或地面交通中断发生时；AI 可以汇总事件时间线、受影响对象、有效预案、可用资源和待确认信息；不同岗位看到的内容应符合职责范围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FC652317-F42D-4C6A-A872-708BDDEF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A9F8286A-E7AE-4F1C-88EA-C2E14644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应急输出要区分已确认事实、未确认报告、模型推断和建议行动；启动预案、改变运行方式、调配关键资源等决定由授权岗位按照现行程序作出；系统应保留每次引用、修改、批准和交接记录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85C9AE2B-C09B-430E-9688-9FBFE7DD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A5D181C1-7E4B-491C-9CCB-DF3CBF69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应急协同先统一态势，再由授权岗位决策</a:t>
            </a:r>
          </a:p>
        </p:txBody>
      </p:sp>
    </p:spTree>
    <p:extLst>
      <p:ext uri="{BB962C8B-B14F-4D97-AF65-F5344CB8AC3E}">
        <p14:creationId xmlns:p14="http://schemas.microsoft.com/office/powerpoint/2010/main" val="2108936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0C5BFF56-39A5-42E4-8C7C-811A8BD1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C0457159-5E75-40A6-B744-4CAA7254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A4072C93-23B8-4BB2-8A34-C2F47BF0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09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知识、运维和应急是三类不同任务，不能用同一个综合分数判断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DCEE30B4-775D-40AE-AD14-B6266BBE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8B480999-4DE2-4BDC-9631-DD3F26AB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92561E0-AB18-4B74-9235-37E1479F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2FF356DE-7987-4870-A156-ADB78D58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场景化评测与影子运行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748D5AD7-2745-491B-AF37-C05EA42C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744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知识、运维和应急是三类不同任务；不能用同一个综合分数判断；知识服务重视事实、引用、版本与拒答；运维重视异常发现、误报漏报、提前量和可执行性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3F0C7C71-B260-4CDB-84CF-3970A661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56516B46-006B-4834-A8F6-307CBDD7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上线前可使用历史事件回放、仿真数据和桌面演练；随后进入影子运行，系统在真实数据上生成建议；但不写回控制系统，也不改变岗位决定；业务人员将其与实际处置比较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CEE0A134-FD0F-40BA-AB21-B5524420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CCF22DBE-6216-4B7E-8F4B-7C3A65A2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影子运行也要设置停止条件；出现越权访问、关键事实无来源、应转人工却自动输出、严重延迟或无法回退时；应暂停测试并调查，模型、知识资料、数据接口或业务程序变更后；原有结论不能自动沿用；必须重新验证</a:t>
            </a:r>
          </a:p>
        </p:txBody>
      </p:sp>
      <p:sp>
        <p:nvSpPr>
          <p:cNvPr id="13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FD47A27E-4953-4375-A073-BB2CBBD6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7-takeaway">
            <a:extLst xmlns:a="http://schemas.openxmlformats.org/drawingml/2006/main">
              <a:ext uri="{FF2B5EF4-FFF2-40B4-BE49-F238E27FC236}">
                <a16:creationId xmlns:a16="http://schemas.microsoft.com/office/drawing/2014/main" id="{6E4936BD-D9EA-40AB-B42D-88F8D6EA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知识、运维和应急是三类不同任务，不能用同一个综合分数判断</a:t>
            </a:r>
          </a:p>
        </p:txBody>
      </p:sp>
    </p:spTree>
    <p:extLst>
      <p:ext uri="{BB962C8B-B14F-4D97-AF65-F5344CB8AC3E}">
        <p14:creationId xmlns:p14="http://schemas.microsoft.com/office/powerpoint/2010/main" val="6180512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0048D017-08F3-46DB-918A-0EF9244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A983EADB-A3AF-4104-8735-F6B9A41D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5DB52E53-8F60-4611-98D9-8D753E57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人工确认必须具备权限并能回看原始证据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41F9D108-75A7-4B1B-A4D7-9F565FAE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FCCA7941-9433-48F3-AE17-2EDEDD94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8E2B9972-228A-41E1-9B17-FE66A792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7258BD7-BE89-4455-AB59-E5EEA934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人工确认不是形式按钮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62AC601A-EFC2-48E8-B059-CAAD1544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确认人员必须具备对应岗位权限；并能查看原始数据、引用、冲突和模型版本；界面应允许修改、拒绝、说明理由和转交；而不是只提供“同意”；高风险动作还应执行既有双人确认、联锁或指挥程序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94AD5CE2-BFA4-43EE-B912-8548C507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ABE64C86-712F-4285-A40E-12F80DD5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长期运行需要明确系统所有者、数据责任人、模型维护者和业务审批人。技术团队负责可用性和监测，业务岗位负责运行判断，安全与合规人员审查访问与变更；责任边界应写进流程而不是留在口头约定中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5962ADAC-AA31-4D1D-A819-AA4988D4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770AB4D8-3B58-4464-B188-1910DC28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人工确认必须具备权限并能回看原始证据</a:t>
            </a:r>
          </a:p>
        </p:txBody>
      </p:sp>
    </p:spTree>
    <p:extLst>
      <p:ext uri="{BB962C8B-B14F-4D97-AF65-F5344CB8AC3E}">
        <p14:creationId xmlns:p14="http://schemas.microsoft.com/office/powerpoint/2010/main" val="1231606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61B14E39-E83F-46C1-A068-EF1794BF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1CE6359D-5EDA-4F13-9194-806F9A8F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B3A76B93-ED2D-4D91-8BD7-98345A8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授权岗位核对业务系统和现场报告后作出决定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1855806C-C52B-4DC5-A7F4-A061B375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F435687E-22EA-4A6D-9352-89F78AE6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53888B83-6EF9-4BA9-B8FB-27493525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极端天气下的机场运行信息助手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CB9E9E6C-E124-4C10-A654-7C8B719C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输入｜航班状态、气象更新、机位与设备状态、地面接驳信息以及现行应急程序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ECA267DB-9C78-4DE8-8848-5BD42BB1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机制｜系统按统一时间线关联受影响对象，列出已确认事实、信息冲突、适用程序和缺失字段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0EE10FE9-1BAF-4A8E-8011-6D080799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结果｜值班人员获得带来源的态势摘要和候选检查项，系统不自行启动预案或调配资源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437C5D69-761E-4CFE-93D1-2F4E72D0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边界｜授权岗位核对业务系统和现场报告后作出决定；所有修改、批准和交接进入审计记录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950C16D5-95AB-4C10-98B3-CFABA2AF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BE0C22B0-6CFB-4CF7-92CE-2A86613D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授权岗位核对业务系统和现场报告后作出决定</a:t>
            </a:r>
          </a:p>
        </p:txBody>
      </p:sp>
    </p:spTree>
    <p:extLst>
      <p:ext uri="{BB962C8B-B14F-4D97-AF65-F5344CB8AC3E}">
        <p14:creationId xmlns:p14="http://schemas.microsoft.com/office/powerpoint/2010/main" val="1961612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B51F5E16-8420-46B9-A469-C6452F8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2A49907B-BCF5-466D-8294-FB5B34A9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B92BEB6E-E10C-4D33-B3FB-39C2DE00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达到预设门槛后也只逐步开放工单草稿等低风险能力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A3A945BE-6397-4A2A-9B0C-02D38565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805AACCA-EFB3-46B3-B3AB-24C897B4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8110D063-08B9-4460-8641-C5AE5316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行李设备异常的影子评测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F380E222-ED1A-4986-BD0A-CDA7B4F5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设计｜模型并行读取报警和工单，只生成异常线索，不连接设备控制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3454AAF8-042B-4B4D-BF10-B8F1F631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验证｜运维人员记录真实检查与处置，评测模型是否遗漏关键异常、是否产生无意义告警、建议能否在规定时间内核验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7FE030F6-2FA2-427B-9C0E-F4608909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决策｜达到预设门槛后也只逐步开放工单草稿等低风险能力，设备动作继续由现有系统和岗位控制</a:t>
            </a:r>
          </a:p>
        </p:txBody>
      </p:sp>
      <p:sp>
        <p:nvSpPr>
          <p:cNvPr id="10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20810205-72D5-47EB-A395-867431B2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39B31787-F8CF-4E6A-BDA2-E8305CE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达到预设门槛后也只逐步开放工单草稿等低风险能力</a:t>
            </a:r>
          </a:p>
        </p:txBody>
      </p:sp>
    </p:spTree>
    <p:extLst>
      <p:ext uri="{BB962C8B-B14F-4D97-AF65-F5344CB8AC3E}">
        <p14:creationId xmlns:p14="http://schemas.microsoft.com/office/powerpoint/2010/main" val="17884073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A208066F-88E3-498B-8DFD-11375B79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52C92858-7E10-4860-B711-4E9CD62C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AB76451B-AFA5-4EA7-AD2A-5926A176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交通与智慧机场：一次可验收练习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A31F6EAA-D643-40F1-8EC4-0FA00104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5FBDA6F7-30E8-434C-84C2-54C15C0C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F964B557-CFF7-4459-805B-986FCBB9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F890FBA8-A73E-447C-AAA0-30761015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F78AB768-2F59-41E1-BFE6-6CF92BB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选择一个机场任务，列出五类输入数据，并为每类填写对象标识、时间、位置、质量、更新频率和访问权限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C926F9A5-BD4C-4FF0-ACFE-887F443D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FEEF98A1-2090-4DDA-BDAA-1CE4B28C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0CB5B5DD-E086-4C17-BB2C-342D94C5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639C6E97-209D-4F84-B8FF-F545AEF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分别为知识问答、运维预警和应急协同设计三项指标，说明为何不能把它们合成一个平均分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262CC23B-1FCE-402D-89B2-B5B1C56A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6A19297C-1A42-4534-8BFE-B4C5B048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BA62939B-BA2D-49AB-9B23-9405DAB7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C84CA9B1-CF04-4255-BEEF-FEEBE970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画出影子运行流程，写明建议如何展示、谁来确认、哪些事件立即暂停、模型失效时如何回到原流程</a:t>
            </a:r>
          </a:p>
        </p:txBody>
      </p:sp>
    </p:spTree>
    <p:extLst>
      <p:ext uri="{BB962C8B-B14F-4D97-AF65-F5344CB8AC3E}">
        <p14:creationId xmlns:p14="http://schemas.microsoft.com/office/powerpoint/2010/main" val="14494197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56AB9D05-66D2-4931-998C-B5043DD2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53185130-1BB7-4863-88BF-25BA15C8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44952964-884A-4361-B10E-7BDD02D2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交通与智慧机场：判断时先抓住三点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E950DFC7-526F-4260-8972-78936013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365D0BCC-6B54-4579-AD4F-0704A121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7D0321EC-B106-4961-B79C-1E8D1AA3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91AEB373-E13C-44DC-8C8D-816CF03C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A910898F-FEB9-4AEA-B18B-B3DE0DCB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机场数据来自不同系统，更新节奏也不同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F19AED8C-1A59-4AFC-A9E4-B95E6FF2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197E6188-ED9A-4478-9D91-6BFBF86D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29DDAF3B-A5B9-4662-BA73-80988553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7216F3AF-0D37-4B49-A25A-D928E430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运维任务可结合传感器、巡检、报警、维修历史和备件信息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2054D4D0-5EA9-41F5-B528-95DCB00A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EBAF074C-A595-45F6-95C1-50B3119F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8082C78C-C089-4F66-A6A7-ABA03B60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A2FE3967-2B24-4BD5-9AB8-B67D4BA8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人工确认必须具备权限并能回看原始证据</a:t>
            </a:r>
          </a:p>
        </p:txBody>
      </p:sp>
    </p:spTree>
    <p:extLst>
      <p:ext uri="{BB962C8B-B14F-4D97-AF65-F5344CB8AC3E}">
        <p14:creationId xmlns:p14="http://schemas.microsoft.com/office/powerpoint/2010/main" val="13787683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D212439A-1F1E-45CE-801E-4957CE44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44A57381-39AC-40DE-9A02-D18C2B72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43759C3D-A9FF-4CB8-B620-9CB2ADD7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交通与智慧机场：依据、边界与延伸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B3CA5EFA-0715-4954-8CBD-A8A367FC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7992B0AE-1DB7-4698-B438-4DFCC02A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IN-006 · IN-006-S13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6879186A-BF0B-45C1-BD30-AF542757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3E8A0479-778B-47AC-8EDA-74088501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ICAO：Safety Management Manual（Doc 9859）：安全管理原则、国家安全方案与安全管理体系指导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25F989D6-DA21-4811-A0B9-AB0D1880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ICAO：Annex 14 — Aerodromes：机场设计、运行及相关设施的标准与建议措施入口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BD4F8DAF-0CB2-44F9-9B5F-A3654A64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实际机场应用应以民航主管部门、机场运行单位和设备安全管理的现行规范为准</a:t>
            </a:r>
          </a:p>
        </p:txBody>
      </p:sp>
      <p:sp>
        <p:nvSpPr>
          <p:cNvPr id="10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3A1786E5-1405-4F80-B205-D657D9B0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ADF32638-F56E-48F6-B5F0-E7043EE1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公开幻灯片只使用课程原创文字与原生图形；完整论证、链接和事实边界请见本节讲义。</a:t>
            </a:r>
          </a:p>
        </p:txBody>
      </p:sp>
    </p:spTree>
    <p:extLst>
      <p:ext uri="{BB962C8B-B14F-4D97-AF65-F5344CB8AC3E}">
        <p14:creationId xmlns:p14="http://schemas.microsoft.com/office/powerpoint/2010/main" val="814897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2026-07-11T16:56:02.9970000Z</dcterms:created>
  <dcterms:modified xsi:type="dcterms:W3CDTF">2026-07-11T16:56:02.9970000Z</dcterms:modified>
</coreProperties>
</file>