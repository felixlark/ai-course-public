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8aa08b067f42da" /><Relationship Type="http://schemas.openxmlformats.org/officeDocument/2006/relationships/extended-properties" Target="/docProps/app.xml" Id="R908c629f34cb4841" /><Relationship Type="http://schemas.openxmlformats.org/officeDocument/2006/relationships/officeDocument" Target="/ppt/presentation.xml" Id="R881a35e54596407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9131e241394d11"/>
  </p:sldMasterIdLst>
  <p:notesMasterIdLst>
    <p:notesMasterId xmlns:r="http://schemas.openxmlformats.org/officeDocument/2006/relationships" r:id="R9edecd2d0e5c4634"/>
  </p:notesMasterIdLst>
  <p:sldIdLst>
    <p:sldId xmlns:r="http://schemas.openxmlformats.org/officeDocument/2006/relationships" id="256" r:id="R5a0fdf60aebd4e2c"/>
    <p:sldId xmlns:r="http://schemas.openxmlformats.org/officeDocument/2006/relationships" id="257" r:id="R51c2bac42ad94338"/>
    <p:sldId xmlns:r="http://schemas.openxmlformats.org/officeDocument/2006/relationships" id="258" r:id="R0539a66426cf4445"/>
    <p:sldId xmlns:r="http://schemas.openxmlformats.org/officeDocument/2006/relationships" id="259" r:id="R9335822de3e34214"/>
    <p:sldId xmlns:r="http://schemas.openxmlformats.org/officeDocument/2006/relationships" id="260" r:id="R8d6639f90ef5459a"/>
    <p:sldId xmlns:r="http://schemas.openxmlformats.org/officeDocument/2006/relationships" id="261" r:id="R169915af83c44883"/>
    <p:sldId xmlns:r="http://schemas.openxmlformats.org/officeDocument/2006/relationships" id="262" r:id="Ra8fe2e26dcd84d80"/>
    <p:sldId xmlns:r="http://schemas.openxmlformats.org/officeDocument/2006/relationships" id="263" r:id="R0fcf2ee172c647f5"/>
    <p:sldId xmlns:r="http://schemas.openxmlformats.org/officeDocument/2006/relationships" id="264" r:id="R8a8f42faedbe4c8a"/>
    <p:sldId xmlns:r="http://schemas.openxmlformats.org/officeDocument/2006/relationships" id="265" r:id="R8c712f1d63054581"/>
    <p:sldId xmlns:r="http://schemas.openxmlformats.org/officeDocument/2006/relationships" id="266" r:id="R4a79271009bc4a4c"/>
    <p:sldId xmlns:r="http://schemas.openxmlformats.org/officeDocument/2006/relationships" id="267" r:id="R965d1d576285447d"/>
    <p:sldId xmlns:r="http://schemas.openxmlformats.org/officeDocument/2006/relationships" id="268" r:id="R86d9d77a087644b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9a2d009462423d" /><Relationship Type="http://schemas.openxmlformats.org/officeDocument/2006/relationships/slideMaster" Target="/ppt/slideMasters/slideMaster1.xml" Id="R1b9131e241394d11" /><Relationship Type="http://schemas.openxmlformats.org/officeDocument/2006/relationships/notesMaster" Target="/ppt/notesMasters/notesMaster1.xml" Id="R9edecd2d0e5c4634" /><Relationship Type="http://schemas.openxmlformats.org/officeDocument/2006/relationships/presProps" Target="/ppt/presProps.xml" Id="R893ab1fd6d7143df" /><Relationship Type="http://schemas.openxmlformats.org/officeDocument/2006/relationships/tableStyles" Target="/ppt/tableStyles.xml" Id="R57a6c15241ff44e0" /><Relationship Type="http://schemas.openxmlformats.org/officeDocument/2006/relationships/slide" Target="/ppt/slides/slide1.xml" Id="R5a0fdf60aebd4e2c" /><Relationship Type="http://schemas.openxmlformats.org/officeDocument/2006/relationships/slide" Target="/ppt/slides/slide2.xml" Id="R51c2bac42ad94338" /><Relationship Type="http://schemas.openxmlformats.org/officeDocument/2006/relationships/slide" Target="/ppt/slides/slide3.xml" Id="R0539a66426cf4445" /><Relationship Type="http://schemas.openxmlformats.org/officeDocument/2006/relationships/slide" Target="/ppt/slides/slide4.xml" Id="R9335822de3e34214" /><Relationship Type="http://schemas.openxmlformats.org/officeDocument/2006/relationships/slide" Target="/ppt/slides/slide5.xml" Id="R8d6639f90ef5459a" /><Relationship Type="http://schemas.openxmlformats.org/officeDocument/2006/relationships/slide" Target="/ppt/slides/slide6.xml" Id="R169915af83c44883" /><Relationship Type="http://schemas.openxmlformats.org/officeDocument/2006/relationships/slide" Target="/ppt/slides/slide7.xml" Id="Ra8fe2e26dcd84d80" /><Relationship Type="http://schemas.openxmlformats.org/officeDocument/2006/relationships/slide" Target="/ppt/slides/slide8.xml" Id="R0fcf2ee172c647f5" /><Relationship Type="http://schemas.openxmlformats.org/officeDocument/2006/relationships/slide" Target="/ppt/slides/slide9.xml" Id="R8a8f42faedbe4c8a" /><Relationship Type="http://schemas.openxmlformats.org/officeDocument/2006/relationships/slide" Target="/ppt/slides/slide10.xml" Id="R8c712f1d63054581" /><Relationship Type="http://schemas.openxmlformats.org/officeDocument/2006/relationships/slide" Target="/ppt/slides/slide11.xml" Id="R4a79271009bc4a4c" /><Relationship Type="http://schemas.openxmlformats.org/officeDocument/2006/relationships/slide" Target="/ppt/slides/slide12.xml" Id="R965d1d576285447d" /><Relationship Type="http://schemas.openxmlformats.org/officeDocument/2006/relationships/slide" Target="/ppt/slides/slide13.xml" Id="R86d9d77a087644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1f1f0831e7144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e77c3c1bae64b88" /><Relationship Type="http://schemas.openxmlformats.org/officeDocument/2006/relationships/notesMaster" Target="/ppt/notesMasters/notesMaster1.xml" Id="R93c185e8e9274b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c2d7f9ccb88470a" /><Relationship Type="http://schemas.openxmlformats.org/officeDocument/2006/relationships/notesMaster" Target="/ppt/notesMasters/notesMaster1.xml" Id="R57ac2a1168c848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8025317cc94bc7" /><Relationship Type="http://schemas.openxmlformats.org/officeDocument/2006/relationships/notesMaster" Target="/ppt/notesMasters/notesMaster1.xml" Id="Rc0a14837df184f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5b1d6fe6d73422e" /><Relationship Type="http://schemas.openxmlformats.org/officeDocument/2006/relationships/notesMaster" Target="/ppt/notesMasters/notesMaster1.xml" Id="Rd53c4190367f480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1ce2d43553d4553" /><Relationship Type="http://schemas.openxmlformats.org/officeDocument/2006/relationships/notesMaster" Target="/ppt/notesMasters/notesMaster1.xml" Id="Rb907d72bb8e54b8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6bc5bcbe2274bee" /><Relationship Type="http://schemas.openxmlformats.org/officeDocument/2006/relationships/notesMaster" Target="/ppt/notesMasters/notesMaster1.xml" Id="Raea146c6226e488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d14025938284950" /><Relationship Type="http://schemas.openxmlformats.org/officeDocument/2006/relationships/notesMaster" Target="/ppt/notesMasters/notesMaster1.xml" Id="Rad52e29257c74bc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9b9b2f6a75943bb" /><Relationship Type="http://schemas.openxmlformats.org/officeDocument/2006/relationships/notesMaster" Target="/ppt/notesMasters/notesMaster1.xml" Id="Ra844bf21460a414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c88ff7448004a15" /><Relationship Type="http://schemas.openxmlformats.org/officeDocument/2006/relationships/notesMaster" Target="/ppt/notesMasters/notesMaster1.xml" Id="R508a68ac7706418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89fc0eaa1b74434" /><Relationship Type="http://schemas.openxmlformats.org/officeDocument/2006/relationships/notesMaster" Target="/ppt/notesMasters/notesMaster1.xml" Id="Ra8f71f374ba54c3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eb36d93b0eb4dfb" /><Relationship Type="http://schemas.openxmlformats.org/officeDocument/2006/relationships/notesMaster" Target="/ppt/notesMasters/notesMaster1.xml" Id="Rc11f79eb2a8d4de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0709ee5bbaa4c4b" /><Relationship Type="http://schemas.openxmlformats.org/officeDocument/2006/relationships/notesMaster" Target="/ppt/notesMasters/notesMaster1.xml" Id="R51f39ea799c7483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e5114d0c653454a" /><Relationship Type="http://schemas.openxmlformats.org/officeDocument/2006/relationships/notesMaster" Target="/ppt/notesMasters/notesMaster1.xml" Id="Rca120ffe3bfb45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277a10a1b64c1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4937d2509fe4371" /><Relationship Type="http://schemas.openxmlformats.org/officeDocument/2006/relationships/slideLayout" Target="/ppt/slideLayouts/slideLayout1.xml" Id="Re3c48aa722984e9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c48aa722984e9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ae5729f5364590" /><Relationship Type="http://schemas.openxmlformats.org/officeDocument/2006/relationships/notesSlide" Target="/ppt/notesSlides/notesSlide1.xml" Id="Rb51b89a9084c449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40b15f619d41f2" /><Relationship Type="http://schemas.openxmlformats.org/officeDocument/2006/relationships/notesSlide" Target="/ppt/notesSlides/notesSlide2.xml" Id="Rce550f27d7fc40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82bf61f13a4125" /><Relationship Type="http://schemas.openxmlformats.org/officeDocument/2006/relationships/notesSlide" Target="/ppt/notesSlides/notesSlide3.xml" Id="R751c62cd53b343a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ee900fc39047cf" /><Relationship Type="http://schemas.openxmlformats.org/officeDocument/2006/relationships/notesSlide" Target="/ppt/notesSlides/notesSlide4.xml" Id="R440cfee7319045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e2055472624053" /><Relationship Type="http://schemas.openxmlformats.org/officeDocument/2006/relationships/notesSlide" Target="/ppt/notesSlides/notesSlide5.xml" Id="Ra63f0d6a76c648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474243a932449d" /><Relationship Type="http://schemas.openxmlformats.org/officeDocument/2006/relationships/notesSlide" Target="/ppt/notesSlides/notesSlide6.xml" Id="R61ac65e46ba24a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1e1680e7dd457f" /><Relationship Type="http://schemas.openxmlformats.org/officeDocument/2006/relationships/notesSlide" Target="/ppt/notesSlides/notesSlide7.xml" Id="R79e7df39b20a408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4a93efe37d4371" /><Relationship Type="http://schemas.openxmlformats.org/officeDocument/2006/relationships/notesSlide" Target="/ppt/notesSlides/notesSlide8.xml" Id="R27f122ba3e014fa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a3c96775c940ad" /><Relationship Type="http://schemas.openxmlformats.org/officeDocument/2006/relationships/notesSlide" Target="/ppt/notesSlides/notesSlide9.xml" Id="R46caee6d55b3448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36aa63297e4f25" /><Relationship Type="http://schemas.openxmlformats.org/officeDocument/2006/relationships/notesSlide" Target="/ppt/notesSlides/notesSlide10.xml" Id="R8907b46cdd094e3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e2f1e6e78e4292" /><Relationship Type="http://schemas.openxmlformats.org/officeDocument/2006/relationships/notesSlide" Target="/ppt/notesSlides/notesSlide11.xml" Id="Ra92fb2b2751c451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a33aab8b684ba6" /><Relationship Type="http://schemas.openxmlformats.org/officeDocument/2006/relationships/notesSlide" Target="/ppt/notesSlides/notesSlide12.xml" Id="R38fd9581fe5d435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75e0f5c74d4a9e" /><Relationship Type="http://schemas.openxmlformats.org/officeDocument/2006/relationships/notesSlide" Target="/ppt/notesSlides/notesSlide13.xml" Id="R45e1915f43844d4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F1B1CB71-B682-4F77-961D-F3FE4DCCB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22F0AF25-65F0-4834-A34D-68424DF56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6CE8EEDE-B553-4445-B2FE-E366C288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2AE8187E-C071-4D5B-8053-5AAFFDBA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4D462971-FA6B-40A5-9963-3AE0BA295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0C0A3E4B-9A52-481A-951E-93F70111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6121ACE5-35E1-499B-A705-8219AD59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3215006B-28A3-48B2-8650-17F0F90B3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交通与智慧机场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03A1B38F-E842-44A6-B97B-BD748EB87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用多模态交通大模型案例解释机场运行数据、知识服务、智慧运维和应急场景的系统集成。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9F9A10EC-BFCD-4979-924F-C8DE8F048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机场是一套持续运行的交通系统；航班计划、实时状态、气象、机位、行李、设备工单、道路接驳和旅客服务彼此关联；任何一个系统延迟或对象编码不一致；都可能让看似合理的模型回答失去意义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7AD46D7A-BD4C-4367-8BB8-D911B228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598F3062-B2E2-4967-BEED-A17CCD6CD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IN-006 · IN-006-S01</a:t>
            </a:r>
          </a:p>
        </p:txBody>
      </p:sp>
    </p:spTree>
    <p:extLst>
      <p:ext uri="{BB962C8B-B14F-4D97-AF65-F5344CB8AC3E}">
        <p14:creationId xmlns:p14="http://schemas.microsoft.com/office/powerpoint/2010/main" val="6895964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D7F0BE05-246D-4573-BC66-EF83B4D2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07D1ECB1-7404-49FB-A612-D4DF67CD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D17FC233-ABCD-4A04-B349-341C4939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交通与智慧机场：4项学习结果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5EA76B64-191A-49BB-870E-1160B849A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6E1FBF79-6E86-4225-B74B-2DDEAF16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DDA682AC-DFC8-4704-8058-5062E362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说明航班、气象、旅客、设备、视频和地面交通数据如何按统一时空语义融合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69A3334A-5193-4F54-873A-22F181E4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分别设计机场知识服务、设备运维和应急协同任务的人机流程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027E8A8D-CA43-4B7E-894F-E41B3B254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为三类任务选择可复现的质量、时效、安全和人工接管指标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0D316C2A-3891-47EC-B426-25EFF9B4B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解释历史回放、影子运行、演练与岗位确认如何保护真实运行系统</a:t>
            </a:r>
          </a:p>
        </p:txBody>
      </p:sp>
    </p:spTree>
    <p:extLst>
      <p:ext uri="{BB962C8B-B14F-4D97-AF65-F5344CB8AC3E}">
        <p14:creationId xmlns:p14="http://schemas.microsoft.com/office/powerpoint/2010/main" val="1514650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FF29AE29-097A-4C1E-9C40-24D13AE09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868CBEBE-251B-438D-85E7-788C07B1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71951C2D-BACF-4D9B-92DF-53DD9DFD6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机场数据来自不同系统，更新节奏也不同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951BF657-5FCA-4BB5-8E12-A18E7E37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13CB2049-CA6F-431A-90D6-F922A1DC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91892AA-B2EF-4670-B285-1218FC32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FA98F9C-4AE2-4612-A3E7-5622E8B9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数据融合先统一对象与时空基准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7B73D46-E487-497D-A3EB-84F0C283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场数据来自不同系统；更新节奏也不同，航班计划描述预期；运行状态描述当前变化；气象给出观测与预报；设备系统记录告警和维修；视频与门禁反映局部现场；融合前要统一航班、区域、设备、车辆和事件的标识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4C922D2-8937-4B7D-B1FF-6E8E18F4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A0F3640-4F57-4D7E-AFEF-721BBA872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“接入成功”不等于“可以使用”；系统应记录每条数据的来源、更新时间、质量等级、缺失情况和访问范围；时钟偏差、重复事件、设备离线与人工补录都要显式标记；对于视频、人员轨迹等敏感数据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04452B26-6D61-4ECE-8310-8ED2291DE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3835C3FB-EA49-426B-AFD1-E9F1E168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语义层把不同系统的对象关系连接起来；例如航班使用哪个机位、机位关联哪些保障设备、告警发生在哪个区域、对应哪份规程；关系图可以帮助检索；但不能覆盖原始记录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888442D4-0683-4595-9A82-6E5A38AA7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4332FCF2-61D2-4FA0-9A9C-0B6D59F9C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机场数据来自不同系统，更新节奏也不同</a:t>
            </a:r>
          </a:p>
        </p:txBody>
      </p:sp>
    </p:spTree>
    <p:extLst>
      <p:ext uri="{BB962C8B-B14F-4D97-AF65-F5344CB8AC3E}">
        <p14:creationId xmlns:p14="http://schemas.microsoft.com/office/powerpoint/2010/main" val="1922824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9320BCAB-B051-451F-97AF-D1AC35E26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1CC446E2-9839-4715-B3BC-3813A6DC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89044A12-56A1-448A-8C1E-274D1F6B9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知识服务必须返回仍然有效的依据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F3F3CFA5-35BC-4703-912C-79A9E3EA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30F22AFA-1032-4917-BC48-2F0197852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EEBDDA2-20E9-43C1-8F20-13A848E1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B5AB46A-3F70-4803-9564-1CA5E7C79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知识服务：答案必须附有效依据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20184D4-7994-4486-A802-E82B11B7D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知识服务可以覆盖运行规程、设备手册、岗位问答和旅客服务信息；入库资料应标明责任部门、版本、生效时间、适用区域和替代关系；用户提问后，系统先识别角色与任务；再从其有权访问的有效资料中检索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F5AD380-7623-4A34-AC0D-F9FBA21D2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3C5A1179-A81F-4374-9139-248B9ED6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评测不能只看关键词命中；应检查引用是否真实存在、原文是否支持答案、是否使用当前版本、该拒答的问题有没有拒答、需要转岗的问题有没有正确转交；遇到资料冲突、状态数据过期或超出知识范围时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80D65F68-DAF0-4ADD-8F53-B776D524F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ADC60021-BBDF-4285-9F58-4E7EDABE1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知识服务必须返回仍然有效的依据</a:t>
            </a:r>
          </a:p>
        </p:txBody>
      </p:sp>
    </p:spTree>
    <p:extLst>
      <p:ext uri="{BB962C8B-B14F-4D97-AF65-F5344CB8AC3E}">
        <p14:creationId xmlns:p14="http://schemas.microsoft.com/office/powerpoint/2010/main" val="6887020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D27FAEC8-7C6B-4364-9C59-CC2BE1CD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E1046922-0058-4182-9C8A-284C0687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1E420686-61B2-4C3E-A6CD-91120B77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028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运维任务可结合传感器、巡检、报警、维修历史和备件信息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76DED1FD-212B-43FC-BFE7-52577A7C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34283BD2-4F92-445E-9938-76817F73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1374F56-AE81-4B4E-B70E-82DC89F8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8C9B54F-4041-459C-A22E-2F73DF16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智慧运维：从告警汇总到处置建议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E6F9167-E102-43F1-BADD-DAD39898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运维任务可结合传感器、巡检、报警、维修历史和备件信息，识别重复故障或异常趋势。模型适合整理时间线、检索相似工单、呈现相关规程和生成检查清单，但不能仅凭历史相似度下达控制指令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314C4B5-BBD5-4739-AB01-476C5EB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55782E6-322E-4286-83C2-C2C9F398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一条可执行建议应包含设备身份、当前工况、相关信号、可能影响、依据、建议检查和不确定性；值班人员需要现场复测；工程师结合运行窗口和安全要求决定是否处理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03F7D108-1EDC-4C30-B689-2E46A595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BBAC0A87-FC91-4A7E-AD4E-145143725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运维评测应同时观察漏报、误报、提前量、建议可执行性、人工采纳与处置结果。平均准确率可能掩盖少见但关键的设备状态，所以应按设备类型、工况、班次和异常种类分层分析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D86541D8-026E-44EF-8B5D-17525E1F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F8A82244-92F0-4919-8BE3-3A8CAE7DE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运维任务可结合传感器、巡检、报警、维修历史和备件信息</a:t>
            </a:r>
          </a:p>
        </p:txBody>
      </p:sp>
    </p:spTree>
    <p:extLst>
      <p:ext uri="{BB962C8B-B14F-4D97-AF65-F5344CB8AC3E}">
        <p14:creationId xmlns:p14="http://schemas.microsoft.com/office/powerpoint/2010/main" val="7425739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6B379729-331B-4318-91E5-3542DAC2A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156CC8ED-2341-4092-A9CD-1EE9DA17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69511169-D33F-4EA4-BC77-F9BA31F0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应急协同先统一态势，再由授权岗位决策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AD886997-ECA8-4E44-B96C-F2651A18A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DE014F7D-D0D8-4BB0-8F57-7F9BF2CA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A8F7AC8-C5CA-4275-8087-29BA4D8F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06176F1-1543-4FC3-98A4-C3314899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应急协同：整理共同态势而非自动指挥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4135712-D798-4C2D-976F-87441151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极端天气、系统故障或地面交通中断发生时；AI 可以汇总事件时间线、受影响对象、有效预案、可用资源和待确认信息；不同岗位看到的内容应符合职责范围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431132C-C51B-4B58-9D4C-0AAF80A0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CC795A2B-9FB3-452E-B367-107FB1C12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应急输出要区分已确认事实、未确认报告、模型推断和建议行动；启动预案、改变运行方式、调配关键资源等决定由授权岗位按照现行程序作出；系统应保留每次引用、修改、批准和交接记录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82C30259-1B13-4C7B-8E07-486FC2BA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199D63F3-9F28-4195-B842-9CCFC0FBF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应急协同先统一态势，再由授权岗位决策</a:t>
            </a:r>
          </a:p>
        </p:txBody>
      </p:sp>
    </p:spTree>
    <p:extLst>
      <p:ext uri="{BB962C8B-B14F-4D97-AF65-F5344CB8AC3E}">
        <p14:creationId xmlns:p14="http://schemas.microsoft.com/office/powerpoint/2010/main" val="2704608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0E5728F4-A53F-4012-A15B-24970C4D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28773110-499A-4A74-8C62-78A00111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3DCD7732-965F-4782-AEFB-94320631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009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知识、运维和应急是三类不同任务，不能用同一个综合分数判断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C449B7AB-0748-44F5-A4DC-4DCD0BF3A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3CB07ECC-AD92-4625-A67D-DA9743127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CF674971-8496-4523-B4B7-60D9059C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93496DA-B9FB-4814-8A54-CBD12CC6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场景化评测与影子运行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9C58A3F-CADF-4ACF-A480-984492C13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744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知识、运维和应急是三类不同任务；不能用同一个综合分数判断；知识服务重视事实、引用、版本与拒答；运维重视异常发现、误报漏报、提前量和可执行性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D569ED1-FC62-4D7F-91D0-C34E396B4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EA134AB-D4B2-47A3-AE01-D644B647E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上线前可使用历史事件回放、仿真数据和桌面演练；随后进入影子运行，系统在真实数据上生成建议；但不写回控制系统，也不改变岗位决定；业务人员将其与实际处置比较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75B40751-8662-407C-9D81-B31830BCB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4F1D1B6C-494A-4F15-BECC-3B5B16B1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影子运行也要设置停止条件；出现越权访问、关键事实无来源、应转人工却自动输出、严重延迟或无法回退时；应暂停测试并调查，模型、知识资料、数据接口或业务程序变更后；原有结论不能自动沿用；必须重新验证</a:t>
            </a:r>
          </a:p>
        </p:txBody>
      </p:sp>
      <p:sp>
        <p:nvSpPr>
          <p:cNvPr id="13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B0A9326C-DAEE-4493-B7E4-E82BBC66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7-takeaway">
            <a:extLst xmlns:a="http://schemas.openxmlformats.org/drawingml/2006/main">
              <a:ext uri="{FF2B5EF4-FFF2-40B4-BE49-F238E27FC236}">
                <a16:creationId xmlns:a16="http://schemas.microsoft.com/office/drawing/2014/main" id="{6CBC0AC2-57DD-4ADC-BACA-915F3EF6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知识、运维和应急是三类不同任务，不能用同一个综合分数判断</a:t>
            </a:r>
          </a:p>
        </p:txBody>
      </p:sp>
    </p:spTree>
    <p:extLst>
      <p:ext uri="{BB962C8B-B14F-4D97-AF65-F5344CB8AC3E}">
        <p14:creationId xmlns:p14="http://schemas.microsoft.com/office/powerpoint/2010/main" val="2992689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9E2C9D00-796D-4897-8152-A8313E561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29CCC438-84DB-47C4-AA9F-A7FA6AD2C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B3D9F0E9-FD4E-451D-86F8-30DAE15D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人工确认必须具备权限并能回看原始证据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49AC63D4-24F3-43D4-8431-5FB89509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9FB45E5C-171E-46AB-87C4-D18FBD449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38AD931-2E71-456A-A0F7-52A82935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08A2AA2-EEB5-4F72-8A1F-E1E407329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人工确认不是形式按钮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8BE56A3-6946-4738-AB56-5F9880FF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确认人员必须具备对应岗位权限；并能查看原始数据、引用、冲突和模型版本；界面应允许修改、拒绝、说明理由和转交；而不是只提供“同意”；高风险动作还应执行既有双人确认、联锁或指挥程序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D8671BD-9865-4249-B6D4-76C847C3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0B657B1-E709-4A8A-914F-98D2345D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长期运行需要明确系统所有者、数据责任人、模型维护者和业务审批人。技术团队负责可用性和监测，业务岗位负责运行判断，安全与合规人员审查访问与变更；责任边界应写进流程而不是留在口头约定中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FED8D696-BC42-4EA3-B2A9-39CF5D90D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93C2D3FD-225E-4A9C-9FA3-E9FE0269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人工确认必须具备权限并能回看原始证据</a:t>
            </a:r>
          </a:p>
        </p:txBody>
      </p:sp>
    </p:spTree>
    <p:extLst>
      <p:ext uri="{BB962C8B-B14F-4D97-AF65-F5344CB8AC3E}">
        <p14:creationId xmlns:p14="http://schemas.microsoft.com/office/powerpoint/2010/main" val="6013750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425AD5ED-0E01-4757-8D06-4C204AB38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58176AD3-527E-4CA5-A82A-246E77BD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4AF58B6D-23CF-45C3-A6E3-9D55B009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授权岗位核对业务系统和现场报告后作出决定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DA7117DC-8907-40B0-A5F1-9BCB97774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7E16E21B-6804-450A-AEE1-9CD9AA48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D9560E9A-BAA8-4F6F-98E7-8DC4D19B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极端天气下的机场运行信息助手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17C674A0-FE91-4E49-B05F-FFDC59CDC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输入｜航班状态、气象更新、机位与设备状态、地面接驳信息以及现行应急程序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42246968-C79E-41E0-8FC1-1F198B736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机制｜系统按统一时间线关联受影响对象，列出已确认事实、信息冲突、适用程序和缺失字段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8B787D37-5B48-41F7-BEDD-5652E153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结果｜值班人员获得带来源的态势摘要和候选检查项，系统不自行启动预案或调配资源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D4CCC32A-210F-4781-9406-FA12A9977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边界｜授权岗位核对业务系统和现场报告后作出决定；所有修改、批准和交接进入审计记录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B15C1274-BF19-4650-944D-19F7F2C7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977C42D7-80D6-4D90-81CC-EFB2B295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授权岗位核对业务系统和现场报告后作出决定</a:t>
            </a:r>
          </a:p>
        </p:txBody>
      </p:sp>
    </p:spTree>
    <p:extLst>
      <p:ext uri="{BB962C8B-B14F-4D97-AF65-F5344CB8AC3E}">
        <p14:creationId xmlns:p14="http://schemas.microsoft.com/office/powerpoint/2010/main" val="6144393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9750A47E-84A0-47AB-AF8C-9B572A4C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44E3E5FE-9464-4523-B210-ADAB0D5A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2B812C94-07AC-434B-BF55-F7DEACEE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达到预设门槛后也只逐步开放工单草稿等低风险能力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0BD0E964-ECCB-4497-B73A-EC9185E9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17EC7FB6-281A-45C7-AA6C-CBADB68D1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25A26337-9208-43D4-A3C0-8CEFD517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行李设备异常的影子评测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E19BD01A-DA30-4F90-824D-A65C119F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设计｜模型并行读取报警和工单，只生成异常线索，不连接设备控制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E6B85A21-2461-48CC-B399-B9955E86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验证｜运维人员记录真实检查与处置，评测模型是否遗漏关键异常、是否产生无意义告警、建议能否在规定时间内核验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3AC181D3-B477-4772-BB55-10363ECD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决策｜达到预设门槛后也只逐步开放工单草稿等低风险能力，设备动作继续由现有系统和岗位控制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65380A53-DC4D-440C-BA19-57BC6795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8C5160A8-FF42-4596-8741-E536FDA89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达到预设门槛后也只逐步开放工单草稿等低风险能力</a:t>
            </a:r>
          </a:p>
        </p:txBody>
      </p:sp>
    </p:spTree>
    <p:extLst>
      <p:ext uri="{BB962C8B-B14F-4D97-AF65-F5344CB8AC3E}">
        <p14:creationId xmlns:p14="http://schemas.microsoft.com/office/powerpoint/2010/main" val="6729710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86E68EC0-4CB5-4607-9A37-C6988E6AE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5E0E36F8-110B-4FD8-A9B8-84015C35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D4D70EE7-BFDF-4938-9535-B322FB9C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交通与智慧机场：一次可验收练习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5D0CF7CF-167B-4A81-A5E1-496CB8348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0C44754E-4763-435E-810B-071B03C74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841BAB7E-4500-40D0-9365-3DDA7DA0E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29656366-5390-4BCE-A660-3A0AE58F7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11721469-E687-43D6-BE01-0A0CCDEB9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选择一个机场任务，列出五类输入数据，并为每类填写对象标识、时间、位置、质量、更新频率和访问权限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A5BE8F39-6AC4-476E-9B81-6BD89B0F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03319074-7A9A-4CE8-A007-B555532D9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BEBA5B97-752A-4C96-8F31-1C95B774B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7F298CD0-A412-4E25-96AC-5914FD34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分别为知识问答、运维预警和应急协同设计三项指标，说明为何不能把它们合成一个平均分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FB2D2001-056E-4FF5-BA59-3362656D9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D193140F-F0F0-46F7-8218-5BC18C3D2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CC2628B4-5F10-493A-BCDB-8BF69A5A1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EF2ADF84-CE05-42A9-975D-7A7080991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画出影子运行流程，写明建议如何展示、谁来确认、哪些事件立即暂停、模型失效时如何回到原流程</a:t>
            </a:r>
          </a:p>
        </p:txBody>
      </p:sp>
    </p:spTree>
    <p:extLst>
      <p:ext uri="{BB962C8B-B14F-4D97-AF65-F5344CB8AC3E}">
        <p14:creationId xmlns:p14="http://schemas.microsoft.com/office/powerpoint/2010/main" val="42421214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27792E20-7BC9-417A-A17B-6C3262654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A08E69E0-49AD-4F0C-92D6-0090226A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8F16346D-76CD-48A3-A366-63AC2FE3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交通与智慧机场：判断时先抓住三点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A627B716-DC71-43C5-AA67-F7B47575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452E2BAB-A456-4F54-B07A-547F7F19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7C7E889B-4333-40B9-A0A8-841F9168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CEA6D75C-D3DD-4D97-B91B-7D7355896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A22B0E6F-390D-40F3-9AA6-F216DE8F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机场数据来自不同系统，更新节奏也不同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AF63747F-3F69-49A3-889E-C97AB8AE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6B127904-42A5-4E37-8C94-8DEE8469E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8506588B-7FD5-4282-9519-AF95AC62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D43742B5-2020-4185-9C29-F5A830CF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运维任务可结合传感器、巡检、报警、维修历史和备件信息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37A281EE-1E07-440E-BEBA-704EAA29D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B6AB8450-6729-478E-B34D-5C4CC95C0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87C40B26-4585-4FFB-976C-BE7DF2AB0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425E925C-EB34-4137-86E0-BB443D398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人工确认必须具备权限并能回看原始证据</a:t>
            </a:r>
          </a:p>
        </p:txBody>
      </p:sp>
    </p:spTree>
    <p:extLst>
      <p:ext uri="{BB962C8B-B14F-4D97-AF65-F5344CB8AC3E}">
        <p14:creationId xmlns:p14="http://schemas.microsoft.com/office/powerpoint/2010/main" val="179409766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6C2886D7-1189-42F9-8884-2DB7F128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F94690EB-4EBE-4681-AEF6-EC93560B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128C7CA8-CB36-4B21-BB87-25409AFC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交通与智慧机场：依据、边界与延伸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9C14B9D2-76EE-4552-8E11-645591B57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59C18636-F5D1-43EA-82F3-8620DB76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94E20F4B-EFEE-45F2-94D9-41F08805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73F52420-D2EE-4B4E-8045-1A27E92DF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ICAO：Safety Management Manual（Doc 9859）：安全管理原则、国家安全方案与安全管理体系指导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315F84EE-CE14-438B-9ECA-16E079DA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ICAO：Annex 14 — Aerodromes：机场设计、运行及相关设施的标准与建议措施入口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D037C506-597E-409F-AFC3-DC55F2A58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实际机场应用应以民航主管部门、机场运行单位和设备安全管理的现行规范为准</a:t>
            </a:r>
          </a:p>
        </p:txBody>
      </p:sp>
      <p:sp>
        <p:nvSpPr>
          <p:cNvPr id="10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5A20A8FB-4605-496A-9518-A2A0517D7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5F145E5E-8409-4D58-8B7B-0E0314B3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91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课程精编页用于讲授主线；播放器中的“原课件”模式保留团队 PowerPoint 精选页、真实图片和可播放视频。</a:t>
            </a:r>
          </a:p>
        </p:txBody>
      </p:sp>
    </p:spTree>
    <p:extLst>
      <p:ext uri="{BB962C8B-B14F-4D97-AF65-F5344CB8AC3E}">
        <p14:creationId xmlns:p14="http://schemas.microsoft.com/office/powerpoint/2010/main" val="20020232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2026-07-12T03:32:08.8340000Z</dcterms:created>
  <dcterms:modified xsi:type="dcterms:W3CDTF">2026-07-12T03:32:08.8340000Z</dcterms:modified>
</coreProperties>
</file>