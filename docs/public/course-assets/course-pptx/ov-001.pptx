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6f136eb8e44826" /><Relationship Type="http://schemas.openxmlformats.org/officeDocument/2006/relationships/extended-properties" Target="/docProps/app.xml" Id="Ra3b9c47c25c24068" /><Relationship Type="http://schemas.openxmlformats.org/officeDocument/2006/relationships/officeDocument" Target="/ppt/presentation.xml" Id="R81f0d1f850794c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382b34e0df4e26"/>
  </p:sldMasterIdLst>
  <p:notesMasterIdLst>
    <p:notesMasterId xmlns:r="http://schemas.openxmlformats.org/officeDocument/2006/relationships" r:id="Rcfbaa9bf301c4d63"/>
  </p:notesMasterIdLst>
  <p:sldIdLst>
    <p:sldId xmlns:r="http://schemas.openxmlformats.org/officeDocument/2006/relationships" id="256" r:id="R825318fa1d9d4afe"/>
    <p:sldId xmlns:r="http://schemas.openxmlformats.org/officeDocument/2006/relationships" id="257" r:id="R541c814e60cf43f4"/>
    <p:sldId xmlns:r="http://schemas.openxmlformats.org/officeDocument/2006/relationships" id="258" r:id="R4108edfa38c04ad3"/>
    <p:sldId xmlns:r="http://schemas.openxmlformats.org/officeDocument/2006/relationships" id="259" r:id="Re8a50067e28d46a0"/>
    <p:sldId xmlns:r="http://schemas.openxmlformats.org/officeDocument/2006/relationships" id="260" r:id="Rb638aba3b5394a9f"/>
    <p:sldId xmlns:r="http://schemas.openxmlformats.org/officeDocument/2006/relationships" id="261" r:id="R10bfe609e3c24ad0"/>
    <p:sldId xmlns:r="http://schemas.openxmlformats.org/officeDocument/2006/relationships" id="262" r:id="Rd722ec05a3964810"/>
    <p:sldId xmlns:r="http://schemas.openxmlformats.org/officeDocument/2006/relationships" id="263" r:id="Rf98ea6ce352e4191"/>
    <p:sldId xmlns:r="http://schemas.openxmlformats.org/officeDocument/2006/relationships" id="264" r:id="Rc0ebdecc2a254720"/>
    <p:sldId xmlns:r="http://schemas.openxmlformats.org/officeDocument/2006/relationships" id="265" r:id="R50ed26ac75f146e9"/>
    <p:sldId xmlns:r="http://schemas.openxmlformats.org/officeDocument/2006/relationships" id="266" r:id="Rab370e86c5444de2"/>
    <p:sldId xmlns:r="http://schemas.openxmlformats.org/officeDocument/2006/relationships" id="267" r:id="R163da06a233549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126a7832e14437" /><Relationship Type="http://schemas.openxmlformats.org/officeDocument/2006/relationships/slideMaster" Target="/ppt/slideMasters/slideMaster1.xml" Id="Rd4382b34e0df4e26" /><Relationship Type="http://schemas.openxmlformats.org/officeDocument/2006/relationships/notesMaster" Target="/ppt/notesMasters/notesMaster1.xml" Id="Rcfbaa9bf301c4d63" /><Relationship Type="http://schemas.openxmlformats.org/officeDocument/2006/relationships/presProps" Target="/ppt/presProps.xml" Id="Rcce324a2ef994464" /><Relationship Type="http://schemas.openxmlformats.org/officeDocument/2006/relationships/tableStyles" Target="/ppt/tableStyles.xml" Id="R9b4233c71186414d" /><Relationship Type="http://schemas.openxmlformats.org/officeDocument/2006/relationships/slide" Target="/ppt/slides/slide1.xml" Id="R825318fa1d9d4afe" /><Relationship Type="http://schemas.openxmlformats.org/officeDocument/2006/relationships/slide" Target="/ppt/slides/slide2.xml" Id="R541c814e60cf43f4" /><Relationship Type="http://schemas.openxmlformats.org/officeDocument/2006/relationships/slide" Target="/ppt/slides/slide3.xml" Id="R4108edfa38c04ad3" /><Relationship Type="http://schemas.openxmlformats.org/officeDocument/2006/relationships/slide" Target="/ppt/slides/slide4.xml" Id="Re8a50067e28d46a0" /><Relationship Type="http://schemas.openxmlformats.org/officeDocument/2006/relationships/slide" Target="/ppt/slides/slide5.xml" Id="Rb638aba3b5394a9f" /><Relationship Type="http://schemas.openxmlformats.org/officeDocument/2006/relationships/slide" Target="/ppt/slides/slide6.xml" Id="R10bfe609e3c24ad0" /><Relationship Type="http://schemas.openxmlformats.org/officeDocument/2006/relationships/slide" Target="/ppt/slides/slide7.xml" Id="Rd722ec05a3964810" /><Relationship Type="http://schemas.openxmlformats.org/officeDocument/2006/relationships/slide" Target="/ppt/slides/slide8.xml" Id="Rf98ea6ce352e4191" /><Relationship Type="http://schemas.openxmlformats.org/officeDocument/2006/relationships/slide" Target="/ppt/slides/slide9.xml" Id="Rc0ebdecc2a254720" /><Relationship Type="http://schemas.openxmlformats.org/officeDocument/2006/relationships/slide" Target="/ppt/slides/slide10.xml" Id="R50ed26ac75f146e9" /><Relationship Type="http://schemas.openxmlformats.org/officeDocument/2006/relationships/slide" Target="/ppt/slides/slide11.xml" Id="Rab370e86c5444de2" /><Relationship Type="http://schemas.openxmlformats.org/officeDocument/2006/relationships/slide" Target="/ppt/slides/slide12.xml" Id="R163da06a233549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362ae55aab43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3b8b778f574206" /><Relationship Type="http://schemas.openxmlformats.org/officeDocument/2006/relationships/notesMaster" Target="/ppt/notesMasters/notesMaster1.xml" Id="Rd8bd57aa305d44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ef898df20c4c7d" /><Relationship Type="http://schemas.openxmlformats.org/officeDocument/2006/relationships/notesMaster" Target="/ppt/notesMasters/notesMaster1.xml" Id="R2856046b59df4f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2fe50458e74b64" /><Relationship Type="http://schemas.openxmlformats.org/officeDocument/2006/relationships/notesMaster" Target="/ppt/notesMasters/notesMaster1.xml" Id="R40da96ec123048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35ebfc41464f95" /><Relationship Type="http://schemas.openxmlformats.org/officeDocument/2006/relationships/notesMaster" Target="/ppt/notesMasters/notesMaster1.xml" Id="R525d488d33804b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0cff32cd3d40d9" /><Relationship Type="http://schemas.openxmlformats.org/officeDocument/2006/relationships/notesMaster" Target="/ppt/notesMasters/notesMaster1.xml" Id="Rcf74d424fb9946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aeb027650748a5" /><Relationship Type="http://schemas.openxmlformats.org/officeDocument/2006/relationships/notesMaster" Target="/ppt/notesMasters/notesMaster1.xml" Id="R57a96ba9b5f94e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b87d5c4ac94060" /><Relationship Type="http://schemas.openxmlformats.org/officeDocument/2006/relationships/notesMaster" Target="/ppt/notesMasters/notesMaster1.xml" Id="Rcd8e078250b442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02c186d88a48c3" /><Relationship Type="http://schemas.openxmlformats.org/officeDocument/2006/relationships/notesMaster" Target="/ppt/notesMasters/notesMaster1.xml" Id="R7a19fd121d8848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306dc8b6d845ef" /><Relationship Type="http://schemas.openxmlformats.org/officeDocument/2006/relationships/notesMaster" Target="/ppt/notesMasters/notesMaster1.xml" Id="R249c4f9c247843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dd1ccc8e0f4ae6" /><Relationship Type="http://schemas.openxmlformats.org/officeDocument/2006/relationships/notesMaster" Target="/ppt/notesMasters/notesMaster1.xml" Id="Rcde2f2232e8143a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e209db43644453" /><Relationship Type="http://schemas.openxmlformats.org/officeDocument/2006/relationships/notesMaster" Target="/ppt/notesMasters/notesMaster1.xml" Id="Rdfbf2d84ea2f42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25613a3fe44874" /><Relationship Type="http://schemas.openxmlformats.org/officeDocument/2006/relationships/notesMaster" Target="/ppt/notesMasters/notesMaster1.xml" Id="Rc2230730ffdc42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0d646504340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d3482d62df4a5c" /><Relationship Type="http://schemas.openxmlformats.org/officeDocument/2006/relationships/slideLayout" Target="/ppt/slideLayouts/slideLayout1.xml" Id="R91c3fcb5db3e47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c3fcb5db3e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a867089e64c12" /><Relationship Type="http://schemas.openxmlformats.org/officeDocument/2006/relationships/notesSlide" Target="/ppt/notesSlides/notesSlide1.xml" Id="R8037a8aacfc64a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3073dc5c8493b" /><Relationship Type="http://schemas.openxmlformats.org/officeDocument/2006/relationships/notesSlide" Target="/ppt/notesSlides/notesSlide2.xml" Id="R7262af9b14f241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52e49c7644db2" /><Relationship Type="http://schemas.openxmlformats.org/officeDocument/2006/relationships/notesSlide" Target="/ppt/notesSlides/notesSlide3.xml" Id="R3922403e99bc4a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8c0165e224126" /><Relationship Type="http://schemas.openxmlformats.org/officeDocument/2006/relationships/notesSlide" Target="/ppt/notesSlides/notesSlide4.xml" Id="R48fdd0db618e41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8c5dbfa944019" /><Relationship Type="http://schemas.openxmlformats.org/officeDocument/2006/relationships/notesSlide" Target="/ppt/notesSlides/notesSlide5.xml" Id="R57eba4fd1fec4f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bcbc826ac4800" /><Relationship Type="http://schemas.openxmlformats.org/officeDocument/2006/relationships/notesSlide" Target="/ppt/notesSlides/notesSlide6.xml" Id="Rde47a813819e47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cbb46dcfc44d7" /><Relationship Type="http://schemas.openxmlformats.org/officeDocument/2006/relationships/notesSlide" Target="/ppt/notesSlides/notesSlide7.xml" Id="R86aa855dfe0d4f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e08d1377b483d" /><Relationship Type="http://schemas.openxmlformats.org/officeDocument/2006/relationships/notesSlide" Target="/ppt/notesSlides/notesSlide8.xml" Id="R5653c82755fe48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a9a362fb649ff" /><Relationship Type="http://schemas.openxmlformats.org/officeDocument/2006/relationships/notesSlide" Target="/ppt/notesSlides/notesSlide9.xml" Id="Rbae068340ba348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139f9257e42f4" /><Relationship Type="http://schemas.openxmlformats.org/officeDocument/2006/relationships/notesSlide" Target="/ppt/notesSlides/notesSlide10.xml" Id="R2e3b8b6b27474a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42e77e86c4e29" /><Relationship Type="http://schemas.openxmlformats.org/officeDocument/2006/relationships/notesSlide" Target="/ppt/notesSlides/notesSlide11.xml" Id="Rc08213c8b7df46f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11367d096455a" /><Relationship Type="http://schemas.openxmlformats.org/officeDocument/2006/relationships/notesSlide" Target="/ppt/notesSlides/notesSlide12.xml" Id="R3dd250329f3849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762EE25-B5B6-47A7-B5F1-31BBC2A2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84037B5-338F-4D68-93B5-ED47440E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A4FFD2A-D37F-4B9E-98A1-CE402086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83E8CEAC-D661-439A-BD6C-799358A7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FA63695C-43CD-457B-8DD7-8215444E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B411B1A4-ADC0-4C17-90D6-808383C9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7B29B1A-AABA-4A04-815A-6ACB7781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A2BF128-051E-4B0A-A86A-854E9C28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什么是人工智能：感知、思考与行动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909980F-DD20-4288-99F6-ADD63E1C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用现实案例和感知—思考—行动闭环建立人工智能的第一幅全景图。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1FF9048-D990-4EAB-93B4-CD4D11CF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先看几个真实案例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6C73F96-EB39-4F63-83C8-D6F6224E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69460A54-DF3B-45CF-B92D-81EE6A3F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OV-001 · OV-001-S01</a:t>
            </a:r>
          </a:p>
        </p:txBody>
      </p:sp>
    </p:spTree>
    <p:extLst>
      <p:ext uri="{BB962C8B-B14F-4D97-AF65-F5344CB8AC3E}">
        <p14:creationId xmlns:p14="http://schemas.microsoft.com/office/powerpoint/2010/main" val="13795308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1A473CF-12B9-44E0-85ED-E664D05D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7DE5046-1E69-435E-9104-DA99056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7C0C453C-C8AA-4A9F-9A55-58209473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D4910D8-A35D-4EFC-A8D1-57D5A982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4C63E8D-7F7A-4437-B3E7-061663EA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8F4B295-7AC8-4E94-9C27-286EA202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用“感知—思考—行动”解释一个人工智能系统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08EE5E6-D8A0-4BB7-9F79-0203D4FC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区分计算智能、感知智能和认知智能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240BB32-2A3B-4347-A88C-1F556ACC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说明图灵测试能观察到什么，以及它不能证明什么</a:t>
            </a:r>
          </a:p>
        </p:txBody>
      </p:sp>
    </p:spTree>
    <p:extLst>
      <p:ext uri="{BB962C8B-B14F-4D97-AF65-F5344CB8AC3E}">
        <p14:creationId xmlns:p14="http://schemas.microsoft.com/office/powerpoint/2010/main" val="15002898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E4A5EA23-D6B5-4D41-9859-CEEAA89E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90A1551A-DFF7-4579-86A0-07849574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3A29B446-E421-4695-A916-57EDAA57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10158D5D-8741-4A64-89DD-27F3C42F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43150FC8-2665-49C5-9942-C2AE4730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492D808-0C00-4BCB-AB36-F0272FAC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BFBCDFB-107F-40D6-901B-CE805290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40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的核心逻辑：感知—思考—行动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C2F0BBB-B4C6-4E94-A125-EDD55DF3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三个案例背后是同一套逻辑。人工智能想让一个"系统"变成全能选手，核心是三件事的循环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3C5B1A3-AB6F-4D0C-A7CE-56B46B6F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1FFD580-A6CD-4D62-AF4C-4A89E871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感知 ：不只是用摄像头"看"，还包括触觉、听觉等——比如机器人摸到热水会缩手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97F01868-7B4C-4581-A3AA-58046E80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FAB1C2C-3EDB-4C19-BB0F-BB7F05F7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思考 ：分析环境、规划策略，比如避开路上的障碍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636FD66-3F0E-4427-9D37-2389C594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F26A57E0-7A43-41B8-B3C4-F7C64973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</p:spTree>
    <p:extLst>
      <p:ext uri="{BB962C8B-B14F-4D97-AF65-F5344CB8AC3E}">
        <p14:creationId xmlns:p14="http://schemas.microsoft.com/office/powerpoint/2010/main" val="565363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0C02902-AC53-4F26-8FDE-FA8881C2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F6F1E34-38C4-429A-AFA4-04A32F52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422D557-2777-4276-A29B-640C5AD1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E2004A1E-28B6-408A-8874-DB1327CC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B561D31B-5B78-464C-954B-267AA565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4BF2429-1D46-495A-A7A0-8792862B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97D80CA-AC74-4807-80FB-04DF639B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24A4137-8470-408F-8CAA-52ADCDE3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为了便于课堂分析，本节采用“计算—感知—认知”三个观察维度。它是一种教学框架，不是学界唯一或统一的智能分级；同一系统可能在某个受控任务上表现很强，在开放环境中却迅速失效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F506885-CC8C-4C43-8789-BBC18B1F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60C2C95-34EB-476D-8E4D-69DBBDDC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大模型显著扩展了机器处理语言、知识与多步任务的能力，但这不等于它已经获得人类式理解，也不能仅凭流畅回答判断其认知水平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C58E55FA-C4E1-4889-B906-A67D1A72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8101C7C-3E90-44F8-BE79-9A4FBE84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</p:spTree>
    <p:extLst>
      <p:ext uri="{BB962C8B-B14F-4D97-AF65-F5344CB8AC3E}">
        <p14:creationId xmlns:p14="http://schemas.microsoft.com/office/powerpoint/2010/main" val="10720645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318631B7-DB18-45BE-937A-CE76C1A6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A19AB711-D4CC-43D0-AEBF-F725A5F7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5E6C856-E5C7-4280-B928-991C8AEF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B47ACD50-BF81-4915-B5B3-98A0DDD3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B5C0703-E899-4342-9770-44181F6F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0102711-A504-4B98-BEB3-1486A5F8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E1F9C8B-5C42-4C56-86BE-86C91DDB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 1956 年到今天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03E4CD6-FF0F-4C63-B120-C6E0C29C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人工智能不是新概念。1956 年的达特茅斯会议第一次正式提出"Artificial Intelligence"，被视为 AI 的元年。此后它经历了几个关键节点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8891C9D-44F0-45F3-BE9F-45654D05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2C7F972-FA95-4159-AF7B-53E0E736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1956 达特茅斯会议，AI 作为学科诞生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8E80E64-141D-404C-B0BC-90DC5CD4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B8216DF-29D6-46CA-B233-BB4EB9AA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1997 深蓝击败国际象棋世界冠军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484386B5-C94B-4C52-81E7-36BD9979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52B4455-14BC-4E56-8FF6-5168DCA1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</p:spTree>
    <p:extLst>
      <p:ext uri="{BB962C8B-B14F-4D97-AF65-F5344CB8AC3E}">
        <p14:creationId xmlns:p14="http://schemas.microsoft.com/office/powerpoint/2010/main" val="19202642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774413B-D500-4F96-AFC2-F6052F5D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17A505A-0E23-42D5-92C7-EDD480E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8A976680-C7E8-49BE-B340-43D24F01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4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图灵在《计算机器与智能》中没有直接给“机器是否真正思考”下定义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FED45F1-5116-4469-8DD5-80497CDB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50F493D-9B1C-40DC-B7B1-F85CF964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B9E00EF-028F-448D-B5EF-CD723E09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9AED6BC-F529-48AF-AF86-6D3AED91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图灵测试：一次重要实验，而不是智能的终审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4EADE4B-C1E8-4B34-9F98-0FE73E04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948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1950 年，图灵在《计算机器与智能》中没有直接给“机器是否真正思考”下定义，而是用模仿游戏把问题改写为可观察的对话表现。后来人们常把这种行为测试称为图灵测试。它能够研究机器是否表现得像人…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3022F18-CB6D-48C4-AB2E-528D8974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DC0BA1B-DD30-4684-9B8E-30CC5153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2025 年一项预注册三方图灵测试研究报告：在特定的人设提示与五分钟对话条件下，GPT-4.5 被参与者判断为“人类”的比例达到 73%。这说明语言模型已经能在短时对话中呈现很强的拟人表现…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0A1C2651-28CF-401E-A5AC-33A06696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C2F6B6D-A1BC-4F3F-8F5C-000AEDE0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图灵在《计算机器与智能》中没有直接给“机器是否真正思考”下定义</a:t>
            </a:r>
          </a:p>
        </p:txBody>
      </p:sp>
    </p:spTree>
    <p:extLst>
      <p:ext uri="{BB962C8B-B14F-4D97-AF65-F5344CB8AC3E}">
        <p14:creationId xmlns:p14="http://schemas.microsoft.com/office/powerpoint/2010/main" val="15076747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D80EC2E-3EBE-4954-9F1F-9F20AB8E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850EEBC-401F-4FDC-98A7-410C651F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3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910E71C8-88FF-4E19-A931-7CA12588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机器人公民索菲亚必须经过边界验证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1421FCA1-32CE-450E-827F-EDB4D749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DD29296-FF12-46EA-8B96-5F3B6D45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DC98637-56D5-4E21-8092-0452B4DE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机器人公民索菲亚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D490966-CBB8-401A-97CA-8AB1BD99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场景｜索菲亚由 Hanson Robotics 开发，并因获得沙特阿拉伯公民身份而广为人知。她能进行对话并做出面部表情，更像一个把“类人交互”推到公众面前的展示平台…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A3B630F-ED62-4D5B-8D8E-0999777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验证｜验收“机器人公民索菲亚”时，要同时记录适用场景、证据来源、失败条件与人工责任</a:t>
            </a:r>
          </a:p>
        </p:txBody>
      </p:sp>
      <p:sp>
        <p:nvSpPr>
          <p:cNvPr id="9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E04DFEB-5841-475C-A44C-F0B1165C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76DB4F6-5FEA-4681-B7D9-B7C7DFB2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机器人公民索菲亚必须经过边界验证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14871408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F09015B-4ECB-4B28-AB42-A8A9B121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62B2287-EBCB-4118-BB38-E6724679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3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5F3D1C6-2CEE-4F5D-A839-2D2A32FD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会自主决策的具身大脑必须经过边界验证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6D43F310-69DA-4A3B-8DC0-90D69004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4605055-380E-489B-B089-E12B8C56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73E588A-B7C9-48E3-B451-84CE4578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会自主决策的具身大脑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0DFC2F4-12D5-4ACD-9960-A0A80ADC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场景｜和索菲亚强调类人交互的展示不同，具身系统关注站立、行走和平衡等物理动作。仅凭一次演示不能判断系统的自主决策范围，因此这里把它作为观察具身闭环的入口：传感器读取状态…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C7E4A0B-3796-4627-BF9F-B38C0653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验证｜验收“会自主决策的具身大脑”时，要同时记录适用场景、证据来源、失败条件与人工责任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BF83A96B-5D25-4070-81ED-E3638B1E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DBB020AA-7292-4B4A-894D-553E11ED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会自主决策的具身大脑必须经过边界验证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16769409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E3D1F549-B81B-48EF-AA86-C7FD963C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D3382652-C2C2-4F27-94FB-75A0F78B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3 / 3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15A865C9-E552-4450-AD04-753C2663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20F32B54-822B-455A-8075-23F07A23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2548A70F-1722-4905-B1A3-9C538433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2615C50-D69F-4560-B1FF-98C74578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A06291B-D4CA-4711-8E71-45F1ACE0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场景｜团队课件以 Crowdverse 作为具身仿真案例，其中的“全身动作重定向”（Whole-Body Motion Retargeting）把人的动作映射到机器人模型…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17866C9-5357-460E-AB19-8850435E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验证｜验收“从仿真到真机的闭环：Crowdverse”时，要同时记录适用场景、证据来源、失败条件与人工责任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0DF9901-8468-4C17-B3FE-75BBCFA4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48EBED22-00D2-444C-9441-8222CAB9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</p:spTree>
    <p:extLst>
      <p:ext uri="{BB962C8B-B14F-4D97-AF65-F5344CB8AC3E}">
        <p14:creationId xmlns:p14="http://schemas.microsoft.com/office/powerpoint/2010/main" val="13523574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52FC53C-D4EB-4AD9-97E5-07A6C4FA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981F35FD-EFCF-493F-83D6-9905B5F8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4777C412-74A4-4434-9127-E58059EE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813E55E1-49EA-459D-B6EC-AEED5F28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81438C6-9D74-4A6A-8A87-8D7E53BF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E634A032-FB5F-4420-AB0E-1DEAE72A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2C3F0347-CA1B-44D5-AC90-DF0E8C53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CDDD710-F489-41B6-BFA2-683D7459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用"感知 → 思考 → 行动"的框架，拆解你身边一个 AI 产品（智能音箱、扫地机器人、导航软件），说清它每一步分别做了什么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A023172-D090-4D6F-B55F-DBB7C733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DF37D4A-9124-47F9-896F-A1E5DB41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92DF397F-DA12-45A5-9C8C-12F8BD10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4BA19F7-9B56-4DDD-A3BD-D693D86C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找一个你熟悉的 AI 应用，判断它主要停留在计算、感知还是认知智能这一层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22291FEA-F8A0-446F-B821-E88BB8F7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25EF2CE-4478-4035-BF8B-7AD8BF26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23EB309-EB98-440F-863A-585DFBBE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A817B9C6-CAE7-4B9E-AC2D-5F5B8025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让一个大模型扮演一个"人设"回答问题，再让它不带人设回答同一个问题，对比两者的差别</a:t>
            </a:r>
          </a:p>
        </p:txBody>
      </p:sp>
    </p:spTree>
    <p:extLst>
      <p:ext uri="{BB962C8B-B14F-4D97-AF65-F5344CB8AC3E}">
        <p14:creationId xmlns:p14="http://schemas.microsoft.com/office/powerpoint/2010/main" val="6192853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AC73809-0E40-4092-8BA4-2470783B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96763E6-86DA-4FFC-B8D1-FA1DC644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9BD1D556-D9BB-448E-9D92-773C50AB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8FC5D93B-8575-41AE-A60D-E5223FF5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BE50FC64-2C3F-471B-9C54-271D03FA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9E6CA52-9EC9-4C7B-A374-A9A2EA63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7F499CA-A1A4-4B59-AAFE-23E19469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1C6E8230-1B68-49EF-9233-2221F385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1FCE366E-F072-4214-8BC7-19B728DE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1C24B9D-5915-4DFA-BE5B-11D623A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D51E25ED-A33C-4051-9B19-7C51676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9B19806-6AF9-40E4-98A0-4B2C8A36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9C074510-5712-4740-A76F-6997F410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21D8FB3-F418-42D4-A5F7-BB0BB8F9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549DEC0-B9C6-4948-B778-893FD56E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2D6F124A-0518-4CBE-B9FC-64C94F76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图灵在《计算机器与智能》中没有直接给“机器是否真正思考”下定义</a:t>
            </a:r>
          </a:p>
        </p:txBody>
      </p:sp>
    </p:spTree>
    <p:extLst>
      <p:ext uri="{BB962C8B-B14F-4D97-AF65-F5344CB8AC3E}">
        <p14:creationId xmlns:p14="http://schemas.microsoft.com/office/powerpoint/2010/main" val="10991023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A68C79E9-1CFA-4E4B-BD92-9A4AC9ED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722E02F-5401-428F-949C-6366DCDE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DAFDD76-A836-46A7-8749-7C280ACB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FAAA86C-945A-48DE-A994-84952F21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7617DEDC-AE70-40D5-85E9-658C3AC1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F636397F-BBF2-41ED-A634-5FF17061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F3DA764-DD63-4BC2-87B9-D7686A71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Computing Machinery and Intelligence：图灵 1950 年原文；阅读时注意模仿游戏与“证明机器拥有意识”不是同一命题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50AAA0D-8788-4C3A-9E24-88DC6737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Large Language Models Pass the Turing Test：上述 73% 结论的原始研究；阅读时要同时关注实验条件与结论边界</a:t>
            </a:r>
          </a:p>
        </p:txBody>
      </p:sp>
      <p:sp>
        <p:nvSpPr>
          <p:cNvPr id="9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71E47A74-10CF-4B11-8CC9-8769EE06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30E5EB22-E8A7-4AD1-941B-D1979F17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229897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2026-07-11T12:05:03.3220000Z</dcterms:created>
  <dcterms:modified xsi:type="dcterms:W3CDTF">2026-07-11T12:05:03.3220000Z</dcterms:modified>
</coreProperties>
</file>