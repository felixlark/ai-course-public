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e13175ad7e546ce" /><Relationship Type="http://schemas.openxmlformats.org/officeDocument/2006/relationships/extended-properties" Target="/docProps/app.xml" Id="R8fd2c7e540164a43" /><Relationship Type="http://schemas.openxmlformats.org/officeDocument/2006/relationships/officeDocument" Target="/ppt/presentation.xml" Id="R955dee0f396f474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a0e0e6ff48044d0"/>
  </p:sldMasterIdLst>
  <p:notesMasterIdLst>
    <p:notesMasterId xmlns:r="http://schemas.openxmlformats.org/officeDocument/2006/relationships" r:id="R99441d0e1e334579"/>
  </p:notesMasterIdLst>
  <p:sldIdLst>
    <p:sldId xmlns:r="http://schemas.openxmlformats.org/officeDocument/2006/relationships" id="256" r:id="R5358f8bfc58249da"/>
    <p:sldId xmlns:r="http://schemas.openxmlformats.org/officeDocument/2006/relationships" id="257" r:id="Rfa15180de8304abf"/>
    <p:sldId xmlns:r="http://schemas.openxmlformats.org/officeDocument/2006/relationships" id="258" r:id="R0c1624061a43401b"/>
    <p:sldId xmlns:r="http://schemas.openxmlformats.org/officeDocument/2006/relationships" id="259" r:id="R9fa03b38d6e946f9"/>
    <p:sldId xmlns:r="http://schemas.openxmlformats.org/officeDocument/2006/relationships" id="260" r:id="R480037f55bf84507"/>
    <p:sldId xmlns:r="http://schemas.openxmlformats.org/officeDocument/2006/relationships" id="261" r:id="R9a69f69872ab4603"/>
    <p:sldId xmlns:r="http://schemas.openxmlformats.org/officeDocument/2006/relationships" id="262" r:id="R2454ebfc3e9045c2"/>
    <p:sldId xmlns:r="http://schemas.openxmlformats.org/officeDocument/2006/relationships" id="263" r:id="R7bdb16e8edaa4de6"/>
    <p:sldId xmlns:r="http://schemas.openxmlformats.org/officeDocument/2006/relationships" id="264" r:id="R94c332175b904186"/>
    <p:sldId xmlns:r="http://schemas.openxmlformats.org/officeDocument/2006/relationships" id="265" r:id="Rf5fe3df6f660455e"/>
    <p:sldId xmlns:r="http://schemas.openxmlformats.org/officeDocument/2006/relationships" id="266" r:id="R6dac947a9d0d4e99"/>
    <p:sldId xmlns:r="http://schemas.openxmlformats.org/officeDocument/2006/relationships" id="267" r:id="R5030b8a6fa0a45e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9a3e41ba31c47e4" /><Relationship Type="http://schemas.openxmlformats.org/officeDocument/2006/relationships/slideMaster" Target="/ppt/slideMasters/slideMaster1.xml" Id="R2a0e0e6ff48044d0" /><Relationship Type="http://schemas.openxmlformats.org/officeDocument/2006/relationships/notesMaster" Target="/ppt/notesMasters/notesMaster1.xml" Id="R99441d0e1e334579" /><Relationship Type="http://schemas.openxmlformats.org/officeDocument/2006/relationships/presProps" Target="/ppt/presProps.xml" Id="R7e70274ba6aa4cfa" /><Relationship Type="http://schemas.openxmlformats.org/officeDocument/2006/relationships/tableStyles" Target="/ppt/tableStyles.xml" Id="Rbd99abfc876b45bc" /><Relationship Type="http://schemas.openxmlformats.org/officeDocument/2006/relationships/slide" Target="/ppt/slides/slide1.xml" Id="R5358f8bfc58249da" /><Relationship Type="http://schemas.openxmlformats.org/officeDocument/2006/relationships/slide" Target="/ppt/slides/slide2.xml" Id="Rfa15180de8304abf" /><Relationship Type="http://schemas.openxmlformats.org/officeDocument/2006/relationships/slide" Target="/ppt/slides/slide3.xml" Id="R0c1624061a43401b" /><Relationship Type="http://schemas.openxmlformats.org/officeDocument/2006/relationships/slide" Target="/ppt/slides/slide4.xml" Id="R9fa03b38d6e946f9" /><Relationship Type="http://schemas.openxmlformats.org/officeDocument/2006/relationships/slide" Target="/ppt/slides/slide5.xml" Id="R480037f55bf84507" /><Relationship Type="http://schemas.openxmlformats.org/officeDocument/2006/relationships/slide" Target="/ppt/slides/slide6.xml" Id="R9a69f69872ab4603" /><Relationship Type="http://schemas.openxmlformats.org/officeDocument/2006/relationships/slide" Target="/ppt/slides/slide7.xml" Id="R2454ebfc3e9045c2" /><Relationship Type="http://schemas.openxmlformats.org/officeDocument/2006/relationships/slide" Target="/ppt/slides/slide8.xml" Id="R7bdb16e8edaa4de6" /><Relationship Type="http://schemas.openxmlformats.org/officeDocument/2006/relationships/slide" Target="/ppt/slides/slide9.xml" Id="R94c332175b904186" /><Relationship Type="http://schemas.openxmlformats.org/officeDocument/2006/relationships/slide" Target="/ppt/slides/slide10.xml" Id="Rf5fe3df6f660455e" /><Relationship Type="http://schemas.openxmlformats.org/officeDocument/2006/relationships/slide" Target="/ppt/slides/slide11.xml" Id="R6dac947a9d0d4e99" /><Relationship Type="http://schemas.openxmlformats.org/officeDocument/2006/relationships/slide" Target="/ppt/slides/slide12.xml" Id="R5030b8a6fa0a45e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4b35ca0fb8841b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ff89433fca84bee" /><Relationship Type="http://schemas.openxmlformats.org/officeDocument/2006/relationships/notesMaster" Target="/ppt/notesMasters/notesMaster1.xml" Id="R236ab296c13f4c1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a73c9db06bb4b4d" /><Relationship Type="http://schemas.openxmlformats.org/officeDocument/2006/relationships/notesMaster" Target="/ppt/notesMasters/notesMaster1.xml" Id="R98dbf32c14cb441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db7244ea2c44ae3" /><Relationship Type="http://schemas.openxmlformats.org/officeDocument/2006/relationships/notesMaster" Target="/ppt/notesMasters/notesMaster1.xml" Id="R5c078412c162415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c03929cdf5f4926" /><Relationship Type="http://schemas.openxmlformats.org/officeDocument/2006/relationships/notesMaster" Target="/ppt/notesMasters/notesMaster1.xml" Id="R61e6ce3ff2a24f7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976191e670f440f" /><Relationship Type="http://schemas.openxmlformats.org/officeDocument/2006/relationships/notesMaster" Target="/ppt/notesMasters/notesMaster1.xml" Id="R491f932ec75143d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45c73fd665f40fb" /><Relationship Type="http://schemas.openxmlformats.org/officeDocument/2006/relationships/notesMaster" Target="/ppt/notesMasters/notesMaster1.xml" Id="R44d10458ff77472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ac871a68d274a94" /><Relationship Type="http://schemas.openxmlformats.org/officeDocument/2006/relationships/notesMaster" Target="/ppt/notesMasters/notesMaster1.xml" Id="R038f12c43cea409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c570c833a014495" /><Relationship Type="http://schemas.openxmlformats.org/officeDocument/2006/relationships/notesMaster" Target="/ppt/notesMasters/notesMaster1.xml" Id="Rc4cca183b3274b1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d3076fbccd848b0" /><Relationship Type="http://schemas.openxmlformats.org/officeDocument/2006/relationships/notesMaster" Target="/ppt/notesMasters/notesMaster1.xml" Id="Re406e5722ba74fe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1f25aa09d2d4604" /><Relationship Type="http://schemas.openxmlformats.org/officeDocument/2006/relationships/notesMaster" Target="/ppt/notesMasters/notesMaster1.xml" Id="Rdf2940f72bca45d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f2a0ea341794c7c" /><Relationship Type="http://schemas.openxmlformats.org/officeDocument/2006/relationships/notesMaster" Target="/ppt/notesMasters/notesMaster1.xml" Id="Rbbcd66881d0841f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687b23c50704d01" /><Relationship Type="http://schemas.openxmlformats.org/officeDocument/2006/relationships/notesMaster" Target="/ppt/notesMasters/notesMaster1.xml" Id="Rdd189938e525411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b6bdd08f8342b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7e68d251fa548b3" /><Relationship Type="http://schemas.openxmlformats.org/officeDocument/2006/relationships/slideLayout" Target="/ppt/slideLayouts/slideLayout1.xml" Id="R43771ed2511f4bc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3771ed2511f4bc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9815259c4b4639" /><Relationship Type="http://schemas.openxmlformats.org/officeDocument/2006/relationships/notesSlide" Target="/ppt/notesSlides/notesSlide1.xml" Id="R9a71ca02acfb46b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162da0d0d94798" /><Relationship Type="http://schemas.openxmlformats.org/officeDocument/2006/relationships/notesSlide" Target="/ppt/notesSlides/notesSlide2.xml" Id="Rac05eecc3f194b6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85bc11f0de4fb6" /><Relationship Type="http://schemas.openxmlformats.org/officeDocument/2006/relationships/notesSlide" Target="/ppt/notesSlides/notesSlide3.xml" Id="R785f76284e4540d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211d9111464ae9" /><Relationship Type="http://schemas.openxmlformats.org/officeDocument/2006/relationships/notesSlide" Target="/ppt/notesSlides/notesSlide4.xml" Id="R9db7dcd3f0734f0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db9d5ddb3a4879" /><Relationship Type="http://schemas.openxmlformats.org/officeDocument/2006/relationships/notesSlide" Target="/ppt/notesSlides/notesSlide5.xml" Id="Rd506c5d76bcf455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0f2f64c8614f53" /><Relationship Type="http://schemas.openxmlformats.org/officeDocument/2006/relationships/notesSlide" Target="/ppt/notesSlides/notesSlide6.xml" Id="R5f7c2e2dd6c3482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8ffd6eb68d419f" /><Relationship Type="http://schemas.openxmlformats.org/officeDocument/2006/relationships/notesSlide" Target="/ppt/notesSlides/notesSlide7.xml" Id="R17a61165b9d1449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6112d4261b4b7f" /><Relationship Type="http://schemas.openxmlformats.org/officeDocument/2006/relationships/notesSlide" Target="/ppt/notesSlides/notesSlide8.xml" Id="R67a36c9e5f42454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da8802e5dd4d8f" /><Relationship Type="http://schemas.openxmlformats.org/officeDocument/2006/relationships/notesSlide" Target="/ppt/notesSlides/notesSlide9.xml" Id="R17e1c540a99c414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98df3165244070" /><Relationship Type="http://schemas.openxmlformats.org/officeDocument/2006/relationships/notesSlide" Target="/ppt/notesSlides/notesSlide10.xml" Id="Rcb7524362eca486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3a891e151f47eb" /><Relationship Type="http://schemas.openxmlformats.org/officeDocument/2006/relationships/notesSlide" Target="/ppt/notesSlides/notesSlide11.xml" Id="R159b8c05432a482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e842ae7ee64bfa" /><Relationship Type="http://schemas.openxmlformats.org/officeDocument/2006/relationships/notesSlide" Target="/ppt/notesSlides/notesSlide12.xml" Id="Rc9a4ff21d9b14b7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29B4A413-01DA-4844-A683-A8104AAF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015D632E-03D5-41DE-A9F3-60A837052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0E2A4F8C-7A12-4C99-A994-4E547C476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9309884A-390F-494D-80DF-E761B9E48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C4EA6869-3A2C-410F-BD94-ACDB4259C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F7C387BD-E7C0-4C3A-BB12-E4B03CFC9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9786B0AF-C952-4758-BCCE-3C5474252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第 1 章 · 人工智能概述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4935AC08-CE92-41A2-89A5-11EA5491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6021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什么是人工智能：感知、思考与行动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5246677F-13B5-49D6-8C1F-33315F54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用现实案例和感知—思考—行动闭环建立人工智能的第一幅全景图。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8CB291E9-4E28-4795-BD47-CC568A2FF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先看几个真实案例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907A7143-E0A9-4FB6-A985-17E631A1A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73271C8E-E058-403A-9225-4BF443989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OV-001 · OV-001-S01</a:t>
            </a:r>
          </a:p>
        </p:txBody>
      </p:sp>
    </p:spTree>
    <p:extLst>
      <p:ext uri="{BB962C8B-B14F-4D97-AF65-F5344CB8AC3E}">
        <p14:creationId xmlns:p14="http://schemas.microsoft.com/office/powerpoint/2010/main" val="4008424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79DAF940-D282-4479-8347-B11456A37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D3AD6E01-9FCF-4E7F-8299-30FF316D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A9FD6756-81C0-4246-96CB-BD26E056A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人工智能：3项学习结果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55625414-FBC2-4DA1-9106-63046D285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ABF830B4-2270-4615-9592-24BE58A02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OV-001 · OV-001-S02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9B064D5E-2A85-4FA3-AF13-E160C4C0C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用“感知—思考—行动”解释一个人工智能系统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8AE91D3A-2E70-4A65-828A-6694220D3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区分计算智能、感知智能和认知智能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41CE8993-55CF-4A6D-A074-32841EE59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说明图灵测试能观察到什么，以及它不能证明什么</a:t>
            </a:r>
          </a:p>
        </p:txBody>
      </p:sp>
    </p:spTree>
    <p:extLst>
      <p:ext uri="{BB962C8B-B14F-4D97-AF65-F5344CB8AC3E}">
        <p14:creationId xmlns:p14="http://schemas.microsoft.com/office/powerpoint/2010/main" val="15291443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0825EE88-821D-416D-BA60-B76C6D4A0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64988E11-C980-4B86-BE96-B286EF1DF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1 / 4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AD281FFA-1D54-4648-9909-B7405EA3F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三个案例背后是同一套逻辑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D4E8E145-CA3D-4A9D-9FFB-9519DF1CD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D7FA5258-3C40-4179-B49F-3D0F2E34F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OV-001 · OV-001-S03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4CE5ECCD-3A47-491C-B0D2-9859C1A6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92BCB44D-C4C0-4C55-8C54-F8B35F9B9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7402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AI 的核心逻辑：感知—思考—行动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94A1F073-8795-4EC5-BDFC-9928FC661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三个案例背后是同一套逻辑。人工智能想让一个"系统"变成全能选手，核心是三件事的循环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A020DABF-838F-402E-99EB-7A4B5949F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53A0543A-C6D3-4480-A005-109AD13D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感知 ：不只是用摄像头"看"，还包括触觉、听觉等——比如机器人摸到热水会缩手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516ECB64-1A9C-4503-B8EF-3A566B448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22200695-DC9C-47CF-BD61-4B2760B3B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思考 ：分析环境、规划策略，比如避开路上的障碍</a:t>
            </a:r>
          </a:p>
        </p:txBody>
      </p:sp>
      <p:sp>
        <p:nvSpPr>
          <p:cNvPr id="13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E7BEAFDF-1FAC-47CA-AE07-404AD4004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4" name="s3-takeaway">
            <a:extLst xmlns:a="http://schemas.openxmlformats.org/drawingml/2006/main">
              <a:ext uri="{FF2B5EF4-FFF2-40B4-BE49-F238E27FC236}">
                <a16:creationId xmlns:a16="http://schemas.microsoft.com/office/drawing/2014/main" id="{005AFE91-333C-47BB-95B8-B807528FA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三个案例背后是同一套逻辑</a:t>
            </a:r>
          </a:p>
        </p:txBody>
      </p:sp>
    </p:spTree>
    <p:extLst>
      <p:ext uri="{BB962C8B-B14F-4D97-AF65-F5344CB8AC3E}">
        <p14:creationId xmlns:p14="http://schemas.microsoft.com/office/powerpoint/2010/main" val="1295419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C345B327-832C-4760-BF72-47EC12938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E7BA5CA6-997C-4907-AF13-50D1AE207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2 / 4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95C8AE43-2389-46E5-8029-3DF518244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智能的三个层次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BAB68C64-99AC-4F9B-8056-7F1D1E473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3DA9A562-9750-4E6E-B398-4C9E7EA26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OV-001 · OV-001-S04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A6AA7037-DF75-4C91-8ABD-8DF59D5A9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14D69F09-D13B-4A53-B916-32B4A3E1A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智能的三个层次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98459111-7455-4BDA-8463-C03C93FBD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为了便于课堂分析，本节采用“计算—感知—认知”三个观察维度。它是一种教学框架，不是学界唯一或统一的智能分级；同一系统可能在某个受控任务上表现很强，在开放环境中却迅速失效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EFFB6668-FEDF-44DD-943D-C218DFC1C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921910EE-1A49-406F-A8D3-387681502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大模型显著扩展了机器处理语言、知识与多步任务的能力，但这不等于它已经获得人类式理解，也不能仅凭流畅回答判断其认知水平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97F9CC01-F6AF-4664-8AC5-91F5773F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4FC57A76-E3AF-46C2-8174-723013576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智能的三个层次</a:t>
            </a:r>
          </a:p>
        </p:txBody>
      </p:sp>
    </p:spTree>
    <p:extLst>
      <p:ext uri="{BB962C8B-B14F-4D97-AF65-F5344CB8AC3E}">
        <p14:creationId xmlns:p14="http://schemas.microsoft.com/office/powerpoint/2010/main" val="178150487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E8AC532A-F1D2-4AA1-9E9E-E56D26B2B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3D4F56F6-C2F4-493B-A1F1-47C28BD84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3 / 4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DF3EFD10-FBD0-46C4-A410-D126A4B1F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人工智能不是新概念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7445D71C-313B-45E7-B685-89B23B889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0713DBA6-9358-4413-A268-C02CB05ED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OV-001 · OV-001-S05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EFEC533-436F-4768-B1E8-6F4C52FCB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BD5772BD-BE00-4FF4-B6A1-11DA28830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从 1956 年到今天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9A621F7E-6C86-4436-A0BA-55E2E491A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930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人工智能不是新概念。1956 年的达特茅斯会议第一次正式提出"Artificial Intelligence"，被视为 AI 的元年。此后它经历了几个关键节点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22D88425-4650-475D-B3D3-49F2067D4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8C70F8A0-5446-4EE3-A7CF-6D21533C4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1956 达特茅斯会议，AI 作为学科诞生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30E7132F-72F4-41B5-843D-42A389DFD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51097104-EA9E-42A8-80CD-19529E9CE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1997 深蓝击败国际象棋世界冠军</a:t>
            </a:r>
          </a:p>
        </p:txBody>
      </p:sp>
      <p:sp>
        <p:nvSpPr>
          <p:cNvPr id="13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38D0169F-80E9-48E7-BEB0-08457C64B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4" name="s5-takeaway">
            <a:extLst xmlns:a="http://schemas.openxmlformats.org/drawingml/2006/main">
              <a:ext uri="{FF2B5EF4-FFF2-40B4-BE49-F238E27FC236}">
                <a16:creationId xmlns:a16="http://schemas.microsoft.com/office/drawing/2014/main" id="{11397907-4824-4B24-A065-372D0B4E5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人工智能不是新概念</a:t>
            </a:r>
          </a:p>
        </p:txBody>
      </p:sp>
    </p:spTree>
    <p:extLst>
      <p:ext uri="{BB962C8B-B14F-4D97-AF65-F5344CB8AC3E}">
        <p14:creationId xmlns:p14="http://schemas.microsoft.com/office/powerpoint/2010/main" val="7128751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331177B3-481E-45EF-91D7-2ADD31410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BBAD9D5B-47F0-4125-82FA-17EE9B77C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4 / 4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9D6B6B4A-CFBA-41BE-A372-BAFC4A201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图灵测试衡量拟人表现，不能证明机器理解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E5DE8C48-4168-45E6-A375-B74AAD91C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5B3C9153-25D7-4773-AFDD-6610822D1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OV-001 · OV-001-S06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AF9130B6-F8EB-4A1F-B423-6FC39B487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39A8291E-9108-40F3-9D56-7F7CD38C4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图灵测试：一次重要实验，而不是智能的终审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94BAEFFE-CE29-4311-A3D5-56DC94299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9948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1950 年，图灵在《计算机器与智能》中没有直接给“机器是否真正思考”下定义；而是用模仿游戏把问题改写为可观察的对话表现；后来人们常把这种行为测试称为图灵测试；它能够研究机器是否表现得像人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7E6583F0-BFB3-4E32-86EF-4833C0D82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2FDA0B52-FB53-4F23-BE04-F1BF2E5B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2025 年一项预注册三方图灵测试研究报告；在特定的人设提示与五分钟对话条件下；GPT-4.5 被参与者判断为“人类”的比例达到 73%；这说明语言模型已经能在短时对话中呈现很强的拟人表现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AA6A7BF6-2446-4C97-AED5-5C805E43C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C5F10DAB-D5DC-48F8-8A27-93B143E0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图灵测试衡量拟人表现，不能证明机器理解</a:t>
            </a:r>
          </a:p>
        </p:txBody>
      </p:sp>
    </p:spTree>
    <p:extLst>
      <p:ext uri="{BB962C8B-B14F-4D97-AF65-F5344CB8AC3E}">
        <p14:creationId xmlns:p14="http://schemas.microsoft.com/office/powerpoint/2010/main" val="73609775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77F9EAC4-9D89-407B-A00C-7517D39D0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5E50885B-13D6-435C-8AA9-AC3F123C5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1 / 3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CEDD5E96-26FB-40D2-AEF1-A9D9990E5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类人交互展示不等于机器真正理解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7ACA475F-A855-4E70-8C9D-2B4B62B3B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803A8DF6-0766-4995-8527-CC1F64294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OV-001 · OV-001-S07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3E16BE66-C9BB-49A4-A350-56EC07314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23B67"/>
          </a:solidFill>
          <a:ln xmlns:a="http://schemas.openxmlformats.org/drawingml/2006/main" w="0">
            <a:solidFill>
              <a:srgbClr val="123B6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机器人公民索菲亚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0F7DC0F9-D5F5-4C85-ADA9-8886D5FE0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574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结果｜索菲亚由 Hanson Robotics 开发，并因获得沙特阿拉伯公民身份而广为人知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617D1F97-26C7-4103-B1EB-ECA816976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861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机制｜她能进行对话并做出面部表情，更像一个把“类人交互”推到公众面前的展示平台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BBAB0CF5-33BB-4DAE-A46A-53522F8BE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148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启示｜这个案例抛出的问题很真实：当机器能听、能说、能表演情绪时，我们应该用什么标准判断它是否真的理解</a:t>
            </a:r>
          </a:p>
        </p:txBody>
      </p:sp>
      <p:sp>
        <p:nvSpPr>
          <p:cNvPr id="10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27C377A4-DF49-4688-9F21-CD87AA65B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1" name="s7-takeaway">
            <a:extLst xmlns:a="http://schemas.openxmlformats.org/drawingml/2006/main">
              <a:ext uri="{FF2B5EF4-FFF2-40B4-BE49-F238E27FC236}">
                <a16:creationId xmlns:a16="http://schemas.microsoft.com/office/drawing/2014/main" id="{453361F4-9AAB-4F4A-994B-E2993B697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类人交互展示不等于机器真正理解</a:t>
            </a:r>
          </a:p>
        </p:txBody>
      </p:sp>
    </p:spTree>
    <p:extLst>
      <p:ext uri="{BB962C8B-B14F-4D97-AF65-F5344CB8AC3E}">
        <p14:creationId xmlns:p14="http://schemas.microsoft.com/office/powerpoint/2010/main" val="119499995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991372D1-FCDA-4D25-9211-29195C2A8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00E3B625-F1F9-406A-8DB5-110165FB9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2 / 3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861271F1-DB21-4150-BAE7-39A6F60DD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具身能力要从感知、控制与反馈闭环判断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277AA886-B27C-47C6-96C8-30C01AAEC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5493AFB6-7B25-4A5B-A0F1-750D2FD33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OV-001 · OV-001-S08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5B0886FE-1788-43EB-8F0A-4FA50F7B7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23B67"/>
          </a:solidFill>
          <a:ln xmlns:a="http://schemas.openxmlformats.org/drawingml/2006/main" w="0">
            <a:solidFill>
              <a:srgbClr val="123B6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会自主决策的具身大脑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892A027A-85AA-41F3-A819-DC6314D25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2288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方法｜和索菲亚强调类人交互的展示不同，具身系统关注站立、行走和平衡等物理动作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7D020AAD-64AF-4483-9B5D-9CAEB2CD7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147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边界｜仅凭一次演示不能判断系统的自主决策范围，因此这里把它作为观察具身闭环的入口：传感器读取状态，控制系统生成动作，机器人执行后再根据反馈修正</a:t>
            </a:r>
          </a:p>
        </p:txBody>
      </p:sp>
      <p:sp>
        <p:nvSpPr>
          <p:cNvPr id="9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50B4B011-8045-472B-B5F5-C7AC88476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0" name="s8-takeaway">
            <a:extLst xmlns:a="http://schemas.openxmlformats.org/drawingml/2006/main">
              <a:ext uri="{FF2B5EF4-FFF2-40B4-BE49-F238E27FC236}">
                <a16:creationId xmlns:a16="http://schemas.microsoft.com/office/drawing/2014/main" id="{F31F6D6A-3D0E-4F37-BB42-B365697FE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具身能力要从感知、控制与反馈闭环判断</a:t>
            </a:r>
          </a:p>
        </p:txBody>
      </p:sp>
    </p:spTree>
    <p:extLst>
      <p:ext uri="{BB962C8B-B14F-4D97-AF65-F5344CB8AC3E}">
        <p14:creationId xmlns:p14="http://schemas.microsoft.com/office/powerpoint/2010/main" val="9590834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FF53F98F-03B2-4BFC-8D11-E41DF348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7D6B4079-2DAD-46D3-88C8-AB1586372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3 / 3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E57B30A5-3D31-4380-9F48-0618EA0D6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从仿真到真机的闭环：Crowdverse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56EDCA7A-2125-4F63-913C-3F9C1CE82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5C9648D8-59F0-4BA0-9574-F88AA8B06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OV-001 · OV-001-S09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65A03B46-25BF-4D5A-91E0-F270C054B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23B67"/>
          </a:solidFill>
          <a:ln xmlns:a="http://schemas.openxmlformats.org/drawingml/2006/main" w="0">
            <a:solidFill>
              <a:srgbClr val="123B6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从仿真到真机的闭环：Crowdverse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26C91762-0EC4-4B4D-8B22-810494EEB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574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5012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方法｜团队课件以 Crowdverse 作为具身仿真案例，其中的“全身动作重定向”（Whole-Body Motion Retargeting）把人的动作映射到机器人模型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813DC20F-9756-4D30-80D0-D10E738D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861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结果｜它的价值，是先在可重复的虚拟环境中检查任务控制、状态反馈与行为评估，再决定哪些结果值得进入真机验证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AAF3B48A-B8D2-4241-9EDB-FB115778A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148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边界｜仿真能够降低真机试错的成本和风险，但不能自动证明策略在现实中同样有效</a:t>
            </a:r>
          </a:p>
        </p:txBody>
      </p:sp>
      <p:sp>
        <p:nvSpPr>
          <p:cNvPr id="10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A8EF773E-98D4-4199-AAC8-6C610B749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1" name="s9-takeaway">
            <a:extLst xmlns:a="http://schemas.openxmlformats.org/drawingml/2006/main">
              <a:ext uri="{FF2B5EF4-FFF2-40B4-BE49-F238E27FC236}">
                <a16:creationId xmlns:a16="http://schemas.microsoft.com/office/drawing/2014/main" id="{C8339470-217D-40EA-A728-1CCF052FA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从仿真到真机的闭环：Crowdverse</a:t>
            </a:r>
          </a:p>
        </p:txBody>
      </p:sp>
    </p:spTree>
    <p:extLst>
      <p:ext uri="{BB962C8B-B14F-4D97-AF65-F5344CB8AC3E}">
        <p14:creationId xmlns:p14="http://schemas.microsoft.com/office/powerpoint/2010/main" val="122962286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33FDFE36-33A4-433E-A988-7D7DA1633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1FF490DD-FCDC-40BC-8A22-177782800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E762410C-0ACE-4BE0-A885-74434CBDD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人工智能：一次可验收练习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1CE37098-6A72-4757-A4D0-3D6D77B05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56F541A0-CE05-430B-A056-4419DBA0E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OV-001 · OV-001-S10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2C4B47E0-6078-4061-801E-3560B7CAC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6F06C089-A282-4AD8-93CA-59F005FAA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962B758A-41E6-4AF7-A6EF-5C20C0977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用"感知 → 思考 → 行动"的框架，拆解你身边一个 AI 产品（智能音箱、扫地机器人、导航软件），说清它每一步分别做了什么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CAC6AF87-5EF2-4924-BCE2-A9CFCB2BC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017415C1-5E15-4BBC-B2D1-B56F58197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666FA892-18DB-47AB-A10B-B4C96072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0312731B-B535-435F-8A5C-A2944E211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找一个你熟悉的 AI 应用，判断它主要停留在计算、感知还是认知智能这一层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0FBBBFD8-964D-4DC0-A2FC-C71A25501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A8D0ED57-941A-4044-9BBB-40DC68C4D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A0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605D76A0-15EF-4FC4-9A42-948665CBB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C24C313A-7166-43B2-BA3E-AA782B63B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让一个大模型扮演一个"人设"回答问题，再让它不带人设回答同一个问题，对比两者的差别</a:t>
            </a:r>
          </a:p>
        </p:txBody>
      </p:sp>
    </p:spTree>
    <p:extLst>
      <p:ext uri="{BB962C8B-B14F-4D97-AF65-F5344CB8AC3E}">
        <p14:creationId xmlns:p14="http://schemas.microsoft.com/office/powerpoint/2010/main" val="98613077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52B4E367-C862-45B0-852E-43B067C50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1EB6DCC1-9A49-4927-8C6B-ACFC01D91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6A77E337-DE10-4C87-B486-94EF374D4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人工智能：判断时先抓住三点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88B48B81-A88E-48CF-985D-164EAE77E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FDB0BF24-9E9D-4594-A7F5-A7125AC78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OV-001 · OV-001-S11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6732B91D-1063-4BB2-A4A7-E0DC37E4A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0B4AF07F-A332-4FD0-8E12-90F5F4E63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DC940BC8-B480-45B6-8FA4-F3FD20B70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三个案例背后是同一套逻辑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E5781B67-1CD1-4269-89FE-3A09979B5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C2559151-7F17-4E01-A054-17A7F7680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1F3DAB8E-3902-4A83-A628-F8186578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BA0C3D0A-5895-4B4B-91D5-D33EF2809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智能的三个层次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783E01E1-8B3A-472A-8DA3-6D5562C11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ACAEB8C2-E196-4E73-9AC2-CEA400F71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A0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9F38631E-DEB2-4E86-BA0A-920AE4DE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529A5AB4-FDF4-4508-923C-804403723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图灵测试衡量拟人表现，不能证明机器理解</a:t>
            </a:r>
          </a:p>
        </p:txBody>
      </p:sp>
    </p:spTree>
    <p:extLst>
      <p:ext uri="{BB962C8B-B14F-4D97-AF65-F5344CB8AC3E}">
        <p14:creationId xmlns:p14="http://schemas.microsoft.com/office/powerpoint/2010/main" val="164788764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5C1846AE-68BC-4979-9295-205E2E682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F612A2AF-C87E-4B65-8F19-3D5AB69F1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0A207342-1E4C-447C-805F-F553E5550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人工智能：依据、边界与延伸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B59C545E-CFF6-4169-81C0-B5C41657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6F359B6E-401F-4346-9E6B-DC9530228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OV-001 · OV-001-S12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A5D63F11-1FB7-443A-A4CF-2A3935AD6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8FADDDAB-9635-49FA-858F-D93C057F7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Computing Machinery and Intelligence：图灵 1950 年原文；阅读时注意模仿游戏与“证明机器拥有意识”不是同一命题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514BE7C3-D8FF-4385-A9C2-BEB0DC5AF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Large Language Models Pass the Turing Test：上述 73% 结论的原始研究；阅读时要同时关注实验条件与结论边界</a:t>
            </a:r>
          </a:p>
        </p:txBody>
      </p:sp>
      <p:sp>
        <p:nvSpPr>
          <p:cNvPr id="9" name="s12-takeaway-rule">
            <a:extLst xmlns:a="http://schemas.openxmlformats.org/drawingml/2006/main">
              <a:ext uri="{FF2B5EF4-FFF2-40B4-BE49-F238E27FC236}">
                <a16:creationId xmlns:a16="http://schemas.microsoft.com/office/drawing/2014/main" id="{84042574-01A4-4709-AE5F-17D10E884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0" name="s12-takeaway">
            <a:extLst xmlns:a="http://schemas.openxmlformats.org/drawingml/2006/main">
              <a:ext uri="{FF2B5EF4-FFF2-40B4-BE49-F238E27FC236}">
                <a16:creationId xmlns:a16="http://schemas.microsoft.com/office/drawing/2014/main" id="{5631A251-C0BD-4A0F-B90D-09BF5E42D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101462202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2026-07-11T16:55:16.6040000Z</dcterms:created>
  <dcterms:modified xsi:type="dcterms:W3CDTF">2026-07-11T16:55:16.6040000Z</dcterms:modified>
</coreProperties>
</file>