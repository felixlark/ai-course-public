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20dd6afc84df9" /><Relationship Type="http://schemas.openxmlformats.org/officeDocument/2006/relationships/extended-properties" Target="/docProps/app.xml" Id="R424f4347f3af4103" /><Relationship Type="http://schemas.openxmlformats.org/officeDocument/2006/relationships/officeDocument" Target="/ppt/presentation.xml" Id="Rb1e1bc53c98b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6ac979f6b4836"/>
  </p:sldMasterIdLst>
  <p:notesMasterIdLst>
    <p:notesMasterId xmlns:r="http://schemas.openxmlformats.org/officeDocument/2006/relationships" r:id="Re3817c35b4ca4afd"/>
  </p:notesMasterIdLst>
  <p:sldIdLst>
    <p:sldId xmlns:r="http://schemas.openxmlformats.org/officeDocument/2006/relationships" id="256" r:id="R524c7b36b753457e"/>
    <p:sldId xmlns:r="http://schemas.openxmlformats.org/officeDocument/2006/relationships" id="257" r:id="R889000e4da154570"/>
    <p:sldId xmlns:r="http://schemas.openxmlformats.org/officeDocument/2006/relationships" id="258" r:id="Rc63dfb72f1af42e9"/>
    <p:sldId xmlns:r="http://schemas.openxmlformats.org/officeDocument/2006/relationships" id="259" r:id="R9010177b6e6f45cc"/>
    <p:sldId xmlns:r="http://schemas.openxmlformats.org/officeDocument/2006/relationships" id="260" r:id="R11a2afbf89f144ec"/>
    <p:sldId xmlns:r="http://schemas.openxmlformats.org/officeDocument/2006/relationships" id="261" r:id="R65444c5ceff34b32"/>
    <p:sldId xmlns:r="http://schemas.openxmlformats.org/officeDocument/2006/relationships" id="262" r:id="Recb3cf642a2848bd"/>
    <p:sldId xmlns:r="http://schemas.openxmlformats.org/officeDocument/2006/relationships" id="263" r:id="Rd6518d34e41e4653"/>
    <p:sldId xmlns:r="http://schemas.openxmlformats.org/officeDocument/2006/relationships" id="264" r:id="R6c98ffd3b0764a38"/>
    <p:sldId xmlns:r="http://schemas.openxmlformats.org/officeDocument/2006/relationships" id="265" r:id="Rceb1fdc4156047f0"/>
    <p:sldId xmlns:r="http://schemas.openxmlformats.org/officeDocument/2006/relationships" id="266" r:id="R815512e05d5a4e1c"/>
    <p:sldId xmlns:r="http://schemas.openxmlformats.org/officeDocument/2006/relationships" id="267" r:id="R12d2f057c77145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22bcf9a11478d" /><Relationship Type="http://schemas.openxmlformats.org/officeDocument/2006/relationships/slideMaster" Target="/ppt/slideMasters/slideMaster1.xml" Id="Rf8e6ac979f6b4836" /><Relationship Type="http://schemas.openxmlformats.org/officeDocument/2006/relationships/notesMaster" Target="/ppt/notesMasters/notesMaster1.xml" Id="Re3817c35b4ca4afd" /><Relationship Type="http://schemas.openxmlformats.org/officeDocument/2006/relationships/presProps" Target="/ppt/presProps.xml" Id="Rce366d1a9894475f" /><Relationship Type="http://schemas.openxmlformats.org/officeDocument/2006/relationships/tableStyles" Target="/ppt/tableStyles.xml" Id="Rb19e633ee4104030" /><Relationship Type="http://schemas.openxmlformats.org/officeDocument/2006/relationships/slide" Target="/ppt/slides/slide1.xml" Id="R524c7b36b753457e" /><Relationship Type="http://schemas.openxmlformats.org/officeDocument/2006/relationships/slide" Target="/ppt/slides/slide2.xml" Id="R889000e4da154570" /><Relationship Type="http://schemas.openxmlformats.org/officeDocument/2006/relationships/slide" Target="/ppt/slides/slide3.xml" Id="Rc63dfb72f1af42e9" /><Relationship Type="http://schemas.openxmlformats.org/officeDocument/2006/relationships/slide" Target="/ppt/slides/slide4.xml" Id="R9010177b6e6f45cc" /><Relationship Type="http://schemas.openxmlformats.org/officeDocument/2006/relationships/slide" Target="/ppt/slides/slide5.xml" Id="R11a2afbf89f144ec" /><Relationship Type="http://schemas.openxmlformats.org/officeDocument/2006/relationships/slide" Target="/ppt/slides/slide6.xml" Id="R65444c5ceff34b32" /><Relationship Type="http://schemas.openxmlformats.org/officeDocument/2006/relationships/slide" Target="/ppt/slides/slide7.xml" Id="Recb3cf642a2848bd" /><Relationship Type="http://schemas.openxmlformats.org/officeDocument/2006/relationships/slide" Target="/ppt/slides/slide8.xml" Id="Rd6518d34e41e4653" /><Relationship Type="http://schemas.openxmlformats.org/officeDocument/2006/relationships/slide" Target="/ppt/slides/slide9.xml" Id="R6c98ffd3b0764a38" /><Relationship Type="http://schemas.openxmlformats.org/officeDocument/2006/relationships/slide" Target="/ppt/slides/slide10.xml" Id="Rceb1fdc4156047f0" /><Relationship Type="http://schemas.openxmlformats.org/officeDocument/2006/relationships/slide" Target="/ppt/slides/slide11.xml" Id="R815512e05d5a4e1c" /><Relationship Type="http://schemas.openxmlformats.org/officeDocument/2006/relationships/slide" Target="/ppt/slides/slide12.xml" Id="R12d2f057c771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715a83b76240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2d0dc4bcf4d23" /><Relationship Type="http://schemas.openxmlformats.org/officeDocument/2006/relationships/notesMaster" Target="/ppt/notesMasters/notesMaster1.xml" Id="Rdd8a27b666f947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93a1df36a3488b" /><Relationship Type="http://schemas.openxmlformats.org/officeDocument/2006/relationships/notesMaster" Target="/ppt/notesMasters/notesMaster1.xml" Id="R7d6a83fe1756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7f2ca2bfa44e8" /><Relationship Type="http://schemas.openxmlformats.org/officeDocument/2006/relationships/notesMaster" Target="/ppt/notesMasters/notesMaster1.xml" Id="R6fd99a18d148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a758cb1b854cb7" /><Relationship Type="http://schemas.openxmlformats.org/officeDocument/2006/relationships/notesMaster" Target="/ppt/notesMasters/notesMaster1.xml" Id="Rc84f27f7ff6e49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d77a4f632c4e2f" /><Relationship Type="http://schemas.openxmlformats.org/officeDocument/2006/relationships/notesMaster" Target="/ppt/notesMasters/notesMaster1.xml" Id="Rbd3491f93e9045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c78874fa234915" /><Relationship Type="http://schemas.openxmlformats.org/officeDocument/2006/relationships/notesMaster" Target="/ppt/notesMasters/notesMaster1.xml" Id="R00e98c98efee40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0823d458e84e8f" /><Relationship Type="http://schemas.openxmlformats.org/officeDocument/2006/relationships/notesMaster" Target="/ppt/notesMasters/notesMaster1.xml" Id="Ra91e44901ca848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a861f5beb4c4e" /><Relationship Type="http://schemas.openxmlformats.org/officeDocument/2006/relationships/notesMaster" Target="/ppt/notesMasters/notesMaster1.xml" Id="R66ccafd6d3884d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fc23d3ce7d43b6" /><Relationship Type="http://schemas.openxmlformats.org/officeDocument/2006/relationships/notesMaster" Target="/ppt/notesMasters/notesMaster1.xml" Id="R5b272c0723024a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1e2c211ed14d31" /><Relationship Type="http://schemas.openxmlformats.org/officeDocument/2006/relationships/notesMaster" Target="/ppt/notesMasters/notesMaster1.xml" Id="Rfc75fcc6333c47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16ade557404fd6" /><Relationship Type="http://schemas.openxmlformats.org/officeDocument/2006/relationships/notesMaster" Target="/ppt/notesMasters/notesMaster1.xml" Id="R8057d0be6c584b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1c11341e5b4828" /><Relationship Type="http://schemas.openxmlformats.org/officeDocument/2006/relationships/notesMaster" Target="/ppt/notesMasters/notesMaster1.xml" Id="Rcdeda16fd8aa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8139d8c44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40b596d2c4475" /><Relationship Type="http://schemas.openxmlformats.org/officeDocument/2006/relationships/slideLayout" Target="/ppt/slideLayouts/slideLayout1.xml" Id="R2c71d34a5492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71d34a5492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58438bb434445" /><Relationship Type="http://schemas.openxmlformats.org/officeDocument/2006/relationships/notesSlide" Target="/ppt/notesSlides/notesSlide1.xml" Id="R7a929e29eac848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a9dca4e7d4988" /><Relationship Type="http://schemas.openxmlformats.org/officeDocument/2006/relationships/notesSlide" Target="/ppt/notesSlides/notesSlide2.xml" Id="R7d200e25d94840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a42a96ca34a2d" /><Relationship Type="http://schemas.openxmlformats.org/officeDocument/2006/relationships/notesSlide" Target="/ppt/notesSlides/notesSlide3.xml" Id="Rf203eb3882c140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85560bad14316" /><Relationship Type="http://schemas.openxmlformats.org/officeDocument/2006/relationships/notesSlide" Target="/ppt/notesSlides/notesSlide4.xml" Id="R9072ab3b178b40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a1a5f90b047a2" /><Relationship Type="http://schemas.openxmlformats.org/officeDocument/2006/relationships/notesSlide" Target="/ppt/notesSlides/notesSlide5.xml" Id="R8cb1eeef172046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7804bdfca4899" /><Relationship Type="http://schemas.openxmlformats.org/officeDocument/2006/relationships/notesSlide" Target="/ppt/notesSlides/notesSlide6.xml" Id="R350bda6ea701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44968ba2146ef" /><Relationship Type="http://schemas.openxmlformats.org/officeDocument/2006/relationships/notesSlide" Target="/ppt/notesSlides/notesSlide7.xml" Id="Rd72e3adddc274f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0601cba6745b4" /><Relationship Type="http://schemas.openxmlformats.org/officeDocument/2006/relationships/notesSlide" Target="/ppt/notesSlides/notesSlide8.xml" Id="R55af61d21ed34e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02635c2a4f0c" /><Relationship Type="http://schemas.openxmlformats.org/officeDocument/2006/relationships/notesSlide" Target="/ppt/notesSlides/notesSlide9.xml" Id="R9c45c2a3f64d46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460a0d2d944dd" /><Relationship Type="http://schemas.openxmlformats.org/officeDocument/2006/relationships/notesSlide" Target="/ppt/notesSlides/notesSlide10.xml" Id="Ra9ec53648ce44c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a35e45ea14e55" /><Relationship Type="http://schemas.openxmlformats.org/officeDocument/2006/relationships/notesSlide" Target="/ppt/notesSlides/notesSlide11.xml" Id="R1ca9c2d1e6a342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e8c83f7ac48b4" /><Relationship Type="http://schemas.openxmlformats.org/officeDocument/2006/relationships/notesSlide" Target="/ppt/notesSlides/notesSlide12.xml" Id="Rf00e07b1d0fa49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0FE41C0F-2DAD-4EC8-861F-7753381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B504AA06-A601-48EE-BC66-D406E0FD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A12DE5FC-056E-4361-96B8-8377BA5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576F4182-2851-4967-AE62-4E3B6AE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B556D91B-FBB3-4CA8-9E42-20162725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11F834CF-9207-4579-AD7B-C9D63AAF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E37B5C6-266B-4AA3-A8C9-62EDA2B2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C5DD61-9AB1-44B8-9E31-AD1DD27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什么是人工智能：感知、思考与行动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916C537-02EA-4C55-BBB6-5DC0643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用现实案例和感知—思考—行动闭环建立人工智能的第一幅全景图。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4EF9E02B-1BFB-417C-B0F9-144D8AE1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先看几个真实案例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79204D09-6909-40B1-88C4-AD2E801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BA24A1AA-4D75-43A2-A31B-F3DDCD07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OV-001 · OV-001-S01</a:t>
            </a:r>
          </a:p>
        </p:txBody>
      </p:sp>
    </p:spTree>
    <p:extLst>
      <p:ext uri="{BB962C8B-B14F-4D97-AF65-F5344CB8AC3E}">
        <p14:creationId xmlns:p14="http://schemas.microsoft.com/office/powerpoint/2010/main" val="1408048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5A45853A-A43E-4EA0-A840-E0DA7DBA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B1A7C543-9443-401E-B728-132D59F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6FD6F77E-2D63-4C9E-9838-0D7A41AE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人工智能：3项学习结果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19D589F8-99BB-43A0-9627-197C5CF5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F5286B1E-E72A-4089-B101-5903422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35E5DF61-8387-4DD4-A8C2-513A6129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用“感知—思考—行动”解释一个人工智能系统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DA49D5C9-AEAB-4619-8967-071830A6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区分计算智能、感知智能和认知智能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BA09B36E-0A32-41A6-B8C6-C6F3AC21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说明图灵测试能观察到什么，以及它不能证明什么</a:t>
            </a:r>
          </a:p>
        </p:txBody>
      </p:sp>
    </p:spTree>
    <p:extLst>
      <p:ext uri="{BB962C8B-B14F-4D97-AF65-F5344CB8AC3E}">
        <p14:creationId xmlns:p14="http://schemas.microsoft.com/office/powerpoint/2010/main" val="1751892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DFDB7F19-7224-4E45-9257-DED09F5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541C3FCC-C10A-41E3-98C8-543F520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4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F6B08290-8667-4638-92D9-6740166E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三个案例背后是同一套逻辑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547A932A-0D88-4532-BC87-A3EA5A38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A7B57FC5-0AC2-4E60-94BF-2141DBBF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00D03AF-A88B-48B7-902F-16717996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236839A-292E-4076-8A1A-4582D5F7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40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AI 的核心逻辑：感知—思考—行动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C53BF5C-F606-4484-B252-7878934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三个案例背后是同一套逻辑。人工智能想让一个"系统"变成全能选手，核心是三件事的循环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17E189FA-64A6-4781-B7C0-E363B811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B72EC0E-CDA2-4F81-B2BB-440391C4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感知 ：不只是用摄像头"看"，还包括触觉、听觉等——比如机器人摸到热水会缩手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EC5F8B13-BC41-4432-8B39-2C39426F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D7012697-3B51-4A9B-8E38-2182BC82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思考 ：分析环境、规划策略，比如避开路上的障碍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C9F56CA2-DAA7-480A-A690-9ADDFF36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EC081A4D-D318-46E7-A7CA-842A6E9E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三个案例背后是同一套逻辑</a:t>
            </a:r>
          </a:p>
        </p:txBody>
      </p:sp>
    </p:spTree>
    <p:extLst>
      <p:ext uri="{BB962C8B-B14F-4D97-AF65-F5344CB8AC3E}">
        <p14:creationId xmlns:p14="http://schemas.microsoft.com/office/powerpoint/2010/main" val="1078160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6E3E46FB-7111-4CEF-A997-6EDEF3B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36D23052-80C2-48FE-9047-06FAB42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4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43873E6E-BD68-40DA-8B35-AFC716C5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智能的三个层次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11E54748-D233-4C29-895B-1DF6D32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4A91A69A-7857-4306-8C48-3E6DB5A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9FFB20B-7295-4EDF-AEC4-9F80630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8D7CA615-F221-48E0-8574-46FC98D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智能的三个层次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95D9FD2-BCBC-4063-B90A-4A81519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为了便于课堂分析，本节采用“计算—感知—认知”三个观察维度。它是一种教学框架，不是学界唯一或统一的智能分级；同一系统可能在某个受控任务上表现很强，在开放环境中却迅速失效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92D36D0-A7B3-4FBE-8DFE-97F96540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BEF1861B-C1A2-47FB-B4D1-5B13495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大模型显著扩展了机器处理语言、知识与多步任务的能力，但这不等于它已经获得人类式理解，也不能仅凭流畅回答判断其认知水平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26A082DF-4F62-4CC1-95AB-EC869D53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09577251-2AC3-430D-B324-4309F5F7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智能的三个层次</a:t>
            </a:r>
          </a:p>
        </p:txBody>
      </p:sp>
    </p:spTree>
    <p:extLst>
      <p:ext uri="{BB962C8B-B14F-4D97-AF65-F5344CB8AC3E}">
        <p14:creationId xmlns:p14="http://schemas.microsoft.com/office/powerpoint/2010/main" val="1887741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9FEF54DE-1EE5-407C-9D39-D1E812C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135111A9-63CF-4F97-9282-0C61CFC7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4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516CB9A4-113F-4F0F-BCFE-C7D02DD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人工智能不是新概念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5452CDD8-5A3C-4E6B-8758-75DBA266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22D02E77-B3E4-4E58-ADA6-EE13FDEA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FEA4B8F-067D-4F37-A86E-9FC914B8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784CADA-1C78-4AF0-B53C-D087A9F3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从 1956 年到今天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3D96C68-E67E-47D2-B598-46A24EE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人工智能不是新概念。1956 年的达特茅斯会议第一次正式提出"Artificial Intelligence"，被视为 AI 的元年。此后它经历了几个关键节点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49A60E5-1BCB-48DE-8D97-92C1A96F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1814981-6ADB-477F-B96E-00358642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1956 达特茅斯会议，AI 作为学科诞生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16211B93-867B-4F0D-AB9E-AFAE9EEF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90546B06-F788-42BB-8E21-C9AF7EE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1997 深蓝击败国际象棋世界冠军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7F047B18-B4BE-4B0F-9622-2595EC22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7EFB7FA2-05E5-4654-A977-97975F7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人工智能不是新概念</a:t>
            </a:r>
          </a:p>
        </p:txBody>
      </p:sp>
    </p:spTree>
    <p:extLst>
      <p:ext uri="{BB962C8B-B14F-4D97-AF65-F5344CB8AC3E}">
        <p14:creationId xmlns:p14="http://schemas.microsoft.com/office/powerpoint/2010/main" val="1359705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F46DF35F-4911-406A-8B80-99F2A0A3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F01E3C64-2AAA-40EF-B80A-D52008C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4 / 4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CB87BDA4-9333-4146-AB40-948D749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图灵测试衡量拟人表现，不能证明机器理解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932FD1C0-6875-44B1-BC1A-04E64BB2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9A12C24D-BFD7-4EC4-B7BA-7E682D7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443B0E4-E9CB-4FF4-8396-22A3949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BAB0171-CE76-4638-B27F-4BE40F27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图灵测试：一次重要实验，而不是智能的终审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583B1EC-FAEB-478A-B084-6239D94D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1950 年，图灵在《计算机器与智能》中没有直接给“机器是否真正思考”下定义；而是用模仿游戏把问题改写为可观察的对话表现；后来人们常把这种行为测试称为图灵测试；它能够研究机器是否表现得像人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6D9BF12-FB26-4BC3-9571-D3A532F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8019FCF-8B4A-4427-A46B-897A4E2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2025 年一项预注册三方图灵测试研究报告；在特定的人设提示与五分钟对话条件下；GPT-4.5 被参与者判断为“人类”的比例达到 73%；这说明语言模型已经能在短时对话中呈现很强的拟人表现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2A5C9945-92C7-4AA8-94AA-4EC87286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866AF8A7-2301-4197-BD25-44A008C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图灵测试衡量拟人表现，不能证明机器理解</a:t>
            </a:r>
          </a:p>
        </p:txBody>
      </p:sp>
    </p:spTree>
    <p:extLst>
      <p:ext uri="{BB962C8B-B14F-4D97-AF65-F5344CB8AC3E}">
        <p14:creationId xmlns:p14="http://schemas.microsoft.com/office/powerpoint/2010/main" val="1443693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1ED7AE0E-145A-4F57-B196-FD6CE0CD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BA4E5206-A65D-4C5C-B456-CE7CF8A5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3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2BE2E14F-3C7D-4EBA-A0D5-E559CA30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类人交互展示不等于机器真正理解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F1682E59-8E59-4370-A1C7-B78FCE82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D3735608-527F-450E-955D-D73A679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OV-001-S07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72B57D30-33BB-4099-A38E-888BEB0D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机器人公民索菲亚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F744A0BA-E5AA-4168-B10E-995E0DC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结果｜索菲亚由 Hanson Robotics 开发，并因获得沙特阿拉伯公民身份而广为人知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E6B14B81-E5A3-49A5-BFC5-C3E996A7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机制｜她能进行对话并做出面部表情，更像一个把“类人交互”推到公众面前的展示平台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19930614-87BA-4E1E-98B2-AF16DB5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启示｜这个案例抛出的问题很真实：当机器能听、能说、能表演情绪时，我们应该用什么标准判断它是否真的理解</a:t>
            </a:r>
          </a:p>
        </p:txBody>
      </p:sp>
      <p:sp>
        <p:nvSpPr>
          <p:cNvPr id="10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F03D070E-017A-4F4F-86D6-4E14713D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1" name="s7-takeaway">
            <a:extLst xmlns:a="http://schemas.openxmlformats.org/drawingml/2006/main">
              <a:ext uri="{FF2B5EF4-FFF2-40B4-BE49-F238E27FC236}">
                <a16:creationId xmlns:a16="http://schemas.microsoft.com/office/drawing/2014/main" id="{24847354-DC7C-44A7-ABFA-434DE925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类人交互展示不等于机器真正理解</a:t>
            </a:r>
          </a:p>
        </p:txBody>
      </p:sp>
    </p:spTree>
    <p:extLst>
      <p:ext uri="{BB962C8B-B14F-4D97-AF65-F5344CB8AC3E}">
        <p14:creationId xmlns:p14="http://schemas.microsoft.com/office/powerpoint/2010/main" val="264300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F1F8B22E-3F1B-499D-B6A7-765BF56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7C60DBFF-B48A-4823-97A0-701ABCA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2 / 3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2E6B0A0D-EADA-48C0-8961-1DA227D1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具身能力要从感知、控制与反馈闭环判断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D616DD1E-3B3C-4913-B1F5-EF71ED1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DAA4D5CC-9DFD-4F2B-AC0D-5DFDFA3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OV-001-S08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99B5D349-EA8E-4CC1-9178-3F6FA383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会自主决策的具身大脑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423AC480-D858-4A67-BA92-5FB0DECD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方法｜和索菲亚强调类人交互的展示不同，具身系统关注站立、行走和平衡等物理动作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1DC117E7-571B-4D9E-814C-2ECFD43D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边界｜仅凭一次演示不能判断系统的自主决策范围，因此这里把它作为观察具身闭环的入口：传感器读取状态，控制系统生成动作，机器人执行后再根据反馈修正</a:t>
            </a:r>
          </a:p>
        </p:txBody>
      </p:sp>
      <p:sp>
        <p:nvSpPr>
          <p:cNvPr id="9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4F472A12-A4C5-42F0-9149-381A837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8-takeaway">
            <a:extLst xmlns:a="http://schemas.openxmlformats.org/drawingml/2006/main">
              <a:ext uri="{FF2B5EF4-FFF2-40B4-BE49-F238E27FC236}">
                <a16:creationId xmlns:a16="http://schemas.microsoft.com/office/drawing/2014/main" id="{D85160F7-0C90-4A0B-BA51-C7B8F07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具身能力要从感知、控制与反馈闭环判断</a:t>
            </a:r>
          </a:p>
        </p:txBody>
      </p:sp>
    </p:spTree>
    <p:extLst>
      <p:ext uri="{BB962C8B-B14F-4D97-AF65-F5344CB8AC3E}">
        <p14:creationId xmlns:p14="http://schemas.microsoft.com/office/powerpoint/2010/main" val="1375502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43147C58-A0CB-470E-AD5E-63196E15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4F0FD8FD-4F3E-4D9F-A28C-7505AC1D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3 / 3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5D775361-3402-497D-90A2-EA1296E5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从仿真到真机的闭环：Crowdverse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F3E3873B-E7D8-4D9A-8518-55E5C369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0A782446-E659-410B-96B3-170D8635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5A9661A3-DB60-4F5D-AB31-DEFB5B0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从仿真到真机的闭环：Crowdverse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E12E5EF0-2944-4545-854A-9C46FC5E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50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方法｜团队课件以 Crowdverse 作为具身仿真案例，其中的“全身动作重定向”（Whole-Body Motion Retargeting）把人的动作映射到机器人模型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0D0689DD-17B7-4CA0-8018-3D9112B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结果｜它的价值，是先在可重复的虚拟环境中检查任务控制、状态反馈与行为评估，再决定哪些结果值得进入真机验证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5C460E74-99F1-49DC-9BC9-1BF758D2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边界｜仿真能够降低真机试错的成本和风险，但不能自动证明策略在现实中同样有效</a:t>
            </a:r>
          </a:p>
        </p:txBody>
      </p:sp>
      <p:sp>
        <p:nvSpPr>
          <p:cNvPr id="10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4624F725-C39F-4992-BE6E-91444A07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1" name="s9-takeaway">
            <a:extLst xmlns:a="http://schemas.openxmlformats.org/drawingml/2006/main">
              <a:ext uri="{FF2B5EF4-FFF2-40B4-BE49-F238E27FC236}">
                <a16:creationId xmlns:a16="http://schemas.microsoft.com/office/drawing/2014/main" id="{282E5195-A91F-484B-9FD3-07A63EDF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从仿真到真机的闭环：Crowdverse</a:t>
            </a:r>
          </a:p>
        </p:txBody>
      </p:sp>
    </p:spTree>
    <p:extLst>
      <p:ext uri="{BB962C8B-B14F-4D97-AF65-F5344CB8AC3E}">
        <p14:creationId xmlns:p14="http://schemas.microsoft.com/office/powerpoint/2010/main" val="209667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62090F50-71D0-4E5F-A87F-E0808A6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1DB5169F-5E47-426F-8FA6-F4B9BA84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BD6C69A3-4F01-4D77-8441-986D8886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人工智能：一次可验收练习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8446843C-D055-40E2-8834-D6AFC78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9D60C98D-83C7-4B87-A994-433A487E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OV-001-S10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EF1DAD33-E164-4213-8798-E653F5DD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FCEA6C86-BC8D-423D-9BF2-EF3EEC3F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0DC48A68-3ADE-450A-9D25-CEDB4149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用"感知 → 思考 → 行动"的框架，拆解你身边一个 AI 产品（智能音箱、扫地机器人、导航软件），说清它每一步分别做了什么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55929D5B-304B-4E95-9A63-6F9D1A4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B3687106-049D-4E64-9C92-49A2CCF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DE447861-1EAB-4D72-B9A6-DD45775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41ADA3DC-95E2-4CC3-9014-FA9F790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找一个你熟悉的 AI 应用，判断它主要停留在计算、感知还是认知智能这一层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8DC997FB-2EFE-474C-AFB7-2EA9E04D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678027D0-4C35-42CB-A254-76DCBC0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2F6AB596-7B22-4889-A95D-3BDC960A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29B0B877-843C-472F-9876-BD032C73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让一个大模型扮演一个"人设"回答问题，再让它不带人设回答同一个问题，对比两者的差别</a:t>
            </a:r>
          </a:p>
        </p:txBody>
      </p:sp>
    </p:spTree>
    <p:extLst>
      <p:ext uri="{BB962C8B-B14F-4D97-AF65-F5344CB8AC3E}">
        <p14:creationId xmlns:p14="http://schemas.microsoft.com/office/powerpoint/2010/main" val="9115059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19E47066-4C99-4FA5-9CDC-128CD9AF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B9F5E4E9-9D48-4764-AAB9-E4BF66B6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DB5EFFE5-13DD-41E1-8FE8-6B2283A7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人工智能：判断时先抓住三点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7FE6FBBE-7B59-43E2-888E-21E96EC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B6F2C647-914D-4EEE-8B28-9767407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OV-001-S11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CC932DDE-AAFC-40AF-B329-8FA4A03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2736BCB5-0572-42D8-9E81-3406A030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16CFB51A-5C6B-407B-865C-DBF81CF2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三个案例背后是同一套逻辑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F02C5E91-3B41-47EA-AA50-0D0C349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2F4E94C9-6F05-4F47-A95E-1254EB03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E060EDBF-ED4A-427F-80F7-EFA5AA7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58038E18-2DE8-44A9-B777-A6E7D20A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智能的三个层次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ACF9583B-1869-4214-832C-1766372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11D52041-AE8D-42A4-AF3F-427554FF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7CB75F6B-0986-43CA-A400-213ECF0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E848BC4D-6C48-4F1A-A88D-8C37A7D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图灵测试衡量拟人表现，不能证明机器理解</a:t>
            </a:r>
          </a:p>
        </p:txBody>
      </p:sp>
    </p:spTree>
    <p:extLst>
      <p:ext uri="{BB962C8B-B14F-4D97-AF65-F5344CB8AC3E}">
        <p14:creationId xmlns:p14="http://schemas.microsoft.com/office/powerpoint/2010/main" val="3785730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E62E684C-BD31-4555-B5E4-BCC29A6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6B64CCCF-B15F-4C7F-95A1-82B27D6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9C92DBB8-0CAD-46F7-9FF6-5A4CC7F1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人工智能：依据、边界与延伸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A2020913-1226-4932-AAF1-28F265A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79F7E512-1CE9-4407-8399-812C3F81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OV-001 · OV-001-S12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23AE1227-E99C-47E5-9132-9795FDB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648FB366-00EC-4625-9A38-D328C8E8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Computing Machinery and Intelligence：图灵 1950 年原文；阅读时注意模仿游戏与“证明机器拥有意识”不是同一命题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BB60A355-C4DA-4FDC-A208-E47E0334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Large Language Models Pass the Turing Test：上述 73% 结论的原始研究；阅读时要同时关注实验条件与结论边界</a:t>
            </a:r>
          </a:p>
        </p:txBody>
      </p:sp>
      <p:sp>
        <p:nvSpPr>
          <p:cNvPr id="9" name="s12-takeaway-rule">
            <a:extLst xmlns:a="http://schemas.openxmlformats.org/drawingml/2006/main">
              <a:ext uri="{FF2B5EF4-FFF2-40B4-BE49-F238E27FC236}">
                <a16:creationId xmlns:a16="http://schemas.microsoft.com/office/drawing/2014/main" id="{759D9772-E04B-45B8-AA61-C3C164E3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12-takeaway">
            <a:extLst xmlns:a="http://schemas.openxmlformats.org/drawingml/2006/main">
              <a:ext uri="{FF2B5EF4-FFF2-40B4-BE49-F238E27FC236}">
                <a16:creationId xmlns:a16="http://schemas.microsoft.com/office/drawing/2014/main" id="{54A2F267-4FE0-4E17-8452-8E2C7FE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课程精编页用于讲授主线；播放器中的“原课件”模式保留团队 PowerPoint 精选页、真实图片和可播放视频。</a:t>
            </a:r>
          </a:p>
        </p:txBody>
      </p:sp>
    </p:spTree>
    <p:extLst>
      <p:ext uri="{BB962C8B-B14F-4D97-AF65-F5344CB8AC3E}">
        <p14:creationId xmlns:p14="http://schemas.microsoft.com/office/powerpoint/2010/main" val="777751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2026-07-12T03:31:35.2050000Z</dcterms:created>
  <dcterms:modified xsi:type="dcterms:W3CDTF">2026-07-12T03:31:35.2050000Z</dcterms:modified>
</coreProperties>
</file>