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4724db580045fa" /><Relationship Type="http://schemas.openxmlformats.org/officeDocument/2006/relationships/extended-properties" Target="/docProps/app.xml" Id="R89db37c19da14a48" /><Relationship Type="http://schemas.openxmlformats.org/officeDocument/2006/relationships/officeDocument" Target="/ppt/presentation.xml" Id="R00c10500f0844a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b5988617cf4e22"/>
  </p:sldMasterIdLst>
  <p:notesMasterIdLst>
    <p:notesMasterId xmlns:r="http://schemas.openxmlformats.org/officeDocument/2006/relationships" r:id="R466ebe336fbf4902"/>
  </p:notesMasterIdLst>
  <p:sldIdLst>
    <p:sldId xmlns:r="http://schemas.openxmlformats.org/officeDocument/2006/relationships" id="256" r:id="R0f3e1d60bb1e44ce"/>
    <p:sldId xmlns:r="http://schemas.openxmlformats.org/officeDocument/2006/relationships" id="257" r:id="R6ca5c679ea3d40d5"/>
    <p:sldId xmlns:r="http://schemas.openxmlformats.org/officeDocument/2006/relationships" id="258" r:id="Rcfc364b6f9734136"/>
    <p:sldId xmlns:r="http://schemas.openxmlformats.org/officeDocument/2006/relationships" id="259" r:id="R3007cf3a28384cef"/>
    <p:sldId xmlns:r="http://schemas.openxmlformats.org/officeDocument/2006/relationships" id="260" r:id="R9b4e6e198a364f3a"/>
    <p:sldId xmlns:r="http://schemas.openxmlformats.org/officeDocument/2006/relationships" id="261" r:id="R697c80009db14260"/>
    <p:sldId xmlns:r="http://schemas.openxmlformats.org/officeDocument/2006/relationships" id="262" r:id="R7da9d680f9054ba0"/>
    <p:sldId xmlns:r="http://schemas.openxmlformats.org/officeDocument/2006/relationships" id="263" r:id="R7e13783cfc514c8d"/>
    <p:sldId xmlns:r="http://schemas.openxmlformats.org/officeDocument/2006/relationships" id="264" r:id="Ra9ac7c8dd2be4529"/>
    <p:sldId xmlns:r="http://schemas.openxmlformats.org/officeDocument/2006/relationships" id="265" r:id="R646ee48be53445df"/>
    <p:sldId xmlns:r="http://schemas.openxmlformats.org/officeDocument/2006/relationships" id="266" r:id="Rc6a7fd3a32db4efa"/>
    <p:sldId xmlns:r="http://schemas.openxmlformats.org/officeDocument/2006/relationships" id="267" r:id="R7d7f298eb31247e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f1fd1b004c41d7" /><Relationship Type="http://schemas.openxmlformats.org/officeDocument/2006/relationships/slideMaster" Target="/ppt/slideMasters/slideMaster1.xml" Id="Rcbb5988617cf4e22" /><Relationship Type="http://schemas.openxmlformats.org/officeDocument/2006/relationships/notesMaster" Target="/ppt/notesMasters/notesMaster1.xml" Id="R466ebe336fbf4902" /><Relationship Type="http://schemas.openxmlformats.org/officeDocument/2006/relationships/presProps" Target="/ppt/presProps.xml" Id="R07962b9b5c714f29" /><Relationship Type="http://schemas.openxmlformats.org/officeDocument/2006/relationships/tableStyles" Target="/ppt/tableStyles.xml" Id="R8273b76c409343af" /><Relationship Type="http://schemas.openxmlformats.org/officeDocument/2006/relationships/slide" Target="/ppt/slides/slide1.xml" Id="R0f3e1d60bb1e44ce" /><Relationship Type="http://schemas.openxmlformats.org/officeDocument/2006/relationships/slide" Target="/ppt/slides/slide2.xml" Id="R6ca5c679ea3d40d5" /><Relationship Type="http://schemas.openxmlformats.org/officeDocument/2006/relationships/slide" Target="/ppt/slides/slide3.xml" Id="Rcfc364b6f9734136" /><Relationship Type="http://schemas.openxmlformats.org/officeDocument/2006/relationships/slide" Target="/ppt/slides/slide4.xml" Id="R3007cf3a28384cef" /><Relationship Type="http://schemas.openxmlformats.org/officeDocument/2006/relationships/slide" Target="/ppt/slides/slide5.xml" Id="R9b4e6e198a364f3a" /><Relationship Type="http://schemas.openxmlformats.org/officeDocument/2006/relationships/slide" Target="/ppt/slides/slide6.xml" Id="R697c80009db14260" /><Relationship Type="http://schemas.openxmlformats.org/officeDocument/2006/relationships/slide" Target="/ppt/slides/slide7.xml" Id="R7da9d680f9054ba0" /><Relationship Type="http://schemas.openxmlformats.org/officeDocument/2006/relationships/slide" Target="/ppt/slides/slide8.xml" Id="R7e13783cfc514c8d" /><Relationship Type="http://schemas.openxmlformats.org/officeDocument/2006/relationships/slide" Target="/ppt/slides/slide9.xml" Id="Ra9ac7c8dd2be4529" /><Relationship Type="http://schemas.openxmlformats.org/officeDocument/2006/relationships/slide" Target="/ppt/slides/slide10.xml" Id="R646ee48be53445df" /><Relationship Type="http://schemas.openxmlformats.org/officeDocument/2006/relationships/slide" Target="/ppt/slides/slide11.xml" Id="Rc6a7fd3a32db4efa" /><Relationship Type="http://schemas.openxmlformats.org/officeDocument/2006/relationships/slide" Target="/ppt/slides/slide12.xml" Id="R7d7f298eb31247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2977fa195340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e2cdec288e4dba" /><Relationship Type="http://schemas.openxmlformats.org/officeDocument/2006/relationships/notesMaster" Target="/ppt/notesMasters/notesMaster1.xml" Id="R4b269b406f2f4d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8e3ebcdb7ce4a0c" /><Relationship Type="http://schemas.openxmlformats.org/officeDocument/2006/relationships/notesMaster" Target="/ppt/notesMasters/notesMaster1.xml" Id="Rc3198944002447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14f6137b16349e9" /><Relationship Type="http://schemas.openxmlformats.org/officeDocument/2006/relationships/notesMaster" Target="/ppt/notesMasters/notesMaster1.xml" Id="Rc639a425ea1f49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7eee70a156426d" /><Relationship Type="http://schemas.openxmlformats.org/officeDocument/2006/relationships/notesMaster" Target="/ppt/notesMasters/notesMaster1.xml" Id="R04c7fe0fa5a046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65091502354a61" /><Relationship Type="http://schemas.openxmlformats.org/officeDocument/2006/relationships/notesMaster" Target="/ppt/notesMasters/notesMaster1.xml" Id="R0c5536610ddb4b2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5f42e4126b4e07" /><Relationship Type="http://schemas.openxmlformats.org/officeDocument/2006/relationships/notesMaster" Target="/ppt/notesMasters/notesMaster1.xml" Id="R244a1f0c795745b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15c15869d124d2b" /><Relationship Type="http://schemas.openxmlformats.org/officeDocument/2006/relationships/notesMaster" Target="/ppt/notesMasters/notesMaster1.xml" Id="R394d334ca7874e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05732a0f4d4b21" /><Relationship Type="http://schemas.openxmlformats.org/officeDocument/2006/relationships/notesMaster" Target="/ppt/notesMasters/notesMaster1.xml" Id="R5b3f8d3be3604a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ba66f051c4e4df2" /><Relationship Type="http://schemas.openxmlformats.org/officeDocument/2006/relationships/notesMaster" Target="/ppt/notesMasters/notesMaster1.xml" Id="Ra7cebea47201464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fbc7a8580964aa8" /><Relationship Type="http://schemas.openxmlformats.org/officeDocument/2006/relationships/notesMaster" Target="/ppt/notesMasters/notesMaster1.xml" Id="R7eb1cdb948b141a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432bd520f7d42c1" /><Relationship Type="http://schemas.openxmlformats.org/officeDocument/2006/relationships/notesMaster" Target="/ppt/notesMasters/notesMaster1.xml" Id="R1aa78268d446439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4cb2505ba064aad" /><Relationship Type="http://schemas.openxmlformats.org/officeDocument/2006/relationships/notesMaster" Target="/ppt/notesMasters/notesMaster1.xml" Id="R0e58af06492d4d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1a0c9850e248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70ada8aa264d2d" /><Relationship Type="http://schemas.openxmlformats.org/officeDocument/2006/relationships/slideLayout" Target="/ppt/slideLayouts/slideLayout1.xml" Id="Rb526b3b302af49f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26b3b302af49f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74067d89b4c4f" /><Relationship Type="http://schemas.openxmlformats.org/officeDocument/2006/relationships/notesSlide" Target="/ppt/notesSlides/notesSlide1.xml" Id="Rf89088b3d4ea4a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96ced45ad444e6" /><Relationship Type="http://schemas.openxmlformats.org/officeDocument/2006/relationships/notesSlide" Target="/ppt/notesSlides/notesSlide2.xml" Id="R47331afa834744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8212e7ded3439c" /><Relationship Type="http://schemas.openxmlformats.org/officeDocument/2006/relationships/notesSlide" Target="/ppt/notesSlides/notesSlide3.xml" Id="R96a30334c0074f1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ea264671bc4fc1" /><Relationship Type="http://schemas.openxmlformats.org/officeDocument/2006/relationships/notesSlide" Target="/ppt/notesSlides/notesSlide4.xml" Id="R23bee2e1929d41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e52ea8768d4260" /><Relationship Type="http://schemas.openxmlformats.org/officeDocument/2006/relationships/notesSlide" Target="/ppt/notesSlides/notesSlide5.xml" Id="R1c47899864f74e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b4b998e83746d8" /><Relationship Type="http://schemas.openxmlformats.org/officeDocument/2006/relationships/notesSlide" Target="/ppt/notesSlides/notesSlide6.xml" Id="R7645fc7bb74c46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bf66a04da94982" /><Relationship Type="http://schemas.openxmlformats.org/officeDocument/2006/relationships/notesSlide" Target="/ppt/notesSlides/notesSlide7.xml" Id="R77e5002c56244d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c451171b174a8e" /><Relationship Type="http://schemas.openxmlformats.org/officeDocument/2006/relationships/notesSlide" Target="/ppt/notesSlides/notesSlide8.xml" Id="Rf0d36d4c8b8f45c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e32bb9d5d4e31" /><Relationship Type="http://schemas.openxmlformats.org/officeDocument/2006/relationships/notesSlide" Target="/ppt/notesSlides/notesSlide9.xml" Id="Rae8f75f027534df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a76d8d0ef4d95" /><Relationship Type="http://schemas.openxmlformats.org/officeDocument/2006/relationships/notesSlide" Target="/ppt/notesSlides/notesSlide10.xml" Id="R8e1b73a8c0a445e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0619ce747c4776" /><Relationship Type="http://schemas.openxmlformats.org/officeDocument/2006/relationships/notesSlide" Target="/ppt/notesSlides/notesSlide11.xml" Id="Reed6e39f4e624d6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6e97209a924113" /><Relationship Type="http://schemas.openxmlformats.org/officeDocument/2006/relationships/notesSlide" Target="/ppt/notesSlides/notesSlide12.xml" Id="R5ce92ac1f3d3400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08754BC3-28FE-4850-9F8F-3C89CE10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D245CF06-D163-4519-B55F-46F360B0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2F27B3C7-B000-4DAC-8AFC-70FE30DD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1D0A25C8-9FD1-4A6D-B083-EE92DC46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8AD75D55-F78C-432E-AFE8-DCD67944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1FCFAFC3-49AF-4F0F-9158-078FD32A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9A6B40A7-AF62-4BED-A1A3-BB1A00FE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631944A-6FE1-44EF-B845-54712718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什么是人工智能：感知、思考与行动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CD7C6C8-737D-4199-A9E4-B951E1FE2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用现实案例和感知—思考—行动闭环建立人工智能的第一幅全景图。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39DA2F30-15B6-4667-832D-71EAD6003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先看几个真实案例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FA4C16DC-DEB4-4C74-A0E7-DADA012B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4A674CE5-F3D4-42D4-81B0-661031C7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OV-001 · OV-001-S01</a:t>
            </a:r>
          </a:p>
        </p:txBody>
      </p:sp>
    </p:spTree>
    <p:extLst>
      <p:ext uri="{BB962C8B-B14F-4D97-AF65-F5344CB8AC3E}">
        <p14:creationId xmlns:p14="http://schemas.microsoft.com/office/powerpoint/2010/main" val="12765592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BE4D8EE4-E3BF-4D1D-866A-B939D474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D4252006-AEF2-4275-A501-5B0D9516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464E876C-B2F7-45EA-878C-4F382018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人工智能：3项学习结果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B245615D-7BB4-447D-BA34-1BA6A70D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9BE52E93-4374-457F-9C49-A755872F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4141ED81-8548-4E09-A2D1-B3BEFBE1D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用“感知—思考—行动”解释一个人工智能系统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A0F2E142-94E2-43D1-9271-8FD2FF47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区分计算智能、感知智能和认知智能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C7485B94-C22F-48D9-A83A-633AE0F0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说明图灵测试能观察到什么，以及它不能证明什么</a:t>
            </a:r>
          </a:p>
        </p:txBody>
      </p:sp>
    </p:spTree>
    <p:extLst>
      <p:ext uri="{BB962C8B-B14F-4D97-AF65-F5344CB8AC3E}">
        <p14:creationId xmlns:p14="http://schemas.microsoft.com/office/powerpoint/2010/main" val="11080444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B5E96F4C-02E0-495F-B4E3-8ECE35087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C59DDD09-C79B-485D-963F-35A1096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4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492B1251-8EF4-48C4-8BA7-350544F2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三个案例背后是同一套逻辑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89A7444C-093B-4622-8D1D-9A42081C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7EF54468-44E9-48DE-9E59-C5F8E3FB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F4F1866-DE74-4391-A035-FE6FA2A4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8D4FA7D-69D4-4C1F-8D8B-EB302EDB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7402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AI 的核心逻辑：感知—思考—行动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8A871E1-7E76-47E6-BBEC-8C01BA746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三个案例背后是同一套逻辑。人工智能想让一个"系统"变成全能选手，核心是三件事的循环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70ED643-D7B1-48BB-9B34-F19BE5BA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EAA01D9-FFC7-4109-81EE-67BCE350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感知 ：不只是用摄像头"看"，还包括触觉、听觉等——比如机器人摸到热水会缩手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769BB2AC-CE02-4D11-9738-A13EA59B0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E3FE432B-A2DC-4422-A8B5-D30CB2DA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思考 ：分析环境、规划策略，比如避开路上的障碍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43CA4FB8-2710-4F64-BF22-D4500183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60975661-E356-42E1-8AF7-D54CC35A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三个案例背后是同一套逻辑</a:t>
            </a:r>
          </a:p>
        </p:txBody>
      </p:sp>
    </p:spTree>
    <p:extLst>
      <p:ext uri="{BB962C8B-B14F-4D97-AF65-F5344CB8AC3E}">
        <p14:creationId xmlns:p14="http://schemas.microsoft.com/office/powerpoint/2010/main" val="13739167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29E5E407-EBC7-40A7-9FE6-DD107E37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5087252E-DBE9-4013-99A1-15C269DE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4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A5165A0F-3E2A-4CBB-A759-8B444AE8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智能的三个层次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E55ED029-5464-4FF0-A4D5-1F10373D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7D29C06D-0829-4642-95C6-24BA540D7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1DD8836-9224-4AE5-BFB1-A1C535E2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D2AB7E1-33EB-4328-8B36-E8348C0CF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智能的三个层次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0063BF9-1D23-490F-B7D8-C695D16B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为了便于课堂分析，本节采用“计算—感知—认知”三个观察维度。它是一种教学框架，不是学界唯一或统一的智能分级；同一系统可能在某个受控任务上表现很强，在开放环境中却迅速失效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687F876-B35A-4229-9D03-B7A5C38B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E812384-6D49-44AB-AEEE-A41CB4468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大模型显著扩展了机器处理语言、知识与多步任务的能力，但这不等于它已经获得人类式理解，也不能仅凭流畅回答判断其认知水平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F8E3D5C2-08C1-4566-B027-07754CEE7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A31E4890-4EDC-4F06-814E-B7830D6C9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智能的三个层次</a:t>
            </a:r>
          </a:p>
        </p:txBody>
      </p:sp>
    </p:spTree>
    <p:extLst>
      <p:ext uri="{BB962C8B-B14F-4D97-AF65-F5344CB8AC3E}">
        <p14:creationId xmlns:p14="http://schemas.microsoft.com/office/powerpoint/2010/main" val="14667126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E4AD7D05-51C1-486B-9834-53466B92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1F754D44-59ED-419B-94E7-A8D9124F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4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46467363-0C89-4804-8497-84AFB958D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人工智能不是新概念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509F0C6E-BB8F-48AF-B02B-0C6BCCBBD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9AA929A1-C16F-4BDC-B240-C21F1B74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8DCA104-8F25-4ACB-A5F0-B5788DEB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CE4AF4B-E66E-43D4-82D5-8EDA62E0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从 1956 年到今天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7B6DD72-7AC9-4E27-B0B9-CAE4A611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人工智能不是新概念。1956 年的达特茅斯会议第一次正式提出"Artificial Intelligence"，被视为 AI 的元年。此后它经历了几个关键节点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0E70914-192E-44D5-B433-FDD5E64B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02F4709-65D2-4026-961B-9A8AD78D8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1956 达特茅斯会议，AI 作为学科诞生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C99E52AB-6CF9-41A3-B7C1-6379588E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E4140E28-ED0F-4FAD-B8CD-97991261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1997 深蓝击败国际象棋世界冠军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82D5A4EC-9131-4B72-BEE4-27613F27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40FDA664-4D07-4C1E-8677-A938F0CE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人工智能不是新概念</a:t>
            </a:r>
          </a:p>
        </p:txBody>
      </p:sp>
    </p:spTree>
    <p:extLst>
      <p:ext uri="{BB962C8B-B14F-4D97-AF65-F5344CB8AC3E}">
        <p14:creationId xmlns:p14="http://schemas.microsoft.com/office/powerpoint/2010/main" val="9289218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0EF6B61F-414B-43E6-84CE-A7197DC8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867A6890-75E5-4978-8651-2FB37BDC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4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5957121D-2DD2-45B8-9D49-747C0BE5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图灵测试衡量拟人表现，不能证明机器理解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AD9D6C4B-D0EE-427E-A40C-4F0A7076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DF797255-8F58-4362-9ABD-8DE11CE2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12CDCB3-0A72-41BE-AEEB-434821DB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6853DDDF-3DC7-4DE8-91A5-B6991569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图灵测试：一次重要实验，而不是智能的终审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B208366-996F-45C5-854B-D7139C56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948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1950 年，图灵在《计算机器与智能》中没有直接给“机器是否真正思考”下定义；而是用模仿游戏把问题改写为可观察的对话表现；后来人们常把这种行为测试称为图灵测试；它能够研究机器是否表现得像人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E61EB8C-596A-41CC-A735-258E6A8B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D9E7B7B-17A1-4037-B4B5-1FE51DAB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2025 年一项预注册三方图灵测试研究报告；在特定的人设提示与五分钟对话条件下；GPT-4.5 被参与者判断为“人类”的比例达到 73%；这说明语言模型已经能在短时对话中呈现很强的拟人表现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18F1A594-AF7F-47A9-9348-3B1A9972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6D0B7349-0C37-4115-B206-2B03F02D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图灵测试衡量拟人表现，不能证明机器理解</a:t>
            </a:r>
          </a:p>
        </p:txBody>
      </p:sp>
    </p:spTree>
    <p:extLst>
      <p:ext uri="{BB962C8B-B14F-4D97-AF65-F5344CB8AC3E}">
        <p14:creationId xmlns:p14="http://schemas.microsoft.com/office/powerpoint/2010/main" val="7896579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40D535F5-0E3C-4E6D-82F5-F3EE4CB8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047C86E5-B645-4AE0-8170-32E7F536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3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3F7971FF-560F-4633-A1EB-41B11CB0F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类人交互展示不等于机器真正理解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123322D3-C560-4720-9C56-7D5EA12E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C4700181-2166-4BEB-9610-014D980E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OV-001-S07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BBFD7E8E-D752-4DDD-A4E8-1491CDD8B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机器人公民索菲亚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0EE03571-3329-4016-845D-B5A3A673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结果｜索菲亚由 Hanson Robotics 开发，并因获得沙特阿拉伯公民身份而广为人知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95A2182B-D638-40B9-927F-7F75FCBC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机制｜她能进行对话并做出面部表情，更像一个把“类人交互”推到公众面前的展示平台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56CAAC68-4DA2-4777-8B04-1F4A310A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启示｜这个案例抛出的问题很真实：当机器能听、能说、能表演情绪时，我们应该用什么标准判断它是否真的理解</a:t>
            </a:r>
          </a:p>
        </p:txBody>
      </p:sp>
      <p:sp>
        <p:nvSpPr>
          <p:cNvPr id="10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150BDD6F-FE35-406C-A9C9-CECD5CC5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1" name="s7-takeaway">
            <a:extLst xmlns:a="http://schemas.openxmlformats.org/drawingml/2006/main">
              <a:ext uri="{FF2B5EF4-FFF2-40B4-BE49-F238E27FC236}">
                <a16:creationId xmlns:a16="http://schemas.microsoft.com/office/drawing/2014/main" id="{5239B8AE-375E-4990-A7E0-677E67EAC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类人交互展示不等于机器真正理解</a:t>
            </a:r>
          </a:p>
        </p:txBody>
      </p:sp>
    </p:spTree>
    <p:extLst>
      <p:ext uri="{BB962C8B-B14F-4D97-AF65-F5344CB8AC3E}">
        <p14:creationId xmlns:p14="http://schemas.microsoft.com/office/powerpoint/2010/main" val="8465255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32CD464B-A5A4-44AA-B2B4-0D5D5B96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DF897ED9-5D41-49A5-A601-C54AD457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2 / 3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A7535242-E66D-4F6C-9FFA-AF074A43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具身能力要从感知、控制与反馈闭环判断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EC6A26D1-2EDD-45CF-B7FD-98FD1D6E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8DBBE888-6EC5-44B3-BE20-88678CFC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OV-001-S08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60BC37C9-86F0-440D-8D5F-78BF8F90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会自主决策的具身大脑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1CAE2529-C7DF-493B-8D96-80FCE4D29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方法｜和索菲亚强调类人交互的展示不同，具身系统关注站立、行走和平衡等物理动作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2B9F7D3A-B92C-4208-A649-A7B6BCBB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边界｜仅凭一次演示不能判断系统的自主决策范围，因此这里把它作为观察具身闭环的入口：传感器读取状态，控制系统生成动作，机器人执行后再根据反馈修正</a:t>
            </a:r>
          </a:p>
        </p:txBody>
      </p:sp>
      <p:sp>
        <p:nvSpPr>
          <p:cNvPr id="9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C60A1D0E-8B0B-480D-9F56-1BCEF91E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8-takeaway">
            <a:extLst xmlns:a="http://schemas.openxmlformats.org/drawingml/2006/main">
              <a:ext uri="{FF2B5EF4-FFF2-40B4-BE49-F238E27FC236}">
                <a16:creationId xmlns:a16="http://schemas.microsoft.com/office/drawing/2014/main" id="{3ED76841-1D61-41AE-856F-FC0378E3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具身能力要从感知、控制与反馈闭环判断</a:t>
            </a:r>
          </a:p>
        </p:txBody>
      </p:sp>
    </p:spTree>
    <p:extLst>
      <p:ext uri="{BB962C8B-B14F-4D97-AF65-F5344CB8AC3E}">
        <p14:creationId xmlns:p14="http://schemas.microsoft.com/office/powerpoint/2010/main" val="9546468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5310AFFF-179E-44DD-95A3-BFE26FB49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785CD12B-E7F7-45CF-B948-21725EBD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3 / 3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35468188-CB86-45F5-B6D7-442B49B0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从仿真到真机的闭环：Crowdverse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809CDFD4-E349-4E38-AA68-81A41883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EB765109-E844-43FB-AF88-4510D01A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AF0F5619-48D7-4DB2-859B-C3AA9DBC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从仿真到真机的闭环：Crowdverse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3851E92F-1E2B-421E-9763-0FD5475A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5012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方法｜团队课件以 Crowdverse 作为具身仿真案例，其中的“全身动作重定向”（Whole-Body Motion Retargeting）把人的动作映射到机器人模型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E1EB1277-0F36-4679-83B3-3E292D62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结果｜它的价值，是先在可重复的虚拟环境中检查任务控制、状态反馈与行为评估，再决定哪些结果值得进入真机验证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6C431C8C-9F49-452F-A6D8-90AA4117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边界｜仿真能够降低真机试错的成本和风险，但不能自动证明策略在现实中同样有效</a:t>
            </a:r>
          </a:p>
        </p:txBody>
      </p:sp>
      <p:sp>
        <p:nvSpPr>
          <p:cNvPr id="10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4AE82377-8581-432A-B228-9BBCCACE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1" name="s9-takeaway">
            <a:extLst xmlns:a="http://schemas.openxmlformats.org/drawingml/2006/main">
              <a:ext uri="{FF2B5EF4-FFF2-40B4-BE49-F238E27FC236}">
                <a16:creationId xmlns:a16="http://schemas.microsoft.com/office/drawing/2014/main" id="{53B3A34E-F312-4316-A047-85559E4F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从仿真到真机的闭环：Crowdverse</a:t>
            </a:r>
          </a:p>
        </p:txBody>
      </p:sp>
    </p:spTree>
    <p:extLst>
      <p:ext uri="{BB962C8B-B14F-4D97-AF65-F5344CB8AC3E}">
        <p14:creationId xmlns:p14="http://schemas.microsoft.com/office/powerpoint/2010/main" val="11339162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8E2CFE1B-1058-44FF-AA76-E4F7D7811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F3B3BB88-4D88-445C-863C-760B916B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ACDF7CEE-84AB-4A03-86BB-A672C649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人工智能：一次可验收练习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A26FC913-52B0-4C10-8FE0-33214592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95F42980-88FD-44C5-ABD7-B91AE770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11F34A96-533D-48B3-B06B-ECEB9DEB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DD734CA1-628E-4A8E-8CD5-990DCA001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95B956DE-ACA6-432F-A9C0-3E13EB79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用"感知 → 思考 → 行动"的框架，拆解你身边一个 AI 产品（智能音箱、扫地机器人、导航软件），说清它每一步分别做了什么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A7A71FFF-5AD1-4F0D-949B-792142604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97C9944E-E9D0-4976-AA3C-CA13DEAC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546DC736-F250-4C99-B600-DBFAF51D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24A1F2BD-A7D9-4618-8852-712546D1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找一个你熟悉的 AI 应用，判断它主要停留在计算、感知还是认知智能这一层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5034ED7F-6F35-417F-8F84-FAE21250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57FC2BCE-F8D9-49F9-AF34-053779B8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3B8DC639-2A92-47CC-BF17-8AA18E6E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34FFFE0A-D6C9-4D0C-93F7-11194EE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让一个大模型扮演一个"人设"回答问题，再让它不带人设回答同一个问题，对比两者的差别</a:t>
            </a:r>
          </a:p>
        </p:txBody>
      </p:sp>
    </p:spTree>
    <p:extLst>
      <p:ext uri="{BB962C8B-B14F-4D97-AF65-F5344CB8AC3E}">
        <p14:creationId xmlns:p14="http://schemas.microsoft.com/office/powerpoint/2010/main" val="65477164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21CCBFB0-B759-4AF7-9D85-DA45CA705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A4FA7209-42D6-4981-8F18-2B1393EC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332E99C6-5D9D-4E69-99C1-EBD7B59E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人工智能：判断时先抓住三点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2C03998F-C0AB-412D-BFE2-FB239D3A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9B2E6327-F60B-4FE0-BC29-5377C9D9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9EA924BC-708B-4E76-A271-40E5B86B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EC99E122-000C-4ABE-89DE-67C7B3B6A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2A5C84C4-A666-43F7-9797-D863DC0F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三个案例背后是同一套逻辑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D1FBA861-F3E5-40BE-ABF1-CA200A4A0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D8F8304B-4DFF-4131-A9DC-A740A111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05B0F69E-4E39-4649-AE56-4E5E3FB39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38B82F28-FE78-4E2C-B078-E1148228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智能的三个层次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A8D8A815-E6BD-49B6-A532-19349303F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893556A8-B5DC-4ECC-9CAB-447A00B6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A0A19AAF-92C1-44F9-8083-30655153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3CCCFDDE-FC59-456D-A37C-93E01198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图灵测试衡量拟人表现，不能证明机器理解</a:t>
            </a:r>
          </a:p>
        </p:txBody>
      </p:sp>
    </p:spTree>
    <p:extLst>
      <p:ext uri="{BB962C8B-B14F-4D97-AF65-F5344CB8AC3E}">
        <p14:creationId xmlns:p14="http://schemas.microsoft.com/office/powerpoint/2010/main" val="163153597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752D1AAB-A940-40B1-A33B-E080F378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A6CB81FE-BAD1-4A10-8B5B-3C082C20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3E95C8B9-B11E-40ED-8190-9230DF9E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人工智能：依据、边界与延伸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737CDB3F-2B38-44B7-9896-D681DC2C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F2DEE8F3-0DD9-4724-8893-0D69B4FE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E2B1DEAF-FE25-46C9-90A4-3C5CB766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Computing Machinery and Intelligence：图灵 1950 年原文；阅读时注意模仿游戏与“证明机器拥有意识”不是同一命题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F4D230A0-DF4C-41CA-8C97-6299EF66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Large Language Models Pass the Turing Test：上述 73% 结论的原始研究；阅读时要同时关注实验条件与结论边界</a:t>
            </a:r>
          </a:p>
        </p:txBody>
      </p:sp>
      <p:sp>
        <p:nvSpPr>
          <p:cNvPr id="8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C012BF28-9300-4D59-8436-6D9412C9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9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7316324A-E6F6-4594-8D4C-6F872E6A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课程正文与幻灯片共享同一知识主线，图片和视频用于帮助理解本节概念与案例。</a:t>
            </a:r>
          </a:p>
        </p:txBody>
      </p:sp>
    </p:spTree>
    <p:extLst>
      <p:ext uri="{BB962C8B-B14F-4D97-AF65-F5344CB8AC3E}">
        <p14:creationId xmlns:p14="http://schemas.microsoft.com/office/powerpoint/2010/main" val="3167984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2026-07-12T08:19:58.7460000Z</dcterms:created>
  <dcterms:modified xsi:type="dcterms:W3CDTF">2026-07-12T08:19:58.7460000Z</dcterms:modified>
</coreProperties>
</file>