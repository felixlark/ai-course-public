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884eab64843c1" /><Relationship Type="http://schemas.openxmlformats.org/officeDocument/2006/relationships/extended-properties" Target="/docProps/app.xml" Id="Re6ea8fc0de644f2c" /><Relationship Type="http://schemas.openxmlformats.org/officeDocument/2006/relationships/officeDocument" Target="/ppt/presentation.xml" Id="Re0addcb641e549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e9519bb49f4f3c"/>
  </p:sldMasterIdLst>
  <p:notesMasterIdLst>
    <p:notesMasterId xmlns:r="http://schemas.openxmlformats.org/officeDocument/2006/relationships" r:id="Rb98be871ee724be9"/>
  </p:notesMasterIdLst>
  <p:sldIdLst>
    <p:sldId xmlns:r="http://schemas.openxmlformats.org/officeDocument/2006/relationships" id="256" r:id="R94e3c9bbd13e4469"/>
    <p:sldId xmlns:r="http://schemas.openxmlformats.org/officeDocument/2006/relationships" id="257" r:id="Rdbc8d16813044a81"/>
    <p:sldId xmlns:r="http://schemas.openxmlformats.org/officeDocument/2006/relationships" id="258" r:id="R71c309fdc84542e6"/>
    <p:sldId xmlns:r="http://schemas.openxmlformats.org/officeDocument/2006/relationships" id="259" r:id="Ref15a6cf0e3a4af7"/>
    <p:sldId xmlns:r="http://schemas.openxmlformats.org/officeDocument/2006/relationships" id="260" r:id="R55e119c04621420e"/>
    <p:sldId xmlns:r="http://schemas.openxmlformats.org/officeDocument/2006/relationships" id="261" r:id="Rb1d671708f044fd1"/>
    <p:sldId xmlns:r="http://schemas.openxmlformats.org/officeDocument/2006/relationships" id="262" r:id="R0c285fb66dee4c6b"/>
    <p:sldId xmlns:r="http://schemas.openxmlformats.org/officeDocument/2006/relationships" id="263" r:id="Rbde5199a20db4b5f"/>
    <p:sldId xmlns:r="http://schemas.openxmlformats.org/officeDocument/2006/relationships" id="264" r:id="R6694f50beaf0437d"/>
    <p:sldId xmlns:r="http://schemas.openxmlformats.org/officeDocument/2006/relationships" id="265" r:id="Raaffba40f1ca478b"/>
    <p:sldId xmlns:r="http://schemas.openxmlformats.org/officeDocument/2006/relationships" id="266" r:id="R76b7e0148453423b"/>
    <p:sldId xmlns:r="http://schemas.openxmlformats.org/officeDocument/2006/relationships" id="267" r:id="Rf6a7ea691dd348d2"/>
    <p:sldId xmlns:r="http://schemas.openxmlformats.org/officeDocument/2006/relationships" id="268" r:id="R328d8b0333034b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987e3162d74ba5" /><Relationship Type="http://schemas.openxmlformats.org/officeDocument/2006/relationships/slideMaster" Target="/ppt/slideMasters/slideMaster1.xml" Id="R2ce9519bb49f4f3c" /><Relationship Type="http://schemas.openxmlformats.org/officeDocument/2006/relationships/notesMaster" Target="/ppt/notesMasters/notesMaster1.xml" Id="Rb98be871ee724be9" /><Relationship Type="http://schemas.openxmlformats.org/officeDocument/2006/relationships/presProps" Target="/ppt/presProps.xml" Id="R25be8641560646a0" /><Relationship Type="http://schemas.openxmlformats.org/officeDocument/2006/relationships/tableStyles" Target="/ppt/tableStyles.xml" Id="R4901422435334025" /><Relationship Type="http://schemas.openxmlformats.org/officeDocument/2006/relationships/slide" Target="/ppt/slides/slide1.xml" Id="R94e3c9bbd13e4469" /><Relationship Type="http://schemas.openxmlformats.org/officeDocument/2006/relationships/slide" Target="/ppt/slides/slide2.xml" Id="Rdbc8d16813044a81" /><Relationship Type="http://schemas.openxmlformats.org/officeDocument/2006/relationships/slide" Target="/ppt/slides/slide3.xml" Id="R71c309fdc84542e6" /><Relationship Type="http://schemas.openxmlformats.org/officeDocument/2006/relationships/slide" Target="/ppt/slides/slide4.xml" Id="Ref15a6cf0e3a4af7" /><Relationship Type="http://schemas.openxmlformats.org/officeDocument/2006/relationships/slide" Target="/ppt/slides/slide5.xml" Id="R55e119c04621420e" /><Relationship Type="http://schemas.openxmlformats.org/officeDocument/2006/relationships/slide" Target="/ppt/slides/slide6.xml" Id="Rb1d671708f044fd1" /><Relationship Type="http://schemas.openxmlformats.org/officeDocument/2006/relationships/slide" Target="/ppt/slides/slide7.xml" Id="R0c285fb66dee4c6b" /><Relationship Type="http://schemas.openxmlformats.org/officeDocument/2006/relationships/slide" Target="/ppt/slides/slide8.xml" Id="Rbde5199a20db4b5f" /><Relationship Type="http://schemas.openxmlformats.org/officeDocument/2006/relationships/slide" Target="/ppt/slides/slide9.xml" Id="R6694f50beaf0437d" /><Relationship Type="http://schemas.openxmlformats.org/officeDocument/2006/relationships/slide" Target="/ppt/slides/slide10.xml" Id="Raaffba40f1ca478b" /><Relationship Type="http://schemas.openxmlformats.org/officeDocument/2006/relationships/slide" Target="/ppt/slides/slide11.xml" Id="R76b7e0148453423b" /><Relationship Type="http://schemas.openxmlformats.org/officeDocument/2006/relationships/slide" Target="/ppt/slides/slide12.xml" Id="Rf6a7ea691dd348d2" /><Relationship Type="http://schemas.openxmlformats.org/officeDocument/2006/relationships/slide" Target="/ppt/slides/slide13.xml" Id="R328d8b0333034b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678bfefdac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e31ec7acf420d" /><Relationship Type="http://schemas.openxmlformats.org/officeDocument/2006/relationships/notesMaster" Target="/ppt/notesMasters/notesMaster1.xml" Id="Rdda4543d7d65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89f27976e404b" /><Relationship Type="http://schemas.openxmlformats.org/officeDocument/2006/relationships/notesMaster" Target="/ppt/notesMasters/notesMaster1.xml" Id="Rb08d3703bed249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d0f042d555489e" /><Relationship Type="http://schemas.openxmlformats.org/officeDocument/2006/relationships/notesMaster" Target="/ppt/notesMasters/notesMaster1.xml" Id="Rd297fa07b3a947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6a1083e59a4d72" /><Relationship Type="http://schemas.openxmlformats.org/officeDocument/2006/relationships/notesMaster" Target="/ppt/notesMasters/notesMaster1.xml" Id="Ra336eae9605142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4b56c4259c4697" /><Relationship Type="http://schemas.openxmlformats.org/officeDocument/2006/relationships/notesMaster" Target="/ppt/notesMasters/notesMaster1.xml" Id="R981da003f8854f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0a84628c6a4a75" /><Relationship Type="http://schemas.openxmlformats.org/officeDocument/2006/relationships/notesMaster" Target="/ppt/notesMasters/notesMaster1.xml" Id="R2cc7b0e12f6b45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15dc789514228" /><Relationship Type="http://schemas.openxmlformats.org/officeDocument/2006/relationships/notesMaster" Target="/ppt/notesMasters/notesMaster1.xml" Id="Rf57a2cb107a448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24f3ccebeb43c4" /><Relationship Type="http://schemas.openxmlformats.org/officeDocument/2006/relationships/notesMaster" Target="/ppt/notesMasters/notesMaster1.xml" Id="Rbb537fc3503243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a2f1e839e8404a" /><Relationship Type="http://schemas.openxmlformats.org/officeDocument/2006/relationships/notesMaster" Target="/ppt/notesMasters/notesMaster1.xml" Id="R95d01039853945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cb1b60fe9646f2" /><Relationship Type="http://schemas.openxmlformats.org/officeDocument/2006/relationships/notesMaster" Target="/ppt/notesMasters/notesMaster1.xml" Id="R8ab143f648d843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f6857072c946fc" /><Relationship Type="http://schemas.openxmlformats.org/officeDocument/2006/relationships/notesMaster" Target="/ppt/notesMasters/notesMaster1.xml" Id="Rdd9d4da79b6f40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6aa145a1da41b0" /><Relationship Type="http://schemas.openxmlformats.org/officeDocument/2006/relationships/notesMaster" Target="/ppt/notesMasters/notesMaster1.xml" Id="R337dcb7326d749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697788b1bf49a0" /><Relationship Type="http://schemas.openxmlformats.org/officeDocument/2006/relationships/notesMaster" Target="/ppt/notesMasters/notesMaster1.xml" Id="R2b294e13d13e46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7ae624d5e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c30ddbeb14e8d" /><Relationship Type="http://schemas.openxmlformats.org/officeDocument/2006/relationships/slideLayout" Target="/ppt/slideLayouts/slideLayout1.xml" Id="Re1f478c73c2c45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f478c73c2c45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dd8a67b264e7a" /><Relationship Type="http://schemas.openxmlformats.org/officeDocument/2006/relationships/notesSlide" Target="/ppt/notesSlides/notesSlide1.xml" Id="R3d5cb65a50504d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5a4ce6b60450e" /><Relationship Type="http://schemas.openxmlformats.org/officeDocument/2006/relationships/notesSlide" Target="/ppt/notesSlides/notesSlide2.xml" Id="R8a082418dc50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608b7b794654" /><Relationship Type="http://schemas.openxmlformats.org/officeDocument/2006/relationships/notesSlide" Target="/ppt/notesSlides/notesSlide3.xml" Id="R91b2d7c50ed144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c73b5622747e9" /><Relationship Type="http://schemas.openxmlformats.org/officeDocument/2006/relationships/notesSlide" Target="/ppt/notesSlides/notesSlide4.xml" Id="Rdd7e756d9b0e41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31096f2ea4de1" /><Relationship Type="http://schemas.openxmlformats.org/officeDocument/2006/relationships/notesSlide" Target="/ppt/notesSlides/notesSlide5.xml" Id="R63dd69dd76fe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436ad770d41a9" /><Relationship Type="http://schemas.openxmlformats.org/officeDocument/2006/relationships/notesSlide" Target="/ppt/notesSlides/notesSlide6.xml" Id="R7bce44573efb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1d2b800084e56" /><Relationship Type="http://schemas.openxmlformats.org/officeDocument/2006/relationships/notesSlide" Target="/ppt/notesSlides/notesSlide7.xml" Id="Rcbe81f34c45045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a008999e9484b" /><Relationship Type="http://schemas.openxmlformats.org/officeDocument/2006/relationships/notesSlide" Target="/ppt/notesSlides/notesSlide8.xml" Id="R2e1d4adb28084e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30a1686a84f3c" /><Relationship Type="http://schemas.openxmlformats.org/officeDocument/2006/relationships/notesSlide" Target="/ppt/notesSlides/notesSlide9.xml" Id="R612158f90b48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f657374dd4b11" /><Relationship Type="http://schemas.openxmlformats.org/officeDocument/2006/relationships/notesSlide" Target="/ppt/notesSlides/notesSlide10.xml" Id="R3199435aa2444d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2d2b0adfe4160" /><Relationship Type="http://schemas.openxmlformats.org/officeDocument/2006/relationships/notesSlide" Target="/ppt/notesSlides/notesSlide11.xml" Id="Rcf9a95ce64314d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daf87e27e4c73" /><Relationship Type="http://schemas.openxmlformats.org/officeDocument/2006/relationships/notesSlide" Target="/ppt/notesSlides/notesSlide12.xml" Id="Ree8d0d0a6e1e46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35e8c5a9e4343" /><Relationship Type="http://schemas.openxmlformats.org/officeDocument/2006/relationships/notesSlide" Target="/ppt/notesSlides/notesSlide13.xml" Id="R64c04b1fa79e45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4442EB8C-4D2B-4011-AAD1-9056C28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2929E5CD-B922-49A6-991D-B666F217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9B4E23E1-C968-4BF8-83F0-893339B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BC0AE3B1-EA19-4409-9F73-B3B1370F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D2BA5167-E254-4430-9165-8FB671EE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D770B090-4D57-4403-A7D9-EDA7A39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9EF1538-8F45-4B52-89DB-D966A3BF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0BB977-FB68-4053-8423-B9EB04F5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文旅、展厅与智慧建筑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8DF22D4-C3FD-4CC9-8BAA-DD2241CD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从导览机器人和数字工科大楼理解空间建模、路线、问答、数字孪生与长期运维。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7C2F8701-16AF-4F4B-BEE0-6AAC51C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文旅景区、展厅和智慧建筑都在经营“人与空间的关系”；游客希望少迷路、少等待、得到与兴趣和时间匹配的内容；运营人员则要维护地图、展项、活动、设备和安全秩序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86C3A817-519D-43AC-B7A0-D70FFDBF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45A09FFA-CBA2-42F1-A8A0-D730341E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IN-009 · IN-009-S01</a:t>
            </a:r>
          </a:p>
        </p:txBody>
      </p:sp>
    </p:spTree>
    <p:extLst>
      <p:ext uri="{BB962C8B-B14F-4D97-AF65-F5344CB8AC3E}">
        <p14:creationId xmlns:p14="http://schemas.microsoft.com/office/powerpoint/2010/main" val="218327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1315C742-A5C0-41BC-92F9-85EB575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A1A1CB9A-1B72-4381-8905-8A9BF487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37F63961-7F3D-419B-8CE6-FB3F0763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文旅、展厅与智慧建筑：4项学习结果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C5BE793A-8307-41B4-878B-C5897582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624A851A-6742-41F0-B0B0-5A1B1E03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B3B7EE6B-C9EF-44C5-9841-474C04B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按行前、到达、在场和离场后四个阶段设计游客或观众服务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7D2827D6-4A7E-4B57-9ACE-36186FBC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把客流、地图、路线、展项内容、问答和现场人员连接成完整流程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456918C9-18EA-41D9-B427-25516B9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解释数字孪生如何服务空间、设备和运营，而不是停留在三维展示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D98A9505-31C0-4316-887C-2F1BF53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为机器人、终端、网络、内容和人工接管制定长期运维与评测方案</a:t>
            </a:r>
          </a:p>
        </p:txBody>
      </p:sp>
    </p:spTree>
    <p:extLst>
      <p:ext uri="{BB962C8B-B14F-4D97-AF65-F5344CB8AC3E}">
        <p14:creationId xmlns:p14="http://schemas.microsoft.com/office/powerpoint/2010/main" val="771935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9CC29709-7DCD-4454-A479-F6C7F66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0E0A2ECA-C7F7-4FBE-9138-23390AD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7B8B5664-CFD2-495B-AFAB-3713DB60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游客旅程要同时覆盖行前、在场与离场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2BCBF481-EC76-40D7-B61D-39DA5E40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096DC104-66CA-4C84-A68F-8AD5259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44416CC-58BD-4BA9-9600-36CEE02C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0A5C740-A65B-4733-BB7A-4AE8302F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从完整游客旅程定义任务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91BAB86-D076-4BD5-A75F-86E6CFC1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行前阶段帮助用户了解主题、开放安排、交通、无障碍条件和参观限制；到达阶段完成定位、入场和路线选择；在场阶段提供导航、讲解、问答、排队信息与现场求助；离场后可提供内容回顾、反馈和再次访问入口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BCF8688-FCAA-4230-A16C-7B3DDB8D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2AE27E7-D90E-4007-9333-4EAABCCA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个性化不等于收集越多越好；路线推荐可以根据用户主动选择的时长、主题、语言和无障碍需求工作；不必长期追踪身份，客流数据宜优先采用匿名或聚合统计；并明确用途和保存时间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DD96CB2B-FFB4-4969-B0D4-A731F225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7EDBDDBC-FFB4-4DC3-BE6F-78FBCAD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服务设计还要照顾没有智能手机、网络不畅或需要人工帮助的人。纸质与固定标识、服务台和工作人员不是“落后备份”，而是空间服务可达性和故障回退的一部分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37D92C66-F588-4652-AF34-5F56F976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B59E72C5-FA39-4B99-B554-8E8810EA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游客旅程要同时覆盖行前、在场与离场</a:t>
            </a:r>
          </a:p>
        </p:txBody>
      </p:sp>
    </p:spTree>
    <p:extLst>
      <p:ext uri="{BB962C8B-B14F-4D97-AF65-F5344CB8AC3E}">
        <p14:creationId xmlns:p14="http://schemas.microsoft.com/office/powerpoint/2010/main" val="1170534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127DA259-B2C2-4D65-A77A-795C0EEA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17677381-0F8C-4242-A685-8E08C80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4D6A2D17-E3B2-4D11-B89E-C888F012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地图、客流与路线形成动态空间服务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3FA3C238-E525-4075-9033-D854BF5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B93D52A4-9E6F-4DFC-BF6C-9C3FFD91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22CB8C4-B36C-479D-8A92-A8E1302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FFCA4631-A96C-4E01-BDD8-8A1A6EBC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地图、客流与路线形成动态空间服务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6B4B411-866A-4E69-8734-1FB16186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基础地图应包含入口、出口、展项、楼层连接、服务设施、无障碍路径、禁行区和紧急设施；路线算法不仅计算距离；还要考虑开放状态、容量、坡度或电梯需求、临时施工、活动时间与人流方向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5A12A32-3DAB-46B2-9B16-01B7872E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F47C865-197A-40D3-BB34-45A07FE3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客流数据可以帮助发现拥堵和调整推荐；但传感器存在遮挡、重复计数和离线情况；系统应显示数据新鲜度和质量；不能把估计值当作精确人数；安全疏散和现场管制必须依照正式预案与人员指挥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02CC0EBC-7635-44D8-A10E-83B63616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96D1C34A-C441-43B3-AD97-17263B21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地图、路线和现场标识要有同一变更流程。展项移动或区域封闭后，数字地图、机器人路线、移动端与工作人员信息应同步更新，并经过现场走测；只修改其中一个入口会制造新的迷路风险</a:t>
            </a:r>
          </a:p>
        </p:txBody>
      </p:sp>
      <p:sp>
        <p:nvSpPr>
          <p:cNvPr id="13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7F1F8FDF-D2D6-4BAE-884A-9BE4F3A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4-takeaway">
            <a:extLst xmlns:a="http://schemas.openxmlformats.org/drawingml/2006/main">
              <a:ext uri="{FF2B5EF4-FFF2-40B4-BE49-F238E27FC236}">
                <a16:creationId xmlns:a16="http://schemas.microsoft.com/office/drawing/2014/main" id="{19B6FB24-58D5-4C49-875B-60855D76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地图、客流与路线形成动态空间服务</a:t>
            </a:r>
          </a:p>
        </p:txBody>
      </p:sp>
    </p:spTree>
    <p:extLst>
      <p:ext uri="{BB962C8B-B14F-4D97-AF65-F5344CB8AC3E}">
        <p14:creationId xmlns:p14="http://schemas.microsoft.com/office/powerpoint/2010/main" val="1181866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B98580CF-A050-412A-9E84-7DE6D81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C2584258-D0A6-49EF-87FD-130474D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79EB6F13-E0B7-44E4-A3FB-ADE9750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内容资产应支持多入口交付与统一更新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A49D42BB-DB76-4FF6-9415-1ADA694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0738EE75-82CE-4F43-8581-8B807A6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F9FFABD-FEED-4D2A-A452-7DB49B7A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18DD02D-6286-4875-A485-3C8DB5C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内容运营：一次创作，多入口受控交付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8642D50-21EA-4783-8C8D-54DD7245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展项知识可拆成事实、故事、术语、媒体、常见问题和可公开限制；每条内容应有来源、责任编辑、语言版本、生效时间和复审日期；AI 可以生成不同长度、语言与年龄层的草稿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61B4D9F-880B-4FA5-964A-242C0CA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AFDF839-0665-4F69-9B71-ED43351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机器人、网页、应用和交互屏应读取同一批准内容；不要各自维护互相冲突的文本；活动结束、展品更换或权利到期时；相关内容应自动停止交付；对外说明中的票务、开放安排和服务承诺应来自业务系统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A7E6F7C8-789F-4B50-A1F7-9204AAA4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39CEB005-0326-4931-9594-08E4B2C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内容指标不能只看生成数量。可观察用户是否完成目标路线、是否反复追问、哪些问题没有资料、人工纠错需要多久、不同语言是否表达一致，以及内容更新后各入口是否同步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8D3D6705-34EA-470B-A5F3-F38368C6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BF3E60E4-0843-46F9-AA09-02342D2A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内容资产应支持多入口交付与统一更新</a:t>
            </a:r>
          </a:p>
        </p:txBody>
      </p:sp>
    </p:spTree>
    <p:extLst>
      <p:ext uri="{BB962C8B-B14F-4D97-AF65-F5344CB8AC3E}">
        <p14:creationId xmlns:p14="http://schemas.microsoft.com/office/powerpoint/2010/main" val="1115897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AA879554-7FEA-4882-9C0B-9290568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FAEB68D4-0363-48FD-85B5-1852AEC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24AAE885-C9E9-4975-8C2F-439BAED4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问答系统必须区分知识、服务与现场求助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38320864-EBE4-433E-9142-A7585BF6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A8C9EC06-B01A-4F5D-91B5-3C7AA0E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4AD56AE-FC27-4B00-BA20-A0C200C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BB6C7F4-CEFB-4C6D-9BEA-75716380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问答与人工接管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004C7483-E1A2-4744-80DC-344C6D9E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问答系统先识别问题属于展项知识、路线服务、运营信息还是现场求助，再从有权使用的最新资料中检索。回答应给出适用时间和来源；不知道时直接说明，不编造展项、路线或开放状态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D7A85C3-B9AD-47F5-B0B6-93DC8A6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4C6ED6C3-D064-41A4-8588-18A66798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涉及失物、投诉、支付、个人信息、身体不适、儿童走失、安全隐患或紧急情况时；应快速转现场人员或正式求助渠道；接管不是显示一个电话号码就结束；系统应传递必要的上下文和位置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FCE9898A-6387-409E-8FBC-5D24CC00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01B93262-6132-4091-A178-29B078B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机器人和自助终端还要处理物理接管。遇到路线堵塞、定位丢失、传感器异常、用户靠得过近或设备电量不足时，应安全停止、语音提示并通知人员。任何远程控制都需要身份验证、动作范围和日志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8CF7B619-D21C-4E19-A1E1-6E73A722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DD3CD782-5A82-4C54-96DA-6E6CB1C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问答系统必须区分知识、服务与现场求助</a:t>
            </a:r>
          </a:p>
        </p:txBody>
      </p:sp>
    </p:spTree>
    <p:extLst>
      <p:ext uri="{BB962C8B-B14F-4D97-AF65-F5344CB8AC3E}">
        <p14:creationId xmlns:p14="http://schemas.microsoft.com/office/powerpoint/2010/main" val="1032242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ADB7235E-D8E7-4284-B0FE-2592E86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10E206BA-B097-47E3-BEC6-B3285499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CB794609-AE5B-4368-97F5-BF2F7D4C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数字孪生：连接空间、设备与运营状态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646E4DBE-2AD9-41BA-8F3D-C9F0D5E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27B82BE7-A1D3-4066-9060-92B460C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F9884CC-2C52-4E18-91E9-1950A1A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132D4D4-D6E7-4A08-AD34-D951A20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数字孪生：连接空间、设备与运营状态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F02D934-093D-419C-A12D-9A7895E7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智慧建筑的数字孪生可把空间几何、房间与展项、设备资产、传感器状态、工单和运营规则放在共同模型中。它可以支持设备定位、维护排查、空间利用分析、能耗观察和方案演练，但前提是模型持续与现场一致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9D5F843-8DB5-4145-89D2-1885419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F1532F8-9156-4790-8897-BC75C18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三维外观只是表达层；更重要的是对象身份、数据时间、状态来源和业务关系；例如，地图显示某电梯可用时；应知道状态来自哪个系统、多久前更新、故障工单是否仍未关闭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BD383B71-7966-482A-8981-8DEFD936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BF7668C4-1FCF-4109-B1C9-5A8659C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对路线或设施调整，可先在数字环境中比较影响，再通过现场检查确认。仿真结果用于提出方案，不直接替代消防、建筑、设施和运营专业人员的审批。模型与现场偏差要进入维护工单</a:t>
            </a:r>
          </a:p>
        </p:txBody>
      </p:sp>
      <p:sp>
        <p:nvSpPr>
          <p:cNvPr id="13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B3EC8569-876B-47A7-A046-4EB1BE81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7-takeaway">
            <a:extLst xmlns:a="http://schemas.openxmlformats.org/drawingml/2006/main">
              <a:ext uri="{FF2B5EF4-FFF2-40B4-BE49-F238E27FC236}">
                <a16:creationId xmlns:a16="http://schemas.microsoft.com/office/drawing/2014/main" id="{58B57EC5-ACC7-4478-9062-B0C54E9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数字孪生：连接空间、设备与运营状态</a:t>
            </a:r>
          </a:p>
        </p:txBody>
      </p:sp>
    </p:spTree>
    <p:extLst>
      <p:ext uri="{BB962C8B-B14F-4D97-AF65-F5344CB8AC3E}">
        <p14:creationId xmlns:p14="http://schemas.microsoft.com/office/powerpoint/2010/main" val="1979706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8D42092F-A0F3-46A0-9755-3BC761F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AAFC5240-8C7C-422D-B983-C0F30300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E5BD48BF-1311-4D29-B918-0E2EDFC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长期运维比首次上线更重要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43555549-105A-4221-8E61-11CA2C3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CEA0654E-0AB1-4318-9E1D-8B0406C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E6D0678-2ADB-4D93-BBD1-1B426044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06AA6D9-6775-4002-969A-532E4F5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长期运维比首次上线更重要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B7806BE-15E4-4F91-BF3D-A74D592C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094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运维对象包括机器人与充电、网络、定位基站、传感器、地图、内容库、业务接口、权限、日志和现场人员；每项都要有负责人、巡检周期、故障等级、备件或替代方案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00802E2-87DD-4A03-8376-A3E7ED94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F7D9CB4-8BEA-4909-8117-6454560B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系统更新要经过版本、测试、灰度与回退；内容更新检查事实和版权；地图更新进行现场走测；模型更新重跑问答和安全样本；日志只保留诊断与改进所需的信息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94AC048E-0D11-4ACA-9305-D6F1E56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EF95517B-6BB9-4710-8619-9BDEAA9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长期指标可包括服务可用性、路线完成、内容准确、转人工成功、故障恢复、过期信息拦截和现场工作负担。若使用率低，应先判断入口、内容、路线或人工流程是否有问题，而不是立即增加更多传感器和生成能力</a:t>
            </a:r>
          </a:p>
        </p:txBody>
      </p:sp>
      <p:sp>
        <p:nvSpPr>
          <p:cNvPr id="13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C719058A-8DA8-4232-9FF3-632FAEA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8-takeaway">
            <a:extLst xmlns:a="http://schemas.openxmlformats.org/drawingml/2006/main">
              <a:ext uri="{FF2B5EF4-FFF2-40B4-BE49-F238E27FC236}">
                <a16:creationId xmlns:a16="http://schemas.microsoft.com/office/drawing/2014/main" id="{A9D80442-00A3-4F36-B7DA-AD0D8992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长期运维比首次上线更重要</a:t>
            </a:r>
          </a:p>
        </p:txBody>
      </p:sp>
    </p:spTree>
    <p:extLst>
      <p:ext uri="{BB962C8B-B14F-4D97-AF65-F5344CB8AC3E}">
        <p14:creationId xmlns:p14="http://schemas.microsoft.com/office/powerpoint/2010/main" val="615132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6C5FEF25-AA87-4F4F-8D28-08F202CA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9FE503D5-9BCF-4498-A816-9FCD7FF5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AE5EAD9A-258C-4A5D-A06D-E979C513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共享地图让路线、讲解与临时关闭同步更新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41D81A68-B7CC-4EEA-A8A6-CCEDDEA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1DDF4F63-6059-4605-BE07-5E9ACE3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099E7B81-9D61-4126-A5E5-46F2A49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展厅主题路线的一天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4B45A3F5-AEA1-4ECE-BFAE-0215D91C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行前｜观众选择可用时长、主题和无障碍需求，系统根据当天开放状态给出候选路线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D3A2F7A0-E171-4317-AF65-BD1FD851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55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在场｜机器人与移动端共享同一地图和批准讲解；某区域临时关闭后，运营人员一次更新即可停止相关路线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36C79834-454F-4BFC-A319-E397459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问答｜展项问题返回来源，服务与安全问题转工作人员，并传递必要位置和问题摘要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2809A8AE-5A0D-453B-A06F-F4A6D81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复盘｜团队检查路线中断、无答案问题、接管是否成功和内容是否过期，再安排修正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1E954506-F90C-468E-AD92-843660A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D2C2090F-1DFF-421A-925F-A2BB7DE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共享地图让路线、讲解与临时关闭同步更新</a:t>
            </a:r>
          </a:p>
        </p:txBody>
      </p:sp>
    </p:spTree>
    <p:extLst>
      <p:ext uri="{BB962C8B-B14F-4D97-AF65-F5344CB8AC3E}">
        <p14:creationId xmlns:p14="http://schemas.microsoft.com/office/powerpoint/2010/main" val="1746575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8DA52334-7F79-4F79-90AE-D5F644B7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837F9AB6-2CF5-40D3-991C-C297C412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E4448DE7-B133-4DCA-B7F7-897E51A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建筑联动建议必须经过现场核验与授权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F2F9AA29-3078-4105-BDC1-2AD6DEF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34B8763F-E992-483B-A45E-D8D507A7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D0835BC0-4B03-4A60-8FB7-4ED6874B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智慧建筑中的设备与空间联动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A60095F1-93CD-422B-99C4-BD5ECB25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场景｜运营人员收到某区域环境异常，同时该区域将举办活动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FC2E6C8-6FCC-4559-9E49-6D5AB68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辅助｜数字孪生关联房间、传感器、相关设备、维护记录和活动安排，展示数据时间与未关闭工单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FF515717-0BE0-44FB-97EB-479AB52D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决定｜设施人员现场复核后选择维修、调整空间或启用替代区域；系统不根据单个传感器自动改变安全策略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14FEFEFD-F3FE-4A5E-A7EC-7671DE63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8DE66297-B36D-4423-969E-789A2DEF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建筑联动建议必须经过现场核验与授权</a:t>
            </a:r>
          </a:p>
        </p:txBody>
      </p:sp>
    </p:spTree>
    <p:extLst>
      <p:ext uri="{BB962C8B-B14F-4D97-AF65-F5344CB8AC3E}">
        <p14:creationId xmlns:p14="http://schemas.microsoft.com/office/powerpoint/2010/main" val="774278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13399D4F-79B3-44E3-95EF-149AD44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928A6229-8E72-49DC-83CA-922A72CA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B4D399EA-16FA-4A61-BAAD-92C11E22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文旅、展厅与智慧建筑：一次可验收练习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D21C46E7-49DF-4C06-B184-33B64E35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1984849C-AFC4-4FC9-8604-106694C3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400065E1-CFC5-44B6-A2A9-9DE92A43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A31E11E4-B2F3-4B58-9D0A-DEF8BE1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01DBD3FD-18D5-4A8F-BBE9-5183886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选择一个景区、展厅或公共建筑，画出行前、到达、在场、离场后四阶段旅程，并为每阶段写出数字服务与人工入口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DA7B3054-B303-47E1-9E0B-6664716E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8F602580-9917-4C20-BEBD-3184093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470E6379-0492-422E-9677-D15565B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E208B746-EA1B-4731-8CB3-533BA7D7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绘制一张包含展项、服务设施、无障碍路线、禁行区和人工接管点的简图，再设计临时封路后的更新与回退流程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D9DCB1E2-3EDC-4CC9-95D7-52DA9E78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6B72C844-33A7-405C-9C0E-139079E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B1884FDC-5920-4DA9-A3B2-FCB800FA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B2C00FD2-4B84-4649-BF4B-67F1BE16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建立一份长期运维清单，覆盖内容、地图、机器人或终端、网络、数字孪生、权限、日志、人员和四种故障演练</a:t>
            </a:r>
          </a:p>
        </p:txBody>
      </p:sp>
    </p:spTree>
    <p:extLst>
      <p:ext uri="{BB962C8B-B14F-4D97-AF65-F5344CB8AC3E}">
        <p14:creationId xmlns:p14="http://schemas.microsoft.com/office/powerpoint/2010/main" val="1919845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90907665-515B-4030-B287-47F5607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9B77399F-1BA4-4C93-B582-5FC93C94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5B5A562C-F7EA-49CA-8D81-CCD943EF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文旅、展厅与智慧建筑：判断时先抓住三点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9AD67728-5F8F-41A0-BC71-75B9843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A2372B37-066A-4DF4-83F1-6D5C04E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26F1ED60-E35A-4398-A153-444002D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16DADB32-CEEC-4931-8D51-7CE27D2D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636E2BA6-8A8C-4EFE-82E3-8666A512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游客旅程要同时覆盖行前、在场与离场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4F6316CA-906F-43DD-AC05-98941DAB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A5B001DF-83D1-44AD-9680-B7CD95B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806E9D97-5D9B-4B2B-B8BD-D7FD2753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D95E9068-2D30-42EE-A6D8-94CD83D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内容资产应支持多入口交付与统一更新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0CE22885-D98A-4569-BC73-7A5B81E1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DF30A6DC-4422-455F-82F9-6C4FE1C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85401079-9960-4937-8E7F-F6161145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43B9C9BA-2760-4163-A8E8-9ED82A17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长期运维比首次上线更重要</a:t>
            </a:r>
          </a:p>
        </p:txBody>
      </p:sp>
    </p:spTree>
    <p:extLst>
      <p:ext uri="{BB962C8B-B14F-4D97-AF65-F5344CB8AC3E}">
        <p14:creationId xmlns:p14="http://schemas.microsoft.com/office/powerpoint/2010/main" val="813416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77D9A265-7E55-45F6-9E01-224075C8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7A5FBE85-2F57-4668-93B7-3AEB4334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593C8991-A168-4863-8A79-415DA1E1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文旅、展厅与智慧建筑：依据、边界与延伸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24FE15AB-CCE9-458B-92C9-12CBC0CF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3AB5D815-7AC8-4EEA-BDF8-EF23C83F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IN-009 · IN-009-S13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5CC075FE-1A1D-4128-A854-A92549E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5A53284C-52CD-487B-9333-23BB83BE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团队补充资料：《数字工科大楼具身智能项目-介绍》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6F1C3701-67A5-4F4A-91D6-9D26F56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ISO 41001:2018：设施管理体系要求与使用指南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A7165711-2D0B-4C1A-9856-4CBA9943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ISO 19650-1:2018：使用建筑信息模型管理建筑和土木工程信息的概念与原则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5C8F313A-53F1-42EB-9090-12AE999B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实际部署还应遵循场所安全、消防、无障碍、个人信息保护及设备运维的现行要求</a:t>
            </a:r>
          </a:p>
        </p:txBody>
      </p:sp>
      <p:sp>
        <p:nvSpPr>
          <p:cNvPr id="11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13B42AA2-7602-41AC-A957-7CDB532A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FAC7EB7F-B04D-4EC7-8FC6-C79EC6C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课程精编页用于讲授主线；播放器中的“原课件”模式保留团队 PowerPoint 精选页、真实图片和可播放视频。</a:t>
            </a:r>
          </a:p>
        </p:txBody>
      </p:sp>
    </p:spTree>
    <p:extLst>
      <p:ext uri="{BB962C8B-B14F-4D97-AF65-F5344CB8AC3E}">
        <p14:creationId xmlns:p14="http://schemas.microsoft.com/office/powerpoint/2010/main" val="1926286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2026-07-12T03:32:13.3690000Z</dcterms:created>
  <dcterms:modified xsi:type="dcterms:W3CDTF">2026-07-12T03:32:13.3690000Z</dcterms:modified>
</coreProperties>
</file>