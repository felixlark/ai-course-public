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601d3e7770410d" /><Relationship Type="http://schemas.openxmlformats.org/officeDocument/2006/relationships/extended-properties" Target="/docProps/app.xml" Id="Rac7ee125be5b40a1" /><Relationship Type="http://schemas.openxmlformats.org/officeDocument/2006/relationships/officeDocument" Target="/ppt/presentation.xml" Id="R029b817c5c014e7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3048da17c2f4133"/>
  </p:sldMasterIdLst>
  <p:notesMasterIdLst>
    <p:notesMasterId xmlns:r="http://schemas.openxmlformats.org/officeDocument/2006/relationships" r:id="Reb46dd9374b948f1"/>
  </p:notesMasterIdLst>
  <p:sldIdLst>
    <p:sldId xmlns:r="http://schemas.openxmlformats.org/officeDocument/2006/relationships" id="256" r:id="R422a57799af14857"/>
    <p:sldId xmlns:r="http://schemas.openxmlformats.org/officeDocument/2006/relationships" id="257" r:id="Rc45ff337b8174008"/>
    <p:sldId xmlns:r="http://schemas.openxmlformats.org/officeDocument/2006/relationships" id="258" r:id="R59bc62f9c2f44d0f"/>
    <p:sldId xmlns:r="http://schemas.openxmlformats.org/officeDocument/2006/relationships" id="259" r:id="R1f704452a8834f72"/>
    <p:sldId xmlns:r="http://schemas.openxmlformats.org/officeDocument/2006/relationships" id="260" r:id="R00ada50cdb7246a4"/>
    <p:sldId xmlns:r="http://schemas.openxmlformats.org/officeDocument/2006/relationships" id="261" r:id="R99ec76d6cf43429f"/>
    <p:sldId xmlns:r="http://schemas.openxmlformats.org/officeDocument/2006/relationships" id="262" r:id="R8355d938c30e4962"/>
    <p:sldId xmlns:r="http://schemas.openxmlformats.org/officeDocument/2006/relationships" id="263" r:id="R9209ffe434254a81"/>
    <p:sldId xmlns:r="http://schemas.openxmlformats.org/officeDocument/2006/relationships" id="264" r:id="Rcde218ef2d25425c"/>
    <p:sldId xmlns:r="http://schemas.openxmlformats.org/officeDocument/2006/relationships" id="265" r:id="R2ca076d95ccd4b21"/>
    <p:sldId xmlns:r="http://schemas.openxmlformats.org/officeDocument/2006/relationships" id="266" r:id="R21ade94a61ee4983"/>
    <p:sldId xmlns:r="http://schemas.openxmlformats.org/officeDocument/2006/relationships" id="267" r:id="R8d50dab8ffed4d9f"/>
    <p:sldId xmlns:r="http://schemas.openxmlformats.org/officeDocument/2006/relationships" id="268" r:id="R8bb3d09550c841f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68e393d0f9c475e" /><Relationship Type="http://schemas.openxmlformats.org/officeDocument/2006/relationships/slideMaster" Target="/ppt/slideMasters/slideMaster1.xml" Id="R23048da17c2f4133" /><Relationship Type="http://schemas.openxmlformats.org/officeDocument/2006/relationships/notesMaster" Target="/ppt/notesMasters/notesMaster1.xml" Id="Reb46dd9374b948f1" /><Relationship Type="http://schemas.openxmlformats.org/officeDocument/2006/relationships/presProps" Target="/ppt/presProps.xml" Id="Rae9e9208865d4438" /><Relationship Type="http://schemas.openxmlformats.org/officeDocument/2006/relationships/tableStyles" Target="/ppt/tableStyles.xml" Id="Rd8dfb6b684c14a08" /><Relationship Type="http://schemas.openxmlformats.org/officeDocument/2006/relationships/slide" Target="/ppt/slides/slide1.xml" Id="R422a57799af14857" /><Relationship Type="http://schemas.openxmlformats.org/officeDocument/2006/relationships/slide" Target="/ppt/slides/slide2.xml" Id="Rc45ff337b8174008" /><Relationship Type="http://schemas.openxmlformats.org/officeDocument/2006/relationships/slide" Target="/ppt/slides/slide3.xml" Id="R59bc62f9c2f44d0f" /><Relationship Type="http://schemas.openxmlformats.org/officeDocument/2006/relationships/slide" Target="/ppt/slides/slide4.xml" Id="R1f704452a8834f72" /><Relationship Type="http://schemas.openxmlformats.org/officeDocument/2006/relationships/slide" Target="/ppt/slides/slide5.xml" Id="R00ada50cdb7246a4" /><Relationship Type="http://schemas.openxmlformats.org/officeDocument/2006/relationships/slide" Target="/ppt/slides/slide6.xml" Id="R99ec76d6cf43429f" /><Relationship Type="http://schemas.openxmlformats.org/officeDocument/2006/relationships/slide" Target="/ppt/slides/slide7.xml" Id="R8355d938c30e4962" /><Relationship Type="http://schemas.openxmlformats.org/officeDocument/2006/relationships/slide" Target="/ppt/slides/slide8.xml" Id="R9209ffe434254a81" /><Relationship Type="http://schemas.openxmlformats.org/officeDocument/2006/relationships/slide" Target="/ppt/slides/slide9.xml" Id="Rcde218ef2d25425c" /><Relationship Type="http://schemas.openxmlformats.org/officeDocument/2006/relationships/slide" Target="/ppt/slides/slide10.xml" Id="R2ca076d95ccd4b21" /><Relationship Type="http://schemas.openxmlformats.org/officeDocument/2006/relationships/slide" Target="/ppt/slides/slide11.xml" Id="R21ade94a61ee4983" /><Relationship Type="http://schemas.openxmlformats.org/officeDocument/2006/relationships/slide" Target="/ppt/slides/slide12.xml" Id="R8d50dab8ffed4d9f" /><Relationship Type="http://schemas.openxmlformats.org/officeDocument/2006/relationships/slide" Target="/ppt/slides/slide13.xml" Id="R8bb3d09550c841f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6ae9ba01a5a40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31a581609e4756" /><Relationship Type="http://schemas.openxmlformats.org/officeDocument/2006/relationships/notesMaster" Target="/ppt/notesMasters/notesMaster1.xml" Id="Rdade9a4cf2dd4f4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0e09b9ff8044ce7" /><Relationship Type="http://schemas.openxmlformats.org/officeDocument/2006/relationships/notesMaster" Target="/ppt/notesMasters/notesMaster1.xml" Id="Recff22c6eaae4e3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224e3a424546bc" /><Relationship Type="http://schemas.openxmlformats.org/officeDocument/2006/relationships/notesMaster" Target="/ppt/notesMasters/notesMaster1.xml" Id="R95b87c9fda8147c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9360a15f7c24e34" /><Relationship Type="http://schemas.openxmlformats.org/officeDocument/2006/relationships/notesMaster" Target="/ppt/notesMasters/notesMaster1.xml" Id="Rfea060339de44d2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f6cac7697624cc9" /><Relationship Type="http://schemas.openxmlformats.org/officeDocument/2006/relationships/notesMaster" Target="/ppt/notesMasters/notesMaster1.xml" Id="Rc20640795a114b1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b9a6d00914d4a6a" /><Relationship Type="http://schemas.openxmlformats.org/officeDocument/2006/relationships/notesMaster" Target="/ppt/notesMasters/notesMaster1.xml" Id="R4bc4175c1213457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e1596917ee41bc" /><Relationship Type="http://schemas.openxmlformats.org/officeDocument/2006/relationships/notesMaster" Target="/ppt/notesMasters/notesMaster1.xml" Id="Rd202dc96c893466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81ca4e1ff12416e" /><Relationship Type="http://schemas.openxmlformats.org/officeDocument/2006/relationships/notesMaster" Target="/ppt/notesMasters/notesMaster1.xml" Id="Rbe41a441cc7449f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b974ac491a94603" /><Relationship Type="http://schemas.openxmlformats.org/officeDocument/2006/relationships/notesMaster" Target="/ppt/notesMasters/notesMaster1.xml" Id="Rd0fa4953ac5d4b1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ebf826227ca4c03" /><Relationship Type="http://schemas.openxmlformats.org/officeDocument/2006/relationships/notesMaster" Target="/ppt/notesMasters/notesMaster1.xml" Id="R8ab950d744d5444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f96e3c07180475e" /><Relationship Type="http://schemas.openxmlformats.org/officeDocument/2006/relationships/notesMaster" Target="/ppt/notesMasters/notesMaster1.xml" Id="R08ed7b23b2a34f5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7dc0f4ee67b47ee" /><Relationship Type="http://schemas.openxmlformats.org/officeDocument/2006/relationships/notesMaster" Target="/ppt/notesMasters/notesMaster1.xml" Id="Rc9600b1ea632444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373ff5d53ce44ef" /><Relationship Type="http://schemas.openxmlformats.org/officeDocument/2006/relationships/notesMaster" Target="/ppt/notesMasters/notesMaster1.xml" Id="R990383f231ec403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30cdcccac9401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c7c08fcb8ac4342" /><Relationship Type="http://schemas.openxmlformats.org/officeDocument/2006/relationships/slideLayout" Target="/ppt/slideLayouts/slideLayout1.xml" Id="Rb41d3641dc864ca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1d3641dc864ca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4b714e616d4731" /><Relationship Type="http://schemas.openxmlformats.org/officeDocument/2006/relationships/notesSlide" Target="/ppt/notesSlides/notesSlide1.xml" Id="R107aca72a9f040c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ec43d4dca247d5" /><Relationship Type="http://schemas.openxmlformats.org/officeDocument/2006/relationships/notesSlide" Target="/ppt/notesSlides/notesSlide2.xml" Id="Reedab1ccc4704ef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d152ccb28f4662" /><Relationship Type="http://schemas.openxmlformats.org/officeDocument/2006/relationships/notesSlide" Target="/ppt/notesSlides/notesSlide3.xml" Id="Rcdb3d7aca0594d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e730a3a9ca4591" /><Relationship Type="http://schemas.openxmlformats.org/officeDocument/2006/relationships/notesSlide" Target="/ppt/notesSlides/notesSlide4.xml" Id="R7ec007ebc0634f0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5d1fffb28e40bc" /><Relationship Type="http://schemas.openxmlformats.org/officeDocument/2006/relationships/notesSlide" Target="/ppt/notesSlides/notesSlide5.xml" Id="Rb0c38e25acb14ce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7391efe9fd42a9" /><Relationship Type="http://schemas.openxmlformats.org/officeDocument/2006/relationships/notesSlide" Target="/ppt/notesSlides/notesSlide6.xml" Id="Rf05afc6e79bb4e9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1337755c124a3e" /><Relationship Type="http://schemas.openxmlformats.org/officeDocument/2006/relationships/notesSlide" Target="/ppt/notesSlides/notesSlide7.xml" Id="R9105e007ef1d489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2d4cb3e9234d27" /><Relationship Type="http://schemas.openxmlformats.org/officeDocument/2006/relationships/notesSlide" Target="/ppt/notesSlides/notesSlide8.xml" Id="R1f8d161009b3448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5438e74bdf4763" /><Relationship Type="http://schemas.openxmlformats.org/officeDocument/2006/relationships/notesSlide" Target="/ppt/notesSlides/notesSlide9.xml" Id="R0ee98654307b4b1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7b1ad2809b418f" /><Relationship Type="http://schemas.openxmlformats.org/officeDocument/2006/relationships/notesSlide" Target="/ppt/notesSlides/notesSlide10.xml" Id="Rd1fca8842b2349c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f64729b4914c8f" /><Relationship Type="http://schemas.openxmlformats.org/officeDocument/2006/relationships/notesSlide" Target="/ppt/notesSlides/notesSlide11.xml" Id="Rf8fdba3df793401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ffe5c933c4476d" /><Relationship Type="http://schemas.openxmlformats.org/officeDocument/2006/relationships/notesSlide" Target="/ppt/notesSlides/notesSlide12.xml" Id="Rb15223a1fb7b49e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09c6b4eff14241" /><Relationship Type="http://schemas.openxmlformats.org/officeDocument/2006/relationships/notesSlide" Target="/ppt/notesSlides/notesSlide13.xml" Id="R6d9a2f43acfb4ad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F5AF0E83-0A34-4FA4-A630-180D45F17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A300CB81-FA5D-4AB7-A03C-3B06531FF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1ECC9733-3380-487B-ABEC-BCF5F324C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A35341BD-52EB-4AF1-92CC-48B61ADB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A8713135-E3B5-4B62-8E79-2AC7FB5AC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D5BC6D1A-DA1F-49B7-BAFB-188D7AB8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892D49E2-8FF1-4016-9E2E-12034E676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01AAEDF-CFBB-4579-BAD4-3C2C9E2B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文旅、展厅与智慧建筑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A49442E4-7365-4D34-BADF-1003236D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从导览机器人和数字工科大楼理解空间建模、路线、问答、数字孪生与长期运维。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9162C781-0AE3-4DA5-B802-FF6837E80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文旅景区、展厅和智慧建筑都在经营“人与空间的关系”。游客希望少迷路、少等待、得到与兴趣和时间匹配的内容；运营人员则要维护地图、展项、活动、设备和安全秩序。导览机器人、移动应用…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2DD9F1CF-8F15-454F-8F84-5E77DD2CD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745B2003-07F5-47E1-B1AB-FFD03E59B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IN-009 · IN-009-S01</a:t>
            </a:r>
          </a:p>
        </p:txBody>
      </p:sp>
    </p:spTree>
    <p:extLst>
      <p:ext uri="{BB962C8B-B14F-4D97-AF65-F5344CB8AC3E}">
        <p14:creationId xmlns:p14="http://schemas.microsoft.com/office/powerpoint/2010/main" val="15784866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B51E1FEA-F4FD-4DCA-A3E6-A3FFD4C6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429EB71F-30D9-4E54-9F1F-7F50B17D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EC9382B1-2E49-47E7-A194-62F6080A8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学完这一节，你能完成这些判断与行动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6714FEC4-15D9-4EE8-80EF-2309306C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E1A760FC-690D-411A-807A-3FC244F9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243122E3-5A47-4E0B-8FF2-EE64FBD1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按行前、到达、在场和离场后四个阶段设计游客或观众服务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BBE8178A-1552-47B3-BE3D-B68CB45B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把客流、地图、路线、展项内容、问答和现场人员连接成完整流程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EC7D5C98-242E-4564-AF65-09999CEC4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解释数字孪生如何服务空间、设备和运营，而不是停留在三维展示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E652869A-E098-4762-B550-9C70C0DA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为机器人、终端、网络、内容和人工接管制定长期运维与评测方案</a:t>
            </a:r>
          </a:p>
        </p:txBody>
      </p:sp>
    </p:spTree>
    <p:extLst>
      <p:ext uri="{BB962C8B-B14F-4D97-AF65-F5344CB8AC3E}">
        <p14:creationId xmlns:p14="http://schemas.microsoft.com/office/powerpoint/2010/main" val="15332036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A77ECEB2-FD87-4467-B90F-AC4506652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1F5FD15A-A34B-4825-8133-BE2CD205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D92EF67F-D03B-42E8-B7A7-A3593286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1381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行前阶段帮助用户了解主题、开放安排、交通、无障碍条件和参观限制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E8BAAC38-4DF9-4D7B-A909-33019A58F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746E979C-3936-48B5-88FB-95DDB6FFE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C3A97599-3A15-4CA5-BFD3-B1022375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491D2CF-BB85-462C-9B92-08422060B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从完整游客旅程定义任务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912E027-C007-48E7-9C58-91DDD195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行前阶段帮助用户了解主题、开放安排、交通、无障碍条件和参观限制；到达阶段完成定位、入场和路线选择；在场阶段提供导航、讲解、问答、排队信息与现场求助；离场后可提供内容回顾、反馈和再次访问入口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24510AC-2F19-4F23-900E-292A08E1E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C248C59-6A57-4F14-8C57-D441DD79B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个性化不等于收集越多越好。路线推荐可以根据用户主动选择的时长、主题、语言和无障碍需求工作，不必长期追踪身份。客流数据宜优先采用匿名或聚合统计，并明确用途和保存时间。涉及儿童、位置轨迹…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5B223B02-03DA-4C42-BB4D-73CE5B4D1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6814ED19-21E3-4C87-B878-5C683601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服务设计还要照顾没有智能手机、网络不畅或需要人工帮助的人。纸质与固定标识、服务台和工作人员不是“落后备份”，而是空间服务可达性和故障回退的一部分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B36A71B8-C9C9-4120-BE09-40688F601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979E95E7-35F2-4F4D-860B-6362169CC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行前阶段帮助用户了解主题、开放安排、交通、无障碍条件和参观限制</a:t>
            </a:r>
          </a:p>
        </p:txBody>
      </p:sp>
    </p:spTree>
    <p:extLst>
      <p:ext uri="{BB962C8B-B14F-4D97-AF65-F5344CB8AC3E}">
        <p14:creationId xmlns:p14="http://schemas.microsoft.com/office/powerpoint/2010/main" val="9116713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558D0B6A-2C69-4042-B4BD-CDEFECB2F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91C57505-DE56-456F-85CC-2BD15D01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BB02E3E6-C388-474B-8F6D-73EE04DB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地图、客流与路线形成动态空间服务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5B93DEE9-3C8B-4A00-87D1-FF02D003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75137224-8B94-4DD6-88C3-253899E1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AC853B8-2277-499D-9FA7-CB774797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B46EAE7-633D-491E-9D29-A66B4648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地图、客流与路线形成动态空间服务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0868E19-F46D-4189-AA4C-FBB60060B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基础地图应包含入口、出口、展项、楼层连接、服务设施、无障碍路径、禁行区和紧急设施。路线算法不仅计算距离，还要考虑开放状态、容量、坡度或电梯需求、临时施工、活动时间与人流方向…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4B32C9C-F1F2-4FF6-93A1-C785220C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A93C0AF7-9449-4AE0-949C-FEF415E77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客流数据可以帮助发现拥堵和调整推荐，但传感器存在遮挡、重复计数和离线情况。系统应显示数据新鲜度和质量，不能把估计值当作精确人数。安全疏散和现场管制必须依照正式预案与人员指挥…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AA5B40DE-918C-47EB-B5B0-A9E26C8D7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62DC25DB-B3B6-4CA1-A2E1-9DF882BA3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地图、路线和现场标识要有同一变更流程。展项移动或区域封闭后，数字地图、机器人路线、移动端与工作人员信息应同步更新，并经过现场走测；只修改其中一个入口会制造新的迷路风险</a:t>
            </a:r>
          </a:p>
        </p:txBody>
      </p:sp>
      <p:sp>
        <p:nvSpPr>
          <p:cNvPr id="13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38BAEDD7-F325-4FB1-A7FC-E3A15987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4-takeaway">
            <a:extLst xmlns:a="http://schemas.openxmlformats.org/drawingml/2006/main">
              <a:ext uri="{FF2B5EF4-FFF2-40B4-BE49-F238E27FC236}">
                <a16:creationId xmlns:a16="http://schemas.microsoft.com/office/drawing/2014/main" id="{3F948580-A433-4E5D-B6E2-29F80E737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地图、客流与路线形成动态空间服务</a:t>
            </a:r>
          </a:p>
        </p:txBody>
      </p:sp>
    </p:spTree>
    <p:extLst>
      <p:ext uri="{BB962C8B-B14F-4D97-AF65-F5344CB8AC3E}">
        <p14:creationId xmlns:p14="http://schemas.microsoft.com/office/powerpoint/2010/main" val="20210527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8AF8ADC8-23A9-43CE-AE35-EBF59701E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E6246A1E-7508-4EBD-9145-7CE685AFE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FC7F937C-541E-4C68-8EC6-8B49D659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983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展项知识可拆成事实、故事、术语、媒体、常见问题和可公开限制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DEC50644-EC00-45DF-AD74-D095032B3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F9AE592E-CB3A-41CC-89E6-7E8D36D8B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34099A2-0DDE-4B29-BC65-8CED77454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D023C38-5062-495A-BF71-B7621947A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内容运营：一次创作，多入口受控交付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F6ADAD0-A911-4E4A-9BBE-E53B4334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展项知识可拆成事实、故事、术语、媒体、常见问题和可公开限制。每条内容应有来源、责任编辑、语言版本、生效时间和复审日期。AI 可以生成不同长度、语言与年龄层的草稿，但专有名词、历史事实…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A9DAEFE-6E91-4243-91CC-3CD10382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750C155-02ED-4468-AE23-D6396FDEF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机器人、网页、应用和交互屏应读取同一批准内容，不要各自维护互相冲突的文本。活动结束、展品更换或权利到期时，相关内容应自动停止交付。对外说明中的票务、开放安排和服务承诺应来自业务系统…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516EBD17-0BCE-4E06-89D8-7E2B25D03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1E3B6E26-6CCB-43D8-A54C-C894BA874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内容指标不能只看生成数量。可观察用户是否完成目标路线、是否反复追问、哪些问题没有资料、人工纠错需要多久、不同语言是否表达一致，以及内容更新后各入口是否同步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BF6E55C3-17F6-4086-B253-022D4347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532F406A-2896-4A68-B0BF-6F526AAC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展项知识可拆成事实、故事、术语、媒体、常见问题和可公开限制</a:t>
            </a:r>
          </a:p>
        </p:txBody>
      </p:sp>
    </p:spTree>
    <p:extLst>
      <p:ext uri="{BB962C8B-B14F-4D97-AF65-F5344CB8AC3E}">
        <p14:creationId xmlns:p14="http://schemas.microsoft.com/office/powerpoint/2010/main" val="10717081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4F730EA5-11A4-45B3-9D3F-F9EA2CFD9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6D3A8B84-51A2-446C-A3D2-108EDA446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6641FA22-E0FB-41DA-988E-C773B6DC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1381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问答系统先识别问题属于展项知识、路线服务、运营信息还是现场求助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EAC5FF1F-EBD3-4B08-8468-A609CCC68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8428DBA1-DDFC-4058-BC3D-B2E67CE0E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A50834A-6537-47DE-B0E6-BD90EAB4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980A616-FDCA-492F-AA94-D885D47FC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问答与人工接管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6AA3EA85-585E-4CF9-A605-8B0D40E9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问答系统先识别问题属于展项知识、路线服务、运营信息还是现场求助，再从有权使用的最新资料中检索。回答应给出适用时间和来源；不知道时直接说明，不编造展项、路线或开放状态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E533D666-4F74-4625-B60E-21C739B3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0BF4C4E-0511-4837-B1CB-1427C12A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涉及失物、投诉、支付、个人信息、身体不适、儿童走失、安全隐患或紧急情况时，应快速转现场人员或正式求助渠道。接管不是显示一个电话号码就结束：系统应传递必要的上下文和位置…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34829AAB-FDA5-4DC7-A9A2-C89515A0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E563FBFE-4440-4393-BB01-93AED724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机器人和自助终端还要处理物理接管。遇到路线堵塞、定位丢失、传感器异常、用户靠得过近或设备电量不足时，应安全停止、语音提示并通知人员。任何远程控制都需要身份验证、动作范围和日志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5C12C72A-A422-4958-8E11-21B753BF4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340A9202-9932-4589-A30C-38526D66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问答系统先识别问题属于展项知识、路线服务、运营信息还是现场求助</a:t>
            </a:r>
          </a:p>
        </p:txBody>
      </p:sp>
    </p:spTree>
    <p:extLst>
      <p:ext uri="{BB962C8B-B14F-4D97-AF65-F5344CB8AC3E}">
        <p14:creationId xmlns:p14="http://schemas.microsoft.com/office/powerpoint/2010/main" val="11740426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F1351279-D292-40B6-BFF2-E357285D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3298B2EE-3E37-4B21-A97D-2BAF65CCB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09FB6819-ADF7-48FD-8C70-0C222E8A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数字孪生：连接空间、设备与运营状态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B5D4FB5E-0C3B-4A89-8BBE-98FA6B18D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D8D07687-B04D-4C5E-8D08-EFC96EBC6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6420553-EB48-41BE-918B-3FB0B064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23F8EF5-DD21-4BD7-B660-C6D7909E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数字孪生：连接空间、设备与运营状态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AF150CA-19CC-404B-A08C-648268D6C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智慧建筑的数字孪生可把空间几何、房间与展项、设备资产、传感器状态、工单和运营规则放在共同模型中。它可以支持设备定位、维护排查、空间利用分析、能耗观察和方案演练，但前提是模型持续与现场一致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425D65E-6203-4AEF-ACEF-DC4A9150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3F0BF06-C256-4DBD-A11E-FEAAA2E5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三维外观只是表达层。更重要的是对象身份、数据时间、状态来源和业务关系。例如，地图显示某电梯可用时，应知道状态来自哪个系统、多久前更新、故障工单是否仍未关闭…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E2E8887E-DAF7-4E6F-A64D-06B3C4E2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6993CACA-AFA5-470E-B6EA-063FDB17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对路线或设施调整，可先在数字环境中比较影响，再通过现场检查确认。仿真结果用于提出方案，不直接替代消防、建筑、设施和运营专业人员的审批。模型与现场偏差要进入维护工单</a:t>
            </a:r>
          </a:p>
        </p:txBody>
      </p:sp>
      <p:sp>
        <p:nvSpPr>
          <p:cNvPr id="13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431A0581-F4B4-454B-92EE-D0DDEC1D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7-takeaway">
            <a:extLst xmlns:a="http://schemas.openxmlformats.org/drawingml/2006/main">
              <a:ext uri="{FF2B5EF4-FFF2-40B4-BE49-F238E27FC236}">
                <a16:creationId xmlns:a16="http://schemas.microsoft.com/office/drawing/2014/main" id="{E0294F8A-8EB5-4C3F-869B-BE0FD6D8C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数字孪生：连接空间、设备与运营状态</a:t>
            </a:r>
          </a:p>
        </p:txBody>
      </p:sp>
    </p:spTree>
    <p:extLst>
      <p:ext uri="{BB962C8B-B14F-4D97-AF65-F5344CB8AC3E}">
        <p14:creationId xmlns:p14="http://schemas.microsoft.com/office/powerpoint/2010/main" val="59028486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92D79A7B-33FD-49DA-99F6-825D93DE0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B9CC1698-7F97-47C0-8194-1444DD1BB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A9172F71-C20B-44C0-892D-00EDF4B5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长期运维比首次上线更重要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20ACEF7A-B89A-493F-BC18-84F107195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65FD84B7-B1B8-4515-B9C6-CA9ED149D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D33F54E2-17EC-44EB-8BCE-B9A53C434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E28785C-D124-42D8-8DD9-2EFE9103C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长期运维比首次上线更重要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937150C-AF17-45B6-8E8E-0C4B0D01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运维对象包括机器人与充电、网络、定位基站、传感器、地图、内容库、业务接口、权限、日志和现场人员。每项都要有负责人、巡检周期、故障等级、备件或替代方案。活动高峰前应演练网络中断、设备离线…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471C0AA-B383-4B0E-B0B6-DD5015A4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A6FC6212-F1C4-469B-92C9-CB4620034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系统更新要经过版本、测试、灰度与回退。内容更新检查事实和版权，地图更新进行现场走测，模型更新重跑问答和安全样本。日志只保留诊断与改进所需的信息，并按期限删除…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84DC8BE0-454D-4A64-82E8-F51C0AD89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8C448C66-A267-46E3-AA2B-14C586C3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长期指标可包括服务可用性、路线完成、内容准确、转人工成功、故障恢复、过期信息拦截和现场工作负担。若使用率低，应先判断入口、内容、路线或人工流程是否有问题，而不是立即增加更多传感器和生成能力</a:t>
            </a:r>
          </a:p>
        </p:txBody>
      </p:sp>
      <p:sp>
        <p:nvSpPr>
          <p:cNvPr id="13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5E78A422-9DEB-4DAE-8084-0540428F0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8-takeaway">
            <a:extLst xmlns:a="http://schemas.openxmlformats.org/drawingml/2006/main">
              <a:ext uri="{FF2B5EF4-FFF2-40B4-BE49-F238E27FC236}">
                <a16:creationId xmlns:a16="http://schemas.microsoft.com/office/drawing/2014/main" id="{5D02AD7E-6BB6-4241-8A73-C8D46309E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长期运维比首次上线更重要</a:t>
            </a:r>
          </a:p>
        </p:txBody>
      </p:sp>
    </p:spTree>
    <p:extLst>
      <p:ext uri="{BB962C8B-B14F-4D97-AF65-F5344CB8AC3E}">
        <p14:creationId xmlns:p14="http://schemas.microsoft.com/office/powerpoint/2010/main" val="109824378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6C1EF6DC-FE92-424F-850C-ED0077C9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87C3C3F6-3723-47D2-BF62-C7F75934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DE7FDB03-8619-4619-A2F9-05583BA9E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展厅主题路线的一天必须经过边界验证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852D16C5-1C04-4264-9DFD-946FCC17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741DAD17-53B7-4ED3-B3A8-E098FBD5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1AA4DBE1-1F1C-4A1A-A137-2989A062D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展厅主题路线的一天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B0D85898-BBDD-41DB-92A4-2A3D79D4F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行前｜观众选择可用时长、主题和无障碍需求，系统根据当天开放状态给出候选路线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7BD4A2A8-7559-4D79-8915-C5B02E05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5512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在场｜机器人与移动端共享同一地图和批准讲解；某区域临时关闭后，运营人员一次更新即可停止相关路线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BBA0B2CB-0AC5-447E-BE61-2C10ADCC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问答｜展项问题返回来源，服务与安全问题转工作人员，并传递必要位置和问题摘要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66002442-9E39-4A02-B0DD-27A7FBE04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复盘｜团队检查路线中断、无答案问题、接管是否成功和内容是否过期，再安排修正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63FC7722-EAE6-4870-860A-DB8243CE6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846E4EC5-34C9-4229-A832-8BBBC0E2D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展厅主题路线的一天必须经过边界验证</a:t>
            </a:r>
          </a:p>
        </p:txBody>
      </p:sp>
    </p:spTree>
    <p:extLst>
      <p:ext uri="{BB962C8B-B14F-4D97-AF65-F5344CB8AC3E}">
        <p14:creationId xmlns:p14="http://schemas.microsoft.com/office/powerpoint/2010/main" val="213466029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FC5D5921-9F78-4282-80A4-18EBABF46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C46B1BB9-BB0A-4BA4-8768-1CA79293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C042980F-782C-4748-89A0-208B1FC60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智慧建筑中的设备与空间联动必须经过边界验证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5FE55A7D-F8CB-4328-9C1C-A373CF4F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0F249F2E-FD55-4B8B-9837-B373BD38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4C6CF547-613C-4758-9D76-0B530BA1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智慧建筑中的设备与空间联动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B1BCDEEC-EFBD-4350-8EFE-3318EB57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场景｜运营人员收到某区域环境异常，同时该区域将举办活动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337E8277-F432-4310-8A7B-0CD4CC1C3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验证｜验收“智慧建筑中的设备与空间联动”时，要同时记录适用场景、证据来源、失败条件与人工责任</a:t>
            </a:r>
          </a:p>
        </p:txBody>
      </p:sp>
      <p:sp>
        <p:nvSpPr>
          <p:cNvPr id="9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CE016AC3-6243-4D6C-A839-8A1F7066C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0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4C845EA0-81BD-41CF-883D-5A3E052AD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智慧建筑中的设备与空间联动必须经过边界验证</a:t>
            </a:r>
          </a:p>
        </p:txBody>
      </p:sp>
    </p:spTree>
    <p:extLst>
      <p:ext uri="{BB962C8B-B14F-4D97-AF65-F5344CB8AC3E}">
        <p14:creationId xmlns:p14="http://schemas.microsoft.com/office/powerpoint/2010/main" val="80891139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496D4656-B0FB-4D15-B423-409446E1B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7F59393E-9312-4D87-8EF1-6724285F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09F68D61-A18A-4611-BED5-05F47FCA9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把方法落实为可验证的行动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983B2CB9-3C55-48AD-9929-4CDABD9C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B2030EBD-8D2D-4513-91EF-F98128DDA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5FB64E75-C1C6-44DC-BA2C-E365515B0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9C95C160-BF8D-4863-9509-179F02E6B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C7E6D293-BCD0-4DBA-AE21-CF22E75C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选择一个景区、展厅或公共建筑，画出行前、到达、在场、离场后四阶段旅程，并为每阶段写出数字服务与人工入口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126713BD-AB4E-4ED8-B2D9-23E3B3983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4A4BC703-4E0C-40C4-8759-77D7D2E13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F3B696FB-C6E4-478A-A0C3-7BB7A8363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5AF2DA63-E57B-4C09-BD76-927FB6E1C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绘制一张包含展项、服务设施、无障碍路线、禁行区和人工接管点的简图，再设计临时封路后的更新与回退流程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0671B21A-C5F7-43AF-85B9-03B7C4E5C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D6259478-D36C-4C34-A460-E49DCCEF9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AE338B42-ECC5-4215-B6EB-F87030CC7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3280D343-035E-4883-83CC-3D3BD40E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建立一份长期运维清单，覆盖内容、地图、机器人或终端、网络、数字孪生、权限、日志、人员和四种故障演练</a:t>
            </a:r>
          </a:p>
        </p:txBody>
      </p:sp>
    </p:spTree>
    <p:extLst>
      <p:ext uri="{BB962C8B-B14F-4D97-AF65-F5344CB8AC3E}">
        <p14:creationId xmlns:p14="http://schemas.microsoft.com/office/powerpoint/2010/main" val="13016289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5D5C4EA0-815A-44DC-8B66-0DC29EE39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38D86FBE-847F-4C92-8D2C-BC31DF4B6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78E6A8CE-FAD1-4F12-AD86-EFC76088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带走三条可复用的判断原则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C35D0F77-00BA-4A11-B971-BE48569F9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D66C71C6-4D5D-4A32-B46F-173C68EE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EA54B6E0-5787-471A-990D-41E9E95D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A149BAE2-FED4-4A9E-BFBE-6FF04E9C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874E7ACC-806B-4E6B-8593-6C98C3DA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行前阶段帮助用户了解主题、开放安排、交通、无障碍条件和参观限制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96EA0029-4E24-4AB2-9893-842BEF2A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B014DD3A-3B09-48EA-8096-A989F7F82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9AA687E7-30B4-4874-8976-54F448EE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B21DB80A-6344-4D0A-8469-45592D39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展项知识可拆成事实、故事、术语、媒体、常见问题和可公开限制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E6F01A36-EF1B-4B5A-97B9-CA7C3F200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49A06AEE-2DFF-4E4D-9DA4-D11EAC24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ACD8E2C6-AD97-49AF-A156-205664F8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AEC32CB4-5F14-4000-9685-2B4FB8F8F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长期运维比首次上线更重要</a:t>
            </a:r>
          </a:p>
        </p:txBody>
      </p:sp>
    </p:spTree>
    <p:extLst>
      <p:ext uri="{BB962C8B-B14F-4D97-AF65-F5344CB8AC3E}">
        <p14:creationId xmlns:p14="http://schemas.microsoft.com/office/powerpoint/2010/main" val="48220095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150F912B-D82E-401F-A468-2917E596B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3865E6C1-B42B-4D5C-974B-20F1766E4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9919A418-AC88-475F-86C5-C0BB6104B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从公开重制课件回到可核对的学习资料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0C1F32CA-8D51-47DA-9844-67585017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F34F1BEA-423C-49D9-8B50-151C5690A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A0D4393D-1CB2-46FE-8F7E-5AD734D33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C4DE94DC-4193-42A5-8255-8BC806D5C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团队补充资料：《数字工科大楼具身智能项目-介绍》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FA73755C-3553-4AD1-85A3-2CAAA2894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ISO 41001:2018：设施管理体系要求与使用指南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086B3BE7-0B12-487D-A762-11A61442B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ISO 19650-1:2018：使用建筑信息模型管理建筑和土木工程信息的概念与原则</a:t>
            </a:r>
          </a:p>
        </p:txBody>
      </p:sp>
      <p:sp>
        <p:nvSpPr>
          <p:cNvPr id="10" name="source-4">
            <a:extLst xmlns:a="http://schemas.openxmlformats.org/drawingml/2006/main">
              <a:ext uri="{FF2B5EF4-FFF2-40B4-BE49-F238E27FC236}">
                <a16:creationId xmlns:a16="http://schemas.microsoft.com/office/drawing/2014/main" id="{63B16034-6EEB-4E8A-930C-2F5626370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05  实际部署还应遵循场所安全、消防、无障碍、个人信息保护及设备运维的现行要求</a:t>
            </a:r>
          </a:p>
        </p:txBody>
      </p:sp>
      <p:sp>
        <p:nvSpPr>
          <p:cNvPr id="11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01745500-42E6-4BC5-A53A-3995BF3E5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86345973-3004-4D6A-9AF3-85FC337D1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14184223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2026-07-11T12:05:51.4580000Z</dcterms:created>
  <dcterms:modified xsi:type="dcterms:W3CDTF">2026-07-11T12:05:51.4580000Z</dcterms:modified>
</coreProperties>
</file>