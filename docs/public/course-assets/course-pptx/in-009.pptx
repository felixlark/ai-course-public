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30574cc25d4617" /><Relationship Type="http://schemas.openxmlformats.org/officeDocument/2006/relationships/extended-properties" Target="/docProps/app.xml" Id="R1fdf35482b854a4d" /><Relationship Type="http://schemas.openxmlformats.org/officeDocument/2006/relationships/officeDocument" Target="/ppt/presentation.xml" Id="R563d8c4cae0241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8eec2cb4874176"/>
  </p:sldMasterIdLst>
  <p:notesMasterIdLst>
    <p:notesMasterId xmlns:r="http://schemas.openxmlformats.org/officeDocument/2006/relationships" r:id="R7e1b67813d2c4b4a"/>
  </p:notesMasterIdLst>
  <p:sldIdLst>
    <p:sldId xmlns:r="http://schemas.openxmlformats.org/officeDocument/2006/relationships" id="256" r:id="R1d7a952111a24155"/>
    <p:sldId xmlns:r="http://schemas.openxmlformats.org/officeDocument/2006/relationships" id="257" r:id="R1107068347274a9f"/>
    <p:sldId xmlns:r="http://schemas.openxmlformats.org/officeDocument/2006/relationships" id="258" r:id="Rc8047d9a4cc64216"/>
    <p:sldId xmlns:r="http://schemas.openxmlformats.org/officeDocument/2006/relationships" id="259" r:id="R2d7fd8c3f5d04b66"/>
    <p:sldId xmlns:r="http://schemas.openxmlformats.org/officeDocument/2006/relationships" id="260" r:id="R69cd1cd985aa4f49"/>
    <p:sldId xmlns:r="http://schemas.openxmlformats.org/officeDocument/2006/relationships" id="261" r:id="Re552848f980b4c37"/>
    <p:sldId xmlns:r="http://schemas.openxmlformats.org/officeDocument/2006/relationships" id="262" r:id="Rd70f6cf3ee074805"/>
    <p:sldId xmlns:r="http://schemas.openxmlformats.org/officeDocument/2006/relationships" id="263" r:id="R0fb5b0ad10cc4971"/>
    <p:sldId xmlns:r="http://schemas.openxmlformats.org/officeDocument/2006/relationships" id="264" r:id="Rd859a905d4414bf8"/>
    <p:sldId xmlns:r="http://schemas.openxmlformats.org/officeDocument/2006/relationships" id="265" r:id="Ra919e8c59f814eb5"/>
    <p:sldId xmlns:r="http://schemas.openxmlformats.org/officeDocument/2006/relationships" id="266" r:id="R247e84605a0c4265"/>
    <p:sldId xmlns:r="http://schemas.openxmlformats.org/officeDocument/2006/relationships" id="267" r:id="R0975285458fc4ba2"/>
    <p:sldId xmlns:r="http://schemas.openxmlformats.org/officeDocument/2006/relationships" id="268" r:id="Rb9b58cb3e95a414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3be512691f4965" /><Relationship Type="http://schemas.openxmlformats.org/officeDocument/2006/relationships/slideMaster" Target="/ppt/slideMasters/slideMaster1.xml" Id="R658eec2cb4874176" /><Relationship Type="http://schemas.openxmlformats.org/officeDocument/2006/relationships/notesMaster" Target="/ppt/notesMasters/notesMaster1.xml" Id="R7e1b67813d2c4b4a" /><Relationship Type="http://schemas.openxmlformats.org/officeDocument/2006/relationships/presProps" Target="/ppt/presProps.xml" Id="R1ed1cb9a1a324162" /><Relationship Type="http://schemas.openxmlformats.org/officeDocument/2006/relationships/tableStyles" Target="/ppt/tableStyles.xml" Id="R4826ea38167741db" /><Relationship Type="http://schemas.openxmlformats.org/officeDocument/2006/relationships/slide" Target="/ppt/slides/slide1.xml" Id="R1d7a952111a24155" /><Relationship Type="http://schemas.openxmlformats.org/officeDocument/2006/relationships/slide" Target="/ppt/slides/slide2.xml" Id="R1107068347274a9f" /><Relationship Type="http://schemas.openxmlformats.org/officeDocument/2006/relationships/slide" Target="/ppt/slides/slide3.xml" Id="Rc8047d9a4cc64216" /><Relationship Type="http://schemas.openxmlformats.org/officeDocument/2006/relationships/slide" Target="/ppt/slides/slide4.xml" Id="R2d7fd8c3f5d04b66" /><Relationship Type="http://schemas.openxmlformats.org/officeDocument/2006/relationships/slide" Target="/ppt/slides/slide5.xml" Id="R69cd1cd985aa4f49" /><Relationship Type="http://schemas.openxmlformats.org/officeDocument/2006/relationships/slide" Target="/ppt/slides/slide6.xml" Id="Re552848f980b4c37" /><Relationship Type="http://schemas.openxmlformats.org/officeDocument/2006/relationships/slide" Target="/ppt/slides/slide7.xml" Id="Rd70f6cf3ee074805" /><Relationship Type="http://schemas.openxmlformats.org/officeDocument/2006/relationships/slide" Target="/ppt/slides/slide8.xml" Id="R0fb5b0ad10cc4971" /><Relationship Type="http://schemas.openxmlformats.org/officeDocument/2006/relationships/slide" Target="/ppt/slides/slide9.xml" Id="Rd859a905d4414bf8" /><Relationship Type="http://schemas.openxmlformats.org/officeDocument/2006/relationships/slide" Target="/ppt/slides/slide10.xml" Id="Ra919e8c59f814eb5" /><Relationship Type="http://schemas.openxmlformats.org/officeDocument/2006/relationships/slide" Target="/ppt/slides/slide11.xml" Id="R247e84605a0c4265" /><Relationship Type="http://schemas.openxmlformats.org/officeDocument/2006/relationships/slide" Target="/ppt/slides/slide12.xml" Id="R0975285458fc4ba2" /><Relationship Type="http://schemas.openxmlformats.org/officeDocument/2006/relationships/slide" Target="/ppt/slides/slide13.xml" Id="Rb9b58cb3e95a41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2cc5fe6b2f4e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24333fadba48e2" /><Relationship Type="http://schemas.openxmlformats.org/officeDocument/2006/relationships/notesMaster" Target="/ppt/notesMasters/notesMaster1.xml" Id="R2303ded7862148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ad19164d644e13" /><Relationship Type="http://schemas.openxmlformats.org/officeDocument/2006/relationships/notesMaster" Target="/ppt/notesMasters/notesMaster1.xml" Id="Rd4d59f07288144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09a472720643c0" /><Relationship Type="http://schemas.openxmlformats.org/officeDocument/2006/relationships/notesMaster" Target="/ppt/notesMasters/notesMaster1.xml" Id="R4a39f8cfd4fd48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e2e9a4dafb4875" /><Relationship Type="http://schemas.openxmlformats.org/officeDocument/2006/relationships/notesMaster" Target="/ppt/notesMasters/notesMaster1.xml" Id="R1dc10e80bedf40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1fd11e36a84f4d" /><Relationship Type="http://schemas.openxmlformats.org/officeDocument/2006/relationships/notesMaster" Target="/ppt/notesMasters/notesMaster1.xml" Id="R7c1c1fd5b02945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296180ab00f457c" /><Relationship Type="http://schemas.openxmlformats.org/officeDocument/2006/relationships/notesMaster" Target="/ppt/notesMasters/notesMaster1.xml" Id="R9e9fbb6704f347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5e2765ccbf4733" /><Relationship Type="http://schemas.openxmlformats.org/officeDocument/2006/relationships/notesMaster" Target="/ppt/notesMasters/notesMaster1.xml" Id="R744da93fd2cf4c8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6f3bf91f004607" /><Relationship Type="http://schemas.openxmlformats.org/officeDocument/2006/relationships/notesMaster" Target="/ppt/notesMasters/notesMaster1.xml" Id="Ra09df48da51d4a6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7a643c68224a54" /><Relationship Type="http://schemas.openxmlformats.org/officeDocument/2006/relationships/notesMaster" Target="/ppt/notesMasters/notesMaster1.xml" Id="R87c15d2a11e94bb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7e61ac1d3694229" /><Relationship Type="http://schemas.openxmlformats.org/officeDocument/2006/relationships/notesMaster" Target="/ppt/notesMasters/notesMaster1.xml" Id="R2e46a7ca08a041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38dc143d5544a0c" /><Relationship Type="http://schemas.openxmlformats.org/officeDocument/2006/relationships/notesMaster" Target="/ppt/notesMasters/notesMaster1.xml" Id="R531057b4bfa84e6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3d5e376769345b6" /><Relationship Type="http://schemas.openxmlformats.org/officeDocument/2006/relationships/notesMaster" Target="/ppt/notesMasters/notesMaster1.xml" Id="Rdf303f6fdf6f4f5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0db758193d2447f" /><Relationship Type="http://schemas.openxmlformats.org/officeDocument/2006/relationships/notesMaster" Target="/ppt/notesMasters/notesMaster1.xml" Id="R7922e08ed9cd46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fb5ad635a9460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fbba0d5d654bbc" /><Relationship Type="http://schemas.openxmlformats.org/officeDocument/2006/relationships/slideLayout" Target="/ppt/slideLayouts/slideLayout1.xml" Id="R04162d9da97649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162d9da97649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fa05b075a4abf" /><Relationship Type="http://schemas.openxmlformats.org/officeDocument/2006/relationships/notesSlide" Target="/ppt/notesSlides/notesSlide1.xml" Id="Rf255aad65141472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7ad3c5659342b0" /><Relationship Type="http://schemas.openxmlformats.org/officeDocument/2006/relationships/notesSlide" Target="/ppt/notesSlides/notesSlide2.xml" Id="Ra3f3caa462ec4f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5a272776f147aa" /><Relationship Type="http://schemas.openxmlformats.org/officeDocument/2006/relationships/notesSlide" Target="/ppt/notesSlides/notesSlide3.xml" Id="Rd5983c153bd845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3e0b55ab09467c" /><Relationship Type="http://schemas.openxmlformats.org/officeDocument/2006/relationships/notesSlide" Target="/ppt/notesSlides/notesSlide4.xml" Id="R827dd358541043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abcb76b08546ef" /><Relationship Type="http://schemas.openxmlformats.org/officeDocument/2006/relationships/notesSlide" Target="/ppt/notesSlides/notesSlide5.xml" Id="Raab964d80b1d46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92a5d45cbc447f" /><Relationship Type="http://schemas.openxmlformats.org/officeDocument/2006/relationships/notesSlide" Target="/ppt/notesSlides/notesSlide6.xml" Id="R5c59bcb6c5bf4aa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5ea87a00e04eda" /><Relationship Type="http://schemas.openxmlformats.org/officeDocument/2006/relationships/notesSlide" Target="/ppt/notesSlides/notesSlide7.xml" Id="R53a47b6e3a7a48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9e752bc7c4252" /><Relationship Type="http://schemas.openxmlformats.org/officeDocument/2006/relationships/notesSlide" Target="/ppt/notesSlides/notesSlide8.xml" Id="R25213907b002460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d917cefd8d4047" /><Relationship Type="http://schemas.openxmlformats.org/officeDocument/2006/relationships/notesSlide" Target="/ppt/notesSlides/notesSlide9.xml" Id="R117aae88f6cb45d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0264435f16420c" /><Relationship Type="http://schemas.openxmlformats.org/officeDocument/2006/relationships/notesSlide" Target="/ppt/notesSlides/notesSlide10.xml" Id="R95a1557ef485406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40a436e95461b" /><Relationship Type="http://schemas.openxmlformats.org/officeDocument/2006/relationships/notesSlide" Target="/ppt/notesSlides/notesSlide11.xml" Id="R577bf7f4602c40e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8c34ef8224c05" /><Relationship Type="http://schemas.openxmlformats.org/officeDocument/2006/relationships/notesSlide" Target="/ppt/notesSlides/notesSlide12.xml" Id="R96ab6ba578d94a5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10c9052b3b473a" /><Relationship Type="http://schemas.openxmlformats.org/officeDocument/2006/relationships/notesSlide" Target="/ppt/notesSlides/notesSlide13.xml" Id="R4a1565a291754b3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C76AC8F2-2D9A-4A1C-A032-A6BE5F45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15F5641E-28DA-4BCF-8B71-950EC5DA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587B3395-2A9E-42D1-A37B-C6DF5533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E1D719E1-C4EC-44C2-9500-4C89CFAC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79F0E7AF-29FD-4914-8BF4-CE1B7A00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A49F3538-B8A7-48F5-A532-0D86062E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A72CA1F1-DE63-4BBF-9F44-6BE3D394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5FCC806-64C1-4BF6-8EB6-52363847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文旅、展厅与智慧建筑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3178E05-2EFA-4B8C-9F4A-53D092D8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从导览机器人和数字工科大楼理解空间建模、路线、问答、数字孪生与长期运维。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EE14963D-C095-4B6C-8F47-2A48973D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文旅景区、展厅和智慧建筑都在经营“人与空间的关系”；游客希望少迷路、少等待、得到与兴趣和时间匹配的内容；运营人员则要维护地图、展项、活动、设备和安全秩序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0CABFBA7-4C2B-40CB-8AA5-C9A861DC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0601D510-2B4D-44CE-BB64-F7C772EF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IN-009 · IN-009-S01</a:t>
            </a:r>
          </a:p>
        </p:txBody>
      </p:sp>
    </p:spTree>
    <p:extLst>
      <p:ext uri="{BB962C8B-B14F-4D97-AF65-F5344CB8AC3E}">
        <p14:creationId xmlns:p14="http://schemas.microsoft.com/office/powerpoint/2010/main" val="7842162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8D33D6E1-08DF-4779-BB56-D3FB8902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66123421-56DB-4146-B049-4EE99D4B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8A9F8943-BE67-4F40-9A81-BB5CED30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文旅、展厅与智慧建筑：4项学习结果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998FEB27-385B-4452-8577-36BE1AB4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E20BF493-9A4B-45EA-8F6C-BBB15690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DAFB53C1-847D-4023-ACA5-380470CE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按行前、到达、在场和离场后四个阶段设计游客或观众服务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E811DC6B-5D7B-401A-8E7E-81A103F6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把客流、地图、路线、展项内容、问答和现场人员连接成完整流程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2A26EA30-9037-43C3-A9EF-0BFB212A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解释数字孪生如何服务空间、设备和运营，而不是停留在三维展示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32DC6FDC-8239-47C6-9492-1162E04D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为机器人、终端、网络、内容和人工接管制定长期运维与评测方案</a:t>
            </a:r>
          </a:p>
        </p:txBody>
      </p:sp>
    </p:spTree>
    <p:extLst>
      <p:ext uri="{BB962C8B-B14F-4D97-AF65-F5344CB8AC3E}">
        <p14:creationId xmlns:p14="http://schemas.microsoft.com/office/powerpoint/2010/main" val="20652043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18799B36-0909-4225-BC17-4720C7C8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0BEC5F6E-56BF-4A9A-807A-481C5EB8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CB028496-5F01-4D8E-8A17-2FA68FC3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游客旅程要同时覆盖行前、在场与离场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C8610E37-610E-4739-B1EA-57E085A8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6A2B18A6-72F3-49E7-B57F-AB971B71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4649854-7D5F-4951-825E-FF160DC6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A05086E-A9F9-4DA1-B081-EA0AD9F2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从完整游客旅程定义任务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CA0374A-8632-4E39-8738-8BE175E8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行前阶段帮助用户了解主题、开放安排、交通、无障碍条件和参观限制；到达阶段完成定位、入场和路线选择；在场阶段提供导航、讲解、问答、排队信息与现场求助；离场后可提供内容回顾、反馈和再次访问入口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80915E8-2776-45C8-A49C-D7C3D250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86C4A7F-EB49-42E3-B63E-DC9609FA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个性化不等于收集越多越好；路线推荐可以根据用户主动选择的时长、主题、语言和无障碍需求工作；不必长期追踪身份，客流数据宜优先采用匿名或聚合统计；并明确用途和保存时间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253CC4FA-DAD7-4E25-828B-34EFC264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E26B9F6A-9FDC-44E6-ACC3-8C8E43BD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服务设计还要照顾没有智能手机、网络不畅或需要人工帮助的人。纸质与固定标识、服务台和工作人员不是“落后备份”，而是空间服务可达性和故障回退的一部分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DCE0AADF-6F01-42D1-8104-56B79C20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E876C2B1-6CAE-419A-BB48-C8E610C31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游客旅程要同时覆盖行前、在场与离场</a:t>
            </a:r>
          </a:p>
        </p:txBody>
      </p:sp>
    </p:spTree>
    <p:extLst>
      <p:ext uri="{BB962C8B-B14F-4D97-AF65-F5344CB8AC3E}">
        <p14:creationId xmlns:p14="http://schemas.microsoft.com/office/powerpoint/2010/main" val="6199857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3C2F95EB-5965-4155-B0B6-F944EB42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88401073-3F25-4A21-AFCB-0EDF0D8B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4640B81E-E6B1-448F-9322-DBF5957C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地图、客流与路线形成动态空间服务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925DA51A-28D4-4E34-91A4-2949FFA0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721EB2DF-A55D-4214-B1E5-61231ED4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0A97EA0-C90C-43F2-893F-353F5DFE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A8F6FBB-6053-48BE-9927-A2084E4B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地图、客流与路线形成动态空间服务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BC586F5-9538-46B4-AF89-320D083D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基础地图应包含入口、出口、展项、楼层连接、服务设施、无障碍路径、禁行区和紧急设施；路线算法不仅计算距离；还要考虑开放状态、容量、坡度或电梯需求、临时施工、活动时间与人流方向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0FEDC96-0A89-47B0-8A4F-DB5E5C82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216D338-B3C6-48AB-BE07-55FFCBD8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客流数据可以帮助发现拥堵和调整推荐；但传感器存在遮挡、重复计数和离线情况；系统应显示数据新鲜度和质量；不能把估计值当作精确人数；安全疏散和现场管制必须依照正式预案与人员指挥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38F39498-F4E7-4555-960E-814B2703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0BB00B06-B274-4A20-8F7B-CE06076E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地图、路线和现场标识要有同一变更流程。展项移动或区域封闭后，数字地图、机器人路线、移动端与工作人员信息应同步更新，并经过现场走测；只修改其中一个入口会制造新的迷路风险</a:t>
            </a:r>
          </a:p>
        </p:txBody>
      </p:sp>
      <p:sp>
        <p:nvSpPr>
          <p:cNvPr id="13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5E67FDE8-F0EC-48CE-8F9A-A2B72BC4F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4-takeaway">
            <a:extLst xmlns:a="http://schemas.openxmlformats.org/drawingml/2006/main">
              <a:ext uri="{FF2B5EF4-FFF2-40B4-BE49-F238E27FC236}">
                <a16:creationId xmlns:a16="http://schemas.microsoft.com/office/drawing/2014/main" id="{FB5BBE84-9F8B-40D2-B037-6DAB77E7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地图、客流与路线形成动态空间服务</a:t>
            </a:r>
          </a:p>
        </p:txBody>
      </p:sp>
    </p:spTree>
    <p:extLst>
      <p:ext uri="{BB962C8B-B14F-4D97-AF65-F5344CB8AC3E}">
        <p14:creationId xmlns:p14="http://schemas.microsoft.com/office/powerpoint/2010/main" val="6413970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257751AB-7246-42FA-8361-B77323D1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3568A94E-5ADF-4320-A249-04E60ECC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B13259E2-FA50-460B-A2C7-CF6525A3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内容资产应支持多入口交付与统一更新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A7F93426-A50C-4039-8204-CC25A25E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BC0B8750-111C-4C70-BC1C-7ADD6AD2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2DAC628-FDAA-4F09-8B50-ABC93756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AC7ABF2-5DE9-4A23-80E1-B080A97D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内容运营：一次创作，多入口受控交付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44E1184-4B11-484C-A749-8C0BA9AD7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展项知识可拆成事实、故事、术语、媒体、常见问题和可公开限制；每条内容应有来源、责任编辑、语言版本、生效时间和复审日期；AI 可以生成不同长度、语言与年龄层的草稿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6022534-408A-444D-8DCB-DEF3F51A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3546330-478D-49BF-B988-D9EA3939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机器人、网页、应用和交互屏应读取同一批准内容；不要各自维护互相冲突的文本；活动结束、展品更换或权利到期时；相关内容应自动停止交付；对外说明中的票务、开放安排和服务承诺应来自业务系统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B7CAA33F-9085-4E9B-A044-E05AD88B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CCCD3546-0E13-4162-90DC-011BB0FB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内容指标不能只看生成数量。可观察用户是否完成目标路线、是否反复追问、哪些问题没有资料、人工纠错需要多久、不同语言是否表达一致，以及内容更新后各入口是否同步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488695C6-16FC-4244-A91A-B9E04856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0ECF8392-7B53-4803-A166-012D73B1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内容资产应支持多入口交付与统一更新</a:t>
            </a:r>
          </a:p>
        </p:txBody>
      </p:sp>
    </p:spTree>
    <p:extLst>
      <p:ext uri="{BB962C8B-B14F-4D97-AF65-F5344CB8AC3E}">
        <p14:creationId xmlns:p14="http://schemas.microsoft.com/office/powerpoint/2010/main" val="7198536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21F848F7-A9F4-4327-AA34-4C86B136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89CF74F5-3099-4939-B843-EAFFE191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2D8C8A46-80AA-451C-B176-BF1464789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问答系统必须区分知识、服务与现场求助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362AC037-53AB-4246-98BB-9B54C906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BBB60870-9029-4188-A4E0-1DE2F195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7C94CC0-B6E2-4B23-8446-5B8E1FCC1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E85DD0C-310E-47E8-BDA5-D572FB714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问答与人工接管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7070A8D-F064-4E4E-92F6-ED8BFFEB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问答系统先识别问题属于展项知识、路线服务、运营信息还是现场求助，再从有权使用的最新资料中检索。回答应给出适用时间和来源；不知道时直接说明，不编造展项、路线或开放状态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FFBFC4D-BFAA-475F-9402-707D9F309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C48417A-D31D-43E5-8651-794F7C51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涉及失物、投诉、支付、个人信息、身体不适、儿童走失、安全隐患或紧急情况时；应快速转现场人员或正式求助渠道；接管不是显示一个电话号码就结束；系统应传递必要的上下文和位置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7D0E22B3-8842-497F-86B4-D1FF7958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926C9CD0-2F5E-404B-BB36-40931387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机器人和自助终端还要处理物理接管。遇到路线堵塞、定位丢失、传感器异常、用户靠得过近或设备电量不足时，应安全停止、语音提示并通知人员。任何远程控制都需要身份验证、动作范围和日志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C0974C96-8297-47A8-A49C-1F59BBC1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F90B85B2-E49D-49C6-B042-0541E069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问答系统必须区分知识、服务与现场求助</a:t>
            </a:r>
          </a:p>
        </p:txBody>
      </p:sp>
    </p:spTree>
    <p:extLst>
      <p:ext uri="{BB962C8B-B14F-4D97-AF65-F5344CB8AC3E}">
        <p14:creationId xmlns:p14="http://schemas.microsoft.com/office/powerpoint/2010/main" val="15412852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6279B3A4-FA1D-4E76-813C-05C72DC2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B0699C66-7964-4927-96FD-3664E55F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74405467-3679-4B94-9B1D-D5763DA6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数字孪生：连接空间、设备与运营状态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CC6A8810-B98E-475A-8DDD-1CF680C8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0DB0730A-A70E-4BDC-9877-3CC0C7BB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8EBCC86-53A3-4EF8-8B0D-ACACDDC1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FB33DFA-38D5-4814-AE01-4CEF990A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数字孪生：连接空间、设备与运营状态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CAEF7B3-29E9-49AE-A2A5-084C9C73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智慧建筑的数字孪生可把空间几何、房间与展项、设备资产、传感器状态、工单和运营规则放在共同模型中。它可以支持设备定位、维护排查、空间利用分析、能耗观察和方案演练，但前提是模型持续与现场一致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9B51069-0CF7-4035-883C-C788EF54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67775E4-FA5D-4788-9EC7-B714C81A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三维外观只是表达层；更重要的是对象身份、数据时间、状态来源和业务关系；例如，地图显示某电梯可用时；应知道状态来自哪个系统、多久前更新、故障工单是否仍未关闭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7F4E1C07-FF6C-4FD9-A452-384593D4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3A59F667-7B61-4866-874B-DD71FDA9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对路线或设施调整，可先在数字环境中比较影响，再通过现场检查确认。仿真结果用于提出方案，不直接替代消防、建筑、设施和运营专业人员的审批。模型与现场偏差要进入维护工单</a:t>
            </a:r>
          </a:p>
        </p:txBody>
      </p:sp>
      <p:sp>
        <p:nvSpPr>
          <p:cNvPr id="13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86A7E81F-30CE-438F-A8E6-AF2F6BB1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7-takeaway">
            <a:extLst xmlns:a="http://schemas.openxmlformats.org/drawingml/2006/main">
              <a:ext uri="{FF2B5EF4-FFF2-40B4-BE49-F238E27FC236}">
                <a16:creationId xmlns:a16="http://schemas.microsoft.com/office/drawing/2014/main" id="{CB2AF5DE-64DC-4FD8-A149-32A740DD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数字孪生：连接空间、设备与运营状态</a:t>
            </a:r>
          </a:p>
        </p:txBody>
      </p:sp>
    </p:spTree>
    <p:extLst>
      <p:ext uri="{BB962C8B-B14F-4D97-AF65-F5344CB8AC3E}">
        <p14:creationId xmlns:p14="http://schemas.microsoft.com/office/powerpoint/2010/main" val="6066580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3DE783D3-30D5-4D29-A2AE-F53A4D48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D4847A1B-FD24-41FD-B1BC-B31E33405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B1CEA434-E7A0-47FF-91DE-E36F4897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长期运维比首次上线更重要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ADE9DF44-F4AE-4730-AC3D-92AE52D1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D11305EB-F0A6-43C4-82A6-0F85AB22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DF8C2A6-8D91-4578-9111-7D0BA182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A3BFD5C-B510-4228-A368-AF8423F7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长期运维比首次上线更重要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41705C5-8BB9-4D8A-9295-E95CFAAF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094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运维对象包括机器人与充电、网络、定位基站、传感器、地图、内容库、业务接口、权限、日志和现场人员；每项都要有负责人、巡检周期、故障等级、备件或替代方案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BB6A3F1-3E9C-4FDF-9E40-E5303A49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5B72BCC-859E-4D2B-9C82-0E2FC9DD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系统更新要经过版本、测试、灰度与回退；内容更新检查事实和版权；地图更新进行现场走测；模型更新重跑问答和安全样本；日志只保留诊断与改进所需的信息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18306A7D-3296-4CF7-9D9F-1975EABA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0C8AA9F5-4DC1-4CC9-9F23-4417EF26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长期指标可包括服务可用性、路线完成、内容准确、转人工成功、故障恢复、过期信息拦截和现场工作负担。若使用率低，应先判断入口、内容、路线或人工流程是否有问题，而不是立即增加更多传感器和生成能力</a:t>
            </a:r>
          </a:p>
        </p:txBody>
      </p:sp>
      <p:sp>
        <p:nvSpPr>
          <p:cNvPr id="13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990444D1-D29A-494E-8D29-FC2535AD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8-takeaway">
            <a:extLst xmlns:a="http://schemas.openxmlformats.org/drawingml/2006/main">
              <a:ext uri="{FF2B5EF4-FFF2-40B4-BE49-F238E27FC236}">
                <a16:creationId xmlns:a16="http://schemas.microsoft.com/office/drawing/2014/main" id="{561C16BE-29E8-4FBB-9258-E7D9D9C0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长期运维比首次上线更重要</a:t>
            </a:r>
          </a:p>
        </p:txBody>
      </p:sp>
    </p:spTree>
    <p:extLst>
      <p:ext uri="{BB962C8B-B14F-4D97-AF65-F5344CB8AC3E}">
        <p14:creationId xmlns:p14="http://schemas.microsoft.com/office/powerpoint/2010/main" val="3336789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4B1299EF-D910-4CC7-8E03-3ACEFFB1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DED4642F-3825-47B5-9308-402A60C3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92A6E8A8-922F-4CD3-BC80-856F9783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共享地图让路线、讲解与临时关闭同步更新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B9C2117C-4580-43B0-976A-A30872B75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7E59B5A1-73BA-463D-83BD-AE097AE8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32570B27-40DC-49B4-BEE1-8B5AF004A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展厅主题路线的一天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D6167766-3A84-4016-A339-1FFBD315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行前｜观众选择可用时长、主题和无障碍需求，系统根据当天开放状态给出候选路线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063F1453-2F1F-462C-8A7B-80D1F9792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5512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在场｜机器人与移动端共享同一地图和批准讲解；某区域临时关闭后，运营人员一次更新即可停止相关路线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B04C8221-78BD-4406-A2AA-362AC1F1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问答｜展项问题返回来源，服务与安全问题转工作人员，并传递必要位置和问题摘要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1A5C1546-7DEB-4A91-8B32-84B78C45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复盘｜团队检查路线中断、无答案问题、接管是否成功和内容是否过期，再安排修正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4516E56B-4E36-4357-ACED-32FC9BE5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C9583820-C5E6-4335-9AF1-CE6F7DED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共享地图让路线、讲解与临时关闭同步更新</a:t>
            </a:r>
          </a:p>
        </p:txBody>
      </p:sp>
    </p:spTree>
    <p:extLst>
      <p:ext uri="{BB962C8B-B14F-4D97-AF65-F5344CB8AC3E}">
        <p14:creationId xmlns:p14="http://schemas.microsoft.com/office/powerpoint/2010/main" val="11039149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87A03802-353F-43D6-A858-48AC8B59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7A9C1A38-F23C-4ECE-A77C-268CFFD6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AE0B63A5-3AC8-4E72-917A-61A76739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建筑联动建议必须经过现场核验与授权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84950256-E855-4A88-ACD7-5552EE5B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FB1B0E21-C96A-488D-A32A-2063F9C1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30F358DE-80F2-439E-A929-C4CF8554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智慧建筑中的设备与空间联动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0E3806F2-1A35-47D9-989A-794C9A22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场景｜运营人员收到某区域环境异常，同时该区域将举办活动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162DB31B-F09B-4B4E-95F5-FEF72B7A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辅助｜数字孪生关联房间、传感器、相关设备、维护记录和活动安排，展示数据时间与未关闭工单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C2F6972A-582A-4414-806A-D38808B9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决定｜设施人员现场复核后选择维修、调整空间或启用替代区域；系统不根据单个传感器自动改变安全策略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2F029D15-0042-4335-BED7-0FD741A4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A8CBFB84-AA94-496A-9ED8-A462085E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建筑联动建议必须经过现场核验与授权</a:t>
            </a:r>
          </a:p>
        </p:txBody>
      </p:sp>
    </p:spTree>
    <p:extLst>
      <p:ext uri="{BB962C8B-B14F-4D97-AF65-F5344CB8AC3E}">
        <p14:creationId xmlns:p14="http://schemas.microsoft.com/office/powerpoint/2010/main" val="2042593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97D5A954-C7D1-4CA8-8FE1-808ECB22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975A4AFD-9631-40ED-9092-C86B7AF93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CE7D3FFB-CC92-4114-B0F4-74F68A7E6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文旅、展厅与智慧建筑：一次可验收练习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9BE0B95E-3AE9-4FB5-8930-9631BCB4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900A08F1-955A-4B1B-BF8D-343C6FC9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B80A0A67-DB40-48F5-9A79-9889BE4D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35436911-53DE-4F5E-8E76-3E3BB3E1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0880C6AA-DB08-452C-856E-0FFA6CEC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选择一个景区、展厅或公共建筑，画出行前、到达、在场、离场后四阶段旅程，并为每阶段写出数字服务与人工入口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6AFF7CCA-0E7E-4A2E-86A4-BF56261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66355E54-355F-4CEC-960A-6D2E5176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7BB0AD4D-3BD3-474C-94D7-E1C005CD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AEECA297-217E-492A-BDA1-F425325D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绘制一张包含展项、服务设施、无障碍路线、禁行区和人工接管点的简图，再设计临时封路后的更新与回退流程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3D648C23-45D4-415C-988D-FDC90698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5F296749-683B-41EB-8801-B1A130A6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93238CD4-6ED9-4F70-B605-1E067213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D50BBB5D-F799-46B4-86EE-26846010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建立一份长期运维清单，覆盖内容、地图、机器人或终端、网络、数字孪生、权限、日志、人员和四种故障演练</a:t>
            </a:r>
          </a:p>
        </p:txBody>
      </p:sp>
    </p:spTree>
    <p:extLst>
      <p:ext uri="{BB962C8B-B14F-4D97-AF65-F5344CB8AC3E}">
        <p14:creationId xmlns:p14="http://schemas.microsoft.com/office/powerpoint/2010/main" val="7850699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7BA41E99-1DF8-48C1-8316-03E08928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7C07C08E-F155-4699-A0BE-6041FA5A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41E3F35E-2345-47E5-9ACA-BB457170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文旅、展厅与智慧建筑：判断时先抓住三点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9BCEEB7E-6833-4060-8F0C-037472CD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8604F928-163C-414F-ACBF-A14A3B1A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9A5012CB-A836-457E-A6EE-5F8DC8E3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F1BED77C-FA4C-4E48-ADD4-9F62DE96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7BA900E9-3011-4BEA-8374-BFC6EA82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游客旅程要同时覆盖行前、在场与离场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A2BB4408-679E-4EBC-AC82-771A806E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6A766178-F43C-4776-B35D-BB7278AB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20A291B1-E812-47DD-8EEF-56C0BECB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19987C9F-B1BA-47A8-B3C8-FF5A0E9D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内容资产应支持多入口交付与统一更新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4B10B4FA-5AAC-47B3-ADE5-E7AE372E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65A6E816-7638-4F19-8E78-02CDB52C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F197D226-C5B1-4E26-A2BE-E5B9D80B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E72140D7-DD9D-4F8F-A92D-CF8B0985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长期运维比首次上线更重要</a:t>
            </a:r>
          </a:p>
        </p:txBody>
      </p:sp>
    </p:spTree>
    <p:extLst>
      <p:ext uri="{BB962C8B-B14F-4D97-AF65-F5344CB8AC3E}">
        <p14:creationId xmlns:p14="http://schemas.microsoft.com/office/powerpoint/2010/main" val="1552787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CF14897B-429D-47BE-A460-5339C7F8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7ED16634-A2E9-47AB-8B9F-4878F663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52E472B2-2966-475D-A8A7-B816D3856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文旅、展厅与智慧建筑：依据、边界与延伸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F96F2672-6CAA-4717-B84A-4AFE81EC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F9F949FA-C647-41B7-BE75-87FEF57F7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8F6FC3A2-991C-4FDF-A8F0-CFD262A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527A3D60-8EFE-41D1-B121-E27BDD1E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团队补充资料：《数字工科大楼具身智能项目-介绍》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448553F9-3224-408D-87B3-39BCF2FB5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ISO 41001:2018：设施管理体系要求与使用指南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97F94958-050C-4157-A15D-B960BE8D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ISO 19650-1:2018：使用建筑信息模型管理建筑和土木工程信息的概念与原则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09655161-0A27-4591-8165-72DAAAE3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实际部署还应遵循场所安全、消防、无障碍、个人信息保护及设备运维的现行要求</a:t>
            </a:r>
          </a:p>
        </p:txBody>
      </p:sp>
      <p:sp>
        <p:nvSpPr>
          <p:cNvPr id="11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0CBCEEEB-B26E-4AB6-8538-45B7AF2B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026D6451-1963-40DE-B81A-0C3C2766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课程正文与幻灯片共享同一知识主线，图片和视频用于帮助理解本节概念与案例。</a:t>
            </a:r>
          </a:p>
        </p:txBody>
      </p:sp>
    </p:spTree>
    <p:extLst>
      <p:ext uri="{BB962C8B-B14F-4D97-AF65-F5344CB8AC3E}">
        <p14:creationId xmlns:p14="http://schemas.microsoft.com/office/powerpoint/2010/main" val="21198468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2026-07-12T08:20:36.3120000Z</dcterms:created>
  <dcterms:modified xsi:type="dcterms:W3CDTF">2026-07-12T08:20:36.3120000Z</dcterms:modified>
</coreProperties>
</file>