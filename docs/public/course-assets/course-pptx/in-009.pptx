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44582c94504dcc" /><Relationship Type="http://schemas.openxmlformats.org/officeDocument/2006/relationships/extended-properties" Target="/docProps/app.xml" Id="R2470672f61a243fc" /><Relationship Type="http://schemas.openxmlformats.org/officeDocument/2006/relationships/officeDocument" Target="/ppt/presentation.xml" Id="R2db13864e8174f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af1516abef4f34"/>
  </p:sldMasterIdLst>
  <p:notesMasterIdLst>
    <p:notesMasterId xmlns:r="http://schemas.openxmlformats.org/officeDocument/2006/relationships" r:id="Rbaf27e9de4554c0f"/>
  </p:notesMasterIdLst>
  <p:sldIdLst>
    <p:sldId xmlns:r="http://schemas.openxmlformats.org/officeDocument/2006/relationships" id="256" r:id="R36911a7c2804483f"/>
    <p:sldId xmlns:r="http://schemas.openxmlformats.org/officeDocument/2006/relationships" id="257" r:id="R14492666b6fe42d6"/>
    <p:sldId xmlns:r="http://schemas.openxmlformats.org/officeDocument/2006/relationships" id="258" r:id="R42b6cc83b62840d5"/>
    <p:sldId xmlns:r="http://schemas.openxmlformats.org/officeDocument/2006/relationships" id="259" r:id="R567423042c374ffa"/>
    <p:sldId xmlns:r="http://schemas.openxmlformats.org/officeDocument/2006/relationships" id="260" r:id="R212054dbc17c4552"/>
    <p:sldId xmlns:r="http://schemas.openxmlformats.org/officeDocument/2006/relationships" id="261" r:id="R543c53a9600d44ee"/>
    <p:sldId xmlns:r="http://schemas.openxmlformats.org/officeDocument/2006/relationships" id="262" r:id="R532ffd849d414898"/>
    <p:sldId xmlns:r="http://schemas.openxmlformats.org/officeDocument/2006/relationships" id="263" r:id="R11dbb40b457b477c"/>
    <p:sldId xmlns:r="http://schemas.openxmlformats.org/officeDocument/2006/relationships" id="264" r:id="R334e5fa25cdd44df"/>
    <p:sldId xmlns:r="http://schemas.openxmlformats.org/officeDocument/2006/relationships" id="265" r:id="R530d9b6ffeb94e50"/>
    <p:sldId xmlns:r="http://schemas.openxmlformats.org/officeDocument/2006/relationships" id="266" r:id="Recf09f30b5b14625"/>
    <p:sldId xmlns:r="http://schemas.openxmlformats.org/officeDocument/2006/relationships" id="267" r:id="Rf35b56bbaa78487e"/>
    <p:sldId xmlns:r="http://schemas.openxmlformats.org/officeDocument/2006/relationships" id="268" r:id="R756fe8d0bae748a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35a173714a4184" /><Relationship Type="http://schemas.openxmlformats.org/officeDocument/2006/relationships/slideMaster" Target="/ppt/slideMasters/slideMaster1.xml" Id="Re4af1516abef4f34" /><Relationship Type="http://schemas.openxmlformats.org/officeDocument/2006/relationships/notesMaster" Target="/ppt/notesMasters/notesMaster1.xml" Id="Rbaf27e9de4554c0f" /><Relationship Type="http://schemas.openxmlformats.org/officeDocument/2006/relationships/presProps" Target="/ppt/presProps.xml" Id="Raca4d6de54b5464b" /><Relationship Type="http://schemas.openxmlformats.org/officeDocument/2006/relationships/tableStyles" Target="/ppt/tableStyles.xml" Id="R5c71c554bbae48a8" /><Relationship Type="http://schemas.openxmlformats.org/officeDocument/2006/relationships/slide" Target="/ppt/slides/slide1.xml" Id="R36911a7c2804483f" /><Relationship Type="http://schemas.openxmlformats.org/officeDocument/2006/relationships/slide" Target="/ppt/slides/slide2.xml" Id="R14492666b6fe42d6" /><Relationship Type="http://schemas.openxmlformats.org/officeDocument/2006/relationships/slide" Target="/ppt/slides/slide3.xml" Id="R42b6cc83b62840d5" /><Relationship Type="http://schemas.openxmlformats.org/officeDocument/2006/relationships/slide" Target="/ppt/slides/slide4.xml" Id="R567423042c374ffa" /><Relationship Type="http://schemas.openxmlformats.org/officeDocument/2006/relationships/slide" Target="/ppt/slides/slide5.xml" Id="R212054dbc17c4552" /><Relationship Type="http://schemas.openxmlformats.org/officeDocument/2006/relationships/slide" Target="/ppt/slides/slide6.xml" Id="R543c53a9600d44ee" /><Relationship Type="http://schemas.openxmlformats.org/officeDocument/2006/relationships/slide" Target="/ppt/slides/slide7.xml" Id="R532ffd849d414898" /><Relationship Type="http://schemas.openxmlformats.org/officeDocument/2006/relationships/slide" Target="/ppt/slides/slide8.xml" Id="R11dbb40b457b477c" /><Relationship Type="http://schemas.openxmlformats.org/officeDocument/2006/relationships/slide" Target="/ppt/slides/slide9.xml" Id="R334e5fa25cdd44df" /><Relationship Type="http://schemas.openxmlformats.org/officeDocument/2006/relationships/slide" Target="/ppt/slides/slide10.xml" Id="R530d9b6ffeb94e50" /><Relationship Type="http://schemas.openxmlformats.org/officeDocument/2006/relationships/slide" Target="/ppt/slides/slide11.xml" Id="Recf09f30b5b14625" /><Relationship Type="http://schemas.openxmlformats.org/officeDocument/2006/relationships/slide" Target="/ppt/slides/slide12.xml" Id="Rf35b56bbaa78487e" /><Relationship Type="http://schemas.openxmlformats.org/officeDocument/2006/relationships/slide" Target="/ppt/slides/slide13.xml" Id="R756fe8d0bae748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1fc408b1ea4d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4b1ebfd192488b" /><Relationship Type="http://schemas.openxmlformats.org/officeDocument/2006/relationships/notesMaster" Target="/ppt/notesMasters/notesMaster1.xml" Id="Rae0cd2129abb4a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bffcfb1ad949cc" /><Relationship Type="http://schemas.openxmlformats.org/officeDocument/2006/relationships/notesMaster" Target="/ppt/notesMasters/notesMaster1.xml" Id="R4f5c6f5ed82548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aff03717034004" /><Relationship Type="http://schemas.openxmlformats.org/officeDocument/2006/relationships/notesMaster" Target="/ppt/notesMasters/notesMaster1.xml" Id="Rd366bb72084442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73c46c8b0449d0" /><Relationship Type="http://schemas.openxmlformats.org/officeDocument/2006/relationships/notesMaster" Target="/ppt/notesMasters/notesMaster1.xml" Id="R488022e434134c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5c5f668a324a2e" /><Relationship Type="http://schemas.openxmlformats.org/officeDocument/2006/relationships/notesMaster" Target="/ppt/notesMasters/notesMaster1.xml" Id="R3f8046ed3abc46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cc2279cf564866" /><Relationship Type="http://schemas.openxmlformats.org/officeDocument/2006/relationships/notesMaster" Target="/ppt/notesMasters/notesMaster1.xml" Id="R87d29d19c64846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ff8e6d0f0424ae0" /><Relationship Type="http://schemas.openxmlformats.org/officeDocument/2006/relationships/notesMaster" Target="/ppt/notesMasters/notesMaster1.xml" Id="R9f6ed25be64b42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74f3eff93c45a5" /><Relationship Type="http://schemas.openxmlformats.org/officeDocument/2006/relationships/notesMaster" Target="/ppt/notesMasters/notesMaster1.xml" Id="Ra51de54f43af45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60ed00fcc94e59" /><Relationship Type="http://schemas.openxmlformats.org/officeDocument/2006/relationships/notesMaster" Target="/ppt/notesMasters/notesMaster1.xml" Id="Reb453794043a40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071877526b438f" /><Relationship Type="http://schemas.openxmlformats.org/officeDocument/2006/relationships/notesMaster" Target="/ppt/notesMasters/notesMaster1.xml" Id="R7092212fda6d4e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6fe08fdb991434a" /><Relationship Type="http://schemas.openxmlformats.org/officeDocument/2006/relationships/notesMaster" Target="/ppt/notesMasters/notesMaster1.xml" Id="R49554b343db44f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deb74276a294ce4" /><Relationship Type="http://schemas.openxmlformats.org/officeDocument/2006/relationships/notesMaster" Target="/ppt/notesMasters/notesMaster1.xml" Id="Ra23997b0c4e44c1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eb274a8551b4960" /><Relationship Type="http://schemas.openxmlformats.org/officeDocument/2006/relationships/notesMaster" Target="/ppt/notesMasters/notesMaster1.xml" Id="R32f9f3ab032b40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821305bce444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e2cc39c2c047a7" /><Relationship Type="http://schemas.openxmlformats.org/officeDocument/2006/relationships/slideLayout" Target="/ppt/slideLayouts/slideLayout1.xml" Id="R2d7ad5a46fda4a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7ad5a46fda4a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fa12ed2264975" /><Relationship Type="http://schemas.openxmlformats.org/officeDocument/2006/relationships/notesSlide" Target="/ppt/notesSlides/notesSlide1.xml" Id="Rf041a6eb4f5f4d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fe91f5b40040b4" /><Relationship Type="http://schemas.openxmlformats.org/officeDocument/2006/relationships/notesSlide" Target="/ppt/notesSlides/notesSlide2.xml" Id="R7b7a61aed8874c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6ed9169e542f3" /><Relationship Type="http://schemas.openxmlformats.org/officeDocument/2006/relationships/notesSlide" Target="/ppt/notesSlides/notesSlide3.xml" Id="Rb99445625df443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84d638c924a0e" /><Relationship Type="http://schemas.openxmlformats.org/officeDocument/2006/relationships/notesSlide" Target="/ppt/notesSlides/notesSlide4.xml" Id="R60e000aa0e394c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987ac57354bf4" /><Relationship Type="http://schemas.openxmlformats.org/officeDocument/2006/relationships/notesSlide" Target="/ppt/notesSlides/notesSlide5.xml" Id="Rff5e1f93d1e44b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30a46ff824dca" /><Relationship Type="http://schemas.openxmlformats.org/officeDocument/2006/relationships/notesSlide" Target="/ppt/notesSlides/notesSlide6.xml" Id="R7ecd2500e3434a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aeebaf9f8454d" /><Relationship Type="http://schemas.openxmlformats.org/officeDocument/2006/relationships/notesSlide" Target="/ppt/notesSlides/notesSlide7.xml" Id="R526c5417103740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78e3157da462a" /><Relationship Type="http://schemas.openxmlformats.org/officeDocument/2006/relationships/notesSlide" Target="/ppt/notesSlides/notesSlide8.xml" Id="R945fd7aabb1a40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f50279113405d" /><Relationship Type="http://schemas.openxmlformats.org/officeDocument/2006/relationships/notesSlide" Target="/ppt/notesSlides/notesSlide9.xml" Id="R64867274cb9444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983f51f8544cb" /><Relationship Type="http://schemas.openxmlformats.org/officeDocument/2006/relationships/notesSlide" Target="/ppt/notesSlides/notesSlide10.xml" Id="R4f46f47204b040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a35c9ff56a4ed0" /><Relationship Type="http://schemas.openxmlformats.org/officeDocument/2006/relationships/notesSlide" Target="/ppt/notesSlides/notesSlide11.xml" Id="Ra4b6bc769af143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f9dd2554014bb2" /><Relationship Type="http://schemas.openxmlformats.org/officeDocument/2006/relationships/notesSlide" Target="/ppt/notesSlides/notesSlide12.xml" Id="R26eb18e909e5402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51237134e4f2d" /><Relationship Type="http://schemas.openxmlformats.org/officeDocument/2006/relationships/notesSlide" Target="/ppt/notesSlides/notesSlide13.xml" Id="Re69e5cd70b494e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74F10B2B-6DE8-4DA0-9E59-CD4C37CE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F726086B-1C93-4AE1-B153-71821EE3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9BAD4855-56B6-49DC-A9BB-4A00AEFD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2D072D37-5F5C-4D1B-B5F4-924A3862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4BD1FCB0-6E58-49A0-B89E-AFD4B68C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2B6CEE48-22DC-49F7-990E-5BB7551F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28EAFEBB-5B5B-4A9A-A949-0D040BBC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CAA744B-7597-4B3A-B0F2-3275AB83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文旅、展厅与智慧建筑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AC525D1-BB58-486E-8E16-CC3647A7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从导览机器人和数字工科大楼理解空间建模、路线、问答、数字孪生与长期运维。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C35DA056-0042-4D43-9BF2-FCBC6442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文旅景区、展厅和智慧建筑都在经营“人与空间的关系”；游客希望少迷路、少等待、得到与兴趣和时间匹配的内容；运营人员则要维护地图、展项、活动、设备和安全秩序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4CCEF49A-389C-4D15-A770-5C82F149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7A515E1C-FB2A-49CA-85B3-04ACAD05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IN-009 · IN-009-S01</a:t>
            </a:r>
          </a:p>
        </p:txBody>
      </p:sp>
    </p:spTree>
    <p:extLst>
      <p:ext uri="{BB962C8B-B14F-4D97-AF65-F5344CB8AC3E}">
        <p14:creationId xmlns:p14="http://schemas.microsoft.com/office/powerpoint/2010/main" val="4277259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AF6867FA-2EFA-40BB-9338-3DCECBDF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310EE9C7-FD9F-4281-B199-5C80AC1D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63A86673-70D7-4060-80A6-703B6938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文旅、展厅与智慧建筑：4项学习结果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1C84370F-D701-4D7F-B87A-E6999E3A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C95C01A3-7EED-4BD3-8F1C-A1A11C62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7387CAA8-38C2-41D8-880A-F12A34E6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按行前、到达、在场和离场后四个阶段设计游客或观众服务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9128F08F-60E4-4430-A341-6B1A72B0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把客流、地图、路线、展项内容、问答和现场人员连接成完整流程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7024F26D-3CCE-4EA5-A830-BBB011AB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解释数字孪生如何服务空间、设备和运营，而不是停留在三维展示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9C215BCC-E796-4F0D-8673-1EC238B5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为机器人、终端、网络、内容和人工接管制定长期运维与评测方案</a:t>
            </a:r>
          </a:p>
        </p:txBody>
      </p:sp>
    </p:spTree>
    <p:extLst>
      <p:ext uri="{BB962C8B-B14F-4D97-AF65-F5344CB8AC3E}">
        <p14:creationId xmlns:p14="http://schemas.microsoft.com/office/powerpoint/2010/main" val="285036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AE9D4EAE-2402-4201-A9DA-E05BB94B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8095A448-7CA1-4420-BE54-05E62A7B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E313E09-C30D-4BAA-84F3-FBC01723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游客旅程要同时覆盖行前、在场与离场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31F86418-A101-40F6-A853-D832A8A7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8370652C-6957-4DE7-81DA-130D1A65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1149FE1-CA6B-4FF9-BAE7-87B3A3DB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F50B823-06A1-406B-A739-0F4346F4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从完整游客旅程定义任务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72C55EE-0584-4FC3-894B-4C3E38D2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前阶段帮助用户了解主题、开放安排、交通、无障碍条件和参观限制；到达阶段完成定位、入场和路线选择；在场阶段提供导航、讲解、问答、排队信息与现场求助；离场后可提供内容回顾、反馈和再次访问入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EA5BE65-F853-4874-ADE7-621B1819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4E55701-5649-41E7-9FA6-CE813769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个性化不等于收集越多越好；路线推荐可以根据用户主动选择的时长、主题、语言和无障碍需求工作；不必长期追踪身份，客流数据宜优先采用匿名或聚合统计；并明确用途和保存时间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4DCE34F-1BD4-4F61-A48E-02BE955D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4FFD71C6-8FAC-4008-8010-603C4920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服务设计还要照顾没有智能手机、网络不畅或需要人工帮助的人。纸质与固定标识、服务台和工作人员不是“落后备份”，而是空间服务可达性和故障回退的一部分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ADAA611D-E9D1-4EE6-A9D0-6BA121B5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FDD55FB6-DD3B-44FA-90C4-EF0B79B3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游客旅程要同时覆盖行前、在场与离场</a:t>
            </a:r>
          </a:p>
        </p:txBody>
      </p:sp>
    </p:spTree>
    <p:extLst>
      <p:ext uri="{BB962C8B-B14F-4D97-AF65-F5344CB8AC3E}">
        <p14:creationId xmlns:p14="http://schemas.microsoft.com/office/powerpoint/2010/main" val="8617598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904729D9-2637-4172-A8BD-9F9FB7C3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076CFE9F-C3ED-4487-9578-0B9EBCF5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5F3B95C6-443C-44A0-9D38-A529519A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地图、客流与路线形成动态空间服务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39EA06BD-4A1D-4F94-8DC2-E8D89DBE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2DFC0750-A21C-49B9-806B-6208C3B0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4413210-C8D3-4D34-BC07-F8230C51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FF638D3-9F71-49F3-A332-AE1F2F1D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地图、客流与路线形成动态空间服务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F13849C-C784-4C74-9E24-277BF27E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基础地图应包含入口、出口、展项、楼层连接、服务设施、无障碍路径、禁行区和紧急设施；路线算法不仅计算距离；还要考虑开放状态、容量、坡度或电梯需求、临时施工、活动时间与人流方向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CF752CC-D854-4410-BE85-57B64F04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89ED20A-7DE0-4285-A637-34916AAB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客流数据可以帮助发现拥堵和调整推荐；但传感器存在遮挡、重复计数和离线情况；系统应显示数据新鲜度和质量；不能把估计值当作精确人数；安全疏散和现场管制必须依照正式预案与人员指挥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DD47A95E-89FF-473F-9718-961CA846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C3E78AFE-72CE-41DA-A758-3D1A683C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地图、路线和现场标识要有同一变更流程。展项移动或区域封闭后，数字地图、机器人路线、移动端与工作人员信息应同步更新，并经过现场走测；只修改其中一个入口会制造新的迷路风险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10C84B74-B67D-4120-9E7F-165207F5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E03EB2FE-EEC1-4D13-B677-F42153B7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地图、客流与路线形成动态空间服务</a:t>
            </a:r>
          </a:p>
        </p:txBody>
      </p:sp>
    </p:spTree>
    <p:extLst>
      <p:ext uri="{BB962C8B-B14F-4D97-AF65-F5344CB8AC3E}">
        <p14:creationId xmlns:p14="http://schemas.microsoft.com/office/powerpoint/2010/main" val="17835668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E15D9117-369A-41A1-821B-CB6638B6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02B75F4C-B7B7-4724-9B3F-32A292B5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46419783-564B-4406-83E2-88A3EC83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内容资产应支持多入口交付与统一更新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36BA3AD2-21F0-455A-96D6-20C510E5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0B1C2C2C-024A-4455-A1C5-078C6E76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91D3191-3932-4E2B-B12A-5ABAF40B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3953C5C-9F73-4159-9951-DB4832CB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内容运营：一次创作，多入口受控交付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B314385-3D05-473E-B2C4-2C6AD5A8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展项知识可拆成事实、故事、术语、媒体、常见问题和可公开限制；每条内容应有来源、责任编辑、语言版本、生效时间和复审日期；AI 可以生成不同长度、语言与年龄层的草稿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18EFC0D-9C01-4E1C-99E8-ECCD2A6B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1F7B0A5-6889-43A9-97BA-C470C38A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机器人、网页、应用和交互屏应读取同一批准内容；不要各自维护互相冲突的文本；活动结束、展品更换或权利到期时；相关内容应自动停止交付；对外说明中的票务、开放安排和服务承诺应来自业务系统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A82A8916-7497-4F9E-A226-86EF8619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F4444011-8A27-47C7-8631-C8284815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内容指标不能只看生成数量。可观察用户是否完成目标路线、是否反复追问、哪些问题没有资料、人工纠错需要多久、不同语言是否表达一致，以及内容更新后各入口是否同步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430E9DD8-4CB1-481A-874E-F1EC4DEF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FE8DCA28-E994-47AA-8F98-9E56BFB0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内容资产应支持多入口交付与统一更新</a:t>
            </a:r>
          </a:p>
        </p:txBody>
      </p:sp>
    </p:spTree>
    <p:extLst>
      <p:ext uri="{BB962C8B-B14F-4D97-AF65-F5344CB8AC3E}">
        <p14:creationId xmlns:p14="http://schemas.microsoft.com/office/powerpoint/2010/main" val="672366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5B5F310E-E132-47DE-8748-CF86A817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CDB89FD4-E7A0-4542-B8E8-7482A921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0737DFEC-45B2-44EB-89FD-5CE55CB7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问答系统必须区分知识、服务与现场求助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1EB9830E-966A-44C2-8455-D4084DEA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293BE10A-BEDD-421B-BE03-F2F3631B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F0F52C3-6EBD-4790-A84D-93D91A4E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CEF7E3E-5E92-416E-A04D-529F9D48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问答与人工接管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A61E96B-EC5C-41E7-B573-EAC23CBB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问答系统先识别问题属于展项知识、路线服务、运营信息还是现场求助，再从有权使用的最新资料中检索。回答应给出适用时间和来源；不知道时直接说明，不编造展项、路线或开放状态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2B8F596-BBF1-4DD8-B4E7-DB4D40AF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0E0C4D2-2089-49D9-8C2C-1A399798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涉及失物、投诉、支付、个人信息、身体不适、儿童走失、安全隐患或紧急情况时；应快速转现场人员或正式求助渠道；接管不是显示一个电话号码就结束；系统应传递必要的上下文和位置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E42BF4AC-5581-4FFB-8968-2061FEAF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DA0FD112-4E86-4BB9-A3C0-4EF661DA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机器人和自助终端还要处理物理接管。遇到路线堵塞、定位丢失、传感器异常、用户靠得过近或设备电量不足时，应安全停止、语音提示并通知人员。任何远程控制都需要身份验证、动作范围和日志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5D5D4DC2-6EE2-4F8A-B25D-310C4C43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F21B4B4C-365E-492B-A91C-37491B34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问答系统必须区分知识、服务与现场求助</a:t>
            </a:r>
          </a:p>
        </p:txBody>
      </p:sp>
    </p:spTree>
    <p:extLst>
      <p:ext uri="{BB962C8B-B14F-4D97-AF65-F5344CB8AC3E}">
        <p14:creationId xmlns:p14="http://schemas.microsoft.com/office/powerpoint/2010/main" val="11082890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4F82A9F-7A21-4C71-B7B3-CFC6FF68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4937717C-2325-489B-9C5F-A313E9C1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8488A91D-74D3-4E89-9792-CFE98A4B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数字孪生：连接空间、设备与运营状态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4E0FF994-5AAB-4648-A746-E3382B7D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03479402-3E12-4487-BAC5-D1730987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A744919-CE78-4797-87E1-AD1F1742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3ED1E32-7DB5-4C6F-8D0D-5D4D8F47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数字孪生：连接空间、设备与运营状态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27627D6-E41F-4754-B458-9609FACF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智慧建筑的数字孪生可把空间几何、房间与展项、设备资产、传感器状态、工单和运营规则放在共同模型中。它可以支持设备定位、维护排查、空间利用分析、能耗观察和方案演练，但前提是模型持续与现场一致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6720A33-2B7C-47A2-B4B2-CB40A705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98CFB76-FA5C-446B-8BCF-7373D7EC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三维外观只是表达层；更重要的是对象身份、数据时间、状态来源和业务关系；例如，地图显示某电梯可用时；应知道状态来自哪个系统、多久前更新、故障工单是否仍未关闭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E3CBBA7-AF42-4007-8EF3-A68C2607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EB53ABCF-D5BC-4785-A29F-614EE0D1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对路线或设施调整，可先在数字环境中比较影响，再通过现场检查确认。仿真结果用于提出方案，不直接替代消防、建筑、设施和运营专业人员的审批。模型与现场偏差要进入维护工单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2E340A7C-4E63-4448-9CCE-746CBC35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0FFCF442-A0D8-4140-A6D8-0BE9DAB2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数字孪生：连接空间、设备与运营状态</a:t>
            </a:r>
          </a:p>
        </p:txBody>
      </p:sp>
    </p:spTree>
    <p:extLst>
      <p:ext uri="{BB962C8B-B14F-4D97-AF65-F5344CB8AC3E}">
        <p14:creationId xmlns:p14="http://schemas.microsoft.com/office/powerpoint/2010/main" val="1365624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644F81B7-7343-44BA-A581-5CC92B6F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7F7C075C-4428-4912-B3E0-EF332E20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6401D681-D2AD-48F8-8E96-BAD3A9EA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C51AD06C-784E-4C39-9F8A-F5C535B3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C1BB020C-A737-45B0-AAB5-B4EAF399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816ECCE-90B6-4BD6-AF0F-8E7474D7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2EBF526-4930-4525-8775-4B497851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947CC5B-67C5-4F53-BA2D-7C110DDD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运维对象包括机器人与充电、网络、定位基站、传感器、地图、内容库、业务接口、权限、日志和现场人员；每项都要有负责人、巡检周期、故障等级、备件或替代方案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48264BA-981C-4D02-8616-7B3D446B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94A74B5-CF85-4C43-92F5-4AA5BC3E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系统更新要经过版本、测试、灰度与回退；内容更新检查事实和版权；地图更新进行现场走测；模型更新重跑问答和安全样本；日志只保留诊断与改进所需的信息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4AD8A2D-EBA3-4CF0-A226-5E0E5498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2DFD6F49-8E69-4AD8-8B53-24174279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长期指标可包括服务可用性、路线完成、内容准确、转人工成功、故障恢复、过期信息拦截和现场工作负担。若使用率低，应先判断入口、内容、路线或人工流程是否有问题，而不是立即增加更多传感器和生成能力</a:t>
            </a:r>
          </a:p>
        </p:txBody>
      </p:sp>
      <p:sp>
        <p:nvSpPr>
          <p:cNvPr id="13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F50FC19E-F282-401D-BAE5-BC0B5A07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8-takeaway">
            <a:extLst xmlns:a="http://schemas.openxmlformats.org/drawingml/2006/main">
              <a:ext uri="{FF2B5EF4-FFF2-40B4-BE49-F238E27FC236}">
                <a16:creationId xmlns:a16="http://schemas.microsoft.com/office/drawing/2014/main" id="{8FDE51F9-D3E3-48D0-B5FE-157F4860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</p:spTree>
    <p:extLst>
      <p:ext uri="{BB962C8B-B14F-4D97-AF65-F5344CB8AC3E}">
        <p14:creationId xmlns:p14="http://schemas.microsoft.com/office/powerpoint/2010/main" val="11439992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26340B16-B80B-4F4B-8D4F-EDDE0A5F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F0A9C6AC-624A-40EE-9AA4-3626B036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541DF6C3-F1C0-4C1A-B7D1-F2287A41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共享地图让路线、讲解与临时关闭同步更新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13DFFE81-AD9F-4828-80D4-7A8B6B71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622D7906-DF7B-4FB1-AEA9-6D15AA9B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981F5BEF-7CAF-4D34-A014-1619F28E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展厅主题路线的一天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2E2DE6D4-F898-4EE4-897C-4C368C28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行前｜观众选择可用时长、主题和无障碍需求，系统根据当天开放状态给出候选路线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982E3977-9D7C-48B2-828C-100223D2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551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在场｜机器人与移动端共享同一地图和批准讲解；某区域临时关闭后，运营人员一次更新即可停止相关路线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0B6BF6D-A5E7-4EFC-A382-EE56D0F2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问答｜展项问题返回来源，服务与安全问题转工作人员，并传递必要位置和问题摘要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5AA543A0-715A-4898-88E8-D4D92D68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复盘｜团队检查路线中断、无答案问题、接管是否成功和内容是否过期，再安排修正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15E6F9CC-6808-4611-B4AF-B9C8A76F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D2AE5C2F-032E-44A0-96B2-E9702567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共享地图让路线、讲解与临时关闭同步更新</a:t>
            </a:r>
          </a:p>
        </p:txBody>
      </p:sp>
    </p:spTree>
    <p:extLst>
      <p:ext uri="{BB962C8B-B14F-4D97-AF65-F5344CB8AC3E}">
        <p14:creationId xmlns:p14="http://schemas.microsoft.com/office/powerpoint/2010/main" val="20285098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EB146700-DFDE-4037-A6E2-05E759B9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BE0E815D-F1A4-4688-AE1D-46689945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5C8D91D9-FCE4-4030-9CFC-F4C402EB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建筑联动建议必须经过现场核验与授权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92EB38CA-F489-49DC-80DE-CADE8771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0C49D0C5-76EB-409D-8357-F8FA7457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1281590B-7CE5-482C-A4E5-705970BB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智慧建筑中的设备与空间联动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2E90E14C-3C76-4D64-A15B-E8C7DB87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场景｜运营人员收到某区域环境异常，同时该区域将举办活动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0C5587F0-71E3-4D91-A96B-59CC6271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辅助｜数字孪生关联房间、传感器、相关设备、维护记录和活动安排，展示数据时间与未关闭工单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C4F6CD6F-1456-4D4E-9717-9F998773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决定｜设施人员现场复核后选择维修、调整空间或启用替代区域；系统不根据单个传感器自动改变安全策略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28A8C7A4-22F4-4C69-AC3B-3FC6FFB0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7B553296-D708-4BC2-8B90-63E2ED8F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建筑联动建议必须经过现场核验与授权</a:t>
            </a:r>
          </a:p>
        </p:txBody>
      </p:sp>
    </p:spTree>
    <p:extLst>
      <p:ext uri="{BB962C8B-B14F-4D97-AF65-F5344CB8AC3E}">
        <p14:creationId xmlns:p14="http://schemas.microsoft.com/office/powerpoint/2010/main" val="6409339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6FC51A46-11ED-4029-B718-E9FC2ACB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B4018ADF-8492-43BC-9A53-B97D11F6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A63C9D0F-73DF-43DE-8482-F5A48BC3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文旅、展厅与智慧建筑：一次可验收练习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914AE7B0-F528-41BD-B518-101F7D8A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CF3595D0-EAD4-46E9-B4DE-F06377DE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DBF35111-155D-4FFA-A06A-887073C0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AEA04388-7FDF-4CDA-BE8B-9DF0CABB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3A4BAAA1-0A02-42D2-A0DF-18964BF7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选择一个景区、展厅或公共建筑，画出行前、到达、在场、离场后四阶段旅程，并为每阶段写出数字服务与人工入口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39034BA9-5C13-4E2E-868B-EECBF180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503D9F27-67AD-4F09-9EFB-37B244DB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F4864203-0F44-4F66-9A6A-AECCC675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745F9F48-5F28-4560-8FAB-005951F4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绘制一张包含展项、服务设施、无障碍路线、禁行区和人工接管点的简图，再设计临时封路后的更新与回退流程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79CE02A6-4978-43B9-8664-F7AE6706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04BA8D56-3B78-42F4-9F9C-7300498C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41C279A7-95CE-467B-AB53-B943F701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CD46EBF2-B3AA-42F3-A815-067A9350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建立一份长期运维清单，覆盖内容、地图、机器人或终端、网络、数字孪生、权限、日志、人员和四种故障演练</a:t>
            </a:r>
          </a:p>
        </p:txBody>
      </p:sp>
    </p:spTree>
    <p:extLst>
      <p:ext uri="{BB962C8B-B14F-4D97-AF65-F5344CB8AC3E}">
        <p14:creationId xmlns:p14="http://schemas.microsoft.com/office/powerpoint/2010/main" val="15496531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9BDB3AC7-DAF1-402B-BA6D-CFB68896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90185FA6-F773-466E-AF8E-27B5943A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E565D740-1C0B-49F3-A632-0048278D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文旅、展厅与智慧建筑：判断时先抓住三点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4DA66F5B-0CC2-4C6B-9AA7-252FCCCF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4ED33DB1-AB63-441E-9C85-469C08B9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B8D4ABD1-7525-4A2B-9AC0-BB39F40C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06D14DDE-E1EB-47C1-BA9E-8E04E761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5E4DD291-51EC-489B-8337-66E8FB2F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游客旅程要同时覆盖行前、在场与离场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F036E790-D3BC-4781-B98D-FD586691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72D84879-9CB5-416A-A777-0F13BA59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B6E82E58-4871-46D3-A7F2-79A5F77E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B267BDFD-E12B-4BDA-B19C-63BCED3E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内容资产应支持多入口交付与统一更新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FF6B190B-0DE4-46A8-B06D-2190FC93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7ED4BC7F-F7D0-4267-9288-314280A4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7310048F-777E-495A-A143-77767000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77652BD4-E40E-4046-AAC5-85AC4E13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长期运维比首次上线更重要</a:t>
            </a:r>
          </a:p>
        </p:txBody>
      </p:sp>
    </p:spTree>
    <p:extLst>
      <p:ext uri="{BB962C8B-B14F-4D97-AF65-F5344CB8AC3E}">
        <p14:creationId xmlns:p14="http://schemas.microsoft.com/office/powerpoint/2010/main" val="5108587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2BA1D112-EBDB-42FD-A3CB-81659B4C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16CAEA1B-F4BB-4409-8A2F-C901E9C9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4F71E3A8-7541-400B-8D06-D793942F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文旅、展厅与智慧建筑：依据、边界与延伸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20F69C37-3E8F-4D72-AB64-70507C5D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2A3F00CC-ACB4-4652-83B1-A2B79C40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IN-009 · IN-009-S13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3FC85677-682D-4C73-8407-DC4E53A8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291573D1-E651-433F-B356-2AA35E33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团队补充资料：《数字工科大楼具身智能项目-介绍》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0CA019EE-068C-4FBB-A319-6BEFF3FF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 41001:2018：设施管理体系要求与使用指南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DEDA7E9D-82BA-4951-B69B-BD0C74BF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ISO 19650-1:2018：使用建筑信息模型管理建筑和土木工程信息的概念与原则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4EB14913-76C8-47CA-AC80-6442D66B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实际部署还应遵循场所安全、消防、无障碍、个人信息保护及设备运维的现行要求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37278D89-F330-4DA5-ADC7-34D2C80A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29EBB81C-A2D0-4886-9BBF-8856C195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5864055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2026-07-11T16:56:09.2370000Z</dcterms:created>
  <dcterms:modified xsi:type="dcterms:W3CDTF">2026-07-11T16:56:09.2370000Z</dcterms:modified>
</coreProperties>
</file>