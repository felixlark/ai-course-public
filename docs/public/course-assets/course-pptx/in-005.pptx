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dafe2d8a904ca2" /><Relationship Type="http://schemas.openxmlformats.org/officeDocument/2006/relationships/extended-properties" Target="/docProps/app.xml" Id="R71a38c2d4fe140c2" /><Relationship Type="http://schemas.openxmlformats.org/officeDocument/2006/relationships/officeDocument" Target="/ppt/presentation.xml" Id="R0627b9251b8b49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11e289100d479c"/>
  </p:sldMasterIdLst>
  <p:notesMasterIdLst>
    <p:notesMasterId xmlns:r="http://schemas.openxmlformats.org/officeDocument/2006/relationships" r:id="R7237c0df293a4c8f"/>
  </p:notesMasterIdLst>
  <p:sldIdLst>
    <p:sldId xmlns:r="http://schemas.openxmlformats.org/officeDocument/2006/relationships" id="256" r:id="R5d3bc90f8480459b"/>
    <p:sldId xmlns:r="http://schemas.openxmlformats.org/officeDocument/2006/relationships" id="257" r:id="R7d463c17c9834b5d"/>
    <p:sldId xmlns:r="http://schemas.openxmlformats.org/officeDocument/2006/relationships" id="258" r:id="R705590f349774b04"/>
    <p:sldId xmlns:r="http://schemas.openxmlformats.org/officeDocument/2006/relationships" id="259" r:id="R11d25b99103a47a2"/>
    <p:sldId xmlns:r="http://schemas.openxmlformats.org/officeDocument/2006/relationships" id="260" r:id="R80cf95b032fd4688"/>
    <p:sldId xmlns:r="http://schemas.openxmlformats.org/officeDocument/2006/relationships" id="261" r:id="R25b0d4e5df9243f7"/>
    <p:sldId xmlns:r="http://schemas.openxmlformats.org/officeDocument/2006/relationships" id="262" r:id="R6a7fc0104fa1492a"/>
    <p:sldId xmlns:r="http://schemas.openxmlformats.org/officeDocument/2006/relationships" id="263" r:id="R832adcd9c4f84f2d"/>
    <p:sldId xmlns:r="http://schemas.openxmlformats.org/officeDocument/2006/relationships" id="264" r:id="R6873218653054981"/>
    <p:sldId xmlns:r="http://schemas.openxmlformats.org/officeDocument/2006/relationships" id="265" r:id="R575cf29147b04102"/>
    <p:sldId xmlns:r="http://schemas.openxmlformats.org/officeDocument/2006/relationships" id="266" r:id="R03671e870d6e4372"/>
    <p:sldId xmlns:r="http://schemas.openxmlformats.org/officeDocument/2006/relationships" id="267" r:id="R4d011b53e1c8499f"/>
    <p:sldId xmlns:r="http://schemas.openxmlformats.org/officeDocument/2006/relationships" id="268" r:id="R0f4a092fbbf043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af5fac66e2433c" /><Relationship Type="http://schemas.openxmlformats.org/officeDocument/2006/relationships/slideMaster" Target="/ppt/slideMasters/slideMaster1.xml" Id="Re011e289100d479c" /><Relationship Type="http://schemas.openxmlformats.org/officeDocument/2006/relationships/notesMaster" Target="/ppt/notesMasters/notesMaster1.xml" Id="R7237c0df293a4c8f" /><Relationship Type="http://schemas.openxmlformats.org/officeDocument/2006/relationships/presProps" Target="/ppt/presProps.xml" Id="R10f45b31f4984aec" /><Relationship Type="http://schemas.openxmlformats.org/officeDocument/2006/relationships/tableStyles" Target="/ppt/tableStyles.xml" Id="R5f5ba27dda5b48dd" /><Relationship Type="http://schemas.openxmlformats.org/officeDocument/2006/relationships/slide" Target="/ppt/slides/slide1.xml" Id="R5d3bc90f8480459b" /><Relationship Type="http://schemas.openxmlformats.org/officeDocument/2006/relationships/slide" Target="/ppt/slides/slide2.xml" Id="R7d463c17c9834b5d" /><Relationship Type="http://schemas.openxmlformats.org/officeDocument/2006/relationships/slide" Target="/ppt/slides/slide3.xml" Id="R705590f349774b04" /><Relationship Type="http://schemas.openxmlformats.org/officeDocument/2006/relationships/slide" Target="/ppt/slides/slide4.xml" Id="R11d25b99103a47a2" /><Relationship Type="http://schemas.openxmlformats.org/officeDocument/2006/relationships/slide" Target="/ppt/slides/slide5.xml" Id="R80cf95b032fd4688" /><Relationship Type="http://schemas.openxmlformats.org/officeDocument/2006/relationships/slide" Target="/ppt/slides/slide6.xml" Id="R25b0d4e5df9243f7" /><Relationship Type="http://schemas.openxmlformats.org/officeDocument/2006/relationships/slide" Target="/ppt/slides/slide7.xml" Id="R6a7fc0104fa1492a" /><Relationship Type="http://schemas.openxmlformats.org/officeDocument/2006/relationships/slide" Target="/ppt/slides/slide8.xml" Id="R832adcd9c4f84f2d" /><Relationship Type="http://schemas.openxmlformats.org/officeDocument/2006/relationships/slide" Target="/ppt/slides/slide9.xml" Id="R6873218653054981" /><Relationship Type="http://schemas.openxmlformats.org/officeDocument/2006/relationships/slide" Target="/ppt/slides/slide10.xml" Id="R575cf29147b04102" /><Relationship Type="http://schemas.openxmlformats.org/officeDocument/2006/relationships/slide" Target="/ppt/slides/slide11.xml" Id="R03671e870d6e4372" /><Relationship Type="http://schemas.openxmlformats.org/officeDocument/2006/relationships/slide" Target="/ppt/slides/slide12.xml" Id="R4d011b53e1c8499f" /><Relationship Type="http://schemas.openxmlformats.org/officeDocument/2006/relationships/slide" Target="/ppt/slides/slide13.xml" Id="R0f4a092fbbf043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0017d4ba5f4e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10cdab3b314bfb" /><Relationship Type="http://schemas.openxmlformats.org/officeDocument/2006/relationships/notesMaster" Target="/ppt/notesMasters/notesMaster1.xml" Id="R3e55297ad7c34f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80024aa830463c" /><Relationship Type="http://schemas.openxmlformats.org/officeDocument/2006/relationships/notesMaster" Target="/ppt/notesMasters/notesMaster1.xml" Id="R4336ce90f57846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58b2b2f3b64e78" /><Relationship Type="http://schemas.openxmlformats.org/officeDocument/2006/relationships/notesMaster" Target="/ppt/notesMasters/notesMaster1.xml" Id="R3ae7d837cf2b44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d554106f43447c" /><Relationship Type="http://schemas.openxmlformats.org/officeDocument/2006/relationships/notesMaster" Target="/ppt/notesMasters/notesMaster1.xml" Id="R2e2bedef4fcd45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1146a233924c6f" /><Relationship Type="http://schemas.openxmlformats.org/officeDocument/2006/relationships/notesMaster" Target="/ppt/notesMasters/notesMaster1.xml" Id="R810f24b51cac46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0caafbb02c4ac8" /><Relationship Type="http://schemas.openxmlformats.org/officeDocument/2006/relationships/notesMaster" Target="/ppt/notesMasters/notesMaster1.xml" Id="Re25e5f843ad34d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5385624c8e45d6" /><Relationship Type="http://schemas.openxmlformats.org/officeDocument/2006/relationships/notesMaster" Target="/ppt/notesMasters/notesMaster1.xml" Id="Rf73cdc9e47de44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4ca6aa28bb4878" /><Relationship Type="http://schemas.openxmlformats.org/officeDocument/2006/relationships/notesMaster" Target="/ppt/notesMasters/notesMaster1.xml" Id="Rae9515086f264d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15330447b845f1" /><Relationship Type="http://schemas.openxmlformats.org/officeDocument/2006/relationships/notesMaster" Target="/ppt/notesMasters/notesMaster1.xml" Id="Rb2c2bc740eda4c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1ad17406284f20" /><Relationship Type="http://schemas.openxmlformats.org/officeDocument/2006/relationships/notesMaster" Target="/ppt/notesMasters/notesMaster1.xml" Id="R8cb65f2f0c914b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d84534d6fb5410d" /><Relationship Type="http://schemas.openxmlformats.org/officeDocument/2006/relationships/notesMaster" Target="/ppt/notesMasters/notesMaster1.xml" Id="R9acc95bc5f584b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682b96380d47d4" /><Relationship Type="http://schemas.openxmlformats.org/officeDocument/2006/relationships/notesMaster" Target="/ppt/notesMasters/notesMaster1.xml" Id="Rabab5f2ae8f147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234d8eb6974987" /><Relationship Type="http://schemas.openxmlformats.org/officeDocument/2006/relationships/notesMaster" Target="/ppt/notesMasters/notesMaster1.xml" Id="R1f9b6bcbd56c49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aa4437f6b44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db4084644942a0" /><Relationship Type="http://schemas.openxmlformats.org/officeDocument/2006/relationships/slideLayout" Target="/ppt/slideLayouts/slideLayout1.xml" Id="Re702456f0acf48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02456f0acf48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bd1e42f5b4e98" /><Relationship Type="http://schemas.openxmlformats.org/officeDocument/2006/relationships/notesSlide" Target="/ppt/notesSlides/notesSlide1.xml" Id="R0cdbb9b3e82e4f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040fb890d4462" /><Relationship Type="http://schemas.openxmlformats.org/officeDocument/2006/relationships/notesSlide" Target="/ppt/notesSlides/notesSlide2.xml" Id="R47aa7d30a95744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ceb63112a4a70" /><Relationship Type="http://schemas.openxmlformats.org/officeDocument/2006/relationships/notesSlide" Target="/ppt/notesSlides/notesSlide3.xml" Id="R8e955dd4b60c4d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9960712c749c1" /><Relationship Type="http://schemas.openxmlformats.org/officeDocument/2006/relationships/notesSlide" Target="/ppt/notesSlides/notesSlide4.xml" Id="Rb7e2f528d7f4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c8a5e82b646f8" /><Relationship Type="http://schemas.openxmlformats.org/officeDocument/2006/relationships/notesSlide" Target="/ppt/notesSlides/notesSlide5.xml" Id="R8a46dd96feba4a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48fc1238c4f30" /><Relationship Type="http://schemas.openxmlformats.org/officeDocument/2006/relationships/notesSlide" Target="/ppt/notesSlides/notesSlide6.xml" Id="R1dd69a2d64974a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7459fb02e496d" /><Relationship Type="http://schemas.openxmlformats.org/officeDocument/2006/relationships/notesSlide" Target="/ppt/notesSlides/notesSlide7.xml" Id="R89e08c79893148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9657315404b73" /><Relationship Type="http://schemas.openxmlformats.org/officeDocument/2006/relationships/notesSlide" Target="/ppt/notesSlides/notesSlide8.xml" Id="R7b211c43cb234e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e63e9a0ae40e9" /><Relationship Type="http://schemas.openxmlformats.org/officeDocument/2006/relationships/notesSlide" Target="/ppt/notesSlides/notesSlide9.xml" Id="R7c929447cbec48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de5ba2a4c41e1" /><Relationship Type="http://schemas.openxmlformats.org/officeDocument/2006/relationships/notesSlide" Target="/ppt/notesSlides/notesSlide10.xml" Id="Rca72a8a92f45473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ca5f997154876" /><Relationship Type="http://schemas.openxmlformats.org/officeDocument/2006/relationships/notesSlide" Target="/ppt/notesSlides/notesSlide11.xml" Id="Rcb8c210fd1494e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e134f58be486e" /><Relationship Type="http://schemas.openxmlformats.org/officeDocument/2006/relationships/notesSlide" Target="/ppt/notesSlides/notesSlide12.xml" Id="R60127b4189cd46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9da86d48347bc" /><Relationship Type="http://schemas.openxmlformats.org/officeDocument/2006/relationships/notesSlide" Target="/ppt/notesSlides/notesSlide13.xml" Id="Re35d18282aa1494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781427FF-90F7-4182-9A5C-5E06F232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3F4A7655-099A-4B32-A435-6A94DE1C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4E35C3E-6015-4816-B738-313797C8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3F7606D-A169-44FC-8B37-0B57925F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8D66BFBD-0896-435D-92C2-86BDAB84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CCF1D287-CFC6-4C90-89B9-BBB7D05D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954FBE-6B16-48F2-8B3B-B16AA4D1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EB16A4F-F9F0-474F-A036-3BFB69C7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6F9B8156-7DBC-4E0C-8540-90272033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从工业数据、设备运行、生产质量、能源管理和供应链协同理解行业 AI 的闭环价值。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6DA82F8-AC0E-4BFF-8880-73049980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917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制造、能源与供应链连接着设备、人员、物料和连续运行的物理过程；这里的 AI 不能只在离线测试中“准确”；还要在不同工况、季节、班次和设备状态下稳定工作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A941AA13-088B-4987-BA61-B6251ACB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8B16A0C6-FA6A-4FA9-8A6D-E0B55FBF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IN-005 · IN-005-S01</a:t>
            </a:r>
          </a:p>
        </p:txBody>
      </p:sp>
    </p:spTree>
    <p:extLst>
      <p:ext uri="{BB962C8B-B14F-4D97-AF65-F5344CB8AC3E}">
        <p14:creationId xmlns:p14="http://schemas.microsoft.com/office/powerpoint/2010/main" val="1261011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68348DA3-161B-4249-BBB9-F7C9B9007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2B7317D4-2B52-4194-A70E-1DF9B91C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40F8B085-FB14-458F-9D42-0C747ABA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AA0C96E5-0EA3-405F-A2AC-C0F39162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5E406F93-298A-44B8-A71F-DAECCA8A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D90C361-9966-4CBA-A055-585DD582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画出工业 AI 从数据采集、诊断预测、决策审批到执行反馈的闭环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94FD009-B12A-4681-8A88-CE334E34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分别为设备运维、质量检测、能源管理和供应风险选择业务指标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FBB2C5B9-E254-4E03-9646-04DC5E816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识别误报、漏报、数据漂移、控制越权和网络安全风险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E6AD801-3C8B-4E60-90DA-871A731B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设计影子运行、权限隔离、联锁、回退和变更管理等安全措施</a:t>
            </a:r>
          </a:p>
        </p:txBody>
      </p:sp>
    </p:spTree>
    <p:extLst>
      <p:ext uri="{BB962C8B-B14F-4D97-AF65-F5344CB8AC3E}">
        <p14:creationId xmlns:p14="http://schemas.microsoft.com/office/powerpoint/2010/main" val="4001318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3774FD59-DC21-4CAA-BE21-67BC0224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CD4A55C8-C82C-4EA7-833D-DE7B64FA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77DABFFF-4195-4C55-BB10-B2E0CF88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F1BCA020-484B-4C6B-952D-64E0FC4C3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C24BECBA-AE14-45AA-915A-FC369696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EECFD50-2EB3-43EA-8C34-497DC40BF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674F9D6-CE29-431E-A370-79805DF0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4A7B42B-DAEC-4CE0-B7FC-E6A0950D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工业数据可能来自传感器、控制系统、生产执行系统、质量记录、工单、库存和外部市场；开始建模前，要统一设备与物料编码、计量单位、采样时间、时区、批次和工况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810A67C-5289-49E6-A87A-642A4DC6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28A403C-5DC0-4955-9C45-66FA7D5E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数据质量不仅是缺失值问题。时间不同步会让因果顺序颠倒，人工录入可能使用不同术语，故障标签可能只记录“已维修”而没有根因。团队应保存原始数据、清洗规则和变更记录，并让现场专家参与解释异常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1072FD2-B569-4F0B-84ED-8D7BD475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8EC1B83-A335-4D3B-AFE6-93F16CF2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</p:spTree>
    <p:extLst>
      <p:ext uri="{BB962C8B-B14F-4D97-AF65-F5344CB8AC3E}">
        <p14:creationId xmlns:p14="http://schemas.microsoft.com/office/powerpoint/2010/main" val="16340735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0961B2A7-7219-40D3-A183-21524A4C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F76D3C1-D004-4E0F-980D-A7512C11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76E53E4B-76A8-4680-BFDC-FE88724B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设备异常只有进入工单闭环才产生价值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DA9EA81-95B9-414E-BF97-433F3173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766A2CCC-AF90-448E-B35B-19F50E50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8688772-45B1-418B-A87E-0CB11743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DCFDC12-CCBD-45C3-B519-707D920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设备运维：从异常分数到可执行工单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F5C8D56-4149-4E2E-BC26-7803D250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预测性维护可结合振动、温度、电流、润滑、巡检和历史工单发现早期异常；模型输出不应只有一个故障概率；还要给出相关信号、变化时间、相似事件、影响设备和不确定性；大模型可以检索说明书与检修规程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6CE44AC-D85A-4834-BDCA-3D1D129E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A1D04E6-4BDC-4739-B535-CDD3E0D0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维护决策还受生产计划、备件、人员资质和停机窗口约束；更完整的输出是“证据—可能原因—建议检查—所需资源—允许时间窗”；由有权限的工程师确认后生成工单；维修结果、拆检发现和误报警原因应回写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0D9AD1F-4EE7-4EB5-9FF5-B32CAE8B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BC4A4E33-4D76-4C50-8CE1-A96F10A0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设备异常只有进入工单闭环才产生价值</a:t>
            </a:r>
          </a:p>
        </p:txBody>
      </p:sp>
    </p:spTree>
    <p:extLst>
      <p:ext uri="{BB962C8B-B14F-4D97-AF65-F5344CB8AC3E}">
        <p14:creationId xmlns:p14="http://schemas.microsoft.com/office/powerpoint/2010/main" val="85503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AA53D5B-CFC6-4485-ACAB-7835EA16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DF63ABD5-AF91-48A3-9424-389855A6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9CA7EA53-56B3-43A2-9271-F35946C0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2961C220-C093-4395-91A3-65DD7D33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C27003FB-68D5-478C-82E5-8C14514F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C648D9A-7B77-491A-9D9F-3B70E6D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E0FAB4D-7D1B-401B-B5F0-C4D80158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质量闭环：同时管理误报与漏报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BBB3875-2963-41F6-BE8B-43ED189D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视觉检测、时序检测和过程建模可以辅助发现表面缺陷、尺寸偏差或工艺异常。上线前要按产品型号、光照、设备、班次和缺陷类型分层评测，避免总体指标掩盖少见但严重的缺陷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A433B4A-8A4B-4939-A104-64B11921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B664468-ECE6-4177-A22B-D74ADFB4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误报会增加复检、停线和报废成本；漏报可能使不合格品流向下游；阈值不能只由算法团队追求最高平均分；而应根据后果与后续检查能力共同设定；模型标记、人工复检、处置结果和客户反馈要能追到同一批次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CDE8D3D3-5698-49E1-AEAC-F27DC4D6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2248333C-5FC9-4D2F-921D-938EDA14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</p:spTree>
    <p:extLst>
      <p:ext uri="{BB962C8B-B14F-4D97-AF65-F5344CB8AC3E}">
        <p14:creationId xmlns:p14="http://schemas.microsoft.com/office/powerpoint/2010/main" val="460027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A9E53274-E992-409C-B5D4-672D8E8B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D151333-DEF1-48DB-A640-5814EEC7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9F0DA9DB-B403-4B0E-83A2-E6351989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585E0DD-0D6A-4B61-B248-D6996CE2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C3712C41-BDFE-42C9-8F4B-486F7742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B883D85-DAB9-441E-BCEC-83A64F0F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3544C6B-F3B0-4A0B-992A-410B9FF0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能源管理：预测服务于约束优化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C127C0A-DACD-49CF-8028-2C844292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能源场景需要理解源、网、荷、储之间的关系；负荷和发电预测可为排程、储能和需求响应提供输入；设备模型可发现异常能耗；大模型可帮助检索运行规程和解释告警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855EAA2-F106-471E-9B65-36D22CD4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E54443D-4CC1-4A5B-8E08-0B17B98B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评价不能只看预测误差；还要看建议是否可执行、是否造成峰值转移、是否影响产品质量；以及异常时能否退回既有控制策略；能源基线应说明产量、气候、工况和统计周期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4AC2E887-4E07-4843-978C-B97EE543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9F199E72-25C3-4F79-BEE4-82E0FB7D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能源场景需要理解源、网、荷、储之间的关系</a:t>
            </a:r>
          </a:p>
        </p:txBody>
      </p:sp>
    </p:spTree>
    <p:extLst>
      <p:ext uri="{BB962C8B-B14F-4D97-AF65-F5344CB8AC3E}">
        <p14:creationId xmlns:p14="http://schemas.microsoft.com/office/powerpoint/2010/main" val="16096890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FC847551-D036-495E-AE71-2B6AD244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F6E6CD37-810D-4932-BEEF-DBBF3B55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EB9E411F-8AC5-43F1-8CB7-AEEE2D49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F27B1B40-E2F2-49BC-A90D-D1952AEB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27A1B31-7C86-4BF0-9BAF-7F7F454B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64685A4-2575-4CAD-951E-FE097DB4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8B59106-F3B7-48D0-8277-361D6AC5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供应链：识别风险而非制造确定性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E36FF90-CE78-42FB-858F-3B9A001E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供应链模型可综合订单、库存、交付周期、物流事件、供应商状态和外部公开信息；辅助需求预测、缺料预警与方案比较；输出应说明关键假设、数据新鲜度、影响范围和替代方案；而不是给出一个看似确定的单点预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36598A9-FDF3-49B5-850C-77F2C01A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6F6F0F9-3919-4005-8482-5C105DC29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局部最优尤其危险，提高设备利用率可能积压在制品；压低库存可能放大中断风险；选择最低报价也可能增加质量与交付风险；决策应同时检查产能、库存、现金、质量、合规和单一来源依赖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84543FC5-4EFB-488F-A141-EF03BAD9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A9C7CED6-628F-4795-84EF-366C974F6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辅助需求预测、缺料预警与方案比较</a:t>
            </a:r>
          </a:p>
        </p:txBody>
      </p:sp>
    </p:spTree>
    <p:extLst>
      <p:ext uri="{BB962C8B-B14F-4D97-AF65-F5344CB8AC3E}">
        <p14:creationId xmlns:p14="http://schemas.microsoft.com/office/powerpoint/2010/main" val="1801059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2184739B-B1E6-494F-A972-D49F4C15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81033ADF-451B-46E4-876C-E4C06EA1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E88F7105-39F1-425B-B6E8-785F1D0C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20DBB55-48FF-4121-BA00-18355FD9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64B492D8-B682-4310-9087-F6047587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EA134F1-3172-4E14-B628-812DF00B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583C5BE-F067-454F-BC39-B4B513FB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安全控制：模型不得绕过保护层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C092F6B-B88A-4C84-8950-F8E02675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工业 AI 应先在历史回放和影子模式中验证；只提供建议而不直接控制设备；进入半自动或自动执行前；需要风险分析、授权审批和变更管理；模型服务与控制网络应按安全要求隔离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B58D563-4C63-4A58-973B-056D11E9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A3F1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E08F063-0ADD-475B-8958-99E0452D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系统还要具备人工接管、已验证的回退策略、完整日志和定期演练；模型不可用、数据中断、时间漂移、异常置信度或网络攻击都可能触发降级；任何涉及安全仪表、保护装置和法定运行边界的功能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BF9FAB12-70F6-4E58-8D33-F7EBFD89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12913942-DA4C-4AFA-A19A-4DD30D1C8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21240403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7795FAE9-103E-43BA-B255-2E8E7CA6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E61225F8-2857-4540-A009-FE5E65AA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C8E722E-397D-4BF0-96E1-4C4C7A51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C14BA6E4-CD59-407A-BA27-201BA556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93F851E-B5DD-49F2-BED0-AA0F18DC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092F0F19-2484-4E7B-8F9B-6A49788B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AF7E534-B845-4672-B4F8-9EA9D5DD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发现｜时序模型在特定工况下发现振动与温度组合偏离历史范围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B86695A-2FF5-4394-8171-D7B40826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核验｜系统展示相关传感器、数据质量和相似工单；工程师现场复测，并核对检修规程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4D3156E-E6FA-4EC3-A5E5-31BDADE4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处置｜结合生产窗口、备件和风险等级决定继续监测、降载或检修，授权人批准后执行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F68B8DC1-8298-48D2-BC3B-0F20FC0E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反馈｜拆检结论与处置结果回写，用来区分真实预警、传感器问题和工况变化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D91D69AF-31D1-4193-85F5-7DA9833C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0CA4AB07-BAD6-4D52-BA28-EDBA30649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关键设备异常到维修闭环</a:t>
            </a:r>
          </a:p>
        </p:txBody>
      </p:sp>
    </p:spTree>
    <p:extLst>
      <p:ext uri="{BB962C8B-B14F-4D97-AF65-F5344CB8AC3E}">
        <p14:creationId xmlns:p14="http://schemas.microsoft.com/office/powerpoint/2010/main" val="7538814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B6D1C530-CBC2-482C-857D-6320D1175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8E00CAEC-7705-42DA-BCEF-DBB46E47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2A20C8D9-8918-401A-A365-7F308A04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能源与供应风险不能由单一成本指标决策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7E985467-6F5A-4047-8FD6-71927B9F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EAC01B8C-BF47-41D8-A9F8-765358C4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DEB1E957-D421-49F3-B7AA-AB96CF93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能耗与供应风险联合决策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48F58CB1-CEC4-4A80-B67F-6B3B1D9A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问题｜生产计划既受分时能源成本影响，又面临某种物料交付不确定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E4C826A4-F638-47E7-B390-0EAE5EA0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方案｜系统生成多个满足设备、交期、库存与能源约束的排程，标明每个方案的假设和脆弱点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676386E7-79E2-44CD-BD9A-14A2B8B3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决策｜生产、能源和采购负责人比较方案，不让单一成本指标自动决定排程；外部条件变化后重新计算并保留原计划回退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7B8A6D10-B6B4-4285-89BA-8C795F6C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10EAB8DC-C85C-4823-BB11-CB5EEB1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能源与供应风险不能由单一成本指标决策</a:t>
            </a:r>
          </a:p>
        </p:txBody>
      </p:sp>
    </p:spTree>
    <p:extLst>
      <p:ext uri="{BB962C8B-B14F-4D97-AF65-F5344CB8AC3E}">
        <p14:creationId xmlns:p14="http://schemas.microsoft.com/office/powerpoint/2010/main" val="14074755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E030FD4F-6326-43E9-A9EF-3494A01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D40F159-EF01-49A0-B8B0-0690029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0E8E276-C851-4571-98D1-64835EC02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86BDC39-8090-4173-83C1-F44C2FB3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7455D1D3-C52C-44C7-90CE-ED3A95B6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3634194D-1B28-49A2-BF65-9D7E4727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D4F6CD3F-3154-4289-9822-C95C634D2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A17A6DAD-2ECB-496F-8666-23314A61D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选择一台设备、一条质量检查或一个供应风险任务，画出“数据—模型—建议—审批—执行—反馈”六个节点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8B9FA2FB-B55C-45CE-87AC-D36D7630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299DF57-BAA2-4B06-A98E-EF996ECA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D632DA36-4D57-4E5F-BB1B-F2BD35BF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CCD53963-8732-481A-BC98-D1A82664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为每个节点填写责任人、输入证据、允许动作和失败回退，并列出两种误报后果、两种漏报后果、一个数据漂移信号和一个网络安全威胁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BDD3DF0-BAAC-4AD1-A010-84EB13A2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E40F9BE-F942-4634-97E9-B20964F2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16F84CD5-55CC-43EA-9616-48149915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90C9132E-6174-49FC-9C0E-36D7F0A2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设计影子运行评测，规定何时保持建议模式、何时可以扩大试点、何时必须立即停用</a:t>
            </a:r>
          </a:p>
        </p:txBody>
      </p:sp>
    </p:spTree>
    <p:extLst>
      <p:ext uri="{BB962C8B-B14F-4D97-AF65-F5344CB8AC3E}">
        <p14:creationId xmlns:p14="http://schemas.microsoft.com/office/powerpoint/2010/main" val="12023742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9FF516E-6B6E-492C-B2C7-089F6F63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004764DB-636D-49C8-ABDD-830EA465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87990A9C-9B8C-45E1-99C3-436458D8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A644DE97-B493-4B2E-BB45-205210E3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05D34E96-8AE8-44F1-BAA0-B866282A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062B0680-32DE-4E8D-AC36-481FDD6E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DAECCEE-539C-4182-BCB5-8A3541C86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5AD33BF0-8948-4CAE-A80C-5B6C4CE2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先统一对象、时间和工况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B282997F-3943-40E6-985A-BA712077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21BF2844-BC77-455E-B4E3-DA64BFF8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51D54F6-6E93-4E2E-8D3F-EAFCDE46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5104AE3F-17E3-4A7F-A754-39655B0D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质量检测必须同时管理误报与漏报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9D623C81-C41E-4F1D-9478-819CA745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9A3F16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D5C51348-7A09-47C6-8B69-6F25DB47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3F1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B4BEB9E-6A44-4D3A-9B9C-D60A385E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964BF7C-0E68-452A-B679-873A01F9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工业 AI 应先在历史回放和影子模式中验证</a:t>
            </a:r>
          </a:p>
        </p:txBody>
      </p:sp>
    </p:spTree>
    <p:extLst>
      <p:ext uri="{BB962C8B-B14F-4D97-AF65-F5344CB8AC3E}">
        <p14:creationId xmlns:p14="http://schemas.microsoft.com/office/powerpoint/2010/main" val="4573463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C1B5934D-5337-404B-A2D1-913F7350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C1C76574-A6E9-47CF-A8C9-76E909B8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A8C27F35-81E5-4F37-9F4E-A14E395A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制造、能源与供应链：依据、边界与延伸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367A7C70-2B61-407F-BBE9-4C95C509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E69C137D-C324-41BD-B939-1791BEB7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IN-005 · IN-005-S13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AD4DC202-74DA-4E16-A141-FCA3CEBF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9A3F16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43D5652-8C1F-4630-9C2F-F6F813A5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ISO 55001:2024：资产管理体系要求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D744F6F4-1C4E-490A-9CBF-B02717C3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ISO 50001:2018：能源管理体系要求与使用指南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05A2DE05-C591-4351-9A09-4D4EA569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ISA/IEC 62443 系列：工业自动化和控制系统网络安全标准族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2DC65E9A-6AFF-4ADB-9D90-7EE001D2E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ISO 28000:2022：包括供应链相关要求在内的安全管理体系标准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283B4B29-9E96-4BC4-B604-53E8CCFD7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5AF5857A-79F8-4650-9743-572CE7EFA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2478120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2026-07-12T03:32:07.3600000Z</dcterms:created>
  <dcterms:modified xsi:type="dcterms:W3CDTF">2026-07-12T03:32:07.3600000Z</dcterms:modified>
</coreProperties>
</file>