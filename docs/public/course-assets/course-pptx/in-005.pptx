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ab193ac5af7423d" /><Relationship Type="http://schemas.openxmlformats.org/officeDocument/2006/relationships/extended-properties" Target="/docProps/app.xml" Id="R1da033e673a74e90" /><Relationship Type="http://schemas.openxmlformats.org/officeDocument/2006/relationships/officeDocument" Target="/ppt/presentation.xml" Id="Rca0731d1de974cf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40ca4c2428b4e93"/>
  </p:sldMasterIdLst>
  <p:notesMasterIdLst>
    <p:notesMasterId xmlns:r="http://schemas.openxmlformats.org/officeDocument/2006/relationships" r:id="R58f685e920234c09"/>
  </p:notesMasterIdLst>
  <p:sldIdLst>
    <p:sldId xmlns:r="http://schemas.openxmlformats.org/officeDocument/2006/relationships" id="256" r:id="R07f90f0113ba444e"/>
    <p:sldId xmlns:r="http://schemas.openxmlformats.org/officeDocument/2006/relationships" id="257" r:id="R65f2f311b8044b52"/>
    <p:sldId xmlns:r="http://schemas.openxmlformats.org/officeDocument/2006/relationships" id="258" r:id="Rfe125698198b4d57"/>
    <p:sldId xmlns:r="http://schemas.openxmlformats.org/officeDocument/2006/relationships" id="259" r:id="R0c47c63c83da430c"/>
    <p:sldId xmlns:r="http://schemas.openxmlformats.org/officeDocument/2006/relationships" id="260" r:id="Rc1b07e03f972457f"/>
    <p:sldId xmlns:r="http://schemas.openxmlformats.org/officeDocument/2006/relationships" id="261" r:id="R25b9129847034fde"/>
    <p:sldId xmlns:r="http://schemas.openxmlformats.org/officeDocument/2006/relationships" id="262" r:id="Re94f421dd5074239"/>
    <p:sldId xmlns:r="http://schemas.openxmlformats.org/officeDocument/2006/relationships" id="263" r:id="Rb94fdd54cc2f4576"/>
    <p:sldId xmlns:r="http://schemas.openxmlformats.org/officeDocument/2006/relationships" id="264" r:id="R5b3a2e52eb024e70"/>
    <p:sldId xmlns:r="http://schemas.openxmlformats.org/officeDocument/2006/relationships" id="265" r:id="R2e677ca8e22d4ee9"/>
    <p:sldId xmlns:r="http://schemas.openxmlformats.org/officeDocument/2006/relationships" id="266" r:id="R2398cdd98bb542ff"/>
    <p:sldId xmlns:r="http://schemas.openxmlformats.org/officeDocument/2006/relationships" id="267" r:id="R9f7318af455542d0"/>
    <p:sldId xmlns:r="http://schemas.openxmlformats.org/officeDocument/2006/relationships" id="268" r:id="Rbda3da48bc834d8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8d383762fe147e1" /><Relationship Type="http://schemas.openxmlformats.org/officeDocument/2006/relationships/slideMaster" Target="/ppt/slideMasters/slideMaster1.xml" Id="R940ca4c2428b4e93" /><Relationship Type="http://schemas.openxmlformats.org/officeDocument/2006/relationships/notesMaster" Target="/ppt/notesMasters/notesMaster1.xml" Id="R58f685e920234c09" /><Relationship Type="http://schemas.openxmlformats.org/officeDocument/2006/relationships/presProps" Target="/ppt/presProps.xml" Id="R1c176daa4ed9461e" /><Relationship Type="http://schemas.openxmlformats.org/officeDocument/2006/relationships/tableStyles" Target="/ppt/tableStyles.xml" Id="R08a66b497d9044d9" /><Relationship Type="http://schemas.openxmlformats.org/officeDocument/2006/relationships/slide" Target="/ppt/slides/slide1.xml" Id="R07f90f0113ba444e" /><Relationship Type="http://schemas.openxmlformats.org/officeDocument/2006/relationships/slide" Target="/ppt/slides/slide2.xml" Id="R65f2f311b8044b52" /><Relationship Type="http://schemas.openxmlformats.org/officeDocument/2006/relationships/slide" Target="/ppt/slides/slide3.xml" Id="Rfe125698198b4d57" /><Relationship Type="http://schemas.openxmlformats.org/officeDocument/2006/relationships/slide" Target="/ppt/slides/slide4.xml" Id="R0c47c63c83da430c" /><Relationship Type="http://schemas.openxmlformats.org/officeDocument/2006/relationships/slide" Target="/ppt/slides/slide5.xml" Id="Rc1b07e03f972457f" /><Relationship Type="http://schemas.openxmlformats.org/officeDocument/2006/relationships/slide" Target="/ppt/slides/slide6.xml" Id="R25b9129847034fde" /><Relationship Type="http://schemas.openxmlformats.org/officeDocument/2006/relationships/slide" Target="/ppt/slides/slide7.xml" Id="Re94f421dd5074239" /><Relationship Type="http://schemas.openxmlformats.org/officeDocument/2006/relationships/slide" Target="/ppt/slides/slide8.xml" Id="Rb94fdd54cc2f4576" /><Relationship Type="http://schemas.openxmlformats.org/officeDocument/2006/relationships/slide" Target="/ppt/slides/slide9.xml" Id="R5b3a2e52eb024e70" /><Relationship Type="http://schemas.openxmlformats.org/officeDocument/2006/relationships/slide" Target="/ppt/slides/slide10.xml" Id="R2e677ca8e22d4ee9" /><Relationship Type="http://schemas.openxmlformats.org/officeDocument/2006/relationships/slide" Target="/ppt/slides/slide11.xml" Id="R2398cdd98bb542ff" /><Relationship Type="http://schemas.openxmlformats.org/officeDocument/2006/relationships/slide" Target="/ppt/slides/slide12.xml" Id="R9f7318af455542d0" /><Relationship Type="http://schemas.openxmlformats.org/officeDocument/2006/relationships/slide" Target="/ppt/slides/slide13.xml" Id="Rbda3da48bc834d8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197248d13904dc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a504e2868194b6b" /><Relationship Type="http://schemas.openxmlformats.org/officeDocument/2006/relationships/notesMaster" Target="/ppt/notesMasters/notesMaster1.xml" Id="R9b8e157052c04e1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869a24cd8df466c" /><Relationship Type="http://schemas.openxmlformats.org/officeDocument/2006/relationships/notesMaster" Target="/ppt/notesMasters/notesMaster1.xml" Id="R485fd87f9ccd434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6b63adfe25d4ccd" /><Relationship Type="http://schemas.openxmlformats.org/officeDocument/2006/relationships/notesMaster" Target="/ppt/notesMasters/notesMaster1.xml" Id="R1656a41d1ce5475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58e48aadce64fbc" /><Relationship Type="http://schemas.openxmlformats.org/officeDocument/2006/relationships/notesMaster" Target="/ppt/notesMasters/notesMaster1.xml" Id="Re3e636f78a5849c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789db6818e14916" /><Relationship Type="http://schemas.openxmlformats.org/officeDocument/2006/relationships/notesMaster" Target="/ppt/notesMasters/notesMaster1.xml" Id="R28be52594b804eb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b21b608e3e74f69" /><Relationship Type="http://schemas.openxmlformats.org/officeDocument/2006/relationships/notesMaster" Target="/ppt/notesMasters/notesMaster1.xml" Id="Rd37bc23058794a6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32911187a924c7c" /><Relationship Type="http://schemas.openxmlformats.org/officeDocument/2006/relationships/notesMaster" Target="/ppt/notesMasters/notesMaster1.xml" Id="R04dbf63384b04e8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1d7aff31a934134" /><Relationship Type="http://schemas.openxmlformats.org/officeDocument/2006/relationships/notesMaster" Target="/ppt/notesMasters/notesMaster1.xml" Id="R4ef14cb62d3a4ed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32e931da9434cff" /><Relationship Type="http://schemas.openxmlformats.org/officeDocument/2006/relationships/notesMaster" Target="/ppt/notesMasters/notesMaster1.xml" Id="R6f763395b0344e4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7411d253bbe42ca" /><Relationship Type="http://schemas.openxmlformats.org/officeDocument/2006/relationships/notesMaster" Target="/ppt/notesMasters/notesMaster1.xml" Id="Rf2e56cf9310f4ef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1e4edfc660041b3" /><Relationship Type="http://schemas.openxmlformats.org/officeDocument/2006/relationships/notesMaster" Target="/ppt/notesMasters/notesMaster1.xml" Id="R56c43cc9280e4fc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ab220801e8941af" /><Relationship Type="http://schemas.openxmlformats.org/officeDocument/2006/relationships/notesMaster" Target="/ppt/notesMasters/notesMaster1.xml" Id="R58ad97c7482a4aa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bb8b7b227fe4e9f" /><Relationship Type="http://schemas.openxmlformats.org/officeDocument/2006/relationships/notesMaster" Target="/ppt/notesMasters/notesMaster1.xml" Id="Rb793c3e656c1438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424bc4a1c946f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2a7dbfd32f449f3" /><Relationship Type="http://schemas.openxmlformats.org/officeDocument/2006/relationships/slideLayout" Target="/ppt/slideLayouts/slideLayout1.xml" Id="Rce44f1676c80414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e44f1676c80414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888f52f5a341ce" /><Relationship Type="http://schemas.openxmlformats.org/officeDocument/2006/relationships/notesSlide" Target="/ppt/notesSlides/notesSlide1.xml" Id="R61ebc6c687a747b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fdb50dd1004582" /><Relationship Type="http://schemas.openxmlformats.org/officeDocument/2006/relationships/notesSlide" Target="/ppt/notesSlides/notesSlide2.xml" Id="R5022cb191331470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b97131d14e4983" /><Relationship Type="http://schemas.openxmlformats.org/officeDocument/2006/relationships/notesSlide" Target="/ppt/notesSlides/notesSlide3.xml" Id="R0206a2a743924c8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35c45ce1b0419e" /><Relationship Type="http://schemas.openxmlformats.org/officeDocument/2006/relationships/notesSlide" Target="/ppt/notesSlides/notesSlide4.xml" Id="Rb34810c9df43447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be3897c52344e2" /><Relationship Type="http://schemas.openxmlformats.org/officeDocument/2006/relationships/notesSlide" Target="/ppt/notesSlides/notesSlide5.xml" Id="R8c547ca183f540d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1e27d1b8474d15" /><Relationship Type="http://schemas.openxmlformats.org/officeDocument/2006/relationships/notesSlide" Target="/ppt/notesSlides/notesSlide6.xml" Id="Re8af8e1300d444a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3b800342cc4cb1" /><Relationship Type="http://schemas.openxmlformats.org/officeDocument/2006/relationships/notesSlide" Target="/ppt/notesSlides/notesSlide7.xml" Id="R79fddfd07e944a7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4114501b2849af" /><Relationship Type="http://schemas.openxmlformats.org/officeDocument/2006/relationships/notesSlide" Target="/ppt/notesSlides/notesSlide8.xml" Id="Rb8aa38f0eaa7453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3ca3214a784b28" /><Relationship Type="http://schemas.openxmlformats.org/officeDocument/2006/relationships/notesSlide" Target="/ppt/notesSlides/notesSlide9.xml" Id="Rd4d98254435e44c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90732dd4c046ff" /><Relationship Type="http://schemas.openxmlformats.org/officeDocument/2006/relationships/notesSlide" Target="/ppt/notesSlides/notesSlide10.xml" Id="R93066378419f45f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23d8199f2443eb" /><Relationship Type="http://schemas.openxmlformats.org/officeDocument/2006/relationships/notesSlide" Target="/ppt/notesSlides/notesSlide11.xml" Id="R6efdad04f5524e9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6cb81b459a441d" /><Relationship Type="http://schemas.openxmlformats.org/officeDocument/2006/relationships/notesSlide" Target="/ppt/notesSlides/notesSlide12.xml" Id="R283cdffbd8c840b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5e37d57fce4854" /><Relationship Type="http://schemas.openxmlformats.org/officeDocument/2006/relationships/notesSlide" Target="/ppt/notesSlides/notesSlide13.xml" Id="Rd7500f74aba0447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A7CEDAAD-D089-4BC3-8251-8F808CB3F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700A9D12-BFE4-4508-8611-56B19DF6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102D41E6-E952-4D71-A270-D46D33202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4918273C-68C2-4B40-9947-FF6117823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0F88A1E7-33F3-4074-8EC5-13E69B61E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4E43F6D1-0B5D-45E7-99F5-E36420C63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14699BC1-201F-4710-8A71-ED2D0B690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第 4 章 · 行业应用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69C5936F-0369-4B54-98A2-E87B17368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制造、能源与供应链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15C655AE-C437-44D5-8790-225E6F907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从工业数据、设备运行、生产质量、能源管理和供应链协同理解行业 AI 的闭环价值。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601167B1-6C62-4682-966E-06C726518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917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制造、能源与供应链连接着设备、人员、物料和连续运行的物理过程。这里的 AI 不能只在离线测试中“准确”，还要在不同工况、季节、班次和设备状态下稳定工作…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ECF72523-4FAD-43D2-A890-C29CE7103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81B61E57-3B6A-4639-8227-97784585C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IN-005 · IN-005-S01</a:t>
            </a:r>
          </a:p>
        </p:txBody>
      </p:sp>
    </p:spTree>
    <p:extLst>
      <p:ext uri="{BB962C8B-B14F-4D97-AF65-F5344CB8AC3E}">
        <p14:creationId xmlns:p14="http://schemas.microsoft.com/office/powerpoint/2010/main" val="1498253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9B5DC17F-E221-4AF0-A55D-F9DAC4F08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170B727D-7675-49E0-9FF2-4429E67A4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4422ED7F-35AD-4393-9651-8BDEACBAB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学完这一节，你能完成这些判断与行动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F5C37E87-ED00-449F-B4BF-18BF6C828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07161CC4-C402-46CF-9F2F-1190BF8A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46EBE14A-E973-429E-956D-B77A91540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画出工业 AI 从数据采集、诊断预测、决策审批到执行反馈的闭环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73E41582-88E0-4369-81F2-75EA43CAA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分别为设备运维、质量检测、能源管理和供应风险选择业务指标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A464A0C6-DB97-4BDB-BD6A-90379B66F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识别误报、漏报、数据漂移、控制越权和网络安全风险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5435249A-AFDB-4CD7-88D3-A7C8C06D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设计影子运行、权限隔离、联锁、回退和变更管理等安全措施</a:t>
            </a:r>
          </a:p>
        </p:txBody>
      </p:sp>
    </p:spTree>
    <p:extLst>
      <p:ext uri="{BB962C8B-B14F-4D97-AF65-F5344CB8AC3E}">
        <p14:creationId xmlns:p14="http://schemas.microsoft.com/office/powerpoint/2010/main" val="6185201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3F6569B0-A556-407D-A8C7-18BB81B30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0EA1CBBC-3968-4292-9272-79E26458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9F595A2C-7293-48AE-A399-F34168409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先统一对象、时间和工况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4A87B24A-36E0-477D-8749-6ACBAC0DF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C8469AC9-02FD-44A0-9424-1551B20EF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717E0E3E-149E-4E71-982B-7F357798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6B414C93-A43C-4847-A55D-7BBC2B57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先统一对象、时间和工况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157F712D-C47F-457D-AAFA-8E21477D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工业数据可能来自传感器、控制系统、生产执行系统、质量记录、工单、库存和外部市场。开始建模前，要统一设备与物料编码、计量单位、采样时间、时区、批次和工况。更换传感器…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F1DE5B5C-F20B-4435-BD3D-7738275C7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61CE8C03-2D6D-4C8F-A5D7-92746947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数据质量不仅是缺失值问题。时间不同步会让因果顺序颠倒，人工录入可能使用不同术语，故障标签可能只记录“已维修”而没有根因。团队应保存原始数据、清洗规则和变更记录，并让现场专家参与解释异常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99D8108A-1A4A-4226-8B6C-2E95D814C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82AD5C86-9B4C-4151-AE5F-C96BA1432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先统一对象、时间和工况</a:t>
            </a:r>
          </a:p>
        </p:txBody>
      </p:sp>
    </p:spTree>
    <p:extLst>
      <p:ext uri="{BB962C8B-B14F-4D97-AF65-F5344CB8AC3E}">
        <p14:creationId xmlns:p14="http://schemas.microsoft.com/office/powerpoint/2010/main" val="17792894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3FF61CEA-DBF2-436B-9C36-15BA51858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73DED7AE-8827-47A6-B370-B87687D4E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D880C2D4-DF21-4FBA-ACE1-5C42AC75A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6449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预测性维护可结合振动、温度、电流、润滑、巡检和历史工单发现早期异常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347B31EC-9987-4AF0-8A2F-2828DDD81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1751D579-D51D-4ABA-B84A-0DB68FF15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BF5B75B-10CB-45FD-B8B2-13EDEEF03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B40EF00-F9F7-4C7E-8207-6136D97DF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设备运维：从异常分数到可执行工单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DCCD2889-B257-4ABB-8D81-E638BDFE6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预测性维护可结合振动、温度、电流、润滑、巡检和历史工单发现早期异常。模型输出不应只有一个故障概率，还要给出相关信号、变化时间、相似事件、影响设备和不确定性。大模型可以检索说明书与检修规程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E9D51325-3232-488A-882C-F52E90118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52ABCBE-0646-46EF-9601-A7695896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维护决策还受生产计划、备件、人员资质和停机窗口约束。更完整的输出是“证据—可能原因—建议检查—所需资源—允许时间窗”，由有权限的工程师确认后生成工单。维修结果、拆检发现和误报警原因应回写…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09008D7E-60AC-4A8F-9BDC-9FC6B5DE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4D4D34BE-4EA6-4C88-976B-82F27D18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预测性维护可结合振动、温度、电流、润滑、巡检和历史工单发现早期异常</a:t>
            </a:r>
          </a:p>
        </p:txBody>
      </p:sp>
    </p:spTree>
    <p:extLst>
      <p:ext uri="{BB962C8B-B14F-4D97-AF65-F5344CB8AC3E}">
        <p14:creationId xmlns:p14="http://schemas.microsoft.com/office/powerpoint/2010/main" val="22753809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F8FD2F57-7CFE-46E2-9D71-CD3CCCBE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E73B6ED8-5602-42C9-8DA8-77A423167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5C873776-0CCA-4B82-B536-7914684BB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4187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视觉检测、时序检测和过程建模可以辅助发现表面缺陷、尺寸偏差或工艺异常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8BF22021-095D-4FF9-90D3-4994044EA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A2DBE633-470D-4879-A0B5-E344F25C2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9A17C68E-797D-4DCA-804B-1A757F2F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7A31877-4030-45C2-A188-48219DE52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质量闭环：同时管理误报与漏报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CE191C1F-4C7B-4484-94D0-13BFBE15D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视觉检测、时序检测和过程建模可以辅助发现表面缺陷、尺寸偏差或工艺异常。上线前要按产品型号、光照、设备、班次和缺陷类型分层评测，避免总体指标掩盖少见但严重的缺陷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F6B443AD-3FE5-4556-B84D-506149BC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23F9F72E-A024-4AA6-8E55-CEE47B91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误报会增加复检、停线和报废成本，漏报可能使不合格品流向下游。阈值不能只由算法团队追求最高平均分，而应根据后果与后续检查能力共同设定。模型标记、人工复检、处置结果和客户反馈要能追到同一批次…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C946762B-554C-451F-A4C2-216AE0D49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EBE70AD6-FBD7-43B6-B393-EF527ECE2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视觉检测、时序检测和过程建模可以辅助发现表面缺陷、尺寸偏差或工艺异常</a:t>
            </a:r>
          </a:p>
        </p:txBody>
      </p:sp>
    </p:spTree>
    <p:extLst>
      <p:ext uri="{BB962C8B-B14F-4D97-AF65-F5344CB8AC3E}">
        <p14:creationId xmlns:p14="http://schemas.microsoft.com/office/powerpoint/2010/main" val="79987843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88590842-AE6E-423F-AAA9-E037FF6B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4DC95F47-C46B-4D30-9357-E6D8F1322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30EB6E9A-B981-4C64-B734-A45A3EFE2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能源场景需要理解源、网、荷、储之间的关系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9E525703-5433-4AAD-BB90-7251D1ABF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D61C818D-0ACB-49BA-886E-692A17FF4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FFD54BE-0D82-4D8B-B274-3BB95DDFF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7779767-91BC-411C-A5AC-FCA3A957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能源管理：预测服务于约束优化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3E07F126-C65D-44BC-B5E5-801043E5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能源场景需要理解源、网、荷、储之间的关系。负荷和发电预测可为排程、储能和需求响应提供输入，设备模型可发现异常能耗，大模型可帮助检索运行规程和解释告警。但真正的调度方案还要满足容量、温度、寿命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A703BACB-6C56-4231-9D49-B02F15CEF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1351616-0850-4E5F-8B4D-43FD016A0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评价不能只看预测误差，还要看建议是否可执行、是否造成峰值转移、是否影响产品质量，以及异常时能否退回既有控制策略。能源基线应说明产量、气候、工况和统计周期；否则…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3B7096FC-0320-47C8-B908-ACAA3E467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46A242FB-134B-43C7-A04C-4D25BAC57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能源场景需要理解源、网、荷、储之间的关系</a:t>
            </a:r>
          </a:p>
        </p:txBody>
      </p:sp>
    </p:spTree>
    <p:extLst>
      <p:ext uri="{BB962C8B-B14F-4D97-AF65-F5344CB8AC3E}">
        <p14:creationId xmlns:p14="http://schemas.microsoft.com/office/powerpoint/2010/main" val="91038645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863CC7FB-5B1B-4719-9C0F-B7F6F550C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38DFE017-6275-48CE-BAA1-10BB37BB3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337A6458-5D86-41E4-91D2-15576A695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辅助需求预测、缺料预警与方案比较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BC3222CF-F6BA-49AE-B67E-108A023B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C1C6ED32-7C3D-40AC-BC98-777D35900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4FA86E6-041E-4252-B26F-1207472A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B2E6391-F9A8-47B9-B8C4-2758EC95F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供应链：识别风险而非制造确定性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7B610476-0242-417C-882C-87348BD1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供应链模型可综合订单、库存、交付周期、物流事件、供应商状态和外部公开信息，辅助需求预测、缺料预警与方案比较。输出应说明关键假设、数据新鲜度、影响范围和替代方案，而不是给出一个看似确定的单点预测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D732BC9-1025-4AFC-A655-50211778D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A653C33-BCB5-4C25-8FF9-02F41AE03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局部最优尤其危险。提高设备利用率可能积压在制品，压低库存可能放大中断风险，选择最低报价也可能增加质量与交付风险。决策应同时检查产能、库存、现金、质量、合规和单一来源依赖，并由采购、生产…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FCA3A485-18ED-4073-80EF-72DDAB54C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8D8BC919-BF30-486A-8480-05A53DD35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辅助需求预测、缺料预警与方案比较</a:t>
            </a:r>
          </a:p>
        </p:txBody>
      </p:sp>
    </p:spTree>
    <p:extLst>
      <p:ext uri="{BB962C8B-B14F-4D97-AF65-F5344CB8AC3E}">
        <p14:creationId xmlns:p14="http://schemas.microsoft.com/office/powerpoint/2010/main" val="110175678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92F18590-44F1-4AE9-A836-8BD854F5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07712D6A-FEFB-4991-82D3-EF1E9689F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7EF32C5D-EEC6-4977-93ED-ABDA13E2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工业 AI 应先在历史回放和影子模式中验证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1807D3C2-CDC0-44D5-967A-CFE8A792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3E3C223A-0E83-414B-BF90-EA76B8D35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AECB17C3-404E-4847-9B63-D6FDB432E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ECA4EE3-4427-4A0D-83DB-E787AA5F0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安全控制：模型不得绕过保护层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15069880-3A99-4A09-A168-A3439FB83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2156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工业 AI 应先在历史回放和影子模式中验证，只提供建议而不直接控制设备。进入半自动或自动执行前，需要风险分析、授权审批和变更管理。模型服务与控制网络应按安全要求隔离，指令需经过范围、速率…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14CC4B7-153B-4AF1-B8DF-859E81A76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AFB6A39-40A4-4B70-8654-E7747FCA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系统还要具备人工接管、已验证的回退策略、完整日志和定期演练。模型不可用、数据中断、时间漂移、异常置信度或网络攻击都可能触发降级。任何涉及安全仪表、保护装置和法定运行边界的功能…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6351A6E5-C859-40BD-9660-CC97DA26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6263F540-F249-4509-BE5A-A9C7702BB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工业 AI 应先在历史回放和影子模式中验证</a:t>
            </a:r>
          </a:p>
        </p:txBody>
      </p:sp>
    </p:spTree>
    <p:extLst>
      <p:ext uri="{BB962C8B-B14F-4D97-AF65-F5344CB8AC3E}">
        <p14:creationId xmlns:p14="http://schemas.microsoft.com/office/powerpoint/2010/main" val="119308173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A686DCD7-D96D-4A0C-8601-76BCAC6F2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3315BCF0-4364-40E3-974E-FEAA8C34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FF165910-CF94-4335-8C5E-C67A21A31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关键设备异常到维修闭环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3A34F9DF-0F03-4C80-A36E-A611A623D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CCA6F89F-A3CD-442C-98F2-F8AD32033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5B62C353-0544-419E-B08D-337F4CCBF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关键设备异常到维修闭环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DAEB510E-3249-49CC-9F58-60DCB8C66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发现｜时序模型在特定工况下发现振动与温度组合偏离历史范围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A5E30AED-6E3C-402F-9A00-D0BE00072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核验｜系统展示相关传感器、数据质量和相似工单；工程师现场复测，并核对检修规程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F34AB2A4-6CE1-402F-AD54-FD64A8803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处置｜结合生产窗口、备件和风险等级决定继续监测、降载或检修，授权人批准后执行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64A91400-A09C-4BD9-9FAB-DA3932556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反馈｜拆检结论与处置结果回写，用来区分真实预警、传感器问题和工况变化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AEECB117-1B31-442E-BFAE-3229EFBA1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EC26672C-748F-48FF-B94A-87CE6FA9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关键设备异常到维修闭环</a:t>
            </a:r>
          </a:p>
        </p:txBody>
      </p:sp>
    </p:spTree>
    <p:extLst>
      <p:ext uri="{BB962C8B-B14F-4D97-AF65-F5344CB8AC3E}">
        <p14:creationId xmlns:p14="http://schemas.microsoft.com/office/powerpoint/2010/main" val="73479441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ED6B67CD-BD3D-4184-A31C-974CC3C89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CC7FADBF-58CD-4D0A-9A9B-565F7ECE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D0350DA3-7CE8-4384-81ED-DBF57B068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4097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生产、能源和采购负责人比较方案，不让单一成本指标自动决定排程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A02121E4-3780-425E-B0CC-8BB1442DC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0971714A-4420-4215-9ADE-CED082B5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ABF50264-2C99-4FEC-971F-8FED3A081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能耗与供应风险联合决策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2FBD8F9E-A0A8-4265-BECD-E52260AC7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288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问题｜生产计划既受分时能源成本影响，又面临某种物料交付不确定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7C96B4D4-0AF0-455A-A8A1-133033587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147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验证｜验收“能耗与供应风险联合决策”时，要同时记录适用场景、证据来源、失败条件与人工责任</a:t>
            </a:r>
          </a:p>
        </p:txBody>
      </p:sp>
      <p:sp>
        <p:nvSpPr>
          <p:cNvPr id="9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30E42AF1-2DDD-4779-B05D-4D5D91259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0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0C55D031-D44B-40B3-873F-66C3D1B9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生产、能源和采购负责人比较方案，不让单一成本指标自动决定排程</a:t>
            </a:r>
          </a:p>
        </p:txBody>
      </p:sp>
    </p:spTree>
    <p:extLst>
      <p:ext uri="{BB962C8B-B14F-4D97-AF65-F5344CB8AC3E}">
        <p14:creationId xmlns:p14="http://schemas.microsoft.com/office/powerpoint/2010/main" val="201011208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4167331C-52C0-48AD-A27F-058AAE935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3DADA25A-C919-4BF0-A201-5694D44E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12454E23-7981-4D4C-BEE3-1B9E06970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把方法落实为可验证的行动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D15874E7-92A1-48CB-A878-EEE309EF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D972A12F-1E1C-469A-AA62-8FC979D57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33218486-F2D7-4685-A6E1-86B437805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0928E0D3-2649-4394-835B-1D0C5BECF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208F58EC-1018-4421-B6FB-4EB2FB07C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选择一台设备、一条质量检查或一个供应风险任务，画出“数据—模型—建议—审批—执行—反馈”六个节点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B66551D9-F955-493B-AD20-4A4B180DA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74C17F0E-F90C-4873-92C9-E3A65553B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484364A7-46AF-4A2A-86BE-EE3A0E2E8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D61359FD-2843-41E5-B27A-CDD40B491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为每个节点填写责任人、输入证据、允许动作和失败回退，并列出两种误报后果、两种漏报后果、一个数据漂移信号和一个网络安全威胁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E875D2FF-29B7-4352-9C20-91E64F7BD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C8408E3E-2E71-4FF2-9931-F753E6FD6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C9505150-0774-498C-9C9A-E509E89F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1C556B4B-86FF-49A7-A953-DDE2A413A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设计影子运行评测，规定何时保持建议模式、何时可以扩大试点、何时必须立即停用</a:t>
            </a:r>
          </a:p>
        </p:txBody>
      </p:sp>
    </p:spTree>
    <p:extLst>
      <p:ext uri="{BB962C8B-B14F-4D97-AF65-F5344CB8AC3E}">
        <p14:creationId xmlns:p14="http://schemas.microsoft.com/office/powerpoint/2010/main" val="136407090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C91E32E5-4EC9-436C-86CA-1CDCEE0E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2745FAFA-EEE0-440D-A27F-0B3BCB6A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56C7AA6A-95E1-4851-9923-8B1F969F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带走三条可复用的判断原则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D2E9602E-1E3A-4833-B1CF-CAF39946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A5098228-6D00-42E3-A36C-1C876D4B0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9FA05AFE-0DC6-4E6F-B1CB-42C8C37D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B3FD3C19-787C-434E-B233-33915A8C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CDF350FD-898B-4767-9F41-2E0F6B03C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先统一对象、时间和工况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B7C556EA-DCC1-4E1D-A166-35AEBF6C9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3A74EAE8-A94B-40E9-A650-F77C5CA49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03121A63-3667-451B-927E-C22D7DA3F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7BBFD77D-B4E9-4B35-BC23-A0522336A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视觉检测、时序检测和过程建模可以辅助发现表面缺陷、尺寸偏差或工艺异常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C64E02FF-A9C9-4050-B606-57606CD37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DC2C2CFF-6A55-4AAD-B192-00967881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635142B2-4306-4583-B9AC-7EE102DB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C67C9F92-A382-4943-9FEC-8C4B6D389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工业 AI 应先在历史回放和影子模式中验证</a:t>
            </a:r>
          </a:p>
        </p:txBody>
      </p:sp>
    </p:spTree>
    <p:extLst>
      <p:ext uri="{BB962C8B-B14F-4D97-AF65-F5344CB8AC3E}">
        <p14:creationId xmlns:p14="http://schemas.microsoft.com/office/powerpoint/2010/main" val="71581429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34573B0A-5DCD-4CE1-B051-E3E305838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EA813FF2-A9E8-476D-9547-09827076E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F706DA24-2FE9-4375-A5C2-54357796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从公开重制课件回到可核对的学习资料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A8F18C9A-2191-425A-A2ED-261034E3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397DBC9E-59F8-4513-9A34-875EFFFDD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83432E0C-1F7B-424B-87AE-698E9256D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BF36F758-36B3-426E-A35C-8F69DCBBB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ISO 55001:2024：资产管理体系要求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552E5870-51A6-48B0-8BDB-E8FE1691B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ISO 50001:2018：能源管理体系要求与使用指南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C6011D18-2D48-411F-AEA1-5192C2EF0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ISA/IEC 62443 系列：工业自动化和控制系统网络安全标准族</a:t>
            </a:r>
          </a:p>
        </p:txBody>
      </p:sp>
      <p:sp>
        <p:nvSpPr>
          <p:cNvPr id="10" name="source-4">
            <a:extLst xmlns:a="http://schemas.openxmlformats.org/drawingml/2006/main">
              <a:ext uri="{FF2B5EF4-FFF2-40B4-BE49-F238E27FC236}">
                <a16:creationId xmlns:a16="http://schemas.microsoft.com/office/drawing/2014/main" id="{3224B091-6F1C-4557-BBBF-9D7692D3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05  ISO 28000:2022：包括供应链相关要求在内的安全管理体系标准</a:t>
            </a:r>
          </a:p>
        </p:txBody>
      </p:sp>
      <p:sp>
        <p:nvSpPr>
          <p:cNvPr id="11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80CB9F4D-FF33-4140-9415-EEC161052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B10931F2-DBAA-44CC-9C53-7EC6F9D17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5388440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2026-07-11T12:05:43.8220000Z</dcterms:created>
  <dcterms:modified xsi:type="dcterms:W3CDTF">2026-07-11T12:05:43.8220000Z</dcterms:modified>
</coreProperties>
</file>