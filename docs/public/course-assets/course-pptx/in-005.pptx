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63fb2d24074621" /><Relationship Type="http://schemas.openxmlformats.org/officeDocument/2006/relationships/extended-properties" Target="/docProps/app.xml" Id="Rb0faf7a603e6462c" /><Relationship Type="http://schemas.openxmlformats.org/officeDocument/2006/relationships/officeDocument" Target="/ppt/presentation.xml" Id="R9808b2ef134a42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6488958b0e4d96"/>
  </p:sldMasterIdLst>
  <p:notesMasterIdLst>
    <p:notesMasterId xmlns:r="http://schemas.openxmlformats.org/officeDocument/2006/relationships" r:id="R84ba646496c644db"/>
  </p:notesMasterIdLst>
  <p:sldIdLst>
    <p:sldId xmlns:r="http://schemas.openxmlformats.org/officeDocument/2006/relationships" id="256" r:id="R8e8e3d79d80f44c6"/>
    <p:sldId xmlns:r="http://schemas.openxmlformats.org/officeDocument/2006/relationships" id="257" r:id="R4daf6b8c833441ab"/>
    <p:sldId xmlns:r="http://schemas.openxmlformats.org/officeDocument/2006/relationships" id="258" r:id="Rff85cfa6d792403d"/>
    <p:sldId xmlns:r="http://schemas.openxmlformats.org/officeDocument/2006/relationships" id="259" r:id="R0289da218a3149cd"/>
    <p:sldId xmlns:r="http://schemas.openxmlformats.org/officeDocument/2006/relationships" id="260" r:id="R38d69c867a24490a"/>
    <p:sldId xmlns:r="http://schemas.openxmlformats.org/officeDocument/2006/relationships" id="261" r:id="Rfe56158c0304475a"/>
    <p:sldId xmlns:r="http://schemas.openxmlformats.org/officeDocument/2006/relationships" id="262" r:id="R5dfb12e1af1645ce"/>
    <p:sldId xmlns:r="http://schemas.openxmlformats.org/officeDocument/2006/relationships" id="263" r:id="Rcac9e09e3dc24d5d"/>
    <p:sldId xmlns:r="http://schemas.openxmlformats.org/officeDocument/2006/relationships" id="264" r:id="Rfe248d06e3f94e6e"/>
    <p:sldId xmlns:r="http://schemas.openxmlformats.org/officeDocument/2006/relationships" id="265" r:id="R9d04521a2099478f"/>
    <p:sldId xmlns:r="http://schemas.openxmlformats.org/officeDocument/2006/relationships" id="266" r:id="Reed24acf9c6d49ed"/>
    <p:sldId xmlns:r="http://schemas.openxmlformats.org/officeDocument/2006/relationships" id="267" r:id="R0d0766251cca4ddc"/>
    <p:sldId xmlns:r="http://schemas.openxmlformats.org/officeDocument/2006/relationships" id="268" r:id="Raf72292459cf43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29897441a44fb5" /><Relationship Type="http://schemas.openxmlformats.org/officeDocument/2006/relationships/slideMaster" Target="/ppt/slideMasters/slideMaster1.xml" Id="Raf6488958b0e4d96" /><Relationship Type="http://schemas.openxmlformats.org/officeDocument/2006/relationships/notesMaster" Target="/ppt/notesMasters/notesMaster1.xml" Id="R84ba646496c644db" /><Relationship Type="http://schemas.openxmlformats.org/officeDocument/2006/relationships/presProps" Target="/ppt/presProps.xml" Id="R731ced9d84f64135" /><Relationship Type="http://schemas.openxmlformats.org/officeDocument/2006/relationships/tableStyles" Target="/ppt/tableStyles.xml" Id="R053950b7b068471d" /><Relationship Type="http://schemas.openxmlformats.org/officeDocument/2006/relationships/slide" Target="/ppt/slides/slide1.xml" Id="R8e8e3d79d80f44c6" /><Relationship Type="http://schemas.openxmlformats.org/officeDocument/2006/relationships/slide" Target="/ppt/slides/slide2.xml" Id="R4daf6b8c833441ab" /><Relationship Type="http://schemas.openxmlformats.org/officeDocument/2006/relationships/slide" Target="/ppt/slides/slide3.xml" Id="Rff85cfa6d792403d" /><Relationship Type="http://schemas.openxmlformats.org/officeDocument/2006/relationships/slide" Target="/ppt/slides/slide4.xml" Id="R0289da218a3149cd" /><Relationship Type="http://schemas.openxmlformats.org/officeDocument/2006/relationships/slide" Target="/ppt/slides/slide5.xml" Id="R38d69c867a24490a" /><Relationship Type="http://schemas.openxmlformats.org/officeDocument/2006/relationships/slide" Target="/ppt/slides/slide6.xml" Id="Rfe56158c0304475a" /><Relationship Type="http://schemas.openxmlformats.org/officeDocument/2006/relationships/slide" Target="/ppt/slides/slide7.xml" Id="R5dfb12e1af1645ce" /><Relationship Type="http://schemas.openxmlformats.org/officeDocument/2006/relationships/slide" Target="/ppt/slides/slide8.xml" Id="Rcac9e09e3dc24d5d" /><Relationship Type="http://schemas.openxmlformats.org/officeDocument/2006/relationships/slide" Target="/ppt/slides/slide9.xml" Id="Rfe248d06e3f94e6e" /><Relationship Type="http://schemas.openxmlformats.org/officeDocument/2006/relationships/slide" Target="/ppt/slides/slide10.xml" Id="R9d04521a2099478f" /><Relationship Type="http://schemas.openxmlformats.org/officeDocument/2006/relationships/slide" Target="/ppt/slides/slide11.xml" Id="Reed24acf9c6d49ed" /><Relationship Type="http://schemas.openxmlformats.org/officeDocument/2006/relationships/slide" Target="/ppt/slides/slide12.xml" Id="R0d0766251cca4ddc" /><Relationship Type="http://schemas.openxmlformats.org/officeDocument/2006/relationships/slide" Target="/ppt/slides/slide13.xml" Id="Raf72292459cf43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25287ece5a4b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82a97efb934005" /><Relationship Type="http://schemas.openxmlformats.org/officeDocument/2006/relationships/notesMaster" Target="/ppt/notesMasters/notesMaster1.xml" Id="R59a45a7fde75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ea9cd10f0245e9" /><Relationship Type="http://schemas.openxmlformats.org/officeDocument/2006/relationships/notesMaster" Target="/ppt/notesMasters/notesMaster1.xml" Id="Ra7e100e3da834f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1511353a4c4454" /><Relationship Type="http://schemas.openxmlformats.org/officeDocument/2006/relationships/notesMaster" Target="/ppt/notesMasters/notesMaster1.xml" Id="R9f1f3c981f974e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cbc6c1d305473e" /><Relationship Type="http://schemas.openxmlformats.org/officeDocument/2006/relationships/notesMaster" Target="/ppt/notesMasters/notesMaster1.xml" Id="R191616e319d64b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4439c109bc4a5d" /><Relationship Type="http://schemas.openxmlformats.org/officeDocument/2006/relationships/notesMaster" Target="/ppt/notesMasters/notesMaster1.xml" Id="Rda057d35c7ba45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ec1000954f4566" /><Relationship Type="http://schemas.openxmlformats.org/officeDocument/2006/relationships/notesMaster" Target="/ppt/notesMasters/notesMaster1.xml" Id="R3d76c31d454d4c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673e0c6db24957" /><Relationship Type="http://schemas.openxmlformats.org/officeDocument/2006/relationships/notesMaster" Target="/ppt/notesMasters/notesMaster1.xml" Id="Rf8d16c71eed849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3fefb7767e48c9" /><Relationship Type="http://schemas.openxmlformats.org/officeDocument/2006/relationships/notesMaster" Target="/ppt/notesMasters/notesMaster1.xml" Id="R97b24e91f1d449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a623857a67433a" /><Relationship Type="http://schemas.openxmlformats.org/officeDocument/2006/relationships/notesMaster" Target="/ppt/notesMasters/notesMaster1.xml" Id="Rbdb209b681d341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2a1e8c2f374315" /><Relationship Type="http://schemas.openxmlformats.org/officeDocument/2006/relationships/notesMaster" Target="/ppt/notesMasters/notesMaster1.xml" Id="Rc5875f432b9a4d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d8d0c22f2c45b5" /><Relationship Type="http://schemas.openxmlformats.org/officeDocument/2006/relationships/notesMaster" Target="/ppt/notesMasters/notesMaster1.xml" Id="Rbf7a842641554f7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1c1747f1884429" /><Relationship Type="http://schemas.openxmlformats.org/officeDocument/2006/relationships/notesMaster" Target="/ppt/notesMasters/notesMaster1.xml" Id="R5bc0acd5d35c417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728398736b4191" /><Relationship Type="http://schemas.openxmlformats.org/officeDocument/2006/relationships/notesMaster" Target="/ppt/notesMasters/notesMaster1.xml" Id="Rad1ccdca5c1a4a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994bf7b8c14d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64ed72d23a4965" /><Relationship Type="http://schemas.openxmlformats.org/officeDocument/2006/relationships/slideLayout" Target="/ppt/slideLayouts/slideLayout1.xml" Id="R9955a75271e74b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55a75271e74b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00e3faead40a7" /><Relationship Type="http://schemas.openxmlformats.org/officeDocument/2006/relationships/notesSlide" Target="/ppt/notesSlides/notesSlide1.xml" Id="R2e3e4b31bbb74b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73c2ab23447ca" /><Relationship Type="http://schemas.openxmlformats.org/officeDocument/2006/relationships/notesSlide" Target="/ppt/notesSlides/notesSlide2.xml" Id="Rd85c752848ae4a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a2b7596834dd6" /><Relationship Type="http://schemas.openxmlformats.org/officeDocument/2006/relationships/notesSlide" Target="/ppt/notesSlides/notesSlide3.xml" Id="R8a5b44255b4441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08111220549be" /><Relationship Type="http://schemas.openxmlformats.org/officeDocument/2006/relationships/notesSlide" Target="/ppt/notesSlides/notesSlide4.xml" Id="R7e8a60629ab64d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43a69dc1e4d85" /><Relationship Type="http://schemas.openxmlformats.org/officeDocument/2006/relationships/notesSlide" Target="/ppt/notesSlides/notesSlide5.xml" Id="R62faff4fb8234c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0be77dfdc4681" /><Relationship Type="http://schemas.openxmlformats.org/officeDocument/2006/relationships/notesSlide" Target="/ppt/notesSlides/notesSlide6.xml" Id="Ra5bb86500c0143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a3c1506b5495d" /><Relationship Type="http://schemas.openxmlformats.org/officeDocument/2006/relationships/notesSlide" Target="/ppt/notesSlides/notesSlide7.xml" Id="R409c804ed4ec49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95ca2d0934000" /><Relationship Type="http://schemas.openxmlformats.org/officeDocument/2006/relationships/notesSlide" Target="/ppt/notesSlides/notesSlide8.xml" Id="R64630bcb4e2949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41297992f446c" /><Relationship Type="http://schemas.openxmlformats.org/officeDocument/2006/relationships/notesSlide" Target="/ppt/notesSlides/notesSlide9.xml" Id="Raeb44e48f2d84b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5687666244969" /><Relationship Type="http://schemas.openxmlformats.org/officeDocument/2006/relationships/notesSlide" Target="/ppt/notesSlides/notesSlide10.xml" Id="R5b7fc41e38c34f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6cbc6f6cb4f32" /><Relationship Type="http://schemas.openxmlformats.org/officeDocument/2006/relationships/notesSlide" Target="/ppt/notesSlides/notesSlide11.xml" Id="Ra324d2ff1d1449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2f7414ab74575" /><Relationship Type="http://schemas.openxmlformats.org/officeDocument/2006/relationships/notesSlide" Target="/ppt/notesSlides/notesSlide12.xml" Id="R6908233f7a1f46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175b12cb5445f" /><Relationship Type="http://schemas.openxmlformats.org/officeDocument/2006/relationships/notesSlide" Target="/ppt/notesSlides/notesSlide13.xml" Id="Rbd0f43a8a60c45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29A38E1-0FE5-4C68-A62E-0F2AF242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79CCCB5-88CF-4580-8803-6B7B4757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3EB23BE3-8005-480A-AC26-925CAB3F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2342169-A4BA-4072-9650-520D2944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B6A7A3CF-6703-4B2E-835A-D59823A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679BB0A4-C766-4E25-8D3D-6A531D22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03798C8-E2A4-41C7-B894-B02F5E59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D9B2226-C047-4D62-8D3A-AA7C646E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F5A9AB-2DE7-45B6-BFF2-DC6D20AE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从工业数据、设备运行、生产质量、能源管理和供应链协同理解行业 AI 的闭环价值。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37D55EE-74A1-4876-9547-EF3E2BE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制造、能源与供应链连接着设备、人员、物料和连续运行的物理过程；这里的 AI 不能只在离线测试中“准确”；还要在不同工况、季节、班次和设备状态下稳定工作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10252AF-E349-48FD-87E0-C7D2EB63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A989D59F-1D2F-4013-BE20-C28FB10F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IN-005 · IN-005-S01</a:t>
            </a:r>
          </a:p>
        </p:txBody>
      </p:sp>
    </p:spTree>
    <p:extLst>
      <p:ext uri="{BB962C8B-B14F-4D97-AF65-F5344CB8AC3E}">
        <p14:creationId xmlns:p14="http://schemas.microsoft.com/office/powerpoint/2010/main" val="15333268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DE6D372-BBF7-4F68-94B3-4FFDA751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43DC7239-D068-42E6-9FE8-E62886D3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E7C9699-E7E0-42E8-BA76-85AFF9AF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91BB1E6-B2FF-42C3-96BA-FE8E0E43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ECF52DE-51E0-493F-8811-F84E6296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C8506332-0C9A-481D-9EE5-35609838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画出工业 AI 从数据采集、诊断预测、决策审批到执行反馈的闭环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E1FEFEA-44CB-44AC-BD59-7A72F650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分别为设备运维、质量检测、能源管理和供应风险选择业务指标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CEC7C50-4932-4E34-A842-8C2AC77B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识别误报、漏报、数据漂移、控制越权和网络安全风险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FD6235EE-1120-481F-9F80-6B731894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设计影子运行、权限隔离、联锁、回退和变更管理等安全措施</a:t>
            </a:r>
          </a:p>
        </p:txBody>
      </p:sp>
    </p:spTree>
    <p:extLst>
      <p:ext uri="{BB962C8B-B14F-4D97-AF65-F5344CB8AC3E}">
        <p14:creationId xmlns:p14="http://schemas.microsoft.com/office/powerpoint/2010/main" val="3413210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FD89BE2-DE29-475C-953F-CB64AD05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34A0568-FB58-40A8-B5E3-AEF94D16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6C5981D2-936A-4498-9BDB-6E5A799A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E2CDFDA-85F6-4629-A026-FF2A73D5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2B00ACAB-C184-4BBC-BBAA-7201303C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4CA8011-E154-41E0-AA52-AFFF1E2A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01800CF-F84A-456B-9C8E-DB4AF3DC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E8ACC27-E525-4331-BD68-354B5A33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工业数据可能来自传感器、控制系统、生产执行系统、质量记录、工单、库存和外部市场；开始建模前，要统一设备与物料编码、计量单位、采样时间、时区、批次和工况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A3AD985-3D70-445B-A981-B0A91A54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2E44275-B173-444A-8114-461E65B6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数据质量不仅是缺失值问题。时间不同步会让因果顺序颠倒，人工录入可能使用不同术语，故障标签可能只记录“已维修”而没有根因。团队应保存原始数据、清洗规则和变更记录，并让现场专家参与解释异常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24C6BF4-02F8-4B87-8CBD-5A66DCFE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2F62C7B9-7EA1-4B62-9A26-81B4BDCE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</p:spTree>
    <p:extLst>
      <p:ext uri="{BB962C8B-B14F-4D97-AF65-F5344CB8AC3E}">
        <p14:creationId xmlns:p14="http://schemas.microsoft.com/office/powerpoint/2010/main" val="8425376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CD01BF5B-5113-4A7B-A58E-18BBC529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7913BBE-EE8A-409D-865A-C8EAA7BC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D767024D-76E1-4124-8D37-B4390FEC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设备异常只有进入工单闭环才产生价值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DE34ADE-74C6-413B-9619-83A57E55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8C3E315-33E4-4EA7-8DD1-83BC7D02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C8504FA-0695-4AF2-8FE9-0FDEBEAE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3C449D2-5A34-4F82-A9EC-2DC83B0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设备运维：从异常分数到可执行工单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AAFC056-0622-4783-AEED-F036A96C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预测性维护可结合振动、温度、电流、润滑、巡检和历史工单发现早期异常；模型输出不应只有一个故障概率；还要给出相关信号、变化时间、相似事件、影响设备和不确定性；大模型可以检索说明书与检修规程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B27275-0D53-4040-95DF-3F972304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B0B7474-0936-43DF-899E-A83BF857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维护决策还受生产计划、备件、人员资质和停机窗口约束；更完整的输出是“证据—可能原因—建议检查—所需资源—允许时间窗”；由有权限的工程师确认后生成工单；维修结果、拆检发现和误报警原因应回写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04191CD-451C-42C7-BF8B-D4B393D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30757C4-CC0D-469C-9DA7-B2D8CADA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设备异常只有进入工单闭环才产生价值</a:t>
            </a:r>
          </a:p>
        </p:txBody>
      </p:sp>
    </p:spTree>
    <p:extLst>
      <p:ext uri="{BB962C8B-B14F-4D97-AF65-F5344CB8AC3E}">
        <p14:creationId xmlns:p14="http://schemas.microsoft.com/office/powerpoint/2010/main" val="2114902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25C5E88-B7BD-4B31-BCE6-0A845572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C996BCE2-DC9F-4A29-8191-D37D60B7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B43E37D5-B7DD-4D31-9717-0FE2E2FD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8B46CAC-EDC2-46FC-BB16-3DF622C3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614FDDFA-132B-47D9-B3B7-DCC8476B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F29C1B3-DB9D-4C95-AB13-646C6B0E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3557C52-7903-4585-BF76-3074F9A6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质量闭环：同时管理误报与漏报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44B61F5-884D-4EEF-ACD7-D1E16DDF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视觉检测、时序检测和过程建模可以辅助发现表面缺陷、尺寸偏差或工艺异常。上线前要按产品型号、光照、设备、班次和缺陷类型分层评测，避免总体指标掩盖少见但严重的缺陷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2D587BF-87B0-4507-86B0-F8C245E4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597C6A3-6214-4C68-AC16-1F3416E3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误报会增加复检、停线和报废成本；漏报可能使不合格品流向下游；阈值不能只由算法团队追求最高平均分；而应根据后果与后续检查能力共同设定；模型标记、人工复检、处置结果和客户反馈要能追到同一批次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41AB388-5F69-400F-9E32-37CCBC19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64C974E1-FADC-4A9A-9141-219BE60D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</p:spTree>
    <p:extLst>
      <p:ext uri="{BB962C8B-B14F-4D97-AF65-F5344CB8AC3E}">
        <p14:creationId xmlns:p14="http://schemas.microsoft.com/office/powerpoint/2010/main" val="19810263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0E13CCF-50C2-4388-955D-BB43D705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C94ACF4-DF06-448F-AE0A-7C2F2029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A4DA435-1462-41C6-B9BF-9911C7A3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494E54C3-5AB8-4A92-B7FA-066F1228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0BD8CE4-4449-44CE-9154-48A61275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DE1A2E6-ACDD-477E-82DA-BB2DE78C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5E04414-1216-43A0-97B5-B57455E1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能源管理：预测服务于约束优化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7E59AC1-11B4-4637-BDEC-8F5BF3E4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能源场景需要理解源、网、荷、储之间的关系；负荷和发电预测可为排程、储能和需求响应提供输入；设备模型可发现异常能耗；大模型可帮助检索运行规程和解释告警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808AB1C-2045-4D3F-9B44-4FDB7009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F28FE49-3582-40CB-9334-0859E268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评价不能只看预测误差；还要看建议是否可执行、是否造成峰值转移、是否影响产品质量；以及异常时能否退回既有控制策略；能源基线应说明产量、气候、工况和统计周期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55BF1A7-3DB9-4A91-ACF5-67F878B2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ABF6850-1647-4E6C-AFF5-F564DF48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</p:spTree>
    <p:extLst>
      <p:ext uri="{BB962C8B-B14F-4D97-AF65-F5344CB8AC3E}">
        <p14:creationId xmlns:p14="http://schemas.microsoft.com/office/powerpoint/2010/main" val="19091307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FB708B8-27A4-4E11-901E-FE0CCBB4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C2D6D56-7DBA-4C6E-A9C6-7083934F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96291E5-4E73-4AAD-BED3-98F73B39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3A6DFA4-3B37-40FD-B231-85038DCC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CA98734B-06BE-4045-8194-8A720EDE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39EA238-74DD-4ADF-8F9E-D50DA2C2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3E4A48D-B3A5-44D9-A135-3FBC86D4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供应链：识别风险而非制造确定性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39CB013-6DCF-40F5-AA29-A078DBC1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供应链模型可综合订单、库存、交付周期、物流事件、供应商状态和外部公开信息；辅助需求预测、缺料预警与方案比较；输出应说明关键假设、数据新鲜度、影响范围和替代方案；而不是给出一个看似确定的单点预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068BBBE-E130-45F8-AEA6-2AA69839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427E3B7-FA8F-4354-9700-070BA3E6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局部最优尤其危险，提高设备利用率可能积压在制品；压低库存可能放大中断风险；选择最低报价也可能增加质量与交付风险；决策应同时检查产能、库存、现金、质量、合规和单一来源依赖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EDFC501F-EF95-41DF-8170-F582B8FE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7699BAA-CB27-4012-B1D1-0CDD4C0D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</p:spTree>
    <p:extLst>
      <p:ext uri="{BB962C8B-B14F-4D97-AF65-F5344CB8AC3E}">
        <p14:creationId xmlns:p14="http://schemas.microsoft.com/office/powerpoint/2010/main" val="15201196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4FA9F439-860F-4D52-A546-FCDD332B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1E384121-0CB8-4367-B944-1F73983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74504D57-BD63-4BBE-9C75-216AF236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36E9032-54CB-4D22-9BB8-E1B091C7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1596086-C84A-4CA9-8BEE-2906272D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ED8AAC8-A92B-4E14-BF10-6ACFC190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3B1AA48-A848-4FF3-8B11-A10F96CA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安全控制：模型不得绕过保护层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4A2559D-487D-44DF-B1F5-765DBB22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 AI 应先在历史回放和影子模式中验证；只提供建议而不直接控制设备；进入半自动或自动执行前；需要风险分析、授权审批和变更管理；模型服务与控制网络应按安全要求隔离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22CF4C1-70F1-447D-A39C-7C5C71FE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35F27DF-25CD-4020-BE42-F5AB5385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系统还要具备人工接管、已验证的回退策略、完整日志和定期演练；模型不可用、数据中断、时间漂移、异常置信度或网络攻击都可能触发降级；任何涉及安全仪表、保护装置和法定运行边界的功能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D0251DD6-0DFC-4B35-878A-0BFCD068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960499E-6970-4968-BDF7-010BA56F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4018964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FC11A92E-84FE-44CD-921C-65F117FB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519F4D4C-97DE-47D3-8952-CFC92F63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0B468BA5-2361-439D-BEFD-97484D0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6250AE4-6A6F-4F99-827D-3DC6FE25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9A83B7AB-EDD3-4315-AB3A-EFA33BC9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D64E2A1-92C2-431F-8843-2EE8CD74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A41A7FE-58F5-4D7D-A67A-A0EA199A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发现｜时序模型在特定工况下发现振动与温度组合偏离历史范围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D7A194D-EE2D-4138-AAD4-7E31CD86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核验｜系统展示相关传感器、数据质量和相似工单；工程师现场复测，并核对检修规程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4B69F70-9E8D-4B40-89B8-725ED730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处置｜结合生产窗口、备件和风险等级决定继续监测、降载或检修，授权人批准后执行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CC5C5CB3-3DDC-481A-B2BA-96A8017F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反馈｜拆检结论与处置结果回写，用来区分真实预警、传感器问题和工况变化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7BF8B19-6C63-4C81-8AB5-10D8A1AC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A56233F-B2C8-4C61-8C76-AF5412FD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</p:spTree>
    <p:extLst>
      <p:ext uri="{BB962C8B-B14F-4D97-AF65-F5344CB8AC3E}">
        <p14:creationId xmlns:p14="http://schemas.microsoft.com/office/powerpoint/2010/main" val="10545087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4676079-B37F-4A80-8E74-2D4B1AB7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F20DCD2-92A4-4424-BC4C-428406B2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B09E7CE-804A-4292-BDBE-39575CF0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能源与供应风险不能由单一成本指标决策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E11D573-421A-4A51-853E-A9D617C5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48C8115B-26BA-4789-A0CA-C54826E5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E14D11F-6110-47F3-B616-FD5CD1BE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能耗与供应风险联合决策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C9399EC-4AD3-4997-98FA-F835EBD3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问题｜生产计划既受分时能源成本影响，又面临某种物料交付不确定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CC063F9-9F8A-4F10-8F1D-F10C3B05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方案｜系统生成多个满足设备、交期、库存与能源约束的排程，标明每个方案的假设和脆弱点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3AB2109-AE14-4ED2-88F2-115C944C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决策｜生产、能源和采购负责人比较方案，不让单一成本指标自动决定排程；外部条件变化后重新计算并保留原计划回退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69600740-9D02-409A-A36F-7500EAD5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4181E91C-550E-4C91-9C86-ABC50085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能源与供应风险不能由单一成本指标决策</a:t>
            </a:r>
          </a:p>
        </p:txBody>
      </p:sp>
    </p:spTree>
    <p:extLst>
      <p:ext uri="{BB962C8B-B14F-4D97-AF65-F5344CB8AC3E}">
        <p14:creationId xmlns:p14="http://schemas.microsoft.com/office/powerpoint/2010/main" val="12197472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22E7016-75D9-4850-A03A-D804B9A7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4E64A209-AAF5-46DB-90BD-ADB82FF8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8C5B094-4EAE-4C39-9DE2-A8EF0E06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ED266ED-8EC1-43F1-AC46-093E6F9E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6327217-B973-4D92-8C85-1D5D417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752D74E-5116-419C-90F6-FBE9CF39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C5852A0-D1F2-4006-AD8E-4C0F9E0A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036B9320-0486-430D-A57E-32111972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选择一台设备、一条质量检查或一个供应风险任务，画出“数据—模型—建议—审批—执行—反馈”六个节点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FA28E509-6A22-4529-A49D-68B5F14C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33B74A91-8641-4A8D-9317-9371F812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B2A51B34-F203-46BA-900D-E10C3CC7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75E94C3-FAB6-43D1-802F-7B7FD1D4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为每个节点填写责任人、输入证据、允许动作和失败回退，并列出两种误报后果、两种漏报后果、一个数据漂移信号和一个网络安全威胁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E16F86AE-A183-46B1-8975-D015C337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16A5D9ED-6136-4DA0-ABAF-B620BA22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69035163-4D44-4576-A219-E7D1B6E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5826AD39-500D-4A4A-8AE1-8D286E78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设计影子运行评测，规定何时保持建议模式、何时可以扩大试点、何时必须立即停用</a:t>
            </a:r>
          </a:p>
        </p:txBody>
      </p:sp>
    </p:spTree>
    <p:extLst>
      <p:ext uri="{BB962C8B-B14F-4D97-AF65-F5344CB8AC3E}">
        <p14:creationId xmlns:p14="http://schemas.microsoft.com/office/powerpoint/2010/main" val="10660698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146D7CC-8476-4482-971E-B2C4D9E1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08FF51E6-1F08-4F22-9AC4-954EA7A5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710A354-5EF3-483C-A224-BE635B4F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1192DB8-2C2F-426F-BCEB-A8DA59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99BCFF08-9BE7-49BA-B8B3-9EE66ABE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14D2B412-F4A1-44DA-BAE1-0F24E3DC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7CA3FFE-5692-4526-89EA-19E60D19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52F993BD-8AEE-408C-ABA0-2DAB2548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DDE8280-9B76-44D5-B405-464ACF81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A8BD7209-98CE-4E7F-84DF-AF7B067F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A0EB3A5-9C43-4965-BE46-06BD4190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7D30208B-7B98-46A8-BD3A-861155D2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783024C-551C-4664-B122-E1200ED6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5E60A2C-244F-4F05-9355-B12C2F8F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CE7AB126-498A-4848-8DAA-F5B7B84B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FEBAAB2C-C853-4790-BC6F-549B6FCA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9383883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F236B97D-1D22-40C5-9166-ED67AD1D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652D6C6E-7C44-401E-B909-A34848F9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5A33CF10-C1B0-4102-A4DC-D048D88D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FE7520A8-CA73-43DB-B496-7E4873A4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4A17E201-9BDB-4F2D-B5C8-2B0E1D70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1D471933-3986-445A-A2A8-F25155B2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AC82798D-A217-4CF6-88DF-2BE27DDD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 55001:2024：资产管理体系要求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E8B20DF2-A3B2-4BF5-8A5D-B4FADDFF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50001:2018：能源管理体系要求与使用指南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E70D4073-D1B6-46BC-980D-82B69090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ISA/IEC 62443 系列：工业自动化和控制系统网络安全标准族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CA9EF426-DD1D-4B13-A859-79C8C6C5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ISO 28000:2022：包括供应链相关要求在内的安全管理体系标准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9CB22A36-1A32-4E38-8569-032426A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D330AE7-6848-448E-A420-645AC5B6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1986483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2026-07-12T08:20:30.3800000Z</dcterms:created>
  <dcterms:modified xsi:type="dcterms:W3CDTF">2026-07-12T08:20:30.3800000Z</dcterms:modified>
</coreProperties>
</file>