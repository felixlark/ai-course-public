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73b77186f4f76" /><Relationship Type="http://schemas.openxmlformats.org/officeDocument/2006/relationships/extended-properties" Target="/docProps/app.xml" Id="R74cd42baff6d4bab" /><Relationship Type="http://schemas.openxmlformats.org/officeDocument/2006/relationships/officeDocument" Target="/ppt/presentation.xml" Id="R0dfceb8ce07e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0ae38a9164881"/>
  </p:sldMasterIdLst>
  <p:notesMasterIdLst>
    <p:notesMasterId xmlns:r="http://schemas.openxmlformats.org/officeDocument/2006/relationships" r:id="R9a2679d9a92848ab"/>
  </p:notesMasterIdLst>
  <p:sldIdLst>
    <p:sldId xmlns:r="http://schemas.openxmlformats.org/officeDocument/2006/relationships" id="256" r:id="Raced5d69cd504e88"/>
    <p:sldId xmlns:r="http://schemas.openxmlformats.org/officeDocument/2006/relationships" id="257" r:id="R0bc6d80b224b44d6"/>
    <p:sldId xmlns:r="http://schemas.openxmlformats.org/officeDocument/2006/relationships" id="258" r:id="Rb6a800993804479e"/>
    <p:sldId xmlns:r="http://schemas.openxmlformats.org/officeDocument/2006/relationships" id="259" r:id="R1f0870ae51d0479e"/>
    <p:sldId xmlns:r="http://schemas.openxmlformats.org/officeDocument/2006/relationships" id="260" r:id="R7b142fb6ba6f49d2"/>
    <p:sldId xmlns:r="http://schemas.openxmlformats.org/officeDocument/2006/relationships" id="261" r:id="R2a28b2e69bc740ba"/>
    <p:sldId xmlns:r="http://schemas.openxmlformats.org/officeDocument/2006/relationships" id="262" r:id="Rc5e2c768e8ac46da"/>
    <p:sldId xmlns:r="http://schemas.openxmlformats.org/officeDocument/2006/relationships" id="263" r:id="Rf7b0b69976ea403a"/>
    <p:sldId xmlns:r="http://schemas.openxmlformats.org/officeDocument/2006/relationships" id="264" r:id="R08cd01a4a04e473f"/>
    <p:sldId xmlns:r="http://schemas.openxmlformats.org/officeDocument/2006/relationships" id="265" r:id="R5c61fdf9c1ac4669"/>
    <p:sldId xmlns:r="http://schemas.openxmlformats.org/officeDocument/2006/relationships" id="266" r:id="Rf7779ca174324594"/>
    <p:sldId xmlns:r="http://schemas.openxmlformats.org/officeDocument/2006/relationships" id="267" r:id="Rbec93c6bba8a4962"/>
    <p:sldId xmlns:r="http://schemas.openxmlformats.org/officeDocument/2006/relationships" id="268" r:id="R8adb5ef998fc49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39820ae604f1c" /><Relationship Type="http://schemas.openxmlformats.org/officeDocument/2006/relationships/slideMaster" Target="/ppt/slideMasters/slideMaster1.xml" Id="R3660ae38a9164881" /><Relationship Type="http://schemas.openxmlformats.org/officeDocument/2006/relationships/notesMaster" Target="/ppt/notesMasters/notesMaster1.xml" Id="R9a2679d9a92848ab" /><Relationship Type="http://schemas.openxmlformats.org/officeDocument/2006/relationships/presProps" Target="/ppt/presProps.xml" Id="Rd4ccd956bce24c3f" /><Relationship Type="http://schemas.openxmlformats.org/officeDocument/2006/relationships/tableStyles" Target="/ppt/tableStyles.xml" Id="Rdd0dd0f5d2fc4ad4" /><Relationship Type="http://schemas.openxmlformats.org/officeDocument/2006/relationships/slide" Target="/ppt/slides/slide1.xml" Id="Raced5d69cd504e88" /><Relationship Type="http://schemas.openxmlformats.org/officeDocument/2006/relationships/slide" Target="/ppt/slides/slide2.xml" Id="R0bc6d80b224b44d6" /><Relationship Type="http://schemas.openxmlformats.org/officeDocument/2006/relationships/slide" Target="/ppt/slides/slide3.xml" Id="Rb6a800993804479e" /><Relationship Type="http://schemas.openxmlformats.org/officeDocument/2006/relationships/slide" Target="/ppt/slides/slide4.xml" Id="R1f0870ae51d0479e" /><Relationship Type="http://schemas.openxmlformats.org/officeDocument/2006/relationships/slide" Target="/ppt/slides/slide5.xml" Id="R7b142fb6ba6f49d2" /><Relationship Type="http://schemas.openxmlformats.org/officeDocument/2006/relationships/slide" Target="/ppt/slides/slide6.xml" Id="R2a28b2e69bc740ba" /><Relationship Type="http://schemas.openxmlformats.org/officeDocument/2006/relationships/slide" Target="/ppt/slides/slide7.xml" Id="Rc5e2c768e8ac46da" /><Relationship Type="http://schemas.openxmlformats.org/officeDocument/2006/relationships/slide" Target="/ppt/slides/slide8.xml" Id="Rf7b0b69976ea403a" /><Relationship Type="http://schemas.openxmlformats.org/officeDocument/2006/relationships/slide" Target="/ppt/slides/slide9.xml" Id="R08cd01a4a04e473f" /><Relationship Type="http://schemas.openxmlformats.org/officeDocument/2006/relationships/slide" Target="/ppt/slides/slide10.xml" Id="R5c61fdf9c1ac4669" /><Relationship Type="http://schemas.openxmlformats.org/officeDocument/2006/relationships/slide" Target="/ppt/slides/slide11.xml" Id="Rf7779ca174324594" /><Relationship Type="http://schemas.openxmlformats.org/officeDocument/2006/relationships/slide" Target="/ppt/slides/slide12.xml" Id="Rbec93c6bba8a4962" /><Relationship Type="http://schemas.openxmlformats.org/officeDocument/2006/relationships/slide" Target="/ppt/slides/slide13.xml" Id="R8adb5ef998fc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67a1ed62445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78d66db2a47fe" /><Relationship Type="http://schemas.openxmlformats.org/officeDocument/2006/relationships/notesMaster" Target="/ppt/notesMasters/notesMaster1.xml" Id="R8422b966f03d44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9a2c5922d4341" /><Relationship Type="http://schemas.openxmlformats.org/officeDocument/2006/relationships/notesMaster" Target="/ppt/notesMasters/notesMaster1.xml" Id="Reea59e3d771a4b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1456b9e0c4c3d" /><Relationship Type="http://schemas.openxmlformats.org/officeDocument/2006/relationships/notesMaster" Target="/ppt/notesMasters/notesMaster1.xml" Id="R5faec0c4a101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cadc33213b4fe5" /><Relationship Type="http://schemas.openxmlformats.org/officeDocument/2006/relationships/notesMaster" Target="/ppt/notesMasters/notesMaster1.xml" Id="R2784ca80698e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12951fc124bb8" /><Relationship Type="http://schemas.openxmlformats.org/officeDocument/2006/relationships/notesMaster" Target="/ppt/notesMasters/notesMaster1.xml" Id="R37a28179a987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bd61f2ea446b2" /><Relationship Type="http://schemas.openxmlformats.org/officeDocument/2006/relationships/notesMaster" Target="/ppt/notesMasters/notesMaster1.xml" Id="R13d8158aafcd45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fd45682e3475f" /><Relationship Type="http://schemas.openxmlformats.org/officeDocument/2006/relationships/notesMaster" Target="/ppt/notesMasters/notesMaster1.xml" Id="Rf7a03838e27a44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d7b8bd7d7348b7" /><Relationship Type="http://schemas.openxmlformats.org/officeDocument/2006/relationships/notesMaster" Target="/ppt/notesMasters/notesMaster1.xml" Id="Rc3c15d3e3ca544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f2a8050e574448" /><Relationship Type="http://schemas.openxmlformats.org/officeDocument/2006/relationships/notesMaster" Target="/ppt/notesMasters/notesMaster1.xml" Id="R98c4215c55524d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a261b763354b97" /><Relationship Type="http://schemas.openxmlformats.org/officeDocument/2006/relationships/notesMaster" Target="/ppt/notesMasters/notesMaster1.xml" Id="R0edaca1d007e49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43b419105d4c56" /><Relationship Type="http://schemas.openxmlformats.org/officeDocument/2006/relationships/notesMaster" Target="/ppt/notesMasters/notesMaster1.xml" Id="R291609d8886049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1fc76a4f794bcf" /><Relationship Type="http://schemas.openxmlformats.org/officeDocument/2006/relationships/notesMaster" Target="/ppt/notesMasters/notesMaster1.xml" Id="R6c7e692b6f8743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ce2fbb73bf4b1a" /><Relationship Type="http://schemas.openxmlformats.org/officeDocument/2006/relationships/notesMaster" Target="/ppt/notesMasters/notesMaster1.xml" Id="R2e3d4db321ed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6bd0e317f4d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cfad14962142be" /><Relationship Type="http://schemas.openxmlformats.org/officeDocument/2006/relationships/slideLayout" Target="/ppt/slideLayouts/slideLayout1.xml" Id="Ra6b5e3fec14c47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5e3fec14c47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e181f2a154e98" /><Relationship Type="http://schemas.openxmlformats.org/officeDocument/2006/relationships/notesSlide" Target="/ppt/notesSlides/notesSlide1.xml" Id="Rbb04242d69c24f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3ee410fa946b3" /><Relationship Type="http://schemas.openxmlformats.org/officeDocument/2006/relationships/notesSlide" Target="/ppt/notesSlides/notesSlide2.xml" Id="R49066a2c5537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86f222d2f489a" /><Relationship Type="http://schemas.openxmlformats.org/officeDocument/2006/relationships/notesSlide" Target="/ppt/notesSlides/notesSlide3.xml" Id="R103d8f872b2645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c994667754497" /><Relationship Type="http://schemas.openxmlformats.org/officeDocument/2006/relationships/notesSlide" Target="/ppt/notesSlides/notesSlide4.xml" Id="R2f190142b5264c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613a7ef18441c" /><Relationship Type="http://schemas.openxmlformats.org/officeDocument/2006/relationships/notesSlide" Target="/ppt/notesSlides/notesSlide5.xml" Id="R1f367ec026ed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9195bc120413e" /><Relationship Type="http://schemas.openxmlformats.org/officeDocument/2006/relationships/notesSlide" Target="/ppt/notesSlides/notesSlide6.xml" Id="R6af19ee0b04e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ae87e06e640eb" /><Relationship Type="http://schemas.openxmlformats.org/officeDocument/2006/relationships/notesSlide" Target="/ppt/notesSlides/notesSlide7.xml" Id="Re9297444999c40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99a17ab047a3" /><Relationship Type="http://schemas.openxmlformats.org/officeDocument/2006/relationships/notesSlide" Target="/ppt/notesSlides/notesSlide8.xml" Id="Ra7bf478cc8f24a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e3071b6014120" /><Relationship Type="http://schemas.openxmlformats.org/officeDocument/2006/relationships/notesSlide" Target="/ppt/notesSlides/notesSlide9.xml" Id="Ref8c12291ece46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37dc481af436e" /><Relationship Type="http://schemas.openxmlformats.org/officeDocument/2006/relationships/notesSlide" Target="/ppt/notesSlides/notesSlide10.xml" Id="R09f5985c441f43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7bc39b6c04094" /><Relationship Type="http://schemas.openxmlformats.org/officeDocument/2006/relationships/notesSlide" Target="/ppt/notesSlides/notesSlide11.xml" Id="R9780d911769145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04929324846c9" /><Relationship Type="http://schemas.openxmlformats.org/officeDocument/2006/relationships/notesSlide" Target="/ppt/notesSlides/notesSlide12.xml" Id="R17a7c9422cbb46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e7d44a9d442a3" /><Relationship Type="http://schemas.openxmlformats.org/officeDocument/2006/relationships/notesSlide" Target="/ppt/notesSlides/notesSlide13.xml" Id="R917592b1c1be43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D08B794C-2053-4045-B9F8-77D683F9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E5148196-37BF-4A08-8228-4E8D023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4257C6DB-6784-46D3-9A40-F58A048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02278054-5F02-4A8A-B914-2855F438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C7C99866-AC8B-4DCD-8FCD-D046959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E3B5D6A1-57EE-4D9B-B635-3BE1F5D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923E4D5-CB56-473E-ADF8-12E57079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0D5330C-63FC-455D-A151-660483C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制造、能源与供应链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303AB61-75E1-4E06-A1A7-DAD8059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从工业数据、设备运行、生产质量、能源管理和供应链协同理解行业 AI 的闭环价值。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2ED482D8-32FD-4FD6-A8C8-8B1DE681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7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制造、能源与供应链连接着设备、人员、物料和连续运行的物理过程；这里的 AI 不能只在离线测试中“准确”；还要在不同工况、季节、班次和设备状态下稳定工作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36D5E00E-85F3-4DE7-B6D0-36F18B37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2AF297BB-5AE6-43F4-B30F-2750FF2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IN-005 · IN-005-S01</a:t>
            </a:r>
          </a:p>
        </p:txBody>
      </p:sp>
    </p:spTree>
    <p:extLst>
      <p:ext uri="{BB962C8B-B14F-4D97-AF65-F5344CB8AC3E}">
        <p14:creationId xmlns:p14="http://schemas.microsoft.com/office/powerpoint/2010/main" val="1315661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DFBF7FE6-BF72-4F31-819F-9A9992F2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51515225-FD80-4A67-9E06-EBDAC08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EF217965-5657-4FB6-AE8D-0B8B1ED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制造、能源与供应链：4项学习结果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5926E469-A316-4F59-B9E2-14BE8CCF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69DDE6FB-5A61-4CC8-B936-3CDDAC66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E5E871C6-6A0F-4939-9542-00CB8AB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画出工业 AI 从数据采集、诊断预测、决策审批到执行反馈的闭环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626179C2-F493-4058-917C-ED1A93F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分别为设备运维、质量检测、能源管理和供应风险选择业务指标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65BA89D-6628-47D9-8EEF-A2E6ACDB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识别误报、漏报、数据漂移、控制越权和网络安全风险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E54F05B5-12AB-40C8-95BE-548E46D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设计影子运行、权限隔离、联锁、回退和变更管理等安全措施</a:t>
            </a:r>
          </a:p>
        </p:txBody>
      </p:sp>
    </p:spTree>
    <p:extLst>
      <p:ext uri="{BB962C8B-B14F-4D97-AF65-F5344CB8AC3E}">
        <p14:creationId xmlns:p14="http://schemas.microsoft.com/office/powerpoint/2010/main" val="1176224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5150DD4F-B97A-4427-A1BD-0DBCD76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86CCF425-635C-43F2-8CF3-7866269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6BEC4432-1B77-4040-A547-918EBF9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先统一对象、时间和工况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399FD018-533C-49FE-96DD-A7A41628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BDB2D044-9B89-4D23-BD4A-4AC6A19E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52546A7-B135-4479-A652-2634AF7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525B8B9-1B7D-4550-8B15-8C83F7BD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先统一对象、时间和工况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8100DD6-0D45-4FAB-98FD-8A8CEEE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工业数据可能来自传感器、控制系统、生产执行系统、质量记录、工单、库存和外部市场；开始建模前，要统一设备与物料编码、计量单位、采样时间、时区、批次和工况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A1A6905-FC3D-4645-A6D9-39B48CE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5B91F4D-FFC2-40E9-A81F-011A869B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数据质量不仅是缺失值问题。时间不同步会让因果顺序颠倒，人工录入可能使用不同术语，故障标签可能只记录“已维修”而没有根因。团队应保存原始数据、清洗规则和变更记录，并让现场专家参与解释异常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A3B956E2-1CBA-48C9-BC6F-707A3C7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0947E649-EE30-4B29-A096-A4FB934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先统一对象、时间和工况</a:t>
            </a:r>
          </a:p>
        </p:txBody>
      </p:sp>
    </p:spTree>
    <p:extLst>
      <p:ext uri="{BB962C8B-B14F-4D97-AF65-F5344CB8AC3E}">
        <p14:creationId xmlns:p14="http://schemas.microsoft.com/office/powerpoint/2010/main" val="1516665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7705F7F8-627A-4117-97AF-95495EC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1F1C73EE-B5D7-4704-A64E-C52CD367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C7A876BA-55EC-44C8-A060-B61791B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设备异常只有进入工单闭环才产生价值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8E41FE00-F51B-4C00-9D8E-124EE5A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06D3C0AB-B76C-49B8-92C5-0162FA7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48A5E16-67AE-4EFC-8A8F-E9328EA5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61C6C2F-CA71-4058-9FC3-02682B9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设备运维：从异常分数到可执行工单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2C6B1D5-5F08-42B5-AB98-0564C57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预测性维护可结合振动、温度、电流、润滑、巡检和历史工单发现早期异常；模型输出不应只有一个故障概率；还要给出相关信号、变化时间、相似事件、影响设备和不确定性；大模型可以检索说明书与检修规程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966B10E-2D95-4109-8072-3A3BBD2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793F296-FDE3-4E20-AB11-EA21C02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维护决策还受生产计划、备件、人员资质和停机窗口约束；更完整的输出是“证据—可能原因—建议检查—所需资源—允许时间窗”；由有权限的工程师确认后生成工单；维修结果、拆检发现和误报警原因应回写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C48BB177-EAE0-4E62-80AB-45DC567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DD131893-7F73-406D-B20B-3563B14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设备异常只有进入工单闭环才产生价值</a:t>
            </a:r>
          </a:p>
        </p:txBody>
      </p:sp>
    </p:spTree>
    <p:extLst>
      <p:ext uri="{BB962C8B-B14F-4D97-AF65-F5344CB8AC3E}">
        <p14:creationId xmlns:p14="http://schemas.microsoft.com/office/powerpoint/2010/main" val="880528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07616901-BA70-47DF-A13C-67CF5653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665EA2C4-7D0D-451A-87D5-E09A5A3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2E060669-1CC3-4263-9F8C-4086DA90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质量检测必须同时管理误报与漏报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D81BBFFC-58D0-41BA-8B0B-B8F1E72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7ED40890-7210-4E3F-8584-F79958A0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2A2D9B6-E88C-4754-830B-19B1E90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7F4D0FD-9456-4064-BC1C-30B33A2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质量闭环：同时管理误报与漏报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051B7D2-87D6-4AB8-8BD4-97807444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视觉检测、时序检测和过程建模可以辅助发现表面缺陷、尺寸偏差或工艺异常。上线前要按产品型号、光照、设备、班次和缺陷类型分层评测，避免总体指标掩盖少见但严重的缺陷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DF8CD26-5257-4F1C-8A44-48B35D0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BAC0DBC-B85E-4DBB-97BA-C9EB01F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误报会增加复检、停线和报废成本；漏报可能使不合格品流向下游；阈值不能只由算法团队追求最高平均分；而应根据后果与后续检查能力共同设定；模型标记、人工复检、处置结果和客户反馈要能追到同一批次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D6CE0FEB-151D-4C43-B117-569B6B3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F30A0C83-8EAB-4327-8E0D-B85BFDA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质量检测必须同时管理误报与漏报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826327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65C3128-8077-42BF-9B61-718F97FA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A8E7F270-8E52-47AC-A396-ABD0147E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DCEB2E32-00E8-4649-835B-D5448D4E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能源场景需要理解源、网、荷、储之间的关系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F018FDB0-2952-412D-9542-1C02057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312B0360-7A7D-40C8-AFF0-6422B938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E5905A0-C866-4915-B986-C055080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4429ED5-2176-41E8-8119-D896E2A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能源管理：预测服务于约束优化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08D3530-E62E-4687-A083-BB663FDF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能源场景需要理解源、网、荷、储之间的关系；负荷和发电预测可为排程、储能和需求响应提供输入；设备模型可发现异常能耗；大模型可帮助检索运行规程和解释告警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FCA96BB-6066-481C-9B20-2A46ED42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6AD75D0-9490-464A-BFD4-AF8DB0A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评价不能只看预测误差；还要看建议是否可执行、是否造成峰值转移、是否影响产品质量；以及异常时能否退回既有控制策略；能源基线应说明产量、气候、工况和统计周期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97689EF5-2165-4529-AE7A-1CF39B5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91B99B37-3385-42C4-8B87-AF3DEF5A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能源场景需要理解源、网、荷、储之间的关系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227158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E26FB1D1-9F84-4F52-A3D2-6CE2E60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86E550A4-D4CD-46BB-B5E6-B4CDF66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9CF08AE1-038C-4474-9308-D774B7AD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辅助需求预测、缺料预警与方案比较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CE8BFAB5-D6DF-4C27-8B13-541C514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FFD08BD8-741C-4C13-A36F-F9F3995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FA6EE36-E584-4A81-A57A-97D60B50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0A77C60-BBEF-44C4-80F7-2AD3A590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供应链：识别风险而非制造确定性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4C7F078-E093-44B5-A4C7-5CCF2CD4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供应链模型可综合订单、库存、交付周期、物流事件、供应商状态和外部公开信息；辅助需求预测、缺料预警与方案比较；输出应说明关键假设、数据新鲜度、影响范围和替代方案；而不是给出一个看似确定的单点预测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C3BD196-92F9-4743-8592-A11B693D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52DFE8A-3D3F-4166-AF4B-D4DF713A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局部最优尤其危险，提高设备利用率可能积压在制品；压低库存可能放大中断风险；选择最低报价也可能增加质量与交付风险；决策应同时检查产能、库存、现金、质量、合规和单一来源依赖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CA09FC8E-E73F-434A-AA99-0FD7639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64FC64EF-C3FE-482B-ACB6-0721D33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辅助需求预测、缺料预警与方案比较</a:t>
            </a:r>
          </a:p>
        </p:txBody>
      </p:sp>
    </p:spTree>
    <p:extLst>
      <p:ext uri="{BB962C8B-B14F-4D97-AF65-F5344CB8AC3E}">
        <p14:creationId xmlns:p14="http://schemas.microsoft.com/office/powerpoint/2010/main" val="1887588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7F7B8AA1-2CE2-4CC6-BFD3-5152D512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CBC619B4-4D93-4682-A67F-B5AFD88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0E8B54F6-A37F-4582-BCFB-717B574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工业 AI 应先在历史回放和影子模式中验证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912DB104-9B2A-4EB8-BA41-F412578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56A2EA3B-BEAD-489F-A79B-6214E90D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01008DA-F63C-4CD6-943F-A0E7F4A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580AE3B-E5B0-43D0-9D24-7DC3DF0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安全控制：模型不得绕过保护层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A6A6B13-381C-428F-9067-B1A605E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工业 AI 应先在历史回放和影子模式中验证；只提供建议而不直接控制设备；进入半自动或自动执行前；需要风险分析、授权审批和变更管理；模型服务与控制网络应按安全要求隔离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03C15FF-FF17-498B-B5B5-03255A4C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14E58AE-7612-46FB-AE5C-5D5C258F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系统还要具备人工接管、已验证的回退策略、完整日志和定期演练；模型不可用、数据中断、时间漂移、异常置信度或网络攻击都可能触发降级；任何涉及安全仪表、保护装置和法定运行边界的功能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D1315D15-8415-4317-AEAA-8D96DB0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BED9C002-0064-4FB1-B2AB-7C829A7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工业 AI 应先在历史回放和影子模式中验证</a:t>
            </a:r>
          </a:p>
        </p:txBody>
      </p:sp>
    </p:spTree>
    <p:extLst>
      <p:ext uri="{BB962C8B-B14F-4D97-AF65-F5344CB8AC3E}">
        <p14:creationId xmlns:p14="http://schemas.microsoft.com/office/powerpoint/2010/main" val="1564641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FA118E70-63F1-414E-B81A-243EA5CC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177E6DEE-9632-441D-B05C-B9923DE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EEBD3FF2-15B4-4E67-BE9A-E86FD1F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关键设备异常到维修闭环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6591674A-FBDF-4EFB-8801-789B077D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CB3D20F0-A972-4758-84C4-6081FD57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4117907A-E001-4306-B6C3-B17FEA6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关键设备异常到维修闭环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49F6AE49-3B76-4952-9D13-926792E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发现｜时序模型在特定工况下发现振动与温度组合偏离历史范围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43F692BF-4374-4E06-B69D-3C7B986B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核验｜系统展示相关传感器、数据质量和相似工单；工程师现场复测，并核对检修规程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836D4B1E-F27A-478E-90A5-75F40A8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处置｜结合生产窗口、备件和风险等级决定继续监测、降载或检修，授权人批准后执行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802FC0E0-C073-497A-9EC1-9D6A6D4F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反馈｜拆检结论与处置结果回写，用来区分真实预警、传感器问题和工况变化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74304477-6514-4C5E-B372-D0F3020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6F6D338D-9A74-4DB2-9EE0-4EED359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关键设备异常到维修闭环</a:t>
            </a:r>
          </a:p>
        </p:txBody>
      </p:sp>
    </p:spTree>
    <p:extLst>
      <p:ext uri="{BB962C8B-B14F-4D97-AF65-F5344CB8AC3E}">
        <p14:creationId xmlns:p14="http://schemas.microsoft.com/office/powerpoint/2010/main" val="1141810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42425259-BEED-4E19-9608-562F854E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2BB84781-7985-4518-8696-FC60DB3D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234893D7-F90C-4D24-854C-D6A0249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能源与供应风险不能由单一成本指标决策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790AD0AD-7AF3-4AAA-B172-F3D79B7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A9B84E15-4CA5-470D-962B-8A82C759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0170189E-B20E-4D6D-A09F-F66DF62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能耗与供应风险联合决策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C049DAF9-1028-476C-A5FB-F84E62A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问题｜生产计划既受分时能源成本影响，又面临某种物料交付不确定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2E39512C-D6B6-4F15-B881-49AC75A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方案｜系统生成多个满足设备、交期、库存与能源约束的排程，标明每个方案的假设和脆弱点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CE8FC798-3FD7-4606-A11C-0872C24A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决策｜生产、能源和采购负责人比较方案，不让单一成本指标自动决定排程；外部条件变化后重新计算并保留原计划回退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0EACB684-D88E-495C-8AF1-F95272F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B2B8D213-EBDF-424A-86B2-415635B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能源与供应风险不能由单一成本指标决策</a:t>
            </a:r>
          </a:p>
        </p:txBody>
      </p:sp>
    </p:spTree>
    <p:extLst>
      <p:ext uri="{BB962C8B-B14F-4D97-AF65-F5344CB8AC3E}">
        <p14:creationId xmlns:p14="http://schemas.microsoft.com/office/powerpoint/2010/main" val="1257323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6BD14A60-FD1E-4800-9EAB-7F963F2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2583BE81-C5A6-4581-B8EB-B16251B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2357B46A-F195-4520-93E7-BCC5876B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制造、能源与供应链：一次可验收练习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9FC1292F-A670-41A3-BAA9-8ABF559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D85DD1EE-B5E0-471A-9C35-403D001E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4D10CAF8-F414-493C-9C2A-F364E07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402E7EF8-7AD0-482A-96FC-CC325E86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678A6524-52CA-4959-B9A7-4ED3A02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选择一台设备、一条质量检查或一个供应风险任务，画出“数据—模型—建议—审批—执行—反馈”六个节点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F1F8CE07-3C02-4B42-853C-229C8DC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C22D987E-395A-40D9-8791-30323B8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A30C062F-46C8-4214-8E94-9AF3FC3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14331E08-0A44-48AF-BEE0-F69D9269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为每个节点填写责任人、输入证据、允许动作和失败回退，并列出两种误报后果、两种漏报后果、一个数据漂移信号和一个网络安全威胁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4A83A19A-B758-4789-B27C-A906ED9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FEDB40E5-B2E5-4C23-B6C8-BAC8341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F56969B-0DC2-4BD3-9BBE-15268837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ACB59018-6574-4D05-949B-960B8875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设计影子运行评测，规定何时保持建议模式、何时可以扩大试点、何时必须立即停用</a:t>
            </a:r>
          </a:p>
        </p:txBody>
      </p:sp>
    </p:spTree>
    <p:extLst>
      <p:ext uri="{BB962C8B-B14F-4D97-AF65-F5344CB8AC3E}">
        <p14:creationId xmlns:p14="http://schemas.microsoft.com/office/powerpoint/2010/main" val="10129255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74C7E533-76BE-48B9-945B-9342E01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FBE27A92-0817-4AC7-BAF6-9FC7330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A055B616-BE2A-423E-ABE8-1CFA3A7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制造、能源与供应链：判断时先抓住三点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356120CA-60AC-4664-A099-8C6A409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CC5B816D-A287-4A1E-B4C6-DA4C719A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D0D9BEB5-CA72-44D3-86D3-00401AEF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B1AB86CD-5CCF-4A1B-BA11-7298156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00273C92-728F-4916-801C-CB1AF2D7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先统一对象、时间和工况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AE3C4AFD-9BE0-4776-AD80-AD51D4B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229D2FDC-4F52-453B-BC73-C7078EC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F7423CEC-3AFC-42C0-BEDB-C756E6C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EBE14382-D3A8-4583-BF84-A09D71B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质量检测必须同时管理误报与漏报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34CDC13F-0CF2-42F0-A64D-98590D4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36C12B82-F957-4D60-B9F2-E34511CD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FC321EC6-FC1F-4785-B30A-14AC9A0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3D263152-61B3-4146-8662-8DF19E6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工业 AI 应先在历史回放和影子模式中验证</a:t>
            </a:r>
          </a:p>
        </p:txBody>
      </p:sp>
    </p:spTree>
    <p:extLst>
      <p:ext uri="{BB962C8B-B14F-4D97-AF65-F5344CB8AC3E}">
        <p14:creationId xmlns:p14="http://schemas.microsoft.com/office/powerpoint/2010/main" val="1214323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E8B6D34D-3EE3-4179-826D-554C477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8F93DCF5-8EC2-4BA4-8DFE-DCD7B298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E4B4EC3A-87DF-4862-934A-8ECC11B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制造、能源与供应链：依据、边界与延伸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7D47A2A1-50ED-4691-926F-248E5C1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1FF5FEDF-5A7F-4F41-A7EC-E060738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IN-005 · IN-005-S13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22655792-664D-47ED-8BB4-C5FD550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19CC3F0-D3DA-4121-8366-B32165B6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ISO 55001:2024：资产管理体系要求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0C81F756-84D9-406D-9E4B-EDF9EC1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ISO 50001:2018：能源管理体系要求与使用指南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07EFDBCB-9B7D-4D60-A718-D82BF2F2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ISA/IEC 62443 系列：工业自动化和控制系统网络安全标准族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11A361EC-0468-462A-96BE-B6FECA5B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ISO 28000:2022：包括供应链相关要求在内的安全管理体系标准</a:t>
            </a:r>
          </a:p>
        </p:txBody>
      </p:sp>
      <p:sp>
        <p:nvSpPr>
          <p:cNvPr id="11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E4ED91AF-17DC-4D25-A919-29DAF309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E6CC4071-964B-4CAD-B460-7DF78B26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1023732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2026-07-11T16:56:00.9970000Z</dcterms:created>
  <dcterms:modified xsi:type="dcterms:W3CDTF">2026-07-11T16:56:00.9970000Z</dcterms:modified>
</coreProperties>
</file>