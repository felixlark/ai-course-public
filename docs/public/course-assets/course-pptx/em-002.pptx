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db8d549b464e60" /><Relationship Type="http://schemas.openxmlformats.org/officeDocument/2006/relationships/extended-properties" Target="/docProps/app.xml" Id="R0294a0a600e64b68" /><Relationship Type="http://schemas.openxmlformats.org/officeDocument/2006/relationships/officeDocument" Target="/ppt/presentation.xml" Id="Rb4ceb1bacd0d41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31a95f768d4229"/>
  </p:sldMasterIdLst>
  <p:notesMasterIdLst>
    <p:notesMasterId xmlns:r="http://schemas.openxmlformats.org/officeDocument/2006/relationships" r:id="Rdd0cdbe13f7045c0"/>
  </p:notesMasterIdLst>
  <p:sldIdLst>
    <p:sldId xmlns:r="http://schemas.openxmlformats.org/officeDocument/2006/relationships" id="256" r:id="R3867ede54ef44f5b"/>
    <p:sldId xmlns:r="http://schemas.openxmlformats.org/officeDocument/2006/relationships" id="257" r:id="R5ae023390bba4605"/>
    <p:sldId xmlns:r="http://schemas.openxmlformats.org/officeDocument/2006/relationships" id="258" r:id="Rf68a111261c24f17"/>
    <p:sldId xmlns:r="http://schemas.openxmlformats.org/officeDocument/2006/relationships" id="259" r:id="R69f755f3ad5f4b73"/>
    <p:sldId xmlns:r="http://schemas.openxmlformats.org/officeDocument/2006/relationships" id="260" r:id="R24ae9bb6e2fd4a75"/>
    <p:sldId xmlns:r="http://schemas.openxmlformats.org/officeDocument/2006/relationships" id="261" r:id="Rd91ce11050bc4654"/>
    <p:sldId xmlns:r="http://schemas.openxmlformats.org/officeDocument/2006/relationships" id="262" r:id="Rb8de3a4b0bb24975"/>
    <p:sldId xmlns:r="http://schemas.openxmlformats.org/officeDocument/2006/relationships" id="263" r:id="R724cdf73257a4b5c"/>
    <p:sldId xmlns:r="http://schemas.openxmlformats.org/officeDocument/2006/relationships" id="264" r:id="Re9e6ad0a877c4f90"/>
    <p:sldId xmlns:r="http://schemas.openxmlformats.org/officeDocument/2006/relationships" id="265" r:id="Ra93674476ab14dee"/>
    <p:sldId xmlns:r="http://schemas.openxmlformats.org/officeDocument/2006/relationships" id="266" r:id="Rb738e49f40af442b"/>
    <p:sldId xmlns:r="http://schemas.openxmlformats.org/officeDocument/2006/relationships" id="267" r:id="Rce19bfcfc6a345f1"/>
    <p:sldId xmlns:r="http://schemas.openxmlformats.org/officeDocument/2006/relationships" id="268" r:id="R860a45df61c749e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f8667e8ee04a98" /><Relationship Type="http://schemas.openxmlformats.org/officeDocument/2006/relationships/slideMaster" Target="/ppt/slideMasters/slideMaster1.xml" Id="R0e31a95f768d4229" /><Relationship Type="http://schemas.openxmlformats.org/officeDocument/2006/relationships/notesMaster" Target="/ppt/notesMasters/notesMaster1.xml" Id="Rdd0cdbe13f7045c0" /><Relationship Type="http://schemas.openxmlformats.org/officeDocument/2006/relationships/presProps" Target="/ppt/presProps.xml" Id="Rc1e3fd2c7cc84ecd" /><Relationship Type="http://schemas.openxmlformats.org/officeDocument/2006/relationships/tableStyles" Target="/ppt/tableStyles.xml" Id="R25c5cf341054401e" /><Relationship Type="http://schemas.openxmlformats.org/officeDocument/2006/relationships/slide" Target="/ppt/slides/slide1.xml" Id="R3867ede54ef44f5b" /><Relationship Type="http://schemas.openxmlformats.org/officeDocument/2006/relationships/slide" Target="/ppt/slides/slide2.xml" Id="R5ae023390bba4605" /><Relationship Type="http://schemas.openxmlformats.org/officeDocument/2006/relationships/slide" Target="/ppt/slides/slide3.xml" Id="Rf68a111261c24f17" /><Relationship Type="http://schemas.openxmlformats.org/officeDocument/2006/relationships/slide" Target="/ppt/slides/slide4.xml" Id="R69f755f3ad5f4b73" /><Relationship Type="http://schemas.openxmlformats.org/officeDocument/2006/relationships/slide" Target="/ppt/slides/slide5.xml" Id="R24ae9bb6e2fd4a75" /><Relationship Type="http://schemas.openxmlformats.org/officeDocument/2006/relationships/slide" Target="/ppt/slides/slide6.xml" Id="Rd91ce11050bc4654" /><Relationship Type="http://schemas.openxmlformats.org/officeDocument/2006/relationships/slide" Target="/ppt/slides/slide7.xml" Id="Rb8de3a4b0bb24975" /><Relationship Type="http://schemas.openxmlformats.org/officeDocument/2006/relationships/slide" Target="/ppt/slides/slide8.xml" Id="R724cdf73257a4b5c" /><Relationship Type="http://schemas.openxmlformats.org/officeDocument/2006/relationships/slide" Target="/ppt/slides/slide9.xml" Id="Re9e6ad0a877c4f90" /><Relationship Type="http://schemas.openxmlformats.org/officeDocument/2006/relationships/slide" Target="/ppt/slides/slide10.xml" Id="Ra93674476ab14dee" /><Relationship Type="http://schemas.openxmlformats.org/officeDocument/2006/relationships/slide" Target="/ppt/slides/slide11.xml" Id="Rb738e49f40af442b" /><Relationship Type="http://schemas.openxmlformats.org/officeDocument/2006/relationships/slide" Target="/ppt/slides/slide12.xml" Id="Rce19bfcfc6a345f1" /><Relationship Type="http://schemas.openxmlformats.org/officeDocument/2006/relationships/slide" Target="/ppt/slides/slide13.xml" Id="R860a45df61c749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34f7101bb045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c2cd11563340ab" /><Relationship Type="http://schemas.openxmlformats.org/officeDocument/2006/relationships/notesMaster" Target="/ppt/notesMasters/notesMaster1.xml" Id="Rab37488d210447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807abee2284b69" /><Relationship Type="http://schemas.openxmlformats.org/officeDocument/2006/relationships/notesMaster" Target="/ppt/notesMasters/notesMaster1.xml" Id="R0165770810d44b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1e10017f334381" /><Relationship Type="http://schemas.openxmlformats.org/officeDocument/2006/relationships/notesMaster" Target="/ppt/notesMasters/notesMaster1.xml" Id="R5ea94d422c9a42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cfec3321a94783" /><Relationship Type="http://schemas.openxmlformats.org/officeDocument/2006/relationships/notesMaster" Target="/ppt/notesMasters/notesMaster1.xml" Id="R6da96cdaf5954b8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116d56984334d07" /><Relationship Type="http://schemas.openxmlformats.org/officeDocument/2006/relationships/notesMaster" Target="/ppt/notesMasters/notesMaster1.xml" Id="R0a8a20364c0e4c3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11f59e5903e4562" /><Relationship Type="http://schemas.openxmlformats.org/officeDocument/2006/relationships/notesMaster" Target="/ppt/notesMasters/notesMaster1.xml" Id="R0ff30d2535004ae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a465a2e7fdb4718" /><Relationship Type="http://schemas.openxmlformats.org/officeDocument/2006/relationships/notesMaster" Target="/ppt/notesMasters/notesMaster1.xml" Id="R376640943a5d450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5446cd5a6de49fb" /><Relationship Type="http://schemas.openxmlformats.org/officeDocument/2006/relationships/notesMaster" Target="/ppt/notesMasters/notesMaster1.xml" Id="Rf72c42d83ad44ee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28e5a23231043f9" /><Relationship Type="http://schemas.openxmlformats.org/officeDocument/2006/relationships/notesMaster" Target="/ppt/notesMasters/notesMaster1.xml" Id="Rd6579cbc53e4460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da3ac784ea348e2" /><Relationship Type="http://schemas.openxmlformats.org/officeDocument/2006/relationships/notesMaster" Target="/ppt/notesMasters/notesMaster1.xml" Id="Rbf08ec421e01447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de34957856c49d4" /><Relationship Type="http://schemas.openxmlformats.org/officeDocument/2006/relationships/notesMaster" Target="/ppt/notesMasters/notesMaster1.xml" Id="R4aeb7754d81242b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d26fc14b41e46d0" /><Relationship Type="http://schemas.openxmlformats.org/officeDocument/2006/relationships/notesMaster" Target="/ppt/notesMasters/notesMaster1.xml" Id="R13e52985f4e64d3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2ffa62e093b4300" /><Relationship Type="http://schemas.openxmlformats.org/officeDocument/2006/relationships/notesMaster" Target="/ppt/notesMasters/notesMaster1.xml" Id="Re213132511844e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725ffc90f444a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401c6a9f8249c3" /><Relationship Type="http://schemas.openxmlformats.org/officeDocument/2006/relationships/slideLayout" Target="/ppt/slideLayouts/slideLayout1.xml" Id="Rc828172f3d0e4d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28172f3d0e4d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eb892adc834697" /><Relationship Type="http://schemas.openxmlformats.org/officeDocument/2006/relationships/notesSlide" Target="/ppt/notesSlides/notesSlide1.xml" Id="Ra453de3439e84a3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9b1d776645441c" /><Relationship Type="http://schemas.openxmlformats.org/officeDocument/2006/relationships/notesSlide" Target="/ppt/notesSlides/notesSlide2.xml" Id="R42de93876e224ab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24b09648cd4c06" /><Relationship Type="http://schemas.openxmlformats.org/officeDocument/2006/relationships/notesSlide" Target="/ppt/notesSlides/notesSlide3.xml" Id="R1e0caf6968bb46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9099c4f381417f" /><Relationship Type="http://schemas.openxmlformats.org/officeDocument/2006/relationships/notesSlide" Target="/ppt/notesSlides/notesSlide4.xml" Id="R52681ff262984b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0d7ff5c1e94bd3" /><Relationship Type="http://schemas.openxmlformats.org/officeDocument/2006/relationships/notesSlide" Target="/ppt/notesSlides/notesSlide5.xml" Id="R55e2317ffabc413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bce2f6eb094d5c" /><Relationship Type="http://schemas.openxmlformats.org/officeDocument/2006/relationships/notesSlide" Target="/ppt/notesSlides/notesSlide6.xml" Id="Rbc32aa01c7a64e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9f5e6dcc8e41f0" /><Relationship Type="http://schemas.openxmlformats.org/officeDocument/2006/relationships/notesSlide" Target="/ppt/notesSlides/notesSlide7.xml" Id="R3d03280b7f3a4c4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caa84541724152" /><Relationship Type="http://schemas.openxmlformats.org/officeDocument/2006/relationships/notesSlide" Target="/ppt/notesSlides/notesSlide8.xml" Id="R14eb96cb3a2f4a3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fc47e933344da1" /><Relationship Type="http://schemas.openxmlformats.org/officeDocument/2006/relationships/notesSlide" Target="/ppt/notesSlides/notesSlide9.xml" Id="R2c9d7c4a318f4fb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9308fb6a6d4cc7" /><Relationship Type="http://schemas.openxmlformats.org/officeDocument/2006/relationships/notesSlide" Target="/ppt/notesSlides/notesSlide10.xml" Id="R123a12f275c3418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fe12720cfe4fb5" /><Relationship Type="http://schemas.openxmlformats.org/officeDocument/2006/relationships/notesSlide" Target="/ppt/notesSlides/notesSlide11.xml" Id="R04f3330c64e346c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528eb689534170" /><Relationship Type="http://schemas.openxmlformats.org/officeDocument/2006/relationships/notesSlide" Target="/ppt/notesSlides/notesSlide12.xml" Id="R7c9d9129f8e64fa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0b4d67aacc4dd3" /><Relationship Type="http://schemas.openxmlformats.org/officeDocument/2006/relationships/notesSlide" Target="/ppt/notesSlides/notesSlide13.xml" Id="Rbffdff6d98434db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rule">
            <a:extLst xmlns:a="http://schemas.openxmlformats.org/drawingml/2006/main">
              <a:ext uri="{FF2B5EF4-FFF2-40B4-BE49-F238E27FC236}">
                <a16:creationId xmlns:a16="http://schemas.microsoft.com/office/drawing/2014/main" id="{9A30033E-B993-405A-9ED3-ACE7DFA4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1430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2" name="cover-ring-1">
            <a:extLst xmlns:a="http://schemas.openxmlformats.org/drawingml/2006/main">
              <a:ext uri="{FF2B5EF4-FFF2-40B4-BE49-F238E27FC236}">
                <a16:creationId xmlns:a16="http://schemas.microsoft.com/office/drawing/2014/main" id="{883935E7-FF5A-41C6-9C3C-1BDCF15EB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066800"/>
            <a:ext cx="2857500" cy="2857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459C7"/>
            </a:solidFill>
            <a:prstDash val="solid"/>
          </a:ln>
        </p:spPr>
      </p:sp>
      <p:sp>
        <p:nvSpPr>
          <p:cNvPr id="3" name="cover-ring-2">
            <a:extLst xmlns:a="http://schemas.openxmlformats.org/drawingml/2006/main">
              <a:ext uri="{FF2B5EF4-FFF2-40B4-BE49-F238E27FC236}">
                <a16:creationId xmlns:a16="http://schemas.microsoft.com/office/drawing/2014/main" id="{27F44E45-1E1D-4CC7-A4EA-72CC2CF1D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619250"/>
            <a:ext cx="1752600" cy="1752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D9B72"/>
            </a:solidFill>
            <a:prstDash val="solid"/>
          </a:ln>
        </p:spPr>
      </p:sp>
      <p:sp>
        <p:nvSpPr>
          <p:cNvPr id="4" name="cover-core">
            <a:extLst xmlns:a="http://schemas.openxmlformats.org/drawingml/2006/main">
              <a:ext uri="{FF2B5EF4-FFF2-40B4-BE49-F238E27FC236}">
                <a16:creationId xmlns:a16="http://schemas.microsoft.com/office/drawing/2014/main" id="{5D8C62FA-AD1D-4190-9923-248729B9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1907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5" name="cover-line-1">
            <a:extLst xmlns:a="http://schemas.openxmlformats.org/drawingml/2006/main">
              <a:ext uri="{FF2B5EF4-FFF2-40B4-BE49-F238E27FC236}">
                <a16:creationId xmlns:a16="http://schemas.microsoft.com/office/drawing/2014/main" id="{0DB81F2A-F1B1-4AE9-8A6F-9F3C77838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76750"/>
            <a:ext cx="337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1459C7"/>
            </a:solidFill>
            <a:prstDash val="solid"/>
          </a:ln>
        </p:spPr>
      </p:sp>
      <p:sp>
        <p:nvSpPr>
          <p:cNvPr id="6" name="cover-line-2">
            <a:extLst xmlns:a="http://schemas.openxmlformats.org/drawingml/2006/main">
              <a:ext uri="{FF2B5EF4-FFF2-40B4-BE49-F238E27FC236}">
                <a16:creationId xmlns:a16="http://schemas.microsoft.com/office/drawing/2014/main" id="{492AB320-D85B-419E-864A-2DE83758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8958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D9B72"/>
            </a:solidFill>
            <a:prstDash val="solid"/>
          </a:ln>
        </p:spPr>
      </p:sp>
      <p:sp>
        <p:nvSpPr>
          <p:cNvPr id="7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3F38E655-4054-4E41-B2B3-E4568563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763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D9B7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D9B72"/>
                </a:solidFill>
                <a:latin typeface="PingFang SC"/>
                <a:ea typeface="PingFang SC"/>
                <a:cs typeface="PingFang SC"/>
              </a:rPr>
              <a:t>第 3 章 · 具身智能</a:t>
            </a:r>
          </a:p>
        </p:txBody>
      </p:sp>
      <p:sp>
        <p:nvSpPr>
          <p:cNvPr id="8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A10C3E8-7701-4550-9691-2FD7765B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04950"/>
            <a:ext cx="6858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5764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人形机器人与 Unitree 生态</a:t>
            </a:r>
          </a:p>
        </p:txBody>
      </p:sp>
      <p:sp>
        <p:nvSpPr>
          <p:cNvPr id="9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7BFB4C75-92A9-4324-9A90-0DAE34BB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6477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>
                <a:solidFill>
                  <a:srgbClr val="DDEBFA"/>
                </a:solidFill>
                <a:latin typeface="PingFang SC"/>
                <a:ea typeface="PingFang SC"/>
                <a:cs typeface="PingFang SC"/>
              </a:defRPr>
            </a:pPr>
            <a:r>
              <a:rPr sz="2175">
                <a:solidFill>
                  <a:srgbClr val="DDEBFA"/>
                </a:solidFill>
                <a:latin typeface="PingFang SC"/>
                <a:ea typeface="PingFang SC"/>
                <a:cs typeface="PingFang SC"/>
              </a:rPr>
              <a:t>从四足与人形机器人产品理解硬件、运动能力、应用形态和产业边界。</a:t>
            </a:r>
          </a:p>
        </p:txBody>
      </p:sp>
      <p:sp>
        <p:nvSpPr>
          <p:cNvPr id="10" name="cover-lead">
            <a:extLst xmlns:a="http://schemas.openxmlformats.org/drawingml/2006/main">
              <a:ext uri="{FF2B5EF4-FFF2-40B4-BE49-F238E27FC236}">
                <a16:creationId xmlns:a16="http://schemas.microsoft.com/office/drawing/2014/main" id="{7B1EC43E-576B-45A9-AC3D-667FAD345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05300"/>
            <a:ext cx="647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人形机器人和四足机器人让具身智能从概念走向可见产品</a:t>
            </a:r>
          </a:p>
        </p:txBody>
      </p:sp>
      <p:sp>
        <p:nvSpPr>
          <p:cNvPr id="11" name="cover-course">
            <a:extLst xmlns:a="http://schemas.openxmlformats.org/drawingml/2006/main">
              <a:ext uri="{FF2B5EF4-FFF2-40B4-BE49-F238E27FC236}">
                <a16:creationId xmlns:a16="http://schemas.microsoft.com/office/drawing/2014/main" id="{A62B1F98-78F5-4950-A8A0-4FC8E55F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34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陈龙彪团队人工智能公开课</a:t>
            </a:r>
          </a:p>
        </p:txBody>
      </p:sp>
      <p:sp>
        <p:nvSpPr>
          <p:cNvPr id="12" name="cover-id">
            <a:extLst xmlns:a="http://schemas.openxmlformats.org/drawingml/2006/main">
              <a:ext uri="{FF2B5EF4-FFF2-40B4-BE49-F238E27FC236}">
                <a16:creationId xmlns:a16="http://schemas.microsoft.com/office/drawing/2014/main" id="{7BB97CF1-4C3B-423A-923D-2CA7FB309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7340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9B7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D9B72"/>
                </a:solidFill>
                <a:latin typeface="PingFang SC"/>
                <a:ea typeface="PingFang SC"/>
                <a:cs typeface="PingFang SC"/>
              </a:rPr>
              <a:t>EM-002 · EM-002-S01</a:t>
            </a:r>
          </a:p>
        </p:txBody>
      </p:sp>
    </p:spTree>
    <p:extLst>
      <p:ext uri="{BB962C8B-B14F-4D97-AF65-F5344CB8AC3E}">
        <p14:creationId xmlns:p14="http://schemas.microsoft.com/office/powerpoint/2010/main" val="1779378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2-rule">
            <a:extLst xmlns:a="http://schemas.openxmlformats.org/drawingml/2006/main">
              <a:ext uri="{FF2B5EF4-FFF2-40B4-BE49-F238E27FC236}">
                <a16:creationId xmlns:a16="http://schemas.microsoft.com/office/drawing/2014/main" id="{A2C5648F-FEDC-4818-84F3-E5E321A4A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2" name="s2-eyebrow">
            <a:extLst xmlns:a="http://schemas.openxmlformats.org/drawingml/2006/main">
              <a:ext uri="{FF2B5EF4-FFF2-40B4-BE49-F238E27FC236}">
                <a16:creationId xmlns:a16="http://schemas.microsoft.com/office/drawing/2014/main" id="{A7E2F19A-8A70-4104-891F-9FEB9CE2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学习结果</a:t>
            </a:r>
          </a:p>
        </p:txBody>
      </p:sp>
      <p:sp>
        <p:nvSpPr>
          <p:cNvPr id="3" name="s2-title">
            <a:extLst xmlns:a="http://schemas.openxmlformats.org/drawingml/2006/main">
              <a:ext uri="{FF2B5EF4-FFF2-40B4-BE49-F238E27FC236}">
                <a16:creationId xmlns:a16="http://schemas.microsoft.com/office/drawing/2014/main" id="{A78F4B14-8A15-406B-8389-ACA2B273B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人形与四足机器人：2项学习结果</a:t>
            </a:r>
          </a:p>
        </p:txBody>
      </p:sp>
      <p:sp>
        <p:nvSpPr>
          <p:cNvPr id="4" name="s2-footer">
            <a:extLst xmlns:a="http://schemas.openxmlformats.org/drawingml/2006/main">
              <a:ext uri="{FF2B5EF4-FFF2-40B4-BE49-F238E27FC236}">
                <a16:creationId xmlns:a16="http://schemas.microsoft.com/office/drawing/2014/main" id="{D17EB297-E817-4502-A7A8-A0838BAE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2-identity">
            <a:extLst xmlns:a="http://schemas.openxmlformats.org/drawingml/2006/main">
              <a:ext uri="{FF2B5EF4-FFF2-40B4-BE49-F238E27FC236}">
                <a16:creationId xmlns:a16="http://schemas.microsoft.com/office/drawing/2014/main" id="{D5D4629E-E233-46C9-BCAF-443D0D2D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EM-002 · EM-002-S02</a:t>
            </a:r>
          </a:p>
        </p:txBody>
      </p:sp>
      <p:sp>
        <p:nvSpPr>
          <p:cNvPr id="6" name="objective-1">
            <a:extLst xmlns:a="http://schemas.openxmlformats.org/drawingml/2006/main">
              <a:ext uri="{FF2B5EF4-FFF2-40B4-BE49-F238E27FC236}">
                <a16:creationId xmlns:a16="http://schemas.microsoft.com/office/drawing/2014/main" id="{79BDF164-6F0F-4971-9C64-0A7BD45B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49530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01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比较四足机器人和人形机器人的形态、任务与成本</a:t>
            </a:r>
          </a:p>
        </p:txBody>
      </p:sp>
      <p:sp>
        <p:nvSpPr>
          <p:cNvPr id="7" name="objective-2">
            <a:extLst xmlns:a="http://schemas.openxmlformats.org/drawingml/2006/main">
              <a:ext uri="{FF2B5EF4-FFF2-40B4-BE49-F238E27FC236}">
                <a16:creationId xmlns:a16="http://schemas.microsoft.com/office/drawing/2014/main" id="{6BCC48C1-0539-492F-906B-71890B08D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00250"/>
            <a:ext cx="49530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E1F6ED"/>
          </a:solidFill>
          <a:ln xmlns:a="http://schemas.openxmlformats.org/drawingml/2006/main" w="19050">
            <a:solidFill>
              <a:srgbClr val="0B6B4F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02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区分产品演示能力、工程能力和真实规模化应用</a:t>
            </a:r>
          </a:p>
        </p:txBody>
      </p:sp>
    </p:spTree>
    <p:extLst>
      <p:ext uri="{BB962C8B-B14F-4D97-AF65-F5344CB8AC3E}">
        <p14:creationId xmlns:p14="http://schemas.microsoft.com/office/powerpoint/2010/main" val="3064958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3-rule">
            <a:extLst xmlns:a="http://schemas.openxmlformats.org/drawingml/2006/main">
              <a:ext uri="{FF2B5EF4-FFF2-40B4-BE49-F238E27FC236}">
                <a16:creationId xmlns:a16="http://schemas.microsoft.com/office/drawing/2014/main" id="{F55AE4A1-3878-45EA-A371-88DA3F4F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2" name="s3-eyebrow">
            <a:extLst xmlns:a="http://schemas.openxmlformats.org/drawingml/2006/main">
              <a:ext uri="{FF2B5EF4-FFF2-40B4-BE49-F238E27FC236}">
                <a16:creationId xmlns:a16="http://schemas.microsoft.com/office/drawing/2014/main" id="{7BD71E3C-7234-44E2-932B-A44B8018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核心论点 1 / 7</a:t>
            </a:r>
          </a:p>
        </p:txBody>
      </p:sp>
      <p:sp>
        <p:nvSpPr>
          <p:cNvPr id="3" name="s3-title">
            <a:extLst xmlns:a="http://schemas.openxmlformats.org/drawingml/2006/main">
              <a:ext uri="{FF2B5EF4-FFF2-40B4-BE49-F238E27FC236}">
                <a16:creationId xmlns:a16="http://schemas.microsoft.com/office/drawing/2014/main" id="{EA080411-5909-4BE7-9972-EB497928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Go2 硬件：机器人由哪些部分组成</a:t>
            </a:r>
          </a:p>
        </p:txBody>
      </p:sp>
      <p:sp>
        <p:nvSpPr>
          <p:cNvPr id="4" name="s3-footer">
            <a:extLst xmlns:a="http://schemas.openxmlformats.org/drawingml/2006/main">
              <a:ext uri="{FF2B5EF4-FFF2-40B4-BE49-F238E27FC236}">
                <a16:creationId xmlns:a16="http://schemas.microsoft.com/office/drawing/2014/main" id="{7405B00E-53CD-48FB-B147-AD721511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3-identity">
            <a:extLst xmlns:a="http://schemas.openxmlformats.org/drawingml/2006/main">
              <a:ext uri="{FF2B5EF4-FFF2-40B4-BE49-F238E27FC236}">
                <a16:creationId xmlns:a16="http://schemas.microsoft.com/office/drawing/2014/main" id="{D1F75414-D0F0-4DC5-95C9-AAF56C71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EM-002 · EM-002-S03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D37757D7-50C0-49B9-B08D-8F0EBD78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9BCF237A-A414-4C35-8B37-25B2615E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Go2 硬件：机器人由哪些部分组成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61258558-6CB3-42B1-A5C3-E7DC4DA0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1F6ED"/>
          </a:solidFill>
          <a:ln xmlns:a="http://schemas.openxmlformats.org/drawingml/2006/main" w="19050">
            <a:solidFill>
              <a:srgbClr val="0B6B4F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Go2 这类四足机器人通常包括机身结构、关节电机、传感器、计算单元、电池和通信模块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75C0EA0E-6630-44E5-8402-845A07FF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9CF6DB9E-93BE-4D72-8F20-ECCEBF271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硬件能力决定了机器人能走多快、能负载多少、能在什么环境下运行</a:t>
            </a:r>
          </a:p>
        </p:txBody>
      </p:sp>
      <p:sp>
        <p:nvSpPr>
          <p:cNvPr id="11" name="s3-takeaway-rule">
            <a:extLst xmlns:a="http://schemas.openxmlformats.org/drawingml/2006/main">
              <a:ext uri="{FF2B5EF4-FFF2-40B4-BE49-F238E27FC236}">
                <a16:creationId xmlns:a16="http://schemas.microsoft.com/office/drawing/2014/main" id="{E5C50A22-BE03-4016-8400-65FDC3C6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12" name="s3-takeaway">
            <a:extLst xmlns:a="http://schemas.openxmlformats.org/drawingml/2006/main">
              <a:ext uri="{FF2B5EF4-FFF2-40B4-BE49-F238E27FC236}">
                <a16:creationId xmlns:a16="http://schemas.microsoft.com/office/drawing/2014/main" id="{25F1C412-643E-4364-81B5-09F396619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Go2 硬件：机器人由哪些部分组成</a:t>
            </a:r>
          </a:p>
        </p:txBody>
      </p:sp>
    </p:spTree>
    <p:extLst>
      <p:ext uri="{BB962C8B-B14F-4D97-AF65-F5344CB8AC3E}">
        <p14:creationId xmlns:p14="http://schemas.microsoft.com/office/powerpoint/2010/main" val="5168529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4-rule">
            <a:extLst xmlns:a="http://schemas.openxmlformats.org/drawingml/2006/main">
              <a:ext uri="{FF2B5EF4-FFF2-40B4-BE49-F238E27FC236}">
                <a16:creationId xmlns:a16="http://schemas.microsoft.com/office/drawing/2014/main" id="{D53F68A4-249C-43A9-A87C-46B06B72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2" name="s4-eyebrow">
            <a:extLst xmlns:a="http://schemas.openxmlformats.org/drawingml/2006/main">
              <a:ext uri="{FF2B5EF4-FFF2-40B4-BE49-F238E27FC236}">
                <a16:creationId xmlns:a16="http://schemas.microsoft.com/office/drawing/2014/main" id="{E4B316AD-8235-4E87-8A58-B7E7C4B49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核心论点 2 / 7</a:t>
            </a:r>
          </a:p>
        </p:txBody>
      </p:sp>
      <p:sp>
        <p:nvSpPr>
          <p:cNvPr id="3" name="s4-title">
            <a:extLst xmlns:a="http://schemas.openxmlformats.org/drawingml/2006/main">
              <a:ext uri="{FF2B5EF4-FFF2-40B4-BE49-F238E27FC236}">
                <a16:creationId xmlns:a16="http://schemas.microsoft.com/office/drawing/2014/main" id="{593647EB-7F9D-4547-8F4F-7483C1AB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机器人运动的核心是在动态环境中保持平衡</a:t>
            </a:r>
          </a:p>
        </p:txBody>
      </p:sp>
      <p:sp>
        <p:nvSpPr>
          <p:cNvPr id="4" name="s4-footer">
            <a:extLst xmlns:a="http://schemas.openxmlformats.org/drawingml/2006/main">
              <a:ext uri="{FF2B5EF4-FFF2-40B4-BE49-F238E27FC236}">
                <a16:creationId xmlns:a16="http://schemas.microsoft.com/office/drawing/2014/main" id="{D068CC82-2E6D-4A66-968F-2BD6B99BF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4-identity">
            <a:extLst xmlns:a="http://schemas.openxmlformats.org/drawingml/2006/main">
              <a:ext uri="{FF2B5EF4-FFF2-40B4-BE49-F238E27FC236}">
                <a16:creationId xmlns:a16="http://schemas.microsoft.com/office/drawing/2014/main" id="{7A2F7B8A-0D50-46A4-956D-E74F431FB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EM-002 · EM-002-S04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962415A3-963B-4C56-A270-1C6AAE33A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EF257A7B-4B48-4781-AEED-3EAD5DEB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运动能力：稳定行走是基础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AB20DAEB-A195-40B9-A0D6-E42D28F1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1F6ED"/>
          </a:solidFill>
          <a:ln xmlns:a="http://schemas.openxmlformats.org/drawingml/2006/main" w="19050">
            <a:solidFill>
              <a:srgbClr val="0B6B4F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机器人运动不仅是让关节转动，而是让身体在动态环境中保持平衡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FA4FA91E-4D2A-4FC0-AD21-8569B8A1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13564A3A-F27A-41B1-B007-74FF86B13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步态控制、地形适应和跌倒恢复，是从演示走向应用的基础</a:t>
            </a:r>
          </a:p>
        </p:txBody>
      </p:sp>
      <p:sp>
        <p:nvSpPr>
          <p:cNvPr id="11" name="s4-takeaway-rule">
            <a:extLst xmlns:a="http://schemas.openxmlformats.org/drawingml/2006/main">
              <a:ext uri="{FF2B5EF4-FFF2-40B4-BE49-F238E27FC236}">
                <a16:creationId xmlns:a16="http://schemas.microsoft.com/office/drawing/2014/main" id="{022AA6D8-A1ED-44F8-84A7-19E824298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12" name="s4-takeaway">
            <a:extLst xmlns:a="http://schemas.openxmlformats.org/drawingml/2006/main">
              <a:ext uri="{FF2B5EF4-FFF2-40B4-BE49-F238E27FC236}">
                <a16:creationId xmlns:a16="http://schemas.microsoft.com/office/drawing/2014/main" id="{C19DAD17-BB65-402D-A6BB-9237BBAF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机器人运动的核心是在动态环境中保持平衡</a:t>
            </a:r>
          </a:p>
        </p:txBody>
      </p:sp>
    </p:spTree>
    <p:extLst>
      <p:ext uri="{BB962C8B-B14F-4D97-AF65-F5344CB8AC3E}">
        <p14:creationId xmlns:p14="http://schemas.microsoft.com/office/powerpoint/2010/main" val="9664026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5-rule">
            <a:extLst xmlns:a="http://schemas.openxmlformats.org/drawingml/2006/main">
              <a:ext uri="{FF2B5EF4-FFF2-40B4-BE49-F238E27FC236}">
                <a16:creationId xmlns:a16="http://schemas.microsoft.com/office/drawing/2014/main" id="{13B4183F-2473-4ACD-BCC2-0D2AA59D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2" name="s5-eyebrow">
            <a:extLst xmlns:a="http://schemas.openxmlformats.org/drawingml/2006/main">
              <a:ext uri="{FF2B5EF4-FFF2-40B4-BE49-F238E27FC236}">
                <a16:creationId xmlns:a16="http://schemas.microsoft.com/office/drawing/2014/main" id="{961CEDED-A73B-4A76-A2E9-36DE50DF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核心论点 3 / 7</a:t>
            </a:r>
          </a:p>
        </p:txBody>
      </p:sp>
      <p:sp>
        <p:nvSpPr>
          <p:cNvPr id="3" name="s5-title">
            <a:extLst xmlns:a="http://schemas.openxmlformats.org/drawingml/2006/main">
              <a:ext uri="{FF2B5EF4-FFF2-40B4-BE49-F238E27FC236}">
                <a16:creationId xmlns:a16="http://schemas.microsoft.com/office/drawing/2014/main" id="{E15D9EF7-F43B-4957-8A7B-85B9C820D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人形结构扩大操作潜力，也提高控制难度</a:t>
            </a:r>
          </a:p>
        </p:txBody>
      </p:sp>
      <p:sp>
        <p:nvSpPr>
          <p:cNvPr id="4" name="s5-footer">
            <a:extLst xmlns:a="http://schemas.openxmlformats.org/drawingml/2006/main">
              <a:ext uri="{FF2B5EF4-FFF2-40B4-BE49-F238E27FC236}">
                <a16:creationId xmlns:a16="http://schemas.microsoft.com/office/drawing/2014/main" id="{B5DF736B-7949-4E12-A297-E0890893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5-identity">
            <a:extLst xmlns:a="http://schemas.openxmlformats.org/drawingml/2006/main">
              <a:ext uri="{FF2B5EF4-FFF2-40B4-BE49-F238E27FC236}">
                <a16:creationId xmlns:a16="http://schemas.microsoft.com/office/drawing/2014/main" id="{0FB8A4C0-F0D7-4650-9999-06664E02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EM-002 · EM-002-S05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C4EAE18B-FCB6-498C-9D56-C5195801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3E8D9B74-E610-421B-8F49-C74F03EB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人形机器人：为什么被关注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8DE4093E-CE2E-4396-A160-664461B9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1F6ED"/>
          </a:solidFill>
          <a:ln xmlns:a="http://schemas.openxmlformats.org/drawingml/2006/main" w="19050">
            <a:solidFill>
              <a:srgbClr val="0B6B4F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人形机器人被关注，是因为它更容易进入为人类设计的空间，例如工厂、展厅、家庭和服务场景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00A473E2-8527-416A-8293-FFE6C5B5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CE6DB323-35BB-4056-911A-CB223401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但人形形态也带来更高控制难度、成本和安全要求</a:t>
            </a:r>
          </a:p>
        </p:txBody>
      </p:sp>
      <p:sp>
        <p:nvSpPr>
          <p:cNvPr id="11" name="s5-takeaway-rule">
            <a:extLst xmlns:a="http://schemas.openxmlformats.org/drawingml/2006/main">
              <a:ext uri="{FF2B5EF4-FFF2-40B4-BE49-F238E27FC236}">
                <a16:creationId xmlns:a16="http://schemas.microsoft.com/office/drawing/2014/main" id="{2F7911E1-07C6-4FFA-874B-CCE0BA37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12" name="s5-takeaway">
            <a:extLst xmlns:a="http://schemas.openxmlformats.org/drawingml/2006/main">
              <a:ext uri="{FF2B5EF4-FFF2-40B4-BE49-F238E27FC236}">
                <a16:creationId xmlns:a16="http://schemas.microsoft.com/office/drawing/2014/main" id="{B474437C-BFA0-4791-A6EC-E551702C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人形结构扩大操作潜力，也提高控制难度</a:t>
            </a:r>
          </a:p>
        </p:txBody>
      </p:sp>
    </p:spTree>
    <p:extLst>
      <p:ext uri="{BB962C8B-B14F-4D97-AF65-F5344CB8AC3E}">
        <p14:creationId xmlns:p14="http://schemas.microsoft.com/office/powerpoint/2010/main" val="5872716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6-rule">
            <a:extLst xmlns:a="http://schemas.openxmlformats.org/drawingml/2006/main">
              <a:ext uri="{FF2B5EF4-FFF2-40B4-BE49-F238E27FC236}">
                <a16:creationId xmlns:a16="http://schemas.microsoft.com/office/drawing/2014/main" id="{C586B366-A9AE-4F41-8B68-45009A45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2" name="s6-eyebrow">
            <a:extLst xmlns:a="http://schemas.openxmlformats.org/drawingml/2006/main">
              <a:ext uri="{FF2B5EF4-FFF2-40B4-BE49-F238E27FC236}">
                <a16:creationId xmlns:a16="http://schemas.microsoft.com/office/drawing/2014/main" id="{48493037-D907-4CCE-B841-A40857DDC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核心论点 4 / 7</a:t>
            </a:r>
          </a:p>
        </p:txBody>
      </p:sp>
      <p:sp>
        <p:nvSpPr>
          <p:cNvPr id="3" name="s6-title">
            <a:extLst xmlns:a="http://schemas.openxmlformats.org/drawingml/2006/main">
              <a:ext uri="{FF2B5EF4-FFF2-40B4-BE49-F238E27FC236}">
                <a16:creationId xmlns:a16="http://schemas.microsoft.com/office/drawing/2014/main" id="{46F5C92E-41EB-4375-B1F7-3C44E422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人形机器人正受到资本和产业链关注</a:t>
            </a:r>
          </a:p>
        </p:txBody>
      </p:sp>
      <p:sp>
        <p:nvSpPr>
          <p:cNvPr id="4" name="s6-footer">
            <a:extLst xmlns:a="http://schemas.openxmlformats.org/drawingml/2006/main">
              <a:ext uri="{FF2B5EF4-FFF2-40B4-BE49-F238E27FC236}">
                <a16:creationId xmlns:a16="http://schemas.microsoft.com/office/drawing/2014/main" id="{35871203-C12A-4B4B-B073-BE1776BC2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6-identity">
            <a:extLst xmlns:a="http://schemas.openxmlformats.org/drawingml/2006/main">
              <a:ext uri="{FF2B5EF4-FFF2-40B4-BE49-F238E27FC236}">
                <a16:creationId xmlns:a16="http://schemas.microsoft.com/office/drawing/2014/main" id="{771133DC-013A-41FF-A7F3-CB30EC29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EM-002 · EM-002-S06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67736840-7BB7-4587-9755-4F5D8F38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E461A5DC-C9A1-44F6-B707-3BA25549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产业格局：资本热度与应用验证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88027C6F-D2BB-4D50-865B-A692B3DC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1F6ED"/>
          </a:solidFill>
          <a:ln xmlns:a="http://schemas.openxmlformats.org/drawingml/2006/main" w="19050">
            <a:solidFill>
              <a:srgbClr val="0B6B4F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行业研究显示，人形机器人正受到资本和产业链关注，但商业化仍取决于成本下降、可靠性提升和真实场景验证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0A7EA05A-9C8D-484C-86F1-B8F3D7BC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3C18FB03-54A1-4F39-9289-098C381B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判断行业进展时，要区分发布会能力、实验室能力和可规模部署能力</a:t>
            </a:r>
          </a:p>
        </p:txBody>
      </p:sp>
      <p:sp>
        <p:nvSpPr>
          <p:cNvPr id="11" name="s6-takeaway-rule">
            <a:extLst xmlns:a="http://schemas.openxmlformats.org/drawingml/2006/main">
              <a:ext uri="{FF2B5EF4-FFF2-40B4-BE49-F238E27FC236}">
                <a16:creationId xmlns:a16="http://schemas.microsoft.com/office/drawing/2014/main" id="{606850A7-8DB1-4511-A6DA-B53C5F4F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12" name="s6-takeaway">
            <a:extLst xmlns:a="http://schemas.openxmlformats.org/drawingml/2006/main">
              <a:ext uri="{FF2B5EF4-FFF2-40B4-BE49-F238E27FC236}">
                <a16:creationId xmlns:a16="http://schemas.microsoft.com/office/drawing/2014/main" id="{AAF2975A-95B3-4358-87CB-AEB600244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人形机器人正受到资本和产业链关注</a:t>
            </a:r>
          </a:p>
        </p:txBody>
      </p:sp>
    </p:spTree>
    <p:extLst>
      <p:ext uri="{BB962C8B-B14F-4D97-AF65-F5344CB8AC3E}">
        <p14:creationId xmlns:p14="http://schemas.microsoft.com/office/powerpoint/2010/main" val="20520263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7-rule">
            <a:extLst xmlns:a="http://schemas.openxmlformats.org/drawingml/2006/main">
              <a:ext uri="{FF2B5EF4-FFF2-40B4-BE49-F238E27FC236}">
                <a16:creationId xmlns:a16="http://schemas.microsoft.com/office/drawing/2014/main" id="{5B7888FC-18FD-45E1-9355-09187D8E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2" name="s7-eyebrow">
            <a:extLst xmlns:a="http://schemas.openxmlformats.org/drawingml/2006/main">
              <a:ext uri="{FF2B5EF4-FFF2-40B4-BE49-F238E27FC236}">
                <a16:creationId xmlns:a16="http://schemas.microsoft.com/office/drawing/2014/main" id="{1D4785D1-AC94-488B-BB1C-4C468163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核心论点 5 / 7</a:t>
            </a:r>
          </a:p>
        </p:txBody>
      </p:sp>
      <p:sp>
        <p:nvSpPr>
          <p:cNvPr id="3" name="s7-title">
            <a:extLst xmlns:a="http://schemas.openxmlformats.org/drawingml/2006/main">
              <a:ext uri="{FF2B5EF4-FFF2-40B4-BE49-F238E27FC236}">
                <a16:creationId xmlns:a16="http://schemas.microsoft.com/office/drawing/2014/main" id="{982CB7A0-7DD6-45CF-9BA6-27E73CD2B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3437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机器人生态至少包含四层：机身、关节、传感器和电池等硬件</a:t>
            </a:r>
          </a:p>
        </p:txBody>
      </p:sp>
      <p:sp>
        <p:nvSpPr>
          <p:cNvPr id="4" name="s7-footer">
            <a:extLst xmlns:a="http://schemas.openxmlformats.org/drawingml/2006/main">
              <a:ext uri="{FF2B5EF4-FFF2-40B4-BE49-F238E27FC236}">
                <a16:creationId xmlns:a16="http://schemas.microsoft.com/office/drawing/2014/main" id="{ED114F20-3874-4708-9B3C-D603021F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7-identity">
            <a:extLst xmlns:a="http://schemas.openxmlformats.org/drawingml/2006/main">
              <a:ext uri="{FF2B5EF4-FFF2-40B4-BE49-F238E27FC236}">
                <a16:creationId xmlns:a16="http://schemas.microsoft.com/office/drawing/2014/main" id="{4CB0750D-D0E2-45B9-8040-CB09244F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EM-002 · EM-002-S07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F89FC965-C213-4A5E-AC8B-45C7481C0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1BDDDF84-A2DD-4DE1-9441-41A393C6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Unitree 生态：不只有一台机器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F97DFD4D-D683-4F2B-9E71-F47A6D6E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1F6ED"/>
          </a:solidFill>
          <a:ln xmlns:a="http://schemas.openxmlformats.org/drawingml/2006/main" w="19050">
            <a:solidFill>
              <a:srgbClr val="0B6B4F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机器人生态至少包含四层；机身、关节、传感器和电池等硬件；SDK、通信接口、ROS2 驱动和状态消息等开发层；仿真、数据采集、策略训练和模型部署等算法层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0E412722-4564-4B50-B4C8-909E0CAD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A2A89126-722A-46E4-A1A1-B87A902B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Go2 与 G1 都可以进入这套生态；但接口和风险包络不同；四足平台重心较低、支撑稳定；常用于巡检、教学和移动感知；人形平台能利用为人设计的门、台阶、工具和工位</a:t>
            </a:r>
          </a:p>
        </p:txBody>
      </p:sp>
      <p:sp>
        <p:nvSpPr>
          <p:cNvPr id="11" name="s7-takeaway-rule">
            <a:extLst xmlns:a="http://schemas.openxmlformats.org/drawingml/2006/main">
              <a:ext uri="{FF2B5EF4-FFF2-40B4-BE49-F238E27FC236}">
                <a16:creationId xmlns:a16="http://schemas.microsoft.com/office/drawing/2014/main" id="{0936CB3A-25C0-43D1-95DA-E794801E7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12" name="s7-takeaway">
            <a:extLst xmlns:a="http://schemas.openxmlformats.org/drawingml/2006/main">
              <a:ext uri="{FF2B5EF4-FFF2-40B4-BE49-F238E27FC236}">
                <a16:creationId xmlns:a16="http://schemas.microsoft.com/office/drawing/2014/main" id="{1922DFA0-CC56-49C2-9EF3-D4B973B1A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机器人生态至少包含四层：机身、关节、传感器和电池等硬件</a:t>
            </a:r>
          </a:p>
        </p:txBody>
      </p:sp>
    </p:spTree>
    <p:extLst>
      <p:ext uri="{BB962C8B-B14F-4D97-AF65-F5344CB8AC3E}">
        <p14:creationId xmlns:p14="http://schemas.microsoft.com/office/powerpoint/2010/main" val="10615391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8-rule">
            <a:extLst xmlns:a="http://schemas.openxmlformats.org/drawingml/2006/main">
              <a:ext uri="{FF2B5EF4-FFF2-40B4-BE49-F238E27FC236}">
                <a16:creationId xmlns:a16="http://schemas.microsoft.com/office/drawing/2014/main" id="{F2163E4D-14D5-4729-9EFD-4CFC36D4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2" name="s8-eyebrow">
            <a:extLst xmlns:a="http://schemas.openxmlformats.org/drawingml/2006/main">
              <a:ext uri="{FF2B5EF4-FFF2-40B4-BE49-F238E27FC236}">
                <a16:creationId xmlns:a16="http://schemas.microsoft.com/office/drawing/2014/main" id="{6B43C3F0-2BBA-4D02-85F2-AEDBDE7B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核心论点 6 / 7</a:t>
            </a:r>
          </a:p>
        </p:txBody>
      </p:sp>
      <p:sp>
        <p:nvSpPr>
          <p:cNvPr id="3" name="s8-title">
            <a:extLst xmlns:a="http://schemas.openxmlformats.org/drawingml/2006/main">
              <a:ext uri="{FF2B5EF4-FFF2-40B4-BE49-F238E27FC236}">
                <a16:creationId xmlns:a16="http://schemas.microsoft.com/office/drawing/2014/main" id="{AFCB0D49-37CD-4F7A-B1B4-F734688E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成本：比较总拥有成本，而不是只看售价</a:t>
            </a:r>
          </a:p>
        </p:txBody>
      </p:sp>
      <p:sp>
        <p:nvSpPr>
          <p:cNvPr id="4" name="s8-footer">
            <a:extLst xmlns:a="http://schemas.openxmlformats.org/drawingml/2006/main">
              <a:ext uri="{FF2B5EF4-FFF2-40B4-BE49-F238E27FC236}">
                <a16:creationId xmlns:a16="http://schemas.microsoft.com/office/drawing/2014/main" id="{87A49269-E2CF-4671-A73C-9251FB1B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8-identity">
            <a:extLst xmlns:a="http://schemas.openxmlformats.org/drawingml/2006/main">
              <a:ext uri="{FF2B5EF4-FFF2-40B4-BE49-F238E27FC236}">
                <a16:creationId xmlns:a16="http://schemas.microsoft.com/office/drawing/2014/main" id="{45412BD3-01A3-4001-A190-E2B1CCFD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EM-002 · EM-002-S08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33DE2AD0-27F4-46B1-8BD2-E68079E6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D6188DD8-82C8-47F9-B886-8829030A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成本：比较总拥有成本，而不是只看售价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A9826F30-B72D-4DDF-BD3A-EAFBB378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1F6ED"/>
          </a:solidFill>
          <a:ln xmlns:a="http://schemas.openxmlformats.org/drawingml/2006/main" w="19050">
            <a:solidFill>
              <a:srgbClr val="0B6B4F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机器人项目的成本包括设备与传感器、计算单元、备件、电池、场地改造、软件集成、标注与训练、现场操作、维护停机和安全责任；原型演示往往由工程师随时接管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B36528E2-6B05-476A-AB87-D7802F5B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A8B2F980-87C4-455E-A02C-32C481784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比较形态时应把任务收益与总成本放在一起；四足机器人也许更容易在不平地面移动；但不一定能操作为人设计的工具；人形机器人也许覆盖更多工位；却可能需要更高的安全投入；最合适的形态由任务与环境决定</a:t>
            </a:r>
          </a:p>
        </p:txBody>
      </p:sp>
      <p:sp>
        <p:nvSpPr>
          <p:cNvPr id="11" name="s8-takeaway-rule">
            <a:extLst xmlns:a="http://schemas.openxmlformats.org/drawingml/2006/main">
              <a:ext uri="{FF2B5EF4-FFF2-40B4-BE49-F238E27FC236}">
                <a16:creationId xmlns:a16="http://schemas.microsoft.com/office/drawing/2014/main" id="{0ED53EBA-04D3-485F-922D-AC14E1FF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12" name="s8-takeaway">
            <a:extLst xmlns:a="http://schemas.openxmlformats.org/drawingml/2006/main">
              <a:ext uri="{FF2B5EF4-FFF2-40B4-BE49-F238E27FC236}">
                <a16:creationId xmlns:a16="http://schemas.microsoft.com/office/drawing/2014/main" id="{993B3613-7F29-4003-B5FE-C66024C9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成本：比较总拥有成本，而不是只看售价</a:t>
            </a:r>
          </a:p>
        </p:txBody>
      </p:sp>
    </p:spTree>
    <p:extLst>
      <p:ext uri="{BB962C8B-B14F-4D97-AF65-F5344CB8AC3E}">
        <p14:creationId xmlns:p14="http://schemas.microsoft.com/office/powerpoint/2010/main" val="3604250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9-rule">
            <a:extLst xmlns:a="http://schemas.openxmlformats.org/drawingml/2006/main">
              <a:ext uri="{FF2B5EF4-FFF2-40B4-BE49-F238E27FC236}">
                <a16:creationId xmlns:a16="http://schemas.microsoft.com/office/drawing/2014/main" id="{4FEB39A4-A2F3-43B9-87C6-172517AA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2" name="s9-eyebrow">
            <a:extLst xmlns:a="http://schemas.openxmlformats.org/drawingml/2006/main">
              <a:ext uri="{FF2B5EF4-FFF2-40B4-BE49-F238E27FC236}">
                <a16:creationId xmlns:a16="http://schemas.microsoft.com/office/drawing/2014/main" id="{9B735A34-9D5E-498B-AAB9-90D3E599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核心论点 7 / 7</a:t>
            </a:r>
          </a:p>
        </p:txBody>
      </p:sp>
      <p:sp>
        <p:nvSpPr>
          <p:cNvPr id="3" name="s9-title">
            <a:extLst xmlns:a="http://schemas.openxmlformats.org/drawingml/2006/main">
              <a:ext uri="{FF2B5EF4-FFF2-40B4-BE49-F238E27FC236}">
                <a16:creationId xmlns:a16="http://schemas.microsoft.com/office/drawing/2014/main" id="{3F08B710-A36B-4644-8197-B091F243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7028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当前机器人更适合巡检、展示、教育、导览和特定工业任务</a:t>
            </a:r>
          </a:p>
        </p:txBody>
      </p:sp>
      <p:sp>
        <p:nvSpPr>
          <p:cNvPr id="4" name="s9-footer">
            <a:extLst xmlns:a="http://schemas.openxmlformats.org/drawingml/2006/main">
              <a:ext uri="{FF2B5EF4-FFF2-40B4-BE49-F238E27FC236}">
                <a16:creationId xmlns:a16="http://schemas.microsoft.com/office/drawing/2014/main" id="{CAAEFFEE-9858-48BC-840E-B6146AF4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9-identity">
            <a:extLst xmlns:a="http://schemas.openxmlformats.org/drawingml/2006/main">
              <a:ext uri="{FF2B5EF4-FFF2-40B4-BE49-F238E27FC236}">
                <a16:creationId xmlns:a16="http://schemas.microsoft.com/office/drawing/2014/main" id="{FB90FA17-E29A-47CD-82FB-22DF4642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EM-002 · EM-002-S09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5413F7A7-B1E8-4A50-971C-4E4C21D87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28D4EE64-A7AF-4411-8B29-C9110E6FF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应用边界：从巡检到服务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EBB30D1A-30DC-4905-9000-5753BBED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1F6ED"/>
          </a:solidFill>
          <a:ln xmlns:a="http://schemas.openxmlformats.org/drawingml/2006/main" w="19050">
            <a:solidFill>
              <a:srgbClr val="0B6B4F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当前机器人更适合巡检、展示、教育、导览和特定工业任务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0838A1FB-9CD2-4432-8C78-3AB8DD92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184C5702-D742-471D-866B-3F1A6BF3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进入高风险场景前，需要充分验证安全、续航、维护和异常处理</a:t>
            </a:r>
          </a:p>
        </p:txBody>
      </p:sp>
      <p:sp>
        <p:nvSpPr>
          <p:cNvPr id="11" name="s9-takeaway-rule">
            <a:extLst xmlns:a="http://schemas.openxmlformats.org/drawingml/2006/main">
              <a:ext uri="{FF2B5EF4-FFF2-40B4-BE49-F238E27FC236}">
                <a16:creationId xmlns:a16="http://schemas.microsoft.com/office/drawing/2014/main" id="{6294FD27-3FB3-41F0-BC6F-88589F9E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12" name="s9-takeaway">
            <a:extLst xmlns:a="http://schemas.openxmlformats.org/drawingml/2006/main">
              <a:ext uri="{FF2B5EF4-FFF2-40B4-BE49-F238E27FC236}">
                <a16:creationId xmlns:a16="http://schemas.microsoft.com/office/drawing/2014/main" id="{94427AD6-774A-4653-B13F-93A91E63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当前机器人更适合巡检、展示、教育、导览和特定工业任务</a:t>
            </a:r>
          </a:p>
        </p:txBody>
      </p:sp>
    </p:spTree>
    <p:extLst>
      <p:ext uri="{BB962C8B-B14F-4D97-AF65-F5344CB8AC3E}">
        <p14:creationId xmlns:p14="http://schemas.microsoft.com/office/powerpoint/2010/main" val="907907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0-rule">
            <a:extLst xmlns:a="http://schemas.openxmlformats.org/drawingml/2006/main">
              <a:ext uri="{FF2B5EF4-FFF2-40B4-BE49-F238E27FC236}">
                <a16:creationId xmlns:a16="http://schemas.microsoft.com/office/drawing/2014/main" id="{BF6256B8-D2A7-4FE1-93B2-3CEBC39A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2" name="s10-eyebrow">
            <a:extLst xmlns:a="http://schemas.openxmlformats.org/drawingml/2006/main">
              <a:ext uri="{FF2B5EF4-FFF2-40B4-BE49-F238E27FC236}">
                <a16:creationId xmlns:a16="http://schemas.microsoft.com/office/drawing/2014/main" id="{17B3128D-3D7D-4E74-A752-79F6BD428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案例与边界 1 / 1</a:t>
            </a:r>
          </a:p>
        </p:txBody>
      </p:sp>
      <p:sp>
        <p:nvSpPr>
          <p:cNvPr id="3" name="s10-title">
            <a:extLst xmlns:a="http://schemas.openxmlformats.org/drawingml/2006/main">
              <a:ext uri="{FF2B5EF4-FFF2-40B4-BE49-F238E27FC236}">
                <a16:creationId xmlns:a16="http://schemas.microsoft.com/office/drawing/2014/main" id="{1E6A68E1-305E-443C-A713-AA396C1D6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必须设置安全区域、速度限制和人工急停</a:t>
            </a:r>
          </a:p>
        </p:txBody>
      </p:sp>
      <p:sp>
        <p:nvSpPr>
          <p:cNvPr id="4" name="s10-footer">
            <a:extLst xmlns:a="http://schemas.openxmlformats.org/drawingml/2006/main">
              <a:ext uri="{FF2B5EF4-FFF2-40B4-BE49-F238E27FC236}">
                <a16:creationId xmlns:a16="http://schemas.microsoft.com/office/drawing/2014/main" id="{F500CFB0-E37B-463F-99A1-BE54AC90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0-identity">
            <a:extLst xmlns:a="http://schemas.openxmlformats.org/drawingml/2006/main">
              <a:ext uri="{FF2B5EF4-FFF2-40B4-BE49-F238E27FC236}">
                <a16:creationId xmlns:a16="http://schemas.microsoft.com/office/drawing/2014/main" id="{A6063ABD-12E7-4A8E-B230-A0BEA46E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EM-002 · EM-002-S10</a:t>
            </a:r>
          </a:p>
        </p:txBody>
      </p:sp>
      <p:sp>
        <p:nvSpPr>
          <p:cNvPr id="6" name="case-title">
            <a:extLst xmlns:a="http://schemas.openxmlformats.org/drawingml/2006/main">
              <a:ext uri="{FF2B5EF4-FFF2-40B4-BE49-F238E27FC236}">
                <a16:creationId xmlns:a16="http://schemas.microsoft.com/office/drawing/2014/main" id="{CB1E8E73-D3A2-4599-831B-0F277F087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3048000" cy="2724150"/>
          </a:xfrm>
          <a:prstGeom xmlns:a="http://schemas.openxmlformats.org/drawingml/2006/main" prst="roundRect">
            <a:avLst>
              <a:gd name="adj" fmla="val 6993"/>
            </a:avLst>
          </a:prstGeom>
          <a:solidFill xmlns:a="http://schemas.openxmlformats.org/drawingml/2006/main">
            <a:srgbClr val="165642"/>
          </a:solidFill>
          <a:ln xmlns:a="http://schemas.openxmlformats.org/drawingml/2006/main" w="0">
            <a:solidFill>
              <a:srgbClr val="165642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展厅中的四足机器人</a:t>
            </a:r>
          </a:p>
        </p:txBody>
      </p:sp>
      <p:sp>
        <p:nvSpPr>
          <p:cNvPr id="7" name="case-row-0">
            <a:extLst xmlns:a="http://schemas.openxmlformats.org/drawingml/2006/main">
              <a:ext uri="{FF2B5EF4-FFF2-40B4-BE49-F238E27FC236}">
                <a16:creationId xmlns:a16="http://schemas.microsoft.com/office/drawing/2014/main" id="{52379506-E2FD-497E-8B76-CF5F25466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3835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295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场景｜机器人在展厅中完成巡游和互动展示</a:t>
            </a:r>
          </a:p>
        </p:txBody>
      </p:sp>
      <p:sp>
        <p:nvSpPr>
          <p:cNvPr id="8" name="case-row-1">
            <a:extLst xmlns:a="http://schemas.openxmlformats.org/drawingml/2006/main">
              <a:ext uri="{FF2B5EF4-FFF2-40B4-BE49-F238E27FC236}">
                <a16:creationId xmlns:a16="http://schemas.microsoft.com/office/drawing/2014/main" id="{C8C82940-BF4C-414E-A216-E374E45B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6700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295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问题｜人流、障碍物、地面变化和网络状态都会影响体验</a:t>
            </a:r>
          </a:p>
        </p:txBody>
      </p:sp>
      <p:sp>
        <p:nvSpPr>
          <p:cNvPr id="9" name="case-row-2">
            <a:extLst xmlns:a="http://schemas.openxmlformats.org/drawingml/2006/main">
              <a:ext uri="{FF2B5EF4-FFF2-40B4-BE49-F238E27FC236}">
                <a16:creationId xmlns:a16="http://schemas.microsoft.com/office/drawing/2014/main" id="{F3B03CE4-46CE-4482-A9DA-33093B69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9565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295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方法｜机器人结合传感器、定位和运动控制完成路线执行</a:t>
            </a:r>
          </a:p>
        </p:txBody>
      </p:sp>
      <p:sp>
        <p:nvSpPr>
          <p:cNvPr id="10" name="case-row-3">
            <a:extLst xmlns:a="http://schemas.openxmlformats.org/drawingml/2006/main">
              <a:ext uri="{FF2B5EF4-FFF2-40B4-BE49-F238E27FC236}">
                <a16:creationId xmlns:a16="http://schemas.microsoft.com/office/drawing/2014/main" id="{8349AE5E-2F66-434A-BCAC-3A9D6D0F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2430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295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结果｜观众能直观看到具身系统的行动能力</a:t>
            </a:r>
          </a:p>
        </p:txBody>
      </p:sp>
      <p:sp>
        <p:nvSpPr>
          <p:cNvPr id="11" name="case-row-4">
            <a:extLst xmlns:a="http://schemas.openxmlformats.org/drawingml/2006/main">
              <a:ext uri="{FF2B5EF4-FFF2-40B4-BE49-F238E27FC236}">
                <a16:creationId xmlns:a16="http://schemas.microsoft.com/office/drawing/2014/main" id="{E0D19AB2-FB53-4FF3-A3E1-2AD50593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5295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E1F6ED"/>
          </a:solidFill>
          <a:ln xmlns:a="http://schemas.openxmlformats.org/drawingml/2006/main" w="9525">
            <a:solidFill>
              <a:srgbClr val="0B6B4F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295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边界｜必须设置安全区域、速度限制和人工急停</a:t>
            </a:r>
          </a:p>
        </p:txBody>
      </p:sp>
      <p:sp>
        <p:nvSpPr>
          <p:cNvPr id="12" name="s10-takeaway-rule">
            <a:extLst xmlns:a="http://schemas.openxmlformats.org/drawingml/2006/main">
              <a:ext uri="{FF2B5EF4-FFF2-40B4-BE49-F238E27FC236}">
                <a16:creationId xmlns:a16="http://schemas.microsoft.com/office/drawing/2014/main" id="{64E80E6C-2EE1-4E02-B696-726DE9C4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13" name="s10-takeaway">
            <a:extLst xmlns:a="http://schemas.openxmlformats.org/drawingml/2006/main">
              <a:ext uri="{FF2B5EF4-FFF2-40B4-BE49-F238E27FC236}">
                <a16:creationId xmlns:a16="http://schemas.microsoft.com/office/drawing/2014/main" id="{A76F12F2-3562-4DAC-9FA3-0D92E0DE6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必须设置安全区域、速度限制和人工急停</a:t>
            </a:r>
          </a:p>
        </p:txBody>
      </p:sp>
    </p:spTree>
    <p:extLst>
      <p:ext uri="{BB962C8B-B14F-4D97-AF65-F5344CB8AC3E}">
        <p14:creationId xmlns:p14="http://schemas.microsoft.com/office/powerpoint/2010/main" val="129368018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1-rule">
            <a:extLst xmlns:a="http://schemas.openxmlformats.org/drawingml/2006/main">
              <a:ext uri="{FF2B5EF4-FFF2-40B4-BE49-F238E27FC236}">
                <a16:creationId xmlns:a16="http://schemas.microsoft.com/office/drawing/2014/main" id="{626EE6EB-916C-40AD-A58B-4C68E421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2" name="s11-eyebrow">
            <a:extLst xmlns:a="http://schemas.openxmlformats.org/drawingml/2006/main">
              <a:ext uri="{FF2B5EF4-FFF2-40B4-BE49-F238E27FC236}">
                <a16:creationId xmlns:a16="http://schemas.microsoft.com/office/drawing/2014/main" id="{FB96D3ED-A0DC-46B5-B96B-93F1CCFE4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动手实践</a:t>
            </a:r>
          </a:p>
        </p:txBody>
      </p:sp>
      <p:sp>
        <p:nvSpPr>
          <p:cNvPr id="3" name="s11-title">
            <a:extLst xmlns:a="http://schemas.openxmlformats.org/drawingml/2006/main">
              <a:ext uri="{FF2B5EF4-FFF2-40B4-BE49-F238E27FC236}">
                <a16:creationId xmlns:a16="http://schemas.microsoft.com/office/drawing/2014/main" id="{6DD94FCB-EE34-4F9E-BFB7-BF65E46C3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人形与四足机器人：一次可验收练习</a:t>
            </a:r>
          </a:p>
        </p:txBody>
      </p:sp>
      <p:sp>
        <p:nvSpPr>
          <p:cNvPr id="4" name="s11-footer">
            <a:extLst xmlns:a="http://schemas.openxmlformats.org/drawingml/2006/main">
              <a:ext uri="{FF2B5EF4-FFF2-40B4-BE49-F238E27FC236}">
                <a16:creationId xmlns:a16="http://schemas.microsoft.com/office/drawing/2014/main" id="{CADE0CC8-A5C9-4AC9-B5F3-EFC00005E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1-identity">
            <a:extLst xmlns:a="http://schemas.openxmlformats.org/drawingml/2006/main">
              <a:ext uri="{FF2B5EF4-FFF2-40B4-BE49-F238E27FC236}">
                <a16:creationId xmlns:a16="http://schemas.microsoft.com/office/drawing/2014/main" id="{DA8E10E2-16DC-4180-9D3F-CC111869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EM-002 · EM-002-S11</a:t>
            </a:r>
          </a:p>
        </p:txBody>
      </p:sp>
      <p:sp>
        <p:nvSpPr>
          <p:cNvPr id="6" name="practice-circle-0">
            <a:extLst xmlns:a="http://schemas.openxmlformats.org/drawingml/2006/main">
              <a:ext uri="{FF2B5EF4-FFF2-40B4-BE49-F238E27FC236}">
                <a16:creationId xmlns:a16="http://schemas.microsoft.com/office/drawing/2014/main" id="{9EF01574-8209-461B-93E8-70896C435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64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" name="practice-number-0">
            <a:extLst xmlns:a="http://schemas.openxmlformats.org/drawingml/2006/main">
              <a:ext uri="{FF2B5EF4-FFF2-40B4-BE49-F238E27FC236}">
                <a16:creationId xmlns:a16="http://schemas.microsoft.com/office/drawing/2014/main" id="{9BAE6D98-0D1D-4CB2-9F57-74526471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practice-item-0">
            <a:extLst xmlns:a="http://schemas.openxmlformats.org/drawingml/2006/main">
              <a:ext uri="{FF2B5EF4-FFF2-40B4-BE49-F238E27FC236}">
                <a16:creationId xmlns:a16="http://schemas.microsoft.com/office/drawing/2014/main" id="{2C640A84-4869-49A6-BC0B-3091EBD2A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画出 Go2 机器人硬件组成图；列出人形机器人进入服务场景前要验证的三项能力</a:t>
            </a:r>
          </a:p>
        </p:txBody>
      </p:sp>
      <p:sp>
        <p:nvSpPr>
          <p:cNvPr id="9" name="practice-connector-0">
            <a:extLst xmlns:a="http://schemas.openxmlformats.org/drawingml/2006/main">
              <a:ext uri="{FF2B5EF4-FFF2-40B4-BE49-F238E27FC236}">
                <a16:creationId xmlns:a16="http://schemas.microsoft.com/office/drawing/2014/main" id="{0895BBBB-8B54-4E33-BD4C-E4BC1C75F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6B4F"/>
            </a:solidFill>
            <a:prstDash val="solid"/>
          </a:ln>
        </p:spPr>
      </p:sp>
      <p:sp>
        <p:nvSpPr>
          <p:cNvPr id="10" name="practice-circle-1">
            <a:extLst xmlns:a="http://schemas.openxmlformats.org/drawingml/2006/main">
              <a:ext uri="{FF2B5EF4-FFF2-40B4-BE49-F238E27FC236}">
                <a16:creationId xmlns:a16="http://schemas.microsoft.com/office/drawing/2014/main" id="{EF96E69E-E74B-482E-A497-918566623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64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practice-number-1">
            <a:extLst xmlns:a="http://schemas.openxmlformats.org/drawingml/2006/main">
              <a:ext uri="{FF2B5EF4-FFF2-40B4-BE49-F238E27FC236}">
                <a16:creationId xmlns:a16="http://schemas.microsoft.com/office/drawing/2014/main" id="{89D5FD3F-80AE-4974-BB29-A3FDCF6F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practice-item-1">
            <a:extLst xmlns:a="http://schemas.openxmlformats.org/drawingml/2006/main">
              <a:ext uri="{FF2B5EF4-FFF2-40B4-BE49-F238E27FC236}">
                <a16:creationId xmlns:a16="http://schemas.microsoft.com/office/drawing/2014/main" id="{4DC45A1F-E6DF-475B-ABBD-CBDF8E57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35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用“任务、环境、接口、安全、维护、总成本”六栏比较四足和人形方案</a:t>
            </a:r>
          </a:p>
        </p:txBody>
      </p:sp>
      <p:sp>
        <p:nvSpPr>
          <p:cNvPr id="13" name="practice-connector-1">
            <a:extLst xmlns:a="http://schemas.openxmlformats.org/drawingml/2006/main">
              <a:ext uri="{FF2B5EF4-FFF2-40B4-BE49-F238E27FC236}">
                <a16:creationId xmlns:a16="http://schemas.microsoft.com/office/drawing/2014/main" id="{5A7BCB90-2040-44C7-ABAF-379DD199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6B4F"/>
            </a:solidFill>
            <a:prstDash val="solid"/>
          </a:ln>
        </p:spPr>
      </p:sp>
      <p:sp>
        <p:nvSpPr>
          <p:cNvPr id="14" name="practice-circle-2">
            <a:extLst xmlns:a="http://schemas.openxmlformats.org/drawingml/2006/main">
              <a:ext uri="{FF2B5EF4-FFF2-40B4-BE49-F238E27FC236}">
                <a16:creationId xmlns:a16="http://schemas.microsoft.com/office/drawing/2014/main" id="{280F8CAA-6BB3-46F8-8274-0812AA4E9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5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B4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5" name="practice-number-2">
            <a:extLst xmlns:a="http://schemas.openxmlformats.org/drawingml/2006/main">
              <a:ext uri="{FF2B5EF4-FFF2-40B4-BE49-F238E27FC236}">
                <a16:creationId xmlns:a16="http://schemas.microsoft.com/office/drawing/2014/main" id="{AFFB1FED-29FE-4236-B145-81BD97E2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89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6" name="practice-item-2">
            <a:extLst xmlns:a="http://schemas.openxmlformats.org/drawingml/2006/main">
              <a:ext uri="{FF2B5EF4-FFF2-40B4-BE49-F238E27FC236}">
                <a16:creationId xmlns:a16="http://schemas.microsoft.com/office/drawing/2014/main" id="{DE37D2B7-ADC0-4A52-813B-7B3478062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E1F6ED"/>
          </a:solidFill>
          <a:ln xmlns:a="http://schemas.openxmlformats.org/drawingml/2006/main" w="19050">
            <a:solidFill>
              <a:srgbClr val="0B6B4F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为一台机器人画出硬件、开发、算法和运营四层生态图，标出当前缺口</a:t>
            </a:r>
          </a:p>
        </p:txBody>
      </p:sp>
    </p:spTree>
    <p:extLst>
      <p:ext uri="{BB962C8B-B14F-4D97-AF65-F5344CB8AC3E}">
        <p14:creationId xmlns:p14="http://schemas.microsoft.com/office/powerpoint/2010/main" val="110048025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2-rule">
            <a:extLst xmlns:a="http://schemas.openxmlformats.org/drawingml/2006/main">
              <a:ext uri="{FF2B5EF4-FFF2-40B4-BE49-F238E27FC236}">
                <a16:creationId xmlns:a16="http://schemas.microsoft.com/office/drawing/2014/main" id="{98FEAFBA-27E1-440D-BF18-128BAC881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2" name="s12-eyebrow">
            <a:extLst xmlns:a="http://schemas.openxmlformats.org/drawingml/2006/main">
              <a:ext uri="{FF2B5EF4-FFF2-40B4-BE49-F238E27FC236}">
                <a16:creationId xmlns:a16="http://schemas.microsoft.com/office/drawing/2014/main" id="{EAF17C5B-BC99-41EA-BF23-4E9F65BC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课后复盘</a:t>
            </a:r>
          </a:p>
        </p:txBody>
      </p:sp>
      <p:sp>
        <p:nvSpPr>
          <p:cNvPr id="3" name="s12-title">
            <a:extLst xmlns:a="http://schemas.openxmlformats.org/drawingml/2006/main">
              <a:ext uri="{FF2B5EF4-FFF2-40B4-BE49-F238E27FC236}">
                <a16:creationId xmlns:a16="http://schemas.microsoft.com/office/drawing/2014/main" id="{88103CA1-9EAF-45FE-A341-B927980A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人形与四足机器人：判断时先抓住三点</a:t>
            </a:r>
          </a:p>
        </p:txBody>
      </p:sp>
      <p:sp>
        <p:nvSpPr>
          <p:cNvPr id="4" name="s12-footer">
            <a:extLst xmlns:a="http://schemas.openxmlformats.org/drawingml/2006/main">
              <a:ext uri="{FF2B5EF4-FFF2-40B4-BE49-F238E27FC236}">
                <a16:creationId xmlns:a16="http://schemas.microsoft.com/office/drawing/2014/main" id="{A06AE4A0-273B-4103-8FC7-C06AC22C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2-identity">
            <a:extLst xmlns:a="http://schemas.openxmlformats.org/drawingml/2006/main">
              <a:ext uri="{FF2B5EF4-FFF2-40B4-BE49-F238E27FC236}">
                <a16:creationId xmlns:a16="http://schemas.microsoft.com/office/drawing/2014/main" id="{A2E73EE0-08F5-4326-94BC-6D0BB965B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EM-002 · EM-002-S12</a:t>
            </a:r>
          </a:p>
        </p:txBody>
      </p:sp>
      <p:sp>
        <p:nvSpPr>
          <p:cNvPr id="6" name="recap-circle-0">
            <a:extLst xmlns:a="http://schemas.openxmlformats.org/drawingml/2006/main">
              <a:ext uri="{FF2B5EF4-FFF2-40B4-BE49-F238E27FC236}">
                <a16:creationId xmlns:a16="http://schemas.microsoft.com/office/drawing/2014/main" id="{3F4A73C5-1273-4194-BF68-B5FFDBB4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64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" name="recap-number-0">
            <a:extLst xmlns:a="http://schemas.openxmlformats.org/drawingml/2006/main">
              <a:ext uri="{FF2B5EF4-FFF2-40B4-BE49-F238E27FC236}">
                <a16:creationId xmlns:a16="http://schemas.microsoft.com/office/drawing/2014/main" id="{3B117AA5-9653-4AAD-8A35-61B3FFBD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recap-item-0">
            <a:extLst xmlns:a="http://schemas.openxmlformats.org/drawingml/2006/main">
              <a:ext uri="{FF2B5EF4-FFF2-40B4-BE49-F238E27FC236}">
                <a16:creationId xmlns:a16="http://schemas.microsoft.com/office/drawing/2014/main" id="{5CC6170A-EC10-4D9A-AD6D-EEAA7932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Go2 硬件：机器人由哪些部分组成</a:t>
            </a:r>
          </a:p>
        </p:txBody>
      </p:sp>
      <p:sp>
        <p:nvSpPr>
          <p:cNvPr id="9" name="recap-connector-0">
            <a:extLst xmlns:a="http://schemas.openxmlformats.org/drawingml/2006/main">
              <a:ext uri="{FF2B5EF4-FFF2-40B4-BE49-F238E27FC236}">
                <a16:creationId xmlns:a16="http://schemas.microsoft.com/office/drawing/2014/main" id="{32FFB362-A694-410B-8DBA-3B110146F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6B4F"/>
            </a:solidFill>
            <a:prstDash val="solid"/>
          </a:ln>
        </p:spPr>
      </p:sp>
      <p:sp>
        <p:nvSpPr>
          <p:cNvPr id="10" name="recap-circle-1">
            <a:extLst xmlns:a="http://schemas.openxmlformats.org/drawingml/2006/main">
              <a:ext uri="{FF2B5EF4-FFF2-40B4-BE49-F238E27FC236}">
                <a16:creationId xmlns:a16="http://schemas.microsoft.com/office/drawing/2014/main" id="{5E899C88-7D91-4606-8847-DE60909D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64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recap-number-1">
            <a:extLst xmlns:a="http://schemas.openxmlformats.org/drawingml/2006/main">
              <a:ext uri="{FF2B5EF4-FFF2-40B4-BE49-F238E27FC236}">
                <a16:creationId xmlns:a16="http://schemas.microsoft.com/office/drawing/2014/main" id="{EC5C79A9-C65C-4CB2-A342-2A173A8B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recap-item-1">
            <a:extLst xmlns:a="http://schemas.openxmlformats.org/drawingml/2006/main">
              <a:ext uri="{FF2B5EF4-FFF2-40B4-BE49-F238E27FC236}">
                <a16:creationId xmlns:a16="http://schemas.microsoft.com/office/drawing/2014/main" id="{FD833AD9-99F6-4788-BB7A-0336CFE93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35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人形机器人正受到资本和产业链关注</a:t>
            </a:r>
          </a:p>
        </p:txBody>
      </p:sp>
      <p:sp>
        <p:nvSpPr>
          <p:cNvPr id="13" name="recap-connector-1">
            <a:extLst xmlns:a="http://schemas.openxmlformats.org/drawingml/2006/main">
              <a:ext uri="{FF2B5EF4-FFF2-40B4-BE49-F238E27FC236}">
                <a16:creationId xmlns:a16="http://schemas.microsoft.com/office/drawing/2014/main" id="{1F98E9F5-3848-4884-9E31-D5645471B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6B4F"/>
            </a:solidFill>
            <a:prstDash val="solid"/>
          </a:ln>
        </p:spPr>
      </p:sp>
      <p:sp>
        <p:nvSpPr>
          <p:cNvPr id="14" name="recap-circle-2">
            <a:extLst xmlns:a="http://schemas.openxmlformats.org/drawingml/2006/main">
              <a:ext uri="{FF2B5EF4-FFF2-40B4-BE49-F238E27FC236}">
                <a16:creationId xmlns:a16="http://schemas.microsoft.com/office/drawing/2014/main" id="{71A60726-B6A8-459E-A79F-A5E11EBA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5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B4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5" name="recap-number-2">
            <a:extLst xmlns:a="http://schemas.openxmlformats.org/drawingml/2006/main">
              <a:ext uri="{FF2B5EF4-FFF2-40B4-BE49-F238E27FC236}">
                <a16:creationId xmlns:a16="http://schemas.microsoft.com/office/drawing/2014/main" id="{126359D2-DEBE-4D34-BBC3-83596336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89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6" name="recap-item-2">
            <a:extLst xmlns:a="http://schemas.openxmlformats.org/drawingml/2006/main">
              <a:ext uri="{FF2B5EF4-FFF2-40B4-BE49-F238E27FC236}">
                <a16:creationId xmlns:a16="http://schemas.microsoft.com/office/drawing/2014/main" id="{5FC0C4B8-F8E8-4463-93AD-353BC91D2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E1F6ED"/>
          </a:solidFill>
          <a:ln xmlns:a="http://schemas.openxmlformats.org/drawingml/2006/main" w="19050">
            <a:solidFill>
              <a:srgbClr val="0B6B4F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当前机器人更适合巡检、展示、教育、导览和特定工业任务</a:t>
            </a:r>
          </a:p>
        </p:txBody>
      </p:sp>
    </p:spTree>
    <p:extLst>
      <p:ext uri="{BB962C8B-B14F-4D97-AF65-F5344CB8AC3E}">
        <p14:creationId xmlns:p14="http://schemas.microsoft.com/office/powerpoint/2010/main" val="89933478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3-rule">
            <a:extLst xmlns:a="http://schemas.openxmlformats.org/drawingml/2006/main">
              <a:ext uri="{FF2B5EF4-FFF2-40B4-BE49-F238E27FC236}">
                <a16:creationId xmlns:a16="http://schemas.microsoft.com/office/drawing/2014/main" id="{173C07BD-FD51-408E-B841-9F5D2830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2" name="s13-eyebrow">
            <a:extLst xmlns:a="http://schemas.openxmlformats.org/drawingml/2006/main">
              <a:ext uri="{FF2B5EF4-FFF2-40B4-BE49-F238E27FC236}">
                <a16:creationId xmlns:a16="http://schemas.microsoft.com/office/drawing/2014/main" id="{BF4B64E4-B197-4C3B-ADB3-DC0CB8CE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来源与延伸</a:t>
            </a:r>
          </a:p>
        </p:txBody>
      </p:sp>
      <p:sp>
        <p:nvSpPr>
          <p:cNvPr id="3" name="s13-title">
            <a:extLst xmlns:a="http://schemas.openxmlformats.org/drawingml/2006/main">
              <a:ext uri="{FF2B5EF4-FFF2-40B4-BE49-F238E27FC236}">
                <a16:creationId xmlns:a16="http://schemas.microsoft.com/office/drawing/2014/main" id="{748974F9-A5EA-4BD4-85BE-3986378D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人形与四足机器人：依据、边界与延伸</a:t>
            </a:r>
          </a:p>
        </p:txBody>
      </p:sp>
      <p:sp>
        <p:nvSpPr>
          <p:cNvPr id="4" name="s13-footer">
            <a:extLst xmlns:a="http://schemas.openxmlformats.org/drawingml/2006/main">
              <a:ext uri="{FF2B5EF4-FFF2-40B4-BE49-F238E27FC236}">
                <a16:creationId xmlns:a16="http://schemas.microsoft.com/office/drawing/2014/main" id="{319B5419-E5D1-4F31-A201-93C172FE1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3-identity">
            <a:extLst xmlns:a="http://schemas.openxmlformats.org/drawingml/2006/main">
              <a:ext uri="{FF2B5EF4-FFF2-40B4-BE49-F238E27FC236}">
                <a16:creationId xmlns:a16="http://schemas.microsoft.com/office/drawing/2014/main" id="{414CB8B8-5E5D-4627-A26C-291A8C09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EM-002 · EM-002-S13</a:t>
            </a:r>
          </a:p>
        </p:txBody>
      </p:sp>
      <p:sp>
        <p:nvSpPr>
          <p:cNvPr id="6" name="source-0">
            <a:extLst xmlns:a="http://schemas.openxmlformats.org/drawingml/2006/main">
              <a:ext uri="{FF2B5EF4-FFF2-40B4-BE49-F238E27FC236}">
                <a16:creationId xmlns:a16="http://schemas.microsoft.com/office/drawing/2014/main" id="{BAAC563F-9E67-402A-9D02-15090842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1F6ED"/>
          </a:solidFill>
          <a:ln xmlns:a="http://schemas.openxmlformats.org/drawingml/2006/main" w="9525">
            <a:solidFill>
              <a:srgbClr val="0B6B4F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737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01  团队既有课程资料经重新组织、改写与原创视觉重制</a:t>
            </a:r>
          </a:p>
        </p:txBody>
      </p:sp>
      <p:sp>
        <p:nvSpPr>
          <p:cNvPr id="7" name="source-1">
            <a:extLst xmlns:a="http://schemas.openxmlformats.org/drawingml/2006/main">
              <a:ext uri="{FF2B5EF4-FFF2-40B4-BE49-F238E27FC236}">
                <a16:creationId xmlns:a16="http://schemas.microsoft.com/office/drawing/2014/main" id="{E04DEA23-AB3A-41AB-8282-832F503C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737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02  Unitree Robotics：机器人型号与公开规格以厂商当前页面为准。（核对日期：2026-07-11）</a:t>
            </a:r>
          </a:p>
        </p:txBody>
      </p:sp>
      <p:sp>
        <p:nvSpPr>
          <p:cNvPr id="8" name="s13-takeaway-rule">
            <a:extLst xmlns:a="http://schemas.openxmlformats.org/drawingml/2006/main">
              <a:ext uri="{FF2B5EF4-FFF2-40B4-BE49-F238E27FC236}">
                <a16:creationId xmlns:a16="http://schemas.microsoft.com/office/drawing/2014/main" id="{1042C805-B816-4D7F-9799-610D2676F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9" name="s13-takeaway">
            <a:extLst xmlns:a="http://schemas.openxmlformats.org/drawingml/2006/main">
              <a:ext uri="{FF2B5EF4-FFF2-40B4-BE49-F238E27FC236}">
                <a16:creationId xmlns:a16="http://schemas.microsoft.com/office/drawing/2014/main" id="{45EEF947-74DB-4BD5-A265-72C5C68B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816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课程正文与幻灯片共享同一知识主线，图片和视频用于帮助理解本节概念与案例。</a:t>
            </a:r>
          </a:p>
        </p:txBody>
      </p:sp>
    </p:spTree>
    <p:extLst>
      <p:ext uri="{BB962C8B-B14F-4D97-AF65-F5344CB8AC3E}">
        <p14:creationId xmlns:p14="http://schemas.microsoft.com/office/powerpoint/2010/main" val="844233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2026-07-12T08:20:18.0850000Z</dcterms:created>
  <dcterms:modified xsi:type="dcterms:W3CDTF">2026-07-12T08:20:18.0850000Z</dcterms:modified>
</coreProperties>
</file>