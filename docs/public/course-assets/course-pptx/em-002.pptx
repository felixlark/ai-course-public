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75eaf5bb5ff48c0" /><Relationship Type="http://schemas.openxmlformats.org/officeDocument/2006/relationships/extended-properties" Target="/docProps/app.xml" Id="Rd70cc2be97e14394" /><Relationship Type="http://schemas.openxmlformats.org/officeDocument/2006/relationships/officeDocument" Target="/ppt/presentation.xml" Id="R9647056e79124e9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ce27f31b59c476c"/>
  </p:sldMasterIdLst>
  <p:notesMasterIdLst>
    <p:notesMasterId xmlns:r="http://schemas.openxmlformats.org/officeDocument/2006/relationships" r:id="R0fa228dd75464b96"/>
  </p:notesMasterIdLst>
  <p:sldIdLst>
    <p:sldId xmlns:r="http://schemas.openxmlformats.org/officeDocument/2006/relationships" id="256" r:id="R187fb6a5b8ac453e"/>
    <p:sldId xmlns:r="http://schemas.openxmlformats.org/officeDocument/2006/relationships" id="257" r:id="R5bde833cca3742df"/>
    <p:sldId xmlns:r="http://schemas.openxmlformats.org/officeDocument/2006/relationships" id="258" r:id="Reb2a73822e264dba"/>
    <p:sldId xmlns:r="http://schemas.openxmlformats.org/officeDocument/2006/relationships" id="259" r:id="Rd39ba1a134e54a0f"/>
    <p:sldId xmlns:r="http://schemas.openxmlformats.org/officeDocument/2006/relationships" id="260" r:id="Rfd0a472d48514256"/>
    <p:sldId xmlns:r="http://schemas.openxmlformats.org/officeDocument/2006/relationships" id="261" r:id="R42ee2ac2bde74ed9"/>
    <p:sldId xmlns:r="http://schemas.openxmlformats.org/officeDocument/2006/relationships" id="262" r:id="R449549fda3864564"/>
    <p:sldId xmlns:r="http://schemas.openxmlformats.org/officeDocument/2006/relationships" id="263" r:id="Rb5c723566cdd4600"/>
    <p:sldId xmlns:r="http://schemas.openxmlformats.org/officeDocument/2006/relationships" id="264" r:id="R53ee1f4878994bcd"/>
    <p:sldId xmlns:r="http://schemas.openxmlformats.org/officeDocument/2006/relationships" id="265" r:id="R8a571b07bd0e450f"/>
    <p:sldId xmlns:r="http://schemas.openxmlformats.org/officeDocument/2006/relationships" id="266" r:id="Rb67a0b96a0d9435a"/>
    <p:sldId xmlns:r="http://schemas.openxmlformats.org/officeDocument/2006/relationships" id="267" r:id="Red68391bc26a42d9"/>
    <p:sldId xmlns:r="http://schemas.openxmlformats.org/officeDocument/2006/relationships" id="268" r:id="Ra21bec7381b3402f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afae4544b714458" /><Relationship Type="http://schemas.openxmlformats.org/officeDocument/2006/relationships/slideMaster" Target="/ppt/slideMasters/slideMaster1.xml" Id="Rcce27f31b59c476c" /><Relationship Type="http://schemas.openxmlformats.org/officeDocument/2006/relationships/notesMaster" Target="/ppt/notesMasters/notesMaster1.xml" Id="R0fa228dd75464b96" /><Relationship Type="http://schemas.openxmlformats.org/officeDocument/2006/relationships/presProps" Target="/ppt/presProps.xml" Id="Radb2cd555aef462a" /><Relationship Type="http://schemas.openxmlformats.org/officeDocument/2006/relationships/tableStyles" Target="/ppt/tableStyles.xml" Id="Rf7189d8d151f4b71" /><Relationship Type="http://schemas.openxmlformats.org/officeDocument/2006/relationships/slide" Target="/ppt/slides/slide1.xml" Id="R187fb6a5b8ac453e" /><Relationship Type="http://schemas.openxmlformats.org/officeDocument/2006/relationships/slide" Target="/ppt/slides/slide2.xml" Id="R5bde833cca3742df" /><Relationship Type="http://schemas.openxmlformats.org/officeDocument/2006/relationships/slide" Target="/ppt/slides/slide3.xml" Id="Reb2a73822e264dba" /><Relationship Type="http://schemas.openxmlformats.org/officeDocument/2006/relationships/slide" Target="/ppt/slides/slide4.xml" Id="Rd39ba1a134e54a0f" /><Relationship Type="http://schemas.openxmlformats.org/officeDocument/2006/relationships/slide" Target="/ppt/slides/slide5.xml" Id="Rfd0a472d48514256" /><Relationship Type="http://schemas.openxmlformats.org/officeDocument/2006/relationships/slide" Target="/ppt/slides/slide6.xml" Id="R42ee2ac2bde74ed9" /><Relationship Type="http://schemas.openxmlformats.org/officeDocument/2006/relationships/slide" Target="/ppt/slides/slide7.xml" Id="R449549fda3864564" /><Relationship Type="http://schemas.openxmlformats.org/officeDocument/2006/relationships/slide" Target="/ppt/slides/slide8.xml" Id="Rb5c723566cdd4600" /><Relationship Type="http://schemas.openxmlformats.org/officeDocument/2006/relationships/slide" Target="/ppt/slides/slide9.xml" Id="R53ee1f4878994bcd" /><Relationship Type="http://schemas.openxmlformats.org/officeDocument/2006/relationships/slide" Target="/ppt/slides/slide10.xml" Id="R8a571b07bd0e450f" /><Relationship Type="http://schemas.openxmlformats.org/officeDocument/2006/relationships/slide" Target="/ppt/slides/slide11.xml" Id="Rb67a0b96a0d9435a" /><Relationship Type="http://schemas.openxmlformats.org/officeDocument/2006/relationships/slide" Target="/ppt/slides/slide12.xml" Id="Red68391bc26a42d9" /><Relationship Type="http://schemas.openxmlformats.org/officeDocument/2006/relationships/slide" Target="/ppt/slides/slide13.xml" Id="Ra21bec7381b3402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dbbc8b14c6b493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353478a992147d1" /><Relationship Type="http://schemas.openxmlformats.org/officeDocument/2006/relationships/notesMaster" Target="/ppt/notesMasters/notesMaster1.xml" Id="Rf30e6de373464a1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9ca7d0f225c4e14" /><Relationship Type="http://schemas.openxmlformats.org/officeDocument/2006/relationships/notesMaster" Target="/ppt/notesMasters/notesMaster1.xml" Id="Re3ffaba7d70f433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69b1ea9c01b4e98" /><Relationship Type="http://schemas.openxmlformats.org/officeDocument/2006/relationships/notesMaster" Target="/ppt/notesMasters/notesMaster1.xml" Id="R98dd6d552e5b455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92e38152bc9453a" /><Relationship Type="http://schemas.openxmlformats.org/officeDocument/2006/relationships/notesMaster" Target="/ppt/notesMasters/notesMaster1.xml" Id="R78b10ce862f04dc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9057f61883949e3" /><Relationship Type="http://schemas.openxmlformats.org/officeDocument/2006/relationships/notesMaster" Target="/ppt/notesMasters/notesMaster1.xml" Id="Rc0d5cf667c7d411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0b2ea35e526492b" /><Relationship Type="http://schemas.openxmlformats.org/officeDocument/2006/relationships/notesMaster" Target="/ppt/notesMasters/notesMaster1.xml" Id="R8bac75c49dec4a9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d1bc0da3183410c" /><Relationship Type="http://schemas.openxmlformats.org/officeDocument/2006/relationships/notesMaster" Target="/ppt/notesMasters/notesMaster1.xml" Id="Rfa992f9564644e2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56b9b82fec448f2" /><Relationship Type="http://schemas.openxmlformats.org/officeDocument/2006/relationships/notesMaster" Target="/ppt/notesMasters/notesMaster1.xml" Id="Reb354c8e6cf94b5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25982664cc0421f" /><Relationship Type="http://schemas.openxmlformats.org/officeDocument/2006/relationships/notesMaster" Target="/ppt/notesMasters/notesMaster1.xml" Id="R58902b5b18684a9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2bd05401b3f486b" /><Relationship Type="http://schemas.openxmlformats.org/officeDocument/2006/relationships/notesMaster" Target="/ppt/notesMasters/notesMaster1.xml" Id="Re19662d4c14d48a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fb44352dc95408f" /><Relationship Type="http://schemas.openxmlformats.org/officeDocument/2006/relationships/notesMaster" Target="/ppt/notesMasters/notesMaster1.xml" Id="Rb443c7ff27974a4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256176953fd43e1" /><Relationship Type="http://schemas.openxmlformats.org/officeDocument/2006/relationships/notesMaster" Target="/ppt/notesMasters/notesMaster1.xml" Id="Rdfd5a23da428465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db9ea0fe9de4667" /><Relationship Type="http://schemas.openxmlformats.org/officeDocument/2006/relationships/notesMaster" Target="/ppt/notesMasters/notesMaster1.xml" Id="Rfa3c587f88e04f6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df25da9bf8f4aa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6347785057748c1" /><Relationship Type="http://schemas.openxmlformats.org/officeDocument/2006/relationships/slideLayout" Target="/ppt/slideLayouts/slideLayout1.xml" Id="R28405c9468c646d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8405c9468c646d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faa8ac6aad4030" /><Relationship Type="http://schemas.openxmlformats.org/officeDocument/2006/relationships/notesSlide" Target="/ppt/notesSlides/notesSlide1.xml" Id="Rd115c4ee887a474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3f8e871d5d4b45" /><Relationship Type="http://schemas.openxmlformats.org/officeDocument/2006/relationships/notesSlide" Target="/ppt/notesSlides/notesSlide2.xml" Id="Rc7bc335d469446c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b541c83d8a4fb6" /><Relationship Type="http://schemas.openxmlformats.org/officeDocument/2006/relationships/notesSlide" Target="/ppt/notesSlides/notesSlide3.xml" Id="Rebb6d944d0b2412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8d73ec3e0c4f6f" /><Relationship Type="http://schemas.openxmlformats.org/officeDocument/2006/relationships/notesSlide" Target="/ppt/notesSlides/notesSlide4.xml" Id="R4f8f8c5840e1401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977ca5e74444b9" /><Relationship Type="http://schemas.openxmlformats.org/officeDocument/2006/relationships/notesSlide" Target="/ppt/notesSlides/notesSlide5.xml" Id="R7ec7539567dc4c2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614f947f544952" /><Relationship Type="http://schemas.openxmlformats.org/officeDocument/2006/relationships/notesSlide" Target="/ppt/notesSlides/notesSlide6.xml" Id="R99f76f68d8b5417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22e5df6aee4934" /><Relationship Type="http://schemas.openxmlformats.org/officeDocument/2006/relationships/notesSlide" Target="/ppt/notesSlides/notesSlide7.xml" Id="Rd6bbe9bd97354c5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e24a5c26474bf2" /><Relationship Type="http://schemas.openxmlformats.org/officeDocument/2006/relationships/notesSlide" Target="/ppt/notesSlides/notesSlide8.xml" Id="Ree61e952ee6b4f1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5184543e514fa9" /><Relationship Type="http://schemas.openxmlformats.org/officeDocument/2006/relationships/notesSlide" Target="/ppt/notesSlides/notesSlide9.xml" Id="R212e9de6fda4413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3b1ef96c794980" /><Relationship Type="http://schemas.openxmlformats.org/officeDocument/2006/relationships/notesSlide" Target="/ppt/notesSlides/notesSlide10.xml" Id="R9c4f822c86854e5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05f8302dd1483c" /><Relationship Type="http://schemas.openxmlformats.org/officeDocument/2006/relationships/notesSlide" Target="/ppt/notesSlides/notesSlide11.xml" Id="R5b9c88f46377430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6348a0e02e47c6" /><Relationship Type="http://schemas.openxmlformats.org/officeDocument/2006/relationships/notesSlide" Target="/ppt/notesSlides/notesSlide12.xml" Id="Rcb7a177b37bb4b0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bcf851aee847ed" /><Relationship Type="http://schemas.openxmlformats.org/officeDocument/2006/relationships/notesSlide" Target="/ppt/notesSlides/notesSlide13.xml" Id="Rf3caa70127f4495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rule">
            <a:extLst xmlns:a="http://schemas.openxmlformats.org/drawingml/2006/main">
              <a:ext uri="{FF2B5EF4-FFF2-40B4-BE49-F238E27FC236}">
                <a16:creationId xmlns:a16="http://schemas.microsoft.com/office/drawing/2014/main" id="{5D5C39D4-76DC-476B-82F4-38A8560EB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1430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cover-ring-1">
            <a:extLst xmlns:a="http://schemas.openxmlformats.org/drawingml/2006/main">
              <a:ext uri="{FF2B5EF4-FFF2-40B4-BE49-F238E27FC236}">
                <a16:creationId xmlns:a16="http://schemas.microsoft.com/office/drawing/2014/main" id="{7EE34F9F-E2A9-41E7-A260-6C1B23E89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066800"/>
            <a:ext cx="2857500" cy="2857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459C7"/>
            </a:solidFill>
            <a:prstDash val="solid"/>
          </a:ln>
        </p:spPr>
      </p:sp>
      <p:sp>
        <p:nvSpPr>
          <p:cNvPr id="3" name="cover-ring-2">
            <a:extLst xmlns:a="http://schemas.openxmlformats.org/drawingml/2006/main">
              <a:ext uri="{FF2B5EF4-FFF2-40B4-BE49-F238E27FC236}">
                <a16:creationId xmlns:a16="http://schemas.microsoft.com/office/drawing/2014/main" id="{51FB4B6F-E95C-40ED-B80D-F9678600B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19250"/>
            <a:ext cx="1752600" cy="17526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D9B72"/>
            </a:solidFill>
            <a:prstDash val="solid"/>
          </a:ln>
        </p:spPr>
      </p:sp>
      <p:sp>
        <p:nvSpPr>
          <p:cNvPr id="4" name="cover-core">
            <a:extLst xmlns:a="http://schemas.openxmlformats.org/drawingml/2006/main">
              <a:ext uri="{FF2B5EF4-FFF2-40B4-BE49-F238E27FC236}">
                <a16:creationId xmlns:a16="http://schemas.microsoft.com/office/drawing/2014/main" id="{25583988-B489-4DF3-8C7B-102611C86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1907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5" name="cover-line-1">
            <a:extLst xmlns:a="http://schemas.openxmlformats.org/drawingml/2006/main">
              <a:ext uri="{FF2B5EF4-FFF2-40B4-BE49-F238E27FC236}">
                <a16:creationId xmlns:a16="http://schemas.microsoft.com/office/drawing/2014/main" id="{6E96CD53-CD28-48B3-B998-B258AC9A3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767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1459C7"/>
            </a:solidFill>
            <a:prstDash val="solid"/>
          </a:ln>
        </p:spPr>
      </p:sp>
      <p:sp>
        <p:nvSpPr>
          <p:cNvPr id="6" name="cover-line-2">
            <a:extLst xmlns:a="http://schemas.openxmlformats.org/drawingml/2006/main">
              <a:ext uri="{FF2B5EF4-FFF2-40B4-BE49-F238E27FC236}">
                <a16:creationId xmlns:a16="http://schemas.microsoft.com/office/drawing/2014/main" id="{D24D89E5-C162-4DD4-87BA-C72C85FEB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895850"/>
            <a:ext cx="266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D9B72"/>
            </a:solidFill>
            <a:prstDash val="solid"/>
          </a:ln>
        </p:spPr>
      </p:sp>
      <p:sp>
        <p:nvSpPr>
          <p:cNvPr id="7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BD59CF0D-AE9B-4108-B615-6C12E3DB9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87630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D9B7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2D9B72"/>
                </a:solidFill>
                <a:latin typeface="PingFang SC"/>
                <a:ea typeface="PingFang SC"/>
                <a:cs typeface="PingFang SC"/>
              </a:rPr>
              <a:t>第 3 章 · 具身智能</a:t>
            </a:r>
          </a:p>
        </p:txBody>
      </p:sp>
      <p:sp>
        <p:nvSpPr>
          <p:cNvPr id="8" name="cover-title">
            <a:extLst xmlns:a="http://schemas.openxmlformats.org/drawingml/2006/main">
              <a:ext uri="{FF2B5EF4-FFF2-40B4-BE49-F238E27FC236}">
                <a16:creationId xmlns:a16="http://schemas.microsoft.com/office/drawing/2014/main" id="{B4649B72-2B3A-4402-A5C1-763871321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04950"/>
            <a:ext cx="6858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5764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人形机器人与 Unitree 生态</a:t>
            </a:r>
          </a:p>
        </p:txBody>
      </p:sp>
      <p:sp>
        <p:nvSpPr>
          <p:cNvPr id="9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1FA84E32-2CC3-4A3A-BE6B-1136C48B0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14650"/>
            <a:ext cx="6477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defRPr>
            </a:pPr>
            <a:r>
              <a: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rPr>
              <a:t>从四足与人形机器人产品理解硬件、运动能力、应用形态和产业边界。</a:t>
            </a:r>
          </a:p>
        </p:txBody>
      </p:sp>
      <p:sp>
        <p:nvSpPr>
          <p:cNvPr id="10" name="cover-lead">
            <a:extLst xmlns:a="http://schemas.openxmlformats.org/drawingml/2006/main">
              <a:ext uri="{FF2B5EF4-FFF2-40B4-BE49-F238E27FC236}">
                <a16:creationId xmlns:a16="http://schemas.microsoft.com/office/drawing/2014/main" id="{ED4E38B0-C3F5-4C22-BF36-32E76F78C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0530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人形机器人和四足机器人让具身智能从概念走向可见产品</a:t>
            </a:r>
          </a:p>
        </p:txBody>
      </p:sp>
      <p:sp>
        <p:nvSpPr>
          <p:cNvPr id="11" name="cover-course">
            <a:extLst xmlns:a="http://schemas.openxmlformats.org/drawingml/2006/main">
              <a:ext uri="{FF2B5EF4-FFF2-40B4-BE49-F238E27FC236}">
                <a16:creationId xmlns:a16="http://schemas.microsoft.com/office/drawing/2014/main" id="{58969478-3CC1-44AB-81A7-FCBF06925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34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陈龙彪团队人工智能公开课</a:t>
            </a:r>
          </a:p>
        </p:txBody>
      </p:sp>
      <p:sp>
        <p:nvSpPr>
          <p:cNvPr id="12" name="cover-id">
            <a:extLst xmlns:a="http://schemas.openxmlformats.org/drawingml/2006/main">
              <a:ext uri="{FF2B5EF4-FFF2-40B4-BE49-F238E27FC236}">
                <a16:creationId xmlns:a16="http://schemas.microsoft.com/office/drawing/2014/main" id="{3EC91FFC-9B41-4A9F-AED1-A8E5543C9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7340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2D9B7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2D9B72"/>
                </a:solidFill>
                <a:latin typeface="PingFang SC"/>
                <a:ea typeface="PingFang SC"/>
                <a:cs typeface="PingFang SC"/>
              </a:rPr>
              <a:t>EM-002 · EM-002-S01</a:t>
            </a:r>
          </a:p>
        </p:txBody>
      </p:sp>
    </p:spTree>
    <p:extLst>
      <p:ext uri="{BB962C8B-B14F-4D97-AF65-F5344CB8AC3E}">
        <p14:creationId xmlns:p14="http://schemas.microsoft.com/office/powerpoint/2010/main" val="25827280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2-rule">
            <a:extLst xmlns:a="http://schemas.openxmlformats.org/drawingml/2006/main">
              <a:ext uri="{FF2B5EF4-FFF2-40B4-BE49-F238E27FC236}">
                <a16:creationId xmlns:a16="http://schemas.microsoft.com/office/drawing/2014/main" id="{9D52822C-6D17-4427-B2D3-3C012B2A1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2-eyebrow">
            <a:extLst xmlns:a="http://schemas.openxmlformats.org/drawingml/2006/main">
              <a:ext uri="{FF2B5EF4-FFF2-40B4-BE49-F238E27FC236}">
                <a16:creationId xmlns:a16="http://schemas.microsoft.com/office/drawing/2014/main" id="{13CF7F51-ACDC-41C1-A79A-600E5A4FB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学习结果</a:t>
            </a:r>
          </a:p>
        </p:txBody>
      </p:sp>
      <p:sp>
        <p:nvSpPr>
          <p:cNvPr id="3" name="s2-title">
            <a:extLst xmlns:a="http://schemas.openxmlformats.org/drawingml/2006/main">
              <a:ext uri="{FF2B5EF4-FFF2-40B4-BE49-F238E27FC236}">
                <a16:creationId xmlns:a16="http://schemas.microsoft.com/office/drawing/2014/main" id="{FC1A85CF-0937-4709-B640-6A19FB003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人形与四足机器人：2项学习结果</a:t>
            </a:r>
          </a:p>
        </p:txBody>
      </p:sp>
      <p:sp>
        <p:nvSpPr>
          <p:cNvPr id="4" name="s2-footer">
            <a:extLst xmlns:a="http://schemas.openxmlformats.org/drawingml/2006/main">
              <a:ext uri="{FF2B5EF4-FFF2-40B4-BE49-F238E27FC236}">
                <a16:creationId xmlns:a16="http://schemas.microsoft.com/office/drawing/2014/main" id="{8A61BE8C-F5C6-40B0-BFFA-D2BF9EE8E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2-identity">
            <a:extLst xmlns:a="http://schemas.openxmlformats.org/drawingml/2006/main">
              <a:ext uri="{FF2B5EF4-FFF2-40B4-BE49-F238E27FC236}">
                <a16:creationId xmlns:a16="http://schemas.microsoft.com/office/drawing/2014/main" id="{9A3E315C-3187-4715-B8EA-1C0F4666E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EM-002 · EM-002-S02</a:t>
            </a:r>
          </a:p>
        </p:txBody>
      </p:sp>
      <p:sp>
        <p:nvSpPr>
          <p:cNvPr id="6" name="objective-1">
            <a:extLst xmlns:a="http://schemas.openxmlformats.org/drawingml/2006/main">
              <a:ext uri="{FF2B5EF4-FFF2-40B4-BE49-F238E27FC236}">
                <a16:creationId xmlns:a16="http://schemas.microsoft.com/office/drawing/2014/main" id="{E292172A-1024-4BE4-ABD1-665401383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4953000" cy="2381250"/>
          </a:xfrm>
          <a:prstGeom xmlns:a="http://schemas.openxmlformats.org/drawingml/2006/main" prst="roundRect">
            <a:avLst>
              <a:gd name="adj" fmla="val 72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01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比较四足机器人和人形机器人的形态、任务与成本</a:t>
            </a:r>
          </a:p>
        </p:txBody>
      </p:sp>
      <p:sp>
        <p:nvSpPr>
          <p:cNvPr id="7" name="objective-2">
            <a:extLst xmlns:a="http://schemas.openxmlformats.org/drawingml/2006/main">
              <a:ext uri="{FF2B5EF4-FFF2-40B4-BE49-F238E27FC236}">
                <a16:creationId xmlns:a16="http://schemas.microsoft.com/office/drawing/2014/main" id="{4B391F83-45EC-43BE-80A0-FF706F707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4953000" cy="2381250"/>
          </a:xfrm>
          <a:prstGeom xmlns:a="http://schemas.openxmlformats.org/drawingml/2006/main" prst="roundRect">
            <a:avLst>
              <a:gd name="adj" fmla="val 72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02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区分产品演示能力、工程能力和真实规模化应用</a:t>
            </a:r>
          </a:p>
        </p:txBody>
      </p:sp>
    </p:spTree>
    <p:extLst>
      <p:ext uri="{BB962C8B-B14F-4D97-AF65-F5344CB8AC3E}">
        <p14:creationId xmlns:p14="http://schemas.microsoft.com/office/powerpoint/2010/main" val="41926327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3-rule">
            <a:extLst xmlns:a="http://schemas.openxmlformats.org/drawingml/2006/main">
              <a:ext uri="{FF2B5EF4-FFF2-40B4-BE49-F238E27FC236}">
                <a16:creationId xmlns:a16="http://schemas.microsoft.com/office/drawing/2014/main" id="{5385AED8-DF6B-43A9-9E86-89873E905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3-eyebrow">
            <a:extLst xmlns:a="http://schemas.openxmlformats.org/drawingml/2006/main">
              <a:ext uri="{FF2B5EF4-FFF2-40B4-BE49-F238E27FC236}">
                <a16:creationId xmlns:a16="http://schemas.microsoft.com/office/drawing/2014/main" id="{DA759590-D561-4EFF-9D3A-DD2E9DE0D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1 / 7</a:t>
            </a:r>
          </a:p>
        </p:txBody>
      </p:sp>
      <p:sp>
        <p:nvSpPr>
          <p:cNvPr id="3" name="s3-title">
            <a:extLst xmlns:a="http://schemas.openxmlformats.org/drawingml/2006/main">
              <a:ext uri="{FF2B5EF4-FFF2-40B4-BE49-F238E27FC236}">
                <a16:creationId xmlns:a16="http://schemas.microsoft.com/office/drawing/2014/main" id="{4E1144DC-3820-4514-9216-597D7DB82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Go2 硬件：机器人由哪些部分组成</a:t>
            </a:r>
          </a:p>
        </p:txBody>
      </p:sp>
      <p:sp>
        <p:nvSpPr>
          <p:cNvPr id="4" name="s3-footer">
            <a:extLst xmlns:a="http://schemas.openxmlformats.org/drawingml/2006/main">
              <a:ext uri="{FF2B5EF4-FFF2-40B4-BE49-F238E27FC236}">
                <a16:creationId xmlns:a16="http://schemas.microsoft.com/office/drawing/2014/main" id="{565EA4A9-2B0E-478E-8B3B-7B428FEA0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3-identity">
            <a:extLst xmlns:a="http://schemas.openxmlformats.org/drawingml/2006/main">
              <a:ext uri="{FF2B5EF4-FFF2-40B4-BE49-F238E27FC236}">
                <a16:creationId xmlns:a16="http://schemas.microsoft.com/office/drawing/2014/main" id="{AFB0A864-2F10-4862-AAEC-77C67AC5F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EM-002 · EM-002-S03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6B00B514-09A4-4266-A4E8-E5A947D9C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E290EB65-3D3A-47E1-B44C-916F10066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Go2 硬件：机器人由哪些部分组成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343EC3D7-EF32-4612-BDE0-36E2ECC3F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Go2 这类四足机器人通常包括机身结构、关节电机、传感器、计算单元、电池和通信模块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D87CDD1F-29A5-4ABC-B21F-408EBF79D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BF6D8B04-A4B1-4C93-B781-3E3582B62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硬件能力决定了机器人能走多快、能负载多少、能在什么环境下运行</a:t>
            </a:r>
          </a:p>
        </p:txBody>
      </p:sp>
      <p:sp>
        <p:nvSpPr>
          <p:cNvPr id="11" name="s3-takeaway-rule">
            <a:extLst xmlns:a="http://schemas.openxmlformats.org/drawingml/2006/main">
              <a:ext uri="{FF2B5EF4-FFF2-40B4-BE49-F238E27FC236}">
                <a16:creationId xmlns:a16="http://schemas.microsoft.com/office/drawing/2014/main" id="{8BB89901-1E26-4366-AB2E-B7B26A36C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2" name="s3-takeaway">
            <a:extLst xmlns:a="http://schemas.openxmlformats.org/drawingml/2006/main">
              <a:ext uri="{FF2B5EF4-FFF2-40B4-BE49-F238E27FC236}">
                <a16:creationId xmlns:a16="http://schemas.microsoft.com/office/drawing/2014/main" id="{62DD0C29-5030-4156-965B-0153F5348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Go2 硬件：机器人由哪些部分组成</a:t>
            </a:r>
          </a:p>
        </p:txBody>
      </p:sp>
    </p:spTree>
    <p:extLst>
      <p:ext uri="{BB962C8B-B14F-4D97-AF65-F5344CB8AC3E}">
        <p14:creationId xmlns:p14="http://schemas.microsoft.com/office/powerpoint/2010/main" val="177347859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4-rule">
            <a:extLst xmlns:a="http://schemas.openxmlformats.org/drawingml/2006/main">
              <a:ext uri="{FF2B5EF4-FFF2-40B4-BE49-F238E27FC236}">
                <a16:creationId xmlns:a16="http://schemas.microsoft.com/office/drawing/2014/main" id="{52097E81-09C6-4E76-898B-6EB345E07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4-eyebrow">
            <a:extLst xmlns:a="http://schemas.openxmlformats.org/drawingml/2006/main">
              <a:ext uri="{FF2B5EF4-FFF2-40B4-BE49-F238E27FC236}">
                <a16:creationId xmlns:a16="http://schemas.microsoft.com/office/drawing/2014/main" id="{5AF03E68-C437-46A3-95BB-D3CF8AA5B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2 / 7</a:t>
            </a:r>
          </a:p>
        </p:txBody>
      </p:sp>
      <p:sp>
        <p:nvSpPr>
          <p:cNvPr id="3" name="s4-title">
            <a:extLst xmlns:a="http://schemas.openxmlformats.org/drawingml/2006/main">
              <a:ext uri="{FF2B5EF4-FFF2-40B4-BE49-F238E27FC236}">
                <a16:creationId xmlns:a16="http://schemas.microsoft.com/office/drawing/2014/main" id="{DEF17033-72DC-41EE-B8A5-8E974E084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机器人运动的核心是在动态环境中保持平衡</a:t>
            </a:r>
          </a:p>
        </p:txBody>
      </p:sp>
      <p:sp>
        <p:nvSpPr>
          <p:cNvPr id="4" name="s4-footer">
            <a:extLst xmlns:a="http://schemas.openxmlformats.org/drawingml/2006/main">
              <a:ext uri="{FF2B5EF4-FFF2-40B4-BE49-F238E27FC236}">
                <a16:creationId xmlns:a16="http://schemas.microsoft.com/office/drawing/2014/main" id="{4E8914B9-2F43-4C5F-93B1-4AD3A84CD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4-identity">
            <a:extLst xmlns:a="http://schemas.openxmlformats.org/drawingml/2006/main">
              <a:ext uri="{FF2B5EF4-FFF2-40B4-BE49-F238E27FC236}">
                <a16:creationId xmlns:a16="http://schemas.microsoft.com/office/drawing/2014/main" id="{F7708452-2819-497F-9E22-A29A0FB0C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EM-002 · EM-002-S04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86C37DD5-E56C-4262-826E-A65709452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4178F5D8-CA6B-4B28-8ADF-EAAA352AA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运动能力：稳定行走是基础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AA3A0020-30FD-4BF0-B636-91B9ED158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机器人运动不仅是让关节转动，而是让身体在动态环境中保持平衡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9A44FA36-79C1-470C-80EC-46457A4E6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82BD6226-85F2-4B81-9592-F802784F2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步态控制、地形适应和跌倒恢复，是从演示走向应用的基础</a:t>
            </a:r>
          </a:p>
        </p:txBody>
      </p:sp>
      <p:sp>
        <p:nvSpPr>
          <p:cNvPr id="11" name="s4-takeaway-rule">
            <a:extLst xmlns:a="http://schemas.openxmlformats.org/drawingml/2006/main">
              <a:ext uri="{FF2B5EF4-FFF2-40B4-BE49-F238E27FC236}">
                <a16:creationId xmlns:a16="http://schemas.microsoft.com/office/drawing/2014/main" id="{69F84815-CF1A-4037-8566-F175A6785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2" name="s4-takeaway">
            <a:extLst xmlns:a="http://schemas.openxmlformats.org/drawingml/2006/main">
              <a:ext uri="{FF2B5EF4-FFF2-40B4-BE49-F238E27FC236}">
                <a16:creationId xmlns:a16="http://schemas.microsoft.com/office/drawing/2014/main" id="{3DA9251C-E01A-45A1-B8B5-6EFBABD72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机器人运动的核心是在动态环境中保持平衡</a:t>
            </a:r>
          </a:p>
        </p:txBody>
      </p:sp>
    </p:spTree>
    <p:extLst>
      <p:ext uri="{BB962C8B-B14F-4D97-AF65-F5344CB8AC3E}">
        <p14:creationId xmlns:p14="http://schemas.microsoft.com/office/powerpoint/2010/main" val="41114487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5-rule">
            <a:extLst xmlns:a="http://schemas.openxmlformats.org/drawingml/2006/main">
              <a:ext uri="{FF2B5EF4-FFF2-40B4-BE49-F238E27FC236}">
                <a16:creationId xmlns:a16="http://schemas.microsoft.com/office/drawing/2014/main" id="{C7E9F34E-FA31-4122-A470-4392E6660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5-eyebrow">
            <a:extLst xmlns:a="http://schemas.openxmlformats.org/drawingml/2006/main">
              <a:ext uri="{FF2B5EF4-FFF2-40B4-BE49-F238E27FC236}">
                <a16:creationId xmlns:a16="http://schemas.microsoft.com/office/drawing/2014/main" id="{281081E4-F113-4DF3-8EE7-1D7B3A61C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3 / 7</a:t>
            </a:r>
          </a:p>
        </p:txBody>
      </p:sp>
      <p:sp>
        <p:nvSpPr>
          <p:cNvPr id="3" name="s5-title">
            <a:extLst xmlns:a="http://schemas.openxmlformats.org/drawingml/2006/main">
              <a:ext uri="{FF2B5EF4-FFF2-40B4-BE49-F238E27FC236}">
                <a16:creationId xmlns:a16="http://schemas.microsoft.com/office/drawing/2014/main" id="{84BA8DCE-4186-4401-BA63-B3C046FBE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人形结构扩大操作潜力，也提高控制难度</a:t>
            </a:r>
          </a:p>
        </p:txBody>
      </p:sp>
      <p:sp>
        <p:nvSpPr>
          <p:cNvPr id="4" name="s5-footer">
            <a:extLst xmlns:a="http://schemas.openxmlformats.org/drawingml/2006/main">
              <a:ext uri="{FF2B5EF4-FFF2-40B4-BE49-F238E27FC236}">
                <a16:creationId xmlns:a16="http://schemas.microsoft.com/office/drawing/2014/main" id="{B5E0AA9D-9512-4810-81C6-39858F1EA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5-identity">
            <a:extLst xmlns:a="http://schemas.openxmlformats.org/drawingml/2006/main">
              <a:ext uri="{FF2B5EF4-FFF2-40B4-BE49-F238E27FC236}">
                <a16:creationId xmlns:a16="http://schemas.microsoft.com/office/drawing/2014/main" id="{201D81B8-48CF-470E-B400-371909F40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EM-002 · EM-002-S05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FF7587F8-01CB-43A8-9177-ADCF87EC9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7FF0105E-B9A0-44E9-BFBC-E0DA3DB55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人形机器人：为什么被关注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A6BA1FEF-EF32-4D01-9693-F0A481497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人形机器人被关注，是因为它更容易进入为人类设计的空间，例如工厂、展厅、家庭和服务场景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CCB19011-6A01-49C3-83E5-F93ACA1C7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A621CF35-32AD-4BA5-BC80-93C0826D1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但人形形态也带来更高控制难度、成本和安全要求</a:t>
            </a:r>
          </a:p>
        </p:txBody>
      </p:sp>
      <p:sp>
        <p:nvSpPr>
          <p:cNvPr id="11" name="s5-takeaway-rule">
            <a:extLst xmlns:a="http://schemas.openxmlformats.org/drawingml/2006/main">
              <a:ext uri="{FF2B5EF4-FFF2-40B4-BE49-F238E27FC236}">
                <a16:creationId xmlns:a16="http://schemas.microsoft.com/office/drawing/2014/main" id="{4B75D422-F693-4C20-A4A8-4B58CDCC8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2" name="s5-takeaway">
            <a:extLst xmlns:a="http://schemas.openxmlformats.org/drawingml/2006/main">
              <a:ext uri="{FF2B5EF4-FFF2-40B4-BE49-F238E27FC236}">
                <a16:creationId xmlns:a16="http://schemas.microsoft.com/office/drawing/2014/main" id="{59FE74BB-C750-4CA1-81F5-0DBDEB3DF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人形结构扩大操作潜力，也提高控制难度</a:t>
            </a:r>
          </a:p>
        </p:txBody>
      </p:sp>
    </p:spTree>
    <p:extLst>
      <p:ext uri="{BB962C8B-B14F-4D97-AF65-F5344CB8AC3E}">
        <p14:creationId xmlns:p14="http://schemas.microsoft.com/office/powerpoint/2010/main" val="119336890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6-rule">
            <a:extLst xmlns:a="http://schemas.openxmlformats.org/drawingml/2006/main">
              <a:ext uri="{FF2B5EF4-FFF2-40B4-BE49-F238E27FC236}">
                <a16:creationId xmlns:a16="http://schemas.microsoft.com/office/drawing/2014/main" id="{096A5201-2F98-4450-A003-AF6BF9DFE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6-eyebrow">
            <a:extLst xmlns:a="http://schemas.openxmlformats.org/drawingml/2006/main">
              <a:ext uri="{FF2B5EF4-FFF2-40B4-BE49-F238E27FC236}">
                <a16:creationId xmlns:a16="http://schemas.microsoft.com/office/drawing/2014/main" id="{CA766A29-A4F3-4636-8BAD-4914A77F4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4 / 7</a:t>
            </a:r>
          </a:p>
        </p:txBody>
      </p:sp>
      <p:sp>
        <p:nvSpPr>
          <p:cNvPr id="3" name="s6-title">
            <a:extLst xmlns:a="http://schemas.openxmlformats.org/drawingml/2006/main">
              <a:ext uri="{FF2B5EF4-FFF2-40B4-BE49-F238E27FC236}">
                <a16:creationId xmlns:a16="http://schemas.microsoft.com/office/drawing/2014/main" id="{ACFE9634-90FC-4AE4-AC34-F7529F921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人形机器人正受到资本和产业链关注</a:t>
            </a:r>
          </a:p>
        </p:txBody>
      </p:sp>
      <p:sp>
        <p:nvSpPr>
          <p:cNvPr id="4" name="s6-footer">
            <a:extLst xmlns:a="http://schemas.openxmlformats.org/drawingml/2006/main">
              <a:ext uri="{FF2B5EF4-FFF2-40B4-BE49-F238E27FC236}">
                <a16:creationId xmlns:a16="http://schemas.microsoft.com/office/drawing/2014/main" id="{AB544DBF-1F6A-4558-9EE7-65AE5EF82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6-identity">
            <a:extLst xmlns:a="http://schemas.openxmlformats.org/drawingml/2006/main">
              <a:ext uri="{FF2B5EF4-FFF2-40B4-BE49-F238E27FC236}">
                <a16:creationId xmlns:a16="http://schemas.microsoft.com/office/drawing/2014/main" id="{7504629A-D24A-4743-A3D2-180515D8F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EM-002 · EM-002-S06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EB13C235-A312-4622-9D11-B00E1E19D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933F0B91-DB5D-4E0D-ACC8-2E11D29E0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产业格局：资本热度与应用验证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8FC83BEF-FA89-4DD4-BF16-A7CF1D405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行业研究显示，人形机器人正受到资本和产业链关注，但商业化仍取决于成本下降、可靠性提升和真实场景验证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45D89961-720F-4859-AFEA-C5E45EF88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85702B2C-CAC1-4463-8F03-D6DD6FA12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判断行业进展时，要区分发布会能力、实验室能力和可规模部署能力</a:t>
            </a:r>
          </a:p>
        </p:txBody>
      </p:sp>
      <p:sp>
        <p:nvSpPr>
          <p:cNvPr id="11" name="s6-takeaway-rule">
            <a:extLst xmlns:a="http://schemas.openxmlformats.org/drawingml/2006/main">
              <a:ext uri="{FF2B5EF4-FFF2-40B4-BE49-F238E27FC236}">
                <a16:creationId xmlns:a16="http://schemas.microsoft.com/office/drawing/2014/main" id="{AE606F0D-2449-4300-90BD-4A20990A6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2" name="s6-takeaway">
            <a:extLst xmlns:a="http://schemas.openxmlformats.org/drawingml/2006/main">
              <a:ext uri="{FF2B5EF4-FFF2-40B4-BE49-F238E27FC236}">
                <a16:creationId xmlns:a16="http://schemas.microsoft.com/office/drawing/2014/main" id="{42DD33AF-C22E-45DF-9331-1E46EC005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人形机器人正受到资本和产业链关注</a:t>
            </a:r>
          </a:p>
        </p:txBody>
      </p:sp>
    </p:spTree>
    <p:extLst>
      <p:ext uri="{BB962C8B-B14F-4D97-AF65-F5344CB8AC3E}">
        <p14:creationId xmlns:p14="http://schemas.microsoft.com/office/powerpoint/2010/main" val="196021365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7-rule">
            <a:extLst xmlns:a="http://schemas.openxmlformats.org/drawingml/2006/main">
              <a:ext uri="{FF2B5EF4-FFF2-40B4-BE49-F238E27FC236}">
                <a16:creationId xmlns:a16="http://schemas.microsoft.com/office/drawing/2014/main" id="{50398342-5B30-4232-9B1B-6C6EA5817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7-eyebrow">
            <a:extLst xmlns:a="http://schemas.openxmlformats.org/drawingml/2006/main">
              <a:ext uri="{FF2B5EF4-FFF2-40B4-BE49-F238E27FC236}">
                <a16:creationId xmlns:a16="http://schemas.microsoft.com/office/drawing/2014/main" id="{C54DA7C7-59F1-4E2E-80C7-5220CA648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5 / 7</a:t>
            </a:r>
          </a:p>
        </p:txBody>
      </p:sp>
      <p:sp>
        <p:nvSpPr>
          <p:cNvPr id="3" name="s7-title">
            <a:extLst xmlns:a="http://schemas.openxmlformats.org/drawingml/2006/main">
              <a:ext uri="{FF2B5EF4-FFF2-40B4-BE49-F238E27FC236}">
                <a16:creationId xmlns:a16="http://schemas.microsoft.com/office/drawing/2014/main" id="{BF22D334-ED25-4975-B390-98480B6FD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3437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机器人生态至少包含四层：机身、关节、传感器和电池等硬件</a:t>
            </a:r>
          </a:p>
        </p:txBody>
      </p:sp>
      <p:sp>
        <p:nvSpPr>
          <p:cNvPr id="4" name="s7-footer">
            <a:extLst xmlns:a="http://schemas.openxmlformats.org/drawingml/2006/main">
              <a:ext uri="{FF2B5EF4-FFF2-40B4-BE49-F238E27FC236}">
                <a16:creationId xmlns:a16="http://schemas.microsoft.com/office/drawing/2014/main" id="{D4ED7A48-7AD0-4D35-9C3D-E49F1B0D7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7-identity">
            <a:extLst xmlns:a="http://schemas.openxmlformats.org/drawingml/2006/main">
              <a:ext uri="{FF2B5EF4-FFF2-40B4-BE49-F238E27FC236}">
                <a16:creationId xmlns:a16="http://schemas.microsoft.com/office/drawing/2014/main" id="{624881FF-6F28-45F8-A2D6-8658FC325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EM-002 · EM-002-S07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BF6B87F1-04FA-4607-A3D3-91C68B04A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78AB15E8-9FB5-4A4A-951A-EDFE105F1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Unitree 生态：不只有一台机器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2F0E2A13-F797-43DC-B6EF-1D22AD834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机器人生态至少包含四层；机身、关节、传感器和电池等硬件；SDK、通信接口、ROS2 驱动和状态消息等开发层；仿真、数据采集、策略训练和模型部署等算法层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42A2928D-4B57-4BE7-80C4-46FDD1EB1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F8D57B18-A4AD-49B3-A844-0A19E6A83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Go2 与 G1 都可以进入这套生态；但接口和风险包络不同；四足平台重心较低、支撑稳定；常用于巡检、教学和移动感知；人形平台能利用为人设计的门、台阶、工具和工位</a:t>
            </a:r>
          </a:p>
        </p:txBody>
      </p:sp>
      <p:sp>
        <p:nvSpPr>
          <p:cNvPr id="11" name="s7-takeaway-rule">
            <a:extLst xmlns:a="http://schemas.openxmlformats.org/drawingml/2006/main">
              <a:ext uri="{FF2B5EF4-FFF2-40B4-BE49-F238E27FC236}">
                <a16:creationId xmlns:a16="http://schemas.microsoft.com/office/drawing/2014/main" id="{64366480-A9B7-439E-BE47-B96778EE0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2" name="s7-takeaway">
            <a:extLst xmlns:a="http://schemas.openxmlformats.org/drawingml/2006/main">
              <a:ext uri="{FF2B5EF4-FFF2-40B4-BE49-F238E27FC236}">
                <a16:creationId xmlns:a16="http://schemas.microsoft.com/office/drawing/2014/main" id="{07A5196D-B35D-4DC5-8C89-8B5B31CCE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机器人生态至少包含四层：机身、关节、传感器和电池等硬件</a:t>
            </a:r>
          </a:p>
        </p:txBody>
      </p:sp>
    </p:spTree>
    <p:extLst>
      <p:ext uri="{BB962C8B-B14F-4D97-AF65-F5344CB8AC3E}">
        <p14:creationId xmlns:p14="http://schemas.microsoft.com/office/powerpoint/2010/main" val="184835545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8-rule">
            <a:extLst xmlns:a="http://schemas.openxmlformats.org/drawingml/2006/main">
              <a:ext uri="{FF2B5EF4-FFF2-40B4-BE49-F238E27FC236}">
                <a16:creationId xmlns:a16="http://schemas.microsoft.com/office/drawing/2014/main" id="{D8D4186B-F633-4242-9088-3968BAE90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8-eyebrow">
            <a:extLst xmlns:a="http://schemas.openxmlformats.org/drawingml/2006/main">
              <a:ext uri="{FF2B5EF4-FFF2-40B4-BE49-F238E27FC236}">
                <a16:creationId xmlns:a16="http://schemas.microsoft.com/office/drawing/2014/main" id="{9098FB17-15D2-490F-B4BC-A87C09799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6 / 7</a:t>
            </a:r>
          </a:p>
        </p:txBody>
      </p:sp>
      <p:sp>
        <p:nvSpPr>
          <p:cNvPr id="3" name="s8-title">
            <a:extLst xmlns:a="http://schemas.openxmlformats.org/drawingml/2006/main">
              <a:ext uri="{FF2B5EF4-FFF2-40B4-BE49-F238E27FC236}">
                <a16:creationId xmlns:a16="http://schemas.microsoft.com/office/drawing/2014/main" id="{65AED37F-DD0F-412D-A594-F24B27485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成本：比较总拥有成本，而不是只看售价</a:t>
            </a:r>
          </a:p>
        </p:txBody>
      </p:sp>
      <p:sp>
        <p:nvSpPr>
          <p:cNvPr id="4" name="s8-footer">
            <a:extLst xmlns:a="http://schemas.openxmlformats.org/drawingml/2006/main">
              <a:ext uri="{FF2B5EF4-FFF2-40B4-BE49-F238E27FC236}">
                <a16:creationId xmlns:a16="http://schemas.microsoft.com/office/drawing/2014/main" id="{2D306024-3F45-4F82-848D-75D10ADAD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8-identity">
            <a:extLst xmlns:a="http://schemas.openxmlformats.org/drawingml/2006/main">
              <a:ext uri="{FF2B5EF4-FFF2-40B4-BE49-F238E27FC236}">
                <a16:creationId xmlns:a16="http://schemas.microsoft.com/office/drawing/2014/main" id="{97D2D19F-3468-41C8-BFC6-391AEAE40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EM-002 · EM-002-S08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353D27DC-2DBE-4556-8C8D-62ED45782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A1341EEF-4878-4865-8CCA-74EF6878B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成本：比较总拥有成本，而不是只看售价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0DB57540-9B4F-4C6F-81CA-4E82512E9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机器人项目的成本包括设备与传感器、计算单元、备件、电池、场地改造、软件集成、标注与训练、现场操作、维护停机和安全责任；原型演示往往由工程师随时接管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3ADF610C-B4E1-4E63-96A1-994C38B2B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0ABD86CA-67F8-48F8-9CD7-A92A9477E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比较形态时应把任务收益与总成本放在一起；四足机器人也许更容易在不平地面移动；但不一定能操作为人设计的工具；人形机器人也许覆盖更多工位；却可能需要更高的安全投入；最合适的形态由任务与环境决定</a:t>
            </a:r>
          </a:p>
        </p:txBody>
      </p:sp>
      <p:sp>
        <p:nvSpPr>
          <p:cNvPr id="11" name="s8-takeaway-rule">
            <a:extLst xmlns:a="http://schemas.openxmlformats.org/drawingml/2006/main">
              <a:ext uri="{FF2B5EF4-FFF2-40B4-BE49-F238E27FC236}">
                <a16:creationId xmlns:a16="http://schemas.microsoft.com/office/drawing/2014/main" id="{08B8D866-5516-4C66-B334-4D29A795F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2" name="s8-takeaway">
            <a:extLst xmlns:a="http://schemas.openxmlformats.org/drawingml/2006/main">
              <a:ext uri="{FF2B5EF4-FFF2-40B4-BE49-F238E27FC236}">
                <a16:creationId xmlns:a16="http://schemas.microsoft.com/office/drawing/2014/main" id="{6B6B000B-A54B-4D46-8D80-0DA991D1D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成本：比较总拥有成本，而不是只看售价</a:t>
            </a:r>
          </a:p>
        </p:txBody>
      </p:sp>
    </p:spTree>
    <p:extLst>
      <p:ext uri="{BB962C8B-B14F-4D97-AF65-F5344CB8AC3E}">
        <p14:creationId xmlns:p14="http://schemas.microsoft.com/office/powerpoint/2010/main" val="154080434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9-rule">
            <a:extLst xmlns:a="http://schemas.openxmlformats.org/drawingml/2006/main">
              <a:ext uri="{FF2B5EF4-FFF2-40B4-BE49-F238E27FC236}">
                <a16:creationId xmlns:a16="http://schemas.microsoft.com/office/drawing/2014/main" id="{2C6DDF47-8E44-483B-8095-151E356CA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9-eyebrow">
            <a:extLst xmlns:a="http://schemas.openxmlformats.org/drawingml/2006/main">
              <a:ext uri="{FF2B5EF4-FFF2-40B4-BE49-F238E27FC236}">
                <a16:creationId xmlns:a16="http://schemas.microsoft.com/office/drawing/2014/main" id="{4ECBFC5B-6A4B-4A97-BE53-CF44DE585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7 / 7</a:t>
            </a:r>
          </a:p>
        </p:txBody>
      </p:sp>
      <p:sp>
        <p:nvSpPr>
          <p:cNvPr id="3" name="s9-title">
            <a:extLst xmlns:a="http://schemas.openxmlformats.org/drawingml/2006/main">
              <a:ext uri="{FF2B5EF4-FFF2-40B4-BE49-F238E27FC236}">
                <a16:creationId xmlns:a16="http://schemas.microsoft.com/office/drawing/2014/main" id="{5FD477CE-E09E-45DD-8F6C-FF093C43A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7028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当前机器人更适合巡检、展示、教育、导览和特定工业任务</a:t>
            </a:r>
          </a:p>
        </p:txBody>
      </p:sp>
      <p:sp>
        <p:nvSpPr>
          <p:cNvPr id="4" name="s9-footer">
            <a:extLst xmlns:a="http://schemas.openxmlformats.org/drawingml/2006/main">
              <a:ext uri="{FF2B5EF4-FFF2-40B4-BE49-F238E27FC236}">
                <a16:creationId xmlns:a16="http://schemas.microsoft.com/office/drawing/2014/main" id="{EE1B011A-588F-475D-A514-852BC7486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9-identity">
            <a:extLst xmlns:a="http://schemas.openxmlformats.org/drawingml/2006/main">
              <a:ext uri="{FF2B5EF4-FFF2-40B4-BE49-F238E27FC236}">
                <a16:creationId xmlns:a16="http://schemas.microsoft.com/office/drawing/2014/main" id="{B61E00BF-D9AB-410C-AC30-09779AD9C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EM-002 · EM-002-S09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3AD46BFD-73CF-4B48-B23A-CBC8205E1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854C91F2-53C1-499F-A0A6-E153FBB14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应用边界：从巡检到服务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366433E9-CD6E-4422-8A1D-12C7D36E3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当前机器人更适合巡检、展示、教育、导览和特定工业任务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E043D68A-DB26-48AA-919A-8C62B0825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4FC823ED-890A-4B47-8AC2-0F2F9E38D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进入高风险场景前，需要充分验证安全、续航、维护和异常处理</a:t>
            </a:r>
          </a:p>
        </p:txBody>
      </p:sp>
      <p:sp>
        <p:nvSpPr>
          <p:cNvPr id="11" name="s9-takeaway-rule">
            <a:extLst xmlns:a="http://schemas.openxmlformats.org/drawingml/2006/main">
              <a:ext uri="{FF2B5EF4-FFF2-40B4-BE49-F238E27FC236}">
                <a16:creationId xmlns:a16="http://schemas.microsoft.com/office/drawing/2014/main" id="{AC57DEDD-80B0-4784-A34E-36387F536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2" name="s9-takeaway">
            <a:extLst xmlns:a="http://schemas.openxmlformats.org/drawingml/2006/main">
              <a:ext uri="{FF2B5EF4-FFF2-40B4-BE49-F238E27FC236}">
                <a16:creationId xmlns:a16="http://schemas.microsoft.com/office/drawing/2014/main" id="{0E526CFD-D3FD-4F75-82AD-52BB6B76F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当前机器人更适合巡检、展示、教育、导览和特定工业任务</a:t>
            </a:r>
          </a:p>
        </p:txBody>
      </p:sp>
    </p:spTree>
    <p:extLst>
      <p:ext uri="{BB962C8B-B14F-4D97-AF65-F5344CB8AC3E}">
        <p14:creationId xmlns:p14="http://schemas.microsoft.com/office/powerpoint/2010/main" val="56598711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0-rule">
            <a:extLst xmlns:a="http://schemas.openxmlformats.org/drawingml/2006/main">
              <a:ext uri="{FF2B5EF4-FFF2-40B4-BE49-F238E27FC236}">
                <a16:creationId xmlns:a16="http://schemas.microsoft.com/office/drawing/2014/main" id="{77E0AF5F-865C-4DC8-A6C5-BA7769AFF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10-eyebrow">
            <a:extLst xmlns:a="http://schemas.openxmlformats.org/drawingml/2006/main">
              <a:ext uri="{FF2B5EF4-FFF2-40B4-BE49-F238E27FC236}">
                <a16:creationId xmlns:a16="http://schemas.microsoft.com/office/drawing/2014/main" id="{05199E6A-A2B7-439A-BA65-4A2FD8604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案例与边界 1 / 1</a:t>
            </a:r>
          </a:p>
        </p:txBody>
      </p:sp>
      <p:sp>
        <p:nvSpPr>
          <p:cNvPr id="3" name="s10-title">
            <a:extLst xmlns:a="http://schemas.openxmlformats.org/drawingml/2006/main">
              <a:ext uri="{FF2B5EF4-FFF2-40B4-BE49-F238E27FC236}">
                <a16:creationId xmlns:a16="http://schemas.microsoft.com/office/drawing/2014/main" id="{99282203-9957-4961-8CE1-EEC6188CD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必须设置安全区域、速度限制和人工急停</a:t>
            </a:r>
          </a:p>
        </p:txBody>
      </p:sp>
      <p:sp>
        <p:nvSpPr>
          <p:cNvPr id="4" name="s10-footer">
            <a:extLst xmlns:a="http://schemas.openxmlformats.org/drawingml/2006/main">
              <a:ext uri="{FF2B5EF4-FFF2-40B4-BE49-F238E27FC236}">
                <a16:creationId xmlns:a16="http://schemas.microsoft.com/office/drawing/2014/main" id="{352E196A-3C81-461D-A7CD-C16E80B33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0-identity">
            <a:extLst xmlns:a="http://schemas.openxmlformats.org/drawingml/2006/main">
              <a:ext uri="{FF2B5EF4-FFF2-40B4-BE49-F238E27FC236}">
                <a16:creationId xmlns:a16="http://schemas.microsoft.com/office/drawing/2014/main" id="{FEE7EA0B-C4FC-48FB-B8C0-72BFA7DB1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EM-002 · EM-002-S10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12647997-222D-4B38-B7A3-A5764C63E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165642"/>
          </a:solidFill>
          <a:ln xmlns:a="http://schemas.openxmlformats.org/drawingml/2006/main" w="0">
            <a:solidFill>
              <a:srgbClr val="165642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展厅中的四足机器人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8EF8E090-9C21-4114-98BA-AF7FFB33D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383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场景｜机器人在展厅中完成巡游和互动展示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76423B61-272B-4A00-8D38-38A758D55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670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问题｜人流、障碍物、地面变化和网络状态都会影响体验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F7744E5C-A36B-4961-AB3B-5894E57FC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2956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方法｜机器人结合传感器、定位和运动控制完成路线执行</a:t>
            </a:r>
          </a:p>
        </p:txBody>
      </p:sp>
      <p:sp>
        <p:nvSpPr>
          <p:cNvPr id="10" name="case-row-3">
            <a:extLst xmlns:a="http://schemas.openxmlformats.org/drawingml/2006/main">
              <a:ext uri="{FF2B5EF4-FFF2-40B4-BE49-F238E27FC236}">
                <a16:creationId xmlns:a16="http://schemas.microsoft.com/office/drawing/2014/main" id="{9EBC86D1-8A45-4B55-9F53-C315A0011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243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结果｜观众能直观看到具身系统的行动能力</a:t>
            </a:r>
          </a:p>
        </p:txBody>
      </p:sp>
      <p:sp>
        <p:nvSpPr>
          <p:cNvPr id="11" name="case-row-4">
            <a:extLst xmlns:a="http://schemas.openxmlformats.org/drawingml/2006/main">
              <a:ext uri="{FF2B5EF4-FFF2-40B4-BE49-F238E27FC236}">
                <a16:creationId xmlns:a16="http://schemas.microsoft.com/office/drawing/2014/main" id="{1B06E5FD-FC6D-4547-8A8B-8B4EF76F6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5529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9525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边界｜必须设置安全区域、速度限制和人工急停</a:t>
            </a:r>
          </a:p>
        </p:txBody>
      </p:sp>
      <p:sp>
        <p:nvSpPr>
          <p:cNvPr id="12" name="s10-takeaway-rule">
            <a:extLst xmlns:a="http://schemas.openxmlformats.org/drawingml/2006/main">
              <a:ext uri="{FF2B5EF4-FFF2-40B4-BE49-F238E27FC236}">
                <a16:creationId xmlns:a16="http://schemas.microsoft.com/office/drawing/2014/main" id="{6015E1F9-0B5A-4F96-9206-37BAF1827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3" name="s10-takeaway">
            <a:extLst xmlns:a="http://schemas.openxmlformats.org/drawingml/2006/main">
              <a:ext uri="{FF2B5EF4-FFF2-40B4-BE49-F238E27FC236}">
                <a16:creationId xmlns:a16="http://schemas.microsoft.com/office/drawing/2014/main" id="{E5E11AD0-D329-4FAA-83DD-D0B5EA2EA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必须设置安全区域、速度限制和人工急停</a:t>
            </a:r>
          </a:p>
        </p:txBody>
      </p:sp>
    </p:spTree>
    <p:extLst>
      <p:ext uri="{BB962C8B-B14F-4D97-AF65-F5344CB8AC3E}">
        <p14:creationId xmlns:p14="http://schemas.microsoft.com/office/powerpoint/2010/main" val="48291053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1-rule">
            <a:extLst xmlns:a="http://schemas.openxmlformats.org/drawingml/2006/main">
              <a:ext uri="{FF2B5EF4-FFF2-40B4-BE49-F238E27FC236}">
                <a16:creationId xmlns:a16="http://schemas.microsoft.com/office/drawing/2014/main" id="{966292AD-CC07-4573-BA31-50B4C4164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11-eyebrow">
            <a:extLst xmlns:a="http://schemas.openxmlformats.org/drawingml/2006/main">
              <a:ext uri="{FF2B5EF4-FFF2-40B4-BE49-F238E27FC236}">
                <a16:creationId xmlns:a16="http://schemas.microsoft.com/office/drawing/2014/main" id="{4AD1D62A-B0F9-40E2-AD3A-C5C75B056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动手实践</a:t>
            </a:r>
          </a:p>
        </p:txBody>
      </p:sp>
      <p:sp>
        <p:nvSpPr>
          <p:cNvPr id="3" name="s11-title">
            <a:extLst xmlns:a="http://schemas.openxmlformats.org/drawingml/2006/main">
              <a:ext uri="{FF2B5EF4-FFF2-40B4-BE49-F238E27FC236}">
                <a16:creationId xmlns:a16="http://schemas.microsoft.com/office/drawing/2014/main" id="{BDA2648D-C07C-4199-ABDB-A0935BB82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人形与四足机器人：一次可验收练习</a:t>
            </a:r>
          </a:p>
        </p:txBody>
      </p:sp>
      <p:sp>
        <p:nvSpPr>
          <p:cNvPr id="4" name="s11-footer">
            <a:extLst xmlns:a="http://schemas.openxmlformats.org/drawingml/2006/main">
              <a:ext uri="{FF2B5EF4-FFF2-40B4-BE49-F238E27FC236}">
                <a16:creationId xmlns:a16="http://schemas.microsoft.com/office/drawing/2014/main" id="{650F78D0-3872-4544-8CAB-97543A6F0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1-identity">
            <a:extLst xmlns:a="http://schemas.openxmlformats.org/drawingml/2006/main">
              <a:ext uri="{FF2B5EF4-FFF2-40B4-BE49-F238E27FC236}">
                <a16:creationId xmlns:a16="http://schemas.microsoft.com/office/drawing/2014/main" id="{C8A1490F-2529-4D68-9A77-68C9EC61C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EM-002 · EM-002-S11</a:t>
            </a:r>
          </a:p>
        </p:txBody>
      </p:sp>
      <p:sp>
        <p:nvSpPr>
          <p:cNvPr id="6" name="practice-circle-0">
            <a:extLst xmlns:a="http://schemas.openxmlformats.org/drawingml/2006/main">
              <a:ext uri="{FF2B5EF4-FFF2-40B4-BE49-F238E27FC236}">
                <a16:creationId xmlns:a16="http://schemas.microsoft.com/office/drawing/2014/main" id="{67C141EE-8B65-4DDC-AE6F-B20FFC43C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564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practice-number-0">
            <a:extLst xmlns:a="http://schemas.openxmlformats.org/drawingml/2006/main">
              <a:ext uri="{FF2B5EF4-FFF2-40B4-BE49-F238E27FC236}">
                <a16:creationId xmlns:a16="http://schemas.microsoft.com/office/drawing/2014/main" id="{11B39F83-E621-449A-A9F2-03DBF8643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practice-item-0">
            <a:extLst xmlns:a="http://schemas.openxmlformats.org/drawingml/2006/main">
              <a:ext uri="{FF2B5EF4-FFF2-40B4-BE49-F238E27FC236}">
                <a16:creationId xmlns:a16="http://schemas.microsoft.com/office/drawing/2014/main" id="{145866E0-D290-4B1B-A4C2-3CA912CC8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画出 Go2 机器人硬件组成图；列出人形机器人进入服务场景前要验证的三项能力</a:t>
            </a:r>
          </a:p>
        </p:txBody>
      </p:sp>
      <p:sp>
        <p:nvSpPr>
          <p:cNvPr id="9" name="practice-connector-0">
            <a:extLst xmlns:a="http://schemas.openxmlformats.org/drawingml/2006/main">
              <a:ext uri="{FF2B5EF4-FFF2-40B4-BE49-F238E27FC236}">
                <a16:creationId xmlns:a16="http://schemas.microsoft.com/office/drawing/2014/main" id="{395FE6C1-15C9-4523-AFDD-E07709374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B4F"/>
            </a:solidFill>
            <a:prstDash val="solid"/>
          </a:ln>
        </p:spPr>
      </p:sp>
      <p:sp>
        <p:nvSpPr>
          <p:cNvPr id="10" name="practice-circle-1">
            <a:extLst xmlns:a="http://schemas.openxmlformats.org/drawingml/2006/main">
              <a:ext uri="{FF2B5EF4-FFF2-40B4-BE49-F238E27FC236}">
                <a16:creationId xmlns:a16="http://schemas.microsoft.com/office/drawing/2014/main" id="{5C2E2010-4E6F-4543-B35E-971A11A8E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564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practice-number-1">
            <a:extLst xmlns:a="http://schemas.openxmlformats.org/drawingml/2006/main">
              <a:ext uri="{FF2B5EF4-FFF2-40B4-BE49-F238E27FC236}">
                <a16:creationId xmlns:a16="http://schemas.microsoft.com/office/drawing/2014/main" id="{E29FF66A-3096-4F82-85F5-7DB35BFA3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practice-item-1">
            <a:extLst xmlns:a="http://schemas.openxmlformats.org/drawingml/2006/main">
              <a:ext uri="{FF2B5EF4-FFF2-40B4-BE49-F238E27FC236}">
                <a16:creationId xmlns:a16="http://schemas.microsoft.com/office/drawing/2014/main" id="{548BF328-55F6-4AAA-B694-8B1D4F3D3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用“任务、环境、接口、安全、维护、总成本”六栏比较四足和人形方案</a:t>
            </a:r>
          </a:p>
        </p:txBody>
      </p:sp>
      <p:sp>
        <p:nvSpPr>
          <p:cNvPr id="13" name="practice-connector-1">
            <a:extLst xmlns:a="http://schemas.openxmlformats.org/drawingml/2006/main">
              <a:ext uri="{FF2B5EF4-FFF2-40B4-BE49-F238E27FC236}">
                <a16:creationId xmlns:a16="http://schemas.microsoft.com/office/drawing/2014/main" id="{D398133D-0461-4212-8068-9A5B29AC9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B4F"/>
            </a:solidFill>
            <a:prstDash val="solid"/>
          </a:ln>
        </p:spPr>
      </p:sp>
      <p:sp>
        <p:nvSpPr>
          <p:cNvPr id="14" name="practice-circle-2">
            <a:extLst xmlns:a="http://schemas.openxmlformats.org/drawingml/2006/main">
              <a:ext uri="{FF2B5EF4-FFF2-40B4-BE49-F238E27FC236}">
                <a16:creationId xmlns:a16="http://schemas.microsoft.com/office/drawing/2014/main" id="{CEE83D2E-F35D-46DA-B93E-6BE2293C6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6B4F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practice-number-2">
            <a:extLst xmlns:a="http://schemas.openxmlformats.org/drawingml/2006/main">
              <a:ext uri="{FF2B5EF4-FFF2-40B4-BE49-F238E27FC236}">
                <a16:creationId xmlns:a16="http://schemas.microsoft.com/office/drawing/2014/main" id="{7307B5A8-03B1-47B6-8F5C-3DD17C794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practice-item-2">
            <a:extLst xmlns:a="http://schemas.openxmlformats.org/drawingml/2006/main">
              <a:ext uri="{FF2B5EF4-FFF2-40B4-BE49-F238E27FC236}">
                <a16:creationId xmlns:a16="http://schemas.microsoft.com/office/drawing/2014/main" id="{59424EC1-2B5F-4D03-8CC4-0F6971F33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为一台机器人画出硬件、开发、算法和运营四层生态图，标出当前缺口</a:t>
            </a:r>
          </a:p>
        </p:txBody>
      </p:sp>
    </p:spTree>
    <p:extLst>
      <p:ext uri="{BB962C8B-B14F-4D97-AF65-F5344CB8AC3E}">
        <p14:creationId xmlns:p14="http://schemas.microsoft.com/office/powerpoint/2010/main" val="180364822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2-rule">
            <a:extLst xmlns:a="http://schemas.openxmlformats.org/drawingml/2006/main">
              <a:ext uri="{FF2B5EF4-FFF2-40B4-BE49-F238E27FC236}">
                <a16:creationId xmlns:a16="http://schemas.microsoft.com/office/drawing/2014/main" id="{DFE031F5-C24E-4EC2-979A-D5B6108A4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12-eyebrow">
            <a:extLst xmlns:a="http://schemas.openxmlformats.org/drawingml/2006/main">
              <a:ext uri="{FF2B5EF4-FFF2-40B4-BE49-F238E27FC236}">
                <a16:creationId xmlns:a16="http://schemas.microsoft.com/office/drawing/2014/main" id="{FE4C20A8-B0AB-4DF2-9085-88D0B3DA5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课后复盘</a:t>
            </a:r>
          </a:p>
        </p:txBody>
      </p:sp>
      <p:sp>
        <p:nvSpPr>
          <p:cNvPr id="3" name="s12-title">
            <a:extLst xmlns:a="http://schemas.openxmlformats.org/drawingml/2006/main">
              <a:ext uri="{FF2B5EF4-FFF2-40B4-BE49-F238E27FC236}">
                <a16:creationId xmlns:a16="http://schemas.microsoft.com/office/drawing/2014/main" id="{209E29D7-51A8-48A3-8494-089CB39E5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人形与四足机器人：判断时先抓住三点</a:t>
            </a:r>
          </a:p>
        </p:txBody>
      </p:sp>
      <p:sp>
        <p:nvSpPr>
          <p:cNvPr id="4" name="s12-footer">
            <a:extLst xmlns:a="http://schemas.openxmlformats.org/drawingml/2006/main">
              <a:ext uri="{FF2B5EF4-FFF2-40B4-BE49-F238E27FC236}">
                <a16:creationId xmlns:a16="http://schemas.microsoft.com/office/drawing/2014/main" id="{8CD8663E-744F-49E3-B63C-02DDBA3EE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2-identity">
            <a:extLst xmlns:a="http://schemas.openxmlformats.org/drawingml/2006/main">
              <a:ext uri="{FF2B5EF4-FFF2-40B4-BE49-F238E27FC236}">
                <a16:creationId xmlns:a16="http://schemas.microsoft.com/office/drawing/2014/main" id="{B35C57E2-6F83-446A-B021-1DDF7EECE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EM-002 · EM-002-S12</a:t>
            </a:r>
          </a:p>
        </p:txBody>
      </p:sp>
      <p:sp>
        <p:nvSpPr>
          <p:cNvPr id="6" name="recap-circle-0">
            <a:extLst xmlns:a="http://schemas.openxmlformats.org/drawingml/2006/main">
              <a:ext uri="{FF2B5EF4-FFF2-40B4-BE49-F238E27FC236}">
                <a16:creationId xmlns:a16="http://schemas.microsoft.com/office/drawing/2014/main" id="{3AEF295E-F22E-4D67-ABDC-A1315142E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564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recap-number-0">
            <a:extLst xmlns:a="http://schemas.openxmlformats.org/drawingml/2006/main">
              <a:ext uri="{FF2B5EF4-FFF2-40B4-BE49-F238E27FC236}">
                <a16:creationId xmlns:a16="http://schemas.microsoft.com/office/drawing/2014/main" id="{C86DD4C9-066D-421C-962B-F4115443D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recap-item-0">
            <a:extLst xmlns:a="http://schemas.openxmlformats.org/drawingml/2006/main">
              <a:ext uri="{FF2B5EF4-FFF2-40B4-BE49-F238E27FC236}">
                <a16:creationId xmlns:a16="http://schemas.microsoft.com/office/drawing/2014/main" id="{CC9FCE00-5CC2-42CD-82F4-4B08D815F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Go2 硬件：机器人由哪些部分组成</a:t>
            </a:r>
          </a:p>
        </p:txBody>
      </p:sp>
      <p:sp>
        <p:nvSpPr>
          <p:cNvPr id="9" name="recap-connector-0">
            <a:extLst xmlns:a="http://schemas.openxmlformats.org/drawingml/2006/main">
              <a:ext uri="{FF2B5EF4-FFF2-40B4-BE49-F238E27FC236}">
                <a16:creationId xmlns:a16="http://schemas.microsoft.com/office/drawing/2014/main" id="{C16DAF41-950A-407B-99D0-CC5323A57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B4F"/>
            </a:solidFill>
            <a:prstDash val="solid"/>
          </a:ln>
        </p:spPr>
      </p:sp>
      <p:sp>
        <p:nvSpPr>
          <p:cNvPr id="10" name="recap-circle-1">
            <a:extLst xmlns:a="http://schemas.openxmlformats.org/drawingml/2006/main">
              <a:ext uri="{FF2B5EF4-FFF2-40B4-BE49-F238E27FC236}">
                <a16:creationId xmlns:a16="http://schemas.microsoft.com/office/drawing/2014/main" id="{327C18FB-94D8-44AD-9ACF-0AFF22292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564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recap-number-1">
            <a:extLst xmlns:a="http://schemas.openxmlformats.org/drawingml/2006/main">
              <a:ext uri="{FF2B5EF4-FFF2-40B4-BE49-F238E27FC236}">
                <a16:creationId xmlns:a16="http://schemas.microsoft.com/office/drawing/2014/main" id="{AABDB819-F55F-4EEB-90A7-C2CA14C32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recap-item-1">
            <a:extLst xmlns:a="http://schemas.openxmlformats.org/drawingml/2006/main">
              <a:ext uri="{FF2B5EF4-FFF2-40B4-BE49-F238E27FC236}">
                <a16:creationId xmlns:a16="http://schemas.microsoft.com/office/drawing/2014/main" id="{71F54DD7-66AC-4DBC-8A3D-D690861D1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人形机器人正受到资本和产业链关注</a:t>
            </a:r>
          </a:p>
        </p:txBody>
      </p:sp>
      <p:sp>
        <p:nvSpPr>
          <p:cNvPr id="13" name="recap-connector-1">
            <a:extLst xmlns:a="http://schemas.openxmlformats.org/drawingml/2006/main">
              <a:ext uri="{FF2B5EF4-FFF2-40B4-BE49-F238E27FC236}">
                <a16:creationId xmlns:a16="http://schemas.microsoft.com/office/drawing/2014/main" id="{FD3F4EC9-B5C9-4A57-840C-C1779019E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B4F"/>
            </a:solidFill>
            <a:prstDash val="solid"/>
          </a:ln>
        </p:spPr>
      </p:sp>
      <p:sp>
        <p:nvSpPr>
          <p:cNvPr id="14" name="recap-circle-2">
            <a:extLst xmlns:a="http://schemas.openxmlformats.org/drawingml/2006/main">
              <a:ext uri="{FF2B5EF4-FFF2-40B4-BE49-F238E27FC236}">
                <a16:creationId xmlns:a16="http://schemas.microsoft.com/office/drawing/2014/main" id="{34DF1FD7-6460-447C-A584-A9AE18714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6B4F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recap-number-2">
            <a:extLst xmlns:a="http://schemas.openxmlformats.org/drawingml/2006/main">
              <a:ext uri="{FF2B5EF4-FFF2-40B4-BE49-F238E27FC236}">
                <a16:creationId xmlns:a16="http://schemas.microsoft.com/office/drawing/2014/main" id="{25AF9B32-7ED8-4ABB-9CE2-DCC61D4B8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recap-item-2">
            <a:extLst xmlns:a="http://schemas.openxmlformats.org/drawingml/2006/main">
              <a:ext uri="{FF2B5EF4-FFF2-40B4-BE49-F238E27FC236}">
                <a16:creationId xmlns:a16="http://schemas.microsoft.com/office/drawing/2014/main" id="{FCAEC69A-4CB8-497D-9066-868FB2C98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当前机器人更适合巡检、展示、教育、导览和特定工业任务</a:t>
            </a:r>
          </a:p>
        </p:txBody>
      </p:sp>
    </p:spTree>
    <p:extLst>
      <p:ext uri="{BB962C8B-B14F-4D97-AF65-F5344CB8AC3E}">
        <p14:creationId xmlns:p14="http://schemas.microsoft.com/office/powerpoint/2010/main" val="6502404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3-rule">
            <a:extLst xmlns:a="http://schemas.openxmlformats.org/drawingml/2006/main">
              <a:ext uri="{FF2B5EF4-FFF2-40B4-BE49-F238E27FC236}">
                <a16:creationId xmlns:a16="http://schemas.microsoft.com/office/drawing/2014/main" id="{0F08D356-BD4A-4B10-AD56-092E63B9C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13-eyebrow">
            <a:extLst xmlns:a="http://schemas.openxmlformats.org/drawingml/2006/main">
              <a:ext uri="{FF2B5EF4-FFF2-40B4-BE49-F238E27FC236}">
                <a16:creationId xmlns:a16="http://schemas.microsoft.com/office/drawing/2014/main" id="{A00AD9D8-7001-463F-BC9F-A9724B5F2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来源与延伸</a:t>
            </a:r>
          </a:p>
        </p:txBody>
      </p:sp>
      <p:sp>
        <p:nvSpPr>
          <p:cNvPr id="3" name="s13-title">
            <a:extLst xmlns:a="http://schemas.openxmlformats.org/drawingml/2006/main">
              <a:ext uri="{FF2B5EF4-FFF2-40B4-BE49-F238E27FC236}">
                <a16:creationId xmlns:a16="http://schemas.microsoft.com/office/drawing/2014/main" id="{4FFFEBAD-7078-46E3-BC22-C30D235C6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人形与四足机器人：依据、边界与延伸</a:t>
            </a:r>
          </a:p>
        </p:txBody>
      </p:sp>
      <p:sp>
        <p:nvSpPr>
          <p:cNvPr id="4" name="s13-footer">
            <a:extLst xmlns:a="http://schemas.openxmlformats.org/drawingml/2006/main">
              <a:ext uri="{FF2B5EF4-FFF2-40B4-BE49-F238E27FC236}">
                <a16:creationId xmlns:a16="http://schemas.microsoft.com/office/drawing/2014/main" id="{AF52058F-8E48-4FD8-8CB9-FF4B855D2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3-identity">
            <a:extLst xmlns:a="http://schemas.openxmlformats.org/drawingml/2006/main">
              <a:ext uri="{FF2B5EF4-FFF2-40B4-BE49-F238E27FC236}">
                <a16:creationId xmlns:a16="http://schemas.microsoft.com/office/drawing/2014/main" id="{9B113835-8BE9-4586-8E2B-E8FAF621F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EM-002 · EM-002-S13</a:t>
            </a:r>
          </a:p>
        </p:txBody>
      </p:sp>
      <p:sp>
        <p:nvSpPr>
          <p:cNvPr id="6" name="source-0">
            <a:extLst xmlns:a="http://schemas.openxmlformats.org/drawingml/2006/main">
              <a:ext uri="{FF2B5EF4-FFF2-40B4-BE49-F238E27FC236}">
                <a16:creationId xmlns:a16="http://schemas.microsoft.com/office/drawing/2014/main" id="{61F24C4E-21B5-4A1E-9040-6B571F25C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9525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01  团队既有课程资料经重新组织、改写与原创视觉重制</a:t>
            </a:r>
          </a:p>
        </p:txBody>
      </p:sp>
      <p:sp>
        <p:nvSpPr>
          <p:cNvPr id="7" name="source-1">
            <a:extLst xmlns:a="http://schemas.openxmlformats.org/drawingml/2006/main">
              <a:ext uri="{FF2B5EF4-FFF2-40B4-BE49-F238E27FC236}">
                <a16:creationId xmlns:a16="http://schemas.microsoft.com/office/drawing/2014/main" id="{955DFD89-7B4F-4C9A-A9F6-AB263AF14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02  Unitree Robotics：机器人型号与公开规格以厂商当前页面为准。（核对日期：2026-07-11）</a:t>
            </a:r>
          </a:p>
        </p:txBody>
      </p:sp>
      <p:sp>
        <p:nvSpPr>
          <p:cNvPr id="8" name="s13-takeaway-rule">
            <a:extLst xmlns:a="http://schemas.openxmlformats.org/drawingml/2006/main">
              <a:ext uri="{FF2B5EF4-FFF2-40B4-BE49-F238E27FC236}">
                <a16:creationId xmlns:a16="http://schemas.microsoft.com/office/drawing/2014/main" id="{8DC1503D-D187-4C58-B3E9-0606513F4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9" name="s13-takeaway">
            <a:extLst xmlns:a="http://schemas.openxmlformats.org/drawingml/2006/main">
              <a:ext uri="{FF2B5EF4-FFF2-40B4-BE49-F238E27FC236}">
                <a16:creationId xmlns:a16="http://schemas.microsoft.com/office/drawing/2014/main" id="{7B3DCB49-5858-44C6-BC2E-2B19229B6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816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公开幻灯片只使用课程原创文字与原生图形；完整论证、链接和事实边界请见本节讲义。</a:t>
            </a:r>
          </a:p>
        </p:txBody>
      </p:sp>
    </p:spTree>
    <p:extLst>
      <p:ext uri="{BB962C8B-B14F-4D97-AF65-F5344CB8AC3E}">
        <p14:creationId xmlns:p14="http://schemas.microsoft.com/office/powerpoint/2010/main" val="179793802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2026-07-11T16:55:43.4970000Z</dcterms:created>
  <dcterms:modified xsi:type="dcterms:W3CDTF">2026-07-11T16:55:43.4970000Z</dcterms:modified>
</coreProperties>
</file>