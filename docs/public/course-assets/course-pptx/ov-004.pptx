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4f2b826e0a47b5" /><Relationship Type="http://schemas.openxmlformats.org/officeDocument/2006/relationships/extended-properties" Target="/docProps/app.xml" Id="R04d3becdd9e14693" /><Relationship Type="http://schemas.openxmlformats.org/officeDocument/2006/relationships/officeDocument" Target="/ppt/presentation.xml" Id="Rb3975dfcb1f94a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efcd2310c94f40"/>
  </p:sldMasterIdLst>
  <p:notesMasterIdLst>
    <p:notesMasterId xmlns:r="http://schemas.openxmlformats.org/officeDocument/2006/relationships" r:id="R7f0bda1e40ec4fb7"/>
  </p:notesMasterIdLst>
  <p:sldIdLst>
    <p:sldId xmlns:r="http://schemas.openxmlformats.org/officeDocument/2006/relationships" id="256" r:id="R5e8f53da2f354121"/>
    <p:sldId xmlns:r="http://schemas.openxmlformats.org/officeDocument/2006/relationships" id="257" r:id="Rc056f532c5504e3b"/>
    <p:sldId xmlns:r="http://schemas.openxmlformats.org/officeDocument/2006/relationships" id="258" r:id="R40ad21732cc04c23"/>
    <p:sldId xmlns:r="http://schemas.openxmlformats.org/officeDocument/2006/relationships" id="259" r:id="R88e3abd1ef764363"/>
    <p:sldId xmlns:r="http://schemas.openxmlformats.org/officeDocument/2006/relationships" id="260" r:id="Ra5fe23ce11db497d"/>
    <p:sldId xmlns:r="http://schemas.openxmlformats.org/officeDocument/2006/relationships" id="261" r:id="Rf804175c946a4bd7"/>
    <p:sldId xmlns:r="http://schemas.openxmlformats.org/officeDocument/2006/relationships" id="262" r:id="Re9d4e97436f045a0"/>
    <p:sldId xmlns:r="http://schemas.openxmlformats.org/officeDocument/2006/relationships" id="263" r:id="Rd26c18add5be41b6"/>
    <p:sldId xmlns:r="http://schemas.openxmlformats.org/officeDocument/2006/relationships" id="264" r:id="R70c46a7817af4618"/>
    <p:sldId xmlns:r="http://schemas.openxmlformats.org/officeDocument/2006/relationships" id="265" r:id="R5cf8f7a0d3424024"/>
    <p:sldId xmlns:r="http://schemas.openxmlformats.org/officeDocument/2006/relationships" id="266" r:id="R9d4a929965de471f"/>
    <p:sldId xmlns:r="http://schemas.openxmlformats.org/officeDocument/2006/relationships" id="267" r:id="R5b5300ab908f4628"/>
    <p:sldId xmlns:r="http://schemas.openxmlformats.org/officeDocument/2006/relationships" id="268" r:id="R5022e8eb88794d62"/>
    <p:sldId xmlns:r="http://schemas.openxmlformats.org/officeDocument/2006/relationships" id="269" r:id="R9666670f81124f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d28be6c17a45d5" /><Relationship Type="http://schemas.openxmlformats.org/officeDocument/2006/relationships/slideMaster" Target="/ppt/slideMasters/slideMaster1.xml" Id="R42efcd2310c94f40" /><Relationship Type="http://schemas.openxmlformats.org/officeDocument/2006/relationships/notesMaster" Target="/ppt/notesMasters/notesMaster1.xml" Id="R7f0bda1e40ec4fb7" /><Relationship Type="http://schemas.openxmlformats.org/officeDocument/2006/relationships/presProps" Target="/ppt/presProps.xml" Id="Ra9087ae1f6f4431b" /><Relationship Type="http://schemas.openxmlformats.org/officeDocument/2006/relationships/tableStyles" Target="/ppt/tableStyles.xml" Id="Rd867388f70914058" /><Relationship Type="http://schemas.openxmlformats.org/officeDocument/2006/relationships/slide" Target="/ppt/slides/slide1.xml" Id="R5e8f53da2f354121" /><Relationship Type="http://schemas.openxmlformats.org/officeDocument/2006/relationships/slide" Target="/ppt/slides/slide2.xml" Id="Rc056f532c5504e3b" /><Relationship Type="http://schemas.openxmlformats.org/officeDocument/2006/relationships/slide" Target="/ppt/slides/slide3.xml" Id="R40ad21732cc04c23" /><Relationship Type="http://schemas.openxmlformats.org/officeDocument/2006/relationships/slide" Target="/ppt/slides/slide4.xml" Id="R88e3abd1ef764363" /><Relationship Type="http://schemas.openxmlformats.org/officeDocument/2006/relationships/slide" Target="/ppt/slides/slide5.xml" Id="Ra5fe23ce11db497d" /><Relationship Type="http://schemas.openxmlformats.org/officeDocument/2006/relationships/slide" Target="/ppt/slides/slide6.xml" Id="Rf804175c946a4bd7" /><Relationship Type="http://schemas.openxmlformats.org/officeDocument/2006/relationships/slide" Target="/ppt/slides/slide7.xml" Id="Re9d4e97436f045a0" /><Relationship Type="http://schemas.openxmlformats.org/officeDocument/2006/relationships/slide" Target="/ppt/slides/slide8.xml" Id="Rd26c18add5be41b6" /><Relationship Type="http://schemas.openxmlformats.org/officeDocument/2006/relationships/slide" Target="/ppt/slides/slide9.xml" Id="R70c46a7817af4618" /><Relationship Type="http://schemas.openxmlformats.org/officeDocument/2006/relationships/slide" Target="/ppt/slides/slide10.xml" Id="R5cf8f7a0d3424024" /><Relationship Type="http://schemas.openxmlformats.org/officeDocument/2006/relationships/slide" Target="/ppt/slides/slide11.xml" Id="R9d4a929965de471f" /><Relationship Type="http://schemas.openxmlformats.org/officeDocument/2006/relationships/slide" Target="/ppt/slides/slide12.xml" Id="R5b5300ab908f4628" /><Relationship Type="http://schemas.openxmlformats.org/officeDocument/2006/relationships/slide" Target="/ppt/slides/slide13.xml" Id="R5022e8eb88794d62" /><Relationship Type="http://schemas.openxmlformats.org/officeDocument/2006/relationships/slide" Target="/ppt/slides/slide14.xml" Id="R9666670f81124f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f8689b2a6042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19b02a351a44cc" /><Relationship Type="http://schemas.openxmlformats.org/officeDocument/2006/relationships/notesMaster" Target="/ppt/notesMasters/notesMaster1.xml" Id="R72c3fdfbd97144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0c953842374f32" /><Relationship Type="http://schemas.openxmlformats.org/officeDocument/2006/relationships/notesMaster" Target="/ppt/notesMasters/notesMaster1.xml" Id="Rd8c353e86e4d40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4b9c6d29344e01" /><Relationship Type="http://schemas.openxmlformats.org/officeDocument/2006/relationships/notesMaster" Target="/ppt/notesMasters/notesMaster1.xml" Id="R1452329c05444e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201682b5664af1" /><Relationship Type="http://schemas.openxmlformats.org/officeDocument/2006/relationships/notesMaster" Target="/ppt/notesMasters/notesMaster1.xml" Id="R8430de576d8d41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19392fc65b4f7a" /><Relationship Type="http://schemas.openxmlformats.org/officeDocument/2006/relationships/notesMaster" Target="/ppt/notesMasters/notesMaster1.xml" Id="R4c816f1c447142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d862472ff64edb" /><Relationship Type="http://schemas.openxmlformats.org/officeDocument/2006/relationships/notesMaster" Target="/ppt/notesMasters/notesMaster1.xml" Id="R9133a3914b2a44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2febfd38264d36" /><Relationship Type="http://schemas.openxmlformats.org/officeDocument/2006/relationships/notesMaster" Target="/ppt/notesMasters/notesMaster1.xml" Id="R6ce2c0ab923a41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200188158f4f8b" /><Relationship Type="http://schemas.openxmlformats.org/officeDocument/2006/relationships/notesMaster" Target="/ppt/notesMasters/notesMaster1.xml" Id="Rff581b22a27c44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6d0f00ddd94b80" /><Relationship Type="http://schemas.openxmlformats.org/officeDocument/2006/relationships/notesMaster" Target="/ppt/notesMasters/notesMaster1.xml" Id="R1c8560f21e1c4c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6c4f9f6b014ea9" /><Relationship Type="http://schemas.openxmlformats.org/officeDocument/2006/relationships/notesMaster" Target="/ppt/notesMasters/notesMaster1.xml" Id="R95fb9c23b9614d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c9b72dbbb04602" /><Relationship Type="http://schemas.openxmlformats.org/officeDocument/2006/relationships/notesMaster" Target="/ppt/notesMasters/notesMaster1.xml" Id="Rc305ecedb8384c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7495a18a0c45b8" /><Relationship Type="http://schemas.openxmlformats.org/officeDocument/2006/relationships/notesMaster" Target="/ppt/notesMasters/notesMaster1.xml" Id="R82e69b5d6d2241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017fcb707fd473a" /><Relationship Type="http://schemas.openxmlformats.org/officeDocument/2006/relationships/notesMaster" Target="/ppt/notesMasters/notesMaster1.xml" Id="Reeb37107c0364e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e57d67ae234888" /><Relationship Type="http://schemas.openxmlformats.org/officeDocument/2006/relationships/notesMaster" Target="/ppt/notesMasters/notesMaster1.xml" Id="R6723c7fee2da47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79f33309384d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23358e631949ff" /><Relationship Type="http://schemas.openxmlformats.org/officeDocument/2006/relationships/slideLayout" Target="/ppt/slideLayouts/slideLayout1.xml" Id="R45dc05998b6b4c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dc05998b6b4c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e9199025945a2" /><Relationship Type="http://schemas.openxmlformats.org/officeDocument/2006/relationships/notesSlide" Target="/ppt/notesSlides/notesSlide1.xml" Id="R1e3dc8b3608c4a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e031cd0e34179" /><Relationship Type="http://schemas.openxmlformats.org/officeDocument/2006/relationships/notesSlide" Target="/ppt/notesSlides/notesSlide2.xml" Id="Rf1abe160fb324f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2c71c18af49e3" /><Relationship Type="http://schemas.openxmlformats.org/officeDocument/2006/relationships/notesSlide" Target="/ppt/notesSlides/notesSlide3.xml" Id="R226e9ec6e88946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a5ec78fc14b73" /><Relationship Type="http://schemas.openxmlformats.org/officeDocument/2006/relationships/notesSlide" Target="/ppt/notesSlides/notesSlide4.xml" Id="R41601453c2ca49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90786d50b4960" /><Relationship Type="http://schemas.openxmlformats.org/officeDocument/2006/relationships/notesSlide" Target="/ppt/notesSlides/notesSlide5.xml" Id="R9b5dc657b01a45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4bfedebc04e83" /><Relationship Type="http://schemas.openxmlformats.org/officeDocument/2006/relationships/notesSlide" Target="/ppt/notesSlides/notesSlide6.xml" Id="R947a57f439fb4c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2fd5f65eb45fb" /><Relationship Type="http://schemas.openxmlformats.org/officeDocument/2006/relationships/notesSlide" Target="/ppt/notesSlides/notesSlide7.xml" Id="R98e33854d9f64d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b8495e48d4568" /><Relationship Type="http://schemas.openxmlformats.org/officeDocument/2006/relationships/notesSlide" Target="/ppt/notesSlides/notesSlide8.xml" Id="R9c64e5cb4ed44c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bd5141132464b" /><Relationship Type="http://schemas.openxmlformats.org/officeDocument/2006/relationships/notesSlide" Target="/ppt/notesSlides/notesSlide9.xml" Id="Rf6a03d24b1984b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7ec7af6db4042" /><Relationship Type="http://schemas.openxmlformats.org/officeDocument/2006/relationships/notesSlide" Target="/ppt/notesSlides/notesSlide10.xml" Id="R97f710ae47f14d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cd2682dbb4422" /><Relationship Type="http://schemas.openxmlformats.org/officeDocument/2006/relationships/notesSlide" Target="/ppt/notesSlides/notesSlide11.xml" Id="R5f632f577d7641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7ce53d50746d9" /><Relationship Type="http://schemas.openxmlformats.org/officeDocument/2006/relationships/notesSlide" Target="/ppt/notesSlides/notesSlide12.xml" Id="Reef4ba20a7324c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0b8bb5af349c7" /><Relationship Type="http://schemas.openxmlformats.org/officeDocument/2006/relationships/notesSlide" Target="/ppt/notesSlides/notesSlide13.xml" Id="R09cd3494eb1644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37e9ef7844b97" /><Relationship Type="http://schemas.openxmlformats.org/officeDocument/2006/relationships/notesSlide" Target="/ppt/notesSlides/notesSlide14.xml" Id="Rf32079b3fe7c4e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7259E55-BA91-4D4F-B9DB-20E6A14F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D5EDA6A-C609-4B04-A162-F4637C8E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679C29A8-DFC9-476F-B79C-B0FADAB2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993A643-CF1C-49AD-BE80-2D07F4ED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DF3884C-98F1-4946-8685-1EBD65FF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8D12F1C3-06E7-4A6D-B00A-511F3464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EEAB374-2037-4523-BD73-4D889F40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A3C955-910C-414C-8D84-F1295F32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大模型概述、Transformer 与能力边界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D7304A2-FF1F-4A36-A1A3-BEA1A7DB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解释 token、注意力、Transformer、预训练与推理，并建立大模型能力边界。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DEFB4F95-AA25-40C0-BFB3-AE441159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大模型不是一个孤立的新物种，而是机器学习、深度学习和预训练技术长期演进的结果。本节先把它放回 AI 技术谱系，再拆解 Transformer、训练与推理…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CC7A5610-A2C9-4640-9059-E61F014E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4F04D5F-A5F3-4B81-BFA2-FDD8E9DD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OV-004 · OV-004-S01</a:t>
            </a:r>
          </a:p>
        </p:txBody>
      </p:sp>
    </p:spTree>
    <p:extLst>
      <p:ext uri="{BB962C8B-B14F-4D97-AF65-F5344CB8AC3E}">
        <p14:creationId xmlns:p14="http://schemas.microsoft.com/office/powerpoint/2010/main" val="6802618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507AA5E-849A-47D5-945E-9146AAFE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0AD4425E-DEFF-4633-ADE9-B114D929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F8B3FC52-3180-4812-81A8-11ECD914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151EBE54-142E-4ACD-ACC2-3C6A5D30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FAA1D97B-FD86-4C79-BF81-BFE8F634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931AC09-EC02-48A7-908B-F487B5C6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把大模型放回机器学习、深度学习和预训练的技术谱系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2F733C9-286D-46D9-AEC3-30C24DC7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用自己的话解释 token、自注意力、Transformer、训练和推理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7859D83-0C78-4235-B7F7-3C614F54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为幻觉、时效知识和高风险建议设计核验与人在回路机制</a:t>
            </a:r>
          </a:p>
        </p:txBody>
      </p:sp>
    </p:spTree>
    <p:extLst>
      <p:ext uri="{BB962C8B-B14F-4D97-AF65-F5344CB8AC3E}">
        <p14:creationId xmlns:p14="http://schemas.microsoft.com/office/powerpoint/2010/main" val="11208970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D9F217D9-00B6-4F30-A92B-9C91FCBD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2D11207B-D0E0-4594-B408-0597D4E8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5A49A23B-1CA6-4537-8005-91374CB6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16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"大模型"这个词经常和人工智能、机器学习、深度学习混在一起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43EAF68-759D-49DA-82EF-34650DE1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51132AE7-FAFC-4605-B81D-1776B178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80CDDAC-A0F2-45AD-8928-55405D1F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0A64851-3E64-41B2-8837-CF4C205F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大模型在 AI 版图中的位置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5BED98F-71D1-4CA0-A3C3-9624ED9D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"大模型"这个词经常和人工智能、机器学习、深度学习混在一起。它们其实是一层套一层的包含关系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DB3AC88-5D6F-4513-B171-7E5622ED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3D2F4A3-983A-4CDB-82CC-9A8AEE35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人工智能 ⊃ 机器学习 ⊃ 深度学习 ⊃ 预训练模型 ⊃ 大模型 ⊃ 大语言模型（GPT、DeepSeek…）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326954D6-D6FA-4E0F-84EF-33DDBD66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09520B9F-E60F-4EE4-A10B-97F352F7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机器学习让机器从数据中找规律，其中的深度学习用多层神经网络学习复杂表示。深度学习里的 预训练模型 先在大规模数据上学到通用知识，再针对具体任务微调。预训练模型中参数规模巨大的那一类就是大模型…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528C1E40-9D5A-4D00-8F3E-490B2C07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9DF0C8D5-8876-4E58-9501-CB338E40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"大模型"这个词经常和人工智能、机器学习、深度学习混在一起</a:t>
            </a:r>
          </a:p>
        </p:txBody>
      </p:sp>
    </p:spTree>
    <p:extLst>
      <p:ext uri="{BB962C8B-B14F-4D97-AF65-F5344CB8AC3E}">
        <p14:creationId xmlns:p14="http://schemas.microsoft.com/office/powerpoint/2010/main" val="10767471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818FD54E-36FE-499E-B51A-79E6C234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4522B36C-21A0-4BD6-937E-BC604197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73D0D2B-FD2B-4037-A6B6-481ACB31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65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5A943281-7923-4E25-A483-4B71E6B2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2C648BE-AA0C-4093-A857-663576F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216EF8F-949A-469E-95F0-BC3710E8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6D85C13-A77C-4848-8779-2B8D2C2B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“大”体现在哪里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8AD920E-C0BB-4124-9127-84475EE1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大模型的“大”同时体现在参数、训练数据、计算量和工程系统。以公开论文为例，GPT-3 使用 1750 亿参数展示了规模化预训练与上下文学习的潜力；但参数多不等于一定更好，数据质量、训练目标…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02E6592-8CF1-4B60-99A2-467B56C5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2BFFB1F-C580-4A9A-B2BF-3558690E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很多商业模型不公开完整参数，因此不能把未经证实的估算写成确定事实。比较模型时，应优先看任务评测、成本、时延、上下文、隐私和可验证性，而不是只看一个“参数规模”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AA63D922-6312-4C7B-829D-90806F10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A9DFE3A-2842-4D74-961D-4228E2D0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</a:t>
            </a:r>
          </a:p>
        </p:txBody>
      </p:sp>
    </p:spTree>
    <p:extLst>
      <p:ext uri="{BB962C8B-B14F-4D97-AF65-F5344CB8AC3E}">
        <p14:creationId xmlns:p14="http://schemas.microsoft.com/office/powerpoint/2010/main" val="19103114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6021316-48E1-4608-81B6-E97AC74D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5E04BB4B-3A95-4882-BC40-B6F6A4BC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7EA79CA3-96F3-4926-809F-92B2E1D7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Transformer 把自注意力作为核心机制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E9E4F8C-0D36-47D1-808A-0B5FD017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B7D6B841-9C2A-40F5-A2A3-8FCA1E31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0B86834-B286-467C-BD01-855A44A5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1886BBF-C280-451B-B84C-FCC1F522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Transformer：让上下文中的信息彼此关联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DC19279-98E7-4E8E-BAD7-311518B4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Transformer 把自注意力作为核心机制：处理某个 token 时，模型可以根据任务和上下文为其他 token 分配不同权重。多层注意力与前馈网络反复混合信息，使模型能学习语义关系…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B03B9AA-9C58-4C7B-923D-62893AE5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A4617AD-E6D8-4EBE-B3B9-DA2D60E8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预训练让模型在大量数据上学习通用分布，指令微调与偏好对齐让它更会按照人的任务格式回答；推理阶段则根据当前上下文逐 token 生成结果。模型输出是条件概率下的生成，不是数据库式的事实读取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EB0B73F5-5058-4564-9FDC-9EAD9252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8A1F7CD-AB65-4488-9121-03783EB9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Transformer 把自注意力作为核心机制</a:t>
            </a:r>
          </a:p>
        </p:txBody>
      </p:sp>
    </p:spTree>
    <p:extLst>
      <p:ext uri="{BB962C8B-B14F-4D97-AF65-F5344CB8AC3E}">
        <p14:creationId xmlns:p14="http://schemas.microsoft.com/office/powerpoint/2010/main" val="16242136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DFE80639-813B-4194-9844-6D7F375F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DFDC4FC1-BA21-4779-861E-83980FB9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7B7AF6DD-E939-43D5-812F-334D7E15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74D463EC-6DC2-439B-B50E-67A90D2B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D7644E82-89FA-4153-8A0D-F4F0F4BA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4484100-D317-4583-8C43-E0369924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4709B17-2EFD-4BF8-8C0D-675BF2A2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生成模型与推理模型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3269E3B-BF32-492C-BD2A-1A280B5B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大模型正在分化出两条技术路线，理解它们的差异，才能在实际任务里选对工具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C376B9B-92B5-4114-8058-7B713B7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B492BEB-C328-4046-8DFB-241BECDD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生成模型 ：擅长快速产出——写文案、做总结、生成图片，追求流畅和创意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48BE3EEC-AEE7-4520-A4B7-DFE859BC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859C8FD3-A935-40B5-90C8-7FDC9B63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推理模型 ：针对多步问题分配更多推理计算，通常更适合数学、代码和复杂分析，但耗时与成本也更高，仍需要结果核验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470577F-22D3-4F97-80DD-EF209E75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868DB969-95C4-46D5-9084-DCE5F622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</p:spTree>
    <p:extLst>
      <p:ext uri="{BB962C8B-B14F-4D97-AF65-F5344CB8AC3E}">
        <p14:creationId xmlns:p14="http://schemas.microsoft.com/office/powerpoint/2010/main" val="1424716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09154ED7-7DB4-446A-BFF0-A2AB0106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AA0777ED-E578-48EB-89F3-6C0B6703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44558311-5FF9-418C-9A5F-600FD736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具体产品会快速变化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38FD199D-AC0D-4B06-993D-18E853FF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F95B616-A6E2-4F77-9836-6A7FE529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7135831-4A6D-41F2-BC97-AFCD78B9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CB2195D-CF0F-431B-9D4B-0161DC90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从模型产品到能力组合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C220498-964A-4C2B-8D5C-A406F506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体产品会快速变化，更稳定的判断方式是看能力组合：通用对话、联网检索、代码执行、文本与图像理解、音视频生成、行业知识和工具调用。多模态模型能在同一任务中处理多种信息，但每种模态仍有不同的数据…</a:t>
            </a:r>
          </a:p>
        </p:txBody>
      </p:sp>
      <p:sp>
        <p:nvSpPr>
          <p:cNvPr id="9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C20B427-9092-4968-88AB-6ECE2C53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7-takeaway">
            <a:extLst xmlns:a="http://schemas.openxmlformats.org/drawingml/2006/main">
              <a:ext uri="{FF2B5EF4-FFF2-40B4-BE49-F238E27FC236}">
                <a16:creationId xmlns:a16="http://schemas.microsoft.com/office/drawing/2014/main" id="{F3D45906-1E60-43A1-92D9-DF3EE29A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具体产品会快速变化</a:t>
            </a:r>
          </a:p>
        </p:txBody>
      </p:sp>
    </p:spTree>
    <p:extLst>
      <p:ext uri="{BB962C8B-B14F-4D97-AF65-F5344CB8AC3E}">
        <p14:creationId xmlns:p14="http://schemas.microsoft.com/office/powerpoint/2010/main" val="14708991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1922703-371D-4A58-8140-7C470AD9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F704A892-6CAB-4640-BE78-E9046F11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F7B904A-1360-46B2-9ABA-85B18F45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用好大模型的前提，是清楚它的强项和软肋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F9D277D-618F-45D7-9E30-D17C96E5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9432BFF-71C9-4116-A1ED-DFBE156C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40C6425-8648-48B4-97F0-BCAFF83E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5DF0BC5-E56F-4D38-B0AC-2677E7C5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大模型的能力边界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73DA68D-F1F4-427A-8079-E64D5D22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用好大模型的前提，是清楚它的强项和软肋。下表是对当前水平的一个概括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8C7006A-B782-4C52-8361-2D564C69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F607753-0115-4F38-8A99-4E9801BC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这里最需要警惕的是"事实准确性"一栏——大模型会自信地生成看起来合理、实际却错误的内容，这就是 幻觉 。它属于这类模型的固有特性，并非偶发故障，也是所有落地场景都必须设防的地方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596EC2D-51BA-46A4-9D11-151059D7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EE29F1A2-1795-4C6A-BAD8-F0E455D6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用好大模型的前提，是清楚它的强项和软肋</a:t>
            </a:r>
          </a:p>
        </p:txBody>
      </p:sp>
    </p:spTree>
    <p:extLst>
      <p:ext uri="{BB962C8B-B14F-4D97-AF65-F5344CB8AC3E}">
        <p14:creationId xmlns:p14="http://schemas.microsoft.com/office/powerpoint/2010/main" val="107824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3ABC50D-A0A7-4CF4-853A-83A9B8D3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C35028DB-80E7-4A43-B16E-641343C5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AD805E9E-8E11-453C-BDE1-EDEE5762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与其给未来强行排出年份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CACE6848-607A-440A-AD6E-EA4F5D9B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12FD1748-914F-4542-8228-FF1C31B7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AD10CCE-9BAC-4FC6-AF68-3A539082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5A53937-0296-4E20-9E95-AEE5BF96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可以持续观察的演进方向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478525F-136B-4BCA-941C-25C032B7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与其给未来强行排出年份，更可靠的是观察三条方向：模型从单一文本走向多模态，从单次问答走向工具与智能体，从只追求能力走向同时衡量成本、可靠性、安全与治理…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F99B7990-93E7-4F79-A667-081C94EB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877D4BEF-5F1D-42D6-99F6-FEEF4D8E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与其给未来强行排出年份</a:t>
            </a:r>
          </a:p>
        </p:txBody>
      </p:sp>
    </p:spTree>
    <p:extLst>
      <p:ext uri="{BB962C8B-B14F-4D97-AF65-F5344CB8AC3E}">
        <p14:creationId xmlns:p14="http://schemas.microsoft.com/office/powerpoint/2010/main" val="9310692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62903AA1-7784-4313-B394-78B7D79F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B4C8CACE-D649-40B0-BF2B-EF565AF0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D71DA31-CA76-4E37-AC4B-287E4DDE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应当是放大能力的杠杆，而不是替代思考的拐杖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816FFD2-EB29-4E37-9915-6C90D95D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65FBE763-6463-4137-B337-E086FB58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10DB917D-6C0A-495B-928A-0CFC6559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案例：学生对 AI 的过度依赖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6C6BE58-AF03-444D-9E3C-C8FFFCBC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问题｜当查资料、搭框架、写初稿都交给 AI，独立思考和检索能力会不会退化？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85F0AB9C-8679-4011-8B90-B8545104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验证｜验收“案例：学生对 AI 的过度依赖”时，要同时记录适用场景、证据来源、失败条件与人工责任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30FBF243-EA93-4083-9AB2-21F40B3D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E6F9547-3A47-418D-8280-55AD75F5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应当是放大能力的杠杆，而不是替代思考的拐杖</a:t>
            </a:r>
          </a:p>
        </p:txBody>
      </p:sp>
    </p:spTree>
    <p:extLst>
      <p:ext uri="{BB962C8B-B14F-4D97-AF65-F5344CB8AC3E}">
        <p14:creationId xmlns:p14="http://schemas.microsoft.com/office/powerpoint/2010/main" val="1188215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E8AEFE5B-38A9-4E29-9BEC-9872DF16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DF127184-1530-4742-B836-F5F36C21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47064BCC-359B-4E29-8586-DC10A03C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健康、法律、财务和重大决策必须由合格人员复核，模型不能成为唯一依据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70937690-6258-4D07-95D4-83DEB868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E1DFEBCE-80E5-4B56-B94F-0AD8A214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OV-004-S11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A2D1757-0485-419A-A5C4-AD0C61EB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案例：模型迎合与高风险建议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2C3B587-1A0E-441F-84A7-2916C12A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问题｜流畅、同理的表达容易被误解为专业判断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DDFF9F6F-54B7-4663-8353-D97E8885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验证｜验收“案例：模型迎合与高风险建议”时，要同时记录适用场景、证据来源、失败条件与人工责任</a:t>
            </a:r>
          </a:p>
        </p:txBody>
      </p:sp>
      <p:sp>
        <p:nvSpPr>
          <p:cNvPr id="9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FDE590D0-3656-45B2-8829-A0B37462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29167769-D4F1-401E-9020-9F019160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健康、法律、财务和重大决策必须由合格人员复核，模型不能成为唯一依据</a:t>
            </a:r>
          </a:p>
        </p:txBody>
      </p:sp>
    </p:spTree>
    <p:extLst>
      <p:ext uri="{BB962C8B-B14F-4D97-AF65-F5344CB8AC3E}">
        <p14:creationId xmlns:p14="http://schemas.microsoft.com/office/powerpoint/2010/main" val="1089548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85489E1A-0405-433C-96AB-3B3849C4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92702E1E-9D55-46EF-B7D4-19D319CC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F77A79C5-EB60-449D-933F-F6A82EB0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6CF10F8-E72F-4D26-89ED-444C0718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6E5B69A-04FC-4691-BD2B-58A9ED23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OV-004-S12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2D797738-AD4B-4721-8A6C-0D231323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BC6B012B-8298-49B7-A81C-D7CB3DA8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52F0097C-F88F-42C6-B3AC-139F1099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让一个大模型回答一个你非常熟悉的专业问题，故意引它出错，记录它"一本正经编造"的地方，体会什么是幻觉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22602040-5049-4434-888D-F71D499A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10183AE-D53C-482D-A64A-BCB1D1ED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F89A9C4-795B-4993-9C67-F79DCB15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4658EBA2-836F-4FC4-956F-3C134A81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对照能力边界表，列出你工作中哪些任务可以放心交给 AI、哪些必须自己把关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AB574A5-D649-44E4-9814-AAB0421F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C1F90267-25BC-480D-A26C-84E3D4CC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D1215928-1560-4E7E-87CB-3BF4F51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65C2B26A-1C55-4E70-B1F6-A87A994A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用生成模型和推理模型各做一次同样的任务（如解一道应用题），对比它们的过程和结果</a:t>
            </a:r>
          </a:p>
        </p:txBody>
      </p:sp>
    </p:spTree>
    <p:extLst>
      <p:ext uri="{BB962C8B-B14F-4D97-AF65-F5344CB8AC3E}">
        <p14:creationId xmlns:p14="http://schemas.microsoft.com/office/powerpoint/2010/main" val="16402124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180D2A31-5B63-4FB5-9C06-BDD2FB78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8221E91C-9744-4E79-8AC8-F2B02DAD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91694780-573A-4CB2-94FA-3FE0CBE5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82E53772-B0C7-493A-9306-1DFD3537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D8635983-E9D4-4B32-B298-9590A560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OV-004-S13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DBE2E794-A1E1-4B4C-9D44-E269200E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21CE186E-485E-46B9-8C54-299AB167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34339D44-CBF4-49BE-9343-BF77F0C1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"大模型"这个词经常和人工智能、机器学习、深度学习混在一起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3DF507B0-B015-45AD-B873-2683778E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A03B481-C90A-4EBE-9616-F1C1E4D5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5960A22B-74CE-4BB9-98DB-7ADC3639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478203D4-8037-4B98-A781-0E64B1CB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D8830A33-41A5-4F16-9C2B-A6D69E43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24350B9-EC82-48B5-965A-8737F1E2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2D9F800-86A7-44B4-AAAF-ACE85213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5931F544-CCD4-48C3-B6F0-29AF345D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与其给未来强行排出年份</a:t>
            </a:r>
          </a:p>
        </p:txBody>
      </p:sp>
    </p:spTree>
    <p:extLst>
      <p:ext uri="{BB962C8B-B14F-4D97-AF65-F5344CB8AC3E}">
        <p14:creationId xmlns:p14="http://schemas.microsoft.com/office/powerpoint/2010/main" val="14839137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4-rule">
            <a:extLst xmlns:a="http://schemas.openxmlformats.org/drawingml/2006/main">
              <a:ext uri="{FF2B5EF4-FFF2-40B4-BE49-F238E27FC236}">
                <a16:creationId xmlns:a16="http://schemas.microsoft.com/office/drawing/2014/main" id="{6FD09F42-AE90-42C9-9ACA-8D1CF5AF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4-eyebrow">
            <a:extLst xmlns:a="http://schemas.openxmlformats.org/drawingml/2006/main">
              <a:ext uri="{FF2B5EF4-FFF2-40B4-BE49-F238E27FC236}">
                <a16:creationId xmlns:a16="http://schemas.microsoft.com/office/drawing/2014/main" id="{6A4EE8AF-9658-49DA-A870-2F349297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4-title">
            <a:extLst xmlns:a="http://schemas.openxmlformats.org/drawingml/2006/main">
              <a:ext uri="{FF2B5EF4-FFF2-40B4-BE49-F238E27FC236}">
                <a16:creationId xmlns:a16="http://schemas.microsoft.com/office/drawing/2014/main" id="{EDA979EB-AB5B-47AD-BBB1-DBA82973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4-footer">
            <a:extLst xmlns:a="http://schemas.openxmlformats.org/drawingml/2006/main">
              <a:ext uri="{FF2B5EF4-FFF2-40B4-BE49-F238E27FC236}">
                <a16:creationId xmlns:a16="http://schemas.microsoft.com/office/drawing/2014/main" id="{F8476E93-3E5F-4889-BFC9-A8E04A27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4-identity">
            <a:extLst xmlns:a="http://schemas.openxmlformats.org/drawingml/2006/main">
              <a:ext uri="{FF2B5EF4-FFF2-40B4-BE49-F238E27FC236}">
                <a16:creationId xmlns:a16="http://schemas.microsoft.com/office/drawing/2014/main" id="{03AE6107-F129-413C-8F11-96000772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OV-004-S14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3F89B2D6-AC4B-4CB3-897F-5AA6B03C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2A3C349E-8A55-457D-91A2-F5F8FF0A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Attention Is All You Need：Transformer 原始论文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623FD70C-AD1B-4118-BFDC-3DA5FDEC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Language Models are Few-Shot Learners：GPT-3 论文与 1750 亿参数的一手来源</a:t>
            </a:r>
          </a:p>
        </p:txBody>
      </p:sp>
      <p:sp>
        <p:nvSpPr>
          <p:cNvPr id="9" name="s14-takeaway-rule">
            <a:extLst xmlns:a="http://schemas.openxmlformats.org/drawingml/2006/main">
              <a:ext uri="{FF2B5EF4-FFF2-40B4-BE49-F238E27FC236}">
                <a16:creationId xmlns:a16="http://schemas.microsoft.com/office/drawing/2014/main" id="{BA4811D4-5835-4456-B64D-DDC2EEA2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4-takeaway">
            <a:extLst xmlns:a="http://schemas.openxmlformats.org/drawingml/2006/main">
              <a:ext uri="{FF2B5EF4-FFF2-40B4-BE49-F238E27FC236}">
                <a16:creationId xmlns:a16="http://schemas.microsoft.com/office/drawing/2014/main" id="{EAA840C6-167D-4866-BC14-CF5B784F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2778039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2026-07-11T12:05:10.6540000Z</dcterms:created>
  <dcterms:modified xsi:type="dcterms:W3CDTF">2026-07-11T12:05:10.6540000Z</dcterms:modified>
</coreProperties>
</file>