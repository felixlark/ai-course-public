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3ac816c16f430a" /><Relationship Type="http://schemas.openxmlformats.org/officeDocument/2006/relationships/extended-properties" Target="/docProps/app.xml" Id="R2620cfc2725f40f6" /><Relationship Type="http://schemas.openxmlformats.org/officeDocument/2006/relationships/officeDocument" Target="/ppt/presentation.xml" Id="Rcaef6cf39523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c90f88361546ea"/>
  </p:sldMasterIdLst>
  <p:notesMasterIdLst>
    <p:notesMasterId xmlns:r="http://schemas.openxmlformats.org/officeDocument/2006/relationships" r:id="Rd757a1c7374f40af"/>
  </p:notesMasterIdLst>
  <p:sldIdLst>
    <p:sldId xmlns:r="http://schemas.openxmlformats.org/officeDocument/2006/relationships" id="256" r:id="Rc7133c531e7143d6"/>
    <p:sldId xmlns:r="http://schemas.openxmlformats.org/officeDocument/2006/relationships" id="257" r:id="R39dae4c868d54783"/>
    <p:sldId xmlns:r="http://schemas.openxmlformats.org/officeDocument/2006/relationships" id="258" r:id="Ree2c909c0dd94e01"/>
    <p:sldId xmlns:r="http://schemas.openxmlformats.org/officeDocument/2006/relationships" id="259" r:id="R07b60a9596494bd5"/>
    <p:sldId xmlns:r="http://schemas.openxmlformats.org/officeDocument/2006/relationships" id="260" r:id="R7484ceaefbda450a"/>
    <p:sldId xmlns:r="http://schemas.openxmlformats.org/officeDocument/2006/relationships" id="261" r:id="Re139d2d8c6cb4824"/>
    <p:sldId xmlns:r="http://schemas.openxmlformats.org/officeDocument/2006/relationships" id="262" r:id="R9745392ac9e147c0"/>
    <p:sldId xmlns:r="http://schemas.openxmlformats.org/officeDocument/2006/relationships" id="263" r:id="R9fc38a6c02d942cb"/>
    <p:sldId xmlns:r="http://schemas.openxmlformats.org/officeDocument/2006/relationships" id="264" r:id="R303b3d279f8d41d2"/>
    <p:sldId xmlns:r="http://schemas.openxmlformats.org/officeDocument/2006/relationships" id="265" r:id="R10b097ee5ebd4498"/>
    <p:sldId xmlns:r="http://schemas.openxmlformats.org/officeDocument/2006/relationships" id="266" r:id="Rb9d05a86d58d4fa4"/>
    <p:sldId xmlns:r="http://schemas.openxmlformats.org/officeDocument/2006/relationships" id="267" r:id="Rfef00074d0124246"/>
    <p:sldId xmlns:r="http://schemas.openxmlformats.org/officeDocument/2006/relationships" id="268" r:id="R9cd39accd89747bc"/>
    <p:sldId xmlns:r="http://schemas.openxmlformats.org/officeDocument/2006/relationships" id="269" r:id="R8418bf9fdbf244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cd70097164cb8" /><Relationship Type="http://schemas.openxmlformats.org/officeDocument/2006/relationships/slideMaster" Target="/ppt/slideMasters/slideMaster1.xml" Id="R38c90f88361546ea" /><Relationship Type="http://schemas.openxmlformats.org/officeDocument/2006/relationships/notesMaster" Target="/ppt/notesMasters/notesMaster1.xml" Id="Rd757a1c7374f40af" /><Relationship Type="http://schemas.openxmlformats.org/officeDocument/2006/relationships/presProps" Target="/ppt/presProps.xml" Id="R7bf8667c9049449f" /><Relationship Type="http://schemas.openxmlformats.org/officeDocument/2006/relationships/tableStyles" Target="/ppt/tableStyles.xml" Id="Rbc8d89571bd945b2" /><Relationship Type="http://schemas.openxmlformats.org/officeDocument/2006/relationships/slide" Target="/ppt/slides/slide1.xml" Id="Rc7133c531e7143d6" /><Relationship Type="http://schemas.openxmlformats.org/officeDocument/2006/relationships/slide" Target="/ppt/slides/slide2.xml" Id="R39dae4c868d54783" /><Relationship Type="http://schemas.openxmlformats.org/officeDocument/2006/relationships/slide" Target="/ppt/slides/slide3.xml" Id="Ree2c909c0dd94e01" /><Relationship Type="http://schemas.openxmlformats.org/officeDocument/2006/relationships/slide" Target="/ppt/slides/slide4.xml" Id="R07b60a9596494bd5" /><Relationship Type="http://schemas.openxmlformats.org/officeDocument/2006/relationships/slide" Target="/ppt/slides/slide5.xml" Id="R7484ceaefbda450a" /><Relationship Type="http://schemas.openxmlformats.org/officeDocument/2006/relationships/slide" Target="/ppt/slides/slide6.xml" Id="Re139d2d8c6cb4824" /><Relationship Type="http://schemas.openxmlformats.org/officeDocument/2006/relationships/slide" Target="/ppt/slides/slide7.xml" Id="R9745392ac9e147c0" /><Relationship Type="http://schemas.openxmlformats.org/officeDocument/2006/relationships/slide" Target="/ppt/slides/slide8.xml" Id="R9fc38a6c02d942cb" /><Relationship Type="http://schemas.openxmlformats.org/officeDocument/2006/relationships/slide" Target="/ppt/slides/slide9.xml" Id="R303b3d279f8d41d2" /><Relationship Type="http://schemas.openxmlformats.org/officeDocument/2006/relationships/slide" Target="/ppt/slides/slide10.xml" Id="R10b097ee5ebd4498" /><Relationship Type="http://schemas.openxmlformats.org/officeDocument/2006/relationships/slide" Target="/ppt/slides/slide11.xml" Id="Rb9d05a86d58d4fa4" /><Relationship Type="http://schemas.openxmlformats.org/officeDocument/2006/relationships/slide" Target="/ppt/slides/slide12.xml" Id="Rfef00074d0124246" /><Relationship Type="http://schemas.openxmlformats.org/officeDocument/2006/relationships/slide" Target="/ppt/slides/slide13.xml" Id="R9cd39accd89747bc" /><Relationship Type="http://schemas.openxmlformats.org/officeDocument/2006/relationships/slide" Target="/ppt/slides/slide14.xml" Id="R8418bf9fdbf244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9208e33b3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b4f65c1c3c4f4a" /><Relationship Type="http://schemas.openxmlformats.org/officeDocument/2006/relationships/notesMaster" Target="/ppt/notesMasters/notesMaster1.xml" Id="Rb516cd65c79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b8d1d04d684c7b" /><Relationship Type="http://schemas.openxmlformats.org/officeDocument/2006/relationships/notesMaster" Target="/ppt/notesMasters/notesMaster1.xml" Id="Rfb4f1c45ae0a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8ec563d0f4454" /><Relationship Type="http://schemas.openxmlformats.org/officeDocument/2006/relationships/notesMaster" Target="/ppt/notesMasters/notesMaster1.xml" Id="R8f297cc9ecf846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68a91c63094446" /><Relationship Type="http://schemas.openxmlformats.org/officeDocument/2006/relationships/notesMaster" Target="/ppt/notesMasters/notesMaster1.xml" Id="Ra8d66a58487e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b1791fb74d4e4c" /><Relationship Type="http://schemas.openxmlformats.org/officeDocument/2006/relationships/notesMaster" Target="/ppt/notesMasters/notesMaster1.xml" Id="R357dfe5ead4e4d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961c90d46c45df" /><Relationship Type="http://schemas.openxmlformats.org/officeDocument/2006/relationships/notesMaster" Target="/ppt/notesMasters/notesMaster1.xml" Id="R42e8954c6a5f42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151761ab34716" /><Relationship Type="http://schemas.openxmlformats.org/officeDocument/2006/relationships/notesMaster" Target="/ppt/notesMasters/notesMaster1.xml" Id="R5b8f5898ecca4f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406e561b2544e3" /><Relationship Type="http://schemas.openxmlformats.org/officeDocument/2006/relationships/notesMaster" Target="/ppt/notesMasters/notesMaster1.xml" Id="R721ad9c501454a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123b85fadb4d27" /><Relationship Type="http://schemas.openxmlformats.org/officeDocument/2006/relationships/notesMaster" Target="/ppt/notesMasters/notesMaster1.xml" Id="Rf3a2eca26f1042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0363a4f3fe4ad1" /><Relationship Type="http://schemas.openxmlformats.org/officeDocument/2006/relationships/notesMaster" Target="/ppt/notesMasters/notesMaster1.xml" Id="R2713bce669af48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9c7e5b7d534cc2" /><Relationship Type="http://schemas.openxmlformats.org/officeDocument/2006/relationships/notesMaster" Target="/ppt/notesMasters/notesMaster1.xml" Id="Rd5ab0a01613448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102bf9a8cb4618" /><Relationship Type="http://schemas.openxmlformats.org/officeDocument/2006/relationships/notesMaster" Target="/ppt/notesMasters/notesMaster1.xml" Id="R7fa1b337076240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8dfb870f9c4614" /><Relationship Type="http://schemas.openxmlformats.org/officeDocument/2006/relationships/notesMaster" Target="/ppt/notesMasters/notesMaster1.xml" Id="R6157bc6cc9de4d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eca65ebbf847eb" /><Relationship Type="http://schemas.openxmlformats.org/officeDocument/2006/relationships/notesMaster" Target="/ppt/notesMasters/notesMaster1.xml" Id="Rb7b242296c0c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3e2caae7144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4b334d77fb4880" /><Relationship Type="http://schemas.openxmlformats.org/officeDocument/2006/relationships/slideLayout" Target="/ppt/slideLayouts/slideLayout1.xml" Id="R7ad198c99ac043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d198c99ac043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4685bdf3d4e46" /><Relationship Type="http://schemas.openxmlformats.org/officeDocument/2006/relationships/notesSlide" Target="/ppt/notesSlides/notesSlide1.xml" Id="Rf73fdc6b6306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8db2f9b5044c1" /><Relationship Type="http://schemas.openxmlformats.org/officeDocument/2006/relationships/notesSlide" Target="/ppt/notesSlides/notesSlide2.xml" Id="Rfd1a7cdcece741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06bc91be44aae" /><Relationship Type="http://schemas.openxmlformats.org/officeDocument/2006/relationships/notesSlide" Target="/ppt/notesSlides/notesSlide3.xml" Id="Rebdc0a17826843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80323eb674364" /><Relationship Type="http://schemas.openxmlformats.org/officeDocument/2006/relationships/notesSlide" Target="/ppt/notesSlides/notesSlide4.xml" Id="R62b97654c78b42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f125667c34d03" /><Relationship Type="http://schemas.openxmlformats.org/officeDocument/2006/relationships/notesSlide" Target="/ppt/notesSlides/notesSlide5.xml" Id="R7901a422414d44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c0507e2b84855" /><Relationship Type="http://schemas.openxmlformats.org/officeDocument/2006/relationships/notesSlide" Target="/ppt/notesSlides/notesSlide6.xml" Id="R26723c89e5cf44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7a19689fa4aaa" /><Relationship Type="http://schemas.openxmlformats.org/officeDocument/2006/relationships/notesSlide" Target="/ppt/notesSlides/notesSlide7.xml" Id="Ra9d798d8e53a41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03ce211e940a8" /><Relationship Type="http://schemas.openxmlformats.org/officeDocument/2006/relationships/notesSlide" Target="/ppt/notesSlides/notesSlide8.xml" Id="R5be6b66d81d846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bce8937c44476" /><Relationship Type="http://schemas.openxmlformats.org/officeDocument/2006/relationships/notesSlide" Target="/ppt/notesSlides/notesSlide9.xml" Id="R08cdf79591f648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1b51d84324b9b" /><Relationship Type="http://schemas.openxmlformats.org/officeDocument/2006/relationships/notesSlide" Target="/ppt/notesSlides/notesSlide10.xml" Id="Rdd22e4cf041649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05649e5b94b0c" /><Relationship Type="http://schemas.openxmlformats.org/officeDocument/2006/relationships/notesSlide" Target="/ppt/notesSlides/notesSlide11.xml" Id="Rec8469f3d5ad4a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fa48c154f4c67" /><Relationship Type="http://schemas.openxmlformats.org/officeDocument/2006/relationships/notesSlide" Target="/ppt/notesSlides/notesSlide12.xml" Id="Ra6ead7b6a4294d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7745e72354e15" /><Relationship Type="http://schemas.openxmlformats.org/officeDocument/2006/relationships/notesSlide" Target="/ppt/notesSlides/notesSlide13.xml" Id="R407a79be213947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1c0cc0fc442d8" /><Relationship Type="http://schemas.openxmlformats.org/officeDocument/2006/relationships/notesSlide" Target="/ppt/notesSlides/notesSlide14.xml" Id="Radcc0713fe7843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062D3E4D-7961-4D48-841A-943527C5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40F15A51-69E1-4ED9-A2E6-3C25C8BE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434E435E-04FF-4B86-9E3A-979AD55D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6E8C3C3D-374A-4D89-BFCA-68C956B6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2755CD2D-B07A-4539-BE25-37DD001C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4F999E4D-4931-4262-9742-3635D08C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89B6FD7-5E8C-4077-8693-0F0902E0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第 1 章 · 人工智能概述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979F851-1613-4A27-B417-6C74EF9E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大模型概述、Transformer 与能力边界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65EC8DB-A6DF-443A-9CB2-07D5684B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解释 token、注意力、Transformer、预训练与推理，并建立大模型能力边界。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D8F7359A-CFDC-4399-B414-90495D99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大模型不是一个孤立的新物种；而是机器学习、深度学习和预训练技术长期演进的结果；本节先把它放回 AI 技术谱系；再拆解 Transformer、训练与推理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8749B7C8-7ECB-4DD3-AB04-29D987A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301C1A4A-5347-4C79-BFD9-C75ADC7D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OV-004 · OV-004-S01</a:t>
            </a:r>
          </a:p>
        </p:txBody>
      </p:sp>
    </p:spTree>
    <p:extLst>
      <p:ext uri="{BB962C8B-B14F-4D97-AF65-F5344CB8AC3E}">
        <p14:creationId xmlns:p14="http://schemas.microsoft.com/office/powerpoint/2010/main" val="887683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B5C33ADF-5062-4053-8405-DD9067A4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297929BB-0430-47A6-A87F-915834DB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F0E8F7D3-BA51-4D9D-9C8F-3241549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大模型能力边界：3项学习结果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67884F81-E1BB-4D34-B57A-DF4ED71F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A4AEA6D2-2B78-47E7-857A-D6D5D84D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E8595B12-BA17-47AB-9597-A7A43F34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把大模型放回机器学习、深度学习和预训练的技术谱系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98B8760A-D96B-4130-9DF4-22E38B52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用自己的话解释 token、自注意力、Transformer、训练和推理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70F638C7-44B9-49C3-B58F-313CF53A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为幻觉、时效知识和高风险建议设计核验与人在回路机制</a:t>
            </a:r>
          </a:p>
        </p:txBody>
      </p:sp>
    </p:spTree>
    <p:extLst>
      <p:ext uri="{BB962C8B-B14F-4D97-AF65-F5344CB8AC3E}">
        <p14:creationId xmlns:p14="http://schemas.microsoft.com/office/powerpoint/2010/main" val="159831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3C672C6B-ABB7-4953-BF07-707CCF25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DC33DFAB-D202-481B-A84F-2D1BD6B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1 / 7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436CA3B4-9B7E-45EE-96A6-7D371A7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大模型位于深度学习与预训练技术的延长线上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DE84AA64-F70A-4886-A3C6-C1E8E711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D656F491-2D2F-47DC-A5B6-D3538B7D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66B7E7F-A001-4EAD-A312-3D643D19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2CDDE83-B42D-4133-9995-66FA848E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大模型在 AI 版图中的位置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A638F8B-08AA-49AD-8072-9593DEB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"大模型"这个词经常和人工智能、机器学习、深度学习混在一起。它们其实是一层套一层的包含关系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FAA817E-8B44-42F7-AA7E-0D71EF91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D877425-D12A-4A2C-BCEF-7FA14656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人工智能 ⊃ 机器学习 ⊃ 深度学习 ⊃ 预训练模型 ⊃ 大模型 ⊃ 大语言模型（GPT、DeepSeek 等）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5D14E6AC-7375-45CF-AF2F-C9706BC0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861A5374-378B-4231-90BE-6126CD8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机器学习让机器从数据中找规律；其中的深度学习用多层神经网络学习复杂表示；深度学习里的 预训练模型 先在大规模数据上学到通用知识；再针对具体任务微调；预训练模型中参数规模巨大的那一类就是大模型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81B1228D-3406-403E-86CD-5C256ED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4F595A21-7083-4BE2-9D4C-B444974C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大模型位于深度学习与预训练技术的延长线上</a:t>
            </a:r>
          </a:p>
        </p:txBody>
      </p:sp>
    </p:spTree>
    <p:extLst>
      <p:ext uri="{BB962C8B-B14F-4D97-AF65-F5344CB8AC3E}">
        <p14:creationId xmlns:p14="http://schemas.microsoft.com/office/powerpoint/2010/main" val="577170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0737893F-5A87-49D9-A948-ED21903B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05A4B020-3621-4E0B-A95C-C5D9F7D8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2 / 7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48D7307B-2BDD-44B8-80F6-98F52616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653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大模型的“大”同时体现在参数、训练数据、计算量和工程系统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4719E1F1-B74E-4C06-AB21-D479A407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6708D2F3-EA48-43DB-BC4A-3FCDE81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AAB43ABF-C2B9-481B-B249-9F1A265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B1DCC8E-1914-49EF-8706-3C6BCCEE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“大”体现在哪里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F3E4F6D3-F084-4262-A63C-7C6A4F5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大模型的“大”同时体现在参数、训练数据、计算量和工程系统；以公开论文为例，GPT-3 使用 1750 亿参数展示了规模化预训练与上下文学习的潜力；但参数多不等于一定更好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A89F401-A772-48FB-95CE-2B8451F3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998F8B8-DEDD-4939-AFAC-044EC40C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很多商业模型不公开完整参数，因此不能把未经证实的估算写成确定事实。比较模型时，应优先看任务评测、成本、时延、上下文、隐私和可验证性，而不是只看一个“参数规模”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A28C394A-DFDE-4EE6-9204-19E2409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8ED94E85-B9C9-49F2-BC69-32F2CF21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大模型的“大”同时体现在参数、训练数据、计算量和工程系统</a:t>
            </a:r>
          </a:p>
        </p:txBody>
      </p:sp>
    </p:spTree>
    <p:extLst>
      <p:ext uri="{BB962C8B-B14F-4D97-AF65-F5344CB8AC3E}">
        <p14:creationId xmlns:p14="http://schemas.microsoft.com/office/powerpoint/2010/main" val="932085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00B97421-7EEF-49D0-B400-701D7960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E57C863B-86FB-4057-AB52-40FBFB84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3 / 7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FAE69209-4375-4E0B-9306-2421DD03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Transformer 把自注意力作为核心机制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0A901F7C-3600-42CA-AEE5-3BB6B8F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C0A3D60B-E4D6-4150-9088-FE0BEA1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0F1EDE3-E17B-4D36-9225-3D76D4CB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6C935A1-3DD1-4CA2-BA57-82D2442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Transformer：让上下文中的信息彼此关联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3699388-30B5-4C33-ABEB-D02EED03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Transformer 把自注意力作为核心机制；处理某个 token 时；模型可以根据任务和上下文为其他 token 分配不同权重；多层注意力与前馈网络反复混合信息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6C53CC3-17FC-4B56-B85E-7E1726CE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EB94EDE-609D-4FDD-AF4F-086A6B3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预训练让模型在大量数据上学习通用分布，指令微调与偏好对齐让它更会按照人的任务格式回答；推理阶段则根据当前上下文逐 token 生成结果。模型输出是条件概率下的生成，不是数据库式的事实读取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0DCB6C72-4DE2-4AB4-8C89-FF8DCFE0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98495613-904A-4081-8A4F-A0B92847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Transformer 把自注意力作为核心机制</a:t>
            </a:r>
          </a:p>
        </p:txBody>
      </p:sp>
    </p:spTree>
    <p:extLst>
      <p:ext uri="{BB962C8B-B14F-4D97-AF65-F5344CB8AC3E}">
        <p14:creationId xmlns:p14="http://schemas.microsoft.com/office/powerpoint/2010/main" val="1521412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755A8744-8435-451F-BAEA-393C2DD5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E6784C18-96D7-4ADA-B262-F012EE5E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4 / 7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9C2B2E7C-46DD-49C1-96E3-D4F0ADBE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大模型正在分化出两条技术路线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BE6C2C19-9802-4D92-80A1-3926D83C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E854D841-5BCD-43D0-ACEF-AB4B7FAE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93AA7F6-787C-4BDB-BD0A-3EED3CA7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BAAC68B-3567-4D7D-A8C3-31991369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生成模型与推理模型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EDD99A6-4F03-46A5-90A4-B00C09D1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大模型正在分化出两条技术路线，理解它们的差异，才能在实际任务里选对工具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6AAF2A3-E844-4792-B56C-7F80F42C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7C6BB8E-10BA-420C-8B92-466DEC6B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生成模型 ：擅长快速产出——写文案、做总结、生成图片，追求流畅和创意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51D04044-C3A8-4346-9052-1DFD7C08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D186E3F3-67DB-4185-87F0-190C6897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推理模型 ：针对多步问题分配更多推理计算，通常更适合数学、代码和复杂分析，但耗时与成本也更高，仍需要结果核验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6293B82A-220E-49D2-8C37-6F6A182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4FABBDBA-A74E-43A0-A427-0E837C07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大模型正在分化出两条技术路线</a:t>
            </a:r>
          </a:p>
        </p:txBody>
      </p:sp>
    </p:spTree>
    <p:extLst>
      <p:ext uri="{BB962C8B-B14F-4D97-AF65-F5344CB8AC3E}">
        <p14:creationId xmlns:p14="http://schemas.microsoft.com/office/powerpoint/2010/main" val="582536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66E888D2-C592-4834-BFEB-9BE6BFDF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118749B2-2793-49C1-8924-46562BFB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5 / 7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25CAA764-BC8A-4C1D-B1B9-C60D9011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具体产品会快速变化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E7A8785A-EC4B-4648-8933-5C4807A2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CC39B944-A0ED-4E25-B762-034B0068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BE472A70-243B-43A9-8C22-619E6A6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9F4DB4E-669D-4432-AF75-F255926E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从模型产品到能力组合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E0149E21-CE4A-43C3-983A-0358E5AB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具体产品会快速变化；更稳定的判断方式是看能力组合；通用对话、联网检索、代码执行、文本与图像理解、音视频生成、行业知识和工具调用；多模态模型能在同一任务中处理多种信息</a:t>
            </a:r>
          </a:p>
        </p:txBody>
      </p:sp>
      <p:sp>
        <p:nvSpPr>
          <p:cNvPr id="9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7699BC5C-2269-4A3F-89EF-6A3413F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7-takeaway">
            <a:extLst xmlns:a="http://schemas.openxmlformats.org/drawingml/2006/main">
              <a:ext uri="{FF2B5EF4-FFF2-40B4-BE49-F238E27FC236}">
                <a16:creationId xmlns:a16="http://schemas.microsoft.com/office/drawing/2014/main" id="{B690B7E7-8AC1-4F38-A048-1D035C0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具体产品会快速变化</a:t>
            </a:r>
          </a:p>
        </p:txBody>
      </p:sp>
    </p:spTree>
    <p:extLst>
      <p:ext uri="{BB962C8B-B14F-4D97-AF65-F5344CB8AC3E}">
        <p14:creationId xmlns:p14="http://schemas.microsoft.com/office/powerpoint/2010/main" val="1600926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B58CAD5C-227B-452F-B831-7389296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FD960A2A-FE3D-4FD5-BB97-81192040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6 / 7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913C5C20-FE58-4EEA-9DED-BD5ED69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用好大模型的前提，是清楚它的强项和软肋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B0B050CC-0722-4414-B262-E3F8097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0C9AE0E9-4AAD-454A-9E28-D049B51D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D493F50-E226-413A-9EDB-2E802D0A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89F005E-ABE3-43E3-B38B-597D2E03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大模型的能力边界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040D97A-71A4-41FF-8038-C955129B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用好大模型的前提，是清楚它的强项和软肋。下表是对当前水平的一个概括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76F6DF3-A5CE-4455-87F9-CAA949D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BEDE154-A826-4E6B-982F-83B70508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这里最需要警惕的是"事实准确性"一栏——大模型会自信地生成看起来合理、实际却错误的内容，这就是 幻觉 。它属于这类模型的固有特性，并非偶发故障，也是所有落地场景都必须设防的地方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BB5E5FD4-F702-441C-904A-35F7582F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5EB24002-ED3A-4BEB-9DC8-E162D9CE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用好大模型的前提，是清楚它的强项和软肋</a:t>
            </a:r>
          </a:p>
        </p:txBody>
      </p:sp>
    </p:spTree>
    <p:extLst>
      <p:ext uri="{BB962C8B-B14F-4D97-AF65-F5344CB8AC3E}">
        <p14:creationId xmlns:p14="http://schemas.microsoft.com/office/powerpoint/2010/main" val="2137213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4F5DF39B-5F07-492C-8AD4-10CF1B87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0EFE127C-023F-4D20-9BD1-CE8B6A82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7 / 7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F6BE5B32-4EF4-4246-B549-39865C03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判断趋势要看多模态、智能体与可靠性三条线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06F12793-829C-4549-B87C-F9D69E3E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1DCAADD3-1359-46DB-9D2F-E12A8A9F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OV-004-S09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0E7EA11-11D5-4F2F-BC62-685B27E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BD8A11A-2DD4-4238-ADE5-6FD16286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可以持续观察的演进方向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F1DD74B-EDA0-4BBB-A111-79D7F316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与其给未来强行排出年份；更可靠的是观察三条方向；模型从单一文本走向多模态；从单次问答走向工具与智能体；从只追求能力走向同时衡量成本、可靠性、安全与治理</a:t>
            </a:r>
          </a:p>
        </p:txBody>
      </p:sp>
      <p:sp>
        <p:nvSpPr>
          <p:cNvPr id="9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5F6332E6-E638-49AD-A6DD-BCA2F71A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9-takeaway">
            <a:extLst xmlns:a="http://schemas.openxmlformats.org/drawingml/2006/main">
              <a:ext uri="{FF2B5EF4-FFF2-40B4-BE49-F238E27FC236}">
                <a16:creationId xmlns:a16="http://schemas.microsoft.com/office/drawing/2014/main" id="{B21566BA-CA7F-47DE-A114-5BC5DDE9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判断趋势要看多模态、智能体与可靠性三条线</a:t>
            </a:r>
          </a:p>
        </p:txBody>
      </p:sp>
    </p:spTree>
    <p:extLst>
      <p:ext uri="{BB962C8B-B14F-4D97-AF65-F5344CB8AC3E}">
        <p14:creationId xmlns:p14="http://schemas.microsoft.com/office/powerpoint/2010/main" val="1971170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37378CE5-8A6C-4352-AD6F-EFEE9028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BB5B9D27-6ABB-4C80-A742-BAB71E87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73703BBC-A849-4D4F-963A-C4B37B6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应当是放大能力的杠杆，而不是替代思考的拐杖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81C6B446-9406-4807-A046-DBEEA940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DBA5C029-E0F5-4809-95A3-F0C8A79D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6A517798-215D-4690-8B97-D038AD2A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案例：学生对 AI 的过度依赖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0680F779-881C-4943-A5D1-D4B27C85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问题｜当查资料、搭框架、写初稿都交给 AI，独立思考和检索能力会不会退化？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5F374E86-AC51-4150-B669-A4365849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现象｜高校中用 AI 辅助检索、提纲和论文起草已很普遍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F018538F-550D-495F-B051-2249448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启发｜AI 应当是放大能力的杠杆，而不是替代思考的拐杖。把 AI 的输出当作草稿和对照，而非最终答案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49428E74-1EE3-4BB1-95EF-5909389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F4969993-CC34-4FD3-BFB6-91D654F3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AI 应当是放大能力的杠杆，而不是替代思考的拐杖</a:t>
            </a:r>
          </a:p>
        </p:txBody>
      </p:sp>
    </p:spTree>
    <p:extLst>
      <p:ext uri="{BB962C8B-B14F-4D97-AF65-F5344CB8AC3E}">
        <p14:creationId xmlns:p14="http://schemas.microsoft.com/office/powerpoint/2010/main" val="1883366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05D4BAFA-6805-4516-8AC5-5B9D40A2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E352E787-6670-46B6-852D-55E9C6C0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99C01A41-5AE8-474E-B35F-08875DF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高风险建议必须由合格人员复核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9E77E7C6-E249-49C1-A72D-2DEC1F5B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1BA88E9B-7B5F-4F19-B78F-C8DEC7F2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OV-004-S11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213475C8-7949-4E19-8B9C-93AA0B0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案例：模型迎合与高风险建议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00C725D5-B791-4FFF-8C60-D8621DD4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问题｜流畅、同理的表达容易被误解为专业判断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B8A6DCE2-53EF-4853-BA2E-C961081C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现象｜对话模型可能顺着用户已经形成的假设继续生成，而不会主动承担事实核查与后果责任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6B7258BE-778C-4D0D-A320-9DA006E3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启发｜健康、法律、财务和重大决策必须由合格人员复核，模型不能成为唯一依据</a:t>
            </a:r>
          </a:p>
        </p:txBody>
      </p:sp>
      <p:sp>
        <p:nvSpPr>
          <p:cNvPr id="10" name="s11-takeaway-rule">
            <a:extLst xmlns:a="http://schemas.openxmlformats.org/drawingml/2006/main">
              <a:ext uri="{FF2B5EF4-FFF2-40B4-BE49-F238E27FC236}">
                <a16:creationId xmlns:a16="http://schemas.microsoft.com/office/drawing/2014/main" id="{F262346E-B9AE-452E-AA61-A9920F46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1" name="s11-takeaway">
            <a:extLst xmlns:a="http://schemas.openxmlformats.org/drawingml/2006/main">
              <a:ext uri="{FF2B5EF4-FFF2-40B4-BE49-F238E27FC236}">
                <a16:creationId xmlns:a16="http://schemas.microsoft.com/office/drawing/2014/main" id="{FCFF960B-BCAC-4E4F-B80A-D389F4FC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高风险建议必须由合格人员复核</a:t>
            </a:r>
          </a:p>
        </p:txBody>
      </p:sp>
    </p:spTree>
    <p:extLst>
      <p:ext uri="{BB962C8B-B14F-4D97-AF65-F5344CB8AC3E}">
        <p14:creationId xmlns:p14="http://schemas.microsoft.com/office/powerpoint/2010/main" val="1275484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5C5A8807-9329-49C2-B753-B5757C5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7E858A64-1464-4C54-AD6E-E20F2574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BBA1DF6E-BD34-4653-9FC5-EA1066C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大模型能力边界：一次可验收练习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084BE912-5F08-48BD-A1BF-4DB700A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B0F833C5-B179-4DDE-B965-C2A4E552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OV-004-S12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C2EA66CE-DA69-4369-9B98-DD4BAE9F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05F1AE4C-D811-480F-851C-BD0B3E68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DE8F4EDC-49DA-4698-B129-30CD6462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让一个大模型回答一个你非常熟悉的专业问题，故意引它出错，记录它"一本正经编造"的地方，体会什么是幻觉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F90E345B-6476-4EBB-BF82-1B40348D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0CF5CCFC-CCB8-4415-8CDD-A39A852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A6DE4E98-88DA-4CB5-8A2A-FA4591C4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6A44FB8C-4959-4A0E-8766-A49D8550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对照能力边界表，列出你工作中哪些任务可以放心交给 AI、哪些必须自己把关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453BBB18-B1F6-40C4-8A45-44631D76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8D2F648F-FE59-48FC-9303-8BDD9B8C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F8A3D285-7723-4056-9FEF-851398C1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0BA8C7FB-459F-49F2-931B-4EAF9AAF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用生成模型和推理模型各做一次同样的任务（如解一道应用题），对比它们的过程和结果</a:t>
            </a:r>
          </a:p>
        </p:txBody>
      </p:sp>
    </p:spTree>
    <p:extLst>
      <p:ext uri="{BB962C8B-B14F-4D97-AF65-F5344CB8AC3E}">
        <p14:creationId xmlns:p14="http://schemas.microsoft.com/office/powerpoint/2010/main" val="4893425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B67C0E12-B7A6-491F-A4C5-1D8374C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8D3A56FD-A2C5-4CDC-80D9-1DFF97CD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2FE80738-3224-4AFC-AB3B-05F1BE98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大模型能力边界：判断时先抓住三点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410B3B24-BE9C-4D93-B0E4-FB8CE72F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7F08BB73-30CF-4A82-8B7B-E5B59888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OV-004-S13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E57D66CB-A04B-45EB-B241-2D624FC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0B9D5635-7B0E-4929-BF0C-1C56F470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5FAA98DF-79B6-4A3A-81CC-53C1C91E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大模型位于深度学习与预训练技术的延长线上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8352A2A5-07DD-4549-A342-E3EB0FEC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03FD7CFB-DC9F-43B5-8FA7-1B1BF76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B62049D1-DBBA-41EC-AF44-005BC51C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7145DF55-1C3E-43D1-9540-6728EF11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大模型正在分化出两条技术路线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4E558298-AB1E-459C-BCA1-9D61A2C9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395ECAA2-8429-49D9-9293-C6C7E814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8C908E7A-E0B2-4E8C-9381-5120010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F1BF39A4-B9FE-4B12-BBE2-58D721F0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判断趋势要看多模态、智能体与可靠性三条线</a:t>
            </a:r>
          </a:p>
        </p:txBody>
      </p:sp>
    </p:spTree>
    <p:extLst>
      <p:ext uri="{BB962C8B-B14F-4D97-AF65-F5344CB8AC3E}">
        <p14:creationId xmlns:p14="http://schemas.microsoft.com/office/powerpoint/2010/main" val="21355095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4-rule">
            <a:extLst xmlns:a="http://schemas.openxmlformats.org/drawingml/2006/main">
              <a:ext uri="{FF2B5EF4-FFF2-40B4-BE49-F238E27FC236}">
                <a16:creationId xmlns:a16="http://schemas.microsoft.com/office/drawing/2014/main" id="{04DDD69F-A0CA-4D08-B04F-8346F4BF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4-eyebrow">
            <a:extLst xmlns:a="http://schemas.openxmlformats.org/drawingml/2006/main">
              <a:ext uri="{FF2B5EF4-FFF2-40B4-BE49-F238E27FC236}">
                <a16:creationId xmlns:a16="http://schemas.microsoft.com/office/drawing/2014/main" id="{F8B24A82-2F1B-446C-83F5-90E1A20B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4-title">
            <a:extLst xmlns:a="http://schemas.openxmlformats.org/drawingml/2006/main">
              <a:ext uri="{FF2B5EF4-FFF2-40B4-BE49-F238E27FC236}">
                <a16:creationId xmlns:a16="http://schemas.microsoft.com/office/drawing/2014/main" id="{1CD6551A-1A26-465D-8AF2-2B5DA1D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大模型能力边界：依据、边界与延伸</a:t>
            </a:r>
          </a:p>
        </p:txBody>
      </p:sp>
      <p:sp>
        <p:nvSpPr>
          <p:cNvPr id="4" name="s14-footer">
            <a:extLst xmlns:a="http://schemas.openxmlformats.org/drawingml/2006/main">
              <a:ext uri="{FF2B5EF4-FFF2-40B4-BE49-F238E27FC236}">
                <a16:creationId xmlns:a16="http://schemas.microsoft.com/office/drawing/2014/main" id="{0F5B71D6-6954-4307-8BE5-C5A81BF9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4-identity">
            <a:extLst xmlns:a="http://schemas.openxmlformats.org/drawingml/2006/main">
              <a:ext uri="{FF2B5EF4-FFF2-40B4-BE49-F238E27FC236}">
                <a16:creationId xmlns:a16="http://schemas.microsoft.com/office/drawing/2014/main" id="{5DBF5D0B-8CA4-43A7-A7EF-535A134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OV-004 · OV-004-S14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6748E5AF-C698-4804-BAC0-144801F0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64949502-9852-490B-B0DD-8C8DA85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Attention Is All You Need：Transformer 原始论文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6A8C7D78-74A4-4661-ABC7-33B95DCB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Language Models are Few-Shot Learners：GPT-3 论文与 1750 亿参数的一手来源</a:t>
            </a:r>
          </a:p>
        </p:txBody>
      </p:sp>
      <p:sp>
        <p:nvSpPr>
          <p:cNvPr id="9" name="s14-takeaway-rule">
            <a:extLst xmlns:a="http://schemas.openxmlformats.org/drawingml/2006/main">
              <a:ext uri="{FF2B5EF4-FFF2-40B4-BE49-F238E27FC236}">
                <a16:creationId xmlns:a16="http://schemas.microsoft.com/office/drawing/2014/main" id="{CE063D60-FA28-498F-873D-993B22C7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14-takeaway">
            <a:extLst xmlns:a="http://schemas.openxmlformats.org/drawingml/2006/main">
              <a:ext uri="{FF2B5EF4-FFF2-40B4-BE49-F238E27FC236}">
                <a16:creationId xmlns:a16="http://schemas.microsoft.com/office/drawing/2014/main" id="{0AE2BDEB-5645-420A-A87B-714D898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课程精编页用于讲授主线；播放器中的“原课件”模式保留团队 PowerPoint 精选页、真实图片和可播放视频。</a:t>
            </a:r>
          </a:p>
        </p:txBody>
      </p:sp>
    </p:spTree>
    <p:extLst>
      <p:ext uri="{BB962C8B-B14F-4D97-AF65-F5344CB8AC3E}">
        <p14:creationId xmlns:p14="http://schemas.microsoft.com/office/powerpoint/2010/main" val="1466803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2026-07-12T03:31:41.5580000Z</dcterms:created>
  <dcterms:modified xsi:type="dcterms:W3CDTF">2026-07-12T03:31:41.5580000Z</dcterms:modified>
</coreProperties>
</file>