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69ac00340b4812" /><Relationship Type="http://schemas.openxmlformats.org/officeDocument/2006/relationships/extended-properties" Target="/docProps/app.xml" Id="R5f90c22c8d0849bd" /><Relationship Type="http://schemas.openxmlformats.org/officeDocument/2006/relationships/officeDocument" Target="/ppt/presentation.xml" Id="R1d5d8f42523345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01c1354ed346de"/>
  </p:sldMasterIdLst>
  <p:notesMasterIdLst>
    <p:notesMasterId xmlns:r="http://schemas.openxmlformats.org/officeDocument/2006/relationships" r:id="R1b7f8142e3a44cf1"/>
  </p:notesMasterIdLst>
  <p:sldIdLst>
    <p:sldId xmlns:r="http://schemas.openxmlformats.org/officeDocument/2006/relationships" id="256" r:id="R5dfe4e18902a460d"/>
    <p:sldId xmlns:r="http://schemas.openxmlformats.org/officeDocument/2006/relationships" id="257" r:id="R58413f325faa45bf"/>
    <p:sldId xmlns:r="http://schemas.openxmlformats.org/officeDocument/2006/relationships" id="258" r:id="R83a41edaca254f0a"/>
    <p:sldId xmlns:r="http://schemas.openxmlformats.org/officeDocument/2006/relationships" id="259" r:id="R0d717e3b3b994385"/>
    <p:sldId xmlns:r="http://schemas.openxmlformats.org/officeDocument/2006/relationships" id="260" r:id="Ra6b71a6a879e40bc"/>
    <p:sldId xmlns:r="http://schemas.openxmlformats.org/officeDocument/2006/relationships" id="261" r:id="Re0d50671b9ea4a15"/>
    <p:sldId xmlns:r="http://schemas.openxmlformats.org/officeDocument/2006/relationships" id="262" r:id="R1ca5f238e84f4142"/>
    <p:sldId xmlns:r="http://schemas.openxmlformats.org/officeDocument/2006/relationships" id="263" r:id="R597877b316f7413d"/>
    <p:sldId xmlns:r="http://schemas.openxmlformats.org/officeDocument/2006/relationships" id="264" r:id="R2b089b1afc434a95"/>
    <p:sldId xmlns:r="http://schemas.openxmlformats.org/officeDocument/2006/relationships" id="265" r:id="R27d9dcf773194b58"/>
    <p:sldId xmlns:r="http://schemas.openxmlformats.org/officeDocument/2006/relationships" id="266" r:id="R8905b14ce7994852"/>
    <p:sldId xmlns:r="http://schemas.openxmlformats.org/officeDocument/2006/relationships" id="267" r:id="R7ce19b57848e45f2"/>
    <p:sldId xmlns:r="http://schemas.openxmlformats.org/officeDocument/2006/relationships" id="268" r:id="R297f0e6f0adb4c58"/>
    <p:sldId xmlns:r="http://schemas.openxmlformats.org/officeDocument/2006/relationships" id="269" r:id="R34b96e7d5ba84c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f1d1b97a4343ff" /><Relationship Type="http://schemas.openxmlformats.org/officeDocument/2006/relationships/slideMaster" Target="/ppt/slideMasters/slideMaster1.xml" Id="R4201c1354ed346de" /><Relationship Type="http://schemas.openxmlformats.org/officeDocument/2006/relationships/notesMaster" Target="/ppt/notesMasters/notesMaster1.xml" Id="R1b7f8142e3a44cf1" /><Relationship Type="http://schemas.openxmlformats.org/officeDocument/2006/relationships/presProps" Target="/ppt/presProps.xml" Id="R2d75f1dcf67743b7" /><Relationship Type="http://schemas.openxmlformats.org/officeDocument/2006/relationships/tableStyles" Target="/ppt/tableStyles.xml" Id="Rddaeb7bf3e014c35" /><Relationship Type="http://schemas.openxmlformats.org/officeDocument/2006/relationships/slide" Target="/ppt/slides/slide1.xml" Id="R5dfe4e18902a460d" /><Relationship Type="http://schemas.openxmlformats.org/officeDocument/2006/relationships/slide" Target="/ppt/slides/slide2.xml" Id="R58413f325faa45bf" /><Relationship Type="http://schemas.openxmlformats.org/officeDocument/2006/relationships/slide" Target="/ppt/slides/slide3.xml" Id="R83a41edaca254f0a" /><Relationship Type="http://schemas.openxmlformats.org/officeDocument/2006/relationships/slide" Target="/ppt/slides/slide4.xml" Id="R0d717e3b3b994385" /><Relationship Type="http://schemas.openxmlformats.org/officeDocument/2006/relationships/slide" Target="/ppt/slides/slide5.xml" Id="Ra6b71a6a879e40bc" /><Relationship Type="http://schemas.openxmlformats.org/officeDocument/2006/relationships/slide" Target="/ppt/slides/slide6.xml" Id="Re0d50671b9ea4a15" /><Relationship Type="http://schemas.openxmlformats.org/officeDocument/2006/relationships/slide" Target="/ppt/slides/slide7.xml" Id="R1ca5f238e84f4142" /><Relationship Type="http://schemas.openxmlformats.org/officeDocument/2006/relationships/slide" Target="/ppt/slides/slide8.xml" Id="R597877b316f7413d" /><Relationship Type="http://schemas.openxmlformats.org/officeDocument/2006/relationships/slide" Target="/ppt/slides/slide9.xml" Id="R2b089b1afc434a95" /><Relationship Type="http://schemas.openxmlformats.org/officeDocument/2006/relationships/slide" Target="/ppt/slides/slide10.xml" Id="R27d9dcf773194b58" /><Relationship Type="http://schemas.openxmlformats.org/officeDocument/2006/relationships/slide" Target="/ppt/slides/slide11.xml" Id="R8905b14ce7994852" /><Relationship Type="http://schemas.openxmlformats.org/officeDocument/2006/relationships/slide" Target="/ppt/slides/slide12.xml" Id="R7ce19b57848e45f2" /><Relationship Type="http://schemas.openxmlformats.org/officeDocument/2006/relationships/slide" Target="/ppt/slides/slide13.xml" Id="R297f0e6f0adb4c58" /><Relationship Type="http://schemas.openxmlformats.org/officeDocument/2006/relationships/slide" Target="/ppt/slides/slide14.xml" Id="R34b96e7d5ba84c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887d59f0b147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fc48fd129c4e55" /><Relationship Type="http://schemas.openxmlformats.org/officeDocument/2006/relationships/notesMaster" Target="/ppt/notesMasters/notesMaster1.xml" Id="Ra9e2be81e1a24f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8e1931074743a7" /><Relationship Type="http://schemas.openxmlformats.org/officeDocument/2006/relationships/notesMaster" Target="/ppt/notesMasters/notesMaster1.xml" Id="Re9ab87479c9949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59adc249b84625" /><Relationship Type="http://schemas.openxmlformats.org/officeDocument/2006/relationships/notesMaster" Target="/ppt/notesMasters/notesMaster1.xml" Id="Ree8d9d9ac18f4b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5d5182cb164270" /><Relationship Type="http://schemas.openxmlformats.org/officeDocument/2006/relationships/notesMaster" Target="/ppt/notesMasters/notesMaster1.xml" Id="R8abb1b6edfd649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efc56e7aa64478" /><Relationship Type="http://schemas.openxmlformats.org/officeDocument/2006/relationships/notesMaster" Target="/ppt/notesMasters/notesMaster1.xml" Id="R3f164c6e9fde49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ef6e0e36c64511" /><Relationship Type="http://schemas.openxmlformats.org/officeDocument/2006/relationships/notesMaster" Target="/ppt/notesMasters/notesMaster1.xml" Id="R4a1e2cbfbdbe47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2ce647cd7843a4" /><Relationship Type="http://schemas.openxmlformats.org/officeDocument/2006/relationships/notesMaster" Target="/ppt/notesMasters/notesMaster1.xml" Id="R43a6a68c5fa747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7979c2ac6e423f" /><Relationship Type="http://schemas.openxmlformats.org/officeDocument/2006/relationships/notesMaster" Target="/ppt/notesMasters/notesMaster1.xml" Id="Ra3107bae382e43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a6bbf041a5f4e1b" /><Relationship Type="http://schemas.openxmlformats.org/officeDocument/2006/relationships/notesMaster" Target="/ppt/notesMasters/notesMaster1.xml" Id="R9c1d3672a93d40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01f6a22da84245" /><Relationship Type="http://schemas.openxmlformats.org/officeDocument/2006/relationships/notesMaster" Target="/ppt/notesMasters/notesMaster1.xml" Id="R5a349bb41d6a40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46e19fb21c4474" /><Relationship Type="http://schemas.openxmlformats.org/officeDocument/2006/relationships/notesMaster" Target="/ppt/notesMasters/notesMaster1.xml" Id="R7bb64ce6f2814d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f38893a54041cb" /><Relationship Type="http://schemas.openxmlformats.org/officeDocument/2006/relationships/notesMaster" Target="/ppt/notesMasters/notesMaster1.xml" Id="Rc8175fce109345a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0c18221ccb74cec" /><Relationship Type="http://schemas.openxmlformats.org/officeDocument/2006/relationships/notesMaster" Target="/ppt/notesMasters/notesMaster1.xml" Id="R675b6ec79b92465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55bccf2500e4462" /><Relationship Type="http://schemas.openxmlformats.org/officeDocument/2006/relationships/notesMaster" Target="/ppt/notesMasters/notesMaster1.xml" Id="R60eb8c4472f548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71274d9dcc41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ee5c25e3ef40e9" /><Relationship Type="http://schemas.openxmlformats.org/officeDocument/2006/relationships/slideLayout" Target="/ppt/slideLayouts/slideLayout1.xml" Id="R83330438a54c49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330438a54c49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cc9e633fe4fb7" /><Relationship Type="http://schemas.openxmlformats.org/officeDocument/2006/relationships/notesSlide" Target="/ppt/notesSlides/notesSlide1.xml" Id="R117e14cf47494e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82c117d6e439c" /><Relationship Type="http://schemas.openxmlformats.org/officeDocument/2006/relationships/notesSlide" Target="/ppt/notesSlides/notesSlide2.xml" Id="Rc20df047026e45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48019e3754bce" /><Relationship Type="http://schemas.openxmlformats.org/officeDocument/2006/relationships/notesSlide" Target="/ppt/notesSlides/notesSlide3.xml" Id="R91eae44ec84f41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7f39c21794573" /><Relationship Type="http://schemas.openxmlformats.org/officeDocument/2006/relationships/notesSlide" Target="/ppt/notesSlides/notesSlide4.xml" Id="R64e770c7288a4c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de9dea63f46da" /><Relationship Type="http://schemas.openxmlformats.org/officeDocument/2006/relationships/notesSlide" Target="/ppt/notesSlides/notesSlide5.xml" Id="R3dc42805643948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4450fa0584063" /><Relationship Type="http://schemas.openxmlformats.org/officeDocument/2006/relationships/notesSlide" Target="/ppt/notesSlides/notesSlide6.xml" Id="Rea36fa62a4e64d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8110f17024973" /><Relationship Type="http://schemas.openxmlformats.org/officeDocument/2006/relationships/notesSlide" Target="/ppt/notesSlides/notesSlide7.xml" Id="Recbe1964515a4c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140aae1204996" /><Relationship Type="http://schemas.openxmlformats.org/officeDocument/2006/relationships/notesSlide" Target="/ppt/notesSlides/notesSlide8.xml" Id="R3b822e0ddd8647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1101d07b74354" /><Relationship Type="http://schemas.openxmlformats.org/officeDocument/2006/relationships/notesSlide" Target="/ppt/notesSlides/notesSlide9.xml" Id="R28fa8ebf2dc548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17a805bff4d08" /><Relationship Type="http://schemas.openxmlformats.org/officeDocument/2006/relationships/notesSlide" Target="/ppt/notesSlides/notesSlide10.xml" Id="Rc8fc260f3c4046c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f495865de4c07" /><Relationship Type="http://schemas.openxmlformats.org/officeDocument/2006/relationships/notesSlide" Target="/ppt/notesSlides/notesSlide11.xml" Id="R9979d959ea1049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7b8a5a3c74f59" /><Relationship Type="http://schemas.openxmlformats.org/officeDocument/2006/relationships/notesSlide" Target="/ppt/notesSlides/notesSlide12.xml" Id="Ref62dce5257e4e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61ee2d57447b8" /><Relationship Type="http://schemas.openxmlformats.org/officeDocument/2006/relationships/notesSlide" Target="/ppt/notesSlides/notesSlide13.xml" Id="R42e096ce0c8f45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2a7e82a45444e" /><Relationship Type="http://schemas.openxmlformats.org/officeDocument/2006/relationships/notesSlide" Target="/ppt/notesSlides/notesSlide14.xml" Id="Rb4e629abddbd47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3EA93DE2-C698-46A7-A085-FC734E3A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1056F92-14C2-4439-96BB-52AC389C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B1F6D48F-1423-4291-BE9B-F8E98A01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47C39D81-C9D7-415F-9767-F860247F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82EA790F-96A6-4A1A-815E-A28D260F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24D59344-4B33-45DE-964C-54E3690E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43C46D5-6AC1-4472-ADB7-E8C9BFA0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0BC4BC8-85C6-4B4A-AFA1-FDBA268E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大模型概述、Transformer 与能力边界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1997410-002F-479C-94B7-E3832AD3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解释 token、注意力、Transformer、预训练与推理，并建立大模型能力边界。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7AB1123-6A63-4D2B-9C8A-3365621D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大模型不是一个孤立的新物种；而是机器学习、深度学习和预训练技术长期演进的结果；本节先把它放回 AI 技术谱系；再拆解 Transformer、训练与推理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0FB96EE0-8E3B-4485-93EF-1662621A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981E38C7-1520-4CD6-92A3-0A0392B1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OV-004 · OV-004-S01</a:t>
            </a:r>
          </a:p>
        </p:txBody>
      </p:sp>
    </p:spTree>
    <p:extLst>
      <p:ext uri="{BB962C8B-B14F-4D97-AF65-F5344CB8AC3E}">
        <p14:creationId xmlns:p14="http://schemas.microsoft.com/office/powerpoint/2010/main" val="19495790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40BD739-EA6D-4033-AC12-A9673F93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A3F613AA-E79B-4910-B607-3FA6E774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E4CCCC6B-D3FC-44AA-9454-B5046E6D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87C3484D-E577-4F33-BDA0-5F5B00FD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A944C89D-7F64-4C30-A035-287D2496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0504862-FE48-428B-805E-60A2ACB2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把大模型放回机器学习、深度学习和预训练的技术谱系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F9D4105-228C-41DF-8418-83DE45A6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用自己的话解释 token、自注意力、Transformer、训练和推理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14835286-6608-43CA-9B07-D382C9A8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为幻觉、时效知识和高风险建议设计核验与人在回路机制</a:t>
            </a:r>
          </a:p>
        </p:txBody>
      </p:sp>
    </p:spTree>
    <p:extLst>
      <p:ext uri="{BB962C8B-B14F-4D97-AF65-F5344CB8AC3E}">
        <p14:creationId xmlns:p14="http://schemas.microsoft.com/office/powerpoint/2010/main" val="7691847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866E811F-3E4F-4932-AC5B-0E0EE96C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3EDD6347-C06C-4B85-9445-1DB6D0A9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750CCBC-9517-4E58-BBD6-85F1A081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大模型位于深度学习与预训练技术的延长线上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2EF60CB9-09C5-4928-A026-B136C551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F5346FBC-E7CD-49D5-8BBA-05E51771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961D495-A470-4EDF-BCDA-1A4AE3D6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3B933D8-9406-4E20-87BC-4895B4D1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大模型在 AI 版图中的位置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3D67E24-DA6F-438B-9954-01088B9A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"大模型"这个词经常和人工智能、机器学习、深度学习混在一起。它们其实是一层套一层的包含关系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70DB938-BDE2-437A-9372-F4637AF9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2DE2EB7-C3B0-4438-A335-6F38BB19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人工智能 ⊃ 机器学习 ⊃ 深度学习 ⊃ 预训练模型 ⊃ 大模型 ⊃ 大语言模型（GPT、DeepSeek 等）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901E2158-9D9A-446B-88C8-4507EA05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04853E1-56C5-4932-9A57-8B009EC0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机器学习让机器从数据中找规律；其中的深度学习用多层神经网络学习复杂表示；深度学习里的 预训练模型 先在大规模数据上学到通用知识；再针对具体任务微调；预训练模型中参数规模巨大的那一类就是大模型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255E0B29-7DDC-4BBA-9012-95493728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C5F6AC5-B323-495B-9C5A-CCD3808F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大模型位于深度学习与预训练技术的延长线上</a:t>
            </a:r>
          </a:p>
        </p:txBody>
      </p:sp>
    </p:spTree>
    <p:extLst>
      <p:ext uri="{BB962C8B-B14F-4D97-AF65-F5344CB8AC3E}">
        <p14:creationId xmlns:p14="http://schemas.microsoft.com/office/powerpoint/2010/main" val="18454864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53FF5FDD-FCEE-4B94-B180-9CF6D873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BC499934-CBE0-45BD-8EF1-0E235F48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D3E4565A-92CC-4C49-8E23-6C7543A0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65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24193554-4DB3-4527-9D63-A35A793C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D0DF2783-A9DE-4E9B-9B35-A8985C47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2A99BAD-5003-4B10-B4B6-0A26E7A3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E4E1286-7559-4870-A383-59240DC6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“大”体现在哪里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9B1104E-4865-4FC9-81C0-7D3F4DD5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大模型的“大”同时体现在参数、训练数据、计算量和工程系统；以公开论文为例，GPT-3 使用 1750 亿参数展示了规模化预训练与上下文学习的潜力；但参数多不等于一定更好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15EBFF9-0E1D-437B-B660-14254229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E5D8BB8-496B-48DF-91E8-A9A258CD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很多商业模型不公开完整参数，因此不能把未经证实的估算写成确定事实。比较模型时，应优先看任务评测、成本、时延、上下文、隐私和可验证性，而不是只看一个“参数规模”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61511C00-84FF-49C8-9FB0-1410D4CE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49209F92-70CD-4D90-8128-5440CB5E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</a:t>
            </a:r>
          </a:p>
        </p:txBody>
      </p:sp>
    </p:spTree>
    <p:extLst>
      <p:ext uri="{BB962C8B-B14F-4D97-AF65-F5344CB8AC3E}">
        <p14:creationId xmlns:p14="http://schemas.microsoft.com/office/powerpoint/2010/main" val="2718319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C61BDFF5-A813-405B-8921-248118AA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50ACC70A-1C57-44E0-8116-B58E94E4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6470A23-778D-42B8-8761-C9BBE74F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Transformer 把自注意力作为核心机制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D565CB94-1E7C-4BF7-B177-87B0A123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A4402E09-DBCF-4B14-BEFF-87ED3CC0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FE0A221-3F2E-4D23-A434-347A5ED4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9FA28FB-C60C-4549-8920-4B008149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Transformer：让上下文中的信息彼此关联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BF2C202-113B-4B4D-AD92-7224A37D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Transformer 把自注意力作为核心机制；处理某个 token 时；模型可以根据任务和上下文为其他 token 分配不同权重；多层注意力与前馈网络反复混合信息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5AFAAE5-7311-4BE2-9166-941B12A9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F52E674-B67A-48BD-B7B4-8A70B450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预训练让模型在大量数据上学习通用分布，指令微调与偏好对齐让它更会按照人的任务格式回答；推理阶段则根据当前上下文逐 token 生成结果。模型输出是条件概率下的生成，不是数据库式的事实读取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58A48D29-5C45-4427-B150-A9D2C753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1B7CB8F-DA91-4ABC-A366-6EFDC60D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Transformer 把自注意力作为核心机制</a:t>
            </a:r>
          </a:p>
        </p:txBody>
      </p:sp>
    </p:spTree>
    <p:extLst>
      <p:ext uri="{BB962C8B-B14F-4D97-AF65-F5344CB8AC3E}">
        <p14:creationId xmlns:p14="http://schemas.microsoft.com/office/powerpoint/2010/main" val="803762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715E6615-29BA-45CF-871B-92F2C2BD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9F0C198-B483-4D26-89A6-7B873425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153FE55C-C2EB-4D83-BB07-35D08A4E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AD83DC2-4F07-4E1C-BC89-B25E077A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CA25EBCF-5DA0-4B8E-8F52-355F45AE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41C0624-200D-4348-9B33-8BD9FFBA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D1B4BF3-4362-4AF8-B28F-8A5E3E03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生成模型与推理模型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64E5174-A794-4BBC-B1F4-EFB0A7A8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大模型正在分化出两条技术路线，理解它们的差异，才能在实际任务里选对工具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F14837F-E549-4EF5-8A5D-43558367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E03C108-1BF1-4A44-A22E-F9EAC65D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生成模型 ：擅长快速产出——写文案、做总结、生成图片，追求流畅和创意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13914CB4-6399-451A-8BF2-C9E8510A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4FD1751-B689-41C6-9313-C6308928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推理模型 ：针对多步问题分配更多推理计算，通常更适合数学、代码和复杂分析，但耗时与成本也更高，仍需要结果核验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E906D02-73E2-4ED4-8506-F4F56F31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AEA446DE-90F1-4F66-8BE1-C0BFDE47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</p:spTree>
    <p:extLst>
      <p:ext uri="{BB962C8B-B14F-4D97-AF65-F5344CB8AC3E}">
        <p14:creationId xmlns:p14="http://schemas.microsoft.com/office/powerpoint/2010/main" val="16629758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AA5DE1B5-7916-4C74-AE55-D40B5362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85753D22-1A75-4996-8B9E-C5F13F77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71A391FD-69F6-43A6-BD08-96600978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具体产品会快速变化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5719B76-1BFB-45E1-B58E-BEA93F59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3FFCD3C5-890D-4D60-B706-28CF7EC4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9DE614F-5A83-4EED-8D24-1A87AACD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A22BD9C-612E-4184-99E5-6FBF6533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从模型产品到能力组合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F77B310-2112-4176-8D86-A50DB285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具体产品会快速变化；更稳定的判断方式是看能力组合；通用对话、联网检索、代码执行、文本与图像理解、音视频生成、行业知识和工具调用；多模态模型能在同一任务中处理多种信息</a:t>
            </a:r>
          </a:p>
        </p:txBody>
      </p:sp>
      <p:sp>
        <p:nvSpPr>
          <p:cNvPr id="9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4640F6D-3EDE-483D-981E-E8E355BC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7-takeaway">
            <a:extLst xmlns:a="http://schemas.openxmlformats.org/drawingml/2006/main">
              <a:ext uri="{FF2B5EF4-FFF2-40B4-BE49-F238E27FC236}">
                <a16:creationId xmlns:a16="http://schemas.microsoft.com/office/drawing/2014/main" id="{ED161437-F0A0-425F-90DC-215FE346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具体产品会快速变化</a:t>
            </a:r>
          </a:p>
        </p:txBody>
      </p:sp>
    </p:spTree>
    <p:extLst>
      <p:ext uri="{BB962C8B-B14F-4D97-AF65-F5344CB8AC3E}">
        <p14:creationId xmlns:p14="http://schemas.microsoft.com/office/powerpoint/2010/main" val="979610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4FB5F85-B349-4828-BDD6-C8AE2A78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42545A2A-B077-437E-95CA-1611A8FB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7B3103C0-9BAF-40B8-98D0-1F6EA225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用好大模型的前提，是清楚它的强项和软肋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788D6FC-A8D4-421A-B627-CB7A3B41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10053A9D-72D9-44A7-8607-8DF2D3C2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0CB08E2-557F-453D-BEE2-B7FE7D58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4702A66-6CD5-4FC1-962E-84EAF0D9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大模型的能力边界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1745AB7-1052-4A29-BC73-8684878C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用好大模型的前提，是清楚它的强项和软肋。下表是对当前水平的一个概括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8DB8DDE-2A1A-4BD3-92B9-ECFE4EE0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05E9229-D394-42C5-B365-7EC192B9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这里最需要警惕的是"事实准确性"一栏——大模型会自信地生成看起来合理、实际却错误的内容，这就是 幻觉 。它属于这类模型的固有特性，并非偶发故障，也是所有落地场景都必须设防的地方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861DC70A-A27F-4EA5-8FC0-BF991426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E2448097-8492-43FD-8190-C691DB01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用好大模型的前提，是清楚它的强项和软肋</a:t>
            </a:r>
          </a:p>
        </p:txBody>
      </p:sp>
    </p:spTree>
    <p:extLst>
      <p:ext uri="{BB962C8B-B14F-4D97-AF65-F5344CB8AC3E}">
        <p14:creationId xmlns:p14="http://schemas.microsoft.com/office/powerpoint/2010/main" val="2295043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1B8BB58C-974A-4067-8D26-064AF5C4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96F8AE14-DC0C-438F-A40E-081931EC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94FAD31A-47EE-4049-856C-D48A4A92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判断趋势要看多模态、智能体与可靠性三条线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3DD938AF-DB7D-4EA1-BA04-D6156C78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33FC557F-2F21-45B8-85E1-CF9074AA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4B09FE5-6107-42C2-8D39-F9737308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69D16B7-D5D2-4A77-BB44-763D3F67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可以持续观察的演进方向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81F23E8-D8A7-474A-BCDB-DC17736C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与其给未来强行排出年份；更可靠的是观察三条方向；模型从单一文本走向多模态；从单次问答走向工具与智能体；从只追求能力走向同时衡量成本、可靠性、安全与治理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4DF7AB1-50C3-4CCE-8D51-744D27D0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52C4FC4-DF29-4DE4-A3CB-745BCCE5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判断趋势要看多模态、智能体与可靠性三条线</a:t>
            </a:r>
          </a:p>
        </p:txBody>
      </p:sp>
    </p:spTree>
    <p:extLst>
      <p:ext uri="{BB962C8B-B14F-4D97-AF65-F5344CB8AC3E}">
        <p14:creationId xmlns:p14="http://schemas.microsoft.com/office/powerpoint/2010/main" val="8744783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D716F8E2-629B-4E9E-9085-9E242010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CB219194-7689-4F17-882F-B888B760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5213EDC-DF8E-4C4C-A57F-729300EC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应当是放大能力的杠杆，而不是替代思考的拐杖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F67C0F16-C2E4-47A3-9DBF-674CAFA2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A86FB45F-9D42-419A-8ECF-396935CA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FE52268-321D-44BF-ADC7-D0BA5F0E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案例：学生对 AI 的过度依赖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4CC23C8-E4BB-4B7A-B278-8FF17670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问题｜当查资料、搭框架、写初稿都交给 AI，独立思考和检索能力会不会退化？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1187C18F-CE71-4B48-97F8-513EA9B6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现象｜高校中用 AI 辅助检索、提纲和论文起草已很普遍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7CDF247-957D-4317-9AC4-019A64F4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启发｜AI 应当是放大能力的杠杆，而不是替代思考的拐杖。把 AI 的输出当作草稿和对照，而非最终答案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96F7019C-9265-4B82-AE19-A1BDA674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37F26B13-61E7-4F87-8549-FFF0C31C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应当是放大能力的杠杆，而不是替代思考的拐杖</a:t>
            </a:r>
          </a:p>
        </p:txBody>
      </p:sp>
    </p:spTree>
    <p:extLst>
      <p:ext uri="{BB962C8B-B14F-4D97-AF65-F5344CB8AC3E}">
        <p14:creationId xmlns:p14="http://schemas.microsoft.com/office/powerpoint/2010/main" val="11995864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71E62CB-FE10-443A-AFA0-B62AACAB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28922E3C-13EB-47F6-AA02-0310A923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E113174-B324-431A-8512-2E3EBB0C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高风险建议必须由合格人员复核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52C99A20-AA5C-4FCC-87C6-377177B9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3710B5C-3057-4346-901C-0A5A0D8A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OV-004-S11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23CCA72E-1C2B-45C4-9DD5-CEEC1759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案例：模型迎合与高风险建议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CEC8D438-598B-4A2D-88C2-6910C506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问题｜流畅、同理的表达容易被误解为专业判断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D856A2C3-4191-4C6A-A0F2-BE531D91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现象｜对话模型可能顺着用户已经形成的假设继续生成，而不会主动承担事实核查与后果责任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617252DA-998D-4760-B175-F57CB028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启发｜健康、法律、财务和重大决策必须由合格人员复核，模型不能成为唯一依据</a:t>
            </a:r>
          </a:p>
        </p:txBody>
      </p:sp>
      <p:sp>
        <p:nvSpPr>
          <p:cNvPr id="10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14CE1B0B-783D-423A-96C1-3AA4FBF5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1451853F-8EA2-44B4-A0B1-68BDB020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高风险建议必须由合格人员复核</a:t>
            </a:r>
          </a:p>
        </p:txBody>
      </p:sp>
    </p:spTree>
    <p:extLst>
      <p:ext uri="{BB962C8B-B14F-4D97-AF65-F5344CB8AC3E}">
        <p14:creationId xmlns:p14="http://schemas.microsoft.com/office/powerpoint/2010/main" val="15938397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072FDF3D-6920-49EF-9892-12AF190F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61D5246-FA70-4058-AE92-EA186AA4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FF783292-AA6D-4A25-ACBF-FE3B94E3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大模型能力边界：一次可验收练习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0D751ABE-5910-4D89-B443-0BFE2BCA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96F8D5DB-844E-455A-8195-02E5C011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OV-004-S12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29C3CE76-61A9-43A9-BDBB-85155BAE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7AD16A00-AD4E-4BB9-BD50-ECDC85D4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736334A6-A00C-4B33-A54D-782AFC65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让一个大模型回答一个你非常熟悉的专业问题，故意引它出错，记录它"一本正经编造"的地方，体会什么是幻觉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DD7EA59D-0994-4ECF-80EF-88CBE3ED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ED7D9D9C-4994-453B-9D58-D505B188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05222BF-5B13-4B57-9B34-667F160D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74D3FB3-AED2-4B25-BE03-544FCA20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对照能力边界表，列出你工作中哪些任务可以放心交给 AI、哪些必须自己把关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5DD61C0-7AF5-4167-A259-104D15B7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58F8F8ED-DDE5-4010-AD26-AE0322FF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CE90D018-26D7-4FDE-8325-F4927D75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E9D649C4-EF25-4CA6-A08B-A2EC9F00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用生成模型和推理模型各做一次同样的任务（如解一道应用题），对比它们的过程和结果</a:t>
            </a:r>
          </a:p>
        </p:txBody>
      </p:sp>
    </p:spTree>
    <p:extLst>
      <p:ext uri="{BB962C8B-B14F-4D97-AF65-F5344CB8AC3E}">
        <p14:creationId xmlns:p14="http://schemas.microsoft.com/office/powerpoint/2010/main" val="14181505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7457F199-27A9-4DFC-A819-01700ED0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F58C190A-E2F5-43DB-935E-A78F86CC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E89A6B62-E694-49B0-8213-9D528A65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大模型能力边界：判断时先抓住三点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C0DD491E-D345-46B6-88A9-6B49CCB0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C2880EF7-0984-46D7-A87C-39780998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OV-004-S13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73856AEE-B566-4610-A829-808AE117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10B3F9C7-8716-481C-B70B-018FC30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017565AA-1A37-4CFE-8343-33C51912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大模型位于深度学习与预训练技术的延长线上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2E88A31-1616-4154-A2D5-38384720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49495B98-9472-4E78-AB09-28307928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C4664BD5-A9AE-4103-9277-8E569306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D8C462E5-9EC1-455F-ADCD-FF37574A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77667C4E-24FC-45CB-9330-4AAC454E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99C190C7-8E78-4A36-9915-7C833161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67D1DB73-125F-4D52-8559-19555DF8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C4BA9224-5B04-44EC-929A-881379A2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判断趋势要看多模态、智能体与可靠性三条线</a:t>
            </a:r>
          </a:p>
        </p:txBody>
      </p:sp>
    </p:spTree>
    <p:extLst>
      <p:ext uri="{BB962C8B-B14F-4D97-AF65-F5344CB8AC3E}">
        <p14:creationId xmlns:p14="http://schemas.microsoft.com/office/powerpoint/2010/main" val="20554642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4-rule">
            <a:extLst xmlns:a="http://schemas.openxmlformats.org/drawingml/2006/main">
              <a:ext uri="{FF2B5EF4-FFF2-40B4-BE49-F238E27FC236}">
                <a16:creationId xmlns:a16="http://schemas.microsoft.com/office/drawing/2014/main" id="{C1BDE180-1C08-4DF7-A0C9-313D29A7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4-eyebrow">
            <a:extLst xmlns:a="http://schemas.openxmlformats.org/drawingml/2006/main">
              <a:ext uri="{FF2B5EF4-FFF2-40B4-BE49-F238E27FC236}">
                <a16:creationId xmlns:a16="http://schemas.microsoft.com/office/drawing/2014/main" id="{F45F93A5-0862-4044-A5D0-CB6312A4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4-title">
            <a:extLst xmlns:a="http://schemas.openxmlformats.org/drawingml/2006/main">
              <a:ext uri="{FF2B5EF4-FFF2-40B4-BE49-F238E27FC236}">
                <a16:creationId xmlns:a16="http://schemas.microsoft.com/office/drawing/2014/main" id="{2E8DC3BD-E55D-40C5-9AF3-09C96674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大模型能力边界：依据、边界与延伸</a:t>
            </a:r>
          </a:p>
        </p:txBody>
      </p:sp>
      <p:sp>
        <p:nvSpPr>
          <p:cNvPr id="4" name="s14-footer">
            <a:extLst xmlns:a="http://schemas.openxmlformats.org/drawingml/2006/main">
              <a:ext uri="{FF2B5EF4-FFF2-40B4-BE49-F238E27FC236}">
                <a16:creationId xmlns:a16="http://schemas.microsoft.com/office/drawing/2014/main" id="{A0E329E8-5783-46EA-A6D7-34E7D2A4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4-identity">
            <a:extLst xmlns:a="http://schemas.openxmlformats.org/drawingml/2006/main">
              <a:ext uri="{FF2B5EF4-FFF2-40B4-BE49-F238E27FC236}">
                <a16:creationId xmlns:a16="http://schemas.microsoft.com/office/drawing/2014/main" id="{865066FA-7D95-4E07-B53A-7905D643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OV-004-S14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CB32CF06-EB5C-44BB-870B-AF3BB40C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C410147-9603-4B26-A25C-23BF5F50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Attention Is All You Need：Transformer 原始论文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AA6624D8-16D7-4158-B776-BD027EDD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Language Models are Few-Shot Learners：GPT-3 论文与 1750 亿参数的一手来源</a:t>
            </a:r>
          </a:p>
        </p:txBody>
      </p:sp>
      <p:sp>
        <p:nvSpPr>
          <p:cNvPr id="9" name="s14-takeaway-rule">
            <a:extLst xmlns:a="http://schemas.openxmlformats.org/drawingml/2006/main">
              <a:ext uri="{FF2B5EF4-FFF2-40B4-BE49-F238E27FC236}">
                <a16:creationId xmlns:a16="http://schemas.microsoft.com/office/drawing/2014/main" id="{86DB3EF4-FB75-40E9-BAAB-DD65EF22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4-takeaway">
            <a:extLst xmlns:a="http://schemas.openxmlformats.org/drawingml/2006/main">
              <a:ext uri="{FF2B5EF4-FFF2-40B4-BE49-F238E27FC236}">
                <a16:creationId xmlns:a16="http://schemas.microsoft.com/office/drawing/2014/main" id="{11E99468-BE2A-4CC1-A11B-78FB0D6E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363016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2026-07-12T08:20:04.9760000Z</dcterms:created>
  <dcterms:modified xsi:type="dcterms:W3CDTF">2026-07-12T08:20:04.9760000Z</dcterms:modified>
</coreProperties>
</file>