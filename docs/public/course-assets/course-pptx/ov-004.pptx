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1314fb44af418a" /><Relationship Type="http://schemas.openxmlformats.org/officeDocument/2006/relationships/extended-properties" Target="/docProps/app.xml" Id="Ref042f918db748a3" /><Relationship Type="http://schemas.openxmlformats.org/officeDocument/2006/relationships/officeDocument" Target="/ppt/presentation.xml" Id="R4a808c5fe48943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c77b8be7994fac"/>
  </p:sldMasterIdLst>
  <p:notesMasterIdLst>
    <p:notesMasterId xmlns:r="http://schemas.openxmlformats.org/officeDocument/2006/relationships" r:id="Rccbe95d83ce14627"/>
  </p:notesMasterIdLst>
  <p:sldIdLst>
    <p:sldId xmlns:r="http://schemas.openxmlformats.org/officeDocument/2006/relationships" id="256" r:id="R8b7129eea2c54cb9"/>
    <p:sldId xmlns:r="http://schemas.openxmlformats.org/officeDocument/2006/relationships" id="257" r:id="Rdc3bc8cbd7254c37"/>
    <p:sldId xmlns:r="http://schemas.openxmlformats.org/officeDocument/2006/relationships" id="258" r:id="R638934030d324634"/>
    <p:sldId xmlns:r="http://schemas.openxmlformats.org/officeDocument/2006/relationships" id="259" r:id="Rb22a7033d98543a7"/>
    <p:sldId xmlns:r="http://schemas.openxmlformats.org/officeDocument/2006/relationships" id="260" r:id="R93f18398494e423a"/>
    <p:sldId xmlns:r="http://schemas.openxmlformats.org/officeDocument/2006/relationships" id="261" r:id="R117b481e4e5f4c6c"/>
    <p:sldId xmlns:r="http://schemas.openxmlformats.org/officeDocument/2006/relationships" id="262" r:id="R8eb72f00d349435e"/>
    <p:sldId xmlns:r="http://schemas.openxmlformats.org/officeDocument/2006/relationships" id="263" r:id="R50d0e658d82f48a5"/>
    <p:sldId xmlns:r="http://schemas.openxmlformats.org/officeDocument/2006/relationships" id="264" r:id="Rfbcecc021e4d44ed"/>
    <p:sldId xmlns:r="http://schemas.openxmlformats.org/officeDocument/2006/relationships" id="265" r:id="R55215e015276496b"/>
    <p:sldId xmlns:r="http://schemas.openxmlformats.org/officeDocument/2006/relationships" id="266" r:id="Rfb8e589affe8414e"/>
    <p:sldId xmlns:r="http://schemas.openxmlformats.org/officeDocument/2006/relationships" id="267" r:id="Re1fcdf5857b5405f"/>
    <p:sldId xmlns:r="http://schemas.openxmlformats.org/officeDocument/2006/relationships" id="268" r:id="Rc6f8ad974eb04343"/>
    <p:sldId xmlns:r="http://schemas.openxmlformats.org/officeDocument/2006/relationships" id="269" r:id="R88d4d807145b409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1d6cc182e24db0" /><Relationship Type="http://schemas.openxmlformats.org/officeDocument/2006/relationships/slideMaster" Target="/ppt/slideMasters/slideMaster1.xml" Id="R36c77b8be7994fac" /><Relationship Type="http://schemas.openxmlformats.org/officeDocument/2006/relationships/notesMaster" Target="/ppt/notesMasters/notesMaster1.xml" Id="Rccbe95d83ce14627" /><Relationship Type="http://schemas.openxmlformats.org/officeDocument/2006/relationships/presProps" Target="/ppt/presProps.xml" Id="R44aed800ee54413f" /><Relationship Type="http://schemas.openxmlformats.org/officeDocument/2006/relationships/tableStyles" Target="/ppt/tableStyles.xml" Id="Rbd3430069cd04cdb" /><Relationship Type="http://schemas.openxmlformats.org/officeDocument/2006/relationships/slide" Target="/ppt/slides/slide1.xml" Id="R8b7129eea2c54cb9" /><Relationship Type="http://schemas.openxmlformats.org/officeDocument/2006/relationships/slide" Target="/ppt/slides/slide2.xml" Id="Rdc3bc8cbd7254c37" /><Relationship Type="http://schemas.openxmlformats.org/officeDocument/2006/relationships/slide" Target="/ppt/slides/slide3.xml" Id="R638934030d324634" /><Relationship Type="http://schemas.openxmlformats.org/officeDocument/2006/relationships/slide" Target="/ppt/slides/slide4.xml" Id="Rb22a7033d98543a7" /><Relationship Type="http://schemas.openxmlformats.org/officeDocument/2006/relationships/slide" Target="/ppt/slides/slide5.xml" Id="R93f18398494e423a" /><Relationship Type="http://schemas.openxmlformats.org/officeDocument/2006/relationships/slide" Target="/ppt/slides/slide6.xml" Id="R117b481e4e5f4c6c" /><Relationship Type="http://schemas.openxmlformats.org/officeDocument/2006/relationships/slide" Target="/ppt/slides/slide7.xml" Id="R8eb72f00d349435e" /><Relationship Type="http://schemas.openxmlformats.org/officeDocument/2006/relationships/slide" Target="/ppt/slides/slide8.xml" Id="R50d0e658d82f48a5" /><Relationship Type="http://schemas.openxmlformats.org/officeDocument/2006/relationships/slide" Target="/ppt/slides/slide9.xml" Id="Rfbcecc021e4d44ed" /><Relationship Type="http://schemas.openxmlformats.org/officeDocument/2006/relationships/slide" Target="/ppt/slides/slide10.xml" Id="R55215e015276496b" /><Relationship Type="http://schemas.openxmlformats.org/officeDocument/2006/relationships/slide" Target="/ppt/slides/slide11.xml" Id="Rfb8e589affe8414e" /><Relationship Type="http://schemas.openxmlformats.org/officeDocument/2006/relationships/slide" Target="/ppt/slides/slide12.xml" Id="Re1fcdf5857b5405f" /><Relationship Type="http://schemas.openxmlformats.org/officeDocument/2006/relationships/slide" Target="/ppt/slides/slide13.xml" Id="Rc6f8ad974eb04343" /><Relationship Type="http://schemas.openxmlformats.org/officeDocument/2006/relationships/slide" Target="/ppt/slides/slide14.xml" Id="R88d4d807145b40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637700ee054d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0332e3c98343a5" /><Relationship Type="http://schemas.openxmlformats.org/officeDocument/2006/relationships/notesMaster" Target="/ppt/notesMasters/notesMaster1.xml" Id="R7afaa64e4ef94f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98affe46eb4ee6" /><Relationship Type="http://schemas.openxmlformats.org/officeDocument/2006/relationships/notesMaster" Target="/ppt/notesMasters/notesMaster1.xml" Id="Rc52fe1eb662140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0483abc7b14602" /><Relationship Type="http://schemas.openxmlformats.org/officeDocument/2006/relationships/notesMaster" Target="/ppt/notesMasters/notesMaster1.xml" Id="Re54cca942fdb47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4732b7322e478a" /><Relationship Type="http://schemas.openxmlformats.org/officeDocument/2006/relationships/notesMaster" Target="/ppt/notesMasters/notesMaster1.xml" Id="R86f5026a7ee944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77873619949471b" /><Relationship Type="http://schemas.openxmlformats.org/officeDocument/2006/relationships/notesMaster" Target="/ppt/notesMasters/notesMaster1.xml" Id="Re10199a510c747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4066c394884d80" /><Relationship Type="http://schemas.openxmlformats.org/officeDocument/2006/relationships/notesMaster" Target="/ppt/notesMasters/notesMaster1.xml" Id="R6136e279f3cc49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202945db4240cb" /><Relationship Type="http://schemas.openxmlformats.org/officeDocument/2006/relationships/notesMaster" Target="/ppt/notesMasters/notesMaster1.xml" Id="R19f8aa4ea1684c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04a127d97204a38" /><Relationship Type="http://schemas.openxmlformats.org/officeDocument/2006/relationships/notesMaster" Target="/ppt/notesMasters/notesMaster1.xml" Id="Ra4a92a02a37b44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de1b6c1c62b4248" /><Relationship Type="http://schemas.openxmlformats.org/officeDocument/2006/relationships/notesMaster" Target="/ppt/notesMasters/notesMaster1.xml" Id="R6064bd5c721542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276e231fdd4a9d" /><Relationship Type="http://schemas.openxmlformats.org/officeDocument/2006/relationships/notesMaster" Target="/ppt/notesMasters/notesMaster1.xml" Id="Rf6070b37be5542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bfdeed43fd41f5" /><Relationship Type="http://schemas.openxmlformats.org/officeDocument/2006/relationships/notesMaster" Target="/ppt/notesMasters/notesMaster1.xml" Id="R2b26565e32cb4c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4cde6a8c56340cb" /><Relationship Type="http://schemas.openxmlformats.org/officeDocument/2006/relationships/notesMaster" Target="/ppt/notesMasters/notesMaster1.xml" Id="Rae89f6892a20412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91db7bdacb541fb" /><Relationship Type="http://schemas.openxmlformats.org/officeDocument/2006/relationships/notesMaster" Target="/ppt/notesMasters/notesMaster1.xml" Id="R6e5f369be7ae49d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87fd37e8dad431c" /><Relationship Type="http://schemas.openxmlformats.org/officeDocument/2006/relationships/notesMaster" Target="/ppt/notesMasters/notesMaster1.xml" Id="Ra38e9046120445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e2e4e978544e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dbc97654c2446f" /><Relationship Type="http://schemas.openxmlformats.org/officeDocument/2006/relationships/slideLayout" Target="/ppt/slideLayouts/slideLayout1.xml" Id="Rbf60351e3f214e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60351e3f214e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a643ac15f4f40" /><Relationship Type="http://schemas.openxmlformats.org/officeDocument/2006/relationships/notesSlide" Target="/ppt/notesSlides/notesSlide1.xml" Id="R61bba7240ad848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9e5f4c9254c3f" /><Relationship Type="http://schemas.openxmlformats.org/officeDocument/2006/relationships/notesSlide" Target="/ppt/notesSlides/notesSlide2.xml" Id="Ra033f7c3e2e34c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9394f89a34aca" /><Relationship Type="http://schemas.openxmlformats.org/officeDocument/2006/relationships/notesSlide" Target="/ppt/notesSlides/notesSlide3.xml" Id="R88bae9a032bb43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fd0a444be4089" /><Relationship Type="http://schemas.openxmlformats.org/officeDocument/2006/relationships/notesSlide" Target="/ppt/notesSlides/notesSlide4.xml" Id="R4d7d95e6351540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883ead80ac454e" /><Relationship Type="http://schemas.openxmlformats.org/officeDocument/2006/relationships/notesSlide" Target="/ppt/notesSlides/notesSlide5.xml" Id="Ra14396d678734f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344a0d82934b43" /><Relationship Type="http://schemas.openxmlformats.org/officeDocument/2006/relationships/notesSlide" Target="/ppt/notesSlides/notesSlide6.xml" Id="R73b1a46fb401421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24ffc4bcfe48e9" /><Relationship Type="http://schemas.openxmlformats.org/officeDocument/2006/relationships/notesSlide" Target="/ppt/notesSlides/notesSlide7.xml" Id="Ra247339d662a41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5dd6a81344d6d" /><Relationship Type="http://schemas.openxmlformats.org/officeDocument/2006/relationships/notesSlide" Target="/ppt/notesSlides/notesSlide8.xml" Id="R30e9c7d97b1d4b0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416070ae943b7" /><Relationship Type="http://schemas.openxmlformats.org/officeDocument/2006/relationships/notesSlide" Target="/ppt/notesSlides/notesSlide9.xml" Id="Rb02e50896ebb47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7ceab4c374448d" /><Relationship Type="http://schemas.openxmlformats.org/officeDocument/2006/relationships/notesSlide" Target="/ppt/notesSlides/notesSlide10.xml" Id="Rc9e60834314d43a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4ba59f77a74540" /><Relationship Type="http://schemas.openxmlformats.org/officeDocument/2006/relationships/notesSlide" Target="/ppt/notesSlides/notesSlide11.xml" Id="R1e5d7564f922488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145e557b34ce5" /><Relationship Type="http://schemas.openxmlformats.org/officeDocument/2006/relationships/notesSlide" Target="/ppt/notesSlides/notesSlide12.xml" Id="R4bfdac39e6fb43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70c77a5f945cd" /><Relationship Type="http://schemas.openxmlformats.org/officeDocument/2006/relationships/notesSlide" Target="/ppt/notesSlides/notesSlide13.xml" Id="R415d86e3b742450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60aee7a0644867" /><Relationship Type="http://schemas.openxmlformats.org/officeDocument/2006/relationships/notesSlide" Target="/ppt/notesSlides/notesSlide14.xml" Id="Ra04044bb4fa3472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C7BC3E66-BDD2-4081-8CBB-5C834070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B9A03EAD-3841-41B5-A6B0-BC090E12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9FF87446-1E14-4088-B87C-71CE6D78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F9AC6FFB-537A-4609-B158-A7890BD0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42AB5617-5EAA-4F4A-BC60-2DEE2E0C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75693045-4762-4C54-84C4-5FEBED56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2EF834C6-9E9D-445E-824E-00215C51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F14F037-18D8-4038-8131-D5E5F0EC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大模型概述、Transformer 与能力边界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CE74E68-CEDA-4643-B3B3-BCD07942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解释 token、注意力、Transformer、预训练与推理，并建立大模型能力边界。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E10608EB-E8C7-4F91-B21E-8C6E49E8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大模型不是一个孤立的新物种；而是机器学习、深度学习和预训练技术长期演进的结果；本节先把它放回 AI 技术谱系；再拆解 Transformer、训练与推理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E101D11F-1106-4B0A-BCE6-0D6A6BD5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D138254C-2ED7-45AD-8DBB-0F6A7CF9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OV-004 · OV-004-S01</a:t>
            </a:r>
          </a:p>
        </p:txBody>
      </p:sp>
    </p:spTree>
    <p:extLst>
      <p:ext uri="{BB962C8B-B14F-4D97-AF65-F5344CB8AC3E}">
        <p14:creationId xmlns:p14="http://schemas.microsoft.com/office/powerpoint/2010/main" val="19202891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B5083960-08D1-42AC-A303-18CC0354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DE5BB453-131B-4C64-8F92-A9484418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0C878D57-DCF7-453A-8E8A-FBA20927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大模型能力边界：3项学习结果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4C016771-20D8-46B3-AC38-7BBAA2D7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B8620712-B84F-4349-8BE5-84AD4B85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F68470CD-F089-42AF-A8AE-123F8514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把大模型放回机器学习、深度学习和预训练的技术谱系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A7281FDB-DA49-4EAD-A6AA-7FD3D431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用自己的话解释 token、自注意力、Transformer、训练和推理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1D68F26C-3ED2-42E8-A424-B00BB0CF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为幻觉、时效知识和高风险建议设计核验与人在回路机制</a:t>
            </a:r>
          </a:p>
        </p:txBody>
      </p:sp>
    </p:spTree>
    <p:extLst>
      <p:ext uri="{BB962C8B-B14F-4D97-AF65-F5344CB8AC3E}">
        <p14:creationId xmlns:p14="http://schemas.microsoft.com/office/powerpoint/2010/main" val="5578316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AE8C0882-1391-49BD-A50D-4CE0A70B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9238D5C0-F18F-4891-97D4-E1688DE4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AAF9D8E0-6848-4DAC-859B-73C6E2B9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大模型位于深度学习与预训练技术的延长线上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AE1303D5-D0FE-4E37-8F6A-9FB5015E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7ADAA213-4BB6-4D56-8720-9F729DCD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178E804-94B7-4741-9389-CA59CB72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00AA9C0-4C77-4987-B0BF-84C4031D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大模型在 AI 版图中的位置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5D9D73A-0CC1-4773-9C47-07A45A29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"大模型"这个词经常和人工智能、机器学习、深度学习混在一起。它们其实是一层套一层的包含关系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71952DE-7BB8-4A2D-B0CB-36ECA887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1EC8AF0-58CE-4076-B35A-2BAB2948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人工智能 ⊃ 机器学习 ⊃ 深度学习 ⊃ 预训练模型 ⊃ 大模型 ⊃ 大语言模型（GPT、DeepSeek 等）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6532258A-3AE6-47B3-A42E-7E4C10E2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C01DA4FA-7888-4362-8940-42B4384D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机器学习让机器从数据中找规律；其中的深度学习用多层神经网络学习复杂表示；深度学习里的 预训练模型 先在大规模数据上学到通用知识；再针对具体任务微调；预训练模型中参数规模巨大的那一类就是大模型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EC8E33E4-D0E9-44E3-848A-7ECD08EC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452D310F-C825-4431-9C4D-9BD4968B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大模型位于深度学习与预训练技术的延长线上</a:t>
            </a:r>
          </a:p>
        </p:txBody>
      </p:sp>
    </p:spTree>
    <p:extLst>
      <p:ext uri="{BB962C8B-B14F-4D97-AF65-F5344CB8AC3E}">
        <p14:creationId xmlns:p14="http://schemas.microsoft.com/office/powerpoint/2010/main" val="19901200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566932AD-C290-4FBA-B1A7-CC4FD48A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8A1F9718-8EF1-4EEA-B410-E7705E4A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3F6A7015-0D97-4351-9AF9-35015B33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653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大模型的“大”同时体现在参数、训练数据、计算量和工程系统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06B2EDED-A0D3-4897-87A4-1C426448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9CC89C28-CC5D-498C-BAFB-AE6963D7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46879CA-E2FE-4E6B-BD1D-9EA8DFAA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C3B1A39-382D-4428-AFBD-B2B99356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“大”体现在哪里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DC9E904-C3DD-4896-A89B-3447D31C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大模型的“大”同时体现在参数、训练数据、计算量和工程系统；以公开论文为例，GPT-3 使用 1750 亿参数展示了规模化预训练与上下文学习的潜力；但参数多不等于一定更好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2A2F019-70D4-4006-A6E3-2EBF2832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5F159E1-329B-490D-BA2B-93732551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很多商业模型不公开完整参数，因此不能把未经证实的估算写成确定事实。比较模型时，应优先看任务评测、成本、时延、上下文、隐私和可验证性，而不是只看一个“参数规模”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10872941-A072-4AF8-AEF8-DF297827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95023979-3F33-42F3-ADBF-6CE242EE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大模型的“大”同时体现在参数、训练数据、计算量和工程系统</a:t>
            </a:r>
          </a:p>
        </p:txBody>
      </p:sp>
    </p:spTree>
    <p:extLst>
      <p:ext uri="{BB962C8B-B14F-4D97-AF65-F5344CB8AC3E}">
        <p14:creationId xmlns:p14="http://schemas.microsoft.com/office/powerpoint/2010/main" val="9914950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89B9B52B-9671-4627-92EC-D000B810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8CC09EE7-D997-4252-8D4B-4FC83758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745E591B-ED55-4FA1-865B-0348F67E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Transformer 把自注意力作为核心机制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A0B9A343-363C-4B0D-998F-6D9734922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509B9DC8-EF00-428C-96C3-2CD2C86A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20F5B52-AEBD-46CE-8B06-693DA0284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2342469-9A19-4811-ADA3-3561FE35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Transformer：让上下文中的信息彼此关联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9074417-A876-43E1-83A3-D63D61BD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Transformer 把自注意力作为核心机制；处理某个 token 时；模型可以根据任务和上下文为其他 token 分配不同权重；多层注意力与前馈网络反复混合信息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A3D3C13-E86A-4CB6-B8DE-D1076A67A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CF9ADCE-5606-4CAA-B887-002DC76D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预训练让模型在大量数据上学习通用分布，指令微调与偏好对齐让它更会按照人的任务格式回答；推理阶段则根据当前上下文逐 token 生成结果。模型输出是条件概率下的生成，不是数据库式的事实读取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A0BB671B-BF51-44E9-8990-7269919C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9C6A5262-5750-4AE0-8D28-3E92FF6D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Transformer 把自注意力作为核心机制</a:t>
            </a:r>
          </a:p>
        </p:txBody>
      </p:sp>
    </p:spTree>
    <p:extLst>
      <p:ext uri="{BB962C8B-B14F-4D97-AF65-F5344CB8AC3E}">
        <p14:creationId xmlns:p14="http://schemas.microsoft.com/office/powerpoint/2010/main" val="3618402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7CC19BF9-3971-4EEE-B0D4-0C6CBB56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6EFA5C3D-9991-45B2-BD78-6950D4B3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079A3811-F4F4-4081-87FD-BA5DF771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大模型正在分化出两条技术路线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FD0EDB4A-4557-425B-8ACC-F52495D0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A1A18A4C-5CEE-4DEA-B7E2-05C1DEAB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A31D047-8172-4E31-B861-5BE08307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C2F4FAC-C506-4C20-B94C-A8A4A57D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生成模型与推理模型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53C6E3A-7CD3-4201-905C-B2CD6A1B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大模型正在分化出两条技术路线，理解它们的差异，才能在实际任务里选对工具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D38C8F9-476B-404C-ADD6-1298E362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0C675A9-3358-4496-BC01-0F8A579B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生成模型 ：擅长快速产出——写文案、做总结、生成图片，追求流畅和创意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A55EB842-AA42-4969-8583-199DAFB5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C93C7E0E-D650-4DAE-A1E3-B139F488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推理模型 ：针对多步问题分配更多推理计算，通常更适合数学、代码和复杂分析，但耗时与成本也更高，仍需要结果核验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17879A4E-9DF5-4F83-9921-C1C6FBE5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04A9BBC7-4C1C-4E69-8FBD-DE43EFCA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大模型正在分化出两条技术路线</a:t>
            </a:r>
          </a:p>
        </p:txBody>
      </p:sp>
    </p:spTree>
    <p:extLst>
      <p:ext uri="{BB962C8B-B14F-4D97-AF65-F5344CB8AC3E}">
        <p14:creationId xmlns:p14="http://schemas.microsoft.com/office/powerpoint/2010/main" val="7176459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9D0B3422-D763-419C-A3D9-01F72893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FF644D5A-B3EA-4752-888B-BCC7713D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464AA627-5CC4-4174-8D0C-749F7361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具体产品会快速变化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AF30C001-6595-4E8B-8BBF-472E144D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B16FA864-3377-4CBD-AF85-E32F20D0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F175E71-A0F1-4861-97DC-7DF13F51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61F1AA9-F4E3-490C-ADBF-74F763E1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从模型产品到能力组合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52E3996-7E81-4B4F-9751-639786D5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具体产品会快速变化；更稳定的判断方式是看能力组合；通用对话、联网检索、代码执行、文本与图像理解、音视频生成、行业知识和工具调用；多模态模型能在同一任务中处理多种信息</a:t>
            </a:r>
          </a:p>
        </p:txBody>
      </p:sp>
      <p:sp>
        <p:nvSpPr>
          <p:cNvPr id="9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D873537A-3B5F-41E3-A7B3-B70D1370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7-takeaway">
            <a:extLst xmlns:a="http://schemas.openxmlformats.org/drawingml/2006/main">
              <a:ext uri="{FF2B5EF4-FFF2-40B4-BE49-F238E27FC236}">
                <a16:creationId xmlns:a16="http://schemas.microsoft.com/office/drawing/2014/main" id="{6385FC2F-6458-464D-AF31-8E413502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具体产品会快速变化</a:t>
            </a:r>
          </a:p>
        </p:txBody>
      </p:sp>
    </p:spTree>
    <p:extLst>
      <p:ext uri="{BB962C8B-B14F-4D97-AF65-F5344CB8AC3E}">
        <p14:creationId xmlns:p14="http://schemas.microsoft.com/office/powerpoint/2010/main" val="3761241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44C3EEE4-0272-4438-8EC1-024E5B5A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25DFFBDA-A9D1-44A9-BDEB-111C1122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20BA5F18-51F7-444D-ACE7-61092381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用好大模型的前提，是清楚它的强项和软肋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F73351B7-EBFB-4844-9947-D63F20C2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2428CF66-C120-440F-94D3-91081613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8A584F0-2A18-4004-8740-D9AE3CD0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F3BBFE5-AFDB-489E-98E7-AA48EFF7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大模型的能力边界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AB19FF3-0BA2-49C7-BCAD-E5882AFB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用好大模型的前提，是清楚它的强项和软肋。下表是对当前水平的一个概括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3279AB8-617B-45AB-80D2-AC1F7446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EE0BFE9-F750-4AF0-BC2C-86C2FB45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这里最需要警惕的是"事实准确性"一栏——大模型会自信地生成看起来合理、实际却错误的内容，这就是 幻觉 。它属于这类模型的固有特性，并非偶发故障，也是所有落地场景都必须设防的地方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CBCD5F61-52F2-4709-AA26-05DA5E69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6BCD7D42-5917-4A3D-9247-661036A9B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用好大模型的前提，是清楚它的强项和软肋</a:t>
            </a:r>
          </a:p>
        </p:txBody>
      </p:sp>
    </p:spTree>
    <p:extLst>
      <p:ext uri="{BB962C8B-B14F-4D97-AF65-F5344CB8AC3E}">
        <p14:creationId xmlns:p14="http://schemas.microsoft.com/office/powerpoint/2010/main" val="15840122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4D420463-54BE-4520-AF8B-D236BCB7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F7CF7312-F5FB-4BB6-B0B4-7B58F792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C48EB89E-8FF2-413F-BF1E-72E4B54E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判断趋势要看多模态、智能体与可靠性三条线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0F44EAA2-F4F8-4CB1-A2B4-67927792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D0CFB2CF-164A-40F9-A4DA-642254A8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9B3BB6D-48EC-4FA3-9D28-11EEE682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3DB68E2-4B4F-4338-A4A0-1735B53C4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可以持续观察的演进方向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F1ECDA9-0C0D-4A91-BDC5-0B11E038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与其给未来强行排出年份；更可靠的是观察三条方向；模型从单一文本走向多模态；从单次问答走向工具与智能体；从只追求能力走向同时衡量成本、可靠性、安全与治理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19CC8599-9F27-4579-BB99-A2940D57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B8E3A96F-519F-4BF2-9AC1-722BFBF6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判断趋势要看多模态、智能体与可靠性三条线</a:t>
            </a:r>
          </a:p>
        </p:txBody>
      </p:sp>
    </p:spTree>
    <p:extLst>
      <p:ext uri="{BB962C8B-B14F-4D97-AF65-F5344CB8AC3E}">
        <p14:creationId xmlns:p14="http://schemas.microsoft.com/office/powerpoint/2010/main" val="17369915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57183205-CF2C-47A0-8789-47910564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B527619B-08CD-4D6D-AF0A-D39B38CF9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F3A45AB7-E056-4EAD-827B-814FD176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应当是放大能力的杠杆，而不是替代思考的拐杖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6E1AA4E3-CC8E-463E-A0B4-DFA6CAB8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672A9EE5-9AF1-4058-8D84-B8BA156F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0A3C91C2-4B7F-4BB3-9E12-C7EB9C29A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案例：学生对 AI 的过度依赖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913334D5-2EEF-42D0-8822-9961033A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问题｜当查资料、搭框架、写初稿都交给 AI，独立思考和检索能力会不会退化？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B733417E-89E5-4F2C-A245-90799E2D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现象｜高校中用 AI 辅助检索、提纲和论文起草已很普遍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DF07162E-4A77-4039-9E85-83F82FE9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启发｜AI 应当是放大能力的杠杆，而不是替代思考的拐杖。把 AI 的输出当作草稿和对照，而非最终答案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BBE4E523-0C3D-4ADB-8F64-D4A14D85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94544E58-AF31-45A5-84B5-7116B617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 应当是放大能力的杠杆，而不是替代思考的拐杖</a:t>
            </a:r>
          </a:p>
        </p:txBody>
      </p:sp>
    </p:spTree>
    <p:extLst>
      <p:ext uri="{BB962C8B-B14F-4D97-AF65-F5344CB8AC3E}">
        <p14:creationId xmlns:p14="http://schemas.microsoft.com/office/powerpoint/2010/main" val="2930560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0FC1B4EE-F972-4166-A0EF-07F278F2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B0160F57-A456-40C1-B887-B81E1063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4A4BC708-3EE0-4B47-A14A-0A0DA3A6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高风险建议必须由合格人员复核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DC5D7DF9-BE3A-409A-8AE9-58B54F06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637DD53D-E6B7-48E2-BBBE-922D8888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OV-004-S11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F9ACF06-FE89-4B43-B461-48FD2EEB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案例：模型迎合与高风险建议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99F97FC9-C8AB-4A14-A849-51E9A069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问题｜流畅、同理的表达容易被误解为专业判断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BF614C1B-2CA2-49A5-9D38-B7B292E1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现象｜对话模型可能顺着用户已经形成的假设继续生成，而不会主动承担事实核查与后果责任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EBE7662F-9681-4B19-8CA7-1D407027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启发｜健康、法律、财务和重大决策必须由合格人员复核，模型不能成为唯一依据</a:t>
            </a:r>
          </a:p>
        </p:txBody>
      </p:sp>
      <p:sp>
        <p:nvSpPr>
          <p:cNvPr id="10" name="s11-takeaway-rule">
            <a:extLst xmlns:a="http://schemas.openxmlformats.org/drawingml/2006/main">
              <a:ext uri="{FF2B5EF4-FFF2-40B4-BE49-F238E27FC236}">
                <a16:creationId xmlns:a16="http://schemas.microsoft.com/office/drawing/2014/main" id="{32535FE1-EA22-4AD0-869A-AFE4E4ED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1" name="s11-takeaway">
            <a:extLst xmlns:a="http://schemas.openxmlformats.org/drawingml/2006/main">
              <a:ext uri="{FF2B5EF4-FFF2-40B4-BE49-F238E27FC236}">
                <a16:creationId xmlns:a16="http://schemas.microsoft.com/office/drawing/2014/main" id="{A8889D54-4196-4A94-951F-142CC32C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高风险建议必须由合格人员复核</a:t>
            </a:r>
          </a:p>
        </p:txBody>
      </p:sp>
    </p:spTree>
    <p:extLst>
      <p:ext uri="{BB962C8B-B14F-4D97-AF65-F5344CB8AC3E}">
        <p14:creationId xmlns:p14="http://schemas.microsoft.com/office/powerpoint/2010/main" val="16558475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383C1050-6276-4F18-800D-80714941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8356FA2E-ECD6-4983-B343-D9604BF0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3D709EAE-2C83-424E-91D2-E1B6F73D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大模型能力边界：一次可验收练习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90576F49-7065-4E21-AFA8-19C0242B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6550CE52-1663-472E-BED2-A6BA8A4F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OV-004-S12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7D25BEEA-C1D2-41C6-A3E2-AC746FE0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F7628E53-C055-4D9F-BF0D-AC5E520B9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B37D397D-5885-4B80-B485-223BA65C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让一个大模型回答一个你非常熟悉的专业问题，故意引它出错，记录它"一本正经编造"的地方，体会什么是幻觉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CFD620FA-44CC-4F61-AE80-239A7D90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F12A454F-93CB-45D2-88D1-08E2418C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C0E8A371-2459-4042-AE94-C239E0B8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015F4313-8812-4B26-A023-D38F950F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对照能力边界表，列出你工作中哪些任务可以放心交给 AI、哪些必须自己把关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7F78121F-E692-4482-9774-00A6E60D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1DC69C5B-BE41-419B-AE36-383B01BC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859ABDC9-2E53-42D3-B129-3E2BF220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08AC3C0B-518B-4B33-AD5A-C297CDA7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用生成模型和推理模型各做一次同样的任务（如解一道应用题），对比它们的过程和结果</a:t>
            </a:r>
          </a:p>
        </p:txBody>
      </p:sp>
    </p:spTree>
    <p:extLst>
      <p:ext uri="{BB962C8B-B14F-4D97-AF65-F5344CB8AC3E}">
        <p14:creationId xmlns:p14="http://schemas.microsoft.com/office/powerpoint/2010/main" val="3514694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BB635209-05C5-4FA6-9CFE-958D8965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9C855BD1-C138-4C73-89DE-86FD1608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66D1D4B7-8592-4D9F-9DB8-2B563460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大模型能力边界：判断时先抓住三点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7C7C2EE5-1C97-49AF-8ED8-99053E56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FBAA0E20-DC56-4B4C-ABDC-8CA03EA5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OV-004-S13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288451A0-31C2-4716-B9D4-8A112110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2C1DED38-B315-41A9-9214-B7450137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C92BB7C6-5D9E-4A16-954F-F5EBFB52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大模型位于深度学习与预训练技术的延长线上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27B90B42-9137-459A-81AC-7E42749F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C5D6B38A-2779-49B7-9EEC-4907CF9D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E268FDD7-5912-4F7A-B572-9745ED6F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C87B646E-31DE-4949-AEA7-21402F06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大模型正在分化出两条技术路线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6C54C112-D0C8-43ED-AD80-DF6CD098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1404D872-8470-482F-A55E-A98181D3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2A103CE3-098E-488E-AFEB-9BE00FF8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DE7F14B9-C68D-418F-A0D0-E4C8AE93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判断趋势要看多模态、智能体与可靠性三条线</a:t>
            </a:r>
          </a:p>
        </p:txBody>
      </p:sp>
    </p:spTree>
    <p:extLst>
      <p:ext uri="{BB962C8B-B14F-4D97-AF65-F5344CB8AC3E}">
        <p14:creationId xmlns:p14="http://schemas.microsoft.com/office/powerpoint/2010/main" val="34857588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4-rule">
            <a:extLst xmlns:a="http://schemas.openxmlformats.org/drawingml/2006/main">
              <a:ext uri="{FF2B5EF4-FFF2-40B4-BE49-F238E27FC236}">
                <a16:creationId xmlns:a16="http://schemas.microsoft.com/office/drawing/2014/main" id="{39DD38D7-CBA2-4564-93F6-3D51C62D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4-eyebrow">
            <a:extLst xmlns:a="http://schemas.openxmlformats.org/drawingml/2006/main">
              <a:ext uri="{FF2B5EF4-FFF2-40B4-BE49-F238E27FC236}">
                <a16:creationId xmlns:a16="http://schemas.microsoft.com/office/drawing/2014/main" id="{4F6EC0A1-468B-4DB6-9E88-5138D34C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4-title">
            <a:extLst xmlns:a="http://schemas.openxmlformats.org/drawingml/2006/main">
              <a:ext uri="{FF2B5EF4-FFF2-40B4-BE49-F238E27FC236}">
                <a16:creationId xmlns:a16="http://schemas.microsoft.com/office/drawing/2014/main" id="{23A78F08-9B90-4FF6-80DC-CC609BE7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大模型能力边界：依据、边界与延伸</a:t>
            </a:r>
          </a:p>
        </p:txBody>
      </p:sp>
      <p:sp>
        <p:nvSpPr>
          <p:cNvPr id="4" name="s14-footer">
            <a:extLst xmlns:a="http://schemas.openxmlformats.org/drawingml/2006/main">
              <a:ext uri="{FF2B5EF4-FFF2-40B4-BE49-F238E27FC236}">
                <a16:creationId xmlns:a16="http://schemas.microsoft.com/office/drawing/2014/main" id="{BAE56ADC-BF1D-426D-8317-4D7A98F5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4-identity">
            <a:extLst xmlns:a="http://schemas.openxmlformats.org/drawingml/2006/main">
              <a:ext uri="{FF2B5EF4-FFF2-40B4-BE49-F238E27FC236}">
                <a16:creationId xmlns:a16="http://schemas.microsoft.com/office/drawing/2014/main" id="{BBECF336-0CF5-4DFC-B669-294D5C6A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OV-004 · OV-004-S14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2315FD4E-051C-402F-81AA-84570145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B3316E6D-1C5C-4AB0-A586-B7E23833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Attention Is All You Need：Transformer 原始论文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ECAF7ACD-6AEF-4BFC-ADAB-E5200E7E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Language Models are Few-Shot Learners：GPT-3 论文与 1750 亿参数的一手来源</a:t>
            </a:r>
          </a:p>
        </p:txBody>
      </p:sp>
      <p:sp>
        <p:nvSpPr>
          <p:cNvPr id="9" name="s14-takeaway-rule">
            <a:extLst xmlns:a="http://schemas.openxmlformats.org/drawingml/2006/main">
              <a:ext uri="{FF2B5EF4-FFF2-40B4-BE49-F238E27FC236}">
                <a16:creationId xmlns:a16="http://schemas.microsoft.com/office/drawing/2014/main" id="{050CD0C8-A155-4FA5-89C6-13A8FBD2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14-takeaway">
            <a:extLst xmlns:a="http://schemas.openxmlformats.org/drawingml/2006/main">
              <a:ext uri="{FF2B5EF4-FFF2-40B4-BE49-F238E27FC236}">
                <a16:creationId xmlns:a16="http://schemas.microsoft.com/office/drawing/2014/main" id="{8071D634-9B0E-44AB-B687-ABF00F0B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8490085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2026-07-11T16:55:24.7440000Z</dcterms:created>
  <dcterms:modified xsi:type="dcterms:W3CDTF">2026-07-11T16:55:24.7440000Z</dcterms:modified>
</coreProperties>
</file>