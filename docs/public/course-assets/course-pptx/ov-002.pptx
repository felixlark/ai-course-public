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d80f24356a945cf" /><Relationship Type="http://schemas.openxmlformats.org/officeDocument/2006/relationships/extended-properties" Target="/docProps/app.xml" Id="Rc7fec7811b3740c1" /><Relationship Type="http://schemas.openxmlformats.org/officeDocument/2006/relationships/officeDocument" Target="/ppt/presentation.xml" Id="R12f17c3cba46416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920ffb31567432e"/>
  </p:sldMasterIdLst>
  <p:notesMasterIdLst>
    <p:notesMasterId xmlns:r="http://schemas.openxmlformats.org/officeDocument/2006/relationships" r:id="Rdf62e62d59b74d00"/>
  </p:notesMasterIdLst>
  <p:sldIdLst>
    <p:sldId xmlns:r="http://schemas.openxmlformats.org/officeDocument/2006/relationships" id="256" r:id="R08be0c1b04d74455"/>
    <p:sldId xmlns:r="http://schemas.openxmlformats.org/officeDocument/2006/relationships" id="257" r:id="R0d07ffa7353f48a9"/>
    <p:sldId xmlns:r="http://schemas.openxmlformats.org/officeDocument/2006/relationships" id="258" r:id="R342e619ffa7e4a94"/>
    <p:sldId xmlns:r="http://schemas.openxmlformats.org/officeDocument/2006/relationships" id="259" r:id="R346d04eba1ba4fcb"/>
    <p:sldId xmlns:r="http://schemas.openxmlformats.org/officeDocument/2006/relationships" id="260" r:id="Ra25ae87ea01f4db0"/>
    <p:sldId xmlns:r="http://schemas.openxmlformats.org/officeDocument/2006/relationships" id="261" r:id="R82737b8b450041e0"/>
    <p:sldId xmlns:r="http://schemas.openxmlformats.org/officeDocument/2006/relationships" id="262" r:id="R18843ccfa8f9499c"/>
    <p:sldId xmlns:r="http://schemas.openxmlformats.org/officeDocument/2006/relationships" id="263" r:id="Rea5618bc15ca4803"/>
    <p:sldId xmlns:r="http://schemas.openxmlformats.org/officeDocument/2006/relationships" id="264" r:id="Rcf96fabdbaec4f5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0ab6df8505a45f9" /><Relationship Type="http://schemas.openxmlformats.org/officeDocument/2006/relationships/slideMaster" Target="/ppt/slideMasters/slideMaster1.xml" Id="Rd920ffb31567432e" /><Relationship Type="http://schemas.openxmlformats.org/officeDocument/2006/relationships/notesMaster" Target="/ppt/notesMasters/notesMaster1.xml" Id="Rdf62e62d59b74d00" /><Relationship Type="http://schemas.openxmlformats.org/officeDocument/2006/relationships/presProps" Target="/ppt/presProps.xml" Id="R8df68c5535114a46" /><Relationship Type="http://schemas.openxmlformats.org/officeDocument/2006/relationships/tableStyles" Target="/ppt/tableStyles.xml" Id="R6771273306344407" /><Relationship Type="http://schemas.openxmlformats.org/officeDocument/2006/relationships/slide" Target="/ppt/slides/slide1.xml" Id="R08be0c1b04d74455" /><Relationship Type="http://schemas.openxmlformats.org/officeDocument/2006/relationships/slide" Target="/ppt/slides/slide2.xml" Id="R0d07ffa7353f48a9" /><Relationship Type="http://schemas.openxmlformats.org/officeDocument/2006/relationships/slide" Target="/ppt/slides/slide3.xml" Id="R342e619ffa7e4a94" /><Relationship Type="http://schemas.openxmlformats.org/officeDocument/2006/relationships/slide" Target="/ppt/slides/slide4.xml" Id="R346d04eba1ba4fcb" /><Relationship Type="http://schemas.openxmlformats.org/officeDocument/2006/relationships/slide" Target="/ppt/slides/slide5.xml" Id="Ra25ae87ea01f4db0" /><Relationship Type="http://schemas.openxmlformats.org/officeDocument/2006/relationships/slide" Target="/ppt/slides/slide6.xml" Id="R82737b8b450041e0" /><Relationship Type="http://schemas.openxmlformats.org/officeDocument/2006/relationships/slide" Target="/ppt/slides/slide7.xml" Id="R18843ccfa8f9499c" /><Relationship Type="http://schemas.openxmlformats.org/officeDocument/2006/relationships/slide" Target="/ppt/slides/slide8.xml" Id="Rea5618bc15ca4803" /><Relationship Type="http://schemas.openxmlformats.org/officeDocument/2006/relationships/slide" Target="/ppt/slides/slide9.xml" Id="Rcf96fabdbaec4f5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583daa118f943e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440517a8e4847fc" /><Relationship Type="http://schemas.openxmlformats.org/officeDocument/2006/relationships/notesMaster" Target="/ppt/notesMasters/notesMaster1.xml" Id="Rf99cc38d26564b6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8e53127c6854019" /><Relationship Type="http://schemas.openxmlformats.org/officeDocument/2006/relationships/notesMaster" Target="/ppt/notesMasters/notesMaster1.xml" Id="R2ac3ad8b2890491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0eab22d9a3147f4" /><Relationship Type="http://schemas.openxmlformats.org/officeDocument/2006/relationships/notesMaster" Target="/ppt/notesMasters/notesMaster1.xml" Id="R6c90c78d42d1469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5be42565ed24f81" /><Relationship Type="http://schemas.openxmlformats.org/officeDocument/2006/relationships/notesMaster" Target="/ppt/notesMasters/notesMaster1.xml" Id="Rff468facef3d422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611654222a349a2" /><Relationship Type="http://schemas.openxmlformats.org/officeDocument/2006/relationships/notesMaster" Target="/ppt/notesMasters/notesMaster1.xml" Id="R54d3977afbc8401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7b9dcaaf69f415f" /><Relationship Type="http://schemas.openxmlformats.org/officeDocument/2006/relationships/notesMaster" Target="/ppt/notesMasters/notesMaster1.xml" Id="Ra8fec6f2724e4c7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c040356c9cf4451" /><Relationship Type="http://schemas.openxmlformats.org/officeDocument/2006/relationships/notesMaster" Target="/ppt/notesMasters/notesMaster1.xml" Id="Rea018ece0fee493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154430035954832" /><Relationship Type="http://schemas.openxmlformats.org/officeDocument/2006/relationships/notesMaster" Target="/ppt/notesMasters/notesMaster1.xml" Id="Race8179cfd90486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6d98fb5c7e74921" /><Relationship Type="http://schemas.openxmlformats.org/officeDocument/2006/relationships/notesMaster" Target="/ppt/notesMasters/notesMaster1.xml" Id="R0dc75396ad4749e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e8ea0dadc84ac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133765cfb564152" /><Relationship Type="http://schemas.openxmlformats.org/officeDocument/2006/relationships/slideLayout" Target="/ppt/slideLayouts/slideLayout1.xml" Id="Rbb6ac37018bd42b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b6ac37018bd42b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0a7033bb3448a2" /><Relationship Type="http://schemas.openxmlformats.org/officeDocument/2006/relationships/notesSlide" Target="/ppt/notesSlides/notesSlide1.xml" Id="R923b8133a37349b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94c45db4104436" /><Relationship Type="http://schemas.openxmlformats.org/officeDocument/2006/relationships/notesSlide" Target="/ppt/notesSlides/notesSlide2.xml" Id="R3ab99af15185490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8b6ec922144357" /><Relationship Type="http://schemas.openxmlformats.org/officeDocument/2006/relationships/notesSlide" Target="/ppt/notesSlides/notesSlide3.xml" Id="R7e4fd2f8a95d455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bc24ae219b4272" /><Relationship Type="http://schemas.openxmlformats.org/officeDocument/2006/relationships/notesSlide" Target="/ppt/notesSlides/notesSlide4.xml" Id="R7befc176745046c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960bfdfbd04cc6" /><Relationship Type="http://schemas.openxmlformats.org/officeDocument/2006/relationships/notesSlide" Target="/ppt/notesSlides/notesSlide5.xml" Id="R0bfd2dbb063b42a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aedb48027e4adc" /><Relationship Type="http://schemas.openxmlformats.org/officeDocument/2006/relationships/notesSlide" Target="/ppt/notesSlides/notesSlide6.xml" Id="R4c6bb8cacbea4f5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3ed792db7145a3" /><Relationship Type="http://schemas.openxmlformats.org/officeDocument/2006/relationships/notesSlide" Target="/ppt/notesSlides/notesSlide7.xml" Id="R6a64a38be946402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9ac759a587416c" /><Relationship Type="http://schemas.openxmlformats.org/officeDocument/2006/relationships/notesSlide" Target="/ppt/notesSlides/notesSlide8.xml" Id="R2f7865d506ee472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adc1d3dc324d7f" /><Relationship Type="http://schemas.openxmlformats.org/officeDocument/2006/relationships/notesSlide" Target="/ppt/notesSlides/notesSlide9.xml" Id="R3f4d1d7dcfd4445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rule">
            <a:extLst xmlns:a="http://schemas.openxmlformats.org/drawingml/2006/main">
              <a:ext uri="{FF2B5EF4-FFF2-40B4-BE49-F238E27FC236}">
                <a16:creationId xmlns:a16="http://schemas.microsoft.com/office/drawing/2014/main" id="{56E2385B-3F8D-4002-8739-CB1EA6558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14300" cy="466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D6A33A"/>
            </a:solidFill>
            <a:prstDash val="solid"/>
          </a:ln>
        </p:spPr>
      </p:sp>
      <p:sp>
        <p:nvSpPr>
          <p:cNvPr id="2" name="cover-ring-1">
            <a:extLst xmlns:a="http://schemas.openxmlformats.org/drawingml/2006/main">
              <a:ext uri="{FF2B5EF4-FFF2-40B4-BE49-F238E27FC236}">
                <a16:creationId xmlns:a16="http://schemas.microsoft.com/office/drawing/2014/main" id="{15C1FC97-0B0D-4556-96E9-C9EB883EE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066800"/>
            <a:ext cx="2857500" cy="2857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1459C7"/>
            </a:solidFill>
            <a:prstDash val="solid"/>
          </a:ln>
        </p:spPr>
      </p:sp>
      <p:sp>
        <p:nvSpPr>
          <p:cNvPr id="3" name="cover-ring-2">
            <a:extLst xmlns:a="http://schemas.openxmlformats.org/drawingml/2006/main">
              <a:ext uri="{FF2B5EF4-FFF2-40B4-BE49-F238E27FC236}">
                <a16:creationId xmlns:a16="http://schemas.microsoft.com/office/drawing/2014/main" id="{90E21293-F637-4973-926D-C5792DB56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619250"/>
            <a:ext cx="1752600" cy="17526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6A33A"/>
            </a:solidFill>
            <a:prstDash val="solid"/>
          </a:ln>
        </p:spPr>
      </p:sp>
      <p:sp>
        <p:nvSpPr>
          <p:cNvPr id="4" name="cover-core">
            <a:extLst xmlns:a="http://schemas.openxmlformats.org/drawingml/2006/main">
              <a:ext uri="{FF2B5EF4-FFF2-40B4-BE49-F238E27FC236}">
                <a16:creationId xmlns:a16="http://schemas.microsoft.com/office/drawing/2014/main" id="{8DAA5F70-96AC-4E85-8C58-253D27230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1907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D6A33A"/>
            </a:solidFill>
            <a:prstDash val="solid"/>
          </a:ln>
        </p:spPr>
      </p:sp>
      <p:sp>
        <p:nvSpPr>
          <p:cNvPr id="5" name="cover-line-1">
            <a:extLst xmlns:a="http://schemas.openxmlformats.org/drawingml/2006/main">
              <a:ext uri="{FF2B5EF4-FFF2-40B4-BE49-F238E27FC236}">
                <a16:creationId xmlns:a16="http://schemas.microsoft.com/office/drawing/2014/main" id="{E40E2F85-CA22-44CC-9936-2ED11431D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76750"/>
            <a:ext cx="3371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1459C7"/>
            </a:solidFill>
            <a:prstDash val="solid"/>
          </a:ln>
        </p:spPr>
      </p:sp>
      <p:sp>
        <p:nvSpPr>
          <p:cNvPr id="6" name="cover-line-2">
            <a:extLst xmlns:a="http://schemas.openxmlformats.org/drawingml/2006/main">
              <a:ext uri="{FF2B5EF4-FFF2-40B4-BE49-F238E27FC236}">
                <a16:creationId xmlns:a16="http://schemas.microsoft.com/office/drawing/2014/main" id="{E48962AA-A49B-4A55-A26B-CB1325090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89585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6A33A"/>
            </a:solidFill>
            <a:prstDash val="solid"/>
          </a:ln>
        </p:spPr>
      </p:sp>
      <p:sp>
        <p:nvSpPr>
          <p:cNvPr id="7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668C250E-26D0-4C02-92BA-3076199B8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76300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6A33A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D6A33A"/>
                </a:solidFill>
                <a:latin typeface="PingFang SC"/>
                <a:ea typeface="PingFang SC"/>
                <a:cs typeface="PingFang SC"/>
              </a:rPr>
              <a:t>第 1 章 · 人工智能概述</a:t>
            </a:r>
          </a:p>
        </p:txBody>
      </p:sp>
      <p:sp>
        <p:nvSpPr>
          <p:cNvPr id="8" name="cover-title">
            <a:extLst xmlns:a="http://schemas.openxmlformats.org/drawingml/2006/main">
              <a:ext uri="{FF2B5EF4-FFF2-40B4-BE49-F238E27FC236}">
                <a16:creationId xmlns:a16="http://schemas.microsoft.com/office/drawing/2014/main" id="{2237B92E-8D69-458D-BB39-378E1C32E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504950"/>
            <a:ext cx="6858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人工智能发展与社会影响</a:t>
            </a:r>
          </a:p>
        </p:txBody>
      </p:sp>
      <p:sp>
        <p:nvSpPr>
          <p:cNvPr id="9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59FA47B4-004D-41D9-B969-6365B0445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14650"/>
            <a:ext cx="6477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>
                <a:solidFill>
                  <a:srgbClr val="DDEBFA"/>
                </a:solidFill>
                <a:latin typeface="PingFang SC"/>
                <a:ea typeface="PingFang SC"/>
                <a:cs typeface="PingFang SC"/>
              </a:defRPr>
            </a:pPr>
            <a:r>
              <a:rPr sz="2175">
                <a:solidFill>
                  <a:srgbClr val="DDEBFA"/>
                </a:solidFill>
                <a:latin typeface="PingFang SC"/>
                <a:ea typeface="PingFang SC"/>
                <a:cs typeface="PingFang SC"/>
              </a:rPr>
              <a:t>沿关键技术转折理解人工智能的兴衰，并讨论它如何改变工作、组织和社会分工。</a:t>
            </a:r>
          </a:p>
        </p:txBody>
      </p:sp>
      <p:sp>
        <p:nvSpPr>
          <p:cNvPr id="10" name="cover-lead">
            <a:extLst xmlns:a="http://schemas.openxmlformats.org/drawingml/2006/main">
              <a:ext uri="{FF2B5EF4-FFF2-40B4-BE49-F238E27FC236}">
                <a16:creationId xmlns:a16="http://schemas.microsoft.com/office/drawing/2014/main" id="{85D1DE30-FC35-457E-9048-905205B10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05300"/>
            <a:ext cx="647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人工智能的发展从来不是一条只由算法推动的直线；规则系统、机器学习、深度学习和大模型依次扩大了机器可处理的任务边界</a:t>
            </a:r>
          </a:p>
        </p:txBody>
      </p:sp>
      <p:sp>
        <p:nvSpPr>
          <p:cNvPr id="11" name="cover-course">
            <a:extLst xmlns:a="http://schemas.openxmlformats.org/drawingml/2006/main">
              <a:ext uri="{FF2B5EF4-FFF2-40B4-BE49-F238E27FC236}">
                <a16:creationId xmlns:a16="http://schemas.microsoft.com/office/drawing/2014/main" id="{D8C5924D-8591-4F5D-BE3E-4F0FF4CA2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34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陈龙彪团队人工智能公开课</a:t>
            </a:r>
          </a:p>
        </p:txBody>
      </p:sp>
      <p:sp>
        <p:nvSpPr>
          <p:cNvPr id="12" name="cover-id">
            <a:extLst xmlns:a="http://schemas.openxmlformats.org/drawingml/2006/main">
              <a:ext uri="{FF2B5EF4-FFF2-40B4-BE49-F238E27FC236}">
                <a16:creationId xmlns:a16="http://schemas.microsoft.com/office/drawing/2014/main" id="{271C2C0B-26F5-45C3-9F84-26DCFA56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7340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D6A33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D6A33A"/>
                </a:solidFill>
                <a:latin typeface="PingFang SC"/>
                <a:ea typeface="PingFang SC"/>
                <a:cs typeface="PingFang SC"/>
              </a:rPr>
              <a:t>OV-002 · OV-002-S01</a:t>
            </a:r>
          </a:p>
        </p:txBody>
      </p:sp>
    </p:spTree>
    <p:extLst>
      <p:ext uri="{BB962C8B-B14F-4D97-AF65-F5344CB8AC3E}">
        <p14:creationId xmlns:p14="http://schemas.microsoft.com/office/powerpoint/2010/main" val="6057362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2-rule">
            <a:extLst xmlns:a="http://schemas.openxmlformats.org/drawingml/2006/main">
              <a:ext uri="{FF2B5EF4-FFF2-40B4-BE49-F238E27FC236}">
                <a16:creationId xmlns:a16="http://schemas.microsoft.com/office/drawing/2014/main" id="{35EF5CB0-0408-4069-A1AE-E68AC3EB9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D6A33A"/>
            </a:solidFill>
            <a:prstDash val="solid"/>
          </a:ln>
        </p:spPr>
      </p:sp>
      <p:sp>
        <p:nvSpPr>
          <p:cNvPr id="2" name="s2-eyebrow">
            <a:extLst xmlns:a="http://schemas.openxmlformats.org/drawingml/2006/main">
              <a:ext uri="{FF2B5EF4-FFF2-40B4-BE49-F238E27FC236}">
                <a16:creationId xmlns:a16="http://schemas.microsoft.com/office/drawing/2014/main" id="{6C822718-D772-42EC-B3EF-7ED4E493D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学习结果</a:t>
            </a:r>
          </a:p>
        </p:txBody>
      </p:sp>
      <p:sp>
        <p:nvSpPr>
          <p:cNvPr id="3" name="s2-title">
            <a:extLst xmlns:a="http://schemas.openxmlformats.org/drawingml/2006/main">
              <a:ext uri="{FF2B5EF4-FFF2-40B4-BE49-F238E27FC236}">
                <a16:creationId xmlns:a16="http://schemas.microsoft.com/office/drawing/2014/main" id="{3B333D5E-086C-4576-826F-F4D8BD427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AI 发展与社会影响：3项学习结果</a:t>
            </a:r>
          </a:p>
        </p:txBody>
      </p:sp>
      <p:sp>
        <p:nvSpPr>
          <p:cNvPr id="4" name="s2-footer">
            <a:extLst xmlns:a="http://schemas.openxmlformats.org/drawingml/2006/main">
              <a:ext uri="{FF2B5EF4-FFF2-40B4-BE49-F238E27FC236}">
                <a16:creationId xmlns:a16="http://schemas.microsoft.com/office/drawing/2014/main" id="{0603959A-886A-43A8-9656-0D31DEECE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2-identity">
            <a:extLst xmlns:a="http://schemas.openxmlformats.org/drawingml/2006/main">
              <a:ext uri="{FF2B5EF4-FFF2-40B4-BE49-F238E27FC236}">
                <a16:creationId xmlns:a16="http://schemas.microsoft.com/office/drawing/2014/main" id="{97D97A32-5560-4AA8-BE41-738DB4CBA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OV-002 · OV-002-S02</a:t>
            </a:r>
          </a:p>
        </p:txBody>
      </p:sp>
      <p:sp>
        <p:nvSpPr>
          <p:cNvPr id="6" name="objective-1">
            <a:extLst xmlns:a="http://schemas.openxmlformats.org/drawingml/2006/main">
              <a:ext uri="{FF2B5EF4-FFF2-40B4-BE49-F238E27FC236}">
                <a16:creationId xmlns:a16="http://schemas.microsoft.com/office/drawing/2014/main" id="{A35A4522-03D9-46EE-A5D7-9050FF9FA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4953000" cy="1466850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01</a:t>
            </a:r>
          </a:p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解释规则系统、机器学习、深度学习和大模型之间的演进关系</a:t>
            </a:r>
          </a:p>
        </p:txBody>
      </p:sp>
      <p:sp>
        <p:nvSpPr>
          <p:cNvPr id="7" name="objective-2">
            <a:extLst xmlns:a="http://schemas.openxmlformats.org/drawingml/2006/main">
              <a:ext uri="{FF2B5EF4-FFF2-40B4-BE49-F238E27FC236}">
                <a16:creationId xmlns:a16="http://schemas.microsoft.com/office/drawing/2014/main" id="{4830347B-F1F9-4778-84B4-11D089C02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00250"/>
            <a:ext cx="4953000" cy="1466850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02</a:t>
            </a:r>
          </a:p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把“职业被改变”拆成可以评估的具体任务变化</a:t>
            </a:r>
          </a:p>
        </p:txBody>
      </p:sp>
      <p:sp>
        <p:nvSpPr>
          <p:cNvPr id="8" name="objective-3">
            <a:extLst xmlns:a="http://schemas.openxmlformats.org/drawingml/2006/main">
              <a:ext uri="{FF2B5EF4-FFF2-40B4-BE49-F238E27FC236}">
                <a16:creationId xmlns:a16="http://schemas.microsoft.com/office/drawing/2014/main" id="{E5FC074C-C5E4-4E50-80FC-A27BB8A0F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95700"/>
            <a:ext cx="4953000" cy="1466850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FFF4D7"/>
          </a:solidFill>
          <a:ln xmlns:a="http://schemas.openxmlformats.org/drawingml/2006/main" w="19050">
            <a:solidFill>
              <a:srgbClr val="8A5A00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03</a:t>
            </a:r>
          </a:p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从人才、数据、算法算力、反馈和场景五个维度评估 AI 项目的落地条件</a:t>
            </a:r>
          </a:p>
        </p:txBody>
      </p:sp>
    </p:spTree>
    <p:extLst>
      <p:ext uri="{BB962C8B-B14F-4D97-AF65-F5344CB8AC3E}">
        <p14:creationId xmlns:p14="http://schemas.microsoft.com/office/powerpoint/2010/main" val="2045601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3-rule">
            <a:extLst xmlns:a="http://schemas.openxmlformats.org/drawingml/2006/main">
              <a:ext uri="{FF2B5EF4-FFF2-40B4-BE49-F238E27FC236}">
                <a16:creationId xmlns:a16="http://schemas.microsoft.com/office/drawing/2014/main" id="{459341F3-5696-4043-861A-FE0A29698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D6A33A"/>
            </a:solidFill>
            <a:prstDash val="solid"/>
          </a:ln>
        </p:spPr>
      </p:sp>
      <p:sp>
        <p:nvSpPr>
          <p:cNvPr id="2" name="s3-eyebrow">
            <a:extLst xmlns:a="http://schemas.openxmlformats.org/drawingml/2006/main">
              <a:ext uri="{FF2B5EF4-FFF2-40B4-BE49-F238E27FC236}">
                <a16:creationId xmlns:a16="http://schemas.microsoft.com/office/drawing/2014/main" id="{D4F9DCA9-9EC7-4760-A850-C74A12403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核心论点 1 / 3</a:t>
            </a:r>
          </a:p>
        </p:txBody>
      </p:sp>
      <p:sp>
        <p:nvSpPr>
          <p:cNvPr id="3" name="s3-title">
            <a:extLst xmlns:a="http://schemas.openxmlformats.org/drawingml/2006/main">
              <a:ext uri="{FF2B5EF4-FFF2-40B4-BE49-F238E27FC236}">
                <a16:creationId xmlns:a16="http://schemas.microsoft.com/office/drawing/2014/main" id="{D0FDFC89-0954-47D7-B3FE-741A174A2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AI 热潮与低谷由能力、资源和预期共同塑造</a:t>
            </a:r>
          </a:p>
        </p:txBody>
      </p:sp>
      <p:sp>
        <p:nvSpPr>
          <p:cNvPr id="4" name="s3-footer">
            <a:extLst xmlns:a="http://schemas.openxmlformats.org/drawingml/2006/main">
              <a:ext uri="{FF2B5EF4-FFF2-40B4-BE49-F238E27FC236}">
                <a16:creationId xmlns:a16="http://schemas.microsoft.com/office/drawing/2014/main" id="{67DFAB19-BABA-4D5E-AECB-39C7B9C6C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3-identity">
            <a:extLst xmlns:a="http://schemas.openxmlformats.org/drawingml/2006/main">
              <a:ext uri="{FF2B5EF4-FFF2-40B4-BE49-F238E27FC236}">
                <a16:creationId xmlns:a16="http://schemas.microsoft.com/office/drawing/2014/main" id="{E57B7DBB-3367-4CF8-BEFF-C6B6EF845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OV-002 · OV-002-S03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B4DD0610-61C1-4C71-AF25-19D08AB71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A5A0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8A5A00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89485B77-6195-478C-9B58-BDB0BA834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3263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六次转折：能力、资源与预期共同塑造 AI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2BAF2704-3E88-441A-BC03-FB530EA06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3263900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4D7"/>
          </a:solidFill>
          <a:ln xmlns:a="http://schemas.openxmlformats.org/drawingml/2006/main" w="19050">
            <a:solidFill>
              <a:srgbClr val="8A5A00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85261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1955/56—1980 年代；学科形成、专家系统与两次寒冬；达特茅斯提案让“人工智能”成为明确研究议题；早期高预期随后遭遇组合爆炸、数据和算力限制；专家系统在 1980 年代进入商业应用</a:t>
            </a:r>
          </a:p>
        </p:txBody>
      </p:sp>
      <p:sp>
        <p:nvSpPr>
          <p:cNvPr id="9" name="core-no-1">
            <a:extLst xmlns:a="http://schemas.openxmlformats.org/drawingml/2006/main">
              <a:ext uri="{FF2B5EF4-FFF2-40B4-BE49-F238E27FC236}">
                <a16:creationId xmlns:a16="http://schemas.microsoft.com/office/drawing/2014/main" id="{CDE1F631-7C76-4C97-83DA-1DC451EDA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05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A5A0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8A5A00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re-body-1">
            <a:extLst xmlns:a="http://schemas.openxmlformats.org/drawingml/2006/main">
              <a:ext uri="{FF2B5EF4-FFF2-40B4-BE49-F238E27FC236}">
                <a16:creationId xmlns:a16="http://schemas.microsoft.com/office/drawing/2014/main" id="{53F9F6AF-FB85-4533-9ED5-D67D03D77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050" y="2590800"/>
            <a:ext cx="3263900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1990 年代—2012；统计学习、数据与 GPU 共同积累；机器学习逐步从手写规则转向数据驱动；2012 年 AlexNet 的视觉结果成为标志性转折</a:t>
            </a:r>
          </a:p>
        </p:txBody>
      </p:sp>
      <p:sp>
        <p:nvSpPr>
          <p:cNvPr id="11" name="core-no-2">
            <a:extLst xmlns:a="http://schemas.openxmlformats.org/drawingml/2006/main">
              <a:ext uri="{FF2B5EF4-FFF2-40B4-BE49-F238E27FC236}">
                <a16:creationId xmlns:a16="http://schemas.microsoft.com/office/drawing/2014/main" id="{C006D9E7-9389-41FA-BB81-188C73891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A5A0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8A5A00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2" name="core-body-2">
            <a:extLst xmlns:a="http://schemas.openxmlformats.org/drawingml/2006/main">
              <a:ext uri="{FF2B5EF4-FFF2-40B4-BE49-F238E27FC236}">
                <a16:creationId xmlns:a16="http://schemas.microsoft.com/office/drawing/2014/main" id="{D4ED6011-6C47-4DCA-8CE3-9F129905B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2590800"/>
            <a:ext cx="3263900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2017—2022；Transformer 与对话式生成 AI；Transformer 改变了序列建模和并行训练方式；2022 年 ChatGPT 把指令跟随与多轮对话带入大众产品入口</a:t>
            </a:r>
          </a:p>
        </p:txBody>
      </p:sp>
      <p:sp>
        <p:nvSpPr>
          <p:cNvPr id="13" name="s3-takeaway-rule">
            <a:extLst xmlns:a="http://schemas.openxmlformats.org/drawingml/2006/main">
              <a:ext uri="{FF2B5EF4-FFF2-40B4-BE49-F238E27FC236}">
                <a16:creationId xmlns:a16="http://schemas.microsoft.com/office/drawing/2014/main" id="{C1F899CD-0737-426C-A4E9-B78B6FA28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D6A33A"/>
            </a:solidFill>
            <a:prstDash val="solid"/>
          </a:ln>
        </p:spPr>
      </p:sp>
      <p:sp>
        <p:nvSpPr>
          <p:cNvPr id="14" name="s3-takeaway">
            <a:extLst xmlns:a="http://schemas.openxmlformats.org/drawingml/2006/main">
              <a:ext uri="{FF2B5EF4-FFF2-40B4-BE49-F238E27FC236}">
                <a16:creationId xmlns:a16="http://schemas.microsoft.com/office/drawing/2014/main" id="{BD6537EC-DC1D-4412-969B-D09AF64B0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AI 热潮与低谷由能力、资源和预期共同塑造</a:t>
            </a:r>
          </a:p>
        </p:txBody>
      </p:sp>
    </p:spTree>
    <p:extLst>
      <p:ext uri="{BB962C8B-B14F-4D97-AF65-F5344CB8AC3E}">
        <p14:creationId xmlns:p14="http://schemas.microsoft.com/office/powerpoint/2010/main" val="190797751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4-rule">
            <a:extLst xmlns:a="http://schemas.openxmlformats.org/drawingml/2006/main">
              <a:ext uri="{FF2B5EF4-FFF2-40B4-BE49-F238E27FC236}">
                <a16:creationId xmlns:a16="http://schemas.microsoft.com/office/drawing/2014/main" id="{6515D085-F347-4A3A-87AD-9D93F87BD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D6A33A"/>
            </a:solidFill>
            <a:prstDash val="solid"/>
          </a:ln>
        </p:spPr>
      </p:sp>
      <p:sp>
        <p:nvSpPr>
          <p:cNvPr id="2" name="s4-eyebrow">
            <a:extLst xmlns:a="http://schemas.openxmlformats.org/drawingml/2006/main">
              <a:ext uri="{FF2B5EF4-FFF2-40B4-BE49-F238E27FC236}">
                <a16:creationId xmlns:a16="http://schemas.microsoft.com/office/drawing/2014/main" id="{54AD6CB6-3EC3-4DAA-ADD4-0E0122E10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核心论点 2 / 3</a:t>
            </a:r>
          </a:p>
        </p:txBody>
      </p:sp>
      <p:sp>
        <p:nvSpPr>
          <p:cNvPr id="3" name="s4-title">
            <a:extLst xmlns:a="http://schemas.openxmlformats.org/drawingml/2006/main">
              <a:ext uri="{FF2B5EF4-FFF2-40B4-BE49-F238E27FC236}">
                <a16:creationId xmlns:a16="http://schemas.microsoft.com/office/drawing/2014/main" id="{D2113AF2-29E7-4657-9A5A-9DD351CB5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大模型的目标往往不止于模仿人类</a:t>
            </a:r>
          </a:p>
        </p:txBody>
      </p:sp>
      <p:sp>
        <p:nvSpPr>
          <p:cNvPr id="4" name="s4-footer">
            <a:extLst xmlns:a="http://schemas.openxmlformats.org/drawingml/2006/main">
              <a:ext uri="{FF2B5EF4-FFF2-40B4-BE49-F238E27FC236}">
                <a16:creationId xmlns:a16="http://schemas.microsoft.com/office/drawing/2014/main" id="{B53A3B36-59A1-4000-8D3F-29176CFC6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4-identity">
            <a:extLst xmlns:a="http://schemas.openxmlformats.org/drawingml/2006/main">
              <a:ext uri="{FF2B5EF4-FFF2-40B4-BE49-F238E27FC236}">
                <a16:creationId xmlns:a16="http://schemas.microsoft.com/office/drawing/2014/main" id="{17E8E12D-1323-47A5-8D48-1792725BA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OV-002 · OV-002-S04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0418D08A-0051-4FE7-9CDB-CAA4A5AC0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A5A0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8A5A00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70E74052-0139-4340-8B0D-5932FB95F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50387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哪些工作会被改变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A25AFA07-AA68-4049-A1D1-303539B83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5038725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4D7"/>
          </a:solidFill>
          <a:ln xmlns:a="http://schemas.openxmlformats.org/drawingml/2006/main" w="19050">
            <a:solidFill>
              <a:srgbClr val="8A5A00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98233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大模型的目标往往不止于模仿人类；在一些定义清楚、数据充分的基准任务中；模型能达到很高的分数；但分数取决于数据集、提示、工具和评价方法；不能直接外推成“全面超过人类”</a:t>
            </a:r>
          </a:p>
        </p:txBody>
      </p:sp>
      <p:sp>
        <p:nvSpPr>
          <p:cNvPr id="9" name="core-no-1">
            <a:extLst xmlns:a="http://schemas.openxmlformats.org/drawingml/2006/main">
              <a:ext uri="{FF2B5EF4-FFF2-40B4-BE49-F238E27FC236}">
                <a16:creationId xmlns:a16="http://schemas.microsoft.com/office/drawing/2014/main" id="{5D10880C-DB9B-4AF7-ABF1-D1D9EAD5F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A5A0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8A5A00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re-body-1">
            <a:extLst xmlns:a="http://schemas.openxmlformats.org/drawingml/2006/main">
              <a:ext uri="{FF2B5EF4-FFF2-40B4-BE49-F238E27FC236}">
                <a16:creationId xmlns:a16="http://schemas.microsoft.com/office/drawing/2014/main" id="{7A44A487-E439-4883-A980-C9F7246DF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90800"/>
            <a:ext cx="5038725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需要说明的是，被改变不等于整份职业被取代；更常见的变化，是职业内部的检索、起草、分类、分析和重复沟通被重新分工；人仍要负责目标、判断、责任与例外处理；与其只问“岗位会不会消失”</a:t>
            </a:r>
          </a:p>
        </p:txBody>
      </p:sp>
      <p:sp>
        <p:nvSpPr>
          <p:cNvPr id="11" name="s4-takeaway-rule">
            <a:extLst xmlns:a="http://schemas.openxmlformats.org/drawingml/2006/main">
              <a:ext uri="{FF2B5EF4-FFF2-40B4-BE49-F238E27FC236}">
                <a16:creationId xmlns:a16="http://schemas.microsoft.com/office/drawing/2014/main" id="{D4FDA670-EC36-4FD5-869E-A1522C55B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D6A33A"/>
            </a:solidFill>
            <a:prstDash val="solid"/>
          </a:ln>
        </p:spPr>
      </p:sp>
      <p:sp>
        <p:nvSpPr>
          <p:cNvPr id="12" name="s4-takeaway">
            <a:extLst xmlns:a="http://schemas.openxmlformats.org/drawingml/2006/main">
              <a:ext uri="{FF2B5EF4-FFF2-40B4-BE49-F238E27FC236}">
                <a16:creationId xmlns:a16="http://schemas.microsoft.com/office/drawing/2014/main" id="{44F591ED-D159-43C3-B38B-D01CBF6DF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大模型的目标往往不止于模仿人类</a:t>
            </a:r>
          </a:p>
        </p:txBody>
      </p:sp>
    </p:spTree>
    <p:extLst>
      <p:ext uri="{BB962C8B-B14F-4D97-AF65-F5344CB8AC3E}">
        <p14:creationId xmlns:p14="http://schemas.microsoft.com/office/powerpoint/2010/main" val="7771769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5-rule">
            <a:extLst xmlns:a="http://schemas.openxmlformats.org/drawingml/2006/main">
              <a:ext uri="{FF2B5EF4-FFF2-40B4-BE49-F238E27FC236}">
                <a16:creationId xmlns:a16="http://schemas.microsoft.com/office/drawing/2014/main" id="{00F642F6-2FC3-4D64-B264-63819342A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D6A33A"/>
            </a:solidFill>
            <a:prstDash val="solid"/>
          </a:ln>
        </p:spPr>
      </p:sp>
      <p:sp>
        <p:nvSpPr>
          <p:cNvPr id="2" name="s5-eyebrow">
            <a:extLst xmlns:a="http://schemas.openxmlformats.org/drawingml/2006/main">
              <a:ext uri="{FF2B5EF4-FFF2-40B4-BE49-F238E27FC236}">
                <a16:creationId xmlns:a16="http://schemas.microsoft.com/office/drawing/2014/main" id="{F84304A5-7B23-4A43-A610-B7494AA20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核心论点 3 / 3</a:t>
            </a:r>
          </a:p>
        </p:txBody>
      </p:sp>
      <p:sp>
        <p:nvSpPr>
          <p:cNvPr id="3" name="s5-title">
            <a:extLst xmlns:a="http://schemas.openxmlformats.org/drawingml/2006/main">
              <a:ext uri="{FF2B5EF4-FFF2-40B4-BE49-F238E27FC236}">
                <a16:creationId xmlns:a16="http://schemas.microsoft.com/office/drawing/2014/main" id="{D63199D2-30A8-4101-AD67-A3E6F0257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不是所有场景都适合上 AI</a:t>
            </a:r>
          </a:p>
        </p:txBody>
      </p:sp>
      <p:sp>
        <p:nvSpPr>
          <p:cNvPr id="4" name="s5-footer">
            <a:extLst xmlns:a="http://schemas.openxmlformats.org/drawingml/2006/main">
              <a:ext uri="{FF2B5EF4-FFF2-40B4-BE49-F238E27FC236}">
                <a16:creationId xmlns:a16="http://schemas.microsoft.com/office/drawing/2014/main" id="{44AB4197-D64B-4692-BA3B-80D5AE7B1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5-identity">
            <a:extLst xmlns:a="http://schemas.openxmlformats.org/drawingml/2006/main">
              <a:ext uri="{FF2B5EF4-FFF2-40B4-BE49-F238E27FC236}">
                <a16:creationId xmlns:a16="http://schemas.microsoft.com/office/drawing/2014/main" id="{C472011D-7C3B-4191-8FA5-E0262BC37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OV-002 · OV-002-S05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DB3BAA40-197B-4F0A-9609-E69C1DF00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A5A0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8A5A00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F8C836BE-B721-48C7-9D84-F0D29D11B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3263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AI 落地需要什么条件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FFD340B9-F28E-4747-A31D-E4DE616D2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3263900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4D7"/>
          </a:solidFill>
          <a:ln xmlns:a="http://schemas.openxmlformats.org/drawingml/2006/main" w="19050">
            <a:solidFill>
              <a:srgbClr val="8A5A00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不是所有场景都适合上 AI。判断一个项目是否具备落地条件，可以从五个维度诊断当前基础与缺口</a:t>
            </a:r>
          </a:p>
        </p:txBody>
      </p:sp>
      <p:sp>
        <p:nvSpPr>
          <p:cNvPr id="9" name="core-no-1">
            <a:extLst xmlns:a="http://schemas.openxmlformats.org/drawingml/2006/main">
              <a:ext uri="{FF2B5EF4-FFF2-40B4-BE49-F238E27FC236}">
                <a16:creationId xmlns:a16="http://schemas.microsoft.com/office/drawing/2014/main" id="{04D04AF2-D9FF-476A-8732-8C9411728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05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A5A0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8A5A00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re-body-1">
            <a:extLst xmlns:a="http://schemas.openxmlformats.org/drawingml/2006/main">
              <a:ext uri="{FF2B5EF4-FFF2-40B4-BE49-F238E27FC236}">
                <a16:creationId xmlns:a16="http://schemas.microsoft.com/office/drawing/2014/main" id="{E79FEB0E-1AE2-4947-BF8E-8B7419E69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050" y="2590800"/>
            <a:ext cx="3263900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团队能力 ：既理解业务目标，也有人负责数据、技术、风险和最终验收；多数应用并不要求自己训练基础模型或拥有顶尖科学家</a:t>
            </a:r>
          </a:p>
        </p:txBody>
      </p:sp>
      <p:sp>
        <p:nvSpPr>
          <p:cNvPr id="11" name="core-no-2">
            <a:extLst xmlns:a="http://schemas.openxmlformats.org/drawingml/2006/main">
              <a:ext uri="{FF2B5EF4-FFF2-40B4-BE49-F238E27FC236}">
                <a16:creationId xmlns:a16="http://schemas.microsoft.com/office/drawing/2014/main" id="{B5284A8B-416A-4FF2-8F5F-E10B4C85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A5A0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8A5A00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2" name="core-body-2">
            <a:extLst xmlns:a="http://schemas.openxmlformats.org/drawingml/2006/main">
              <a:ext uri="{FF2B5EF4-FFF2-40B4-BE49-F238E27FC236}">
                <a16:creationId xmlns:a16="http://schemas.microsoft.com/office/drawing/2014/main" id="{89A9C64A-512C-450B-BCF5-32183B53C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2590800"/>
            <a:ext cx="3263900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适用数据 ：数据规模与质量要满足具体任务，并且来源、权限、版本和代表性可说明；“越多越好”不是通用规律</a:t>
            </a:r>
          </a:p>
        </p:txBody>
      </p:sp>
      <p:sp>
        <p:nvSpPr>
          <p:cNvPr id="13" name="s5-takeaway-rule">
            <a:extLst xmlns:a="http://schemas.openxmlformats.org/drawingml/2006/main">
              <a:ext uri="{FF2B5EF4-FFF2-40B4-BE49-F238E27FC236}">
                <a16:creationId xmlns:a16="http://schemas.microsoft.com/office/drawing/2014/main" id="{149EE1BB-96C3-4FF7-9CC8-DB6B8C727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D6A33A"/>
            </a:solidFill>
            <a:prstDash val="solid"/>
          </a:ln>
        </p:spPr>
      </p:sp>
      <p:sp>
        <p:nvSpPr>
          <p:cNvPr id="14" name="s5-takeaway">
            <a:extLst xmlns:a="http://schemas.openxmlformats.org/drawingml/2006/main">
              <a:ext uri="{FF2B5EF4-FFF2-40B4-BE49-F238E27FC236}">
                <a16:creationId xmlns:a16="http://schemas.microsoft.com/office/drawing/2014/main" id="{3EF7A898-774A-4CA3-881C-F000438AD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不是所有场景都适合上 AI</a:t>
            </a:r>
          </a:p>
        </p:txBody>
      </p:sp>
    </p:spTree>
    <p:extLst>
      <p:ext uri="{BB962C8B-B14F-4D97-AF65-F5344CB8AC3E}">
        <p14:creationId xmlns:p14="http://schemas.microsoft.com/office/powerpoint/2010/main" val="1116613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6-rule">
            <a:extLst xmlns:a="http://schemas.openxmlformats.org/drawingml/2006/main">
              <a:ext uri="{FF2B5EF4-FFF2-40B4-BE49-F238E27FC236}">
                <a16:creationId xmlns:a16="http://schemas.microsoft.com/office/drawing/2014/main" id="{2CC5459D-6ACC-4092-8EFE-7CE450B9E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D6A33A"/>
            </a:solidFill>
            <a:prstDash val="solid"/>
          </a:ln>
        </p:spPr>
      </p:sp>
      <p:sp>
        <p:nvSpPr>
          <p:cNvPr id="2" name="s6-eyebrow">
            <a:extLst xmlns:a="http://schemas.openxmlformats.org/drawingml/2006/main">
              <a:ext uri="{FF2B5EF4-FFF2-40B4-BE49-F238E27FC236}">
                <a16:creationId xmlns:a16="http://schemas.microsoft.com/office/drawing/2014/main" id="{D94E1C29-C2F8-4ECF-80E0-73A04333E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案例与边界 1 / 1</a:t>
            </a:r>
          </a:p>
        </p:txBody>
      </p:sp>
      <p:sp>
        <p:nvSpPr>
          <p:cNvPr id="3" name="s6-title">
            <a:extLst xmlns:a="http://schemas.openxmlformats.org/drawingml/2006/main">
              <a:ext uri="{FF2B5EF4-FFF2-40B4-BE49-F238E27FC236}">
                <a16:creationId xmlns:a16="http://schemas.microsoft.com/office/drawing/2014/main" id="{22F6F0A0-BA89-4C32-924E-1370DD475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乌鸦提醒我们：智能不等于训练规模</a:t>
            </a:r>
          </a:p>
        </p:txBody>
      </p:sp>
      <p:sp>
        <p:nvSpPr>
          <p:cNvPr id="4" name="s6-footer">
            <a:extLst xmlns:a="http://schemas.openxmlformats.org/drawingml/2006/main">
              <a:ext uri="{FF2B5EF4-FFF2-40B4-BE49-F238E27FC236}">
                <a16:creationId xmlns:a16="http://schemas.microsoft.com/office/drawing/2014/main" id="{4A84B65A-20A7-4F26-9B55-4F531EEE2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6-identity">
            <a:extLst xmlns:a="http://schemas.openxmlformats.org/drawingml/2006/main">
              <a:ext uri="{FF2B5EF4-FFF2-40B4-BE49-F238E27FC236}">
                <a16:creationId xmlns:a16="http://schemas.microsoft.com/office/drawing/2014/main" id="{928F5D2D-BFAE-4057-A109-E844BAA5A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OV-002 · OV-002-S06</a:t>
            </a:r>
          </a:p>
        </p:txBody>
      </p:sp>
      <p:sp>
        <p:nvSpPr>
          <p:cNvPr id="6" name="case-title">
            <a:extLst xmlns:a="http://schemas.openxmlformats.org/drawingml/2006/main">
              <a:ext uri="{FF2B5EF4-FFF2-40B4-BE49-F238E27FC236}">
                <a16:creationId xmlns:a16="http://schemas.microsoft.com/office/drawing/2014/main" id="{3D44718D-6793-4A57-83CD-91E519AEE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3048000" cy="2724150"/>
          </a:xfrm>
          <a:prstGeom xmlns:a="http://schemas.openxmlformats.org/drawingml/2006/main" prst="roundRect">
            <a:avLst>
              <a:gd name="adj" fmla="val 6993"/>
            </a:avLst>
          </a:prstGeom>
          <a:solidFill xmlns:a="http://schemas.openxmlformats.org/drawingml/2006/main">
            <a:srgbClr val="123B67"/>
          </a:solidFill>
          <a:ln xmlns:a="http://schemas.openxmlformats.org/drawingml/2006/main" w="0">
            <a:solidFill>
              <a:srgbClr val="123B67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一只乌鸦的启示</a:t>
            </a:r>
          </a:p>
        </p:txBody>
      </p:sp>
      <p:sp>
        <p:nvSpPr>
          <p:cNvPr id="7" name="case-row-0">
            <a:extLst xmlns:a="http://schemas.openxmlformats.org/drawingml/2006/main">
              <a:ext uri="{FF2B5EF4-FFF2-40B4-BE49-F238E27FC236}">
                <a16:creationId xmlns:a16="http://schemas.microsoft.com/office/drawing/2014/main" id="{263C5BE4-EC3B-4F20-B3FC-2F5E4B7E9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38350"/>
            <a:ext cx="6534150" cy="514350"/>
          </a:xfrm>
          <a:prstGeom xmlns:a="http://schemas.openxmlformats.org/drawingml/2006/main" prst="roundRect">
            <a:avLst>
              <a:gd name="adj" fmla="val 240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72956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场景｜城市中的乌鸦会利用车辆轧开坚果，并根据交通变化选择取食时机</a:t>
            </a:r>
          </a:p>
        </p:txBody>
      </p:sp>
      <p:sp>
        <p:nvSpPr>
          <p:cNvPr id="8" name="case-row-1">
            <a:extLst xmlns:a="http://schemas.openxmlformats.org/drawingml/2006/main">
              <a:ext uri="{FF2B5EF4-FFF2-40B4-BE49-F238E27FC236}">
                <a16:creationId xmlns:a16="http://schemas.microsoft.com/office/drawing/2014/main" id="{A691303C-24A4-4CFA-984F-54B010A10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67000"/>
            <a:ext cx="6534150" cy="514350"/>
          </a:xfrm>
          <a:prstGeom xmlns:a="http://schemas.openxmlformats.org/drawingml/2006/main" prst="roundRect">
            <a:avLst>
              <a:gd name="adj" fmla="val 240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72956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机制｜它没有海量训练数据，却能在真实环境里感知、规划、使用工具并达成目标</a:t>
            </a:r>
          </a:p>
        </p:txBody>
      </p:sp>
      <p:sp>
        <p:nvSpPr>
          <p:cNvPr id="9" name="case-row-2">
            <a:extLst xmlns:a="http://schemas.openxmlformats.org/drawingml/2006/main">
              <a:ext uri="{FF2B5EF4-FFF2-40B4-BE49-F238E27FC236}">
                <a16:creationId xmlns:a16="http://schemas.microsoft.com/office/drawing/2014/main" id="{58BB5C5F-DC68-40CB-A654-7DEBC00DC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95650"/>
            <a:ext cx="6534150" cy="514350"/>
          </a:xfrm>
          <a:prstGeom xmlns:a="http://schemas.openxmlformats.org/drawingml/2006/main" prst="roundRect">
            <a:avLst>
              <a:gd name="adj" fmla="val 240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72956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结果｜这个例子的启发在于，生物智能能利用有限经验、身体能力和环境反馈完成开放任务</a:t>
            </a:r>
          </a:p>
        </p:txBody>
      </p:sp>
      <p:sp>
        <p:nvSpPr>
          <p:cNvPr id="10" name="case-row-3">
            <a:extLst xmlns:a="http://schemas.openxmlformats.org/drawingml/2006/main">
              <a:ext uri="{FF2B5EF4-FFF2-40B4-BE49-F238E27FC236}">
                <a16:creationId xmlns:a16="http://schemas.microsoft.com/office/drawing/2014/main" id="{D1B0A1C5-E84E-4056-9FBC-A8BD06FBC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24300"/>
            <a:ext cx="6534150" cy="514350"/>
          </a:xfrm>
          <a:prstGeom xmlns:a="http://schemas.openxmlformats.org/drawingml/2006/main" prst="roundRect">
            <a:avLst>
              <a:gd name="adj" fmla="val 24074"/>
            </a:avLst>
          </a:prstGeom>
          <a:solidFill xmlns:a="http://schemas.openxmlformats.org/drawingml/2006/main">
            <a:srgbClr val="FFF4D7"/>
          </a:solidFill>
          <a:ln xmlns:a="http://schemas.openxmlformats.org/drawingml/2006/main" w="9525">
            <a:solidFill>
              <a:srgbClr val="8A5A00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4694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边界｜它不能直接证明哪条 AI 技术路线一定正确，却提醒我们：判断智能不能只看训练规模，还要看系统能否在环境中感知、行动、纠错并承担后果</a:t>
            </a:r>
          </a:p>
        </p:txBody>
      </p:sp>
      <p:sp>
        <p:nvSpPr>
          <p:cNvPr id="11" name="s6-takeaway-rule">
            <a:extLst xmlns:a="http://schemas.openxmlformats.org/drawingml/2006/main">
              <a:ext uri="{FF2B5EF4-FFF2-40B4-BE49-F238E27FC236}">
                <a16:creationId xmlns:a16="http://schemas.microsoft.com/office/drawing/2014/main" id="{EDB1F9AB-652C-4A9A-B457-30E6D5344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D6A33A"/>
            </a:solidFill>
            <a:prstDash val="solid"/>
          </a:ln>
        </p:spPr>
      </p:sp>
      <p:sp>
        <p:nvSpPr>
          <p:cNvPr id="12" name="s6-takeaway">
            <a:extLst xmlns:a="http://schemas.openxmlformats.org/drawingml/2006/main">
              <a:ext uri="{FF2B5EF4-FFF2-40B4-BE49-F238E27FC236}">
                <a16:creationId xmlns:a16="http://schemas.microsoft.com/office/drawing/2014/main" id="{5E914C4C-4392-4D6C-A6EF-4B5961C1E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乌鸦提醒我们：智能不等于训练规模</a:t>
            </a:r>
          </a:p>
        </p:txBody>
      </p:sp>
    </p:spTree>
    <p:extLst>
      <p:ext uri="{BB962C8B-B14F-4D97-AF65-F5344CB8AC3E}">
        <p14:creationId xmlns:p14="http://schemas.microsoft.com/office/powerpoint/2010/main" val="20491514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7-rule">
            <a:extLst xmlns:a="http://schemas.openxmlformats.org/drawingml/2006/main">
              <a:ext uri="{FF2B5EF4-FFF2-40B4-BE49-F238E27FC236}">
                <a16:creationId xmlns:a16="http://schemas.microsoft.com/office/drawing/2014/main" id="{2CF016AF-5DB0-4CF5-8287-E082B6903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D6A33A"/>
            </a:solidFill>
            <a:prstDash val="solid"/>
          </a:ln>
        </p:spPr>
      </p:sp>
      <p:sp>
        <p:nvSpPr>
          <p:cNvPr id="2" name="s7-eyebrow">
            <a:extLst xmlns:a="http://schemas.openxmlformats.org/drawingml/2006/main">
              <a:ext uri="{FF2B5EF4-FFF2-40B4-BE49-F238E27FC236}">
                <a16:creationId xmlns:a16="http://schemas.microsoft.com/office/drawing/2014/main" id="{04D8D541-B8A7-40A3-8067-A26FC4FB6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动手实践</a:t>
            </a:r>
          </a:p>
        </p:txBody>
      </p:sp>
      <p:sp>
        <p:nvSpPr>
          <p:cNvPr id="3" name="s7-title">
            <a:extLst xmlns:a="http://schemas.openxmlformats.org/drawingml/2006/main">
              <a:ext uri="{FF2B5EF4-FFF2-40B4-BE49-F238E27FC236}">
                <a16:creationId xmlns:a16="http://schemas.microsoft.com/office/drawing/2014/main" id="{B84DC2AC-3D79-4261-8BC7-E80330835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AI 发展与社会影响：一次可验收练习</a:t>
            </a:r>
          </a:p>
        </p:txBody>
      </p:sp>
      <p:sp>
        <p:nvSpPr>
          <p:cNvPr id="4" name="s7-footer">
            <a:extLst xmlns:a="http://schemas.openxmlformats.org/drawingml/2006/main">
              <a:ext uri="{FF2B5EF4-FFF2-40B4-BE49-F238E27FC236}">
                <a16:creationId xmlns:a16="http://schemas.microsoft.com/office/drawing/2014/main" id="{91F24460-ADD9-4A51-90BA-A12390D7B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7-identity">
            <a:extLst xmlns:a="http://schemas.openxmlformats.org/drawingml/2006/main">
              <a:ext uri="{FF2B5EF4-FFF2-40B4-BE49-F238E27FC236}">
                <a16:creationId xmlns:a16="http://schemas.microsoft.com/office/drawing/2014/main" id="{72F4FD4B-7E47-474A-836A-C6112C9D3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OV-002 · OV-002-S07</a:t>
            </a:r>
          </a:p>
        </p:txBody>
      </p:sp>
      <p:sp>
        <p:nvSpPr>
          <p:cNvPr id="6" name="practice-circle-0">
            <a:extLst xmlns:a="http://schemas.openxmlformats.org/drawingml/2006/main">
              <a:ext uri="{FF2B5EF4-FFF2-40B4-BE49-F238E27FC236}">
                <a16:creationId xmlns:a16="http://schemas.microsoft.com/office/drawing/2014/main" id="{60507927-72F1-4D56-AEFA-9C37B8B78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B67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7" name="practice-number-0">
            <a:extLst xmlns:a="http://schemas.openxmlformats.org/drawingml/2006/main">
              <a:ext uri="{FF2B5EF4-FFF2-40B4-BE49-F238E27FC236}">
                <a16:creationId xmlns:a16="http://schemas.microsoft.com/office/drawing/2014/main" id="{3A268E30-CD73-43F5-9196-B33197375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25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practice-item-0">
            <a:extLst xmlns:a="http://schemas.openxmlformats.org/drawingml/2006/main">
              <a:ext uri="{FF2B5EF4-FFF2-40B4-BE49-F238E27FC236}">
                <a16:creationId xmlns:a16="http://schemas.microsoft.com/office/drawing/2014/main" id="{DAAEB6D0-BCA6-4AF5-8D64-08E9F662B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列出你所在岗位的 5 项日常工作，逐项判断哪些可以交给 AI、哪些暂时不行，并说明理由</a:t>
            </a:r>
          </a:p>
        </p:txBody>
      </p:sp>
      <p:sp>
        <p:nvSpPr>
          <p:cNvPr id="9" name="practice-connector-0">
            <a:extLst xmlns:a="http://schemas.openxmlformats.org/drawingml/2006/main">
              <a:ext uri="{FF2B5EF4-FFF2-40B4-BE49-F238E27FC236}">
                <a16:creationId xmlns:a16="http://schemas.microsoft.com/office/drawing/2014/main" id="{7ACDB218-AC87-4CF3-87CF-240441B94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4500" y="234315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A5A00"/>
            </a:solidFill>
            <a:prstDash val="solid"/>
          </a:ln>
        </p:spPr>
      </p:sp>
      <p:sp>
        <p:nvSpPr>
          <p:cNvPr id="10" name="practice-circle-1">
            <a:extLst xmlns:a="http://schemas.openxmlformats.org/drawingml/2006/main">
              <a:ext uri="{FF2B5EF4-FFF2-40B4-BE49-F238E27FC236}">
                <a16:creationId xmlns:a16="http://schemas.microsoft.com/office/drawing/2014/main" id="{2C790070-971A-4D96-86DF-8D2B874FB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5A00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1" name="practice-number-1">
            <a:extLst xmlns:a="http://schemas.openxmlformats.org/drawingml/2006/main">
              <a:ext uri="{FF2B5EF4-FFF2-40B4-BE49-F238E27FC236}">
                <a16:creationId xmlns:a16="http://schemas.microsoft.com/office/drawing/2014/main" id="{5E51F9CD-2576-44F0-ACB4-716A08E5A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2" name="practice-item-1">
            <a:extLst xmlns:a="http://schemas.openxmlformats.org/drawingml/2006/main">
              <a:ext uri="{FF2B5EF4-FFF2-40B4-BE49-F238E27FC236}">
                <a16:creationId xmlns:a16="http://schemas.microsoft.com/office/drawing/2014/main" id="{6FA2F844-4E6C-43D8-B75C-EAB205920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835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4D7"/>
          </a:solidFill>
          <a:ln xmlns:a="http://schemas.openxmlformats.org/drawingml/2006/main" w="19050">
            <a:solidFill>
              <a:srgbClr val="8A5A00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用五个诊断维度分析一个熟悉场景：分别写出已有基础、证据缺口和下一项可验证动作，不把总分直接当作“适合或不适合”的结论</a:t>
            </a:r>
          </a:p>
        </p:txBody>
      </p:sp>
    </p:spTree>
    <p:extLst>
      <p:ext uri="{BB962C8B-B14F-4D97-AF65-F5344CB8AC3E}">
        <p14:creationId xmlns:p14="http://schemas.microsoft.com/office/powerpoint/2010/main" val="199145063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8-rule">
            <a:extLst xmlns:a="http://schemas.openxmlformats.org/drawingml/2006/main">
              <a:ext uri="{FF2B5EF4-FFF2-40B4-BE49-F238E27FC236}">
                <a16:creationId xmlns:a16="http://schemas.microsoft.com/office/drawing/2014/main" id="{CD3972EA-B2B8-4629-B1FC-C9A680613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D6A33A"/>
            </a:solidFill>
            <a:prstDash val="solid"/>
          </a:ln>
        </p:spPr>
      </p:sp>
      <p:sp>
        <p:nvSpPr>
          <p:cNvPr id="2" name="s8-eyebrow">
            <a:extLst xmlns:a="http://schemas.openxmlformats.org/drawingml/2006/main">
              <a:ext uri="{FF2B5EF4-FFF2-40B4-BE49-F238E27FC236}">
                <a16:creationId xmlns:a16="http://schemas.microsoft.com/office/drawing/2014/main" id="{0B5A5F5D-94F6-4ECF-BE08-EC464BF44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课后复盘</a:t>
            </a:r>
          </a:p>
        </p:txBody>
      </p:sp>
      <p:sp>
        <p:nvSpPr>
          <p:cNvPr id="3" name="s8-title">
            <a:extLst xmlns:a="http://schemas.openxmlformats.org/drawingml/2006/main">
              <a:ext uri="{FF2B5EF4-FFF2-40B4-BE49-F238E27FC236}">
                <a16:creationId xmlns:a16="http://schemas.microsoft.com/office/drawing/2014/main" id="{BFEF7438-33C9-4D89-B8FF-2E0C432CC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AI 发展与社会影响：判断时先抓住三点</a:t>
            </a:r>
          </a:p>
        </p:txBody>
      </p:sp>
      <p:sp>
        <p:nvSpPr>
          <p:cNvPr id="4" name="s8-footer">
            <a:extLst xmlns:a="http://schemas.openxmlformats.org/drawingml/2006/main">
              <a:ext uri="{FF2B5EF4-FFF2-40B4-BE49-F238E27FC236}">
                <a16:creationId xmlns:a16="http://schemas.microsoft.com/office/drawing/2014/main" id="{6E17D86E-E1CE-4F41-A1C6-CC25236FD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8-identity">
            <a:extLst xmlns:a="http://schemas.openxmlformats.org/drawingml/2006/main">
              <a:ext uri="{FF2B5EF4-FFF2-40B4-BE49-F238E27FC236}">
                <a16:creationId xmlns:a16="http://schemas.microsoft.com/office/drawing/2014/main" id="{F04899D6-F1FD-448B-8141-743AFADB2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OV-002 · OV-002-S08</a:t>
            </a:r>
          </a:p>
        </p:txBody>
      </p:sp>
      <p:sp>
        <p:nvSpPr>
          <p:cNvPr id="6" name="recap-circle-0">
            <a:extLst xmlns:a="http://schemas.openxmlformats.org/drawingml/2006/main">
              <a:ext uri="{FF2B5EF4-FFF2-40B4-BE49-F238E27FC236}">
                <a16:creationId xmlns:a16="http://schemas.microsoft.com/office/drawing/2014/main" id="{816DC088-3A77-464B-ABCB-DF6C91BE3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B67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7" name="recap-number-0">
            <a:extLst xmlns:a="http://schemas.openxmlformats.org/drawingml/2006/main">
              <a:ext uri="{FF2B5EF4-FFF2-40B4-BE49-F238E27FC236}">
                <a16:creationId xmlns:a16="http://schemas.microsoft.com/office/drawing/2014/main" id="{4EACC176-3023-4184-B023-1142D912A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25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recap-item-0">
            <a:extLst xmlns:a="http://schemas.openxmlformats.org/drawingml/2006/main">
              <a:ext uri="{FF2B5EF4-FFF2-40B4-BE49-F238E27FC236}">
                <a16:creationId xmlns:a16="http://schemas.microsoft.com/office/drawing/2014/main" id="{FE73EDBD-6FE3-48EC-9AB1-425D50670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AI 热潮与低谷由能力、资源和预期共同塑造</a:t>
            </a:r>
          </a:p>
        </p:txBody>
      </p:sp>
      <p:sp>
        <p:nvSpPr>
          <p:cNvPr id="9" name="recap-connector-0">
            <a:extLst xmlns:a="http://schemas.openxmlformats.org/drawingml/2006/main">
              <a:ext uri="{FF2B5EF4-FFF2-40B4-BE49-F238E27FC236}">
                <a16:creationId xmlns:a16="http://schemas.microsoft.com/office/drawing/2014/main" id="{7FCA8F94-D10A-40E4-BB00-8B88A0247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4500" y="234315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A5A00"/>
            </a:solidFill>
            <a:prstDash val="solid"/>
          </a:ln>
        </p:spPr>
      </p:sp>
      <p:sp>
        <p:nvSpPr>
          <p:cNvPr id="10" name="recap-circle-1">
            <a:extLst xmlns:a="http://schemas.openxmlformats.org/drawingml/2006/main">
              <a:ext uri="{FF2B5EF4-FFF2-40B4-BE49-F238E27FC236}">
                <a16:creationId xmlns:a16="http://schemas.microsoft.com/office/drawing/2014/main" id="{EAE2A3A2-D03E-4E12-8AE3-306AB9D21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B67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1" name="recap-number-1">
            <a:extLst xmlns:a="http://schemas.openxmlformats.org/drawingml/2006/main">
              <a:ext uri="{FF2B5EF4-FFF2-40B4-BE49-F238E27FC236}">
                <a16:creationId xmlns:a16="http://schemas.microsoft.com/office/drawing/2014/main" id="{C0FA34F9-9B46-416F-AEE2-1739BA645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2" name="recap-item-1">
            <a:extLst xmlns:a="http://schemas.openxmlformats.org/drawingml/2006/main">
              <a:ext uri="{FF2B5EF4-FFF2-40B4-BE49-F238E27FC236}">
                <a16:creationId xmlns:a16="http://schemas.microsoft.com/office/drawing/2014/main" id="{40E3B84A-D3A7-4168-9959-39A103747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835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大模型的目标往往不止于模仿人类</a:t>
            </a:r>
          </a:p>
        </p:txBody>
      </p:sp>
      <p:sp>
        <p:nvSpPr>
          <p:cNvPr id="13" name="recap-connector-1">
            <a:extLst xmlns:a="http://schemas.openxmlformats.org/drawingml/2006/main">
              <a:ext uri="{FF2B5EF4-FFF2-40B4-BE49-F238E27FC236}">
                <a16:creationId xmlns:a16="http://schemas.microsoft.com/office/drawing/2014/main" id="{734297B0-6F7D-48BF-8086-7CF7A2EEB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234315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A5A00"/>
            </a:solidFill>
            <a:prstDash val="solid"/>
          </a:ln>
        </p:spPr>
      </p:sp>
      <p:sp>
        <p:nvSpPr>
          <p:cNvPr id="14" name="recap-circle-2">
            <a:extLst xmlns:a="http://schemas.openxmlformats.org/drawingml/2006/main">
              <a:ext uri="{FF2B5EF4-FFF2-40B4-BE49-F238E27FC236}">
                <a16:creationId xmlns:a16="http://schemas.microsoft.com/office/drawing/2014/main" id="{42C4D5B6-2C01-474C-AE0B-A38853E48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55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5A00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5" name="recap-number-2">
            <a:extLst xmlns:a="http://schemas.openxmlformats.org/drawingml/2006/main">
              <a:ext uri="{FF2B5EF4-FFF2-40B4-BE49-F238E27FC236}">
                <a16:creationId xmlns:a16="http://schemas.microsoft.com/office/drawing/2014/main" id="{40A67E7A-C7CE-4F9E-9549-6CAACBAF7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895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6" name="recap-item-2">
            <a:extLst xmlns:a="http://schemas.openxmlformats.org/drawingml/2006/main">
              <a:ext uri="{FF2B5EF4-FFF2-40B4-BE49-F238E27FC236}">
                <a16:creationId xmlns:a16="http://schemas.microsoft.com/office/drawing/2014/main" id="{1A409058-7737-46F4-A02E-12AA03F29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4D7"/>
          </a:solidFill>
          <a:ln xmlns:a="http://schemas.openxmlformats.org/drawingml/2006/main" w="19050">
            <a:solidFill>
              <a:srgbClr val="8A5A00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不是所有场景都适合上 AI</a:t>
            </a:r>
          </a:p>
        </p:txBody>
      </p:sp>
    </p:spTree>
    <p:extLst>
      <p:ext uri="{BB962C8B-B14F-4D97-AF65-F5344CB8AC3E}">
        <p14:creationId xmlns:p14="http://schemas.microsoft.com/office/powerpoint/2010/main" val="106865370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9-rule">
            <a:extLst xmlns:a="http://schemas.openxmlformats.org/drawingml/2006/main">
              <a:ext uri="{FF2B5EF4-FFF2-40B4-BE49-F238E27FC236}">
                <a16:creationId xmlns:a16="http://schemas.microsoft.com/office/drawing/2014/main" id="{ACB4D839-32C0-4341-845A-4B6D04D8D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D6A33A"/>
            </a:solidFill>
            <a:prstDash val="solid"/>
          </a:ln>
        </p:spPr>
      </p:sp>
      <p:sp>
        <p:nvSpPr>
          <p:cNvPr id="2" name="s9-eyebrow">
            <a:extLst xmlns:a="http://schemas.openxmlformats.org/drawingml/2006/main">
              <a:ext uri="{FF2B5EF4-FFF2-40B4-BE49-F238E27FC236}">
                <a16:creationId xmlns:a16="http://schemas.microsoft.com/office/drawing/2014/main" id="{580C7400-5862-41E6-9630-365CCA961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来源与延伸</a:t>
            </a:r>
          </a:p>
        </p:txBody>
      </p:sp>
      <p:sp>
        <p:nvSpPr>
          <p:cNvPr id="3" name="s9-title">
            <a:extLst xmlns:a="http://schemas.openxmlformats.org/drawingml/2006/main">
              <a:ext uri="{FF2B5EF4-FFF2-40B4-BE49-F238E27FC236}">
                <a16:creationId xmlns:a16="http://schemas.microsoft.com/office/drawing/2014/main" id="{B4A97238-5032-4990-BB22-F16C82033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AI 发展与社会影响：依据、边界与延伸</a:t>
            </a:r>
          </a:p>
        </p:txBody>
      </p:sp>
      <p:sp>
        <p:nvSpPr>
          <p:cNvPr id="4" name="s9-footer">
            <a:extLst xmlns:a="http://schemas.openxmlformats.org/drawingml/2006/main">
              <a:ext uri="{FF2B5EF4-FFF2-40B4-BE49-F238E27FC236}">
                <a16:creationId xmlns:a16="http://schemas.microsoft.com/office/drawing/2014/main" id="{00FE1907-ACD9-4E10-9FCD-B027A6148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9-identity">
            <a:extLst xmlns:a="http://schemas.openxmlformats.org/drawingml/2006/main">
              <a:ext uri="{FF2B5EF4-FFF2-40B4-BE49-F238E27FC236}">
                <a16:creationId xmlns:a16="http://schemas.microsoft.com/office/drawing/2014/main" id="{6290D4F2-F3B2-4650-8272-84C89B0E3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OV-002 · OV-002-S09</a:t>
            </a:r>
          </a:p>
        </p:txBody>
      </p:sp>
      <p:sp>
        <p:nvSpPr>
          <p:cNvPr id="6" name="source-0">
            <a:extLst xmlns:a="http://schemas.openxmlformats.org/drawingml/2006/main">
              <a:ext uri="{FF2B5EF4-FFF2-40B4-BE49-F238E27FC236}">
                <a16:creationId xmlns:a16="http://schemas.microsoft.com/office/drawing/2014/main" id="{B32BB86C-84E7-498D-8998-918887CED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43100"/>
            <a:ext cx="103632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4D7"/>
          </a:solidFill>
          <a:ln xmlns:a="http://schemas.openxmlformats.org/drawingml/2006/main" w="9525">
            <a:solidFill>
              <a:srgbClr val="8A5A00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8737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01  团队既有课程资料经重新组织、改写与原创视觉重制</a:t>
            </a:r>
          </a:p>
        </p:txBody>
      </p:sp>
      <p:sp>
        <p:nvSpPr>
          <p:cNvPr id="7" name="source-1">
            <a:extLst xmlns:a="http://schemas.openxmlformats.org/drawingml/2006/main">
              <a:ext uri="{FF2B5EF4-FFF2-40B4-BE49-F238E27FC236}">
                <a16:creationId xmlns:a16="http://schemas.microsoft.com/office/drawing/2014/main" id="{3118CDA8-B379-4F27-A5B7-9649C4262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103632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70162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02  英国议会《AI in the UK》历史章节：用于核对达特茅斯起点、专家系统与两次 AI 寒冬；历史低谷不能简单归因于一次报告或单一事件。（核对日期：2026-07-12）</a:t>
            </a:r>
          </a:p>
        </p:txBody>
      </p:sp>
      <p:sp>
        <p:nvSpPr>
          <p:cNvPr id="8" name="source-2">
            <a:extLst xmlns:a="http://schemas.openxmlformats.org/drawingml/2006/main">
              <a:ext uri="{FF2B5EF4-FFF2-40B4-BE49-F238E27FC236}">
                <a16:creationId xmlns:a16="http://schemas.microsoft.com/office/drawing/2014/main" id="{DF6202F5-B41F-4B47-AE9D-2BBA19CAB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14700"/>
            <a:ext cx="103632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8737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03  AlexNet 原论文：理解数据、GPU 与深层卷积网络共同推动的视觉转折。（核对日期：2026-07-12）</a:t>
            </a:r>
          </a:p>
        </p:txBody>
      </p:sp>
      <p:sp>
        <p:nvSpPr>
          <p:cNvPr id="9" name="source-3">
            <a:extLst xmlns:a="http://schemas.openxmlformats.org/drawingml/2006/main">
              <a:ext uri="{FF2B5EF4-FFF2-40B4-BE49-F238E27FC236}">
                <a16:creationId xmlns:a16="http://schemas.microsoft.com/office/drawing/2014/main" id="{C1FA3975-A5AE-490C-BF75-8CDEE938F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0"/>
            <a:ext cx="103632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82812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04  Attention Is All You Need：Transformer 原论文；证据来自机器翻译任务，不能直接外推为大模型全部能力。（核对日期：2026-07-12）</a:t>
            </a:r>
          </a:p>
        </p:txBody>
      </p:sp>
      <p:sp>
        <p:nvSpPr>
          <p:cNvPr id="10" name="source-4">
            <a:extLst xmlns:a="http://schemas.openxmlformats.org/drawingml/2006/main">
              <a:ext uri="{FF2B5EF4-FFF2-40B4-BE49-F238E27FC236}">
                <a16:creationId xmlns:a16="http://schemas.microsoft.com/office/drawing/2014/main" id="{F12D5C2B-42E3-44D1-9957-D02D0B0C7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86300"/>
            <a:ext cx="103632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8737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05  OpenAI：Introducing ChatGPT：核对 2022 年对话式研究预览的产品起点与指令跟随路线。（核对日期：2026-07-12）</a:t>
            </a:r>
          </a:p>
        </p:txBody>
      </p:sp>
      <p:sp>
        <p:nvSpPr>
          <p:cNvPr id="11" name="s9-takeaway-rule">
            <a:extLst xmlns:a="http://schemas.openxmlformats.org/drawingml/2006/main">
              <a:ext uri="{FF2B5EF4-FFF2-40B4-BE49-F238E27FC236}">
                <a16:creationId xmlns:a16="http://schemas.microsoft.com/office/drawing/2014/main" id="{D89AE182-298A-4E99-8A0E-2CB7E142E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D6A33A"/>
            </a:solidFill>
            <a:prstDash val="solid"/>
          </a:ln>
        </p:spPr>
      </p:sp>
      <p:sp>
        <p:nvSpPr>
          <p:cNvPr id="12" name="s9-takeaway">
            <a:extLst xmlns:a="http://schemas.openxmlformats.org/drawingml/2006/main">
              <a:ext uri="{FF2B5EF4-FFF2-40B4-BE49-F238E27FC236}">
                <a16:creationId xmlns:a16="http://schemas.microsoft.com/office/drawing/2014/main" id="{F71D9F8C-1355-4042-A8BF-88936C3E6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816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课程正文与幻灯片共享同一知识主线，图片和视频用于帮助理解本节概念与案例。</a:t>
            </a:r>
          </a:p>
        </p:txBody>
      </p:sp>
    </p:spTree>
    <p:extLst>
      <p:ext uri="{BB962C8B-B14F-4D97-AF65-F5344CB8AC3E}">
        <p14:creationId xmlns:p14="http://schemas.microsoft.com/office/powerpoint/2010/main" val="17267990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2026-07-12T08:20:00.6420000Z</dcterms:created>
  <dcterms:modified xsi:type="dcterms:W3CDTF">2026-07-12T08:20:00.6420000Z</dcterms:modified>
</coreProperties>
</file>