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85718fe04be14be5" /><Relationship Type="http://schemas.openxmlformats.org/officeDocument/2006/relationships/extended-properties" Target="/docProps/app.xml" Id="Rc4509789187e41bf" /><Relationship Type="http://schemas.openxmlformats.org/officeDocument/2006/relationships/officeDocument" Target="/ppt/presentation.xml" Id="Rdd1ed422c6bb440d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7b118443f1cf4bf6"/>
  </p:sldMasterIdLst>
  <p:notesMasterIdLst>
    <p:notesMasterId xmlns:r="http://schemas.openxmlformats.org/officeDocument/2006/relationships" r:id="R02617e6fdc5e4cec"/>
  </p:notesMasterIdLst>
  <p:sldIdLst>
    <p:sldId xmlns:r="http://schemas.openxmlformats.org/officeDocument/2006/relationships" id="256" r:id="R29faa152bf554e25"/>
    <p:sldId xmlns:r="http://schemas.openxmlformats.org/officeDocument/2006/relationships" id="257" r:id="R9b7d2b7bfe204b15"/>
    <p:sldId xmlns:r="http://schemas.openxmlformats.org/officeDocument/2006/relationships" id="258" r:id="R84440a58a64d4f84"/>
    <p:sldId xmlns:r="http://schemas.openxmlformats.org/officeDocument/2006/relationships" id="259" r:id="R3ad69f0eeaf84073"/>
    <p:sldId xmlns:r="http://schemas.openxmlformats.org/officeDocument/2006/relationships" id="260" r:id="Rb85b0ccdae2747ba"/>
    <p:sldId xmlns:r="http://schemas.openxmlformats.org/officeDocument/2006/relationships" id="261" r:id="R1ff08110ffe6472b"/>
    <p:sldId xmlns:r="http://schemas.openxmlformats.org/officeDocument/2006/relationships" id="262" r:id="R0f1310a479ab4bb4"/>
    <p:sldId xmlns:r="http://schemas.openxmlformats.org/officeDocument/2006/relationships" id="263" r:id="Rea1d52b666394104"/>
    <p:sldId xmlns:r="http://schemas.openxmlformats.org/officeDocument/2006/relationships" id="264" r:id="Rb23d930b56c84cec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130ced228c7f4621" /><Relationship Type="http://schemas.openxmlformats.org/officeDocument/2006/relationships/slideMaster" Target="/ppt/slideMasters/slideMaster1.xml" Id="R7b118443f1cf4bf6" /><Relationship Type="http://schemas.openxmlformats.org/officeDocument/2006/relationships/notesMaster" Target="/ppt/notesMasters/notesMaster1.xml" Id="R02617e6fdc5e4cec" /><Relationship Type="http://schemas.openxmlformats.org/officeDocument/2006/relationships/presProps" Target="/ppt/presProps.xml" Id="R93c4513321df4ef8" /><Relationship Type="http://schemas.openxmlformats.org/officeDocument/2006/relationships/tableStyles" Target="/ppt/tableStyles.xml" Id="R24e2398855494af4" /><Relationship Type="http://schemas.openxmlformats.org/officeDocument/2006/relationships/slide" Target="/ppt/slides/slide1.xml" Id="R29faa152bf554e25" /><Relationship Type="http://schemas.openxmlformats.org/officeDocument/2006/relationships/slide" Target="/ppt/slides/slide2.xml" Id="R9b7d2b7bfe204b15" /><Relationship Type="http://schemas.openxmlformats.org/officeDocument/2006/relationships/slide" Target="/ppt/slides/slide3.xml" Id="R84440a58a64d4f84" /><Relationship Type="http://schemas.openxmlformats.org/officeDocument/2006/relationships/slide" Target="/ppt/slides/slide4.xml" Id="R3ad69f0eeaf84073" /><Relationship Type="http://schemas.openxmlformats.org/officeDocument/2006/relationships/slide" Target="/ppt/slides/slide5.xml" Id="Rb85b0ccdae2747ba" /><Relationship Type="http://schemas.openxmlformats.org/officeDocument/2006/relationships/slide" Target="/ppt/slides/slide6.xml" Id="R1ff08110ffe6472b" /><Relationship Type="http://schemas.openxmlformats.org/officeDocument/2006/relationships/slide" Target="/ppt/slides/slide7.xml" Id="R0f1310a479ab4bb4" /><Relationship Type="http://schemas.openxmlformats.org/officeDocument/2006/relationships/slide" Target="/ppt/slides/slide8.xml" Id="Rea1d52b666394104" /><Relationship Type="http://schemas.openxmlformats.org/officeDocument/2006/relationships/slide" Target="/ppt/slides/slide9.xml" Id="Rb23d930b56c84cec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9956accfc25541b9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ea5bcb8a390041b7" /><Relationship Type="http://schemas.openxmlformats.org/officeDocument/2006/relationships/notesMaster" Target="/ppt/notesMasters/notesMaster1.xml" Id="R79388267005f4871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e09d7565b6d94691" /><Relationship Type="http://schemas.openxmlformats.org/officeDocument/2006/relationships/notesMaster" Target="/ppt/notesMasters/notesMaster1.xml" Id="Rbff628e77ac24f64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fe6118a571354863" /><Relationship Type="http://schemas.openxmlformats.org/officeDocument/2006/relationships/notesMaster" Target="/ppt/notesMasters/notesMaster1.xml" Id="R1b2c816bbc774459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ff625738ec454115" /><Relationship Type="http://schemas.openxmlformats.org/officeDocument/2006/relationships/notesMaster" Target="/ppt/notesMasters/notesMaster1.xml" Id="R217f82456cc34121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924e6aab73d24255" /><Relationship Type="http://schemas.openxmlformats.org/officeDocument/2006/relationships/notesMaster" Target="/ppt/notesMasters/notesMaster1.xml" Id="Rd1260fd0807d4305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c99280d28167456e" /><Relationship Type="http://schemas.openxmlformats.org/officeDocument/2006/relationships/notesMaster" Target="/ppt/notesMasters/notesMaster1.xml" Id="R0def32b1f7794a62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913dc8e0548e4a63" /><Relationship Type="http://schemas.openxmlformats.org/officeDocument/2006/relationships/notesMaster" Target="/ppt/notesMasters/notesMaster1.xml" Id="R159ae6db8c874eb7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d3424adff3564f57" /><Relationship Type="http://schemas.openxmlformats.org/officeDocument/2006/relationships/notesMaster" Target="/ppt/notesMasters/notesMaster1.xml" Id="R5b314c848f354142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eec4531171b04acb" /><Relationship Type="http://schemas.openxmlformats.org/officeDocument/2006/relationships/notesMaster" Target="/ppt/notesMasters/notesMaster1.xml" Id="Rc3731849f798441a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74ea19d99f6434f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ad7ec8bc40044c0f" /><Relationship Type="http://schemas.openxmlformats.org/officeDocument/2006/relationships/slideLayout" Target="/ppt/slideLayouts/slideLayout1.xml" Id="Rc452a9adfe2548aa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c452a9adfe2548aa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19cf4845bc04cf5" /><Relationship Type="http://schemas.openxmlformats.org/officeDocument/2006/relationships/notesSlide" Target="/ppt/notesSlides/notesSlide1.xml" Id="R46da870e4dda475f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2002789fc594a3c" /><Relationship Type="http://schemas.openxmlformats.org/officeDocument/2006/relationships/notesSlide" Target="/ppt/notesSlides/notesSlide2.xml" Id="R533ac5f5a72b48dd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336d5d870764dcc" /><Relationship Type="http://schemas.openxmlformats.org/officeDocument/2006/relationships/notesSlide" Target="/ppt/notesSlides/notesSlide3.xml" Id="R2dba33eb108a4d14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872b72f6fb04357" /><Relationship Type="http://schemas.openxmlformats.org/officeDocument/2006/relationships/notesSlide" Target="/ppt/notesSlides/notesSlide4.xml" Id="Rffd2907acd484361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13624bfa6e7488f" /><Relationship Type="http://schemas.openxmlformats.org/officeDocument/2006/relationships/notesSlide" Target="/ppt/notesSlides/notesSlide5.xml" Id="R564b15ed802a4341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70fb3f7b4704626" /><Relationship Type="http://schemas.openxmlformats.org/officeDocument/2006/relationships/notesSlide" Target="/ppt/notesSlides/notesSlide6.xml" Id="R22c737246a3d4634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34201c694bc4969" /><Relationship Type="http://schemas.openxmlformats.org/officeDocument/2006/relationships/notesSlide" Target="/ppt/notesSlides/notesSlide7.xml" Id="R7816dc7d8a414985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53190b456494137" /><Relationship Type="http://schemas.openxmlformats.org/officeDocument/2006/relationships/notesSlide" Target="/ppt/notesSlides/notesSlide8.xml" Id="R0f67e8a66d604d43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f9082b1859e48ef" /><Relationship Type="http://schemas.openxmlformats.org/officeDocument/2006/relationships/notesSlide" Target="/ppt/notesSlides/notesSlide9.xml" Id="Ra9ca2566c6a94a9a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B1F3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cover-rule">
            <a:extLst xmlns:a="http://schemas.openxmlformats.org/drawingml/2006/main">
              <a:ext uri="{FF2B5EF4-FFF2-40B4-BE49-F238E27FC236}">
                <a16:creationId xmlns:a16="http://schemas.microsoft.com/office/drawing/2014/main" id="{E6F905E1-29D9-4D5A-BD70-E54E304464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114300" cy="466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A33A"/>
          </a:solidFill>
          <a:ln xmlns:a="http://schemas.openxmlformats.org/drawingml/2006/main" w="0">
            <a:solidFill>
              <a:srgbClr val="D6A33A"/>
            </a:solidFill>
            <a:prstDash val="solid"/>
          </a:ln>
        </p:spPr>
      </p:sp>
      <p:sp>
        <p:nvSpPr>
          <p:cNvPr id="2" name="cover-ring-1">
            <a:extLst xmlns:a="http://schemas.openxmlformats.org/drawingml/2006/main">
              <a:ext uri="{FF2B5EF4-FFF2-40B4-BE49-F238E27FC236}">
                <a16:creationId xmlns:a16="http://schemas.microsoft.com/office/drawing/2014/main" id="{A5DD83C6-12FF-44FC-B82E-4222298BF6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1066800"/>
            <a:ext cx="2857500" cy="285750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57150">
            <a:solidFill>
              <a:srgbClr val="1459C7"/>
            </a:solidFill>
            <a:prstDash val="solid"/>
          </a:ln>
        </p:spPr>
      </p:sp>
      <p:sp>
        <p:nvSpPr>
          <p:cNvPr id="3" name="cover-ring-2">
            <a:extLst xmlns:a="http://schemas.openxmlformats.org/drawingml/2006/main">
              <a:ext uri="{FF2B5EF4-FFF2-40B4-BE49-F238E27FC236}">
                <a16:creationId xmlns:a16="http://schemas.microsoft.com/office/drawing/2014/main" id="{665C1A00-A9DC-45B7-95B5-682DB0DB50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1619250"/>
            <a:ext cx="1752600" cy="175260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D6A33A"/>
            </a:solidFill>
            <a:prstDash val="solid"/>
          </a:ln>
        </p:spPr>
      </p:sp>
      <p:sp>
        <p:nvSpPr>
          <p:cNvPr id="4" name="cover-core">
            <a:extLst xmlns:a="http://schemas.openxmlformats.org/drawingml/2006/main">
              <a:ext uri="{FF2B5EF4-FFF2-40B4-BE49-F238E27FC236}">
                <a16:creationId xmlns:a16="http://schemas.microsoft.com/office/drawing/2014/main" id="{7DBF3538-EFD2-4013-B9F6-2E651E7FD1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219075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6A33A"/>
          </a:solidFill>
          <a:ln xmlns:a="http://schemas.openxmlformats.org/drawingml/2006/main" w="0">
            <a:solidFill>
              <a:srgbClr val="D6A33A"/>
            </a:solidFill>
            <a:prstDash val="solid"/>
          </a:ln>
        </p:spPr>
      </p:sp>
      <p:sp>
        <p:nvSpPr>
          <p:cNvPr id="5" name="cover-line-1">
            <a:extLst xmlns:a="http://schemas.openxmlformats.org/drawingml/2006/main">
              <a:ext uri="{FF2B5EF4-FFF2-40B4-BE49-F238E27FC236}">
                <a16:creationId xmlns:a16="http://schemas.microsoft.com/office/drawing/2014/main" id="{1FFFEAB7-F3C1-4D44-8AAB-D2465DF9D4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476750"/>
            <a:ext cx="3371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76200">
            <a:solidFill>
              <a:srgbClr val="1459C7"/>
            </a:solidFill>
            <a:prstDash val="solid"/>
          </a:ln>
        </p:spPr>
      </p:sp>
      <p:sp>
        <p:nvSpPr>
          <p:cNvPr id="6" name="cover-line-2">
            <a:extLst xmlns:a="http://schemas.openxmlformats.org/drawingml/2006/main">
              <a:ext uri="{FF2B5EF4-FFF2-40B4-BE49-F238E27FC236}">
                <a16:creationId xmlns:a16="http://schemas.microsoft.com/office/drawing/2014/main" id="{C7DB8E7C-48DE-4CC9-A29C-8D7A8CCA76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4895850"/>
            <a:ext cx="2667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D6A33A"/>
            </a:solidFill>
            <a:prstDash val="solid"/>
          </a:ln>
        </p:spPr>
      </p:sp>
      <p:sp>
        <p:nvSpPr>
          <p:cNvPr id="7" name="cover-eyebrow">
            <a:extLst xmlns:a="http://schemas.openxmlformats.org/drawingml/2006/main">
              <a:ext uri="{FF2B5EF4-FFF2-40B4-BE49-F238E27FC236}">
                <a16:creationId xmlns:a16="http://schemas.microsoft.com/office/drawing/2014/main" id="{95BC642E-030A-4B36-B189-1CEE459B50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876300"/>
            <a:ext cx="5334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D6A33A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D6A33A"/>
                </a:solidFill>
                <a:latin typeface="PingFang SC"/>
                <a:ea typeface="PingFang SC"/>
                <a:cs typeface="PingFang SC"/>
              </a:rPr>
              <a:t>第 1 章 · 人工智能概述</a:t>
            </a:r>
          </a:p>
        </p:txBody>
      </p:sp>
      <p:sp>
        <p:nvSpPr>
          <p:cNvPr id="8" name="cover-title">
            <a:extLst xmlns:a="http://schemas.openxmlformats.org/drawingml/2006/main">
              <a:ext uri="{FF2B5EF4-FFF2-40B4-BE49-F238E27FC236}">
                <a16:creationId xmlns:a16="http://schemas.microsoft.com/office/drawing/2014/main" id="{FE60E940-7E79-45D7-95CC-9CE02045ED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1504950"/>
            <a:ext cx="6858000" cy="1219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46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465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人工智能发展与社会影响</a:t>
            </a:r>
          </a:p>
        </p:txBody>
      </p:sp>
      <p:sp>
        <p:nvSpPr>
          <p:cNvPr id="9" name="cover-subtitle">
            <a:extLst xmlns:a="http://schemas.openxmlformats.org/drawingml/2006/main">
              <a:ext uri="{FF2B5EF4-FFF2-40B4-BE49-F238E27FC236}">
                <a16:creationId xmlns:a16="http://schemas.microsoft.com/office/drawing/2014/main" id="{50C5B2D1-C135-4D68-981E-27B54CC6C0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914650"/>
            <a:ext cx="647700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175">
                <a:solidFill>
                  <a:srgbClr val="DDEBFA"/>
                </a:solidFill>
                <a:latin typeface="PingFang SC"/>
                <a:ea typeface="PingFang SC"/>
                <a:cs typeface="PingFang SC"/>
              </a:defRPr>
            </a:pPr>
            <a:r>
              <a:rPr sz="2175">
                <a:solidFill>
                  <a:srgbClr val="DDEBFA"/>
                </a:solidFill>
                <a:latin typeface="PingFang SC"/>
                <a:ea typeface="PingFang SC"/>
                <a:cs typeface="PingFang SC"/>
              </a:rPr>
              <a:t>沿关键技术转折理解人工智能的兴衰，并讨论它如何改变工作、组织和社会分工。</a:t>
            </a:r>
          </a:p>
        </p:txBody>
      </p:sp>
      <p:sp>
        <p:nvSpPr>
          <p:cNvPr id="10" name="cover-lead">
            <a:extLst xmlns:a="http://schemas.openxmlformats.org/drawingml/2006/main">
              <a:ext uri="{FF2B5EF4-FFF2-40B4-BE49-F238E27FC236}">
                <a16:creationId xmlns:a16="http://schemas.microsoft.com/office/drawing/2014/main" id="{C72DE464-3C8A-423D-824A-B542CE320D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305300"/>
            <a:ext cx="6477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575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人工智能的发展从来不是一条只由算法推动的直线；规则系统、机器学习、深度学习和大模型依次扩大了机器可处理的任务边界</a:t>
            </a:r>
          </a:p>
        </p:txBody>
      </p:sp>
      <p:sp>
        <p:nvSpPr>
          <p:cNvPr id="11" name="cover-course">
            <a:extLst xmlns:a="http://schemas.openxmlformats.org/drawingml/2006/main">
              <a:ext uri="{FF2B5EF4-FFF2-40B4-BE49-F238E27FC236}">
                <a16:creationId xmlns:a16="http://schemas.microsoft.com/office/drawing/2014/main" id="{5C9B61F9-B0F6-4B90-AB10-DC8F4D7E39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573405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35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陈龙彪团队人工智能公开课</a:t>
            </a:r>
          </a:p>
        </p:txBody>
      </p:sp>
      <p:sp>
        <p:nvSpPr>
          <p:cNvPr id="12" name="cover-id">
            <a:extLst xmlns:a="http://schemas.openxmlformats.org/drawingml/2006/main">
              <a:ext uri="{FF2B5EF4-FFF2-40B4-BE49-F238E27FC236}">
                <a16:creationId xmlns:a16="http://schemas.microsoft.com/office/drawing/2014/main" id="{319481D4-0BAC-4629-9EE0-15E7318B26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5734050"/>
            <a:ext cx="2190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350" b="1">
                <a:solidFill>
                  <a:srgbClr val="D6A33A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D6A33A"/>
                </a:solidFill>
                <a:latin typeface="PingFang SC"/>
                <a:ea typeface="PingFang SC"/>
                <a:cs typeface="PingFang SC"/>
              </a:rPr>
              <a:t>OV-002 · OV-002-S01</a:t>
            </a:r>
          </a:p>
        </p:txBody>
      </p:sp>
    </p:spTree>
    <p:extLst>
      <p:ext uri="{BB962C8B-B14F-4D97-AF65-F5344CB8AC3E}">
        <p14:creationId xmlns:p14="http://schemas.microsoft.com/office/powerpoint/2010/main" val="1040312106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2-rule">
            <a:extLst xmlns:a="http://schemas.openxmlformats.org/drawingml/2006/main">
              <a:ext uri="{FF2B5EF4-FFF2-40B4-BE49-F238E27FC236}">
                <a16:creationId xmlns:a16="http://schemas.microsoft.com/office/drawing/2014/main" id="{74B2AB2B-BE58-422F-83B0-CBC73780EB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A33A"/>
          </a:solidFill>
          <a:ln xmlns:a="http://schemas.openxmlformats.org/drawingml/2006/main" w="0">
            <a:solidFill>
              <a:srgbClr val="D6A33A"/>
            </a:solidFill>
            <a:prstDash val="solid"/>
          </a:ln>
        </p:spPr>
      </p:sp>
      <p:sp>
        <p:nvSpPr>
          <p:cNvPr id="2" name="s2-eyebrow">
            <a:extLst xmlns:a="http://schemas.openxmlformats.org/drawingml/2006/main">
              <a:ext uri="{FF2B5EF4-FFF2-40B4-BE49-F238E27FC236}">
                <a16:creationId xmlns:a16="http://schemas.microsoft.com/office/drawing/2014/main" id="{AB60FA77-2790-4D8A-9075-C90EF85A6E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学习结果</a:t>
            </a:r>
          </a:p>
        </p:txBody>
      </p:sp>
      <p:sp>
        <p:nvSpPr>
          <p:cNvPr id="3" name="s2-title">
            <a:extLst xmlns:a="http://schemas.openxmlformats.org/drawingml/2006/main">
              <a:ext uri="{FF2B5EF4-FFF2-40B4-BE49-F238E27FC236}">
                <a16:creationId xmlns:a16="http://schemas.microsoft.com/office/drawing/2014/main" id="{E9357A26-5D3E-45FB-9E29-32DDA70D98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AI 发展与社会影响：3项学习结果</a:t>
            </a:r>
          </a:p>
        </p:txBody>
      </p:sp>
      <p:sp>
        <p:nvSpPr>
          <p:cNvPr id="4" name="s2-footer">
            <a:extLst xmlns:a="http://schemas.openxmlformats.org/drawingml/2006/main">
              <a:ext uri="{FF2B5EF4-FFF2-40B4-BE49-F238E27FC236}">
                <a16:creationId xmlns:a16="http://schemas.microsoft.com/office/drawing/2014/main" id="{554D309D-5960-4B75-82A0-933A1974C7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2-identity">
            <a:extLst xmlns:a="http://schemas.openxmlformats.org/drawingml/2006/main">
              <a:ext uri="{FF2B5EF4-FFF2-40B4-BE49-F238E27FC236}">
                <a16:creationId xmlns:a16="http://schemas.microsoft.com/office/drawing/2014/main" id="{A9676FEE-95E4-40EC-B4C5-1C0AAEA785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OV-002 · OV-002-S02</a:t>
            </a:r>
          </a:p>
        </p:txBody>
      </p:sp>
      <p:sp>
        <p:nvSpPr>
          <p:cNvPr id="6" name="objective-1">
            <a:extLst xmlns:a="http://schemas.openxmlformats.org/drawingml/2006/main">
              <a:ext uri="{FF2B5EF4-FFF2-40B4-BE49-F238E27FC236}">
                <a16:creationId xmlns:a16="http://schemas.microsoft.com/office/drawing/2014/main" id="{BDB90304-3D8F-4BB7-BA8E-C454E8BFA8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000250"/>
            <a:ext cx="4953000" cy="1466850"/>
          </a:xfrm>
          <a:prstGeom xmlns:a="http://schemas.openxmlformats.org/drawingml/2006/main" prst="roundRect">
            <a:avLst>
              <a:gd name="adj" fmla="val 1168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01</a:t>
            </a:r>
          </a:p>
          <a:p xmlns:a="http://schemas.openxmlformats.org/drawingml/2006/main">
            <a:pPr algn="l">
              <a:def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解释规则系统、机器学习、深度学习和大模型之间的演进关系</a:t>
            </a:r>
          </a:p>
        </p:txBody>
      </p:sp>
      <p:sp>
        <p:nvSpPr>
          <p:cNvPr id="7" name="objective-2">
            <a:extLst xmlns:a="http://schemas.openxmlformats.org/drawingml/2006/main">
              <a:ext uri="{FF2B5EF4-FFF2-40B4-BE49-F238E27FC236}">
                <a16:creationId xmlns:a16="http://schemas.microsoft.com/office/drawing/2014/main" id="{F74825B7-E3EA-4A91-BD9F-EC483DAD89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2000250"/>
            <a:ext cx="4953000" cy="1466850"/>
          </a:xfrm>
          <a:prstGeom xmlns:a="http://schemas.openxmlformats.org/drawingml/2006/main" prst="roundRect">
            <a:avLst>
              <a:gd name="adj" fmla="val 1168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02</a:t>
            </a:r>
          </a:p>
          <a:p xmlns:a="http://schemas.openxmlformats.org/drawingml/2006/main">
            <a:pPr algn="l">
              <a:def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把“职业被改变”拆成可以评估的具体任务变化</a:t>
            </a:r>
          </a:p>
        </p:txBody>
      </p:sp>
      <p:sp>
        <p:nvSpPr>
          <p:cNvPr id="8" name="objective-3">
            <a:extLst xmlns:a="http://schemas.openxmlformats.org/drawingml/2006/main">
              <a:ext uri="{FF2B5EF4-FFF2-40B4-BE49-F238E27FC236}">
                <a16:creationId xmlns:a16="http://schemas.microsoft.com/office/drawing/2014/main" id="{D5B3E96F-AAD5-40E5-9B0F-D461393497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695700"/>
            <a:ext cx="4953000" cy="1466850"/>
          </a:xfrm>
          <a:prstGeom xmlns:a="http://schemas.openxmlformats.org/drawingml/2006/main" prst="roundRect">
            <a:avLst>
              <a:gd name="adj" fmla="val 11688"/>
            </a:avLst>
          </a:prstGeom>
          <a:solidFill xmlns:a="http://schemas.openxmlformats.org/drawingml/2006/main">
            <a:srgbClr val="FFF4D7"/>
          </a:solidFill>
          <a:ln xmlns:a="http://schemas.openxmlformats.org/drawingml/2006/main" w="19050">
            <a:solidFill>
              <a:srgbClr val="8A5A00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03</a:t>
            </a:r>
          </a:p>
          <a:p xmlns:a="http://schemas.openxmlformats.org/drawingml/2006/main">
            <a:pPr algn="l">
              <a:def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从人才、数据、算法算力、反馈和场景五个维度评估 AI 项目的落地条件</a:t>
            </a:r>
          </a:p>
        </p:txBody>
      </p:sp>
    </p:spTree>
    <p:extLst>
      <p:ext uri="{BB962C8B-B14F-4D97-AF65-F5344CB8AC3E}">
        <p14:creationId xmlns:p14="http://schemas.microsoft.com/office/powerpoint/2010/main" val="233777403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3-rule">
            <a:extLst xmlns:a="http://schemas.openxmlformats.org/drawingml/2006/main">
              <a:ext uri="{FF2B5EF4-FFF2-40B4-BE49-F238E27FC236}">
                <a16:creationId xmlns:a16="http://schemas.microsoft.com/office/drawing/2014/main" id="{20142B73-7498-49CC-BFEE-ED131E8FF4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A33A"/>
          </a:solidFill>
          <a:ln xmlns:a="http://schemas.openxmlformats.org/drawingml/2006/main" w="0">
            <a:solidFill>
              <a:srgbClr val="D6A33A"/>
            </a:solidFill>
            <a:prstDash val="solid"/>
          </a:ln>
        </p:spPr>
      </p:sp>
      <p:sp>
        <p:nvSpPr>
          <p:cNvPr id="2" name="s3-eyebrow">
            <a:extLst xmlns:a="http://schemas.openxmlformats.org/drawingml/2006/main">
              <a:ext uri="{FF2B5EF4-FFF2-40B4-BE49-F238E27FC236}">
                <a16:creationId xmlns:a16="http://schemas.microsoft.com/office/drawing/2014/main" id="{E2CD09C0-65FB-44E8-9901-D96EE0ADDB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核心论点 1 / 3</a:t>
            </a:r>
          </a:p>
        </p:txBody>
      </p:sp>
      <p:sp>
        <p:nvSpPr>
          <p:cNvPr id="3" name="s3-title">
            <a:extLst xmlns:a="http://schemas.openxmlformats.org/drawingml/2006/main">
              <a:ext uri="{FF2B5EF4-FFF2-40B4-BE49-F238E27FC236}">
                <a16:creationId xmlns:a16="http://schemas.microsoft.com/office/drawing/2014/main" id="{0E9729CD-3AEE-4FE7-9849-D30422C481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AI 热潮与低谷由能力、资源和预期共同塑造</a:t>
            </a:r>
          </a:p>
        </p:txBody>
      </p:sp>
      <p:sp>
        <p:nvSpPr>
          <p:cNvPr id="4" name="s3-footer">
            <a:extLst xmlns:a="http://schemas.openxmlformats.org/drawingml/2006/main">
              <a:ext uri="{FF2B5EF4-FFF2-40B4-BE49-F238E27FC236}">
                <a16:creationId xmlns:a16="http://schemas.microsoft.com/office/drawing/2014/main" id="{509A2D63-2EFB-42D0-A6C1-5347091CF4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3-identity">
            <a:extLst xmlns:a="http://schemas.openxmlformats.org/drawingml/2006/main">
              <a:ext uri="{FF2B5EF4-FFF2-40B4-BE49-F238E27FC236}">
                <a16:creationId xmlns:a16="http://schemas.microsoft.com/office/drawing/2014/main" id="{8726B9CD-8198-4556-8328-CC82E14B96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OV-002 · OV-002-S03</a:t>
            </a:r>
          </a:p>
        </p:txBody>
      </p:sp>
      <p:sp>
        <p:nvSpPr>
          <p:cNvPr id="6" name="core-no-0">
            <a:extLst xmlns:a="http://schemas.openxmlformats.org/drawingml/2006/main">
              <a:ext uri="{FF2B5EF4-FFF2-40B4-BE49-F238E27FC236}">
                <a16:creationId xmlns:a16="http://schemas.microsoft.com/office/drawing/2014/main" id="{596A70AC-D15B-4991-973C-5979F863C7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8A5A00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8A5A00"/>
                </a:solidFill>
                <a:latin typeface="PingFang SC"/>
                <a:ea typeface="PingFang SC"/>
                <a:cs typeface="PingFang SC"/>
              </a:rPr>
              <a:t>01</a:t>
            </a:r>
          </a:p>
        </p:txBody>
      </p:sp>
      <p:sp>
        <p:nvSpPr>
          <p:cNvPr id="7" name="core-label-0">
            <a:extLst xmlns:a="http://schemas.openxmlformats.org/drawingml/2006/main">
              <a:ext uri="{FF2B5EF4-FFF2-40B4-BE49-F238E27FC236}">
                <a16:creationId xmlns:a16="http://schemas.microsoft.com/office/drawing/2014/main" id="{C1EDEE1B-E61A-478C-912A-8B9DB5C9AD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90800"/>
            <a:ext cx="32639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210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六次转折：能力、资源与预期共同塑造 AI</a:t>
            </a:r>
          </a:p>
        </p:txBody>
      </p:sp>
      <p:sp>
        <p:nvSpPr>
          <p:cNvPr id="8" name="core-body-0">
            <a:extLst xmlns:a="http://schemas.openxmlformats.org/drawingml/2006/main">
              <a:ext uri="{FF2B5EF4-FFF2-40B4-BE49-F238E27FC236}">
                <a16:creationId xmlns:a16="http://schemas.microsoft.com/office/drawing/2014/main" id="{3B0FF98B-EDCE-49AA-89FF-26D13E7A2F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90900"/>
            <a:ext cx="3263900" cy="17145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FFF4D7"/>
          </a:solidFill>
          <a:ln xmlns:a="http://schemas.openxmlformats.org/drawingml/2006/main" w="19050">
            <a:solidFill>
              <a:srgbClr val="8A5A00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85261"/>
          </a:bodyPr>
          <a:lstStyle xmlns:a="http://schemas.openxmlformats.org/drawingml/2006/main"/>
          <a:p xmlns:a="http://schemas.openxmlformats.org/drawingml/2006/main">
            <a:pPr algn="l">
              <a:def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1955/56—1980 年代；学科形成、专家系统与两次寒冬；达特茅斯提案让“人工智能”成为明确研究议题；早期高预期随后遭遇组合爆炸、数据和算力限制；专家系统在 1980 年代进入商业应用</a:t>
            </a:r>
          </a:p>
        </p:txBody>
      </p:sp>
      <p:sp>
        <p:nvSpPr>
          <p:cNvPr id="9" name="core-no-1">
            <a:extLst xmlns:a="http://schemas.openxmlformats.org/drawingml/2006/main">
              <a:ext uri="{FF2B5EF4-FFF2-40B4-BE49-F238E27FC236}">
                <a16:creationId xmlns:a16="http://schemas.microsoft.com/office/drawing/2014/main" id="{83C57F52-C997-4BE2-B9A7-EE6DE069B8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6405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8A5A00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8A5A00"/>
                </a:solidFill>
                <a:latin typeface="PingFang SC"/>
                <a:ea typeface="PingFang SC"/>
                <a:cs typeface="PingFang SC"/>
              </a:rPr>
              <a:t>02</a:t>
            </a:r>
          </a:p>
        </p:txBody>
      </p:sp>
      <p:sp>
        <p:nvSpPr>
          <p:cNvPr id="10" name="core-body-1">
            <a:extLst xmlns:a="http://schemas.openxmlformats.org/drawingml/2006/main">
              <a:ext uri="{FF2B5EF4-FFF2-40B4-BE49-F238E27FC236}">
                <a16:creationId xmlns:a16="http://schemas.microsoft.com/office/drawing/2014/main" id="{5BBA33CA-335D-46DA-8F20-CF5BE65A79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64050" y="2590800"/>
            <a:ext cx="3263900" cy="2514600"/>
          </a:xfrm>
          <a:prstGeom xmlns:a="http://schemas.openxmlformats.org/drawingml/2006/main" prst="roundRect">
            <a:avLst>
              <a:gd name="adj" fmla="val 681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1990 年代—2012；统计学习、数据与 GPU 共同积累；机器学习逐步从手写规则转向数据驱动；2012 年 AlexNet 的视觉结果成为标志性转折</a:t>
            </a:r>
          </a:p>
        </p:txBody>
      </p:sp>
      <p:sp>
        <p:nvSpPr>
          <p:cNvPr id="11" name="core-no-2">
            <a:extLst xmlns:a="http://schemas.openxmlformats.org/drawingml/2006/main">
              <a:ext uri="{FF2B5EF4-FFF2-40B4-BE49-F238E27FC236}">
                <a16:creationId xmlns:a16="http://schemas.microsoft.com/office/drawing/2014/main" id="{FCD69A8F-59C2-4558-BEF8-ED69FBB611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370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8A5A00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8A5A00"/>
                </a:solidFill>
                <a:latin typeface="PingFang SC"/>
                <a:ea typeface="PingFang SC"/>
                <a:cs typeface="PingFang SC"/>
              </a:rPr>
              <a:t>03</a:t>
            </a:r>
          </a:p>
        </p:txBody>
      </p:sp>
      <p:sp>
        <p:nvSpPr>
          <p:cNvPr id="12" name="core-body-2">
            <a:extLst xmlns:a="http://schemas.openxmlformats.org/drawingml/2006/main">
              <a:ext uri="{FF2B5EF4-FFF2-40B4-BE49-F238E27FC236}">
                <a16:creationId xmlns:a16="http://schemas.microsoft.com/office/drawing/2014/main" id="{523B5BE9-75FA-443A-A62E-8890341E5A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3700" y="2590800"/>
            <a:ext cx="3263900" cy="2514600"/>
          </a:xfrm>
          <a:prstGeom xmlns:a="http://schemas.openxmlformats.org/drawingml/2006/main" prst="roundRect">
            <a:avLst>
              <a:gd name="adj" fmla="val 681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2017—2022；Transformer 与对话式生成 AI；Transformer 改变了序列建模和并行训练方式；2022 年 ChatGPT 把指令跟随与多轮对话带入大众产品入口</a:t>
            </a:r>
          </a:p>
        </p:txBody>
      </p:sp>
      <p:sp>
        <p:nvSpPr>
          <p:cNvPr id="13" name="s3-takeaway-rule">
            <a:extLst xmlns:a="http://schemas.openxmlformats.org/drawingml/2006/main">
              <a:ext uri="{FF2B5EF4-FFF2-40B4-BE49-F238E27FC236}">
                <a16:creationId xmlns:a16="http://schemas.microsoft.com/office/drawing/2014/main" id="{245019FB-75EA-45FE-B452-834EA049E4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483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A33A"/>
          </a:solidFill>
          <a:ln xmlns:a="http://schemas.openxmlformats.org/drawingml/2006/main" w="0">
            <a:solidFill>
              <a:srgbClr val="D6A33A"/>
            </a:solidFill>
            <a:prstDash val="solid"/>
          </a:ln>
        </p:spPr>
      </p:sp>
      <p:sp>
        <p:nvSpPr>
          <p:cNvPr id="14" name="s3-takeaway">
            <a:extLst xmlns:a="http://schemas.openxmlformats.org/drawingml/2006/main">
              <a:ext uri="{FF2B5EF4-FFF2-40B4-BE49-F238E27FC236}">
                <a16:creationId xmlns:a16="http://schemas.microsoft.com/office/drawing/2014/main" id="{6648471D-89C2-4CF3-B667-47F0FF26DD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673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AI 热潮与低谷由能力、资源和预期共同塑造</a:t>
            </a:r>
          </a:p>
        </p:txBody>
      </p:sp>
    </p:spTree>
    <p:extLst>
      <p:ext uri="{BB962C8B-B14F-4D97-AF65-F5344CB8AC3E}">
        <p14:creationId xmlns:p14="http://schemas.microsoft.com/office/powerpoint/2010/main" val="1416377894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4-rule">
            <a:extLst xmlns:a="http://schemas.openxmlformats.org/drawingml/2006/main">
              <a:ext uri="{FF2B5EF4-FFF2-40B4-BE49-F238E27FC236}">
                <a16:creationId xmlns:a16="http://schemas.microsoft.com/office/drawing/2014/main" id="{1C832250-A849-4018-9B18-178DF28F6C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A33A"/>
          </a:solidFill>
          <a:ln xmlns:a="http://schemas.openxmlformats.org/drawingml/2006/main" w="0">
            <a:solidFill>
              <a:srgbClr val="D6A33A"/>
            </a:solidFill>
            <a:prstDash val="solid"/>
          </a:ln>
        </p:spPr>
      </p:sp>
      <p:sp>
        <p:nvSpPr>
          <p:cNvPr id="2" name="s4-eyebrow">
            <a:extLst xmlns:a="http://schemas.openxmlformats.org/drawingml/2006/main">
              <a:ext uri="{FF2B5EF4-FFF2-40B4-BE49-F238E27FC236}">
                <a16:creationId xmlns:a16="http://schemas.microsoft.com/office/drawing/2014/main" id="{783A5615-C631-4BEF-9F31-1DD8F3E6B2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核心论点 2 / 3</a:t>
            </a:r>
          </a:p>
        </p:txBody>
      </p:sp>
      <p:sp>
        <p:nvSpPr>
          <p:cNvPr id="3" name="s4-title">
            <a:extLst xmlns:a="http://schemas.openxmlformats.org/drawingml/2006/main">
              <a:ext uri="{FF2B5EF4-FFF2-40B4-BE49-F238E27FC236}">
                <a16:creationId xmlns:a16="http://schemas.microsoft.com/office/drawing/2014/main" id="{0A68C491-47E9-4ACE-AAA7-CCC457F22E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大模型的目标往往不止于模仿人类</a:t>
            </a:r>
          </a:p>
        </p:txBody>
      </p:sp>
      <p:sp>
        <p:nvSpPr>
          <p:cNvPr id="4" name="s4-footer">
            <a:extLst xmlns:a="http://schemas.openxmlformats.org/drawingml/2006/main">
              <a:ext uri="{FF2B5EF4-FFF2-40B4-BE49-F238E27FC236}">
                <a16:creationId xmlns:a16="http://schemas.microsoft.com/office/drawing/2014/main" id="{C9C32DEF-A040-48FE-8AFE-76826A31F5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4-identity">
            <a:extLst xmlns:a="http://schemas.openxmlformats.org/drawingml/2006/main">
              <a:ext uri="{FF2B5EF4-FFF2-40B4-BE49-F238E27FC236}">
                <a16:creationId xmlns:a16="http://schemas.microsoft.com/office/drawing/2014/main" id="{47A7D16C-151A-4007-933E-1CABF36271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OV-002 · OV-002-S04</a:t>
            </a:r>
          </a:p>
        </p:txBody>
      </p:sp>
      <p:sp>
        <p:nvSpPr>
          <p:cNvPr id="6" name="core-no-0">
            <a:extLst xmlns:a="http://schemas.openxmlformats.org/drawingml/2006/main">
              <a:ext uri="{FF2B5EF4-FFF2-40B4-BE49-F238E27FC236}">
                <a16:creationId xmlns:a16="http://schemas.microsoft.com/office/drawing/2014/main" id="{AAD9593B-D756-4B5C-9A26-1D3CDC0BEE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8A5A00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8A5A00"/>
                </a:solidFill>
                <a:latin typeface="PingFang SC"/>
                <a:ea typeface="PingFang SC"/>
                <a:cs typeface="PingFang SC"/>
              </a:rPr>
              <a:t>01</a:t>
            </a:r>
          </a:p>
        </p:txBody>
      </p:sp>
      <p:sp>
        <p:nvSpPr>
          <p:cNvPr id="7" name="core-label-0">
            <a:extLst xmlns:a="http://schemas.openxmlformats.org/drawingml/2006/main">
              <a:ext uri="{FF2B5EF4-FFF2-40B4-BE49-F238E27FC236}">
                <a16:creationId xmlns:a16="http://schemas.microsoft.com/office/drawing/2014/main" id="{12E33474-2D7C-4DE4-8A35-9629082AD8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90800"/>
            <a:ext cx="50387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210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哪些工作会被改变</a:t>
            </a:r>
          </a:p>
        </p:txBody>
      </p:sp>
      <p:sp>
        <p:nvSpPr>
          <p:cNvPr id="8" name="core-body-0">
            <a:extLst xmlns:a="http://schemas.openxmlformats.org/drawingml/2006/main">
              <a:ext uri="{FF2B5EF4-FFF2-40B4-BE49-F238E27FC236}">
                <a16:creationId xmlns:a16="http://schemas.microsoft.com/office/drawing/2014/main" id="{9C8C9E6F-1418-4AEC-8A22-B905B64B57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90900"/>
            <a:ext cx="5038725" cy="17145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FFF4D7"/>
          </a:solidFill>
          <a:ln xmlns:a="http://schemas.openxmlformats.org/drawingml/2006/main" w="19050">
            <a:solidFill>
              <a:srgbClr val="8A5A00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98233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大模型的目标往往不止于模仿人类；在一些定义清楚、数据充分的基准任务中；模型能达到很高的分数；但分数取决于数据集、提示、工具和评价方法；不能直接外推成“全面超过人类”</a:t>
            </a:r>
          </a:p>
        </p:txBody>
      </p:sp>
      <p:sp>
        <p:nvSpPr>
          <p:cNvPr id="9" name="core-no-1">
            <a:extLst xmlns:a="http://schemas.openxmlformats.org/drawingml/2006/main">
              <a:ext uri="{FF2B5EF4-FFF2-40B4-BE49-F238E27FC236}">
                <a16:creationId xmlns:a16="http://schemas.microsoft.com/office/drawing/2014/main" id="{7663CDD2-9A66-42C4-AE80-37A12B2D6D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8A5A00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8A5A00"/>
                </a:solidFill>
                <a:latin typeface="PingFang SC"/>
                <a:ea typeface="PingFang SC"/>
                <a:cs typeface="PingFang SC"/>
              </a:rPr>
              <a:t>02</a:t>
            </a:r>
          </a:p>
        </p:txBody>
      </p:sp>
      <p:sp>
        <p:nvSpPr>
          <p:cNvPr id="10" name="core-body-1">
            <a:extLst xmlns:a="http://schemas.openxmlformats.org/drawingml/2006/main">
              <a:ext uri="{FF2B5EF4-FFF2-40B4-BE49-F238E27FC236}">
                <a16:creationId xmlns:a16="http://schemas.microsoft.com/office/drawing/2014/main" id="{F7C9A873-11F6-4F9D-9099-7E6A9C01CE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590800"/>
            <a:ext cx="5038725" cy="2514600"/>
          </a:xfrm>
          <a:prstGeom xmlns:a="http://schemas.openxmlformats.org/drawingml/2006/main" prst="roundRect">
            <a:avLst>
              <a:gd name="adj" fmla="val 681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需要说明的是，被改变不等于整份职业被取代；更常见的变化，是职业内部的检索、起草、分类、分析和重复沟通被重新分工；人仍要负责目标、判断、责任与例外处理；与其只问“岗位会不会消失”</a:t>
            </a:r>
          </a:p>
        </p:txBody>
      </p:sp>
      <p:sp>
        <p:nvSpPr>
          <p:cNvPr id="11" name="s4-takeaway-rule">
            <a:extLst xmlns:a="http://schemas.openxmlformats.org/drawingml/2006/main">
              <a:ext uri="{FF2B5EF4-FFF2-40B4-BE49-F238E27FC236}">
                <a16:creationId xmlns:a16="http://schemas.microsoft.com/office/drawing/2014/main" id="{1FC86A2A-9C3E-4B0E-9C8E-1E9ACF7077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483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A33A"/>
          </a:solidFill>
          <a:ln xmlns:a="http://schemas.openxmlformats.org/drawingml/2006/main" w="0">
            <a:solidFill>
              <a:srgbClr val="D6A33A"/>
            </a:solidFill>
            <a:prstDash val="solid"/>
          </a:ln>
        </p:spPr>
      </p:sp>
      <p:sp>
        <p:nvSpPr>
          <p:cNvPr id="12" name="s4-takeaway">
            <a:extLst xmlns:a="http://schemas.openxmlformats.org/drawingml/2006/main">
              <a:ext uri="{FF2B5EF4-FFF2-40B4-BE49-F238E27FC236}">
                <a16:creationId xmlns:a16="http://schemas.microsoft.com/office/drawing/2014/main" id="{BDF61CCD-E89A-49E0-882B-F68BBBED1F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673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大模型的目标往往不止于模仿人类</a:t>
            </a:r>
          </a:p>
        </p:txBody>
      </p:sp>
    </p:spTree>
    <p:extLst>
      <p:ext uri="{BB962C8B-B14F-4D97-AF65-F5344CB8AC3E}">
        <p14:creationId xmlns:p14="http://schemas.microsoft.com/office/powerpoint/2010/main" val="204677636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5-rule">
            <a:extLst xmlns:a="http://schemas.openxmlformats.org/drawingml/2006/main">
              <a:ext uri="{FF2B5EF4-FFF2-40B4-BE49-F238E27FC236}">
                <a16:creationId xmlns:a16="http://schemas.microsoft.com/office/drawing/2014/main" id="{7A1F473C-7E83-4B81-9862-9FBFC41064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A33A"/>
          </a:solidFill>
          <a:ln xmlns:a="http://schemas.openxmlformats.org/drawingml/2006/main" w="0">
            <a:solidFill>
              <a:srgbClr val="D6A33A"/>
            </a:solidFill>
            <a:prstDash val="solid"/>
          </a:ln>
        </p:spPr>
      </p:sp>
      <p:sp>
        <p:nvSpPr>
          <p:cNvPr id="2" name="s5-eyebrow">
            <a:extLst xmlns:a="http://schemas.openxmlformats.org/drawingml/2006/main">
              <a:ext uri="{FF2B5EF4-FFF2-40B4-BE49-F238E27FC236}">
                <a16:creationId xmlns:a16="http://schemas.microsoft.com/office/drawing/2014/main" id="{125E302D-8A98-45A8-998E-70D491144E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核心论点 3 / 3</a:t>
            </a:r>
          </a:p>
        </p:txBody>
      </p:sp>
      <p:sp>
        <p:nvSpPr>
          <p:cNvPr id="3" name="s5-title">
            <a:extLst xmlns:a="http://schemas.openxmlformats.org/drawingml/2006/main">
              <a:ext uri="{FF2B5EF4-FFF2-40B4-BE49-F238E27FC236}">
                <a16:creationId xmlns:a16="http://schemas.microsoft.com/office/drawing/2014/main" id="{52F69D5E-95B4-4108-A5B1-65534C537D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不是所有场景都适合上 AI</a:t>
            </a:r>
          </a:p>
        </p:txBody>
      </p:sp>
      <p:sp>
        <p:nvSpPr>
          <p:cNvPr id="4" name="s5-footer">
            <a:extLst xmlns:a="http://schemas.openxmlformats.org/drawingml/2006/main">
              <a:ext uri="{FF2B5EF4-FFF2-40B4-BE49-F238E27FC236}">
                <a16:creationId xmlns:a16="http://schemas.microsoft.com/office/drawing/2014/main" id="{79442323-2B42-448B-80A2-97B457097E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5-identity">
            <a:extLst xmlns:a="http://schemas.openxmlformats.org/drawingml/2006/main">
              <a:ext uri="{FF2B5EF4-FFF2-40B4-BE49-F238E27FC236}">
                <a16:creationId xmlns:a16="http://schemas.microsoft.com/office/drawing/2014/main" id="{D7C20667-CB86-4955-97A5-C8EE38D0EC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OV-002 · OV-002-S05</a:t>
            </a:r>
          </a:p>
        </p:txBody>
      </p:sp>
      <p:sp>
        <p:nvSpPr>
          <p:cNvPr id="6" name="core-no-0">
            <a:extLst xmlns:a="http://schemas.openxmlformats.org/drawingml/2006/main">
              <a:ext uri="{FF2B5EF4-FFF2-40B4-BE49-F238E27FC236}">
                <a16:creationId xmlns:a16="http://schemas.microsoft.com/office/drawing/2014/main" id="{93901C80-286B-4F51-9960-8BD6C0B9FC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8A5A00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8A5A00"/>
                </a:solidFill>
                <a:latin typeface="PingFang SC"/>
                <a:ea typeface="PingFang SC"/>
                <a:cs typeface="PingFang SC"/>
              </a:rPr>
              <a:t>01</a:t>
            </a:r>
          </a:p>
        </p:txBody>
      </p:sp>
      <p:sp>
        <p:nvSpPr>
          <p:cNvPr id="7" name="core-label-0">
            <a:extLst xmlns:a="http://schemas.openxmlformats.org/drawingml/2006/main">
              <a:ext uri="{FF2B5EF4-FFF2-40B4-BE49-F238E27FC236}">
                <a16:creationId xmlns:a16="http://schemas.microsoft.com/office/drawing/2014/main" id="{1A42E5AB-5D48-46D9-8B38-896ED70DBE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90800"/>
            <a:ext cx="32639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210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AI 落地需要什么条件</a:t>
            </a:r>
          </a:p>
        </p:txBody>
      </p:sp>
      <p:sp>
        <p:nvSpPr>
          <p:cNvPr id="8" name="core-body-0">
            <a:extLst xmlns:a="http://schemas.openxmlformats.org/drawingml/2006/main">
              <a:ext uri="{FF2B5EF4-FFF2-40B4-BE49-F238E27FC236}">
                <a16:creationId xmlns:a16="http://schemas.microsoft.com/office/drawing/2014/main" id="{8C6B17AC-EFBD-4CC6-B51D-4D53739C24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90900"/>
            <a:ext cx="3263900" cy="17145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FFF4D7"/>
          </a:solidFill>
          <a:ln xmlns:a="http://schemas.openxmlformats.org/drawingml/2006/main" w="19050">
            <a:solidFill>
              <a:srgbClr val="8A5A00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不是所有场景都适合上 AI。判断一个项目是否具备落地条件，可以从五个维度诊断当前基础与缺口</a:t>
            </a:r>
          </a:p>
        </p:txBody>
      </p:sp>
      <p:sp>
        <p:nvSpPr>
          <p:cNvPr id="9" name="core-no-1">
            <a:extLst xmlns:a="http://schemas.openxmlformats.org/drawingml/2006/main">
              <a:ext uri="{FF2B5EF4-FFF2-40B4-BE49-F238E27FC236}">
                <a16:creationId xmlns:a16="http://schemas.microsoft.com/office/drawing/2014/main" id="{6C93CFFE-A76A-4BE8-882B-A2A1A996EB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6405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8A5A00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8A5A00"/>
                </a:solidFill>
                <a:latin typeface="PingFang SC"/>
                <a:ea typeface="PingFang SC"/>
                <a:cs typeface="PingFang SC"/>
              </a:rPr>
              <a:t>02</a:t>
            </a:r>
          </a:p>
        </p:txBody>
      </p:sp>
      <p:sp>
        <p:nvSpPr>
          <p:cNvPr id="10" name="core-body-1">
            <a:extLst xmlns:a="http://schemas.openxmlformats.org/drawingml/2006/main">
              <a:ext uri="{FF2B5EF4-FFF2-40B4-BE49-F238E27FC236}">
                <a16:creationId xmlns:a16="http://schemas.microsoft.com/office/drawing/2014/main" id="{459B33EB-8CA3-43DC-9EC0-E22F2CEBB6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64050" y="2590800"/>
            <a:ext cx="3263900" cy="2514600"/>
          </a:xfrm>
          <a:prstGeom xmlns:a="http://schemas.openxmlformats.org/drawingml/2006/main" prst="roundRect">
            <a:avLst>
              <a:gd name="adj" fmla="val 681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团队能力 ：既理解业务目标，也有人负责数据、技术、风险和最终验收；多数应用并不要求自己训练基础模型或拥有顶尖科学家</a:t>
            </a:r>
          </a:p>
        </p:txBody>
      </p:sp>
      <p:sp>
        <p:nvSpPr>
          <p:cNvPr id="11" name="core-no-2">
            <a:extLst xmlns:a="http://schemas.openxmlformats.org/drawingml/2006/main">
              <a:ext uri="{FF2B5EF4-FFF2-40B4-BE49-F238E27FC236}">
                <a16:creationId xmlns:a16="http://schemas.microsoft.com/office/drawing/2014/main" id="{F317C191-F000-44FB-9100-A9EA1DADFD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370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8A5A00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8A5A00"/>
                </a:solidFill>
                <a:latin typeface="PingFang SC"/>
                <a:ea typeface="PingFang SC"/>
                <a:cs typeface="PingFang SC"/>
              </a:rPr>
              <a:t>03</a:t>
            </a:r>
          </a:p>
        </p:txBody>
      </p:sp>
      <p:sp>
        <p:nvSpPr>
          <p:cNvPr id="12" name="core-body-2">
            <a:extLst xmlns:a="http://schemas.openxmlformats.org/drawingml/2006/main">
              <a:ext uri="{FF2B5EF4-FFF2-40B4-BE49-F238E27FC236}">
                <a16:creationId xmlns:a16="http://schemas.microsoft.com/office/drawing/2014/main" id="{0B06D20D-607F-4B75-B7B4-3C8263EC61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3700" y="2590800"/>
            <a:ext cx="3263900" cy="2514600"/>
          </a:xfrm>
          <a:prstGeom xmlns:a="http://schemas.openxmlformats.org/drawingml/2006/main" prst="roundRect">
            <a:avLst>
              <a:gd name="adj" fmla="val 681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适用数据 ：数据规模与质量要满足具体任务，并且来源、权限、版本和代表性可说明；“越多越好”不是通用规律</a:t>
            </a:r>
          </a:p>
        </p:txBody>
      </p:sp>
      <p:sp>
        <p:nvSpPr>
          <p:cNvPr id="13" name="s5-takeaway-rule">
            <a:extLst xmlns:a="http://schemas.openxmlformats.org/drawingml/2006/main">
              <a:ext uri="{FF2B5EF4-FFF2-40B4-BE49-F238E27FC236}">
                <a16:creationId xmlns:a16="http://schemas.microsoft.com/office/drawing/2014/main" id="{56EAE58D-9197-4F21-9202-F4DDE8A1BF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483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A33A"/>
          </a:solidFill>
          <a:ln xmlns:a="http://schemas.openxmlformats.org/drawingml/2006/main" w="0">
            <a:solidFill>
              <a:srgbClr val="D6A33A"/>
            </a:solidFill>
            <a:prstDash val="solid"/>
          </a:ln>
        </p:spPr>
      </p:sp>
      <p:sp>
        <p:nvSpPr>
          <p:cNvPr id="14" name="s5-takeaway">
            <a:extLst xmlns:a="http://schemas.openxmlformats.org/drawingml/2006/main">
              <a:ext uri="{FF2B5EF4-FFF2-40B4-BE49-F238E27FC236}">
                <a16:creationId xmlns:a16="http://schemas.microsoft.com/office/drawing/2014/main" id="{4C1938EF-1734-4C58-A60F-7D6F82C887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673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不是所有场景都适合上 AI</a:t>
            </a:r>
          </a:p>
        </p:txBody>
      </p:sp>
    </p:spTree>
    <p:extLst>
      <p:ext uri="{BB962C8B-B14F-4D97-AF65-F5344CB8AC3E}">
        <p14:creationId xmlns:p14="http://schemas.microsoft.com/office/powerpoint/2010/main" val="1074362376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6-rule">
            <a:extLst xmlns:a="http://schemas.openxmlformats.org/drawingml/2006/main">
              <a:ext uri="{FF2B5EF4-FFF2-40B4-BE49-F238E27FC236}">
                <a16:creationId xmlns:a16="http://schemas.microsoft.com/office/drawing/2014/main" id="{114D3FED-AED0-4103-B60C-2C00B23E76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A33A"/>
          </a:solidFill>
          <a:ln xmlns:a="http://schemas.openxmlformats.org/drawingml/2006/main" w="0">
            <a:solidFill>
              <a:srgbClr val="D6A33A"/>
            </a:solidFill>
            <a:prstDash val="solid"/>
          </a:ln>
        </p:spPr>
      </p:sp>
      <p:sp>
        <p:nvSpPr>
          <p:cNvPr id="2" name="s6-eyebrow">
            <a:extLst xmlns:a="http://schemas.openxmlformats.org/drawingml/2006/main">
              <a:ext uri="{FF2B5EF4-FFF2-40B4-BE49-F238E27FC236}">
                <a16:creationId xmlns:a16="http://schemas.microsoft.com/office/drawing/2014/main" id="{86362689-DC45-4CB7-AD0D-A9FF0D76C5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案例与边界 1 / 1</a:t>
            </a:r>
          </a:p>
        </p:txBody>
      </p:sp>
      <p:sp>
        <p:nvSpPr>
          <p:cNvPr id="3" name="s6-title">
            <a:extLst xmlns:a="http://schemas.openxmlformats.org/drawingml/2006/main">
              <a:ext uri="{FF2B5EF4-FFF2-40B4-BE49-F238E27FC236}">
                <a16:creationId xmlns:a16="http://schemas.microsoft.com/office/drawing/2014/main" id="{4A957274-4AB1-4D0A-A9C7-F9A39E64DE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乌鸦提醒我们：智能不等于训练规模</a:t>
            </a:r>
          </a:p>
        </p:txBody>
      </p:sp>
      <p:sp>
        <p:nvSpPr>
          <p:cNvPr id="4" name="s6-footer">
            <a:extLst xmlns:a="http://schemas.openxmlformats.org/drawingml/2006/main">
              <a:ext uri="{FF2B5EF4-FFF2-40B4-BE49-F238E27FC236}">
                <a16:creationId xmlns:a16="http://schemas.microsoft.com/office/drawing/2014/main" id="{E8EA5943-B919-4B7C-8ED8-AB9FBCF015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6-identity">
            <a:extLst xmlns:a="http://schemas.openxmlformats.org/drawingml/2006/main">
              <a:ext uri="{FF2B5EF4-FFF2-40B4-BE49-F238E27FC236}">
                <a16:creationId xmlns:a16="http://schemas.microsoft.com/office/drawing/2014/main" id="{4ADB420B-6E96-4BD4-A078-038DE62C62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OV-002 · OV-002-S06</a:t>
            </a:r>
          </a:p>
        </p:txBody>
      </p:sp>
      <p:sp>
        <p:nvSpPr>
          <p:cNvPr id="6" name="case-title">
            <a:extLst xmlns:a="http://schemas.openxmlformats.org/drawingml/2006/main">
              <a:ext uri="{FF2B5EF4-FFF2-40B4-BE49-F238E27FC236}">
                <a16:creationId xmlns:a16="http://schemas.microsoft.com/office/drawing/2014/main" id="{715CCFA0-3C1F-483C-A12B-8A8C488E26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190750"/>
            <a:ext cx="3048000" cy="2724150"/>
          </a:xfrm>
          <a:prstGeom xmlns:a="http://schemas.openxmlformats.org/drawingml/2006/main" prst="roundRect">
            <a:avLst>
              <a:gd name="adj" fmla="val 6993"/>
            </a:avLst>
          </a:prstGeom>
          <a:solidFill xmlns:a="http://schemas.openxmlformats.org/drawingml/2006/main">
            <a:srgbClr val="123B67"/>
          </a:solidFill>
          <a:ln xmlns:a="http://schemas.openxmlformats.org/drawingml/2006/main" w="0">
            <a:solidFill>
              <a:srgbClr val="123B67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255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一只乌鸦的启示</a:t>
            </a:r>
          </a:p>
        </p:txBody>
      </p:sp>
      <p:sp>
        <p:nvSpPr>
          <p:cNvPr id="7" name="case-row-0">
            <a:extLst xmlns:a="http://schemas.openxmlformats.org/drawingml/2006/main">
              <a:ext uri="{FF2B5EF4-FFF2-40B4-BE49-F238E27FC236}">
                <a16:creationId xmlns:a16="http://schemas.microsoft.com/office/drawing/2014/main" id="{95E0492A-118E-4DDF-905B-3A749B9CFA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2038350"/>
            <a:ext cx="6534150" cy="514350"/>
          </a:xfrm>
          <a:prstGeom xmlns:a="http://schemas.openxmlformats.org/drawingml/2006/main" prst="roundRect">
            <a:avLst>
              <a:gd name="adj" fmla="val 2407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72956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75" b="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场景｜城市中的乌鸦会利用车辆轧开坚果，并根据交通变化选择取食时机</a:t>
            </a:r>
          </a:p>
        </p:txBody>
      </p:sp>
      <p:sp>
        <p:nvSpPr>
          <p:cNvPr id="8" name="case-row-1">
            <a:extLst xmlns:a="http://schemas.openxmlformats.org/drawingml/2006/main">
              <a:ext uri="{FF2B5EF4-FFF2-40B4-BE49-F238E27FC236}">
                <a16:creationId xmlns:a16="http://schemas.microsoft.com/office/drawing/2014/main" id="{5DD1A1F0-FDCB-4E31-93F1-D387495348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2667000"/>
            <a:ext cx="6534150" cy="514350"/>
          </a:xfrm>
          <a:prstGeom xmlns:a="http://schemas.openxmlformats.org/drawingml/2006/main" prst="roundRect">
            <a:avLst>
              <a:gd name="adj" fmla="val 2407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72956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75" b="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机制｜它没有海量训练数据，却能在真实环境里感知、规划、使用工具并达成目标</a:t>
            </a:r>
          </a:p>
        </p:txBody>
      </p:sp>
      <p:sp>
        <p:nvSpPr>
          <p:cNvPr id="9" name="case-row-2">
            <a:extLst xmlns:a="http://schemas.openxmlformats.org/drawingml/2006/main">
              <a:ext uri="{FF2B5EF4-FFF2-40B4-BE49-F238E27FC236}">
                <a16:creationId xmlns:a16="http://schemas.microsoft.com/office/drawing/2014/main" id="{20B80C3F-0528-4FCF-8E24-F36CA89F37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3295650"/>
            <a:ext cx="6534150" cy="514350"/>
          </a:xfrm>
          <a:prstGeom xmlns:a="http://schemas.openxmlformats.org/drawingml/2006/main" prst="roundRect">
            <a:avLst>
              <a:gd name="adj" fmla="val 2407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72956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75" b="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结果｜这个例子的启发在于，生物智能能利用有限经验、身体能力和环境反馈完成开放任务</a:t>
            </a:r>
          </a:p>
        </p:txBody>
      </p:sp>
      <p:sp>
        <p:nvSpPr>
          <p:cNvPr id="10" name="case-row-3">
            <a:extLst xmlns:a="http://schemas.openxmlformats.org/drawingml/2006/main">
              <a:ext uri="{FF2B5EF4-FFF2-40B4-BE49-F238E27FC236}">
                <a16:creationId xmlns:a16="http://schemas.microsoft.com/office/drawing/2014/main" id="{96DA8DAD-57AC-4637-BF49-FCF6204BA1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3924300"/>
            <a:ext cx="6534150" cy="514350"/>
          </a:xfrm>
          <a:prstGeom xmlns:a="http://schemas.openxmlformats.org/drawingml/2006/main" prst="roundRect">
            <a:avLst>
              <a:gd name="adj" fmla="val 24074"/>
            </a:avLst>
          </a:prstGeom>
          <a:solidFill xmlns:a="http://schemas.openxmlformats.org/drawingml/2006/main">
            <a:srgbClr val="FFF4D7"/>
          </a:solidFill>
          <a:ln xmlns:a="http://schemas.openxmlformats.org/drawingml/2006/main" w="9525">
            <a:solidFill>
              <a:srgbClr val="8A5A00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4694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75" b="1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边界｜它不能直接证明哪条 AI 技术路线一定正确，却提醒我们：判断智能不能只看训练规模，还要看系统能否在环境中感知、行动、纠错并承担后果</a:t>
            </a:r>
          </a:p>
        </p:txBody>
      </p:sp>
      <p:sp>
        <p:nvSpPr>
          <p:cNvPr id="11" name="s6-takeaway-rule">
            <a:extLst xmlns:a="http://schemas.openxmlformats.org/drawingml/2006/main">
              <a:ext uri="{FF2B5EF4-FFF2-40B4-BE49-F238E27FC236}">
                <a16:creationId xmlns:a16="http://schemas.microsoft.com/office/drawing/2014/main" id="{6FCDE615-3D76-49C3-9E40-6CE34FD2C9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483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A33A"/>
          </a:solidFill>
          <a:ln xmlns:a="http://schemas.openxmlformats.org/drawingml/2006/main" w="0">
            <a:solidFill>
              <a:srgbClr val="D6A33A"/>
            </a:solidFill>
            <a:prstDash val="solid"/>
          </a:ln>
        </p:spPr>
      </p:sp>
      <p:sp>
        <p:nvSpPr>
          <p:cNvPr id="12" name="s6-takeaway">
            <a:extLst xmlns:a="http://schemas.openxmlformats.org/drawingml/2006/main">
              <a:ext uri="{FF2B5EF4-FFF2-40B4-BE49-F238E27FC236}">
                <a16:creationId xmlns:a16="http://schemas.microsoft.com/office/drawing/2014/main" id="{505FFA2B-FCB7-454F-BAF0-317D3FAF20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673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乌鸦提醒我们：智能不等于训练规模</a:t>
            </a:r>
          </a:p>
        </p:txBody>
      </p:sp>
    </p:spTree>
    <p:extLst>
      <p:ext uri="{BB962C8B-B14F-4D97-AF65-F5344CB8AC3E}">
        <p14:creationId xmlns:p14="http://schemas.microsoft.com/office/powerpoint/2010/main" val="1716807834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7-rule">
            <a:extLst xmlns:a="http://schemas.openxmlformats.org/drawingml/2006/main">
              <a:ext uri="{FF2B5EF4-FFF2-40B4-BE49-F238E27FC236}">
                <a16:creationId xmlns:a16="http://schemas.microsoft.com/office/drawing/2014/main" id="{7314420F-7F62-4D13-8B63-A700BF5A8C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A33A"/>
          </a:solidFill>
          <a:ln xmlns:a="http://schemas.openxmlformats.org/drawingml/2006/main" w="0">
            <a:solidFill>
              <a:srgbClr val="D6A33A"/>
            </a:solidFill>
            <a:prstDash val="solid"/>
          </a:ln>
        </p:spPr>
      </p:sp>
      <p:sp>
        <p:nvSpPr>
          <p:cNvPr id="2" name="s7-eyebrow">
            <a:extLst xmlns:a="http://schemas.openxmlformats.org/drawingml/2006/main">
              <a:ext uri="{FF2B5EF4-FFF2-40B4-BE49-F238E27FC236}">
                <a16:creationId xmlns:a16="http://schemas.microsoft.com/office/drawing/2014/main" id="{6316CB5F-90D0-4503-8C55-2200C91CFE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动手实践</a:t>
            </a:r>
          </a:p>
        </p:txBody>
      </p:sp>
      <p:sp>
        <p:nvSpPr>
          <p:cNvPr id="3" name="s7-title">
            <a:extLst xmlns:a="http://schemas.openxmlformats.org/drawingml/2006/main">
              <a:ext uri="{FF2B5EF4-FFF2-40B4-BE49-F238E27FC236}">
                <a16:creationId xmlns:a16="http://schemas.microsoft.com/office/drawing/2014/main" id="{A8CE6790-DD68-410D-AD08-6010AD878E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AI 发展与社会影响：一次可验收练习</a:t>
            </a:r>
          </a:p>
        </p:txBody>
      </p:sp>
      <p:sp>
        <p:nvSpPr>
          <p:cNvPr id="4" name="s7-footer">
            <a:extLst xmlns:a="http://schemas.openxmlformats.org/drawingml/2006/main">
              <a:ext uri="{FF2B5EF4-FFF2-40B4-BE49-F238E27FC236}">
                <a16:creationId xmlns:a16="http://schemas.microsoft.com/office/drawing/2014/main" id="{BD2ECB46-1750-47D3-9BA2-2AD7035151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7-identity">
            <a:extLst xmlns:a="http://schemas.openxmlformats.org/drawingml/2006/main">
              <a:ext uri="{FF2B5EF4-FFF2-40B4-BE49-F238E27FC236}">
                <a16:creationId xmlns:a16="http://schemas.microsoft.com/office/drawing/2014/main" id="{ADB77B17-8178-4AD4-9B63-E1DA823DC6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OV-002 · OV-002-S07</a:t>
            </a:r>
          </a:p>
        </p:txBody>
      </p:sp>
      <p:sp>
        <p:nvSpPr>
          <p:cNvPr id="6" name="practice-circle-0">
            <a:extLst xmlns:a="http://schemas.openxmlformats.org/drawingml/2006/main">
              <a:ext uri="{FF2B5EF4-FFF2-40B4-BE49-F238E27FC236}">
                <a16:creationId xmlns:a16="http://schemas.microsoft.com/office/drawing/2014/main" id="{C3F98466-2841-427A-B935-EFD2BF5F5E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55850" y="203835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23B67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7" name="practice-number-0">
            <a:extLst xmlns:a="http://schemas.openxmlformats.org/drawingml/2006/main">
              <a:ext uri="{FF2B5EF4-FFF2-40B4-BE49-F238E27FC236}">
                <a16:creationId xmlns:a16="http://schemas.microsoft.com/office/drawing/2014/main" id="{DFDC5CC5-C345-4F87-A89D-73EDF484CD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08250" y="2181225"/>
            <a:ext cx="304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1</a:t>
            </a:r>
          </a:p>
        </p:txBody>
      </p:sp>
      <p:sp>
        <p:nvSpPr>
          <p:cNvPr id="8" name="practice-item-0">
            <a:extLst xmlns:a="http://schemas.openxmlformats.org/drawingml/2006/main">
              <a:ext uri="{FF2B5EF4-FFF2-40B4-BE49-F238E27FC236}">
                <a16:creationId xmlns:a16="http://schemas.microsoft.com/office/drawing/2014/main" id="{BE57C38F-3E38-4119-9605-E0C29D6159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952750"/>
            <a:ext cx="3035300" cy="2095500"/>
          </a:xfrm>
          <a:prstGeom xmlns:a="http://schemas.openxmlformats.org/drawingml/2006/main" prst="roundRect">
            <a:avLst>
              <a:gd name="adj" fmla="val 818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0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725" b="0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列出你所在岗位的 5 项日常工作，逐项判断哪些可以交给 AI、哪些暂时不行，并说明理由</a:t>
            </a:r>
          </a:p>
        </p:txBody>
      </p:sp>
      <p:sp>
        <p:nvSpPr>
          <p:cNvPr id="9" name="practice-connector-0">
            <a:extLst xmlns:a="http://schemas.openxmlformats.org/drawingml/2006/main">
              <a:ext uri="{FF2B5EF4-FFF2-40B4-BE49-F238E27FC236}">
                <a16:creationId xmlns:a16="http://schemas.microsoft.com/office/drawing/2014/main" id="{9D08A16B-B3D0-4D63-8CD0-502AD0A5A9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4500" y="2343150"/>
            <a:ext cx="2476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8A5A00"/>
            </a:solidFill>
            <a:prstDash val="solid"/>
          </a:ln>
        </p:spPr>
      </p:sp>
      <p:sp>
        <p:nvSpPr>
          <p:cNvPr id="10" name="practice-circle-1">
            <a:extLst xmlns:a="http://schemas.openxmlformats.org/drawingml/2006/main">
              <a:ext uri="{FF2B5EF4-FFF2-40B4-BE49-F238E27FC236}">
                <a16:creationId xmlns:a16="http://schemas.microsoft.com/office/drawing/2014/main" id="{C509897F-24F5-439C-B4FC-88B7DB5154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1200" y="203835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A5A00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11" name="practice-number-1">
            <a:extLst xmlns:a="http://schemas.openxmlformats.org/drawingml/2006/main">
              <a:ext uri="{FF2B5EF4-FFF2-40B4-BE49-F238E27FC236}">
                <a16:creationId xmlns:a16="http://schemas.microsoft.com/office/drawing/2014/main" id="{A845716E-8F5C-4934-B481-458676DE85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2181225"/>
            <a:ext cx="304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2</a:t>
            </a:r>
          </a:p>
        </p:txBody>
      </p:sp>
      <p:sp>
        <p:nvSpPr>
          <p:cNvPr id="12" name="practice-item-1">
            <a:extLst xmlns:a="http://schemas.openxmlformats.org/drawingml/2006/main">
              <a:ext uri="{FF2B5EF4-FFF2-40B4-BE49-F238E27FC236}">
                <a16:creationId xmlns:a16="http://schemas.microsoft.com/office/drawing/2014/main" id="{A292DEA5-A3A4-4C2D-96D4-491B4F09F8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8350" y="2952750"/>
            <a:ext cx="3035300" cy="2095500"/>
          </a:xfrm>
          <a:prstGeom xmlns:a="http://schemas.openxmlformats.org/drawingml/2006/main" prst="roundRect">
            <a:avLst>
              <a:gd name="adj" fmla="val 8182"/>
            </a:avLst>
          </a:prstGeom>
          <a:solidFill xmlns:a="http://schemas.openxmlformats.org/drawingml/2006/main">
            <a:srgbClr val="FFF4D7"/>
          </a:solidFill>
          <a:ln xmlns:a="http://schemas.openxmlformats.org/drawingml/2006/main" w="19050">
            <a:solidFill>
              <a:srgbClr val="8A5A00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0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725" b="0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用五个诊断维度分析一个熟悉场景：分别写出已有基础、证据缺口和下一项可验证动作，不把总分直接当作“适合或不适合”的结论</a:t>
            </a:r>
          </a:p>
        </p:txBody>
      </p:sp>
    </p:spTree>
    <p:extLst>
      <p:ext uri="{BB962C8B-B14F-4D97-AF65-F5344CB8AC3E}">
        <p14:creationId xmlns:p14="http://schemas.microsoft.com/office/powerpoint/2010/main" val="985168422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8-rule">
            <a:extLst xmlns:a="http://schemas.openxmlformats.org/drawingml/2006/main">
              <a:ext uri="{FF2B5EF4-FFF2-40B4-BE49-F238E27FC236}">
                <a16:creationId xmlns:a16="http://schemas.microsoft.com/office/drawing/2014/main" id="{18513C4D-0FA1-4B00-9004-6DFB57C35D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A33A"/>
          </a:solidFill>
          <a:ln xmlns:a="http://schemas.openxmlformats.org/drawingml/2006/main" w="0">
            <a:solidFill>
              <a:srgbClr val="D6A33A"/>
            </a:solidFill>
            <a:prstDash val="solid"/>
          </a:ln>
        </p:spPr>
      </p:sp>
      <p:sp>
        <p:nvSpPr>
          <p:cNvPr id="2" name="s8-eyebrow">
            <a:extLst xmlns:a="http://schemas.openxmlformats.org/drawingml/2006/main">
              <a:ext uri="{FF2B5EF4-FFF2-40B4-BE49-F238E27FC236}">
                <a16:creationId xmlns:a16="http://schemas.microsoft.com/office/drawing/2014/main" id="{E53BE31A-4544-4215-9CD6-06187BC52C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课后复盘</a:t>
            </a:r>
          </a:p>
        </p:txBody>
      </p:sp>
      <p:sp>
        <p:nvSpPr>
          <p:cNvPr id="3" name="s8-title">
            <a:extLst xmlns:a="http://schemas.openxmlformats.org/drawingml/2006/main">
              <a:ext uri="{FF2B5EF4-FFF2-40B4-BE49-F238E27FC236}">
                <a16:creationId xmlns:a16="http://schemas.microsoft.com/office/drawing/2014/main" id="{5127725B-F8F9-464C-B7B4-953AD7F3B8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AI 发展与社会影响：判断时先抓住三点</a:t>
            </a:r>
          </a:p>
        </p:txBody>
      </p:sp>
      <p:sp>
        <p:nvSpPr>
          <p:cNvPr id="4" name="s8-footer">
            <a:extLst xmlns:a="http://schemas.openxmlformats.org/drawingml/2006/main">
              <a:ext uri="{FF2B5EF4-FFF2-40B4-BE49-F238E27FC236}">
                <a16:creationId xmlns:a16="http://schemas.microsoft.com/office/drawing/2014/main" id="{BE0E8FAD-0334-4938-A094-1878E1130E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8-identity">
            <a:extLst xmlns:a="http://schemas.openxmlformats.org/drawingml/2006/main">
              <a:ext uri="{FF2B5EF4-FFF2-40B4-BE49-F238E27FC236}">
                <a16:creationId xmlns:a16="http://schemas.microsoft.com/office/drawing/2014/main" id="{E9D7CF16-4EF7-4EA4-8CF4-859C8E477B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OV-002 · OV-002-S08</a:t>
            </a:r>
          </a:p>
        </p:txBody>
      </p:sp>
      <p:sp>
        <p:nvSpPr>
          <p:cNvPr id="6" name="recap-circle-0">
            <a:extLst xmlns:a="http://schemas.openxmlformats.org/drawingml/2006/main">
              <a:ext uri="{FF2B5EF4-FFF2-40B4-BE49-F238E27FC236}">
                <a16:creationId xmlns:a16="http://schemas.microsoft.com/office/drawing/2014/main" id="{B93932C7-01AA-489F-89D9-E5ACAD1650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55850" y="203835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23B67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7" name="recap-number-0">
            <a:extLst xmlns:a="http://schemas.openxmlformats.org/drawingml/2006/main">
              <a:ext uri="{FF2B5EF4-FFF2-40B4-BE49-F238E27FC236}">
                <a16:creationId xmlns:a16="http://schemas.microsoft.com/office/drawing/2014/main" id="{36FE6D97-8F20-41D2-845C-FD4EEEEAED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08250" y="2181225"/>
            <a:ext cx="304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1</a:t>
            </a:r>
          </a:p>
        </p:txBody>
      </p:sp>
      <p:sp>
        <p:nvSpPr>
          <p:cNvPr id="8" name="recap-item-0">
            <a:extLst xmlns:a="http://schemas.openxmlformats.org/drawingml/2006/main">
              <a:ext uri="{FF2B5EF4-FFF2-40B4-BE49-F238E27FC236}">
                <a16:creationId xmlns:a16="http://schemas.microsoft.com/office/drawing/2014/main" id="{64EB9E0A-C858-4571-9B4C-A228374AB5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952750"/>
            <a:ext cx="3035300" cy="2095500"/>
          </a:xfrm>
          <a:prstGeom xmlns:a="http://schemas.openxmlformats.org/drawingml/2006/main" prst="roundRect">
            <a:avLst>
              <a:gd name="adj" fmla="val 818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AI 热潮与低谷由能力、资源和预期共同塑造</a:t>
            </a:r>
          </a:p>
        </p:txBody>
      </p:sp>
      <p:sp>
        <p:nvSpPr>
          <p:cNvPr id="9" name="recap-connector-0">
            <a:extLst xmlns:a="http://schemas.openxmlformats.org/drawingml/2006/main">
              <a:ext uri="{FF2B5EF4-FFF2-40B4-BE49-F238E27FC236}">
                <a16:creationId xmlns:a16="http://schemas.microsoft.com/office/drawing/2014/main" id="{BF3F56C4-59F9-4E70-A019-9243172596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4500" y="2343150"/>
            <a:ext cx="2476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8A5A00"/>
            </a:solidFill>
            <a:prstDash val="solid"/>
          </a:ln>
        </p:spPr>
      </p:sp>
      <p:sp>
        <p:nvSpPr>
          <p:cNvPr id="10" name="recap-circle-1">
            <a:extLst xmlns:a="http://schemas.openxmlformats.org/drawingml/2006/main">
              <a:ext uri="{FF2B5EF4-FFF2-40B4-BE49-F238E27FC236}">
                <a16:creationId xmlns:a16="http://schemas.microsoft.com/office/drawing/2014/main" id="{2187CB4F-0E34-4A83-94DC-DA83EB21D8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1200" y="203835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23B67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11" name="recap-number-1">
            <a:extLst xmlns:a="http://schemas.openxmlformats.org/drawingml/2006/main">
              <a:ext uri="{FF2B5EF4-FFF2-40B4-BE49-F238E27FC236}">
                <a16:creationId xmlns:a16="http://schemas.microsoft.com/office/drawing/2014/main" id="{B1E8468B-89A3-4665-9A15-DCD64085CB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2181225"/>
            <a:ext cx="304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2</a:t>
            </a:r>
          </a:p>
        </p:txBody>
      </p:sp>
      <p:sp>
        <p:nvSpPr>
          <p:cNvPr id="12" name="recap-item-1">
            <a:extLst xmlns:a="http://schemas.openxmlformats.org/drawingml/2006/main">
              <a:ext uri="{FF2B5EF4-FFF2-40B4-BE49-F238E27FC236}">
                <a16:creationId xmlns:a16="http://schemas.microsoft.com/office/drawing/2014/main" id="{FD1A0384-68DC-4D84-B39D-F5D962E073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8350" y="2952750"/>
            <a:ext cx="3035300" cy="2095500"/>
          </a:xfrm>
          <a:prstGeom xmlns:a="http://schemas.openxmlformats.org/drawingml/2006/main" prst="roundRect">
            <a:avLst>
              <a:gd name="adj" fmla="val 818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大模型的目标往往不止于模仿人类</a:t>
            </a:r>
          </a:p>
        </p:txBody>
      </p:sp>
      <p:sp>
        <p:nvSpPr>
          <p:cNvPr id="13" name="recap-connector-1">
            <a:extLst xmlns:a="http://schemas.openxmlformats.org/drawingml/2006/main">
              <a:ext uri="{FF2B5EF4-FFF2-40B4-BE49-F238E27FC236}">
                <a16:creationId xmlns:a16="http://schemas.microsoft.com/office/drawing/2014/main" id="{50DF86E3-7CF0-409D-BCF0-9BAE1329CD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9850" y="2343150"/>
            <a:ext cx="2476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8A5A00"/>
            </a:solidFill>
            <a:prstDash val="solid"/>
          </a:ln>
        </p:spPr>
      </p:sp>
      <p:sp>
        <p:nvSpPr>
          <p:cNvPr id="14" name="recap-circle-2">
            <a:extLst xmlns:a="http://schemas.openxmlformats.org/drawingml/2006/main">
              <a:ext uri="{FF2B5EF4-FFF2-40B4-BE49-F238E27FC236}">
                <a16:creationId xmlns:a16="http://schemas.microsoft.com/office/drawing/2014/main" id="{3DAC3D23-69D1-47A6-96FB-E2BBCA8969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6550" y="203835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A5A00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15" name="recap-number-2">
            <a:extLst xmlns:a="http://schemas.openxmlformats.org/drawingml/2006/main">
              <a:ext uri="{FF2B5EF4-FFF2-40B4-BE49-F238E27FC236}">
                <a16:creationId xmlns:a16="http://schemas.microsoft.com/office/drawing/2014/main" id="{8B775102-4A0C-472F-9F94-7FEB0F49B3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8950" y="2181225"/>
            <a:ext cx="304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3</a:t>
            </a:r>
          </a:p>
        </p:txBody>
      </p:sp>
      <p:sp>
        <p:nvSpPr>
          <p:cNvPr id="16" name="recap-item-2">
            <a:extLst xmlns:a="http://schemas.openxmlformats.org/drawingml/2006/main">
              <a:ext uri="{FF2B5EF4-FFF2-40B4-BE49-F238E27FC236}">
                <a16:creationId xmlns:a16="http://schemas.microsoft.com/office/drawing/2014/main" id="{D391EA20-C0DB-412F-8437-F00A86FDF5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3700" y="2952750"/>
            <a:ext cx="3035300" cy="2095500"/>
          </a:xfrm>
          <a:prstGeom xmlns:a="http://schemas.openxmlformats.org/drawingml/2006/main" prst="roundRect">
            <a:avLst>
              <a:gd name="adj" fmla="val 8182"/>
            </a:avLst>
          </a:prstGeom>
          <a:solidFill xmlns:a="http://schemas.openxmlformats.org/drawingml/2006/main">
            <a:srgbClr val="FFF4D7"/>
          </a:solidFill>
          <a:ln xmlns:a="http://schemas.openxmlformats.org/drawingml/2006/main" w="19050">
            <a:solidFill>
              <a:srgbClr val="8A5A00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不是所有场景都适合上 AI</a:t>
            </a:r>
          </a:p>
        </p:txBody>
      </p:sp>
    </p:spTree>
    <p:extLst>
      <p:ext uri="{BB962C8B-B14F-4D97-AF65-F5344CB8AC3E}">
        <p14:creationId xmlns:p14="http://schemas.microsoft.com/office/powerpoint/2010/main" val="1075972647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9-rule">
            <a:extLst xmlns:a="http://schemas.openxmlformats.org/drawingml/2006/main">
              <a:ext uri="{FF2B5EF4-FFF2-40B4-BE49-F238E27FC236}">
                <a16:creationId xmlns:a16="http://schemas.microsoft.com/office/drawing/2014/main" id="{77ACA562-768C-41FE-B7C4-4ACE462831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A33A"/>
          </a:solidFill>
          <a:ln xmlns:a="http://schemas.openxmlformats.org/drawingml/2006/main" w="0">
            <a:solidFill>
              <a:srgbClr val="D6A33A"/>
            </a:solidFill>
            <a:prstDash val="solid"/>
          </a:ln>
        </p:spPr>
      </p:sp>
      <p:sp>
        <p:nvSpPr>
          <p:cNvPr id="2" name="s9-eyebrow">
            <a:extLst xmlns:a="http://schemas.openxmlformats.org/drawingml/2006/main">
              <a:ext uri="{FF2B5EF4-FFF2-40B4-BE49-F238E27FC236}">
                <a16:creationId xmlns:a16="http://schemas.microsoft.com/office/drawing/2014/main" id="{1064A53D-691A-48BF-B706-214D52E360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来源与延伸</a:t>
            </a:r>
          </a:p>
        </p:txBody>
      </p:sp>
      <p:sp>
        <p:nvSpPr>
          <p:cNvPr id="3" name="s9-title">
            <a:extLst xmlns:a="http://schemas.openxmlformats.org/drawingml/2006/main">
              <a:ext uri="{FF2B5EF4-FFF2-40B4-BE49-F238E27FC236}">
                <a16:creationId xmlns:a16="http://schemas.microsoft.com/office/drawing/2014/main" id="{6CDE2082-6F70-47D6-BD21-3CDB7F5CA9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AI 发展与社会影响：依据、边界与延伸</a:t>
            </a:r>
          </a:p>
        </p:txBody>
      </p:sp>
      <p:sp>
        <p:nvSpPr>
          <p:cNvPr id="4" name="s9-footer">
            <a:extLst xmlns:a="http://schemas.openxmlformats.org/drawingml/2006/main">
              <a:ext uri="{FF2B5EF4-FFF2-40B4-BE49-F238E27FC236}">
                <a16:creationId xmlns:a16="http://schemas.microsoft.com/office/drawing/2014/main" id="{1133FD1D-B72B-43F5-88B8-75B6A07731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9-identity">
            <a:extLst xmlns:a="http://schemas.openxmlformats.org/drawingml/2006/main">
              <a:ext uri="{FF2B5EF4-FFF2-40B4-BE49-F238E27FC236}">
                <a16:creationId xmlns:a16="http://schemas.microsoft.com/office/drawing/2014/main" id="{4BD8C1EC-95E4-4644-AF3F-59485F7C2B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OV-002 · OV-002-S09</a:t>
            </a:r>
          </a:p>
        </p:txBody>
      </p:sp>
      <p:sp>
        <p:nvSpPr>
          <p:cNvPr id="6" name="source-0">
            <a:extLst xmlns:a="http://schemas.openxmlformats.org/drawingml/2006/main">
              <a:ext uri="{FF2B5EF4-FFF2-40B4-BE49-F238E27FC236}">
                <a16:creationId xmlns:a16="http://schemas.microsoft.com/office/drawing/2014/main" id="{68797894-1A6E-4D5D-8079-DF81EB4F42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943100"/>
            <a:ext cx="10363200" cy="533400"/>
          </a:xfrm>
          <a:prstGeom xmlns:a="http://schemas.openxmlformats.org/drawingml/2006/main" prst="roundRect">
            <a:avLst>
              <a:gd name="adj" fmla="val 21429"/>
            </a:avLst>
          </a:prstGeom>
          <a:solidFill xmlns:a="http://schemas.openxmlformats.org/drawingml/2006/main">
            <a:srgbClr val="FFF4D7"/>
          </a:solidFill>
          <a:ln xmlns:a="http://schemas.openxmlformats.org/drawingml/2006/main" w="9525">
            <a:solidFill>
              <a:srgbClr val="8A5A00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87377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00" b="1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01  团队既有课程资料经重新组织、改写与原创视觉重制</a:t>
            </a:r>
          </a:p>
        </p:txBody>
      </p:sp>
      <p:sp>
        <p:nvSpPr>
          <p:cNvPr id="7" name="source-1">
            <a:extLst xmlns:a="http://schemas.openxmlformats.org/drawingml/2006/main">
              <a:ext uri="{FF2B5EF4-FFF2-40B4-BE49-F238E27FC236}">
                <a16:creationId xmlns:a16="http://schemas.microsoft.com/office/drawing/2014/main" id="{39315468-270A-4F75-A4E3-66EE5440A5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628900"/>
            <a:ext cx="10363200" cy="533400"/>
          </a:xfrm>
          <a:prstGeom xmlns:a="http://schemas.openxmlformats.org/drawingml/2006/main" prst="roundRect">
            <a:avLst>
              <a:gd name="adj" fmla="val 2142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70162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02  英国议会《AI in the UK》历史章节：用于核对达特茅斯起点、专家系统与两次 AI 寒冬；历史低谷不能简单归因于一次报告或单一事件。（核对日期：2026-07-12）</a:t>
            </a:r>
          </a:p>
        </p:txBody>
      </p:sp>
      <p:sp>
        <p:nvSpPr>
          <p:cNvPr id="8" name="source-2">
            <a:extLst xmlns:a="http://schemas.openxmlformats.org/drawingml/2006/main">
              <a:ext uri="{FF2B5EF4-FFF2-40B4-BE49-F238E27FC236}">
                <a16:creationId xmlns:a16="http://schemas.microsoft.com/office/drawing/2014/main" id="{FC832BEE-5A98-4959-B1F9-4B7D45F724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14700"/>
            <a:ext cx="10363200" cy="533400"/>
          </a:xfrm>
          <a:prstGeom xmlns:a="http://schemas.openxmlformats.org/drawingml/2006/main" prst="roundRect">
            <a:avLst>
              <a:gd name="adj" fmla="val 2142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87377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03  AlexNet 原论文：理解数据、GPU 与深层卷积网络共同推动的视觉转折。（核对日期：2026-07-12）</a:t>
            </a:r>
          </a:p>
        </p:txBody>
      </p:sp>
      <p:sp>
        <p:nvSpPr>
          <p:cNvPr id="9" name="source-3">
            <a:extLst xmlns:a="http://schemas.openxmlformats.org/drawingml/2006/main">
              <a:ext uri="{FF2B5EF4-FFF2-40B4-BE49-F238E27FC236}">
                <a16:creationId xmlns:a16="http://schemas.microsoft.com/office/drawing/2014/main" id="{FC902B01-AB47-4A33-A2A2-171771F049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000500"/>
            <a:ext cx="10363200" cy="533400"/>
          </a:xfrm>
          <a:prstGeom xmlns:a="http://schemas.openxmlformats.org/drawingml/2006/main" prst="roundRect">
            <a:avLst>
              <a:gd name="adj" fmla="val 2142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82812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04  Attention Is All You Need：Transformer 原论文；证据来自机器翻译任务，不能直接外推为大模型全部能力。（核对日期：2026-07-12）</a:t>
            </a:r>
          </a:p>
        </p:txBody>
      </p:sp>
      <p:sp>
        <p:nvSpPr>
          <p:cNvPr id="10" name="source-4">
            <a:extLst xmlns:a="http://schemas.openxmlformats.org/drawingml/2006/main">
              <a:ext uri="{FF2B5EF4-FFF2-40B4-BE49-F238E27FC236}">
                <a16:creationId xmlns:a16="http://schemas.microsoft.com/office/drawing/2014/main" id="{1641EBCD-BC2D-439F-B836-34B49F6829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686300"/>
            <a:ext cx="10363200" cy="533400"/>
          </a:xfrm>
          <a:prstGeom xmlns:a="http://schemas.openxmlformats.org/drawingml/2006/main" prst="roundRect">
            <a:avLst>
              <a:gd name="adj" fmla="val 2142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87377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05  OpenAI：Introducing ChatGPT：核对 2022 年对话式研究预览的产品起点与指令跟随路线。（核对日期：2026-07-12）</a:t>
            </a:r>
          </a:p>
        </p:txBody>
      </p:sp>
      <p:sp>
        <p:nvSpPr>
          <p:cNvPr id="11" name="s9-takeaway-rule">
            <a:extLst xmlns:a="http://schemas.openxmlformats.org/drawingml/2006/main">
              <a:ext uri="{FF2B5EF4-FFF2-40B4-BE49-F238E27FC236}">
                <a16:creationId xmlns:a16="http://schemas.microsoft.com/office/drawing/2014/main" id="{E756ECB7-7FED-472D-ABC2-464A17F1DB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626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A33A"/>
          </a:solidFill>
          <a:ln xmlns:a="http://schemas.openxmlformats.org/drawingml/2006/main" w="0">
            <a:solidFill>
              <a:srgbClr val="D6A33A"/>
            </a:solidFill>
            <a:prstDash val="solid"/>
          </a:ln>
        </p:spPr>
      </p:sp>
      <p:sp>
        <p:nvSpPr>
          <p:cNvPr id="12" name="s9-takeaway">
            <a:extLst xmlns:a="http://schemas.openxmlformats.org/drawingml/2006/main">
              <a:ext uri="{FF2B5EF4-FFF2-40B4-BE49-F238E27FC236}">
                <a16:creationId xmlns:a16="http://schemas.microsoft.com/office/drawing/2014/main" id="{DAA2A834-077A-4C0F-BB68-D26377916C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5816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95911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课程精编页用于讲授主线；播放器中的“原课件”模式保留团队 PowerPoint 精选页、真实图片和可播放视频。</a:t>
            </a:r>
          </a:p>
        </p:txBody>
      </p:sp>
    </p:spTree>
    <p:extLst>
      <p:ext uri="{BB962C8B-B14F-4D97-AF65-F5344CB8AC3E}">
        <p14:creationId xmlns:p14="http://schemas.microsoft.com/office/powerpoint/2010/main" val="1454402398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2026-07-12T03:31:37.0980000Z</dcterms:created>
  <dcterms:modified xsi:type="dcterms:W3CDTF">2026-07-12T03:31:37.0980000Z</dcterms:modified>
</coreProperties>
</file>