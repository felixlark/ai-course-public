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65e29b1212041fd" /><Relationship Type="http://schemas.openxmlformats.org/officeDocument/2006/relationships/extended-properties" Target="/docProps/app.xml" Id="Ref8597d7af3a4bab" /><Relationship Type="http://schemas.openxmlformats.org/officeDocument/2006/relationships/officeDocument" Target="/ppt/presentation.xml" Id="R2fe3d7aa6b474bf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bb5db8293e44502"/>
  </p:sldMasterIdLst>
  <p:notesMasterIdLst>
    <p:notesMasterId xmlns:r="http://schemas.openxmlformats.org/officeDocument/2006/relationships" r:id="R431b543241244d22"/>
  </p:notesMasterIdLst>
  <p:sldIdLst>
    <p:sldId xmlns:r="http://schemas.openxmlformats.org/officeDocument/2006/relationships" id="256" r:id="R4a94baab4b4541e0"/>
    <p:sldId xmlns:r="http://schemas.openxmlformats.org/officeDocument/2006/relationships" id="257" r:id="R03783709cc7f42b0"/>
    <p:sldId xmlns:r="http://schemas.openxmlformats.org/officeDocument/2006/relationships" id="258" r:id="R7f0b13e8fa9246cf"/>
    <p:sldId xmlns:r="http://schemas.openxmlformats.org/officeDocument/2006/relationships" id="259" r:id="R647e04ce93a74784"/>
    <p:sldId xmlns:r="http://schemas.openxmlformats.org/officeDocument/2006/relationships" id="260" r:id="Ree0453c6a025432c"/>
    <p:sldId xmlns:r="http://schemas.openxmlformats.org/officeDocument/2006/relationships" id="261" r:id="R79b5301a271a49ad"/>
    <p:sldId xmlns:r="http://schemas.openxmlformats.org/officeDocument/2006/relationships" id="262" r:id="R9052e7fe43ac46d1"/>
    <p:sldId xmlns:r="http://schemas.openxmlformats.org/officeDocument/2006/relationships" id="263" r:id="R8ba86eab02fa4272"/>
    <p:sldId xmlns:r="http://schemas.openxmlformats.org/officeDocument/2006/relationships" id="264" r:id="R2ba7d7a83ed544a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b06d20856e4405c" /><Relationship Type="http://schemas.openxmlformats.org/officeDocument/2006/relationships/slideMaster" Target="/ppt/slideMasters/slideMaster1.xml" Id="Rabb5db8293e44502" /><Relationship Type="http://schemas.openxmlformats.org/officeDocument/2006/relationships/notesMaster" Target="/ppt/notesMasters/notesMaster1.xml" Id="R431b543241244d22" /><Relationship Type="http://schemas.openxmlformats.org/officeDocument/2006/relationships/presProps" Target="/ppt/presProps.xml" Id="R3703ace1757f465e" /><Relationship Type="http://schemas.openxmlformats.org/officeDocument/2006/relationships/tableStyles" Target="/ppt/tableStyles.xml" Id="R1b46410e989b4cdb" /><Relationship Type="http://schemas.openxmlformats.org/officeDocument/2006/relationships/slide" Target="/ppt/slides/slide1.xml" Id="R4a94baab4b4541e0" /><Relationship Type="http://schemas.openxmlformats.org/officeDocument/2006/relationships/slide" Target="/ppt/slides/slide2.xml" Id="R03783709cc7f42b0" /><Relationship Type="http://schemas.openxmlformats.org/officeDocument/2006/relationships/slide" Target="/ppt/slides/slide3.xml" Id="R7f0b13e8fa9246cf" /><Relationship Type="http://schemas.openxmlformats.org/officeDocument/2006/relationships/slide" Target="/ppt/slides/slide4.xml" Id="R647e04ce93a74784" /><Relationship Type="http://schemas.openxmlformats.org/officeDocument/2006/relationships/slide" Target="/ppt/slides/slide5.xml" Id="Ree0453c6a025432c" /><Relationship Type="http://schemas.openxmlformats.org/officeDocument/2006/relationships/slide" Target="/ppt/slides/slide6.xml" Id="R79b5301a271a49ad" /><Relationship Type="http://schemas.openxmlformats.org/officeDocument/2006/relationships/slide" Target="/ppt/slides/slide7.xml" Id="R9052e7fe43ac46d1" /><Relationship Type="http://schemas.openxmlformats.org/officeDocument/2006/relationships/slide" Target="/ppt/slides/slide8.xml" Id="R8ba86eab02fa4272" /><Relationship Type="http://schemas.openxmlformats.org/officeDocument/2006/relationships/slide" Target="/ppt/slides/slide9.xml" Id="R2ba7d7a83ed544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173260ab4848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a395d832ea40c5" /><Relationship Type="http://schemas.openxmlformats.org/officeDocument/2006/relationships/notesMaster" Target="/ppt/notesMasters/notesMaster1.xml" Id="R851405b5582347d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ea65caecdc4e5d" /><Relationship Type="http://schemas.openxmlformats.org/officeDocument/2006/relationships/notesMaster" Target="/ppt/notesMasters/notesMaster1.xml" Id="R2844a1b8b3404db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6657d3c96a48a5" /><Relationship Type="http://schemas.openxmlformats.org/officeDocument/2006/relationships/notesMaster" Target="/ppt/notesMasters/notesMaster1.xml" Id="Rbbcd6f3135054f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19663cc997f4feb" /><Relationship Type="http://schemas.openxmlformats.org/officeDocument/2006/relationships/notesMaster" Target="/ppt/notesMasters/notesMaster1.xml" Id="Rbc00c57ffac1440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54436f12194be0" /><Relationship Type="http://schemas.openxmlformats.org/officeDocument/2006/relationships/notesMaster" Target="/ppt/notesMasters/notesMaster1.xml" Id="R0a771c048a31473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5d76d5d998f4466" /><Relationship Type="http://schemas.openxmlformats.org/officeDocument/2006/relationships/notesMaster" Target="/ppt/notesMasters/notesMaster1.xml" Id="Rc136a33bb5e742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677b5e461414472" /><Relationship Type="http://schemas.openxmlformats.org/officeDocument/2006/relationships/notesMaster" Target="/ppt/notesMasters/notesMaster1.xml" Id="R65629b91506a43c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dc6deeb4367444c" /><Relationship Type="http://schemas.openxmlformats.org/officeDocument/2006/relationships/notesMaster" Target="/ppt/notesMasters/notesMaster1.xml" Id="R0e185765b4aa424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2d4313ef8f04e02" /><Relationship Type="http://schemas.openxmlformats.org/officeDocument/2006/relationships/notesMaster" Target="/ppt/notesMasters/notesMaster1.xml" Id="R25b4b664488b41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463a275c5441c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03361a994a4dbd" /><Relationship Type="http://schemas.openxmlformats.org/officeDocument/2006/relationships/slideLayout" Target="/ppt/slideLayouts/slideLayout1.xml" Id="R3981fdd5860b40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81fdd5860b40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0e848af6a46b0" /><Relationship Type="http://schemas.openxmlformats.org/officeDocument/2006/relationships/notesSlide" Target="/ppt/notesSlides/notesSlide1.xml" Id="R97a6b7c73c34413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d006b176184320" /><Relationship Type="http://schemas.openxmlformats.org/officeDocument/2006/relationships/notesSlide" Target="/ppt/notesSlides/notesSlide2.xml" Id="R95072724bfbb427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8e57c9c69741a8" /><Relationship Type="http://schemas.openxmlformats.org/officeDocument/2006/relationships/notesSlide" Target="/ppt/notesSlides/notesSlide3.xml" Id="R0ea3026243e945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6dfe8b42974d10" /><Relationship Type="http://schemas.openxmlformats.org/officeDocument/2006/relationships/notesSlide" Target="/ppt/notesSlides/notesSlide4.xml" Id="R6bd2f292d9c54b8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1908a52b6e4c59" /><Relationship Type="http://schemas.openxmlformats.org/officeDocument/2006/relationships/notesSlide" Target="/ppt/notesSlides/notesSlide5.xml" Id="R02d6bd7253cb456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2ef25c75e74419" /><Relationship Type="http://schemas.openxmlformats.org/officeDocument/2006/relationships/notesSlide" Target="/ppt/notesSlides/notesSlide6.xml" Id="R5ceed8304f3c4e7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3fc1b491d64e0c" /><Relationship Type="http://schemas.openxmlformats.org/officeDocument/2006/relationships/notesSlide" Target="/ppt/notesSlides/notesSlide7.xml" Id="R31fae34b6f7f46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01c38c1bd849ab" /><Relationship Type="http://schemas.openxmlformats.org/officeDocument/2006/relationships/notesSlide" Target="/ppt/notesSlides/notesSlide8.xml" Id="R43e3e16be86c4d4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e802a30cd146d7" /><Relationship Type="http://schemas.openxmlformats.org/officeDocument/2006/relationships/notesSlide" Target="/ppt/notesSlides/notesSlide9.xml" Id="R19ee421432064aa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8A20FC20-8868-42F3-A24E-FD8EC13A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5EDD8ECA-6E24-49CD-B1F9-794D3B44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7AFD18FF-D821-4572-9C1D-2443BD59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589E9D29-C3B6-4BAD-9FDF-B35AE710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3B2407C5-DBAE-46C1-8BE4-77EF7E93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9FBDF2AE-0916-4A2C-AC05-3FEE420FB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269AFB0A-08C4-4D8A-BEE2-DF2661E7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201FB8E-A52F-430F-A520-ED1B2A97B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人工智能发展与社会影响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A209BEC-B131-4FE7-84A1-76C67CD8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沿关键技术转折理解人工智能的兴衰，并讨论它如何改变工作、组织和社会分工。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BE7BDFBA-2176-415E-9547-E57B9393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人工智能的发展从来不是一条只由算法推动的直线；规则系统、机器学习、深度学习和大模型依次扩大了机器可处理的任务边界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C988BC3B-C61A-43A6-A02A-34BC1CF8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2413A953-0DC7-4937-AFFD-B6F0EAC9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OV-002 · OV-002-S01</a:t>
            </a:r>
          </a:p>
        </p:txBody>
      </p:sp>
    </p:spTree>
    <p:extLst>
      <p:ext uri="{BB962C8B-B14F-4D97-AF65-F5344CB8AC3E}">
        <p14:creationId xmlns:p14="http://schemas.microsoft.com/office/powerpoint/2010/main" val="8593409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7EC37F7F-85C6-4DF2-8855-DCC470AF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1C627A8D-A1AE-447F-A228-E755D121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66180BD3-2845-4B73-BB9F-D3C7E9E5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发展与社会影响：3项学习结果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F078E7F6-DAD9-4254-BE35-9AF764EA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7E19C0FF-2687-4FDE-95AE-2EEC4EF3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C5A4E0BB-148F-4331-9676-AA23A446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解释规则系统、机器学习、深度学习和大模型之间的演进关系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89E27DBE-76D5-40DA-8131-A133E39D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把“职业被改变”拆成可以评估的具体任务变化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386D01E0-8ECF-4BEF-A095-687D7676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从人才、数据、算法算力、反馈和场景五个维度评估 AI 项目的落地条件</a:t>
            </a:r>
          </a:p>
        </p:txBody>
      </p:sp>
    </p:spTree>
    <p:extLst>
      <p:ext uri="{BB962C8B-B14F-4D97-AF65-F5344CB8AC3E}">
        <p14:creationId xmlns:p14="http://schemas.microsoft.com/office/powerpoint/2010/main" val="11404581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D7286F2B-8C43-4F28-92A1-48B3EEF3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6680F913-C674-4EE4-9FF4-2489CB29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3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7D0915DE-04C1-4677-868E-5EAD9456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热潮与低谷由能力、资源和预期共同塑造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D52797D1-9BD4-4C49-90C6-35AF4E91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13CBC47D-B69A-4EA7-9671-D715A792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BAA7660-F96E-4D0E-806D-6C1D28A5A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76E9C2A-4E54-48AC-AB8E-14F436D0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六次转折：能力、资源与预期共同塑造 AI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37AF25C-4CF5-48B6-87B0-A2A233D3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1955/56—1980 年代；学科形成、专家系统与两次寒冬；达特茅斯提案让“人工智能”成为明确研究议题；早期高预期随后遭遇组合爆炸、数据和算力限制；专家系统在 1980 年代进入商业应用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D30F313-BD08-494D-BBBB-05F416D9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7457EE4-E652-448D-9C6D-0DC63617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1990 年代—2012；统计学习、数据与 GPU 共同积累；机器学习逐步从手写规则转向数据驱动；2012 年 AlexNet 的视觉结果成为标志性转折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BD457572-C749-41BA-83D3-787C7438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C4630BF0-8336-498C-80F3-A21649B6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2017—2022；Transformer 与对话式生成 AI；Transformer 改变了序列建模和并行训练方式；2022 年 ChatGPT 把指令跟随与多轮对话带入大众产品入口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D94156B8-6DD6-42FA-92B6-783831B2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E71C8D62-F6E1-4FF5-9C03-477BB34BC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AI 热潮与低谷由能力、资源和预期共同塑造</a:t>
            </a:r>
          </a:p>
        </p:txBody>
      </p:sp>
    </p:spTree>
    <p:extLst>
      <p:ext uri="{BB962C8B-B14F-4D97-AF65-F5344CB8AC3E}">
        <p14:creationId xmlns:p14="http://schemas.microsoft.com/office/powerpoint/2010/main" val="13248308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BFEEE4B5-F689-4EF5-87A6-93679C74D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7F79162C-BFFF-410A-802A-E9172D7AC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3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36D5BA87-774F-41A9-AC26-47FFE31F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大模型的目标往往不止于模仿人类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8664E159-4B96-489F-A9C6-CB0AE9CE2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4AEF67A0-8E89-416D-9302-B208C182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038F216-4EC0-4950-96DB-EE3CE942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F501439-ACDA-4DAA-8954-9E347354A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哪些工作会被改变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7BCF0EC-907F-4CD3-9277-421255C3F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大模型的目标往往不止于模仿人类；在一些定义清楚、数据充分的基准任务中；模型能达到很高的分数；但分数取决于数据集、提示、工具和评价方法；不能直接外推成“全面超过人类”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5621820D-4092-4FAA-B197-15F5582B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973152B-BD7D-4D47-8C91-E7533F45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需要说明的是，被改变不等于整份职业被取代；更常见的变化，是职业内部的检索、起草、分类、分析和重复沟通被重新分工；人仍要负责目标、判断、责任与例外处理；与其只问“岗位会不会消失”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9E27737A-4F70-4707-8208-69334D0E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33C56C64-61A2-41AE-9D97-7FFEEE65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大模型的目标往往不止于模仿人类</a:t>
            </a:r>
          </a:p>
        </p:txBody>
      </p:sp>
    </p:spTree>
    <p:extLst>
      <p:ext uri="{BB962C8B-B14F-4D97-AF65-F5344CB8AC3E}">
        <p14:creationId xmlns:p14="http://schemas.microsoft.com/office/powerpoint/2010/main" val="17596518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30CD68B4-A11C-4859-80D3-E5059682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DF86FAC8-89E9-4248-AFD3-16B457D9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3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75A6234A-EADE-47EF-AD97-7C0DC89D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不是所有场景都适合上 AI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1C89BADB-6627-487F-8CC4-4398FAC6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4938FF08-980A-422A-A09E-C95D502B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2280C0A-AC1E-4A78-8C63-73ED2957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C7D96F5-6441-47BA-811C-169D5DF5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AI 落地需要什么条件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8F63F98-4D72-4130-B1F4-3003FA29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不是所有场景都适合上 AI。判断一个项目是否具备落地条件，可以从五个维度诊断当前基础与缺口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BE1BBAD-E9BF-410A-9F53-B8B8DCF59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6B5E505-B9FE-46C7-844D-5FAC5EED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团队能力 ：既理解业务目标，也有人负责数据、技术、风险和最终验收；多数应用并不要求自己训练基础模型或拥有顶尖科学家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30AA7014-468D-4D82-8FEF-001EE491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14AA8A44-88C5-4D08-B7A7-DB7F851C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适用数据 ：数据规模与质量要满足具体任务，并且来源、权限、版本和代表性可说明；“越多越好”不是通用规律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4167AB36-DEB5-4DB3-86E7-2246A559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3CF555FF-2F42-48D9-98A7-990EFB763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不是所有场景都适合上 AI</a:t>
            </a:r>
          </a:p>
        </p:txBody>
      </p:sp>
    </p:spTree>
    <p:extLst>
      <p:ext uri="{BB962C8B-B14F-4D97-AF65-F5344CB8AC3E}">
        <p14:creationId xmlns:p14="http://schemas.microsoft.com/office/powerpoint/2010/main" val="6329744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974E4834-D806-439C-B031-81D23EAB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FC5F8CFA-82BC-46C7-9F24-1F704AB8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9ACA4B08-9750-446B-BBDD-A3DF23B9F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乌鸦提醒我们：智能不等于训练规模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6AED92C0-26B1-4065-B58B-CA05EBF0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5E74AFCA-3CE8-4E42-BCA0-5F0BCE97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OV-002-S06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BD07D3CC-C2BE-4481-B8A2-34975BA8C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一只乌鸦的启示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A9F21B1B-5D1A-4047-9FAB-A8CE4859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场景｜城市中的乌鸦会利用车辆轧开坚果，并根据交通变化选择取食时机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5602447E-D24C-4D4A-BBE4-EF83139B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机制｜它没有海量训练数据，却能在真实环境里感知、规划、使用工具并达成目标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16D1B91D-1BEC-418B-A686-602461C1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结果｜这个例子的启发在于，生物智能能利用有限经验、身体能力和环境反馈完成开放任务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BBCC9A9C-8A2F-4D28-8FDA-FE89FCFF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4694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边界｜它不能直接证明哪条 AI 技术路线一定正确，却提醒我们：判断智能不能只看训练规模，还要看系统能否在环境中感知、行动、纠错并承担后果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E6D97300-CF3D-4505-BCF0-9E73BB1D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F018C2EB-66E5-4C41-9CD8-D0CA967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乌鸦提醒我们：智能不等于训练规模</a:t>
            </a:r>
          </a:p>
        </p:txBody>
      </p:sp>
    </p:spTree>
    <p:extLst>
      <p:ext uri="{BB962C8B-B14F-4D97-AF65-F5344CB8AC3E}">
        <p14:creationId xmlns:p14="http://schemas.microsoft.com/office/powerpoint/2010/main" val="5554986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CBCBB65E-1C8E-438B-8594-88548EBD4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30503A87-1543-4D39-B450-4751DAEA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3B9B5EF2-4D40-4C81-B4B3-E40DF3E08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发展与社会影响：一次可验收练习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DB73BC75-51E3-4CB1-B65E-E0A93411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FA8960A9-59C0-454C-8C43-D16069AB5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OV-002-S07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4F7C4793-25C4-4CB9-99BB-E470F14AD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5D1E25CF-9975-4F86-BC79-998B7603A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BB7ACAFE-4591-4D90-97C9-67817661C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列出你所在岗位的 5 项日常工作，逐项判断哪些可以交给 AI、哪些暂时不行，并说明理由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0A774FBF-6E4A-42BF-9F67-BCE0D68B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E1AE3871-A280-4657-82A2-C24F2ED3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AA93E880-8AD6-4799-A330-21CF2935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FD8A140E-C640-46BB-ACE2-CCC88A9E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用五个诊断维度分析一个熟悉场景：分别写出已有基础、证据缺口和下一项可验证动作，不把总分直接当作“适合或不适合”的结论</a:t>
            </a:r>
          </a:p>
        </p:txBody>
      </p:sp>
    </p:spTree>
    <p:extLst>
      <p:ext uri="{BB962C8B-B14F-4D97-AF65-F5344CB8AC3E}">
        <p14:creationId xmlns:p14="http://schemas.microsoft.com/office/powerpoint/2010/main" val="5329933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057439FA-1BF0-435E-AC8A-AAEF0434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F9A354A2-B7AF-4793-AD2C-C140121F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3A2A94EA-89D3-47E1-A893-A9F1F859F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发展与社会影响：判断时先抓住三点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D83D1D2A-8AFA-4F39-9BDB-210E20CA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745913EC-54F9-4227-AC2C-A27DCED6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OV-002-S08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2A20EB8D-6C02-4384-9F70-38B0700EF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4838160B-ACA7-4D6B-8D83-F0CB4E18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CBECAD82-AF1F-41A3-AC8E-B34F8CBF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热潮与低谷由能力、资源和预期共同塑造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B96598DF-DDD1-486B-8C25-B0993602A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28CCA344-2E7F-4362-BB99-6994D54F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F932083A-07EE-4ECE-9567-D06AC21B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695561D2-0D01-4AF3-9F97-70BF2D65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大模型的目标往往不止于模仿人类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C7052DAA-16F2-41CC-B281-9D753FD76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6C33C299-426A-42B0-9E3B-CC43C355E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5F48A1CF-D89F-4290-B3E7-6082F1E7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5FA4B8D1-6C21-4AE6-8A7F-8DD4E771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不是所有场景都适合上 AI</a:t>
            </a:r>
          </a:p>
        </p:txBody>
      </p:sp>
    </p:spTree>
    <p:extLst>
      <p:ext uri="{BB962C8B-B14F-4D97-AF65-F5344CB8AC3E}">
        <p14:creationId xmlns:p14="http://schemas.microsoft.com/office/powerpoint/2010/main" val="8229474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06D1C87D-D5C8-40ED-AA95-7003A04C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61BAC0EE-5FBE-47F3-9E3E-0EB6E1AD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D5F3E8A1-FAFF-4664-9F75-09D9FDB64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发展与社会影响：依据、边界与延伸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F9B52022-C499-4984-921B-6D56DB6F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F8E9B7FF-15BB-4216-BDE4-05BFBB153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OV-002-S09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4B62DE9C-2BC0-4D51-B3CA-8077D667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69C52EEA-0140-43A5-A574-247F4ED9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016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英国议会《AI in the UK》历史章节：用于核对达特茅斯起点、专家系统与两次 AI 寒冬；历史低谷不能简单归因于一次报告或单一事件。（核对日期：2026-07-12）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001ED44F-66C7-40FB-AB40-6201C1015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AlexNet 原论文：理解数据、GPU 与深层卷积网络共同推动的视觉转折。（核对日期：2026-07-12）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B89A7138-176E-4603-8545-933CBEB1E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281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Attention Is All You Need：Transformer 原论文；证据来自机器翻译任务，不能直接外推为大模型全部能力。（核对日期：2026-07-12）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455349A8-4EA6-471A-B16A-5814AFC8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OpenAI：Introducing ChatGPT：核对 2022 年对话式研究预览的产品起点与指令跟随路线。（核对日期：2026-07-12）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7840200C-655D-4319-B04F-2C73E833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35F1E2FE-CB45-4BB6-9DDC-9DBCB6D8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2469345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2026-07-11T16:55:19.2020000Z</dcterms:created>
  <dcterms:modified xsi:type="dcterms:W3CDTF">2026-07-11T16:55:19.2020000Z</dcterms:modified>
</coreProperties>
</file>