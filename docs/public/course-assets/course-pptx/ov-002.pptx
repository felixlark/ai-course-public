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0435559bf64092" /><Relationship Type="http://schemas.openxmlformats.org/officeDocument/2006/relationships/extended-properties" Target="/docProps/app.xml" Id="Ra3aa12f8b12243ab" /><Relationship Type="http://schemas.openxmlformats.org/officeDocument/2006/relationships/officeDocument" Target="/ppt/presentation.xml" Id="Rd69ae69bb2304a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350956ff634530"/>
  </p:sldMasterIdLst>
  <p:notesMasterIdLst>
    <p:notesMasterId xmlns:r="http://schemas.openxmlformats.org/officeDocument/2006/relationships" r:id="R6d22a6704bcb4ddd"/>
  </p:notesMasterIdLst>
  <p:sldIdLst>
    <p:sldId xmlns:r="http://schemas.openxmlformats.org/officeDocument/2006/relationships" id="256" r:id="R41e5e0ff761b4939"/>
    <p:sldId xmlns:r="http://schemas.openxmlformats.org/officeDocument/2006/relationships" id="257" r:id="R8cffa5b5c98e4185"/>
    <p:sldId xmlns:r="http://schemas.openxmlformats.org/officeDocument/2006/relationships" id="258" r:id="Rfb3c394bc70c416d"/>
    <p:sldId xmlns:r="http://schemas.openxmlformats.org/officeDocument/2006/relationships" id="259" r:id="R908cacd75127480c"/>
    <p:sldId xmlns:r="http://schemas.openxmlformats.org/officeDocument/2006/relationships" id="260" r:id="R00eae35bfdbc4360"/>
    <p:sldId xmlns:r="http://schemas.openxmlformats.org/officeDocument/2006/relationships" id="261" r:id="R5348f54aa6f94166"/>
    <p:sldId xmlns:r="http://schemas.openxmlformats.org/officeDocument/2006/relationships" id="262" r:id="R8f2c9d1dd15a4bce"/>
    <p:sldId xmlns:r="http://schemas.openxmlformats.org/officeDocument/2006/relationships" id="263" r:id="R4d27c3d754a94e49"/>
    <p:sldId xmlns:r="http://schemas.openxmlformats.org/officeDocument/2006/relationships" id="264" r:id="Re0245e8e15b6495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1f018869064ec0" /><Relationship Type="http://schemas.openxmlformats.org/officeDocument/2006/relationships/slideMaster" Target="/ppt/slideMasters/slideMaster1.xml" Id="Ra9350956ff634530" /><Relationship Type="http://schemas.openxmlformats.org/officeDocument/2006/relationships/notesMaster" Target="/ppt/notesMasters/notesMaster1.xml" Id="R6d22a6704bcb4ddd" /><Relationship Type="http://schemas.openxmlformats.org/officeDocument/2006/relationships/presProps" Target="/ppt/presProps.xml" Id="Ra3c99e9f51534f74" /><Relationship Type="http://schemas.openxmlformats.org/officeDocument/2006/relationships/tableStyles" Target="/ppt/tableStyles.xml" Id="R916cce15ac784c11" /><Relationship Type="http://schemas.openxmlformats.org/officeDocument/2006/relationships/slide" Target="/ppt/slides/slide1.xml" Id="R41e5e0ff761b4939" /><Relationship Type="http://schemas.openxmlformats.org/officeDocument/2006/relationships/slide" Target="/ppt/slides/slide2.xml" Id="R8cffa5b5c98e4185" /><Relationship Type="http://schemas.openxmlformats.org/officeDocument/2006/relationships/slide" Target="/ppt/slides/slide3.xml" Id="Rfb3c394bc70c416d" /><Relationship Type="http://schemas.openxmlformats.org/officeDocument/2006/relationships/slide" Target="/ppt/slides/slide4.xml" Id="R908cacd75127480c" /><Relationship Type="http://schemas.openxmlformats.org/officeDocument/2006/relationships/slide" Target="/ppt/slides/slide5.xml" Id="R00eae35bfdbc4360" /><Relationship Type="http://schemas.openxmlformats.org/officeDocument/2006/relationships/slide" Target="/ppt/slides/slide6.xml" Id="R5348f54aa6f94166" /><Relationship Type="http://schemas.openxmlformats.org/officeDocument/2006/relationships/slide" Target="/ppt/slides/slide7.xml" Id="R8f2c9d1dd15a4bce" /><Relationship Type="http://schemas.openxmlformats.org/officeDocument/2006/relationships/slide" Target="/ppt/slides/slide8.xml" Id="R4d27c3d754a94e49" /><Relationship Type="http://schemas.openxmlformats.org/officeDocument/2006/relationships/slide" Target="/ppt/slides/slide9.xml" Id="Re0245e8e15b649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60b42ed6f54f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8d3493115a4ac3" /><Relationship Type="http://schemas.openxmlformats.org/officeDocument/2006/relationships/notesMaster" Target="/ppt/notesMasters/notesMaster1.xml" Id="R43ce8946996849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d68f74cae64211" /><Relationship Type="http://schemas.openxmlformats.org/officeDocument/2006/relationships/notesMaster" Target="/ppt/notesMasters/notesMaster1.xml" Id="R6aaa512b87cf4d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8cb10c41524055" /><Relationship Type="http://schemas.openxmlformats.org/officeDocument/2006/relationships/notesMaster" Target="/ppt/notesMasters/notesMaster1.xml" Id="R626ee18f73ac4d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77b9eca5fe4222" /><Relationship Type="http://schemas.openxmlformats.org/officeDocument/2006/relationships/notesMaster" Target="/ppt/notesMasters/notesMaster1.xml" Id="R84320eaf66a14f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d793c42efe41bc" /><Relationship Type="http://schemas.openxmlformats.org/officeDocument/2006/relationships/notesMaster" Target="/ppt/notesMasters/notesMaster1.xml" Id="Rb4b38e9f5bb243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24b1b57ce9f4f77" /><Relationship Type="http://schemas.openxmlformats.org/officeDocument/2006/relationships/notesMaster" Target="/ppt/notesMasters/notesMaster1.xml" Id="Rdcf6853940a54e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fff9b53b9846f3" /><Relationship Type="http://schemas.openxmlformats.org/officeDocument/2006/relationships/notesMaster" Target="/ppt/notesMasters/notesMaster1.xml" Id="R65b233d2fd0448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4a1584f6de42c3" /><Relationship Type="http://schemas.openxmlformats.org/officeDocument/2006/relationships/notesMaster" Target="/ppt/notesMasters/notesMaster1.xml" Id="R3c6402bc6fa745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0b84485bfb491b" /><Relationship Type="http://schemas.openxmlformats.org/officeDocument/2006/relationships/notesMaster" Target="/ppt/notesMasters/notesMaster1.xml" Id="Ra18ebfa2a90143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06faf35e3c42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bd05ceda0547a1" /><Relationship Type="http://schemas.openxmlformats.org/officeDocument/2006/relationships/slideLayout" Target="/ppt/slideLayouts/slideLayout1.xml" Id="R6742bfd483af49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42bfd483af49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094a120f34dcc" /><Relationship Type="http://schemas.openxmlformats.org/officeDocument/2006/relationships/notesSlide" Target="/ppt/notesSlides/notesSlide1.xml" Id="R91d27e4418c342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6853316294df5" /><Relationship Type="http://schemas.openxmlformats.org/officeDocument/2006/relationships/notesSlide" Target="/ppt/notesSlides/notesSlide2.xml" Id="Rcc6593fe35b04a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7e6f5dc084c7b" /><Relationship Type="http://schemas.openxmlformats.org/officeDocument/2006/relationships/notesSlide" Target="/ppt/notesSlides/notesSlide3.xml" Id="Rea84c23e6d8440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d4a135cea4bed" /><Relationship Type="http://schemas.openxmlformats.org/officeDocument/2006/relationships/notesSlide" Target="/ppt/notesSlides/notesSlide4.xml" Id="R1a4956aa89d64f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313105b974fe2" /><Relationship Type="http://schemas.openxmlformats.org/officeDocument/2006/relationships/notesSlide" Target="/ppt/notesSlides/notesSlide5.xml" Id="Re80ccf9b5f1749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1cdf19294b4919" /><Relationship Type="http://schemas.openxmlformats.org/officeDocument/2006/relationships/notesSlide" Target="/ppt/notesSlides/notesSlide6.xml" Id="Ra9518762cfde4db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0eeaa15e543c3" /><Relationship Type="http://schemas.openxmlformats.org/officeDocument/2006/relationships/notesSlide" Target="/ppt/notesSlides/notesSlide7.xml" Id="R15d2192c212849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bc03ce920411e" /><Relationship Type="http://schemas.openxmlformats.org/officeDocument/2006/relationships/notesSlide" Target="/ppt/notesSlides/notesSlide8.xml" Id="R7edaf29cb8dc4d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ebf8b487c4024" /><Relationship Type="http://schemas.openxmlformats.org/officeDocument/2006/relationships/notesSlide" Target="/ppt/notesSlides/notesSlide9.xml" Id="R8e865c83ea4c43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503AD730-5A8A-4C97-AE79-36AB13C6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9BBE081E-B368-4E74-AD89-1E16252E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446497DD-D491-4CAD-9959-4B8747D5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CF06C17A-E823-4AAC-A439-68E6AA48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C8828C7C-184E-4533-8CF2-569F3733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400F1B38-16E4-4323-B10C-2A0C6405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6A33A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2737F4A4-0E00-47D9-BCAF-3D7764962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第 1 章 · 人工智能概述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94A3DFA-6C40-4FEA-A1A7-5D012818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人工智能发展与社会影响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CBC196C-4E31-4591-8B39-A72C4625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沿关键技术转折理解人工智能的兴衰，并讨论它如何改变工作、组织和社会分工。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5B9766E4-8292-4CA7-BA63-E21860CE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人工智能的发展从来不是一条只由算法推动的直线。规则系统、机器学习、深度学习和大模型依次扩大了机器可处理的任务边界；与此同时，数据、算力、产品入口…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D378E843-0BC8-49E1-95DE-DCE14DAC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E3FA8847-996D-4C97-B079-BE2F198D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OV-002 · OV-002-S01</a:t>
            </a:r>
          </a:p>
        </p:txBody>
      </p:sp>
    </p:spTree>
    <p:extLst>
      <p:ext uri="{BB962C8B-B14F-4D97-AF65-F5344CB8AC3E}">
        <p14:creationId xmlns:p14="http://schemas.microsoft.com/office/powerpoint/2010/main" val="15127497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B60FCD1-67D4-4ECD-BDAA-D1C63AEE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13E0E36-D512-443A-B31B-D39E941D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912C3E3F-289B-4D51-BF16-19D817C5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59A5A678-83AD-4449-B641-8D153C18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16BB43D5-F34B-41D7-945F-CBAB4AAB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0533D5EF-E3F9-427A-AD82-EB29767D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解释规则系统、机器学习、深度学习和大模型之间的演进关系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42A2E84-DBED-4E2E-9893-DD293621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把“职业被改变”拆成可以评估的具体任务变化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824C5815-86C8-42F4-89BB-0A62206B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从人才、数据、算法算力、反馈和场景五个维度评估 AI 项目的落地条件</a:t>
            </a:r>
          </a:p>
        </p:txBody>
      </p:sp>
    </p:spTree>
    <p:extLst>
      <p:ext uri="{BB962C8B-B14F-4D97-AF65-F5344CB8AC3E}">
        <p14:creationId xmlns:p14="http://schemas.microsoft.com/office/powerpoint/2010/main" val="20073318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64572A9E-2856-4672-9713-FE5CB5AC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9380B8F-4092-449A-8FE9-228596E3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1 / 3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E4FE7C7A-2C8B-4486-ADC2-CFC04903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早期人工智能强调把人的知识写成规则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F4346C34-E6D7-4661-A5FE-A4E16A2B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F8E730FF-DE9F-46FD-AC49-6CF94DB6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879B123-4018-424C-8EE9-5B5F710D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26AE8A0-A6BC-4D20-B3F3-B5E75CCA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从规则系统到生成与行动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E47ADA4-9737-46E4-B240-08196C90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早期人工智能强调把人的知识写成规则，适合边界清楚的问题，却难以应对开放环境。机器学习把重点转向数据，深度学习进一步让模型自动学习特征；大模型则通过规模化预训练获得通用的语言与多模态能力…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77CE7C2-6707-4799-A2F2-4B713F14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8CB1411-1531-4EBC-B3C4-BDD561A5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每次跃迁都伴随新的限制：规则难以穷尽，数据会带来偏差，深度模型缺乏可解释性，大模型会产生幻觉，智能体的行动还会放大权限与安全风险。理解历史的价值，不是背年份，而是知道每一代能力解决了什么…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7D64D946-E9E8-463C-99C6-763634AA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FEE58D96-74E7-4D34-BEF2-EAD69D2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早期人工智能强调把人的知识写成规则</a:t>
            </a:r>
          </a:p>
        </p:txBody>
      </p:sp>
    </p:spTree>
    <p:extLst>
      <p:ext uri="{BB962C8B-B14F-4D97-AF65-F5344CB8AC3E}">
        <p14:creationId xmlns:p14="http://schemas.microsoft.com/office/powerpoint/2010/main" val="17269571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6E1502F8-2CAA-44DB-A385-11BF27F9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E584DEFE-FB63-466C-887F-5C4946D4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2 / 3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B9A0760B-4BD5-4903-A4AE-6B74F9E6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F9CDA8A1-1191-4D65-89EE-27AC256D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3CB0F949-44B9-4A2F-A065-124B6BC5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6F950B5-D7D5-4EC5-A76C-B6C354E0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2DCD2EF-0F78-4011-A845-4A3352F4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哪些工作会被改变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17E1A54-47FA-4A49-B2F2-1C6BAD66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模型的目标往往不止于模仿人类。在一些定义清楚、数据充分的基准任务中，模型能达到很高的分数；但分数取决于数据集、提示、工具和评价方法，不能直接外推成“全面超过人类”。程序员、教师、主播、翻译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4DF21D9-A442-4DAB-BE54-E6DEA9B9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7E1C124-4731-4AFB-9156-8F75C513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需要说明的是，被改变不等于整份职业被取代。更常见的变化，是职业内部的检索、起草、分类、分析和重复沟通被重新分工；人仍要负责目标、判断、责任与例外处理。与其只问“岗位会不会消失”，更有用的问题是…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8ADD0521-BA2B-4D66-BD48-4B6331FE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4A1940B-F7BC-4D60-819E-11DDF0B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</p:spTree>
    <p:extLst>
      <p:ext uri="{BB962C8B-B14F-4D97-AF65-F5344CB8AC3E}">
        <p14:creationId xmlns:p14="http://schemas.microsoft.com/office/powerpoint/2010/main" val="1673262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885443A6-990C-470B-A04B-ADE15B17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BE3D7B73-033A-4FF3-9291-270001E7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核心论点 3 / 3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55C6670C-18C5-4D81-B72D-9B46FB12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7CD1546B-7B3D-45A9-8C09-5D855952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F1E54C02-63F9-43C4-8605-ABE476E3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20FBB56-56CD-44F8-B461-965FBFB8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8173870-BEC5-458B-B72C-58EA0F50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AI 落地需要什么条件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58A4B24-F440-4A13-AB88-F63A2F11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不是所有场景都适合上 AI。判断一个项目是否具备落地条件，可以从五个维度诊断当前基础与缺口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82A20588-8D02-4A25-BE7E-9F0D86C5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79E059F-B7BB-4C2C-B676-E75DED10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团队能力 ：既理解业务目标，也有人负责数据、技术、风险和最终验收；多数应用并不要求自己训练基础模型或拥有顶尖科学家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37E1B568-3D0A-4BB0-BA99-64EEA159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D6A33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A0E113C8-3567-4C07-87D8-71482993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适用数据 ：数据规模与质量要满足具体任务，并且来源、权限、版本和代表性可说明；“越多越好”不是通用规律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22D10EC5-25CB-4C1D-BAA1-9D72B921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A22F98C9-E088-4124-8D4D-AF385F10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</p:spTree>
    <p:extLst>
      <p:ext uri="{BB962C8B-B14F-4D97-AF65-F5344CB8AC3E}">
        <p14:creationId xmlns:p14="http://schemas.microsoft.com/office/powerpoint/2010/main" val="18440790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0CF63870-0551-44B2-95CE-6016840F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906B35A6-0C04-46D1-A8E7-B52F12DE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0837F24-835D-4BA6-AEDF-44CE486E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一只乌鸦的启示必须经过边界验证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45CA3CA-A7E9-4CAE-89CE-7C259E8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46B33F05-142D-4A97-AB5D-CC2A83F8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OV-002-S06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A47B7E21-E2FE-4089-840D-99688276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23B67"/>
          </a:solidFill>
          <a:ln xmlns:a="http://schemas.openxmlformats.org/drawingml/2006/main" w="0">
            <a:solidFill>
              <a:srgbClr val="123B6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一只乌鸦的启示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94D9F892-2681-4B2D-8AE8-239A3A62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场景｜城市中的乌鸦会利用车辆轧开坚果，并根据交通变化选择取食时机。它没有海量训练数据，却能在真实环境里感知、规划、使用工具并达成目标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CA807AB-49A1-4C58-A997-A116608A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机制｜这个例子的启发在于，生物智能能利用有限经验、身体能力和环境反馈完成开放任务。它不能直接证明哪条 AI 技术路线一定正确，却提醒我们：判断智能不能只看训练规模…</a:t>
            </a:r>
          </a:p>
        </p:txBody>
      </p:sp>
      <p:sp>
        <p:nvSpPr>
          <p:cNvPr id="9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5C7F634-F538-44A1-A8E8-2B92DCA1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10" name="s6-takeaway">
            <a:extLst xmlns:a="http://schemas.openxmlformats.org/drawingml/2006/main">
              <a:ext uri="{FF2B5EF4-FFF2-40B4-BE49-F238E27FC236}">
                <a16:creationId xmlns:a16="http://schemas.microsoft.com/office/drawing/2014/main" id="{F83E8FED-4763-4DBD-9797-A893A43B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一只乌鸦的启示必须经过边界验证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11644430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DC3CC4D5-3D05-46E9-AEC9-F16217E5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4C350C9B-D144-4B2D-96FC-8C290DEF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67118A7D-2D18-4625-83E2-25EB3B42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6EAE948D-A752-4F25-BCF5-8C238475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F7DDF21-60F9-4B04-9E2C-272B6371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OV-002-S07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F37DD364-D423-4CF4-8E9E-D8A11A7A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397F9D92-8C53-4BA9-AB25-12B86FB6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D54A016A-860B-4DDA-AFAB-A38FF0B0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列出你所在岗位的 5 项日常工作，逐项判断哪些可以交给 AI、哪些暂时不行，并说明理由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F25DFD32-1E6C-4223-ABB3-DF0723CC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81A3ADE3-0407-4525-9044-EC097722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497CE188-594E-43A8-953B-6113057B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A4B850B4-9793-4302-A23B-78C6ED73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用五个诊断维度分析一个熟悉场景：分别写出已有基础、证据缺口和下一项可验证动作，不把总分直接当作“适合或不适合”的结论</a:t>
            </a:r>
          </a:p>
        </p:txBody>
      </p:sp>
    </p:spTree>
    <p:extLst>
      <p:ext uri="{BB962C8B-B14F-4D97-AF65-F5344CB8AC3E}">
        <p14:creationId xmlns:p14="http://schemas.microsoft.com/office/powerpoint/2010/main" val="11543340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9E40EC56-190B-4C73-A7DC-CF120E78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39FDD187-2D8D-436B-BD81-B2775044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B9B06F72-13C2-42D9-B6F7-BC00DB83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BCCA8DA-02F7-4B85-8F88-65C99BA5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574A198E-8172-4D27-A28D-E2618BB7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OV-002-S08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F187CDAB-C2A5-45A0-9A08-15E8640D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7B6C93F8-6E81-4302-B32A-65ABDC20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E1A23B9E-3985-4897-B821-601E488A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早期人工智能强调把人的知识写成规则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0184F044-5BB8-4D3F-B1C2-6617C669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3AFFB4C6-6353-4EA8-95D4-5B6C6174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6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F17F162-38C6-48D7-8D6A-9905CD7E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00AD1E1-6F47-4EBC-84F3-1A673110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大模型的目标往往不止于模仿人类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ACB58622-95F6-4699-AB91-78F538C4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6A33A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5810977C-42A6-44B0-923E-9B9CFA57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0C215B30-3B0F-4DBD-8512-7A84CB40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825C0C8E-7F48-4C99-9F71-88619E87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19050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不是所有场景都适合上 AI</a:t>
            </a:r>
          </a:p>
        </p:txBody>
      </p:sp>
    </p:spTree>
    <p:extLst>
      <p:ext uri="{BB962C8B-B14F-4D97-AF65-F5344CB8AC3E}">
        <p14:creationId xmlns:p14="http://schemas.microsoft.com/office/powerpoint/2010/main" val="15409823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67C8B01B-F930-4A90-8DCE-DC3B23B4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70189C4F-3579-4E1F-8141-FB0B26A8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3E373516-102B-45F0-91AC-B92496C1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05C1B0DB-A8D4-4CDE-B8B4-3F09D222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F3D75690-6D00-4439-9C88-5DE3F118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OV-002 · OV-002-S09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3087C35-7B21-42B6-8CC3-E1A81A24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4D7"/>
          </a:solidFill>
          <a:ln xmlns:a="http://schemas.openxmlformats.org/drawingml/2006/main" w="9525">
            <a:solidFill>
              <a:srgbClr val="D6A33A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475BDD49-6C4F-44F8-965F-6B873464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建议把本节的历史阶段表与身边一个 AI 产品对照：它主要依赖规则、学习、生成，还是行动闭环？</a:t>
            </a:r>
          </a:p>
        </p:txBody>
      </p:sp>
      <p:sp>
        <p:nvSpPr>
          <p:cNvPr id="8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DFD4DD90-BFFD-4E49-9208-1D46DC99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3A"/>
          </a:solidFill>
          <a:ln xmlns:a="http://schemas.openxmlformats.org/drawingml/2006/main" w="0">
            <a:solidFill>
              <a:srgbClr val="D6A33A"/>
            </a:solidFill>
            <a:prstDash val="solid"/>
          </a:ln>
        </p:spPr>
      </p:sp>
      <p:sp>
        <p:nvSpPr>
          <p:cNvPr id="9" name="s9-takeaway">
            <a:extLst xmlns:a="http://schemas.openxmlformats.org/drawingml/2006/main">
              <a:ext uri="{FF2B5EF4-FFF2-40B4-BE49-F238E27FC236}">
                <a16:creationId xmlns:a16="http://schemas.microsoft.com/office/drawing/2014/main" id="{AD685325-1CC3-42A0-A805-EA05F9BF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23B6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8141404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2026-07-11T12:05:05.4620000Z</dcterms:created>
  <dcterms:modified xsi:type="dcterms:W3CDTF">2026-07-11T12:05:05.4620000Z</dcterms:modified>
</coreProperties>
</file>