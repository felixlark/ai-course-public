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0028988e414958" /><Relationship Type="http://schemas.openxmlformats.org/officeDocument/2006/relationships/extended-properties" Target="/docProps/app.xml" Id="R81a4edc5a3824ff3" /><Relationship Type="http://schemas.openxmlformats.org/officeDocument/2006/relationships/officeDocument" Target="/ppt/presentation.xml" Id="R79e52a0079b9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c0ecc89a564357"/>
  </p:sldMasterIdLst>
  <p:notesMasterIdLst>
    <p:notesMasterId xmlns:r="http://schemas.openxmlformats.org/officeDocument/2006/relationships" r:id="R5b2680d22d324841"/>
  </p:notesMasterIdLst>
  <p:sldIdLst>
    <p:sldId xmlns:r="http://schemas.openxmlformats.org/officeDocument/2006/relationships" id="256" r:id="R7c0c0d4ad6724d64"/>
    <p:sldId xmlns:r="http://schemas.openxmlformats.org/officeDocument/2006/relationships" id="257" r:id="R42ba4db27f8c46b4"/>
    <p:sldId xmlns:r="http://schemas.openxmlformats.org/officeDocument/2006/relationships" id="258" r:id="Rb282e825bf3d4b2e"/>
    <p:sldId xmlns:r="http://schemas.openxmlformats.org/officeDocument/2006/relationships" id="259" r:id="R902c8f44bb2a4d3e"/>
    <p:sldId xmlns:r="http://schemas.openxmlformats.org/officeDocument/2006/relationships" id="260" r:id="R0e849dc9304d41e4"/>
    <p:sldId xmlns:r="http://schemas.openxmlformats.org/officeDocument/2006/relationships" id="261" r:id="R9ff5ba4b461f437f"/>
    <p:sldId xmlns:r="http://schemas.openxmlformats.org/officeDocument/2006/relationships" id="262" r:id="R6c6db231f50f49c8"/>
    <p:sldId xmlns:r="http://schemas.openxmlformats.org/officeDocument/2006/relationships" id="263" r:id="R3b91671fab2e436f"/>
    <p:sldId xmlns:r="http://schemas.openxmlformats.org/officeDocument/2006/relationships" id="264" r:id="Rbbc07b2c77234866"/>
    <p:sldId xmlns:r="http://schemas.openxmlformats.org/officeDocument/2006/relationships" id="265" r:id="Rd8536b99a2a84a87"/>
    <p:sldId xmlns:r="http://schemas.openxmlformats.org/officeDocument/2006/relationships" id="266" r:id="R3a3ff5a3b01147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03eae1d284af2" /><Relationship Type="http://schemas.openxmlformats.org/officeDocument/2006/relationships/slideMaster" Target="/ppt/slideMasters/slideMaster1.xml" Id="R7ac0ecc89a564357" /><Relationship Type="http://schemas.openxmlformats.org/officeDocument/2006/relationships/notesMaster" Target="/ppt/notesMasters/notesMaster1.xml" Id="R5b2680d22d324841" /><Relationship Type="http://schemas.openxmlformats.org/officeDocument/2006/relationships/presProps" Target="/ppt/presProps.xml" Id="Ra2393c2700674627" /><Relationship Type="http://schemas.openxmlformats.org/officeDocument/2006/relationships/tableStyles" Target="/ppt/tableStyles.xml" Id="Rb19f02c346aa45f8" /><Relationship Type="http://schemas.openxmlformats.org/officeDocument/2006/relationships/slide" Target="/ppt/slides/slide1.xml" Id="R7c0c0d4ad6724d64" /><Relationship Type="http://schemas.openxmlformats.org/officeDocument/2006/relationships/slide" Target="/ppt/slides/slide2.xml" Id="R42ba4db27f8c46b4" /><Relationship Type="http://schemas.openxmlformats.org/officeDocument/2006/relationships/slide" Target="/ppt/slides/slide3.xml" Id="Rb282e825bf3d4b2e" /><Relationship Type="http://schemas.openxmlformats.org/officeDocument/2006/relationships/slide" Target="/ppt/slides/slide4.xml" Id="R902c8f44bb2a4d3e" /><Relationship Type="http://schemas.openxmlformats.org/officeDocument/2006/relationships/slide" Target="/ppt/slides/slide5.xml" Id="R0e849dc9304d41e4" /><Relationship Type="http://schemas.openxmlformats.org/officeDocument/2006/relationships/slide" Target="/ppt/slides/slide6.xml" Id="R9ff5ba4b461f437f" /><Relationship Type="http://schemas.openxmlformats.org/officeDocument/2006/relationships/slide" Target="/ppt/slides/slide7.xml" Id="R6c6db231f50f49c8" /><Relationship Type="http://schemas.openxmlformats.org/officeDocument/2006/relationships/slide" Target="/ppt/slides/slide8.xml" Id="R3b91671fab2e436f" /><Relationship Type="http://schemas.openxmlformats.org/officeDocument/2006/relationships/slide" Target="/ppt/slides/slide9.xml" Id="Rbbc07b2c77234866" /><Relationship Type="http://schemas.openxmlformats.org/officeDocument/2006/relationships/slide" Target="/ppt/slides/slide10.xml" Id="Rd8536b99a2a84a87" /><Relationship Type="http://schemas.openxmlformats.org/officeDocument/2006/relationships/slide" Target="/ppt/slides/slide11.xml" Id="R3a3ff5a3b01147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2cad64ddbc47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db539f66e4f70" /><Relationship Type="http://schemas.openxmlformats.org/officeDocument/2006/relationships/notesMaster" Target="/ppt/notesMasters/notesMaster1.xml" Id="Rd78ad242f0b449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8a5179263c438c" /><Relationship Type="http://schemas.openxmlformats.org/officeDocument/2006/relationships/notesMaster" Target="/ppt/notesMasters/notesMaster1.xml" Id="R77ba66528b7e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0ac82cfd240d6" /><Relationship Type="http://schemas.openxmlformats.org/officeDocument/2006/relationships/notesMaster" Target="/ppt/notesMasters/notesMaster1.xml" Id="R2ada94fd588744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4d5f05f62c45c7" /><Relationship Type="http://schemas.openxmlformats.org/officeDocument/2006/relationships/notesMaster" Target="/ppt/notesMasters/notesMaster1.xml" Id="R5caeb479da36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2efa31aa5e4299" /><Relationship Type="http://schemas.openxmlformats.org/officeDocument/2006/relationships/notesMaster" Target="/ppt/notesMasters/notesMaster1.xml" Id="R4db29b8b2a0e43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d27f0d338449da" /><Relationship Type="http://schemas.openxmlformats.org/officeDocument/2006/relationships/notesMaster" Target="/ppt/notesMasters/notesMaster1.xml" Id="R6973c7781df14f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1b37e6d9bf4d74" /><Relationship Type="http://schemas.openxmlformats.org/officeDocument/2006/relationships/notesMaster" Target="/ppt/notesMasters/notesMaster1.xml" Id="R8ba2c0452da84b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13ac90c2784f79" /><Relationship Type="http://schemas.openxmlformats.org/officeDocument/2006/relationships/notesMaster" Target="/ppt/notesMasters/notesMaster1.xml" Id="R09bfcd19350040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746d8977a449f" /><Relationship Type="http://schemas.openxmlformats.org/officeDocument/2006/relationships/notesMaster" Target="/ppt/notesMasters/notesMaster1.xml" Id="R88e58e7b5745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acc6941a034c4f" /><Relationship Type="http://schemas.openxmlformats.org/officeDocument/2006/relationships/notesMaster" Target="/ppt/notesMasters/notesMaster1.xml" Id="Rfb109770216e43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8f015d1da74614" /><Relationship Type="http://schemas.openxmlformats.org/officeDocument/2006/relationships/notesMaster" Target="/ppt/notesMasters/notesMaster1.xml" Id="R678432dd0740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18169b3b241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a908b6e8514c3f" /><Relationship Type="http://schemas.openxmlformats.org/officeDocument/2006/relationships/slideLayout" Target="/ppt/slideLayouts/slideLayout1.xml" Id="R1cc45713821b4a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c45713821b4a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4124b4c5499d" /><Relationship Type="http://schemas.openxmlformats.org/officeDocument/2006/relationships/notesSlide" Target="/ppt/notesSlides/notesSlide1.xml" Id="R217e247f93d14a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8cf2538274fcd" /><Relationship Type="http://schemas.openxmlformats.org/officeDocument/2006/relationships/notesSlide" Target="/ppt/notesSlides/notesSlide2.xml" Id="R399dc6369a6a4a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cab7ef6534340" /><Relationship Type="http://schemas.openxmlformats.org/officeDocument/2006/relationships/notesSlide" Target="/ppt/notesSlides/notesSlide3.xml" Id="Ra387cbed817344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2aa81129a49b4" /><Relationship Type="http://schemas.openxmlformats.org/officeDocument/2006/relationships/notesSlide" Target="/ppt/notesSlides/notesSlide4.xml" Id="Rb4ee98321fb645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b1f711a004b68" /><Relationship Type="http://schemas.openxmlformats.org/officeDocument/2006/relationships/notesSlide" Target="/ppt/notesSlides/notesSlide5.xml" Id="R4f7a9b7cfd0f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65c94a5284793" /><Relationship Type="http://schemas.openxmlformats.org/officeDocument/2006/relationships/notesSlide" Target="/ppt/notesSlides/notesSlide6.xml" Id="R958f59fdd4cc48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882fb5ab4583" /><Relationship Type="http://schemas.openxmlformats.org/officeDocument/2006/relationships/notesSlide" Target="/ppt/notesSlides/notesSlide7.xml" Id="Ra711c8bc7727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a8ec4de174aa3" /><Relationship Type="http://schemas.openxmlformats.org/officeDocument/2006/relationships/notesSlide" Target="/ppt/notesSlides/notesSlide8.xml" Id="R3ee6b8c2a74e49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deb2d6ccd416f" /><Relationship Type="http://schemas.openxmlformats.org/officeDocument/2006/relationships/notesSlide" Target="/ppt/notesSlides/notesSlide9.xml" Id="R8b51c7a7cc8e4a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1ba6efe93840ea" /><Relationship Type="http://schemas.openxmlformats.org/officeDocument/2006/relationships/notesSlide" Target="/ppt/notesSlides/notesSlide10.xml" Id="Ra05e21c4a56a4fb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31364d89946cf" /><Relationship Type="http://schemas.openxmlformats.org/officeDocument/2006/relationships/notesSlide" Target="/ppt/notesSlides/notesSlide11.xml" Id="R4909b5370c064e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FD4AD426-F93F-4E66-90E2-8D2AF7B7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7B55F25D-0C4E-4B78-8CCF-AAECCA90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7F15213E-8719-4168-8DBC-12A13ADB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A0B780FE-6529-4A38-9C1E-1D3720F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FB916571-E7CF-426B-AE50-90F387A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319A101C-F1BA-45E7-A336-795414E8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9B72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01E161A-8D71-4E24-BD90-1F19A5A0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第 3 章 · 具身智能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238FEB7-2CC5-4942-8371-EC1A8668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多模态感知与环境理解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56918E4-E5C0-4983-9E39-9FF64E75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讲清视觉、深度、激光雷达和状态估计如何共同形成可供决策使用的环境表示。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5E66B6D0-9E65-42A2-A277-BF276F5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机器人要在真实环境中行动，必须先把相机、深度、惯性和激光雷达等不同传感器的信息变成可计算的环境描述。多模态感知的价值不在于传感器越多越好，而在于让不同信息互相补充、互相校验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CDB2FF50-6FB9-43D5-AC27-EB4153A2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90095968-EA6F-4F70-8256-686B2334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EM-003 · EM-003-S01</a:t>
            </a:r>
          </a:p>
        </p:txBody>
      </p:sp>
    </p:spTree>
    <p:extLst>
      <p:ext uri="{BB962C8B-B14F-4D97-AF65-F5344CB8AC3E}">
        <p14:creationId xmlns:p14="http://schemas.microsoft.com/office/powerpoint/2010/main" val="9431300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9EBD7BF5-2BE3-4178-93D9-8BD951FD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68C50B8B-8228-4129-B7BC-E1B31E62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1587F2D8-C786-4927-965F-BC0A4C6A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学完这一节，你能完成这些判断与行动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A3BF950C-3531-46E2-B14A-42E8CAB8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7BD9193D-A5A5-43E9-8A00-3DFAA21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6CD3C88E-0C0A-4853-ADEF-608DF963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说明相机、深度相机、激光雷达和本体状态分别提供什么信息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F3316D36-E4F9-411C-9359-A2B0C60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设计从传感器数据到目标、障碍和机器人状态的感知链路</a:t>
            </a:r>
          </a:p>
        </p:txBody>
      </p:sp>
    </p:spTree>
    <p:extLst>
      <p:ext uri="{BB962C8B-B14F-4D97-AF65-F5344CB8AC3E}">
        <p14:creationId xmlns:p14="http://schemas.microsoft.com/office/powerpoint/2010/main" val="986254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14416F8E-297C-4CE7-9742-D471B9A9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0FFF0B90-9413-4EAD-9B4F-3058A41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1 / 5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9B16DFB5-ED57-4DCC-86A4-73158632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RGB 相机提供颜色与纹理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3774DCD3-E8E6-4925-BD5D-05E6F55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B50D8798-4D4B-4CA6-8316-82EBACA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7221217E-9FC1-49AB-920F-38D2418F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D6CE6D6F-1A9F-49FD-A8A6-3A4764C9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多模态感知：不同传感器看见不同世界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36BD3C6D-C83A-4C6F-AC1A-5E754F6E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876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RGB 相机提供颜色与纹理，深度相机估计物体距离，IMU 记录加速度和角速度，激光雷达输出更大范围的空间点云。单一传感器通常无法同时满足语义、距离、动态和鲁棒性要求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C8438A3-6E39-4EA6-ACA9-60A05D6B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D70FA70-96A3-41BF-BD80-DFAA416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选择传感器时应从任务出发：抓取关注近距离深度和细节，导航关注视场、量程与稳定性，动态交互还要关注帧率、延迟和运动畸变</a:t>
            </a:r>
          </a:p>
        </p:txBody>
      </p:sp>
      <p:sp>
        <p:nvSpPr>
          <p:cNvPr id="11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6366E115-0815-4738-972A-C1322C2E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3-takeaway">
            <a:extLst xmlns:a="http://schemas.openxmlformats.org/drawingml/2006/main">
              <a:ext uri="{FF2B5EF4-FFF2-40B4-BE49-F238E27FC236}">
                <a16:creationId xmlns:a16="http://schemas.microsoft.com/office/drawing/2014/main" id="{BC4498ED-671C-484C-9689-8B263407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RGB 相机提供颜色与纹理</a:t>
            </a:r>
          </a:p>
        </p:txBody>
      </p:sp>
    </p:spTree>
    <p:extLst>
      <p:ext uri="{BB962C8B-B14F-4D97-AF65-F5344CB8AC3E}">
        <p14:creationId xmlns:p14="http://schemas.microsoft.com/office/powerpoint/2010/main" val="13114451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C591D6D2-338C-4076-8D36-2941CA1A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CB2B2BA6-CED0-4BE4-B05A-28F0FBC4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2 / 5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AC53F4D7-FD9A-4E42-B3E4-1A2D4D16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D435i 将 RGB-D 视觉与 IMU 结合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81752FFE-8F6F-4BC6-A85A-5ABBF8A9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738411E9-F4E9-4C28-8907-F59641F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CC9CBDE8-8E35-4E3B-8E3E-1806DF6A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8808B7C-DA92-4300-9CC5-5FD80B3F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深度相机：从图像获得空间距离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778DC481-87CC-4B99-8A9C-4AD75336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D435i 将 RGB-D 视觉与 IMU 结合，可同时提供彩色图像、深度图和运动信息。双目立体、结构光与 ToF 都能测距，但它们在光照、纹理、量程和噪声方面具有不同特性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5CABC7F-1C76-400B-9F9A-497A18CA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3BB71DB-BF14-4378-880B-E0373C6B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深度图不是天然可靠的真值。反光表面、无纹理区域、遮挡边缘和强光都会产生空洞或误差，因此需要检查有效距离、深度尺度、内参和深度与彩色图的对齐状态</a:t>
            </a:r>
          </a:p>
        </p:txBody>
      </p:sp>
      <p:sp>
        <p:nvSpPr>
          <p:cNvPr id="11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38AAB98B-C381-432C-B537-89F013D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4-takeaway">
            <a:extLst xmlns:a="http://schemas.openxmlformats.org/drawingml/2006/main">
              <a:ext uri="{FF2B5EF4-FFF2-40B4-BE49-F238E27FC236}">
                <a16:creationId xmlns:a16="http://schemas.microsoft.com/office/drawing/2014/main" id="{547003D0-AEB5-4FBE-94F4-F181DFE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D435i 将 RGB-D 视觉与 IMU 结合</a:t>
            </a:r>
          </a:p>
        </p:txBody>
      </p:sp>
    </p:spTree>
    <p:extLst>
      <p:ext uri="{BB962C8B-B14F-4D97-AF65-F5344CB8AC3E}">
        <p14:creationId xmlns:p14="http://schemas.microsoft.com/office/powerpoint/2010/main" val="3580055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77FE0AB0-B1F7-4F8E-AC4A-30E454B6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06F25F40-4975-4F55-81AD-73BBD6EE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3 / 5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7BC92DA3-EFCC-41A2-992A-39CC19F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Mid-360 等激光雷达通过测量激光回波构建三维点云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6081A2CE-A8CA-462C-B037-F3B817D1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E0FA3E87-B0C3-4799-B8AA-D528995B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A5BCEDC0-08E0-436A-9393-AC2EA7D7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BA7A412-D2C3-4C34-8FCE-1230B8C4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激光雷达：用点云描述三维环境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DE3D9B9-DCB3-4DC5-94BE-5576165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Mid-360 等激光雷达通过测量激光回波构建三维点云，适合环境建图、定位和障碍物检测。点云中的每个点只代表一次空间观测，仍需要滤波、坐标变换和时序组织才能进入下游任务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33FD85C-A8E7-45CE-AE4F-1B8845D7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F35B156A-236D-4C0B-A24A-A2373A8E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设备网络参数、驱动版本、扫描频率和安装姿态都会影响数据质量。接入后应先检查点云密度、盲区、漂移与运动时的形变，再讨论识别或建图效果</a:t>
            </a:r>
          </a:p>
        </p:txBody>
      </p:sp>
      <p:sp>
        <p:nvSpPr>
          <p:cNvPr id="11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EB370206-861C-449A-A6DA-F62C221B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5-takeaway">
            <a:extLst xmlns:a="http://schemas.openxmlformats.org/drawingml/2006/main">
              <a:ext uri="{FF2B5EF4-FFF2-40B4-BE49-F238E27FC236}">
                <a16:creationId xmlns:a16="http://schemas.microsoft.com/office/drawing/2014/main" id="{87F8B216-C545-40E8-845C-3DC6000D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Mid-360 等激光雷达通过测量激光回波构建三维点云</a:t>
            </a:r>
          </a:p>
        </p:txBody>
      </p:sp>
    </p:spTree>
    <p:extLst>
      <p:ext uri="{BB962C8B-B14F-4D97-AF65-F5344CB8AC3E}">
        <p14:creationId xmlns:p14="http://schemas.microsoft.com/office/powerpoint/2010/main" val="18842197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AAB04EFE-6E29-483C-8B24-D4BCDFA0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2DFD153C-18F8-478E-97C4-F916840D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4 / 5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0C4199F3-0660-400E-B449-C9893DBA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相机、IMU、雷达和机器人本体各自拥有坐标系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37CDCEA8-4C36-4E3E-9D93-1AB70935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1FDA7EDA-C020-4C5B-8FE9-400EF19E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1CA2767B-BC88-4F7D-8368-BE2A71FF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E523D38E-53FF-43B2-BBB6-847CBE6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坐标与时间：让多源数据对上同一现实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98687063-BF16-48AB-8E87-F433FE33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相机、IMU、雷达和机器人本体各自拥有坐标系。外参标定给出这些坐标系之间的空间关系，时间同步则确保不同传感器描述的是同一时刻附近的环境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B3958D8E-5E30-4255-82BB-659CF587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0960E7E8-F7DE-4768-889E-2064F26D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空间或时间对齐出现偏差时，点云会投到错误的图像位置，移动物体会产生重影，融合模型也会学习到错误对应关系。TF 树、时间戳和标定文件应作为系统配置的一部分被版本化和复核</a:t>
            </a:r>
          </a:p>
        </p:txBody>
      </p:sp>
      <p:sp>
        <p:nvSpPr>
          <p:cNvPr id="11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10E3477E-60AD-4054-95BE-50872CC9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6-takeaway">
            <a:extLst xmlns:a="http://schemas.openxmlformats.org/drawingml/2006/main">
              <a:ext uri="{FF2B5EF4-FFF2-40B4-BE49-F238E27FC236}">
                <a16:creationId xmlns:a16="http://schemas.microsoft.com/office/drawing/2014/main" id="{15BC0840-C282-4E91-9B20-8E6C7C50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相机、IMU、雷达和机器人本体各自拥有坐标系</a:t>
            </a:r>
          </a:p>
        </p:txBody>
      </p:sp>
    </p:spTree>
    <p:extLst>
      <p:ext uri="{BB962C8B-B14F-4D97-AF65-F5344CB8AC3E}">
        <p14:creationId xmlns:p14="http://schemas.microsoft.com/office/powerpoint/2010/main" val="9757998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6D295B62-EFF4-4234-93D5-70707E7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8986F2BC-59D3-4A7A-9A6D-7C04E01A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核心论点 5 / 5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E9A69B25-ED5C-4420-948D-7C0A5BBE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6983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仿真环境可以先验证传感器挂载、坐标系、话题命名和可视化链路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B2525E39-B547-4DEA-AD98-824BFD24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A7E59C85-3DB2-4C98-8313-6EAF34C0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45F94C5E-DA1B-4934-8D5E-A9B039BB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17EEBC71-3331-45E4-883D-16BFB89F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从仿真到真机：用 ROS 话题逐层验收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FB0F952A-F3AE-470B-AB90-530B045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仿真环境可以先验证传感器挂载、坐标系、话题命名和可视化链路。通过 ROS2 话题列表、消息频率与 RViz 展示，可确认图像、深度、点云和 IMU 是否稳定发布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C12B4722-3387-4991-8B37-362504BF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D9B7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7C37855-63BA-4354-9A22-222BB95E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真机接入应沿用同一检查顺序：设备可见、驱动启动、话题存在、频率合理、坐标正确、数据质量可接受。只有底层数据通过验收后，定位、建图与识别结果才具有解释价值</a:t>
            </a:r>
          </a:p>
        </p:txBody>
      </p:sp>
      <p:sp>
        <p:nvSpPr>
          <p:cNvPr id="11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99788DFA-AB50-4E8A-AE7A-1A2144D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2" name="s7-takeaway">
            <a:extLst xmlns:a="http://schemas.openxmlformats.org/drawingml/2006/main">
              <a:ext uri="{FF2B5EF4-FFF2-40B4-BE49-F238E27FC236}">
                <a16:creationId xmlns:a16="http://schemas.microsoft.com/office/drawing/2014/main" id="{531BD393-248E-4001-9519-DBEA443E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仿真环境可以先验证传感器挂载、坐标系、话题命名和可视化链路</a:t>
            </a:r>
          </a:p>
        </p:txBody>
      </p:sp>
    </p:spTree>
    <p:extLst>
      <p:ext uri="{BB962C8B-B14F-4D97-AF65-F5344CB8AC3E}">
        <p14:creationId xmlns:p14="http://schemas.microsoft.com/office/powerpoint/2010/main" val="681160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2B70BFCE-C30C-4216-8C69-F251C42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B07F008A-2BC1-4204-835F-96392F2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案例与边界 1 / 1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E74E0127-280D-4BA8-93D2-366FB1D3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必须分别记录延迟、丢帧、外参漂移和失效场景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2E2482BE-90CA-4ECF-8000-16290711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CE358358-7B79-4332-9C2F-48359067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EM-003-S08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981A86ED-CE69-4444-AC23-D8A8A1B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65642"/>
          </a:solidFill>
          <a:ln xmlns:a="http://schemas.openxmlformats.org/drawingml/2006/main" w="0">
            <a:solidFill>
              <a:srgbClr val="16564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走廊导航的相机与雷达融合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1BED4764-3C94-411F-8B1B-B264B333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场景｜移动机器人要在光照变化、行人穿行的走廊中定位并避障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D9CDA4B-F5F8-4EC9-966C-0B9DC96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问题｜相机能识别人和标志，但弱纹理与光照变化会影响视觉；雷达测距稳定，却缺少物体语义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59A5714F-DBB0-43F1-AE3E-F9CA2E3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3898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方法｜先校准相机、IMU 与雷达坐标和时间，再融合视觉语义与点云几何信息，分别监测各传感器的数据质量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F0E091E6-2115-47C5-8928-6D941A81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158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结果｜系统同时获得可通行空间、障碍物距离和对象类别，并能在某一路数据下降时保留基本能力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7768846D-AF59-4C24-80D0-2637EE5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边界｜必须分别记录延迟、丢帧、外参漂移和失效场景，不能只看一次 RViz 画面是否正常</a:t>
            </a:r>
          </a:p>
        </p:txBody>
      </p:sp>
      <p:sp>
        <p:nvSpPr>
          <p:cNvPr id="12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197AE50B-C2ED-4330-BDE1-AE40368E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13" name="s8-takeaway">
            <a:extLst xmlns:a="http://schemas.openxmlformats.org/drawingml/2006/main">
              <a:ext uri="{FF2B5EF4-FFF2-40B4-BE49-F238E27FC236}">
                <a16:creationId xmlns:a16="http://schemas.microsoft.com/office/drawing/2014/main" id="{BA3CE1F4-7F05-44D4-80CE-F561413B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必须分别记录延迟、丢帧、外参漂移和失效场景</a:t>
            </a:r>
          </a:p>
        </p:txBody>
      </p:sp>
    </p:spTree>
    <p:extLst>
      <p:ext uri="{BB962C8B-B14F-4D97-AF65-F5344CB8AC3E}">
        <p14:creationId xmlns:p14="http://schemas.microsoft.com/office/powerpoint/2010/main" val="540797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A5878E95-7D02-4C6E-AE3F-0771668E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FFE95A3A-946D-4CB6-8E4C-2E399FAE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C6824545-6708-4895-882D-59F5929F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把方法落实为可验证的行动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79581FB4-5732-498A-8BDD-5F9E5631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AC7D866F-D3DC-4EF6-98C8-A48BD847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EM-003-S09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8A3FACC3-7B77-48CF-A8D8-B6079FA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A377C65B-C7ED-44F3-A569-FEFC761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4D5BA613-5465-45C8-8407-4585E32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为抓取、室内导航和室外巡检各选择一组传感器，并说明取舍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B4CC1A3E-E938-4404-8068-DCEDD848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9B72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EAACC3B0-BB8A-49F8-89BC-EC228E97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DADC0864-1D3C-4416-BC5A-B073C2D5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95F7B80F-9415-443C-8A64-37E17A49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画出相机、IMU、雷达、机身和世界坐标系之间的 TF 关系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C55CFB49-2725-4791-ABB5-BA87146A3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9B72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AD9C99D8-53AA-4B8A-8487-B14024BA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A302E098-C570-4405-8969-D5E04D81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621BE4EA-5A98-4518-8263-62C1806D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设计一张 ROS2 感知链路验收表，包含话题、频率、时间戳、坐标和异常现象</a:t>
            </a:r>
          </a:p>
        </p:txBody>
      </p:sp>
    </p:spTree>
    <p:extLst>
      <p:ext uri="{BB962C8B-B14F-4D97-AF65-F5344CB8AC3E}">
        <p14:creationId xmlns:p14="http://schemas.microsoft.com/office/powerpoint/2010/main" val="16806358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A9820A08-6AD4-4708-B6D8-C91D92F0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4D0606C9-C0D6-4A8F-A44D-1352BBE8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72046402-D155-4BC6-AA75-C072B50A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带走三条可复用的判断原则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B8F50226-1AE2-47FF-9B1C-B4B7F3FD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31B59243-6043-47A1-8DEE-F410C8D0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EM-003-S10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250D03F6-1A7D-4160-B04E-63F0380F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1CAE0DCD-3ACB-4D82-950D-055196F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BE2A5363-5600-4588-9B3A-E38FC244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RGB 相机提供颜色与纹理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B93C015C-6172-44E7-8AB9-C110E6D4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9B72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430D6C95-B7AD-491A-9E22-6A27E7D6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564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63BB018F-0659-4E3C-AC94-9EC73DA0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2DBC7BB9-DFF3-445C-AE3E-537C9B1A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Mid-360 等激光雷达通过测量激光回波构建三维点云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1509C832-460B-42E9-9C7C-4367927A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9B72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D3381E23-8253-40C3-ABCC-BC78809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42F288FE-E03B-4E3E-B47B-FAE4817E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1E52AA97-E72B-47A8-9CDD-EE42694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19050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仿真环境可以先验证传感器挂载、坐标系、话题命名和可视化链路</a:t>
            </a:r>
          </a:p>
        </p:txBody>
      </p:sp>
    </p:spTree>
    <p:extLst>
      <p:ext uri="{BB962C8B-B14F-4D97-AF65-F5344CB8AC3E}">
        <p14:creationId xmlns:p14="http://schemas.microsoft.com/office/powerpoint/2010/main" val="813694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838C3A97-EF1E-4F5B-B879-472E80B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05EB0DC5-26E5-4D5B-A0DA-B63673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42FA87B2-96F7-4B78-BAE8-7BA9DBE6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从公开重制课件回到可核对的学习资料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A158C6DE-60B3-4D76-9DBC-6BB009E6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1D78F10F-B07F-4940-AC3B-32EDED9D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EM-003 · EM-003-S11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B8F552D3-3EAB-4CAF-885F-1A90A6BB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1F6ED"/>
          </a:solidFill>
          <a:ln xmlns:a="http://schemas.openxmlformats.org/drawingml/2006/main" w="9525">
            <a:solidFill>
              <a:srgbClr val="2D9B72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团队既有课程资料经重新组织、改写与原创视觉重制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642BFE9C-F3D0-4BA2-8843-CA461C3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实训时以设备当前官方驱动与 ROS2 发行版文档为准，并记录硬件型号、固件、驱动和标定文件版本</a:t>
            </a:r>
          </a:p>
        </p:txBody>
      </p:sp>
      <p:sp>
        <p:nvSpPr>
          <p:cNvPr id="8" name="s11-takeaway-rule">
            <a:extLst xmlns:a="http://schemas.openxmlformats.org/drawingml/2006/main">
              <a:ext uri="{FF2B5EF4-FFF2-40B4-BE49-F238E27FC236}">
                <a16:creationId xmlns:a16="http://schemas.microsoft.com/office/drawing/2014/main" id="{8A6B2040-0584-4312-B6C3-890306BC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2"/>
          </a:solidFill>
          <a:ln xmlns:a="http://schemas.openxmlformats.org/drawingml/2006/main" w="0">
            <a:solidFill>
              <a:srgbClr val="2D9B72"/>
            </a:solidFill>
            <a:prstDash val="solid"/>
          </a:ln>
        </p:spPr>
      </p:sp>
      <p:sp>
        <p:nvSpPr>
          <p:cNvPr id="9" name="s11-takeaway">
            <a:extLst xmlns:a="http://schemas.openxmlformats.org/drawingml/2006/main">
              <a:ext uri="{FF2B5EF4-FFF2-40B4-BE49-F238E27FC236}">
                <a16:creationId xmlns:a16="http://schemas.microsoft.com/office/drawing/2014/main" id="{F4413EB9-16EE-4AF8-8C1A-ABDF081E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5642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1063717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2026-07-11T12:05:29.8480000Z</dcterms:created>
  <dcterms:modified xsi:type="dcterms:W3CDTF">2026-07-11T12:05:29.8480000Z</dcterms:modified>
</coreProperties>
</file>