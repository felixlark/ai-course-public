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727ba5ed8b43c5" /><Relationship Type="http://schemas.openxmlformats.org/officeDocument/2006/relationships/extended-properties" Target="/docProps/app.xml" Id="R352941baf30d40c5" /><Relationship Type="http://schemas.openxmlformats.org/officeDocument/2006/relationships/officeDocument" Target="/ppt/presentation.xml" Id="Rf3de51f904f049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86a2f4e60d4410"/>
  </p:sldMasterIdLst>
  <p:notesMasterIdLst>
    <p:notesMasterId xmlns:r="http://schemas.openxmlformats.org/officeDocument/2006/relationships" r:id="R83863e0e9b3d459d"/>
  </p:notesMasterIdLst>
  <p:sldIdLst>
    <p:sldId xmlns:r="http://schemas.openxmlformats.org/officeDocument/2006/relationships" id="256" r:id="R68cff85a298141c2"/>
    <p:sldId xmlns:r="http://schemas.openxmlformats.org/officeDocument/2006/relationships" id="257" r:id="R6702e5cf34e24fcf"/>
    <p:sldId xmlns:r="http://schemas.openxmlformats.org/officeDocument/2006/relationships" id="258" r:id="R4505cf194f8842c0"/>
    <p:sldId xmlns:r="http://schemas.openxmlformats.org/officeDocument/2006/relationships" id="259" r:id="Rde6ca80fb126415d"/>
    <p:sldId xmlns:r="http://schemas.openxmlformats.org/officeDocument/2006/relationships" id="260" r:id="R667425a1a36d4cc8"/>
    <p:sldId xmlns:r="http://schemas.openxmlformats.org/officeDocument/2006/relationships" id="261" r:id="R99e04fb3367548be"/>
    <p:sldId xmlns:r="http://schemas.openxmlformats.org/officeDocument/2006/relationships" id="262" r:id="R7f2da41975eb4ab9"/>
    <p:sldId xmlns:r="http://schemas.openxmlformats.org/officeDocument/2006/relationships" id="263" r:id="Rbe149aece7924af5"/>
    <p:sldId xmlns:r="http://schemas.openxmlformats.org/officeDocument/2006/relationships" id="264" r:id="Ra1a823fe492e4bed"/>
    <p:sldId xmlns:r="http://schemas.openxmlformats.org/officeDocument/2006/relationships" id="265" r:id="R1512e1a406704a88"/>
    <p:sldId xmlns:r="http://schemas.openxmlformats.org/officeDocument/2006/relationships" id="266" r:id="R3d02018e76e74b8f"/>
    <p:sldId xmlns:r="http://schemas.openxmlformats.org/officeDocument/2006/relationships" id="267" r:id="R2bccb9933c79479e"/>
    <p:sldId xmlns:r="http://schemas.openxmlformats.org/officeDocument/2006/relationships" id="268" r:id="Rfbb99c070635440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3c31e3c07f4440" /><Relationship Type="http://schemas.openxmlformats.org/officeDocument/2006/relationships/slideMaster" Target="/ppt/slideMasters/slideMaster1.xml" Id="R0686a2f4e60d4410" /><Relationship Type="http://schemas.openxmlformats.org/officeDocument/2006/relationships/notesMaster" Target="/ppt/notesMasters/notesMaster1.xml" Id="R83863e0e9b3d459d" /><Relationship Type="http://schemas.openxmlformats.org/officeDocument/2006/relationships/presProps" Target="/ppt/presProps.xml" Id="Rf051b04c6c984bf2" /><Relationship Type="http://schemas.openxmlformats.org/officeDocument/2006/relationships/tableStyles" Target="/ppt/tableStyles.xml" Id="R5659520ddbe04b54" /><Relationship Type="http://schemas.openxmlformats.org/officeDocument/2006/relationships/slide" Target="/ppt/slides/slide1.xml" Id="R68cff85a298141c2" /><Relationship Type="http://schemas.openxmlformats.org/officeDocument/2006/relationships/slide" Target="/ppt/slides/slide2.xml" Id="R6702e5cf34e24fcf" /><Relationship Type="http://schemas.openxmlformats.org/officeDocument/2006/relationships/slide" Target="/ppt/slides/slide3.xml" Id="R4505cf194f8842c0" /><Relationship Type="http://schemas.openxmlformats.org/officeDocument/2006/relationships/slide" Target="/ppt/slides/slide4.xml" Id="Rde6ca80fb126415d" /><Relationship Type="http://schemas.openxmlformats.org/officeDocument/2006/relationships/slide" Target="/ppt/slides/slide5.xml" Id="R667425a1a36d4cc8" /><Relationship Type="http://schemas.openxmlformats.org/officeDocument/2006/relationships/slide" Target="/ppt/slides/slide6.xml" Id="R99e04fb3367548be" /><Relationship Type="http://schemas.openxmlformats.org/officeDocument/2006/relationships/slide" Target="/ppt/slides/slide7.xml" Id="R7f2da41975eb4ab9" /><Relationship Type="http://schemas.openxmlformats.org/officeDocument/2006/relationships/slide" Target="/ppt/slides/slide8.xml" Id="Rbe149aece7924af5" /><Relationship Type="http://schemas.openxmlformats.org/officeDocument/2006/relationships/slide" Target="/ppt/slides/slide9.xml" Id="Ra1a823fe492e4bed" /><Relationship Type="http://schemas.openxmlformats.org/officeDocument/2006/relationships/slide" Target="/ppt/slides/slide10.xml" Id="R1512e1a406704a88" /><Relationship Type="http://schemas.openxmlformats.org/officeDocument/2006/relationships/slide" Target="/ppt/slides/slide11.xml" Id="R3d02018e76e74b8f" /><Relationship Type="http://schemas.openxmlformats.org/officeDocument/2006/relationships/slide" Target="/ppt/slides/slide12.xml" Id="R2bccb9933c79479e" /><Relationship Type="http://schemas.openxmlformats.org/officeDocument/2006/relationships/slide" Target="/ppt/slides/slide13.xml" Id="Rfbb99c07063544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f6c5b7e4fb4f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62653260014dac" /><Relationship Type="http://schemas.openxmlformats.org/officeDocument/2006/relationships/notesMaster" Target="/ppt/notesMasters/notesMaster1.xml" Id="R96d5e6e613764e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be3bf1338f4edb" /><Relationship Type="http://schemas.openxmlformats.org/officeDocument/2006/relationships/notesMaster" Target="/ppt/notesMasters/notesMaster1.xml" Id="R2269d8fc1e9944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7569b1d9004abf" /><Relationship Type="http://schemas.openxmlformats.org/officeDocument/2006/relationships/notesMaster" Target="/ppt/notesMasters/notesMaster1.xml" Id="R271e82c5e0f146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63ce2af0964b1e" /><Relationship Type="http://schemas.openxmlformats.org/officeDocument/2006/relationships/notesMaster" Target="/ppt/notesMasters/notesMaster1.xml" Id="R6f13ffd92d2649b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584c0435dd4ad0" /><Relationship Type="http://schemas.openxmlformats.org/officeDocument/2006/relationships/notesMaster" Target="/ppt/notesMasters/notesMaster1.xml" Id="R25a6eeafe62c4c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87ec285f1494c60" /><Relationship Type="http://schemas.openxmlformats.org/officeDocument/2006/relationships/notesMaster" Target="/ppt/notesMasters/notesMaster1.xml" Id="R412564ad9d7b4e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5b6725e3e754356" /><Relationship Type="http://schemas.openxmlformats.org/officeDocument/2006/relationships/notesMaster" Target="/ppt/notesMasters/notesMaster1.xml" Id="Rcfccd69961e24b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5a96b3fe70447c" /><Relationship Type="http://schemas.openxmlformats.org/officeDocument/2006/relationships/notesMaster" Target="/ppt/notesMasters/notesMaster1.xml" Id="Rc1ad986c2892425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62e124ca4ba4c9b" /><Relationship Type="http://schemas.openxmlformats.org/officeDocument/2006/relationships/notesMaster" Target="/ppt/notesMasters/notesMaster1.xml" Id="R3c66d55ab117462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c67b88a3f842f8" /><Relationship Type="http://schemas.openxmlformats.org/officeDocument/2006/relationships/notesMaster" Target="/ppt/notesMasters/notesMaster1.xml" Id="R3d70bc3b39c84b2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630246aa29a4066" /><Relationship Type="http://schemas.openxmlformats.org/officeDocument/2006/relationships/notesMaster" Target="/ppt/notesMasters/notesMaster1.xml" Id="R48a3e06c91fe405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3ab4de7ed044764" /><Relationship Type="http://schemas.openxmlformats.org/officeDocument/2006/relationships/notesMaster" Target="/ppt/notesMasters/notesMaster1.xml" Id="R85be6f787285493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60da00dfa0a4f61" /><Relationship Type="http://schemas.openxmlformats.org/officeDocument/2006/relationships/notesMaster" Target="/ppt/notesMasters/notesMaster1.xml" Id="Rd422974fdfdb46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703db852614d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2ba38c8f724e1d" /><Relationship Type="http://schemas.openxmlformats.org/officeDocument/2006/relationships/slideLayout" Target="/ppt/slideLayouts/slideLayout1.xml" Id="R2d484ad068274d6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484ad068274d6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163d0a45a1468e" /><Relationship Type="http://schemas.openxmlformats.org/officeDocument/2006/relationships/notesSlide" Target="/ppt/notesSlides/notesSlide1.xml" Id="Ra249ae47d24243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db2ed2a41c4391" /><Relationship Type="http://schemas.openxmlformats.org/officeDocument/2006/relationships/notesSlide" Target="/ppt/notesSlides/notesSlide2.xml" Id="R770bcbda152648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2563a4b32a418b" /><Relationship Type="http://schemas.openxmlformats.org/officeDocument/2006/relationships/notesSlide" Target="/ppt/notesSlides/notesSlide3.xml" Id="Ra28347cc72734e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03dd363e654074" /><Relationship Type="http://schemas.openxmlformats.org/officeDocument/2006/relationships/notesSlide" Target="/ppt/notesSlides/notesSlide4.xml" Id="R2f9559285dac44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15dd0726ed4752" /><Relationship Type="http://schemas.openxmlformats.org/officeDocument/2006/relationships/notesSlide" Target="/ppt/notesSlides/notesSlide5.xml" Id="R712e0d7db2a6416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d9aebdbbc41ac" /><Relationship Type="http://schemas.openxmlformats.org/officeDocument/2006/relationships/notesSlide" Target="/ppt/notesSlides/notesSlide6.xml" Id="R486428153e6a479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ffd2ee0fc64677" /><Relationship Type="http://schemas.openxmlformats.org/officeDocument/2006/relationships/notesSlide" Target="/ppt/notesSlides/notesSlide7.xml" Id="R2c3c9e30453943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a4669742ee408b" /><Relationship Type="http://schemas.openxmlformats.org/officeDocument/2006/relationships/notesSlide" Target="/ppt/notesSlides/notesSlide8.xml" Id="R16fa88cf9996495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1a7d8e3022484c" /><Relationship Type="http://schemas.openxmlformats.org/officeDocument/2006/relationships/notesSlide" Target="/ppt/notesSlides/notesSlide9.xml" Id="R070da7b0467c4e9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49e13df7494452" /><Relationship Type="http://schemas.openxmlformats.org/officeDocument/2006/relationships/notesSlide" Target="/ppt/notesSlides/notesSlide10.xml" Id="R0ff042f854c64de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f7cbdd5cf04345" /><Relationship Type="http://schemas.openxmlformats.org/officeDocument/2006/relationships/notesSlide" Target="/ppt/notesSlides/notesSlide11.xml" Id="R8d1035f48cde42b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7b6353dfb842eb" /><Relationship Type="http://schemas.openxmlformats.org/officeDocument/2006/relationships/notesSlide" Target="/ppt/notesSlides/notesSlide12.xml" Id="Rc684b40e12da4e7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90c254678e43b2" /><Relationship Type="http://schemas.openxmlformats.org/officeDocument/2006/relationships/notesSlide" Target="/ppt/notesSlides/notesSlide13.xml" Id="Rfb3bfa4746df4a5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5BB2A88B-C9B0-4148-9ABA-0072EEDB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4E0C5005-8E7B-469F-856D-CA8F5DA2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4B3258E0-9E13-4095-A58A-2AB9A518F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C940BB87-34CC-4AD0-9900-37D960BC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10A8DC08-1D2E-427A-9E69-EF64DDAF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F9BFE8EF-2C22-4666-BFA1-F110BB9C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4596039D-C69A-4BDD-9F3F-649B1325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8C0614A-B0DD-4C9A-AB57-E40A3107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政务服务与乡村振兴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06216A9F-E221-4D8C-9E23-B0308C06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用公共服务、基层治理和乡村振兴案例理解 AI 的流程价值、责任边界与可追溯要求。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C1436122-AB43-4054-A29D-3AAA6759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917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公共服务中的 AI 可能缩短资料查找和群众等待时间；但它面对的不是抽象问题；而是具体的人、地区、政策版本和权益；一次看似细小的适用条件错误；可能让群众错过办理期限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95B5BF07-751E-46AA-BAFC-67914D99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945F6816-10D7-4275-BEF4-9EE03716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IN-003 · IN-003-S01</a:t>
            </a:r>
          </a:p>
        </p:txBody>
      </p:sp>
    </p:spTree>
    <p:extLst>
      <p:ext uri="{BB962C8B-B14F-4D97-AF65-F5344CB8AC3E}">
        <p14:creationId xmlns:p14="http://schemas.microsoft.com/office/powerpoint/2010/main" val="1240866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A642AE39-1993-4BEB-96A0-5FECBF8C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D26F51F6-AB0E-4E6E-844B-DB29DAB3D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C32DFBEC-64CA-4D1F-BE37-5FE66CEE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政务与乡村振兴：4项学习结果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F304548F-B32A-4434-A075-8A17E774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D3CF688B-DD4C-4660-99BA-264334BE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FDB76091-D8EE-4AC8-B4E5-0A0E0039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把政务或乡村服务拆成受理、检索、辅助生成、复核、交付和纠错环节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FF6EDA49-ACB2-4D97-B1CB-F655A4B5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为每个环节定义数据权限、证据要求、人工责任和日志记录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EBB2AA2C-5A25-4170-90D5-2B300343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区分一般信息指引、资格预审与影响个人权益的行政决定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B58A70E2-F7C5-404C-A765-A2B331C7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为医疗、法律等高风险咨询设置只提供信息指引、及时转专业人员的边界</a:t>
            </a:r>
          </a:p>
        </p:txBody>
      </p:sp>
    </p:spTree>
    <p:extLst>
      <p:ext uri="{BB962C8B-B14F-4D97-AF65-F5344CB8AC3E}">
        <p14:creationId xmlns:p14="http://schemas.microsoft.com/office/powerpoint/2010/main" val="6580632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27B4FC80-C8AF-45AB-8C6F-1493A3DB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3E1AF2CF-4F22-40DC-B13C-92E24171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0FB69DB2-3F88-4E52-9062-798943976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从服务事项建立完整流程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E95F60B2-6559-4819-A2F6-63947EA4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C0F90918-E806-4705-BB1E-46499E62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E9EE767-9225-4C2B-B219-99D48483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323F7EE-402E-4E1D-877B-B2DA935F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从服务事项建立完整流程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BFCF927-7750-43C9-9B4C-7E34B2855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选择一个具体事项，例如政策查询、材料清单说明、农技服务预约或基层诉求分流；先写出现有入口、办理依据、所需材料、承办岗位、时限、例外情形和申诉渠道；再决定 AI 可以辅助哪一步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F1EEA52-9BB9-4C6E-99ED-3FCCACF7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4BEE92C-EE56-4209-965F-B09C1955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一个基础流程可以是；接收问题并识别服务事项；按用户角色检查可访问范围；从现行权威资料中检索；生成带引用的说明或待办清单；依据风险等级自动交付或送人工复核；记录使用的资料版本与最终答复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9F8ED50D-A653-4C6C-ACEE-5C9DD2AD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5C23CFB5-B6A1-4A8A-A52D-E237DEE5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从服务事项建立完整流程</a:t>
            </a:r>
          </a:p>
        </p:txBody>
      </p:sp>
    </p:spTree>
    <p:extLst>
      <p:ext uri="{BB962C8B-B14F-4D97-AF65-F5344CB8AC3E}">
        <p14:creationId xmlns:p14="http://schemas.microsoft.com/office/powerpoint/2010/main" val="19433568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08224A1D-7200-45FF-80F3-503E9D284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54767778-BA7F-47B1-9939-6132D4DB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7A6C6EB7-F6A3-4FF2-B886-13F69A2DA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权限必须同时限定身份、目的、字段与期限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D9AA72F6-7005-4090-B094-8A473BC7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19241235-C39F-4E68-8523-402ECFF47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772F788-268F-46F9-B80C-F9A006EE1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14DC829-06EE-4544-97B7-BCA5BCB4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权限控制：只看完成任务所需的信息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8D711A0-53AA-4538-BF1B-6C5832F69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权限设计应同时回答“谁、为了什么、能看哪些字段、能做什么、保存多久”；公开政策问答通常不需要身份信息；查询个人办理进度才可能需要认证；即使通过认证，服务人员和系统也只能访问职责所需的数据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1D4FD2D-65E9-417E-81D7-D7746B8A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12E3866-9BBF-459E-AE0D-6ED948A3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对个人信息、家庭情况、位置、健康、财产和未公开生产经营数据；应采用分级、脱敏、访问审计和期限管理；测试环境不得直接复制真实敏感数据；日志也不能原样保存身份证件、病历或完整对话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7D7BE7D7-A717-4292-B863-4ECF3FBA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9A505900-64BE-4C22-90CC-A9162688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权限必须同时限定身份、目的、字段与期限</a:t>
            </a:r>
          </a:p>
        </p:txBody>
      </p:sp>
    </p:spTree>
    <p:extLst>
      <p:ext uri="{BB962C8B-B14F-4D97-AF65-F5344CB8AC3E}">
        <p14:creationId xmlns:p14="http://schemas.microsoft.com/office/powerpoint/2010/main" val="9434980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4EAC4F5E-0068-4E78-8D49-E03A7636E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09389617-4765-4C94-90CD-115D1960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D41A81A6-2945-4724-AC59-63E8FD03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证据链：回答必须能回到有效依据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F26020EA-1B40-44AE-9ACA-645C6ABD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B37FE9DB-7122-4CF4-B13B-A8D9F690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C0ADB4C-F533-48FD-B1C3-8E61DE36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137D105-B294-4460-AB04-98C85691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证据链：回答必须能回到有效依据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FEFDD90-8255-464F-85B6-B0CD6E63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每项政策说明至少应标明文件名称、发布机关、文号或可唯一识别的信息、适用地区、生效或失效状态、相关条款位置和检索时间；若不同文件存在冲突；应提示冲突并转承办人员判断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F3602CE-2865-4118-B1D3-96AF63A9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4BF0C3E-016E-4EBC-94D7-66348815A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引用存在不等于回答正确。复核者还要确认原文确实支持结论，申请人的情况满足适用条件，且没有忽略例外条款。知识资料应有责任部门、版本和复审日期；过期内容要停止检索，而不是仅在页面上标一个旧日期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2CD7A377-FFAB-4A8C-9013-BC6C70A3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3745B7FB-2B46-4493-B947-4957271A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证据链：回答必须能回到有效依据</a:t>
            </a:r>
          </a:p>
        </p:txBody>
      </p:sp>
    </p:spTree>
    <p:extLst>
      <p:ext uri="{BB962C8B-B14F-4D97-AF65-F5344CB8AC3E}">
        <p14:creationId xmlns:p14="http://schemas.microsoft.com/office/powerpoint/2010/main" val="6270700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9CF1B1DE-5B2A-45EA-AD8E-923A07479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8767205E-EA9E-4CD2-8D22-840E571B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1D0AA0EB-C45E-41C2-9EFD-F4D8C309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低风险服务只提供公开信息与流程说明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BFA3C083-E458-463F-A759-D803AFAC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957DB8D3-3657-4945-A492-82FF6817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6FCB7D1-F447-44A7-B71B-483512B9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87660F8-4A39-4772-A5B6-6812B555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按风险分层，保留人工责任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95CE71F-554B-4F0E-8ED1-7127C787F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低风险信息服务包括办公时间、公开材料下载位置和一般流程说明；可以在来源有效且转人工通畅的前提下自动答复；中等风险任务如资格条件预检查、材料缺项提示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0D8E6D2-A16B-431A-82FA-828CB88C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8EF9DB4-2262-4098-9AE7-0A5371A96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涉及行政许可、处罚、救助资格、补贴发放、资源分配、信用评价或个人申诉的输出；会影响重要权益，不应由模型独立作出；系统可以整理资料与标记规则；最终判断、告知理由和救济途径由具备权限的工作人员负责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9839DB78-FE51-405E-BC51-D13387E8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76549E94-702A-4AB5-AB04-3EB5EC3E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低风险服务只提供公开信息与流程说明</a:t>
            </a:r>
          </a:p>
        </p:txBody>
      </p:sp>
    </p:spTree>
    <p:extLst>
      <p:ext uri="{BB962C8B-B14F-4D97-AF65-F5344CB8AC3E}">
        <p14:creationId xmlns:p14="http://schemas.microsoft.com/office/powerpoint/2010/main" val="17394426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4C57E0A8-93C8-4479-BBB3-CE201D34D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99950D47-997A-4D31-BDAA-5468653C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164F3F65-E56F-49CD-A594-56FF1789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乡村服务：从具体需求而非口号切入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62635134-7FE0-43A5-A53D-C5AF78F66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96DA1DCF-D360-4BB4-AE80-798906ED9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6DC3251-D9A2-4BDD-B17B-A5383E31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A59E678-D445-434A-B00F-0045ADB1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乡村服务：从具体需求而非口号切入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64ACB5D-CDC2-4191-8A11-4E7FD1498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乡村场景可以从政策材料准备、农技服务转介、产销信息整理、灾害信息汇总和公共事务通知等任务切入；需要同时考虑网络条件、方言表达、数字能力和线下服务可达性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535BB83-425F-4511-939F-982FDD95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718C761-B01D-4FE6-ACC8-CCF573BF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例如，农户上传作物照片时；AI 可以整理症状并检索公开农技资料；但不能把图像识别结果当作确定诊断；更不能自动给出受管制药品用量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D2A8DD6B-D095-470B-ACC0-74FAC996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90426AF1-1B0B-4733-8DA9-602E3AFD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乡村服务：从具体需求而非口号切入</a:t>
            </a:r>
          </a:p>
        </p:txBody>
      </p:sp>
    </p:spTree>
    <p:extLst>
      <p:ext uri="{BB962C8B-B14F-4D97-AF65-F5344CB8AC3E}">
        <p14:creationId xmlns:p14="http://schemas.microsoft.com/office/powerpoint/2010/main" val="20398803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758F4D8C-E2B7-4F4F-8E83-652BC6B6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84CED1B9-916C-42A7-831C-C610DE3E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14320204-5224-4050-B9CB-855DB8A0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43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政务入口常收到医疗、心理危机、家庭纠纷和法律争议等问题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B5E09FEC-3D23-48DB-AAF0-686A69E8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68A56522-7E14-4DF3-9DFC-323149F4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5CD51B2-D341-4CB4-81A2-25918F79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6084F8F1-A8B6-4341-9D4F-EED7F9DA4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医疗与法律咨询只做信息指引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04D4601-1E5F-40A9-BF54-CEB803CA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政务入口常收到医疗、心理危机、家庭纠纷和法律争议等问题；AI 只能提供公开机构、办理流程、材料和求助渠道等一般信息；不作诊断，不给个案治疗方案；不替代律师解释权利义务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CCC4F4B-F4A6-4FCC-A16F-A7E7C71F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8B1489E-125C-4F2D-B7C0-D474EE35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这类转介应优先于“继续追问更多隐私”。系统需明确能力限制，避免让群众误以为自动回答具有正式效力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9D58A82B-0F7F-45E5-B492-2C69792B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3A5CF60E-9D7E-4CCE-A3A7-07A4CCCE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政务入口常收到医疗、心理危机、家庭纠纷和法律争议等问题</a:t>
            </a:r>
          </a:p>
        </p:txBody>
      </p:sp>
    </p:spTree>
    <p:extLst>
      <p:ext uri="{BB962C8B-B14F-4D97-AF65-F5344CB8AC3E}">
        <p14:creationId xmlns:p14="http://schemas.microsoft.com/office/powerpoint/2010/main" val="2521213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E4261CC7-F28B-40D9-903B-C829D49E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56BEC542-8DC3-41D3-AEFF-FD9E1F65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1C22F807-4580-46E4-A020-52470B8B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政策助手只能解释与预检，不能承诺审批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E1276166-7B22-43AC-8EB6-E1FD8A8A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9D4C8AA5-7590-494D-90F5-C3BDBA5F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B587288B-5B9B-4EAE-91A7-4C4944AD8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惠农政策材料助手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1CC557B4-78C9-4F66-98B7-E4F5648B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场景｜农户想了解某项当地支持政策，需要确认适用地区、申报时间和材料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19784D97-9036-4890-81BA-F81D2C0D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839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边界｜它只做信息说明和材料预检查，不承诺一定通过；存在家庭、土地或经营资格争议时转承办人员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118F0E3C-993C-440A-8395-83C371F0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2821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流程｜助手先确认事项和地区，不收集无关身份信息；随后检索现行文件，列出原文依据、材料清单和承办窗口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E72415B1-1ED7-45CB-818C-A5D0E21C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纠错｜正式受理结果与助手提示不一致时，记录差异，由责任部门更新规则或补充例外样本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4E078353-0269-48B7-AC46-CC4E8B46C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32C9FFCA-4D9D-4A62-A50D-731D71AD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政策助手只能解释与预检，不能承诺审批</a:t>
            </a:r>
          </a:p>
        </p:txBody>
      </p:sp>
    </p:spTree>
    <p:extLst>
      <p:ext uri="{BB962C8B-B14F-4D97-AF65-F5344CB8AC3E}">
        <p14:creationId xmlns:p14="http://schemas.microsoft.com/office/powerpoint/2010/main" val="9515571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5608FC3E-8903-4EED-8F42-211711EB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2876B0A6-F3C3-47EF-A3B6-95485ACA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987ADA4F-F0DB-4F56-ADD7-F228E578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诉求分流先保留原始证据，再交责任岗位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F445D4B3-34EB-4EDB-92BA-97A19DB4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8CE19EE1-4ADB-4253-8B74-26069F33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8B21517B-2CA4-4F58-A47D-086E1B20D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基层诉求分流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E4F0661B-35A5-4CF3-8DA0-2461C4D7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场景｜服务中心收到文字、语音转写和图片形式的群众诉求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0424EEEE-A077-41AB-BA3B-66BFB8D0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流程｜系统提取事项、地点和紧急程度，隐藏不必要的个人信息，将摘要和原始证据一并送到对应岗位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3F28838A-1F3B-432E-B037-984647E7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责任｜系统不直接认定责任或关闭事项；工作人员核对原始材料、联系当事人并决定处理路径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8E525F37-36DD-412F-8701-765ACBD7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36891E02-98D9-48A6-9168-076074D1D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诉求分流先保留原始证据，再交责任岗位</a:t>
            </a:r>
          </a:p>
        </p:txBody>
      </p:sp>
    </p:spTree>
    <p:extLst>
      <p:ext uri="{BB962C8B-B14F-4D97-AF65-F5344CB8AC3E}">
        <p14:creationId xmlns:p14="http://schemas.microsoft.com/office/powerpoint/2010/main" val="2731693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3657A53C-164E-4F0F-871C-39E3815B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790BE5C2-1D81-4307-A6F9-10B5BF18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B0B796C7-3BB4-4BEB-BD8D-B002EDE2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政务与乡村振兴：一次可验收练习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55352F9F-6ED0-410A-A798-CC2AA75B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F237B231-72D3-440B-8B14-0DD8A6D1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F30E3CE8-463C-4B45-9A1E-A3477CCA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69792C39-4561-4A7C-A04F-649D14E4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4E83E315-874C-4727-A513-634EC050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选择一个公开服务事项，绘制“受理—证据检索—生成—人工复核—交付—申诉”的流程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400CE791-20AC-407A-B004-8F311327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120A2607-10B7-421E-BC7E-7034BD00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D57355A0-5F5A-4E77-94A9-EF0A881B0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D45C4954-B4CD-43D9-A6D5-42628B6D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为每一步填写可访问字段、证据格式、责任岗位和保存期限，检查是否符合最小必要原则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0E8A35B4-7DDE-4EAD-A27A-4EAD8C74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0E8930F8-4337-4E70-AE02-39AE932B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4B5E429B-CA2B-49FB-808A-3BDBCD40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3A947CE2-BDF1-4337-B082-C3A88384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准备三个正常问题、两个模糊问题、一个资料冲突问题和一个高风险求助，检查系统能否正确引用、拒绝越权并转人工</a:t>
            </a:r>
          </a:p>
        </p:txBody>
      </p:sp>
    </p:spTree>
    <p:extLst>
      <p:ext uri="{BB962C8B-B14F-4D97-AF65-F5344CB8AC3E}">
        <p14:creationId xmlns:p14="http://schemas.microsoft.com/office/powerpoint/2010/main" val="16786364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331E78BF-3599-4B1C-B821-21332EA4D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37078227-2BAC-458F-A0CA-67527CE2A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5F657E24-8DE0-4127-AFE2-A81AE6D6D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政务与乡村振兴：判断时先抓住三点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F413EE81-C72F-423F-A3CA-D3542413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D2407972-E55A-44C4-AA05-8D76A1C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1EE069B7-9A2B-4F40-BA4C-BF007106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C7A3B605-877E-433C-B80B-1E44A4E5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CB5C96CA-68D2-47B9-B7F6-2D987826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从服务事项建立完整流程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336D8F52-E134-44AA-8264-B54924A6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B29A0436-65BA-446F-AFD0-BC0C5772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7995000B-3339-4E9D-BCC7-7C5B2B19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C25E7113-2FC6-4F12-853E-9BFD6702D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证据链：回答必须能回到有效依据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B30BC572-E089-4801-8AD5-02B3947B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957B0D5F-0AAE-49BE-82B6-071DD4AA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BBDE846C-448C-4BC1-95F3-36A463E6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1771E3E0-A4B2-4299-BED9-845F1011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政务入口常收到医疗、心理危机、家庭纠纷和法律争议等问题</a:t>
            </a:r>
          </a:p>
        </p:txBody>
      </p:sp>
    </p:spTree>
    <p:extLst>
      <p:ext uri="{BB962C8B-B14F-4D97-AF65-F5344CB8AC3E}">
        <p14:creationId xmlns:p14="http://schemas.microsoft.com/office/powerpoint/2010/main" val="3796800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55B568CD-5BB5-4875-BD8F-F2175398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B4591C79-D611-4A5E-80F6-D0C62709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ABD5C420-0D75-47B5-A452-AEC79C62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政务与乡村振兴：依据、边界与延伸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0B32F0D8-F55C-4153-8423-FCCD0CE5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C625202E-4695-470B-862C-259DAC2C5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IN-003 · IN-003-S13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0C46823D-866B-4D39-97DB-DDC61B3E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FB8562FB-AD78-4F4C-A223-55E44829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《中华人民共和国个人信息保护法》与《中华人民共和国数据安全法》：分别核对个人信息处理与数据安全义务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D0839522-E010-4D3E-8521-18E6C799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国务院《关于加强数字政府建设的指导意见》：数字政府建设的国家层面指导文件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B2627B5C-A15A-4F37-A331-5389D1A0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307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NIST：Artificial Intelligence Risk Management Framework（AI RMF 1.0）：用于补充通用 AI 风险识别方法，不替代本地法律与行政程序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298D9497-182E-4570-B8A6-F6B20E76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实际办理应以事项所在地、责任部门公布的现行文件和线下核验结果为准</a:t>
            </a:r>
          </a:p>
        </p:txBody>
      </p:sp>
      <p:sp>
        <p:nvSpPr>
          <p:cNvPr id="11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7397DEF7-5AAF-4B74-93F1-4835FD92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574657F8-A76B-4CB1-BA99-9A902790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17588537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2026-07-12T03:32:04.7970000Z</dcterms:created>
  <dcterms:modified xsi:type="dcterms:W3CDTF">2026-07-12T03:32:04.7970000Z</dcterms:modified>
</coreProperties>
</file>