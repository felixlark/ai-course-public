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e3ee4019304ada" /><Relationship Type="http://schemas.openxmlformats.org/officeDocument/2006/relationships/extended-properties" Target="/docProps/app.xml" Id="R9531ea58f29e42b4" /><Relationship Type="http://schemas.openxmlformats.org/officeDocument/2006/relationships/officeDocument" Target="/ppt/presentation.xml" Id="R424670b2719e41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af5ef11fa94025"/>
  </p:sldMasterIdLst>
  <p:notesMasterIdLst>
    <p:notesMasterId xmlns:r="http://schemas.openxmlformats.org/officeDocument/2006/relationships" r:id="Rca6a54f338634d1f"/>
  </p:notesMasterIdLst>
  <p:sldIdLst>
    <p:sldId xmlns:r="http://schemas.openxmlformats.org/officeDocument/2006/relationships" id="256" r:id="Rd3ca2aa0a8ab4382"/>
    <p:sldId xmlns:r="http://schemas.openxmlformats.org/officeDocument/2006/relationships" id="257" r:id="Rd5dccd90a7ec4a6d"/>
    <p:sldId xmlns:r="http://schemas.openxmlformats.org/officeDocument/2006/relationships" id="258" r:id="R369b4e5e676744aa"/>
    <p:sldId xmlns:r="http://schemas.openxmlformats.org/officeDocument/2006/relationships" id="259" r:id="R10b606af57034958"/>
    <p:sldId xmlns:r="http://schemas.openxmlformats.org/officeDocument/2006/relationships" id="260" r:id="R8ec38436481846bb"/>
    <p:sldId xmlns:r="http://schemas.openxmlformats.org/officeDocument/2006/relationships" id="261" r:id="R99456c59fa274a28"/>
    <p:sldId xmlns:r="http://schemas.openxmlformats.org/officeDocument/2006/relationships" id="262" r:id="Rbef9d66b95fc47ec"/>
    <p:sldId xmlns:r="http://schemas.openxmlformats.org/officeDocument/2006/relationships" id="263" r:id="R2b4c1520b4c14617"/>
    <p:sldId xmlns:r="http://schemas.openxmlformats.org/officeDocument/2006/relationships" id="264" r:id="Re103542d15ac49ad"/>
    <p:sldId xmlns:r="http://schemas.openxmlformats.org/officeDocument/2006/relationships" id="265" r:id="R7d1cedddafb94e87"/>
    <p:sldId xmlns:r="http://schemas.openxmlformats.org/officeDocument/2006/relationships" id="266" r:id="R3fb6d96949484001"/>
    <p:sldId xmlns:r="http://schemas.openxmlformats.org/officeDocument/2006/relationships" id="267" r:id="R666fb1879a3842dd"/>
    <p:sldId xmlns:r="http://schemas.openxmlformats.org/officeDocument/2006/relationships" id="268" r:id="R9d3e60e5665d4b7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fac9ee80a64ac7" /><Relationship Type="http://schemas.openxmlformats.org/officeDocument/2006/relationships/slideMaster" Target="/ppt/slideMasters/slideMaster1.xml" Id="Ra5af5ef11fa94025" /><Relationship Type="http://schemas.openxmlformats.org/officeDocument/2006/relationships/notesMaster" Target="/ppt/notesMasters/notesMaster1.xml" Id="Rca6a54f338634d1f" /><Relationship Type="http://schemas.openxmlformats.org/officeDocument/2006/relationships/presProps" Target="/ppt/presProps.xml" Id="Rabfca1ccccef45ff" /><Relationship Type="http://schemas.openxmlformats.org/officeDocument/2006/relationships/tableStyles" Target="/ppt/tableStyles.xml" Id="R31a1d6444f14449c" /><Relationship Type="http://schemas.openxmlformats.org/officeDocument/2006/relationships/slide" Target="/ppt/slides/slide1.xml" Id="Rd3ca2aa0a8ab4382" /><Relationship Type="http://schemas.openxmlformats.org/officeDocument/2006/relationships/slide" Target="/ppt/slides/slide2.xml" Id="Rd5dccd90a7ec4a6d" /><Relationship Type="http://schemas.openxmlformats.org/officeDocument/2006/relationships/slide" Target="/ppt/slides/slide3.xml" Id="R369b4e5e676744aa" /><Relationship Type="http://schemas.openxmlformats.org/officeDocument/2006/relationships/slide" Target="/ppt/slides/slide4.xml" Id="R10b606af57034958" /><Relationship Type="http://schemas.openxmlformats.org/officeDocument/2006/relationships/slide" Target="/ppt/slides/slide5.xml" Id="R8ec38436481846bb" /><Relationship Type="http://schemas.openxmlformats.org/officeDocument/2006/relationships/slide" Target="/ppt/slides/slide6.xml" Id="R99456c59fa274a28" /><Relationship Type="http://schemas.openxmlformats.org/officeDocument/2006/relationships/slide" Target="/ppt/slides/slide7.xml" Id="Rbef9d66b95fc47ec" /><Relationship Type="http://schemas.openxmlformats.org/officeDocument/2006/relationships/slide" Target="/ppt/slides/slide8.xml" Id="R2b4c1520b4c14617" /><Relationship Type="http://schemas.openxmlformats.org/officeDocument/2006/relationships/slide" Target="/ppt/slides/slide9.xml" Id="Re103542d15ac49ad" /><Relationship Type="http://schemas.openxmlformats.org/officeDocument/2006/relationships/slide" Target="/ppt/slides/slide10.xml" Id="R7d1cedddafb94e87" /><Relationship Type="http://schemas.openxmlformats.org/officeDocument/2006/relationships/slide" Target="/ppt/slides/slide11.xml" Id="R3fb6d96949484001" /><Relationship Type="http://schemas.openxmlformats.org/officeDocument/2006/relationships/slide" Target="/ppt/slides/slide12.xml" Id="R666fb1879a3842dd" /><Relationship Type="http://schemas.openxmlformats.org/officeDocument/2006/relationships/slide" Target="/ppt/slides/slide13.xml" Id="R9d3e60e5665d4b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1fb8fd829f46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8531ebd90441ba" /><Relationship Type="http://schemas.openxmlformats.org/officeDocument/2006/relationships/notesMaster" Target="/ppt/notesMasters/notesMaster1.xml" Id="R477955d44f104d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b17b6a97b14859" /><Relationship Type="http://schemas.openxmlformats.org/officeDocument/2006/relationships/notesMaster" Target="/ppt/notesMasters/notesMaster1.xml" Id="R8ad1201622d740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23a280be6c49f3" /><Relationship Type="http://schemas.openxmlformats.org/officeDocument/2006/relationships/notesMaster" Target="/ppt/notesMasters/notesMaster1.xml" Id="R6e0e2962516a44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8fac7adfcd4be8" /><Relationship Type="http://schemas.openxmlformats.org/officeDocument/2006/relationships/notesMaster" Target="/ppt/notesMasters/notesMaster1.xml" Id="R4169058a29f843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f548ac41104e59" /><Relationship Type="http://schemas.openxmlformats.org/officeDocument/2006/relationships/notesMaster" Target="/ppt/notesMasters/notesMaster1.xml" Id="R59360823c75149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aa795ca1e74240" /><Relationship Type="http://schemas.openxmlformats.org/officeDocument/2006/relationships/notesMaster" Target="/ppt/notesMasters/notesMaster1.xml" Id="R3360aa69268848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4a54a50f494738" /><Relationship Type="http://schemas.openxmlformats.org/officeDocument/2006/relationships/notesMaster" Target="/ppt/notesMasters/notesMaster1.xml" Id="R657170b436f241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8ef3729054431e" /><Relationship Type="http://schemas.openxmlformats.org/officeDocument/2006/relationships/notesMaster" Target="/ppt/notesMasters/notesMaster1.xml" Id="Ref41572a5d574f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84652fb66c49bb" /><Relationship Type="http://schemas.openxmlformats.org/officeDocument/2006/relationships/notesMaster" Target="/ppt/notesMasters/notesMaster1.xml" Id="R7432e4ef119b48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2cf82372c34f70" /><Relationship Type="http://schemas.openxmlformats.org/officeDocument/2006/relationships/notesMaster" Target="/ppt/notesMasters/notesMaster1.xml" Id="Rbf88bb8db34240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e71cc49beb74e94" /><Relationship Type="http://schemas.openxmlformats.org/officeDocument/2006/relationships/notesMaster" Target="/ppt/notesMasters/notesMaster1.xml" Id="R238d15c6b9ad4f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6ce828569b4393" /><Relationship Type="http://schemas.openxmlformats.org/officeDocument/2006/relationships/notesMaster" Target="/ppt/notesMasters/notesMaster1.xml" Id="R798e7001cf8b4a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248cc7ed69f4277" /><Relationship Type="http://schemas.openxmlformats.org/officeDocument/2006/relationships/notesMaster" Target="/ppt/notesMasters/notesMaster1.xml" Id="Rd79a17561fab42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e5b9f3e8ae48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9ad6a0af494c60" /><Relationship Type="http://schemas.openxmlformats.org/officeDocument/2006/relationships/slideLayout" Target="/ppt/slideLayouts/slideLayout1.xml" Id="Rb0c160685dbc4e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c160685dbc4e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c7f3660144cf5" /><Relationship Type="http://schemas.openxmlformats.org/officeDocument/2006/relationships/notesSlide" Target="/ppt/notesSlides/notesSlide1.xml" Id="R689de6d98a174a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6000c5fba484f" /><Relationship Type="http://schemas.openxmlformats.org/officeDocument/2006/relationships/notesSlide" Target="/ppt/notesSlides/notesSlide2.xml" Id="R3d5042cf185647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efc56c4504af0" /><Relationship Type="http://schemas.openxmlformats.org/officeDocument/2006/relationships/notesSlide" Target="/ppt/notesSlides/notesSlide3.xml" Id="R4bdb3b40d82b49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23d57f8554c77" /><Relationship Type="http://schemas.openxmlformats.org/officeDocument/2006/relationships/notesSlide" Target="/ppt/notesSlides/notesSlide4.xml" Id="R5b61a67f12164a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59b4074d94cc2" /><Relationship Type="http://schemas.openxmlformats.org/officeDocument/2006/relationships/notesSlide" Target="/ppt/notesSlides/notesSlide5.xml" Id="R432f47b36c004a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043a191144b5c" /><Relationship Type="http://schemas.openxmlformats.org/officeDocument/2006/relationships/notesSlide" Target="/ppt/notesSlides/notesSlide6.xml" Id="R8e91e7b334aa41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4035f606b41d0" /><Relationship Type="http://schemas.openxmlformats.org/officeDocument/2006/relationships/notesSlide" Target="/ppt/notesSlides/notesSlide7.xml" Id="R7abb1320e91144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689e656e34a67" /><Relationship Type="http://schemas.openxmlformats.org/officeDocument/2006/relationships/notesSlide" Target="/ppt/notesSlides/notesSlide8.xml" Id="Rac7de0b1e8304e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adefa39a54094" /><Relationship Type="http://schemas.openxmlformats.org/officeDocument/2006/relationships/notesSlide" Target="/ppt/notesSlides/notesSlide9.xml" Id="R1c43d4ce0ec64fb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83d48233b40b6" /><Relationship Type="http://schemas.openxmlformats.org/officeDocument/2006/relationships/notesSlide" Target="/ppt/notesSlides/notesSlide10.xml" Id="Re866e9ea37114c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8aed4683443b6" /><Relationship Type="http://schemas.openxmlformats.org/officeDocument/2006/relationships/notesSlide" Target="/ppt/notesSlides/notesSlide11.xml" Id="Re162de9195304f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46b6eb09648da" /><Relationship Type="http://schemas.openxmlformats.org/officeDocument/2006/relationships/notesSlide" Target="/ppt/notesSlides/notesSlide12.xml" Id="R91e09c14c33645c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d5e077ba84520" /><Relationship Type="http://schemas.openxmlformats.org/officeDocument/2006/relationships/notesSlide" Target="/ppt/notesSlides/notesSlide13.xml" Id="R2722e130532b4b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6F6D6D1C-7E1E-407F-A445-491BA435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D413AC14-F16F-4B1F-ABEF-3A3C0E77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71775081-54ED-4437-8A70-57D0C3E1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DB27FDA3-F9FB-4528-83E3-BB0FB193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50DA3100-FFA9-4AC5-80C3-DEA56011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F383220A-4EAE-4663-B7C2-BC09C8DE6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A6F3B86-5C2A-459F-9381-3D512F24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E5DFD2C-E711-481E-A966-1C0DDB3D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政务服务与乡村振兴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8DD87B0-0FA7-4D0C-B4A1-FB2B73F2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用公共服务、基层治理和乡村振兴案例理解 AI 的流程价值、责任边界与可追溯要求。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8F6FBF4-88D5-494B-97B4-3799671D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917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公共服务中的 AI 可能缩短资料查找和群众等待时间；但它面对的不是抽象问题；而是具体的人、地区、政策版本和权益；一次看似细小的适用条件错误；可能让群众错过办理期限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1BB7466-CF80-47B6-A82B-279D5403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D877C55E-BB7D-400D-BA92-75BA9D45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IN-003 · IN-003-S01</a:t>
            </a:r>
          </a:p>
        </p:txBody>
      </p:sp>
    </p:spTree>
    <p:extLst>
      <p:ext uri="{BB962C8B-B14F-4D97-AF65-F5344CB8AC3E}">
        <p14:creationId xmlns:p14="http://schemas.microsoft.com/office/powerpoint/2010/main" val="6310228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774EB95D-3D9E-43F6-A59E-38913FA0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B87EF38A-2FD8-40DC-9A38-44913061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356174DA-D3C2-4D14-ACF6-41B99EF9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政务与乡村振兴：4项学习结果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B09571B8-DCDF-4872-A24C-4E9FE206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6A55B4DD-E327-423C-811F-EC5E1B8A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CCE82602-26F0-4568-91B7-B97F4559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把政务或乡村服务拆成受理、检索、辅助生成、复核、交付和纠错环节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8061B243-01B0-4A0B-8D54-A6EF28EA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为每个环节定义数据权限、证据要求、人工责任和日志记录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604D553C-720D-4B4B-AEA5-44127FAA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区分一般信息指引、资格预审与影响个人权益的行政决定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28F5E6DC-6099-475B-B54A-0525AE23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为医疗、法律等高风险咨询设置只提供信息指引、及时转专业人员的边界</a:t>
            </a:r>
          </a:p>
        </p:txBody>
      </p:sp>
    </p:spTree>
    <p:extLst>
      <p:ext uri="{BB962C8B-B14F-4D97-AF65-F5344CB8AC3E}">
        <p14:creationId xmlns:p14="http://schemas.microsoft.com/office/powerpoint/2010/main" val="15433948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85D1004D-85E2-49E9-995F-BCBA4D30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227CFCC5-4C26-4A87-B13A-75456CC2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B7F30B0F-14A0-4980-BCD2-16D8A4A8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AB4F16E-F891-428C-9D64-6DC4F885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FE25270B-7B76-4573-AA5B-1E9809F5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6107D68-B34E-4344-942B-F273226C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EC48D9C-6F5D-4251-ADB5-FE0D0F3C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0A9D5AD-7E6F-48EF-A5B5-DD9DC21B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选择一个具体事项，例如政策查询、材料清单说明、农技服务预约或基层诉求分流；先写出现有入口、办理依据、所需材料、承办岗位、时限、例外情形和申诉渠道；再决定 AI 可以辅助哪一步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A2E8DBB-68E8-4D53-804E-AD1F2FAF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7CBEDA1-F70C-47CB-8D78-B3FE44F1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一个基础流程可以是；接收问题并识别服务事项；按用户角色检查可访问范围；从现行权威资料中检索；生成带引用的说明或待办清单；依据风险等级自动交付或送人工复核；记录使用的资料版本与最终答复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5F0561C7-FB30-48BD-8E6D-6ACCA8DC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7B673C98-24D2-4FD3-B079-F0C46EEB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</p:spTree>
    <p:extLst>
      <p:ext uri="{BB962C8B-B14F-4D97-AF65-F5344CB8AC3E}">
        <p14:creationId xmlns:p14="http://schemas.microsoft.com/office/powerpoint/2010/main" val="7780937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B9238FC6-4748-4271-9748-C8A33F39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33BD6F35-70B8-465E-B874-9615C62F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CAD72286-39C2-4707-9141-C4BC99AB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权限必须同时限定身份、目的、字段与期限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F59C2DEE-A71F-4852-A4B9-66C9BCAF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1E44EDDF-9720-4E3B-A192-9819BC12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4C2F8DF-FDF1-45DA-8107-4813A31E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1283EA0-15CC-4DC6-B3AE-6F01B9A0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权限控制：只看完成任务所需的信息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2FD68F4-BD66-47B5-A344-A038D6AF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权限设计应同时回答“谁、为了什么、能看哪些字段、能做什么、保存多久”；公开政策问答通常不需要身份信息；查询个人办理进度才可能需要认证；即使通过认证，服务人员和系统也只能访问职责所需的数据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2A89023-C2FA-413D-8491-8230A038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4F6EDCA-6433-40CE-B7B7-CE3CB219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对个人信息、家庭情况、位置、健康、财产和未公开生产经营数据；应采用分级、脱敏、访问审计和期限管理；测试环境不得直接复制真实敏感数据；日志也不能原样保存身份证件、病历或完整对话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994FA743-99DD-4F7A-9476-409F99EF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F9FFC6C-BB7C-40DE-9B38-35F0B82F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权限必须同时限定身份、目的、字段与期限</a:t>
            </a:r>
          </a:p>
        </p:txBody>
      </p:sp>
    </p:spTree>
    <p:extLst>
      <p:ext uri="{BB962C8B-B14F-4D97-AF65-F5344CB8AC3E}">
        <p14:creationId xmlns:p14="http://schemas.microsoft.com/office/powerpoint/2010/main" val="18116884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8EC6712B-E6F2-40F3-9038-419E2DB6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21D2E8A9-605B-426C-9992-97353348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299AE4B7-3F8D-4EE6-9EBE-1D6DA9DF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9D63D41D-F3AB-4D83-81C6-580FE774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C8B89016-B8F8-4A95-BD02-38A99E0F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B4FA9AB-4FE9-4A05-8542-B7FBB16C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C88987B-DBE7-4B34-99BF-4B415772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75E265D-F3BF-4880-8A7B-37D4FEF6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每项政策说明至少应标明文件名称、发布机关、文号或可唯一识别的信息、适用地区、生效或失效状态、相关条款位置和检索时间；若不同文件存在冲突；应提示冲突并转承办人员判断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98E276A-A956-497E-BC9E-465F2C28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626484E-C695-4090-842C-12BDA8CB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引用存在不等于回答正确。复核者还要确认原文确实支持结论，申请人的情况满足适用条件，且没有忽略例外条款。知识资料应有责任部门、版本和复审日期；过期内容要停止检索，而不是仅在页面上标一个旧日期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C88C2539-3074-418D-B21D-FE1D766F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8751F8D2-A5AF-4FDA-81B8-A5E29CCE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</p:spTree>
    <p:extLst>
      <p:ext uri="{BB962C8B-B14F-4D97-AF65-F5344CB8AC3E}">
        <p14:creationId xmlns:p14="http://schemas.microsoft.com/office/powerpoint/2010/main" val="9147315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0F602AD6-D515-4C7D-A601-0EF7683F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C451E5F4-EDE0-4DDD-AE4D-ACE2D476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D538D922-EF85-4C96-861A-A29F3268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低风险服务只提供公开信息与流程说明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0E0B0041-8D6A-4C1F-B21E-0D0E4939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E9E4A791-8B25-4CC9-B74B-41885AA0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0237ECC-8BA5-4F38-9853-6066BE43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F36F3B5-A61D-4DDC-9B76-ED6B0F86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按风险分层，保留人工责任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11D4BD1-0152-4000-AE64-3F65B0DA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低风险信息服务包括办公时间、公开材料下载位置和一般流程说明；可以在来源有效且转人工通畅的前提下自动答复；中等风险任务如资格条件预检查、材料缺项提示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DCA8A06-27D0-48F3-96DD-CB0E6B13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EDB98A6-45B2-4818-940A-49E47A0F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涉及行政许可、处罚、救助资格、补贴发放、资源分配、信用评价或个人申诉的输出；会影响重要权益，不应由模型独立作出；系统可以整理资料与标记规则；最终判断、告知理由和救济途径由具备权限的工作人员负责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36B1D902-48C1-4A09-91D1-887F90F17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40212D52-0336-4605-96F4-E5362502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低风险服务只提供公开信息与流程说明</a:t>
            </a:r>
          </a:p>
        </p:txBody>
      </p:sp>
    </p:spTree>
    <p:extLst>
      <p:ext uri="{BB962C8B-B14F-4D97-AF65-F5344CB8AC3E}">
        <p14:creationId xmlns:p14="http://schemas.microsoft.com/office/powerpoint/2010/main" val="19009645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D316B0A7-3A3B-462B-840B-888E1B24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838DA2E8-4B60-40A4-A0E0-C8298B3B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044034BB-82BF-408C-A072-DC1D294E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48A75579-F7A9-45C0-859C-FB1D44F9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680F156-733E-4BDB-AEC2-DA859484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C7DD5D8-C751-4361-AF8A-993F995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BAC4D84-A5ED-4A5B-8BBF-BA894898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0BDF4F7-5C8F-4EE8-A573-AE1D1674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乡村场景可以从政策材料准备、农技服务转介、产销信息整理、灾害信息汇总和公共事务通知等任务切入；需要同时考虑网络条件、方言表达、数字能力和线下服务可达性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E579BC1-A923-4FED-AC91-EAB2DC25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513D5FB-7E8D-4DDC-AB84-DC44AA83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例如，农户上传作物照片时；AI 可以整理症状并检索公开农技资料；但不能把图像识别结果当作确定诊断；更不能自动给出受管制药品用量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90135161-CF97-4AE8-AFBC-B726E90D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B5299724-8570-445D-A9EB-6A24853B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</p:spTree>
    <p:extLst>
      <p:ext uri="{BB962C8B-B14F-4D97-AF65-F5344CB8AC3E}">
        <p14:creationId xmlns:p14="http://schemas.microsoft.com/office/powerpoint/2010/main" val="781455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630F0E54-F287-4EE6-9D31-BEBD44C3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8B050091-9743-4889-B916-03DA1F23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80328FA4-75D3-4460-ACD2-19918565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57DB8A07-47A8-4DA5-947E-DAB4E870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9D9E9686-9774-4145-87C4-CF424C76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9692317-D098-4B2D-A071-3BC9B9E0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F67AF4D-6A4C-4F1C-BA04-D886FF30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医疗与法律咨询只做信息指引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E19A9F1-C141-4B24-B5CB-533E0DC3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政务入口常收到医疗、心理危机、家庭纠纷和法律争议等问题；AI 只能提供公开机构、办理流程、材料和求助渠道等一般信息；不作诊断，不给个案治疗方案；不替代律师解释权利义务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48373F4-602E-4219-B789-0B3F25F1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8A6AFA3-3B75-443B-9DC3-03114457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这类转介应优先于“继续追问更多隐私”。系统需明确能力限制，避免让群众误以为自动回答具有正式效力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4E5297A1-F0AB-4848-8618-773364E4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F12A8253-FB0C-4D7E-AB9B-D11A09FE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</p:spTree>
    <p:extLst>
      <p:ext uri="{BB962C8B-B14F-4D97-AF65-F5344CB8AC3E}">
        <p14:creationId xmlns:p14="http://schemas.microsoft.com/office/powerpoint/2010/main" val="2000655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C056FD4D-38B1-4F0A-BF38-94F2FE79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A75DBEC2-155B-4E0E-A6FD-6325C067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22A99B5F-4B8F-437C-87A6-AD4CD280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政策助手只能解释与预检，不能承诺审批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0D87FA56-84D8-48C4-B0B2-D2842708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BF1A0005-250D-4D66-A513-CF1AB261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E9324422-888A-4322-838C-7B877D87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惠农政策材料助手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AD0E3CE-984F-40C5-819B-507D0E40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场景｜农户想了解某项当地支持政策，需要确认适用地区、申报时间和材料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83EFF8AF-9E01-49D2-BF8F-866FD93F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839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边界｜它只做信息说明和材料预检查，不承诺一定通过；存在家庭、土地或经营资格争议时转承办人员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0AC24E08-D18A-4497-A36C-25EB145F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2821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流程｜助手先确认事项和地区，不收集无关身份信息；随后检索现行文件，列出原文依据、材料清单和承办窗口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2393ECA4-2DE6-4922-A02A-479B3D93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纠错｜正式受理结果与助手提示不一致时，记录差异，由责任部门更新规则或补充例外样本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30233BF5-81D8-4EF3-89A7-4BF75F61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E774C3C8-792E-47C6-9BF7-E29A979E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政策助手只能解释与预检，不能承诺审批</a:t>
            </a:r>
          </a:p>
        </p:txBody>
      </p:sp>
    </p:spTree>
    <p:extLst>
      <p:ext uri="{BB962C8B-B14F-4D97-AF65-F5344CB8AC3E}">
        <p14:creationId xmlns:p14="http://schemas.microsoft.com/office/powerpoint/2010/main" val="4857455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8C4F8193-CDC7-4422-98FD-60E8BE47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2BBB54B7-6EAB-42AA-8003-736E14E0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3B473629-BAD8-4BDC-A2F0-11ECA638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诉求分流先保留原始证据，再交责任岗位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C2747FD6-E989-4948-A181-61C27977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CACAF826-6C79-4404-BE78-AD06B03C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730AD3E9-979F-4E43-BD53-F4F7D52E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基层诉求分流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82FAE76-5F49-41D1-ACE4-8D9CD2A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场景｜服务中心收到文字、语音转写和图片形式的群众诉求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BC2BE35F-D7F5-48FF-80EE-F57D17B3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流程｜系统提取事项、地点和紧急程度，隐藏不必要的个人信息，将摘要和原始证据一并送到对应岗位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49236130-2052-42E0-9A39-4BF14644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责任｜系统不直接认定责任或关闭事项；工作人员核对原始材料、联系当事人并决定处理路径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375C1FCF-367E-41C5-84CF-C88081D0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2CF4359A-7C28-41E1-B992-947D8FDA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诉求分流先保留原始证据，再交责任岗位</a:t>
            </a:r>
          </a:p>
        </p:txBody>
      </p:sp>
    </p:spTree>
    <p:extLst>
      <p:ext uri="{BB962C8B-B14F-4D97-AF65-F5344CB8AC3E}">
        <p14:creationId xmlns:p14="http://schemas.microsoft.com/office/powerpoint/2010/main" val="1561037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7C0D0E2C-9928-48DD-BD7F-C7B5F960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A9E6C206-5F34-4D70-9075-BE778A27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FECB9136-76F0-4154-98EE-690FAF75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政务与乡村振兴：一次可验收练习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F26C1F9B-ACB1-4BEB-B0C8-0D2666D9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3203AE69-CEAD-4682-9E09-67D13BFD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37ACDAEC-F1AF-4469-A690-AC1DC1B5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9763A4E4-2F23-4DBC-98F9-7645CE95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28B939E4-900C-4F73-8F48-E5B4BDE7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选择一个公开服务事项，绘制“受理—证据检索—生成—人工复核—交付—申诉”的流程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994E3E98-16C1-4A1E-AA84-11B558A4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1A9E6A83-30BB-477F-92F2-4E3F94A9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842298DF-8945-4F26-881B-D3FF51EA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9459A153-DFE6-460B-932E-CD24A04A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为每一步填写可访问字段、证据格式、责任岗位和保存期限，检查是否符合最小必要原则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AFAD9561-C908-459C-BB75-C64F2E39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A3C703CB-32FE-45E5-87D2-CCFE7DA3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22E9F71D-F021-452E-8FDD-19AA4E8F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43B3B583-5AAB-4754-8417-137D08E6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准备三个正常问题、两个模糊问题、一个资料冲突问题和一个高风险求助，检查系统能否正确引用、拒绝越权并转人工</a:t>
            </a:r>
          </a:p>
        </p:txBody>
      </p:sp>
    </p:spTree>
    <p:extLst>
      <p:ext uri="{BB962C8B-B14F-4D97-AF65-F5344CB8AC3E}">
        <p14:creationId xmlns:p14="http://schemas.microsoft.com/office/powerpoint/2010/main" val="14645927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76DCBAE3-7637-496C-918E-F312C2E7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F1DA37A7-1F61-4D91-9998-25EA799D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7B76E76-46BB-4B72-9C46-DAEFC1B1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政务与乡村振兴：判断时先抓住三点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6AC4A730-A4CB-480D-BDD8-4D9BD0B6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A7BBD15A-2FF0-40C0-88AF-8E1A1C16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6980B21D-6B06-4BE6-9201-8F4724D9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9F79967-D3B9-484D-876B-DCA58819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3129829-9FC9-478E-8877-0F0213FD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70058150-4F50-407C-8059-A1E73C52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4F091E61-1DF2-461A-AC9E-A566811F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06206BFD-D020-4EB2-907C-9F09AE26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AC1702C8-D8E1-4863-8352-8CC05FC1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473BF552-540B-4159-854B-EF27A950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A8959990-F359-42EF-964A-A825A162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85F46B4E-4B6F-4402-9FDD-6EC4C7EF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18736C25-73D5-4CC9-873E-FBA187E0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</p:spTree>
    <p:extLst>
      <p:ext uri="{BB962C8B-B14F-4D97-AF65-F5344CB8AC3E}">
        <p14:creationId xmlns:p14="http://schemas.microsoft.com/office/powerpoint/2010/main" val="4466217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9AFD8C17-C27C-446D-888F-1585EF4B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51583F4F-7164-4C1C-AD9B-5CFC7574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C5E50EA0-F6BB-411E-8010-CAB7564A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政务与乡村振兴：依据、边界与延伸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4AE935B7-CD6C-432A-A74B-914952C4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29B23F26-27F7-4549-BEDD-9F2D70C1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8200E478-E2C3-44E1-9092-7C5C8120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84BE1E97-8B8E-41E8-A1AF-DF58C77E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《中华人民共和国个人信息保护法》与《中华人民共和国数据安全法》：分别核对个人信息处理与数据安全义务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81E72562-1C56-40EC-B087-FCC77874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国务院《关于加强数字政府建设的指导意见》：数字政府建设的国家层面指导文件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6411E286-E0E2-4174-B2FE-023AB187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307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NIST：Artificial Intelligence Risk Management Framework（AI RMF 1.0）：用于补充通用 AI 风险识别方法，不替代本地法律与行政程序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9A17B227-8F1D-4C2A-9E8D-1D6C7419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实际办理应以事项所在地、责任部门公布的现行文件和线下核验结果为准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63A4C1ED-7422-431F-B99F-94185C01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E85C5F03-C6E8-48D6-B76E-581C78F0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6263106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2026-07-11T16:55:57.3880000Z</dcterms:created>
  <dcterms:modified xsi:type="dcterms:W3CDTF">2026-07-11T16:55:57.3880000Z</dcterms:modified>
</coreProperties>
</file>