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a7028b84174c0b" /><Relationship Type="http://schemas.openxmlformats.org/officeDocument/2006/relationships/extended-properties" Target="/docProps/app.xml" Id="R0b241e4308b44d6e" /><Relationship Type="http://schemas.openxmlformats.org/officeDocument/2006/relationships/officeDocument" Target="/ppt/presentation.xml" Id="Rdb49c250342249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2309b1b390470e"/>
  </p:sldMasterIdLst>
  <p:notesMasterIdLst>
    <p:notesMasterId xmlns:r="http://schemas.openxmlformats.org/officeDocument/2006/relationships" r:id="R46bf1729d3044ecd"/>
  </p:notesMasterIdLst>
  <p:sldIdLst>
    <p:sldId xmlns:r="http://schemas.openxmlformats.org/officeDocument/2006/relationships" id="256" r:id="R9e377f33d6864fdc"/>
    <p:sldId xmlns:r="http://schemas.openxmlformats.org/officeDocument/2006/relationships" id="257" r:id="R974928b2d3a24ab4"/>
    <p:sldId xmlns:r="http://schemas.openxmlformats.org/officeDocument/2006/relationships" id="258" r:id="R4fa516d14ce643d2"/>
    <p:sldId xmlns:r="http://schemas.openxmlformats.org/officeDocument/2006/relationships" id="259" r:id="R2c1c646948ea4d82"/>
    <p:sldId xmlns:r="http://schemas.openxmlformats.org/officeDocument/2006/relationships" id="260" r:id="Ra19b6fc8b9f249d8"/>
    <p:sldId xmlns:r="http://schemas.openxmlformats.org/officeDocument/2006/relationships" id="261" r:id="R15f7164d37ee41d8"/>
    <p:sldId xmlns:r="http://schemas.openxmlformats.org/officeDocument/2006/relationships" id="262" r:id="R3f1c5e87317e446b"/>
    <p:sldId xmlns:r="http://schemas.openxmlformats.org/officeDocument/2006/relationships" id="263" r:id="Rda2999a553984d92"/>
    <p:sldId xmlns:r="http://schemas.openxmlformats.org/officeDocument/2006/relationships" id="264" r:id="R7f9f997740f84554"/>
    <p:sldId xmlns:r="http://schemas.openxmlformats.org/officeDocument/2006/relationships" id="265" r:id="R4dab30abda5d48a5"/>
    <p:sldId xmlns:r="http://schemas.openxmlformats.org/officeDocument/2006/relationships" id="266" r:id="Re6628939f54f4b34"/>
    <p:sldId xmlns:r="http://schemas.openxmlformats.org/officeDocument/2006/relationships" id="267" r:id="R589903f8379f4474"/>
    <p:sldId xmlns:r="http://schemas.openxmlformats.org/officeDocument/2006/relationships" id="268" r:id="R1a10cbee7a8a46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2622a20e064d6a" /><Relationship Type="http://schemas.openxmlformats.org/officeDocument/2006/relationships/slideMaster" Target="/ppt/slideMasters/slideMaster1.xml" Id="Rb82309b1b390470e" /><Relationship Type="http://schemas.openxmlformats.org/officeDocument/2006/relationships/notesMaster" Target="/ppt/notesMasters/notesMaster1.xml" Id="R46bf1729d3044ecd" /><Relationship Type="http://schemas.openxmlformats.org/officeDocument/2006/relationships/presProps" Target="/ppt/presProps.xml" Id="R0b3cddf4bc2c40b2" /><Relationship Type="http://schemas.openxmlformats.org/officeDocument/2006/relationships/tableStyles" Target="/ppt/tableStyles.xml" Id="R11427543330a4326" /><Relationship Type="http://schemas.openxmlformats.org/officeDocument/2006/relationships/slide" Target="/ppt/slides/slide1.xml" Id="R9e377f33d6864fdc" /><Relationship Type="http://schemas.openxmlformats.org/officeDocument/2006/relationships/slide" Target="/ppt/slides/slide2.xml" Id="R974928b2d3a24ab4" /><Relationship Type="http://schemas.openxmlformats.org/officeDocument/2006/relationships/slide" Target="/ppt/slides/slide3.xml" Id="R4fa516d14ce643d2" /><Relationship Type="http://schemas.openxmlformats.org/officeDocument/2006/relationships/slide" Target="/ppt/slides/slide4.xml" Id="R2c1c646948ea4d82" /><Relationship Type="http://schemas.openxmlformats.org/officeDocument/2006/relationships/slide" Target="/ppt/slides/slide5.xml" Id="Ra19b6fc8b9f249d8" /><Relationship Type="http://schemas.openxmlformats.org/officeDocument/2006/relationships/slide" Target="/ppt/slides/slide6.xml" Id="R15f7164d37ee41d8" /><Relationship Type="http://schemas.openxmlformats.org/officeDocument/2006/relationships/slide" Target="/ppt/slides/slide7.xml" Id="R3f1c5e87317e446b" /><Relationship Type="http://schemas.openxmlformats.org/officeDocument/2006/relationships/slide" Target="/ppt/slides/slide8.xml" Id="Rda2999a553984d92" /><Relationship Type="http://schemas.openxmlformats.org/officeDocument/2006/relationships/slide" Target="/ppt/slides/slide9.xml" Id="R7f9f997740f84554" /><Relationship Type="http://schemas.openxmlformats.org/officeDocument/2006/relationships/slide" Target="/ppt/slides/slide10.xml" Id="R4dab30abda5d48a5" /><Relationship Type="http://schemas.openxmlformats.org/officeDocument/2006/relationships/slide" Target="/ppt/slides/slide11.xml" Id="Re6628939f54f4b34" /><Relationship Type="http://schemas.openxmlformats.org/officeDocument/2006/relationships/slide" Target="/ppt/slides/slide12.xml" Id="R589903f8379f4474" /><Relationship Type="http://schemas.openxmlformats.org/officeDocument/2006/relationships/slide" Target="/ppt/slides/slide13.xml" Id="R1a10cbee7a8a46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0ff95b13ee4d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9f883b10004265" /><Relationship Type="http://schemas.openxmlformats.org/officeDocument/2006/relationships/notesMaster" Target="/ppt/notesMasters/notesMaster1.xml" Id="Rf6c6bada4c044d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4a954adcc74c17" /><Relationship Type="http://schemas.openxmlformats.org/officeDocument/2006/relationships/notesMaster" Target="/ppt/notesMasters/notesMaster1.xml" Id="Ra66ec3570df74d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228f3fbab4423e" /><Relationship Type="http://schemas.openxmlformats.org/officeDocument/2006/relationships/notesMaster" Target="/ppt/notesMasters/notesMaster1.xml" Id="R29dc2993289046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63660727aa4db3" /><Relationship Type="http://schemas.openxmlformats.org/officeDocument/2006/relationships/notesMaster" Target="/ppt/notesMasters/notesMaster1.xml" Id="R9ff82e0ecf0f4f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e24bf1127f4272" /><Relationship Type="http://schemas.openxmlformats.org/officeDocument/2006/relationships/notesMaster" Target="/ppt/notesMasters/notesMaster1.xml" Id="Rdc877e61701745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e285038467495c" /><Relationship Type="http://schemas.openxmlformats.org/officeDocument/2006/relationships/notesMaster" Target="/ppt/notesMasters/notesMaster1.xml" Id="R8ba3d69057f249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f48ce866db44f9" /><Relationship Type="http://schemas.openxmlformats.org/officeDocument/2006/relationships/notesMaster" Target="/ppt/notesMasters/notesMaster1.xml" Id="R3147828f79f144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6654b43aaa405d" /><Relationship Type="http://schemas.openxmlformats.org/officeDocument/2006/relationships/notesMaster" Target="/ppt/notesMasters/notesMaster1.xml" Id="Rdeb0231d7cb345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0eb6adb7584761" /><Relationship Type="http://schemas.openxmlformats.org/officeDocument/2006/relationships/notesMaster" Target="/ppt/notesMasters/notesMaster1.xml" Id="Rcb4a0f0a1ff740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c9c4d27609421f" /><Relationship Type="http://schemas.openxmlformats.org/officeDocument/2006/relationships/notesMaster" Target="/ppt/notesMasters/notesMaster1.xml" Id="R5b8c1645c7ba45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864fbd20f14c2c" /><Relationship Type="http://schemas.openxmlformats.org/officeDocument/2006/relationships/notesMaster" Target="/ppt/notesMasters/notesMaster1.xml" Id="Ra1f4d1324ba84b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144f3f4228446e4" /><Relationship Type="http://schemas.openxmlformats.org/officeDocument/2006/relationships/notesMaster" Target="/ppt/notesMasters/notesMaster1.xml" Id="R58045c247db44e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a1c3d5a1af4ae3" /><Relationship Type="http://schemas.openxmlformats.org/officeDocument/2006/relationships/notesMaster" Target="/ppt/notesMasters/notesMaster1.xml" Id="Rac2a0b02bef64b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52547aeaca4b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913570be074547" /><Relationship Type="http://schemas.openxmlformats.org/officeDocument/2006/relationships/slideLayout" Target="/ppt/slideLayouts/slideLayout1.xml" Id="R5695f4b006f24c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95f4b006f24c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dcd1a7399407d" /><Relationship Type="http://schemas.openxmlformats.org/officeDocument/2006/relationships/notesSlide" Target="/ppt/notesSlides/notesSlide1.xml" Id="Re263a2d469df48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e4d349308d4402" /><Relationship Type="http://schemas.openxmlformats.org/officeDocument/2006/relationships/notesSlide" Target="/ppt/notesSlides/notesSlide2.xml" Id="Raa7d65c2467d4d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5b879ce4649cd" /><Relationship Type="http://schemas.openxmlformats.org/officeDocument/2006/relationships/notesSlide" Target="/ppt/notesSlides/notesSlide3.xml" Id="R75c35d64ea4946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25a7eee8b4f97" /><Relationship Type="http://schemas.openxmlformats.org/officeDocument/2006/relationships/notesSlide" Target="/ppt/notesSlides/notesSlide4.xml" Id="R389cc484acc047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323cf544c47aa" /><Relationship Type="http://schemas.openxmlformats.org/officeDocument/2006/relationships/notesSlide" Target="/ppt/notesSlides/notesSlide5.xml" Id="Rd86b3094e51540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e404955c348bc" /><Relationship Type="http://schemas.openxmlformats.org/officeDocument/2006/relationships/notesSlide" Target="/ppt/notesSlides/notesSlide6.xml" Id="Rab13c104781a44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7c164c4f140aa" /><Relationship Type="http://schemas.openxmlformats.org/officeDocument/2006/relationships/notesSlide" Target="/ppt/notesSlides/notesSlide7.xml" Id="Rb8eb86af160943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70a6317694f65" /><Relationship Type="http://schemas.openxmlformats.org/officeDocument/2006/relationships/notesSlide" Target="/ppt/notesSlides/notesSlide8.xml" Id="R685c234556c041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67efca5b14527" /><Relationship Type="http://schemas.openxmlformats.org/officeDocument/2006/relationships/notesSlide" Target="/ppt/notesSlides/notesSlide9.xml" Id="R543cc74d06d64f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ba4292ad748d7" /><Relationship Type="http://schemas.openxmlformats.org/officeDocument/2006/relationships/notesSlide" Target="/ppt/notesSlides/notesSlide10.xml" Id="Rd4948009f02544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6d8bc453049d6" /><Relationship Type="http://schemas.openxmlformats.org/officeDocument/2006/relationships/notesSlide" Target="/ppt/notesSlides/notesSlide11.xml" Id="R11ca7a5e444a42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a4e69d75842b8" /><Relationship Type="http://schemas.openxmlformats.org/officeDocument/2006/relationships/notesSlide" Target="/ppt/notesSlides/notesSlide12.xml" Id="Rc8be2ae9f42046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9cdc60f0141be" /><Relationship Type="http://schemas.openxmlformats.org/officeDocument/2006/relationships/notesSlide" Target="/ppt/notesSlides/notesSlide13.xml" Id="R6d7ee534f4944c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67B2931A-E331-4469-ABE5-A16E06DF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C9E380E-51B5-487C-B2B2-62CDA25D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288B9942-67A3-4B1F-AF2B-40D14D7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E31D6A1C-F65A-4F22-B47A-DD79A507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234F32BE-667D-4D04-87B1-B73AF1A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2B5589D1-8731-46CC-A83A-EC32EA4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8AC3E41-9AE9-4133-91A6-D326A5A8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BC49C0F-A95C-4571-BEF0-4037D7F2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政务服务与乡村振兴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571A456-0BD7-49B7-BC76-0C56BA98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用公共服务、基层治理和乡村振兴案例理解 AI 的流程价值、责任边界与可追溯要求。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65901D8-BF68-4713-A6CE-DA91C51D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88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公共服务中的 AI 可能缩短资料查找和群众等待时间，但它面对的不是抽象问题，而是具体的人、地区、政策版本和权益。一次看似细小的适用条件错误，可能让群众错过办理期限；一次过度收集…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BD4CB42-5642-46B1-AFBE-82E9AFE5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6A2B32F-B5CE-46F9-B663-22C27873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IN-003 · IN-003-S01</a:t>
            </a:r>
          </a:p>
        </p:txBody>
      </p:sp>
    </p:spTree>
    <p:extLst>
      <p:ext uri="{BB962C8B-B14F-4D97-AF65-F5344CB8AC3E}">
        <p14:creationId xmlns:p14="http://schemas.microsoft.com/office/powerpoint/2010/main" val="7153188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AC10D46-57DC-4F60-BB69-7150ABFE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F3D5DA0A-3DB9-42A1-8023-871F6415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7F5D5CA4-5B64-447E-8C03-1134B408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0D9A231-2BE3-439D-9948-E5A0F399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C8E15140-1B86-4C36-AFE3-A5CC5120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9630248-F4D4-40BC-A1C3-DECEAF3E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把政务或乡村服务拆成受理、检索、辅助生成、复核、交付和纠错环节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6C270B88-6C3F-424E-B560-BC7E976C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为每个环节定义数据权限、证据要求、人工责任和日志记录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C048FCEF-6FCE-461F-8239-7EE6D6E2A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区分一般信息指引、资格预审与影响个人权益的行政决定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2C92E852-8BB9-4393-8D4B-3D6F496C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为医疗、法律等高风险咨询设置只提供信息指引、及时转专业人员的边界</a:t>
            </a:r>
          </a:p>
        </p:txBody>
      </p:sp>
    </p:spTree>
    <p:extLst>
      <p:ext uri="{BB962C8B-B14F-4D97-AF65-F5344CB8AC3E}">
        <p14:creationId xmlns:p14="http://schemas.microsoft.com/office/powerpoint/2010/main" val="8881236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7ED9883F-1B77-41AA-A5B6-B48D09BD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66B0D4D-0B15-4F08-8681-67C6984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98DE0709-230B-498E-8508-1E410420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81BF16E-1478-4BA6-B561-2AF980B6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AB5B1A8E-F2BF-4BE3-842F-44243A7A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8B35FA1-ADC0-410B-95D7-F3BEB28F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A28954A-9F20-42A8-AE5F-0F68BEFF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C0752A5-FB45-452B-A415-F641FC3D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选择一个具体事项，例如政策查询、材料清单说明、农技服务预约或基层诉求分流。先写出现有入口、办理依据、所需材料、承办岗位、时限、例外情形和申诉渠道，再决定 AI 可以辅助哪一步…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116CCE-856B-4CEC-B3A7-079407A5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E8D87F8-E226-46C4-9D96-DAE26EFF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一个基础流程可以是：接收问题并识别服务事项；按用户角色检查可访问范围；从现行权威资料中检索；生成带引用的说明或待办清单；依据风险等级自动交付或送人工复核；记录使用的资料版本与最终答复…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F6554D71-9C68-43B6-9871-813A47E6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B30C6592-EF57-4F92-A601-E502E221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</p:spTree>
    <p:extLst>
      <p:ext uri="{BB962C8B-B14F-4D97-AF65-F5344CB8AC3E}">
        <p14:creationId xmlns:p14="http://schemas.microsoft.com/office/powerpoint/2010/main" val="7540483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C72F6B37-0395-4CCE-878B-1A3486D1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46C3C48-F61A-4567-98B3-24383CA1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6AB757B8-1F2E-4DFE-9814-4EA9E9DC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权限设计应同时回答“谁、为了什么、能看哪些字段、能做什么、保存多久”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9F472BA-4917-41EE-9CF8-234325DA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4B345CF-3CF6-4779-83A9-6138D479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E252B5B-EC32-41EF-B4EC-4D0551EF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88C158A-145E-468D-A090-2288B8B5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权限控制：只看完成任务所需的信息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80BAFF0-2699-4932-80B7-091F2B39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设计应同时回答“谁、为了什么、能看哪些字段、能做什么、保存多久”。公开政策问答通常不需要身份信息；查询个人办理进度才可能需要认证。即使通过认证，服务人员和系统也只能访问职责所需的数据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005A3E2-B2CB-494E-A40E-BC26DBCB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6C9B183-103F-4CDE-BE92-83C31AC7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对个人信息、家庭情况、位置、健康、财产和未公开生产经营数据，应采用分级、脱敏、访问审计和期限管理。测试环境不得直接复制真实敏感数据；日志也不能原样保存身份证件、病历或完整对话…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E8B8509C-97A0-48CD-866A-644CA847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BE4F5F8-F7D8-4A2B-8B55-DBEF4DA6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权限设计应同时回答“谁、为了什么、能看哪些字段、能做什么、保存多久”</a:t>
            </a:r>
          </a:p>
        </p:txBody>
      </p:sp>
    </p:spTree>
    <p:extLst>
      <p:ext uri="{BB962C8B-B14F-4D97-AF65-F5344CB8AC3E}">
        <p14:creationId xmlns:p14="http://schemas.microsoft.com/office/powerpoint/2010/main" val="4419876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281EA57-23EA-499B-A7CE-1263641C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4454C630-0095-402A-91D1-6F3B0114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24779E2-98EA-4B64-A140-9633CD15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9B554BA-5261-4DB5-B1C6-1BD4EA42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4DDE81E9-7DB4-4066-B3A0-4B51CEE8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06FEEC4-C195-45A3-B532-EE5922DD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01D33E3-9F49-4BA8-B31E-9E2112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AFE6210-C47C-4A8A-A23A-FDAF8489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每项政策说明至少应标明文件名称、发布机关、文号或可唯一识别的信息、适用地区、生效或失效状态、相关条款位置和检索时间。若不同文件存在冲突，应提示冲突并转承办人员判断…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6A76B2E-E853-412A-9437-A0DDA42B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B7E6E0E-2874-43C6-BDFE-2791E7BA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存在不等于回答正确。复核者还要确认原文确实支持结论，申请人的情况满足适用条件，且没有忽略例外条款。知识资料应有责任部门、版本和复审日期；过期内容要停止检索，而不是仅在页面上标一个旧日期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98BCD74-64A0-4845-AF27-7D156EDE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755B2C0F-90C5-4B2F-83E9-AB35BB2F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</p:spTree>
    <p:extLst>
      <p:ext uri="{BB962C8B-B14F-4D97-AF65-F5344CB8AC3E}">
        <p14:creationId xmlns:p14="http://schemas.microsoft.com/office/powerpoint/2010/main" val="13651608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1DC0FCB5-7ECB-4982-BC6D-6F4FC974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4E84606B-889B-4E5E-8084-30A76FF6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4219E90-90FA-4FDA-AEB9-641DD5D0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983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低风险信息服务包括办公时间、公开材料下载位置和一般流程说明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D03210E-B8A6-4291-9242-0D4DCE53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DA0C94A-22DD-4BEF-B07A-2387432A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95FDBE4-C809-4D1F-974A-77715D73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6774830-CBBB-4896-B67C-F8186F7C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按风险分层，保留人工责任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D999209-2909-4AAF-8CDE-BA0C7B96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低风险信息服务包括办公时间、公开材料下载位置和一般流程说明，可以在来源有效且转人工通畅的前提下自动答复。中等风险任务如资格条件预检查、材料缺项提示，可以帮助准备…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74D87EA-CCF2-4447-8FB7-6601B99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F247CA8-D0DC-4C9A-A738-421E4B66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行政许可、处罚、救助资格、补贴发放、资源分配、信用评价或个人申诉的输出，会影响重要权益，不应由模型独立作出。系统可以整理资料与标记规则，最终判断、告知理由和救济途径由具备权限的工作人员负责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5C730239-E9B0-46FA-9968-22B37C52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EA493051-AA71-4E7A-8A9A-5DA6A398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低风险信息服务包括办公时间、公开材料下载位置和一般流程说明</a:t>
            </a:r>
          </a:p>
        </p:txBody>
      </p:sp>
    </p:spTree>
    <p:extLst>
      <p:ext uri="{BB962C8B-B14F-4D97-AF65-F5344CB8AC3E}">
        <p14:creationId xmlns:p14="http://schemas.microsoft.com/office/powerpoint/2010/main" val="12207129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01874BA-D897-4AC4-8380-05689D47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BF66750-CC06-4828-90B1-92F26638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12E55016-5147-478C-BF53-44124B09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1A273D8-C073-45DD-976B-4C0CCF31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C6F64DE0-33C1-47EE-8EB8-63097283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2B9C13D-EDD0-4532-97C5-9B0CAB8C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8101E6C-9ACE-4DB1-9753-4FB05426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779CF1C-89E0-43D6-98A8-ADD14DF7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乡村场景可以从政策材料准备、农技服务转介、产销信息整理、灾害信息汇总和公共事务通知等任务切入。需要同时考虑网络条件、方言表达、数字能力和线下服务可达性…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1EDE63E-9B20-40BB-ACE9-558E2069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7E7C00B-E1B5-410B-BCD2-09F7A362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例如，农户上传作物照片时，AI 可以整理症状并检索公开农技资料，但不能把图像识别结果当作确定诊断，更不能自动给出受管制药品用量。更稳妥的流程是提示拍摄要求、给出可能原因和依据…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F9844A0-34EB-4505-A5F5-1A5CC7FF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31EC0D50-7CB8-425A-9E31-C1451E23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</p:spTree>
    <p:extLst>
      <p:ext uri="{BB962C8B-B14F-4D97-AF65-F5344CB8AC3E}">
        <p14:creationId xmlns:p14="http://schemas.microsoft.com/office/powerpoint/2010/main" val="8393900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35B4752-6EC9-458C-9C0D-0A153DED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8220B2E-2E8F-438A-A8F1-78208B07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37DCB13-BD9A-41B3-A7A5-E06E0C07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9023492F-F87F-46AF-BFB1-C0B42EA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A219EEB-9168-4055-8556-B352468A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5E11536-3D6A-4234-B062-71001F33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3328ED5-B5AC-4EB1-9287-355BCE80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医疗与法律咨询只做信息指引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12D4683-6A8E-4E9E-A4E0-6F8C9E98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65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政务入口常收到医疗、心理危机、家庭纠纷和法律争议等问题。AI 只能提供公开机构、办理流程、材料和求助渠道等一般信息，不作诊断，不给个案治疗方案，不替代律师解释权利义务，也不预测案件结果…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D6F8BAB-3B5B-41AF-9A63-818B68E1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AD90245D-B9F5-4343-A466-38FF1DB2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这类转介应优先于“继续追问更多隐私”。系统需明确能力限制，避免让群众误以为自动回答具有正式效力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1AD012E3-6B40-4F84-B1E7-11D43FE8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4D85FAF7-B4BE-49C1-9C24-53B928A7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5825913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7966575E-0327-4491-8D35-2A80013D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621890EE-D452-4552-974C-A965D793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EC31F2FD-FF92-43CF-B1C5-8A8B8DA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惠农政策材料助手必须经过边界验证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DF2A8B69-A447-4A73-A6B1-4256300E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BFB1945-FC60-4AB4-A2AF-4E10A5C7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F94BDF0-F40E-44C1-B65A-6089C34F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惠农政策材料助手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6FAB2D8-AF4A-48C8-8EBF-79832707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场景｜农户想了解某项当地支持政策，需要确认适用地区、申报时间和材料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83D15EA-8C13-4A15-BC97-2DE73645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边界｜它只做信息说明和材料预检查，不承诺一定通过；存在家庭、土地或经营资格争议时转承办人员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6D9255FB-1F53-4DC6-95DB-0C165B84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9A33724-A22F-4EFD-82FE-123AE250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惠农政策材料助手必须经过边界验证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2412713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0C38D4B-BF31-4212-90F9-17413570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C438028F-0065-4536-BA1E-67BCF2AB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7E0D867-04BF-4C7B-8326-F2B71B41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基层诉求分流必须经过边界验证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70AB11F8-06D7-4AE2-97F8-214E5DA3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1BFC975C-C69F-4A6E-A0A4-E3A56172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59FB6B8-B6AA-4343-9619-C72C9629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基层诉求分流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4B4B479-5DAC-41FA-9C59-F3185822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场景｜服务中心收到文字、语音转写和图片形式的群众诉求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C347F1DC-7C87-4ABE-9166-576ADCBE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验证｜验收“基层诉求分流”时，要同时记录适用场景、证据来源、失败条件与人工责任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22A3282E-B4D5-49C5-832B-921D5334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F7BB160-2F6E-48A9-B466-892B6817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基层诉求分流必须经过边界验证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6204701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D7E9B57-0C55-4BEE-8D87-578D4604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C4864021-9642-49EA-B49F-7678E417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DBB7C97A-2117-455F-AFA8-BC4B6562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EF18EAFE-33C1-4458-A7BE-1B15503E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5B21C36C-6EE6-4E93-A2FA-A27CE450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C513C39-409E-4B44-B690-DE4D3D4A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8101BEAF-CE24-42AC-8A7B-6AC5D233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DC4712E-C1FB-4795-8D0E-FE65587D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选择一个公开服务事项，绘制“受理—证据检索—生成—人工复核—交付—申诉”的流程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D021FD7-8D04-4735-9264-FA9FD12F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92C97A15-4658-4734-B278-771CA61B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47DFF1CD-AE0C-4C8D-AA6E-849153ED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8833DAA0-D719-40C9-B067-8CC9352F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为每一步填写可访问字段、证据格式、责任岗位和保存期限，检查是否符合最小必要原则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6D039FAB-D9CF-4E54-8881-26A51352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8DE65DB0-0491-4A35-83C2-A4672434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0A74F913-9340-438C-8FAA-CAAEFF16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26595B9-C8ED-48E0-B54F-98287759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准备三个正常问题、两个模糊问题、一个资料冲突问题和一个高风险求助，检查系统能否正确引用、拒绝越权并转人工</a:t>
            </a:r>
          </a:p>
        </p:txBody>
      </p:sp>
    </p:spTree>
    <p:extLst>
      <p:ext uri="{BB962C8B-B14F-4D97-AF65-F5344CB8AC3E}">
        <p14:creationId xmlns:p14="http://schemas.microsoft.com/office/powerpoint/2010/main" val="3532349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60E12B9C-CAF3-498C-ACEB-DCBA5602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4EEEF31A-FFED-40E3-AB84-351E8981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79FC4872-78CB-469B-98BB-DDAEAE1D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145EE2A-5C2D-4CCC-A8A1-70FC62F9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333EC04F-E4F1-408F-AF43-91C0BDD9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7439AFD-C623-4D72-9E17-E66B9529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C8D43CC-8385-405D-B894-2DF8D1ED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3D078641-DAFF-4601-A3D8-D94F6BDF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420FBF3-EAAE-4D52-A163-6F80B2A1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56C302F0-E9C3-4821-B771-A569BC92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F13C0415-D6F0-43C2-94DB-AD209BDF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D93A510-96DD-4DAE-B4E7-180E0637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63C789F-3159-464D-A401-F243C070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265FF091-DCB2-41C1-A373-620B9703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4099C91-F315-49AF-B07D-71C223B0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96C263F-D760-440A-8BF5-956B5F14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13318639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E1ED20B9-C772-4871-99A7-E7B6AD85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636EF265-72EA-48E4-80E1-554D8C3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CC144849-583C-4FC8-AAAC-A7A70AC7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86D5CD3E-0C67-4D73-892E-ED5E3404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797C4058-9F8A-4204-B6AE-CB06D3A3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4D115BB-925D-4667-AE34-8095D23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8145BFA-B9B8-4495-BF9F-E9C32333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《中华人民共和国个人信息保护法》与《中华人民共和国数据安全法》：分别核对个人信息处理与数据安全义务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547953C8-5AEC-4059-8A77-9A0E8D6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国务院《关于加强数字政府建设的指导意见》：数字政府建设的国家层面指导文件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0EB3709E-C53B-4D56-AEEE-9B1E9623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07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NIST：Artificial Intelligence Risk Management Framework（AI RMF 1.0）：用于补充通用 AI 风险识别方法，不替代本地法律与行政程序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EEF9EAFE-2AA0-46BF-999D-DF9759F7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实际办理应以事项所在地、责任部门公布的现行文件和线下核验结果为准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85DDC6B5-30EA-4009-B847-E626B728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3169684B-8090-4BF8-9424-7D6D268E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610779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2026-07-11T12:05:40.3820000Z</dcterms:created>
  <dcterms:modified xsi:type="dcterms:W3CDTF">2026-07-11T12:05:40.3820000Z</dcterms:modified>
</coreProperties>
</file>