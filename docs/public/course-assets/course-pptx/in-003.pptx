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d4b99283964bea" /><Relationship Type="http://schemas.openxmlformats.org/officeDocument/2006/relationships/extended-properties" Target="/docProps/app.xml" Id="R7cb363c3174a48b5" /><Relationship Type="http://schemas.openxmlformats.org/officeDocument/2006/relationships/officeDocument" Target="/ppt/presentation.xml" Id="R96cc62267bf340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9e6409d2e8474f"/>
  </p:sldMasterIdLst>
  <p:notesMasterIdLst>
    <p:notesMasterId xmlns:r="http://schemas.openxmlformats.org/officeDocument/2006/relationships" r:id="Rc94a7edf718643c6"/>
  </p:notesMasterIdLst>
  <p:sldIdLst>
    <p:sldId xmlns:r="http://schemas.openxmlformats.org/officeDocument/2006/relationships" id="256" r:id="R18517cd6c044422f"/>
    <p:sldId xmlns:r="http://schemas.openxmlformats.org/officeDocument/2006/relationships" id="257" r:id="R22854ca00d5247c5"/>
    <p:sldId xmlns:r="http://schemas.openxmlformats.org/officeDocument/2006/relationships" id="258" r:id="R55a689874d054ecb"/>
    <p:sldId xmlns:r="http://schemas.openxmlformats.org/officeDocument/2006/relationships" id="259" r:id="R511cd37df6df48bc"/>
    <p:sldId xmlns:r="http://schemas.openxmlformats.org/officeDocument/2006/relationships" id="260" r:id="Rd62ea25ae7f04b87"/>
    <p:sldId xmlns:r="http://schemas.openxmlformats.org/officeDocument/2006/relationships" id="261" r:id="R76cdbac9b47d4118"/>
    <p:sldId xmlns:r="http://schemas.openxmlformats.org/officeDocument/2006/relationships" id="262" r:id="R0c0f1dd4eaf54301"/>
    <p:sldId xmlns:r="http://schemas.openxmlformats.org/officeDocument/2006/relationships" id="263" r:id="R7d2c35565d484fe1"/>
    <p:sldId xmlns:r="http://schemas.openxmlformats.org/officeDocument/2006/relationships" id="264" r:id="R2aa7f54b0a1140ce"/>
    <p:sldId xmlns:r="http://schemas.openxmlformats.org/officeDocument/2006/relationships" id="265" r:id="Re2abcc49c4344ba8"/>
    <p:sldId xmlns:r="http://schemas.openxmlformats.org/officeDocument/2006/relationships" id="266" r:id="Ra79b37cee0a24ca6"/>
    <p:sldId xmlns:r="http://schemas.openxmlformats.org/officeDocument/2006/relationships" id="267" r:id="Rebc7718841a447b1"/>
    <p:sldId xmlns:r="http://schemas.openxmlformats.org/officeDocument/2006/relationships" id="268" r:id="R628ddc879d414c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9c60c72c8640f4" /><Relationship Type="http://schemas.openxmlformats.org/officeDocument/2006/relationships/slideMaster" Target="/ppt/slideMasters/slideMaster1.xml" Id="Rb99e6409d2e8474f" /><Relationship Type="http://schemas.openxmlformats.org/officeDocument/2006/relationships/notesMaster" Target="/ppt/notesMasters/notesMaster1.xml" Id="Rc94a7edf718643c6" /><Relationship Type="http://schemas.openxmlformats.org/officeDocument/2006/relationships/presProps" Target="/ppt/presProps.xml" Id="R932390293efd44e7" /><Relationship Type="http://schemas.openxmlformats.org/officeDocument/2006/relationships/tableStyles" Target="/ppt/tableStyles.xml" Id="Re31a59e13cd040bf" /><Relationship Type="http://schemas.openxmlformats.org/officeDocument/2006/relationships/slide" Target="/ppt/slides/slide1.xml" Id="R18517cd6c044422f" /><Relationship Type="http://schemas.openxmlformats.org/officeDocument/2006/relationships/slide" Target="/ppt/slides/slide2.xml" Id="R22854ca00d5247c5" /><Relationship Type="http://schemas.openxmlformats.org/officeDocument/2006/relationships/slide" Target="/ppt/slides/slide3.xml" Id="R55a689874d054ecb" /><Relationship Type="http://schemas.openxmlformats.org/officeDocument/2006/relationships/slide" Target="/ppt/slides/slide4.xml" Id="R511cd37df6df48bc" /><Relationship Type="http://schemas.openxmlformats.org/officeDocument/2006/relationships/slide" Target="/ppt/slides/slide5.xml" Id="Rd62ea25ae7f04b87" /><Relationship Type="http://schemas.openxmlformats.org/officeDocument/2006/relationships/slide" Target="/ppt/slides/slide6.xml" Id="R76cdbac9b47d4118" /><Relationship Type="http://schemas.openxmlformats.org/officeDocument/2006/relationships/slide" Target="/ppt/slides/slide7.xml" Id="R0c0f1dd4eaf54301" /><Relationship Type="http://schemas.openxmlformats.org/officeDocument/2006/relationships/slide" Target="/ppt/slides/slide8.xml" Id="R7d2c35565d484fe1" /><Relationship Type="http://schemas.openxmlformats.org/officeDocument/2006/relationships/slide" Target="/ppt/slides/slide9.xml" Id="R2aa7f54b0a1140ce" /><Relationship Type="http://schemas.openxmlformats.org/officeDocument/2006/relationships/slide" Target="/ppt/slides/slide10.xml" Id="Re2abcc49c4344ba8" /><Relationship Type="http://schemas.openxmlformats.org/officeDocument/2006/relationships/slide" Target="/ppt/slides/slide11.xml" Id="Ra79b37cee0a24ca6" /><Relationship Type="http://schemas.openxmlformats.org/officeDocument/2006/relationships/slide" Target="/ppt/slides/slide12.xml" Id="Rebc7718841a447b1" /><Relationship Type="http://schemas.openxmlformats.org/officeDocument/2006/relationships/slide" Target="/ppt/slides/slide13.xml" Id="R628ddc879d414c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59cde3c58a46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cf3cb432844cd1" /><Relationship Type="http://schemas.openxmlformats.org/officeDocument/2006/relationships/notesMaster" Target="/ppt/notesMasters/notesMaster1.xml" Id="R8aeeab207f7440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4ffcc3b3234ed1" /><Relationship Type="http://schemas.openxmlformats.org/officeDocument/2006/relationships/notesMaster" Target="/ppt/notesMasters/notesMaster1.xml" Id="R64741c89f16e48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353612165a4ae7" /><Relationship Type="http://schemas.openxmlformats.org/officeDocument/2006/relationships/notesMaster" Target="/ppt/notesMasters/notesMaster1.xml" Id="Rb22ccf4d43c84d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acc51d19e145ff" /><Relationship Type="http://schemas.openxmlformats.org/officeDocument/2006/relationships/notesMaster" Target="/ppt/notesMasters/notesMaster1.xml" Id="Ra22c3a13e89641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d0b809fafd46bc" /><Relationship Type="http://schemas.openxmlformats.org/officeDocument/2006/relationships/notesMaster" Target="/ppt/notesMasters/notesMaster1.xml" Id="R847fc15a4a9f46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ee33d9a1924b8f" /><Relationship Type="http://schemas.openxmlformats.org/officeDocument/2006/relationships/notesMaster" Target="/ppt/notesMasters/notesMaster1.xml" Id="R9a87d0332d8547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e1047423044e02" /><Relationship Type="http://schemas.openxmlformats.org/officeDocument/2006/relationships/notesMaster" Target="/ppt/notesMasters/notesMaster1.xml" Id="R994c2c22db314e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1d970e12974775" /><Relationship Type="http://schemas.openxmlformats.org/officeDocument/2006/relationships/notesMaster" Target="/ppt/notesMasters/notesMaster1.xml" Id="R83323faa185a49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0760d8bbef4f80" /><Relationship Type="http://schemas.openxmlformats.org/officeDocument/2006/relationships/notesMaster" Target="/ppt/notesMasters/notesMaster1.xml" Id="R41a6c87137a44e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fec8c2af564201" /><Relationship Type="http://schemas.openxmlformats.org/officeDocument/2006/relationships/notesMaster" Target="/ppt/notesMasters/notesMaster1.xml" Id="R640e9caac79644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4b84e7d52648c1" /><Relationship Type="http://schemas.openxmlformats.org/officeDocument/2006/relationships/notesMaster" Target="/ppt/notesMasters/notesMaster1.xml" Id="Ra1b796e52d6e40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70890786b14360" /><Relationship Type="http://schemas.openxmlformats.org/officeDocument/2006/relationships/notesMaster" Target="/ppt/notesMasters/notesMaster1.xml" Id="R8f0accee685845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823178ef304227" /><Relationship Type="http://schemas.openxmlformats.org/officeDocument/2006/relationships/notesMaster" Target="/ppt/notesMasters/notesMaster1.xml" Id="R9ac2f1dfb77e47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150e4327748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190cba15334e6e" /><Relationship Type="http://schemas.openxmlformats.org/officeDocument/2006/relationships/slideLayout" Target="/ppt/slideLayouts/slideLayout1.xml" Id="R3303413be4e14c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03413be4e14c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c36c34a114b35" /><Relationship Type="http://schemas.openxmlformats.org/officeDocument/2006/relationships/notesSlide" Target="/ppt/notesSlides/notesSlide1.xml" Id="Rb526850b065d49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88d4b13a84279" /><Relationship Type="http://schemas.openxmlformats.org/officeDocument/2006/relationships/notesSlide" Target="/ppt/notesSlides/notesSlide2.xml" Id="R82f9041d2dd94a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c1f37e1914865" /><Relationship Type="http://schemas.openxmlformats.org/officeDocument/2006/relationships/notesSlide" Target="/ppt/notesSlides/notesSlide3.xml" Id="R95f76035588841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2723046974c9c" /><Relationship Type="http://schemas.openxmlformats.org/officeDocument/2006/relationships/notesSlide" Target="/ppt/notesSlides/notesSlide4.xml" Id="Re3f5f24656e24b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2154288eb4f60" /><Relationship Type="http://schemas.openxmlformats.org/officeDocument/2006/relationships/notesSlide" Target="/ppt/notesSlides/notesSlide5.xml" Id="R91678bf661744a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9d395a84647df" /><Relationship Type="http://schemas.openxmlformats.org/officeDocument/2006/relationships/notesSlide" Target="/ppt/notesSlides/notesSlide6.xml" Id="R0b51a275df044b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83e0840714edb" /><Relationship Type="http://schemas.openxmlformats.org/officeDocument/2006/relationships/notesSlide" Target="/ppt/notesSlides/notesSlide7.xml" Id="R8a6ae6e66e864d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ae1ff0e94481f" /><Relationship Type="http://schemas.openxmlformats.org/officeDocument/2006/relationships/notesSlide" Target="/ppt/notesSlides/notesSlide8.xml" Id="R82328f59d2624c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d11b86c1a48ac" /><Relationship Type="http://schemas.openxmlformats.org/officeDocument/2006/relationships/notesSlide" Target="/ppt/notesSlides/notesSlide9.xml" Id="R39ac066fe51942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c5fcbe5c54a4b" /><Relationship Type="http://schemas.openxmlformats.org/officeDocument/2006/relationships/notesSlide" Target="/ppt/notesSlides/notesSlide10.xml" Id="Rc5dcdbfac3d641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1ae0c7f4c4539" /><Relationship Type="http://schemas.openxmlformats.org/officeDocument/2006/relationships/notesSlide" Target="/ppt/notesSlides/notesSlide11.xml" Id="R5bf9da63d32745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355237f78443f" /><Relationship Type="http://schemas.openxmlformats.org/officeDocument/2006/relationships/notesSlide" Target="/ppt/notesSlides/notesSlide12.xml" Id="Rb9f07f1c8f2547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c1158c81a4430" /><Relationship Type="http://schemas.openxmlformats.org/officeDocument/2006/relationships/notesSlide" Target="/ppt/notesSlides/notesSlide13.xml" Id="R0b8e06817c0a45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74A334D8-6B73-4E76-92AC-3E3712BC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67E0BE8D-E6F6-4EAD-8122-7048DDD7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092DC97F-587A-41C8-990E-02C58005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A20EDD64-9737-4FC2-88FE-833F8C45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E3D6203C-23A9-4F8D-88C1-293CC964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1DFD0205-B5F7-46DA-943D-8FB6FC10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2D9AFEA-EF7E-4E39-960B-8CB32335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第 4 章 · 行业应用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E22A5E6-C475-4983-9D4D-60C29182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政务服务与乡村振兴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4862A53-E6F3-43A8-B313-92EE17AB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用公共服务、基层治理和乡村振兴案例理解 AI 的流程价值、责任边界与可追溯要求。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6B471126-125F-49DF-8235-6BC2DABA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17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公共服务中的 AI 可能缩短资料查找和群众等待时间；但它面对的不是抽象问题；而是具体的人、地区、政策版本和权益；一次看似细小的适用条件错误；可能让群众错过办理期限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AB2BCD8F-FEAA-416C-BF22-A63ECCF4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D9B7158F-1323-487F-92BD-5E72C029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IN-003 · IN-003-S01</a:t>
            </a:r>
          </a:p>
        </p:txBody>
      </p:sp>
    </p:spTree>
    <p:extLst>
      <p:ext uri="{BB962C8B-B14F-4D97-AF65-F5344CB8AC3E}">
        <p14:creationId xmlns:p14="http://schemas.microsoft.com/office/powerpoint/2010/main" val="1459322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0939303C-1F07-4F1D-AF1C-B0D0CABD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E457141F-A126-4D9E-A581-C48A359C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A8803082-BD79-41D8-986E-8325805F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政务与乡村振兴：4项学习结果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0245B95A-1453-4B14-B74F-DDA45458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A6D67A74-5C59-4A4F-ACD0-EB202F7A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IN-003 · IN-003-S02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2D5980AA-954C-4418-A97A-6AD9528E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把政务或乡村服务拆成受理、检索、辅助生成、复核、交付和纠错环节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D070A54A-2336-4808-B7F6-E246CC45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为每个环节定义数据权限、证据要求、人工责任和日志记录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5982A0D8-1A56-477B-BAE6-71B52461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区分一般信息指引、资格预审与影响个人权益的行政决定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029F0A36-5DFE-4231-B2AE-F2401F09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为医疗、法律等高风险咨询设置只提供信息指引、及时转专业人员的边界</a:t>
            </a:r>
          </a:p>
        </p:txBody>
      </p:sp>
    </p:spTree>
    <p:extLst>
      <p:ext uri="{BB962C8B-B14F-4D97-AF65-F5344CB8AC3E}">
        <p14:creationId xmlns:p14="http://schemas.microsoft.com/office/powerpoint/2010/main" val="610292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B6695577-6DCA-4432-9FF0-73E94545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B1E3E368-792D-4BF2-8DBF-62508543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1 / 6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8C85C254-42E8-48E5-93A4-62BCED76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从服务事项建立完整流程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57EE7EE2-C5A8-408C-BB61-0A040626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CE41CDA8-AE39-4348-ADC8-C5C15600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IN-003 · IN-003-S03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76541DD7-5BAE-4F2D-90EB-1A713E7B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7308B6E6-F8EA-453C-A907-6FF45BDB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从服务事项建立完整流程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D73036EA-1FCA-44FB-A4CE-0E5DFF05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选择一个具体事项，例如政策查询、材料清单说明、农技服务预约或基层诉求分流；先写出现有入口、办理依据、所需材料、承办岗位、时限、例外情形和申诉渠道；再决定 AI 可以辅助哪一步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9A25B518-C5B7-40E4-8397-2692696D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15596A1-E3FC-4C56-9285-E6A4A0CA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一个基础流程可以是；接收问题并识别服务事项；按用户角色检查可访问范围；从现行权威资料中检索；生成带引用的说明或待办清单；依据风险等级自动交付或送人工复核；记录使用的资料版本与最终答复</a:t>
            </a:r>
          </a:p>
        </p:txBody>
      </p:sp>
      <p:sp>
        <p:nvSpPr>
          <p:cNvPr id="11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41708314-D1B5-4B98-8B9A-C9482C5C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3-takeaway">
            <a:extLst xmlns:a="http://schemas.openxmlformats.org/drawingml/2006/main">
              <a:ext uri="{FF2B5EF4-FFF2-40B4-BE49-F238E27FC236}">
                <a16:creationId xmlns:a16="http://schemas.microsoft.com/office/drawing/2014/main" id="{ECD1CAE3-26B2-401F-A095-B7EF76BF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从服务事项建立完整流程</a:t>
            </a:r>
          </a:p>
        </p:txBody>
      </p:sp>
    </p:spTree>
    <p:extLst>
      <p:ext uri="{BB962C8B-B14F-4D97-AF65-F5344CB8AC3E}">
        <p14:creationId xmlns:p14="http://schemas.microsoft.com/office/powerpoint/2010/main" val="1508686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313917AA-9703-4FA9-BD24-2637879C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49695D54-0980-4B59-A905-222EC342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2 / 6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AD785362-2295-4653-AEBF-9D644207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权限必须同时限定身份、目的、字段与期限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AC417446-887A-44D9-9730-80D72395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8FE621E1-C450-4E35-85C4-51FEEEF2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IN-003 · IN-003-S04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BB8CEEC7-9625-4212-BEDC-597C2E47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D09FA560-1AAB-4443-A7A7-6086F65B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权限控制：只看完成任务所需的信息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20E8A0C7-4D96-433A-8A9A-0A29F696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权限设计应同时回答“谁、为了什么、能看哪些字段、能做什么、保存多久”；公开政策问答通常不需要身份信息；查询个人办理进度才可能需要认证；即使通过认证，服务人员和系统也只能访问职责所需的数据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9ABFCF87-9C6D-434D-885B-E774BD59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25551116-D10A-4E2A-B1F2-68C109A1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对个人信息、家庭情况、位置、健康、财产和未公开生产经营数据；应采用分级、脱敏、访问审计和期限管理；测试环境不得直接复制真实敏感数据；日志也不能原样保存身份证件、病历或完整对话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2B61A61F-8BB9-4E9D-8CE3-AC7332A7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0EC43DDF-9033-41B0-AE37-20033A3D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权限必须同时限定身份、目的、字段与期限</a:t>
            </a:r>
          </a:p>
        </p:txBody>
      </p:sp>
    </p:spTree>
    <p:extLst>
      <p:ext uri="{BB962C8B-B14F-4D97-AF65-F5344CB8AC3E}">
        <p14:creationId xmlns:p14="http://schemas.microsoft.com/office/powerpoint/2010/main" val="192231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6EE6F61C-CBA8-4C98-918D-63B2E193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813C23D5-0589-40D2-B105-769684CB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3 / 6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D69AE49E-4A9E-47A0-A297-A021BA16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证据链：回答必须能回到有效依据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A490A6BD-BB5E-4C5D-943C-31A847C3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691E5FAB-B1BE-44B2-9096-DC540986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IN-003 · IN-003-S05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BAA3232-0DD8-4F2C-AFC8-B8F5DCAC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C9625053-02F9-4992-991A-4D9C27F8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证据链：回答必须能回到有效依据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0CC39641-E5FB-41ED-B33E-6C3E689A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每项政策说明至少应标明文件名称、发布机关、文号或可唯一识别的信息、适用地区、生效或失效状态、相关条款位置和检索时间；若不同文件存在冲突；应提示冲突并转承办人员判断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C70DB420-5E29-4BB4-B134-2108D19A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F913D2A6-8895-4D7D-B0A8-E7DDD8D4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引用存在不等于回答正确。复核者还要确认原文确实支持结论，申请人的情况满足适用条件，且没有忽略例外条款。知识资料应有责任部门、版本和复审日期；过期内容要停止检索，而不是仅在页面上标一个旧日期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4CA2E7F1-D596-4C6B-B9E7-D60C231D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A37F3E8C-86D5-4642-AA04-B4E91255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证据链：回答必须能回到有效依据</a:t>
            </a:r>
          </a:p>
        </p:txBody>
      </p:sp>
    </p:spTree>
    <p:extLst>
      <p:ext uri="{BB962C8B-B14F-4D97-AF65-F5344CB8AC3E}">
        <p14:creationId xmlns:p14="http://schemas.microsoft.com/office/powerpoint/2010/main" val="792429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69E24973-DBD4-4A94-9EFA-E545371A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2458E7B1-CBE7-4CDB-9A4A-A0EC9EC5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4 / 6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AAD9113E-BEB8-43E6-B861-CC80A681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低风险服务只提供公开信息与流程说明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72FBF935-8DBC-4AEF-B3DE-15C77BA1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5BC311C4-943C-46E2-8EBC-2BAFB4B9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IN-003 · IN-003-S06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E1AD5473-7963-477A-99A2-3178E149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08C33F64-C4C0-4A24-BD46-6F1DBECE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按风险分层，保留人工责任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45A5F881-099E-4D63-8673-8B931EDC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低风险信息服务包括办公时间、公开材料下载位置和一般流程说明；可以在来源有效且转人工通畅的前提下自动答复；中等风险任务如资格条件预检查、材料缺项提示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72273AAC-053D-4CB9-8B72-FA6EF262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EFDE881C-6D2F-4529-81A0-84314D48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涉及行政许可、处罚、救助资格、补贴发放、资源分配、信用评价或个人申诉的输出；会影响重要权益，不应由模型独立作出；系统可以整理资料与标记规则；最终判断、告知理由和救济途径由具备权限的工作人员负责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C5EF7210-FA00-49F2-A042-DD3B9B81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E6F0FBCC-F2DB-4C6F-B6E0-C12846B9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低风险服务只提供公开信息与流程说明</a:t>
            </a:r>
          </a:p>
        </p:txBody>
      </p:sp>
    </p:spTree>
    <p:extLst>
      <p:ext uri="{BB962C8B-B14F-4D97-AF65-F5344CB8AC3E}">
        <p14:creationId xmlns:p14="http://schemas.microsoft.com/office/powerpoint/2010/main" val="6147599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93B8C0B9-724E-4DA8-8CCC-5BCEF3C7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EC536773-0313-486F-81BD-8E88C553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5 / 6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E39B1CDD-33CF-4690-91D4-A23D25B6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乡村服务：从具体需求而非口号切入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EB133A26-D7AA-4BC9-A504-DF72C7DA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4E4089EC-F5C5-4C71-A8FD-7B223A10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IN-003 · IN-003-S07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859DE98-A03C-4A16-9DF1-E7110BBD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B24A9AAD-42EE-4379-9EC5-89C311F7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乡村服务：从具体需求而非口号切入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063E8EDB-A11A-4648-B667-BE2E7BF5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乡村场景可以从政策材料准备、农技服务转介、产销信息整理、灾害信息汇总和公共事务通知等任务切入；需要同时考虑网络条件、方言表达、数字能力和线下服务可达性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5B68EF3C-5B8B-457E-8BB7-1F38B97B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C699C4B2-11BC-4FCE-8048-E5AE29C0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例如，农户上传作物照片时；AI 可以整理症状并检索公开农技资料；但不能把图像识别结果当作确定诊断；更不能自动给出受管制药品用量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3F87311C-FF21-4735-9C48-498BE6D1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3FE2B621-D1A8-4E90-BE6F-7EA724B4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乡村服务：从具体需求而非口号切入</a:t>
            </a:r>
          </a:p>
        </p:txBody>
      </p:sp>
    </p:spTree>
    <p:extLst>
      <p:ext uri="{BB962C8B-B14F-4D97-AF65-F5344CB8AC3E}">
        <p14:creationId xmlns:p14="http://schemas.microsoft.com/office/powerpoint/2010/main" val="15753716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1995FD10-9B76-448D-BE0F-08BCAA3B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CBF98698-B78D-4228-8125-666C4F53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6 / 6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4170ED24-E7B4-4264-A8A4-5311ACBA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43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政务入口常收到医疗、心理危机、家庭纠纷和法律争议等问题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02C87522-BE75-4AE0-9803-D97E3C3C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F635261A-A681-4717-A9D6-26A358AB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IN-003 · IN-003-S08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48C4CF8A-645E-4BD0-9D8F-5A5F0962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85C6619F-41B9-4D1A-8628-D01FC3A6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医疗与法律咨询只做信息指引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EE8925B4-8EFE-4C1A-A7B4-F17CBA54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政务入口常收到医疗、心理危机、家庭纠纷和法律争议等问题；AI 只能提供公开机构、办理流程、材料和求助渠道等一般信息；不作诊断，不给个案治疗方案；不替代律师解释权利义务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A92DD8B4-6B97-4542-B27D-9DF4B877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FADD7848-3CEC-4167-B67F-78F3645D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这类转介应优先于“继续追问更多隐私”。系统需明确能力限制，避免让群众误以为自动回答具有正式效力</a:t>
            </a:r>
          </a:p>
        </p:txBody>
      </p:sp>
      <p:sp>
        <p:nvSpPr>
          <p:cNvPr id="11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A2C4AB7E-8DAA-461C-B4B7-2D5E47C9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8-takeaway">
            <a:extLst xmlns:a="http://schemas.openxmlformats.org/drawingml/2006/main">
              <a:ext uri="{FF2B5EF4-FFF2-40B4-BE49-F238E27FC236}">
                <a16:creationId xmlns:a16="http://schemas.microsoft.com/office/drawing/2014/main" id="{7D80AA84-4B11-4BCF-AAD1-A6869EAC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政务入口常收到医疗、心理危机、家庭纠纷和法律争议等问题</a:t>
            </a:r>
          </a:p>
        </p:txBody>
      </p:sp>
    </p:spTree>
    <p:extLst>
      <p:ext uri="{BB962C8B-B14F-4D97-AF65-F5344CB8AC3E}">
        <p14:creationId xmlns:p14="http://schemas.microsoft.com/office/powerpoint/2010/main" val="6676330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6D87EBC6-DBE9-44D2-9FAB-6A01F553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9A90D10B-4B5D-41AF-892A-392AAF26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1 / 2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23ECD566-0CA4-43AE-9B32-B2AB3197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政策助手只能解释与预检，不能承诺审批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7411B798-24FB-4F3C-8DBD-F3D449FF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550EA84E-06A9-4DB2-9B2B-F5C0F9EA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IN-003 · IN-003-S09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942D92CB-5188-4120-AA4E-6889E815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惠农政策材料助手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FCE8ED96-0166-4FC0-83C3-C575FC4B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场景｜农户想了解某项当地支持政策，需要确认适用地区、申报时间和材料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2FE0FF5B-7336-4E93-8EC0-634415EC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839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边界｜它只做信息说明和材料预检查，不承诺一定通过；存在家庭、土地或经营资格争议时转承办人员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745B6138-7156-4EED-968C-82F077A3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2821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流程｜助手先确认事项和地区，不收集无关身份信息；随后检索现行文件，列出原文依据、材料清单和承办窗口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F56532A6-4BCF-4600-8501-20C4F938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纠错｜正式受理结果与助手提示不一致时，记录差异，由责任部门更新规则或补充例外样本</a:t>
            </a:r>
          </a:p>
        </p:txBody>
      </p:sp>
      <p:sp>
        <p:nvSpPr>
          <p:cNvPr id="11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244607B2-BBD9-4D0A-A5E9-2CB65000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9-takeaway">
            <a:extLst xmlns:a="http://schemas.openxmlformats.org/drawingml/2006/main">
              <a:ext uri="{FF2B5EF4-FFF2-40B4-BE49-F238E27FC236}">
                <a16:creationId xmlns:a16="http://schemas.microsoft.com/office/drawing/2014/main" id="{40B7F0C0-A676-4602-9E43-EC65A631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政策助手只能解释与预检，不能承诺审批</a:t>
            </a:r>
          </a:p>
        </p:txBody>
      </p:sp>
    </p:spTree>
    <p:extLst>
      <p:ext uri="{BB962C8B-B14F-4D97-AF65-F5344CB8AC3E}">
        <p14:creationId xmlns:p14="http://schemas.microsoft.com/office/powerpoint/2010/main" val="490540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F1892BAD-A10B-428F-9CC1-6863F384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357526E9-AF07-4403-847F-8FA56CDB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2 / 2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D1B05FD4-9179-4177-8D07-E4B97E08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诉求分流先保留原始证据，再交责任岗位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6805E0B8-D958-4BA2-B6A8-30FC5FDA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64545BD1-E323-4077-ADF5-D2247618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IN-003 · IN-003-S10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2BCD2716-3AD8-4CFB-BDC7-72BA052E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基层诉求分流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33C1A3B4-AB13-4B6E-8CB4-05F7CEDD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场景｜服务中心收到文字、语音转写和图片形式的群众诉求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F3628A61-499B-42DF-B941-68E0F444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流程｜系统提取事项、地点和紧急程度，隐藏不必要的个人信息，将摘要和原始证据一并送到对应岗位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96A7C9DF-8A8B-4A71-998A-7CB5129C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责任｜系统不直接认定责任或关闭事项；工作人员核对原始材料、联系当事人并决定处理路径</a:t>
            </a:r>
          </a:p>
        </p:txBody>
      </p:sp>
      <p:sp>
        <p:nvSpPr>
          <p:cNvPr id="10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602F845A-CDEC-44E5-8588-C8F671EC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1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92F0FEB4-FACC-4608-B2CF-89CFE268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诉求分流先保留原始证据，再交责任岗位</a:t>
            </a:r>
          </a:p>
        </p:txBody>
      </p:sp>
    </p:spTree>
    <p:extLst>
      <p:ext uri="{BB962C8B-B14F-4D97-AF65-F5344CB8AC3E}">
        <p14:creationId xmlns:p14="http://schemas.microsoft.com/office/powerpoint/2010/main" val="17918665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ADEADD79-BA11-47ED-B49B-0D8CF062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D7F6EFB9-C6E6-4DE7-AEBA-9C5D90B3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137787BE-3A79-4E54-8D9D-EE3CC7CE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政务与乡村振兴：一次可验收练习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FF846CCD-340D-480A-970E-45F1A21E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F2108AB9-598A-4AFC-B34A-409182AE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IN-003 · IN-003-S11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4DE28001-1AE0-4B45-BC2A-56B19194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4534D9E0-1123-453C-B241-C9A576E1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CAD6CD62-3A73-4089-8EC6-7BD55737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选择一个公开服务事项，绘制“受理—证据检索—生成—人工复核—交付—申诉”的流程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A08713EF-94B5-4ACD-BBF5-F44E06D7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0E144715-865C-438C-A013-4EAC8354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538B58BD-DAA3-43AF-B660-8F65DFD6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89931BEC-7128-43F1-9291-88A33C8E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为每一步填写可访问字段、证据格式、责任岗位和保存期限，检查是否符合最小必要原则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41A0D7E0-3B75-47B6-B2D3-3A77BB59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1EE6C307-3378-4D14-B0C3-3553579D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25CE0679-3893-4324-99CB-7C2BBF61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25763DA4-CBB7-467A-9CD5-96ADA568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准备三个正常问题、两个模糊问题、一个资料冲突问题和一个高风险求助，检查系统能否正确引用、拒绝越权并转人工</a:t>
            </a:r>
          </a:p>
        </p:txBody>
      </p:sp>
    </p:spTree>
    <p:extLst>
      <p:ext uri="{BB962C8B-B14F-4D97-AF65-F5344CB8AC3E}">
        <p14:creationId xmlns:p14="http://schemas.microsoft.com/office/powerpoint/2010/main" val="1255679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AC3D9577-8F88-40E4-9CD4-CB14B6A3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BEAE4044-7B4F-42CC-ACAB-3B847F1A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41ADD9B1-2D51-4B90-A337-34ED21E3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政务与乡村振兴：判断时先抓住三点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E1C5D007-800A-4FBB-BFA1-2BBBED73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E8E630E9-E7A6-41C8-8A03-3A3C5ABE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IN-003 · IN-003-S12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786FCFFF-9DC6-42E9-998B-5B3FACFF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3858B941-70B2-4397-BDB0-7A131FB8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FE061B5B-D9B7-4F5F-B0B9-413593F7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从服务事项建立完整流程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E4D428CA-33A8-40F8-B655-69678A1C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24799E1E-3DFC-45F2-BB89-83B93DD8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646A7ED3-53EB-4E4F-978F-864EB75D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AD1C99DB-5062-4F21-A0ED-D093D5B3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证据链：回答必须能回到有效依据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11849AAE-2045-4B7D-9A4F-86C48527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DEE2BDF3-DC9E-4DE1-971A-FBE1700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94C4CA4F-46A6-4C8B-AEBA-74F03121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13355D28-2AC3-4B14-8DAE-1CD3A387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政务入口常收到医疗、心理危机、家庭纠纷和法律争议等问题</a:t>
            </a:r>
          </a:p>
        </p:txBody>
      </p:sp>
    </p:spTree>
    <p:extLst>
      <p:ext uri="{BB962C8B-B14F-4D97-AF65-F5344CB8AC3E}">
        <p14:creationId xmlns:p14="http://schemas.microsoft.com/office/powerpoint/2010/main" val="9150884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B5516F27-E924-44FB-868D-61DBBCE3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4E0B4F7E-8094-4A32-96D2-DECA69C7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4AD2BED9-2961-4E9D-829E-79AD8B3C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政务与乡村振兴：依据、边界与延伸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15115FAD-7F49-4ADE-8212-EFBA2374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AC3EDA5E-6007-4A89-A7CA-1FD37133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IN-003 · IN-003-S13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51EC618A-AB05-4570-A515-1D2E05B6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AF9C5CC7-2DDE-4B3C-B38C-07F0EB6D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《中华人民共和国个人信息保护法》与《中华人民共和国数据安全法》：分别核对个人信息处理与数据安全义务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87F3688B-5F32-4C27-881B-ACE49143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国务院《关于加强数字政府建设的指导意见》：数字政府建设的国家层面指导文件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365994C7-0D04-4F3E-9B57-8DAF11FE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307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04  NIST：Artificial Intelligence Risk Management Framework（AI RMF 1.0）：用于补充通用 AI 风险识别方法，不替代本地法律与行政程序</a:t>
            </a:r>
          </a:p>
        </p:txBody>
      </p:sp>
      <p:sp>
        <p:nvSpPr>
          <p:cNvPr id="10" name="source-4">
            <a:extLst xmlns:a="http://schemas.openxmlformats.org/drawingml/2006/main">
              <a:ext uri="{FF2B5EF4-FFF2-40B4-BE49-F238E27FC236}">
                <a16:creationId xmlns:a16="http://schemas.microsoft.com/office/drawing/2014/main" id="{C0B4C357-E858-42BC-B823-C68E0273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05  实际办理应以事项所在地、责任部门公布的现行文件和线下核验结果为准</a:t>
            </a:r>
          </a:p>
        </p:txBody>
      </p:sp>
      <p:sp>
        <p:nvSpPr>
          <p:cNvPr id="11" name="s13-takeaway-rule">
            <a:extLst xmlns:a="http://schemas.openxmlformats.org/drawingml/2006/main">
              <a:ext uri="{FF2B5EF4-FFF2-40B4-BE49-F238E27FC236}">
                <a16:creationId xmlns:a16="http://schemas.microsoft.com/office/drawing/2014/main" id="{F90E1BBE-624E-4EC0-9CC1-06391E7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8C1A449A-5609-4AE4-8E98-399DB31C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课程正文与幻灯片共享同一知识主线，图片和视频用于帮助理解本节概念与案例。</a:t>
            </a:r>
          </a:p>
        </p:txBody>
      </p:sp>
    </p:spTree>
    <p:extLst>
      <p:ext uri="{BB962C8B-B14F-4D97-AF65-F5344CB8AC3E}">
        <p14:creationId xmlns:p14="http://schemas.microsoft.com/office/powerpoint/2010/main" val="431058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2026-07-12T08:20:27.8940000Z</dcterms:created>
  <dcterms:modified xsi:type="dcterms:W3CDTF">2026-07-12T08:20:27.8940000Z</dcterms:modified>
</coreProperties>
</file>