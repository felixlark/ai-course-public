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70103b8655749ef" /><Relationship Type="http://schemas.openxmlformats.org/officeDocument/2006/relationships/extended-properties" Target="/docProps/app.xml" Id="R28c7c19256b54164" /><Relationship Type="http://schemas.openxmlformats.org/officeDocument/2006/relationships/officeDocument" Target="/ppt/presentation.xml" Id="R3fa368a5ca6047c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03e086002a1487b"/>
  </p:sldMasterIdLst>
  <p:notesMasterIdLst>
    <p:notesMasterId xmlns:r="http://schemas.openxmlformats.org/officeDocument/2006/relationships" r:id="R04a74cd392ae42e6"/>
  </p:notesMasterIdLst>
  <p:sldIdLst>
    <p:sldId xmlns:r="http://schemas.openxmlformats.org/officeDocument/2006/relationships" id="256" r:id="R84e921d4882e4298"/>
    <p:sldId xmlns:r="http://schemas.openxmlformats.org/officeDocument/2006/relationships" id="257" r:id="Rd130ac8cebcb4eb8"/>
    <p:sldId xmlns:r="http://schemas.openxmlformats.org/officeDocument/2006/relationships" id="258" r:id="R22434d4fb45c4472"/>
    <p:sldId xmlns:r="http://schemas.openxmlformats.org/officeDocument/2006/relationships" id="259" r:id="R67c28cd4afec48d3"/>
    <p:sldId xmlns:r="http://schemas.openxmlformats.org/officeDocument/2006/relationships" id="260" r:id="R9c27bf41da1b4fce"/>
    <p:sldId xmlns:r="http://schemas.openxmlformats.org/officeDocument/2006/relationships" id="261" r:id="R73685ca486394c3d"/>
    <p:sldId xmlns:r="http://schemas.openxmlformats.org/officeDocument/2006/relationships" id="262" r:id="Rbd74e972298842bd"/>
    <p:sldId xmlns:r="http://schemas.openxmlformats.org/officeDocument/2006/relationships" id="263" r:id="R595915b19bf34a75"/>
    <p:sldId xmlns:r="http://schemas.openxmlformats.org/officeDocument/2006/relationships" id="264" r:id="R86405032c68d47d5"/>
    <p:sldId xmlns:r="http://schemas.openxmlformats.org/officeDocument/2006/relationships" id="265" r:id="R60ba4e4b377e4e27"/>
    <p:sldId xmlns:r="http://schemas.openxmlformats.org/officeDocument/2006/relationships" id="266" r:id="R8b91d5792e5f48af"/>
    <p:sldId xmlns:r="http://schemas.openxmlformats.org/officeDocument/2006/relationships" id="267" r:id="Rd503a74a42e94b0d"/>
    <p:sldId xmlns:r="http://schemas.openxmlformats.org/officeDocument/2006/relationships" id="268" r:id="R739782eefc39434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0f936b418f48fe" /><Relationship Type="http://schemas.openxmlformats.org/officeDocument/2006/relationships/slideMaster" Target="/ppt/slideMasters/slideMaster1.xml" Id="R303e086002a1487b" /><Relationship Type="http://schemas.openxmlformats.org/officeDocument/2006/relationships/notesMaster" Target="/ppt/notesMasters/notesMaster1.xml" Id="R04a74cd392ae42e6" /><Relationship Type="http://schemas.openxmlformats.org/officeDocument/2006/relationships/presProps" Target="/ppt/presProps.xml" Id="R62e0287412364bc9" /><Relationship Type="http://schemas.openxmlformats.org/officeDocument/2006/relationships/tableStyles" Target="/ppt/tableStyles.xml" Id="R0c4cfb6983e04f30" /><Relationship Type="http://schemas.openxmlformats.org/officeDocument/2006/relationships/slide" Target="/ppt/slides/slide1.xml" Id="R84e921d4882e4298" /><Relationship Type="http://schemas.openxmlformats.org/officeDocument/2006/relationships/slide" Target="/ppt/slides/slide2.xml" Id="Rd130ac8cebcb4eb8" /><Relationship Type="http://schemas.openxmlformats.org/officeDocument/2006/relationships/slide" Target="/ppt/slides/slide3.xml" Id="R22434d4fb45c4472" /><Relationship Type="http://schemas.openxmlformats.org/officeDocument/2006/relationships/slide" Target="/ppt/slides/slide4.xml" Id="R67c28cd4afec48d3" /><Relationship Type="http://schemas.openxmlformats.org/officeDocument/2006/relationships/slide" Target="/ppt/slides/slide5.xml" Id="R9c27bf41da1b4fce" /><Relationship Type="http://schemas.openxmlformats.org/officeDocument/2006/relationships/slide" Target="/ppt/slides/slide6.xml" Id="R73685ca486394c3d" /><Relationship Type="http://schemas.openxmlformats.org/officeDocument/2006/relationships/slide" Target="/ppt/slides/slide7.xml" Id="Rbd74e972298842bd" /><Relationship Type="http://schemas.openxmlformats.org/officeDocument/2006/relationships/slide" Target="/ppt/slides/slide8.xml" Id="R595915b19bf34a75" /><Relationship Type="http://schemas.openxmlformats.org/officeDocument/2006/relationships/slide" Target="/ppt/slides/slide9.xml" Id="R86405032c68d47d5" /><Relationship Type="http://schemas.openxmlformats.org/officeDocument/2006/relationships/slide" Target="/ppt/slides/slide10.xml" Id="R60ba4e4b377e4e27" /><Relationship Type="http://schemas.openxmlformats.org/officeDocument/2006/relationships/slide" Target="/ppt/slides/slide11.xml" Id="R8b91d5792e5f48af" /><Relationship Type="http://schemas.openxmlformats.org/officeDocument/2006/relationships/slide" Target="/ppt/slides/slide12.xml" Id="Rd503a74a42e94b0d" /><Relationship Type="http://schemas.openxmlformats.org/officeDocument/2006/relationships/slide" Target="/ppt/slides/slide13.xml" Id="R739782eefc39434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a728bfc62b4a8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009615ede9e4dd9" /><Relationship Type="http://schemas.openxmlformats.org/officeDocument/2006/relationships/notesMaster" Target="/ppt/notesMasters/notesMaster1.xml" Id="R7796435e7d2a41f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9017546f204f83" /><Relationship Type="http://schemas.openxmlformats.org/officeDocument/2006/relationships/notesMaster" Target="/ppt/notesMasters/notesMaster1.xml" Id="R38bc530a385341b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4b117503374617" /><Relationship Type="http://schemas.openxmlformats.org/officeDocument/2006/relationships/notesMaster" Target="/ppt/notesMasters/notesMaster1.xml" Id="Rb62838b9b7b940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e3fc0d17950477a" /><Relationship Type="http://schemas.openxmlformats.org/officeDocument/2006/relationships/notesMaster" Target="/ppt/notesMasters/notesMaster1.xml" Id="Ra7e9aea5d79a4e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27f9dfc8ab4444" /><Relationship Type="http://schemas.openxmlformats.org/officeDocument/2006/relationships/notesMaster" Target="/ppt/notesMasters/notesMaster1.xml" Id="Racfc6d96023c420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e7253eb36e647b5" /><Relationship Type="http://schemas.openxmlformats.org/officeDocument/2006/relationships/notesMaster" Target="/ppt/notesMasters/notesMaster1.xml" Id="R1062f6ec837d43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267b4f29f474fad" /><Relationship Type="http://schemas.openxmlformats.org/officeDocument/2006/relationships/notesMaster" Target="/ppt/notesMasters/notesMaster1.xml" Id="Rd22bbcd25637412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787f97e2c54183" /><Relationship Type="http://schemas.openxmlformats.org/officeDocument/2006/relationships/notesMaster" Target="/ppt/notesMasters/notesMaster1.xml" Id="Rbbca30a98b2241b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3c7069fce94335" /><Relationship Type="http://schemas.openxmlformats.org/officeDocument/2006/relationships/notesMaster" Target="/ppt/notesMasters/notesMaster1.xml" Id="R19ff236b421d4ba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9308ec5494947f2" /><Relationship Type="http://schemas.openxmlformats.org/officeDocument/2006/relationships/notesMaster" Target="/ppt/notesMasters/notesMaster1.xml" Id="R74970a88218544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141a15991b45a7" /><Relationship Type="http://schemas.openxmlformats.org/officeDocument/2006/relationships/notesMaster" Target="/ppt/notesMasters/notesMaster1.xml" Id="Rf817adcc61f5423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64e3608e78f4821" /><Relationship Type="http://schemas.openxmlformats.org/officeDocument/2006/relationships/notesMaster" Target="/ppt/notesMasters/notesMaster1.xml" Id="R68ecf7c4336248d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d931c193e3e4691" /><Relationship Type="http://schemas.openxmlformats.org/officeDocument/2006/relationships/notesMaster" Target="/ppt/notesMasters/notesMaster1.xml" Id="R6aef974cecbd43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cafd63142b481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856417cb3874e5d" /><Relationship Type="http://schemas.openxmlformats.org/officeDocument/2006/relationships/slideLayout" Target="/ppt/slideLayouts/slideLayout1.xml" Id="R8806d227f139481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06d227f139481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ddec0eeb804bae" /><Relationship Type="http://schemas.openxmlformats.org/officeDocument/2006/relationships/notesSlide" Target="/ppt/notesSlides/notesSlide1.xml" Id="R0decd47b046a4d2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d457220aed4ff0" /><Relationship Type="http://schemas.openxmlformats.org/officeDocument/2006/relationships/notesSlide" Target="/ppt/notesSlides/notesSlide2.xml" Id="R1b1d85b82f8b4b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caf54efe774152" /><Relationship Type="http://schemas.openxmlformats.org/officeDocument/2006/relationships/notesSlide" Target="/ppt/notesSlides/notesSlide3.xml" Id="Re8e903aa41b140c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a4386763a45ab" /><Relationship Type="http://schemas.openxmlformats.org/officeDocument/2006/relationships/notesSlide" Target="/ppt/notesSlides/notesSlide4.xml" Id="Rac43fca1c98943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7ee51462924fd0" /><Relationship Type="http://schemas.openxmlformats.org/officeDocument/2006/relationships/notesSlide" Target="/ppt/notesSlides/notesSlide5.xml" Id="R6b3bd8936dbf46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f2fb7dc7e4e8e" /><Relationship Type="http://schemas.openxmlformats.org/officeDocument/2006/relationships/notesSlide" Target="/ppt/notesSlides/notesSlide6.xml" Id="R2145d470319047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12ec29650942df" /><Relationship Type="http://schemas.openxmlformats.org/officeDocument/2006/relationships/notesSlide" Target="/ppt/notesSlides/notesSlide7.xml" Id="Rb554addb69b445c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c19880078b45b0" /><Relationship Type="http://schemas.openxmlformats.org/officeDocument/2006/relationships/notesSlide" Target="/ppt/notesSlides/notesSlide8.xml" Id="R24a8bb75f5ae4e9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691929a68e46ed" /><Relationship Type="http://schemas.openxmlformats.org/officeDocument/2006/relationships/notesSlide" Target="/ppt/notesSlides/notesSlide9.xml" Id="Reeff83f0519e45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b2621854904d4d" /><Relationship Type="http://schemas.openxmlformats.org/officeDocument/2006/relationships/notesSlide" Target="/ppt/notesSlides/notesSlide10.xml" Id="Ra9a876e7b70241d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6da4242fa446b" /><Relationship Type="http://schemas.openxmlformats.org/officeDocument/2006/relationships/notesSlide" Target="/ppt/notesSlides/notesSlide11.xml" Id="Rc780bb0a15e34c5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91bc23514c4dfa" /><Relationship Type="http://schemas.openxmlformats.org/officeDocument/2006/relationships/notesSlide" Target="/ppt/notesSlides/notesSlide12.xml" Id="Rad5f13d14b9348c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0e42121b34892" /><Relationship Type="http://schemas.openxmlformats.org/officeDocument/2006/relationships/notesSlide" Target="/ppt/notesSlides/notesSlide13.xml" Id="Rb8c6151c4a9f4f5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C521EFA7-D115-480A-A410-76F5C551B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65AD8CC6-E575-4283-803B-91802869C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70B9B3B2-63ED-46E5-9311-7626E966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C016F089-D814-4C87-9333-DD41E491D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F5906247-2E4D-47A2-B482-EDA958D81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BF7E911B-4DD6-4C27-9265-3605496B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7A6C8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94EE1D6-593B-4900-B9E0-330812FD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第 2 章 · AI 智能体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2EBFD9CE-D1B9-4E88-9F99-BE28124DB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6021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可观测性、评测与 Human-in-the-loop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F4AD2D6-3B09-45C9-916F-B66164FD0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6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从 trace、任务评测、权限和人工断点建立可运营、可恢复的智能体系统。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76CD6415-78CA-4F69-96D1-680917BF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988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OV-007 已经识别并分级了 AI 风险；形成“要防什么”的风险卡；本节把这张风险卡翻译成可运行、可检查的工程控制；哪些事件必须进入 trace；哪些结果要进入离线与线上评测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E0F065C0-70B8-4C3C-B06D-14619E1E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B74AB449-E074-4880-868F-97E958D0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17A6C8"/>
                </a:solidFill>
                <a:latin typeface="PingFang SC"/>
                <a:ea typeface="PingFang SC"/>
                <a:cs typeface="PingFang SC"/>
              </a:rPr>
              <a:t>AG-005 · AG-005-S01</a:t>
            </a:r>
          </a:p>
        </p:txBody>
      </p:sp>
    </p:spTree>
    <p:extLst>
      <p:ext uri="{BB962C8B-B14F-4D97-AF65-F5344CB8AC3E}">
        <p14:creationId xmlns:p14="http://schemas.microsoft.com/office/powerpoint/2010/main" val="18467810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587A8F63-51AD-412F-9DAB-F7DAC0BA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C3690976-5369-419B-9308-C2C11F90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B74077D4-3CBF-4FD1-B9C6-3B197F6A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智能体可靠性：4项学习结果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3EB71A50-5ED4-46C8-AA7A-9964C9297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F784D18C-C360-4217-A199-1FE24CA93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04E6FDBF-1962-40AB-B459-AC40642D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为一次智能体运行设计可串联任务、步骤、模型、工具、评测和人工决定的 trace 字段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40101368-0AD7-45F1-9900-673DF070D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从结果、过程和运营三个层面建立评测指标，并连接离线测试集与线上监控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CA7AF93E-1BBB-4DE4-BE6F-1DF63434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使用统一失败分类定位问题，区分模型错误、工具错误、权限拒绝和流程设计缺陷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2E0B7251-7701-42A6-A699-1ABF6D66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 Human-in-the-loop 定义触发阈值、审核队列、恢复点和责任归属</a:t>
            </a:r>
          </a:p>
        </p:txBody>
      </p:sp>
    </p:spTree>
    <p:extLst>
      <p:ext uri="{BB962C8B-B14F-4D97-AF65-F5344CB8AC3E}">
        <p14:creationId xmlns:p14="http://schemas.microsoft.com/office/powerpoint/2010/main" val="49716630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F316293E-F4F4-41D3-BB41-B69C2B5AA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F0016861-BD71-4713-8139-512EE66A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1 / 7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F21C398E-9339-452E-B996-703EA76E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 还原因果，三层指标判断系统表现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B08B297F-C879-4D89-AE86-AA7328E4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BB1A99D4-8C58-482A-9E2E-66C10385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B69512F-BD98-4C30-8051-AF1336CE4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EFC2CB1-557F-4801-A43B-F77DB9BE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Trace：把一次任务串成因果链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AE807D3-1B9F-4D8F-996B-2B13DA2A2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日志可以记录单个事件，trace 则用统一标识把一次任务中的多个事件连接起来。最小字段可以分为六组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DD8A46A-35F3-41D8-8802-0E311019A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44739B69-51F4-43D1-9BE9-8D5426461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三层评测：结果、过程与运营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56B482A-E9F0-4B4C-8C26-E88D00B41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结果层 回答“任务做对了吗”。指标可以是事实准确率、任务完成率、字段完整率、答案与来源一致性、测试通过率，以及用户是否接受结果</a:t>
            </a:r>
          </a:p>
        </p:txBody>
      </p:sp>
      <p:sp>
        <p:nvSpPr>
          <p:cNvPr id="12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A25A1E09-75BB-44B6-BB45-7999A159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3-takeaway">
            <a:extLst xmlns:a="http://schemas.openxmlformats.org/drawingml/2006/main">
              <a:ext uri="{FF2B5EF4-FFF2-40B4-BE49-F238E27FC236}">
                <a16:creationId xmlns:a16="http://schemas.microsoft.com/office/drawing/2014/main" id="{C95E2FDD-394F-4AEA-9CAE-8D4DDE1F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Trace 还原因果，三层指标判断系统表现</a:t>
            </a:r>
          </a:p>
        </p:txBody>
      </p:sp>
    </p:spTree>
    <p:extLst>
      <p:ext uri="{BB962C8B-B14F-4D97-AF65-F5344CB8AC3E}">
        <p14:creationId xmlns:p14="http://schemas.microsoft.com/office/powerpoint/2010/main" val="9387796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F2E2C04F-C847-4E17-B596-D3C8CB44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92FB1A4-E9A6-419C-9748-3AA17285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2 / 7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27681CFE-8B77-45A2-BAB5-27CA383E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离线覆盖已知风险，线上监测真实分布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2CB151DF-8468-4421-A8E6-9B82C6CF9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DCFC0583-9B3F-412F-A958-11A066940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1EAE11ED-1052-4186-B08A-E15D09DF5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62F48AE-6014-4844-8288-E2824D2E1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离线评测集：在上线前复现已知世界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74DE35D-6614-44F1-8C7D-07D78FD1C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离线集应来自真实任务类型；覆盖正常样本、边界样本、对抗样本和历史故障；每个样本需要输入、期望结果、允许变化、禁止动作和评分规则；对开放式输出，可把评分拆成事实、完整性、格式和证据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A46A3E05-1CA4-4D80-B864-EEA8DFB5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label-1">
            <a:extLst xmlns:a="http://schemas.openxmlformats.org/drawingml/2006/main">
              <a:ext uri="{FF2B5EF4-FFF2-40B4-BE49-F238E27FC236}">
                <a16:creationId xmlns:a16="http://schemas.microsoft.com/office/drawing/2014/main" id="{B55DD92A-A7D2-446F-B8AF-227A3D36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线上监控：观察真实分布和漂移</a:t>
            </a:r>
          </a:p>
        </p:txBody>
      </p:sp>
      <p:sp>
        <p:nvSpPr>
          <p:cNvPr id="11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7E9BB85-119C-4B41-84B0-98CA84FC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线上环境会出现离线集没有覆盖的新输入、权限组合和工具异常；监控应同时看质量代理指标和系统指标；例如引用缺失、空结果、同类工具连续失败、任务步数异常增长、人工升级率突变和高风险动作拦截率</a:t>
            </a:r>
          </a:p>
        </p:txBody>
      </p:sp>
      <p:sp>
        <p:nvSpPr>
          <p:cNvPr id="12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74941998-73A1-4D39-BCCD-1DE253171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4-takeaway">
            <a:extLst xmlns:a="http://schemas.openxmlformats.org/drawingml/2006/main">
              <a:ext uri="{FF2B5EF4-FFF2-40B4-BE49-F238E27FC236}">
                <a16:creationId xmlns:a16="http://schemas.microsoft.com/office/drawing/2014/main" id="{01BD91B6-6C6E-468D-9DEC-E9A0DE7F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离线覆盖已知风险，线上监测真实分布</a:t>
            </a:r>
          </a:p>
        </p:txBody>
      </p:sp>
    </p:spTree>
    <p:extLst>
      <p:ext uri="{BB962C8B-B14F-4D97-AF65-F5344CB8AC3E}">
        <p14:creationId xmlns:p14="http://schemas.microsoft.com/office/powerpoint/2010/main" val="17879809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0D6AA37B-92C2-4531-B415-E8CF3CBA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8AC64179-76A1-4BDE-9558-4AB3054D2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3 / 7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FEDD07D1-B44D-4D97-A8B0-6DC44A63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FF6C53FB-3FD9-4B0D-A33B-E05DF51E8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B9F7A59B-73AE-453C-9A3B-D4FA3C24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4D142CE-DA68-4F54-982D-38B7F1356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D9A1BDA-D8B8-4ED9-89FF-320FB289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失败分类：先归因，再修复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D1C8CE8-2C3C-4A9F-9C6A-AD32E8C2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4F32E90-6545-4017-A106-BA252BA4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D81CFD7D-5FB5-4E8B-A50E-B9ABA196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目标理解失败： 误解用户意图、遗漏范围或验收条件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7F2F62D-EA03-493B-B40B-A8AF7A66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CDE1A4BE-E17A-4CB5-A615-84CE7BBC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依据失败： 没有取得证据、引用错误来源、把过期信息当作当前事实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60B9EFDF-384B-4CE5-9ECB-82545D3E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445B274F-0466-42B6-8302-44FB5454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统一分类能避免所有问题都被叫作“幻觉”</a:t>
            </a:r>
          </a:p>
        </p:txBody>
      </p:sp>
    </p:spTree>
    <p:extLst>
      <p:ext uri="{BB962C8B-B14F-4D97-AF65-F5344CB8AC3E}">
        <p14:creationId xmlns:p14="http://schemas.microsoft.com/office/powerpoint/2010/main" val="765618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5645AA6E-B4F1-4DF6-BDC1-88997B64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02B316DB-9D90-4F06-A2F6-232BF038E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4 / 7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65F8CD72-683A-444B-BEA2-CE8A8CF14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81D7235-7AA9-4250-AFDF-D95147C9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687CCD9-BEF6-430F-9E67-7EBB7FE6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F36CC7C-600F-49B9-8D16-7DD3A956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7238BD2-15A7-4C3D-ADA4-0237D5345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69444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HITL 触发阈值：把“必要时人工审核”变成规则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9539D81-05F1-4D05-A032-0D7C963A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人工介入需要明确触发条件。阈值可以分三类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BAC6C9A-BEBA-45B9-BDF7-DABEC336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95E6278-FFCD-4BD9-A772-24F10DE1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硬触发： 外发、删除、付款、授权、公开发布、访问敏感数据等动作，无论模型得分多高都必须审核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473D946-C946-428A-890C-E0F1C9F5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5971330D-02C9-4EA7-A3EB-6411272D3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质量触发： 必填证据不完整、关键字段存在冲突、置信指标低于场景阈值，或结果未通过规则校验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A52D5147-CB1D-45AA-8E02-C60B6117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799BF6E7-C093-4533-82A6-EAB6CB18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</p:spTree>
    <p:extLst>
      <p:ext uri="{BB962C8B-B14F-4D97-AF65-F5344CB8AC3E}">
        <p14:creationId xmlns:p14="http://schemas.microsoft.com/office/powerpoint/2010/main" val="1291062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285ABC0E-4F66-4191-9F1F-857F204B3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33E8FDE6-A27F-475B-8494-1429F623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5 / 7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811EADB1-0534-416D-9835-4534295F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EFEF8F5D-BBDF-4BB2-971B-7CA53E70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E08BE509-6AF6-427F-821E-149D05708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B7F04CA-3EFA-49EF-90ED-F36E8DE89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BDB8D740-B751-457B-A2F6-BEA6DA6DE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4060012-B30C-4DC7-960D-D15D8E6E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审核项应包含任务摘要、拟执行动作、影响对象、关键证据、触发规则、系统建议、可选决定和截止时间；队列可按影响与时效分级；例如高影响外发优先于普通低置信度摘要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8BFF133-C1B5-44FE-B56D-EA6F2E43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17A9F06-F7E4-4B02-8096-EC07CB033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如果只给审核人一个“确认”按钮，而不展示证据和影响范围，HITL 只是把系统风险转移给人。队列还要监控等待时间和积压；人工容量不足时，系统应限流或暂停高风险任务，而不是绕过审核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35B070E8-7C49-490D-AA05-B83837B8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43CA5B41-67CA-4AE2-B51B-C9E6906E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审核队列：让人看到足够的信息</a:t>
            </a:r>
          </a:p>
        </p:txBody>
      </p:sp>
    </p:spTree>
    <p:extLst>
      <p:ext uri="{BB962C8B-B14F-4D97-AF65-F5344CB8AC3E}">
        <p14:creationId xmlns:p14="http://schemas.microsoft.com/office/powerpoint/2010/main" val="44608670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52A8A353-7459-4D71-87C0-CF1D725B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6B77D0F3-8F87-4E2F-8AB9-9D584820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6 / 7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BACC4543-23D8-463C-9BCA-D8DEC3E5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0097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7D7579B4-288F-4F95-9DA2-0445FBEDC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40B4AC81-F426-4DF5-88B9-7728BEFC6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209FBC0-EA75-4711-BB77-C9B3E80F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98A9A6B8-4D37-400C-BDAD-CC91F72C4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恢复点：失败后从已验证状态继续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82EFB8CD-C22A-48E3-A7CB-DDECCE1A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在读取完成、草稿生成、审核通过和写入成功等边界保存恢复点；记录输入版本、已验证产物、外部副作用和下一步；写入工具应尽量使用幂等请求标识；无法撤销的动作要在执行前形成预览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0DE4DE7-0F6C-4DE7-9E54-32D24B49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5CB3668-175E-4180-9266-177787B0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恢复不是简单“重新运行全部步骤”。系统先确认外部状态，避免重复发送、重复扣费或覆盖他人更新，再从最近一个可信状态继续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8EFF0F01-EC2C-4318-A7AF-EE3998BB2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AC6E5843-DF06-41D0-B8B2-4DF8CA75D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在读取完成、草稿生成、审核通过和写入成功等边界保存恢复点</a:t>
            </a:r>
          </a:p>
        </p:txBody>
      </p:sp>
    </p:spTree>
    <p:extLst>
      <p:ext uri="{BB962C8B-B14F-4D97-AF65-F5344CB8AC3E}">
        <p14:creationId xmlns:p14="http://schemas.microsoft.com/office/powerpoint/2010/main" val="12814565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48FBEF3C-38E9-4DA1-848E-66C16862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448748EA-D02C-4CEB-A077-E263FE5C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核心论点 7 / 7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A53ADD0E-0283-493C-8844-2CF5D41B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9484EB3E-5891-4D43-B453-FEC91B92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4928F1CC-F663-47D6-9161-515D7F88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AG-005-S09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923E0B4A-90B9-4160-A9E2-67D0A4F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006B80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1767381-3B0E-491C-B541-CE10F421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10363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责任链：系统必须有可找到的负责人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5EFD9A7-3ABC-414F-B3C9-D9C23F4F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103632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业务负责人定义目标和风险；数据负责人管理来源与权限；工程负责人维护模型、工具、trace 和恢复机制；审核人决定指定高风险动作；运营人员监控并响应事件。责任不能归给“模型”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A770B1DA-A404-4F39-B264-57732748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40B8630A-7170-462B-9464-FF90D9300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</p:spTree>
    <p:extLst>
      <p:ext uri="{BB962C8B-B14F-4D97-AF65-F5344CB8AC3E}">
        <p14:creationId xmlns:p14="http://schemas.microsoft.com/office/powerpoint/2010/main" val="66018561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FA59D7FA-0053-47BC-BE35-0E661192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75E254C-322C-4346-97DE-4B00AB83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案例与边界 1 / 1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7818CC27-388F-46A0-8346-8DC9356DD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0B051F6A-9DF4-4749-A9D5-6BB4BF18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F7255A6-9055-4F58-93A8-F3CC93C4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F74B8D79-A3F3-4381-903D-9DE32358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0D4D68"/>
          </a:solidFill>
          <a:ln xmlns:a="http://schemas.openxmlformats.org/drawingml/2006/main" w="0">
            <a:solidFill>
              <a:srgbClr val="0D4D6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E140F5F3-618F-44BB-B5F3-3B98DC80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边界｜系统读取订单和售后政策，为客服生成退款建议，但不能自行付款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88F64DCA-A4B2-4743-B359-08EC9A220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6670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机制｜离线集覆盖正常退款、超过期限、订单信息冲突和疑似重复申请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D1F904D5-41CE-4BAE-813A-DF9B4B5A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2956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530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边界｜结果层检查建议是否符合政策，过程层检查是否读取了正确订单和当前政策，运营层监控响应时间、人工升级率和错误建议率</a:t>
            </a:r>
          </a:p>
        </p:txBody>
      </p:sp>
      <p:sp>
        <p:nvSpPr>
          <p:cNvPr id="10" name="case-row-3">
            <a:extLst xmlns:a="http://schemas.openxmlformats.org/drawingml/2006/main">
              <a:ext uri="{FF2B5EF4-FFF2-40B4-BE49-F238E27FC236}">
                <a16:creationId xmlns:a16="http://schemas.microsoft.com/office/drawing/2014/main" id="{ECAFBD92-E826-4358-9DFD-E9E3EA9EB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2430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61559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边界｜当订单字段冲突、政策依据缺失、退款金额超过业务阈值，或同一查询连续失败两次时，任务进入人工队列</a:t>
            </a:r>
          </a:p>
        </p:txBody>
      </p:sp>
      <p:sp>
        <p:nvSpPr>
          <p:cNvPr id="11" name="case-row-4">
            <a:extLst xmlns:a="http://schemas.openxmlformats.org/drawingml/2006/main">
              <a:ext uri="{FF2B5EF4-FFF2-40B4-BE49-F238E27FC236}">
                <a16:creationId xmlns:a16="http://schemas.microsoft.com/office/drawing/2014/main" id="{AAC47814-A911-45A6-9D4A-FDB8E318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552950"/>
            <a:ext cx="6534150" cy="514350"/>
          </a:xfrm>
          <a:prstGeom xmlns:a="http://schemas.openxmlformats.org/drawingml/2006/main" prst="roundRect">
            <a:avLst>
              <a:gd name="adj" fmla="val 24074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72956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启示｜审核页展示订单摘要、政策条款、建议金额、冲突字段和触发原因</a:t>
            </a:r>
          </a:p>
        </p:txBody>
      </p:sp>
      <p:sp>
        <p:nvSpPr>
          <p:cNvPr id="12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8C60AA57-74FD-4D2E-B2D7-2E85AB2E8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13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6D8E3743-D806-4E8E-B4CA-525188831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客户退款建议智能体的三层防线</a:t>
            </a:r>
          </a:p>
        </p:txBody>
      </p:sp>
    </p:spTree>
    <p:extLst>
      <p:ext uri="{BB962C8B-B14F-4D97-AF65-F5344CB8AC3E}">
        <p14:creationId xmlns:p14="http://schemas.microsoft.com/office/powerpoint/2010/main" val="164818894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9748362C-0C4A-4DF1-844D-E88B8A82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B5BFA4BB-E7BD-49F3-B8F1-AA62065EF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C8AA5754-5B39-4E14-A893-CFDDCFA2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智能体可靠性：一次可验收练习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555DCAC-BC47-4158-86A9-2312B4E0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049DB4A1-3D4D-4EB8-9D31-36885F98A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96769552-47D0-4AF6-BC01-E1B535B65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56B17509-18FE-4738-BE7A-6169387B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D47E1C41-E262-452E-991A-A4053BA5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663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为“根据会议纪要生成并外发任务通知”的智能体设计一份运营方案；列出一条完整 trace 的字段，并标出需要脱敏的内容；各设计三项结果层、过程层和运营层指标，说明数据从哪里取得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33B7F7C3-DC02-4BBD-8646-C8A416F88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E2CFC7B4-7EF5-459E-908A-2A82CE89B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2BF077F5-8B2A-4650-BE13-3F896D7C6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1635A319-FBEA-4478-BF7C-AF748A1C7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3921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建立 12 条离线样本，至少包含缺负责人、日期冲突、工具超时和恶意指令四类边界；为失败分类写判定规则，并用两个复合故障区分主因与促成因素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5EAFEAC5-A625-46D5-89FB-62292435C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FBA3AC79-EAE8-4BC6-BCFE-C1BAD87A7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9820DA18-0DC6-4B89-ADC6-DB954D87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729D553A-943E-4784-A3B3-0794398B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定义硬触发、质量触发、异常触发阈值，画出审核队列字段和处理优先级；在草稿、批准、外发三个阶段设置恢复点，说明外发结果未知时如何避免重复发送</a:t>
            </a:r>
          </a:p>
        </p:txBody>
      </p:sp>
    </p:spTree>
    <p:extLst>
      <p:ext uri="{BB962C8B-B14F-4D97-AF65-F5344CB8AC3E}">
        <p14:creationId xmlns:p14="http://schemas.microsoft.com/office/powerpoint/2010/main" val="4671413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34DAD776-870E-446B-A992-9655090E3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C27CC25C-AF31-4D10-8370-F124517B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A99B6A8D-C202-46CD-ADC7-A59F27575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智能体可靠性：判断时先抓住三点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EF2EE277-64FA-424E-B777-A84F9221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5B8E59A-DB35-4322-8D02-FDB885DC3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540775B8-A94A-4A04-9437-6A282D9F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786A449E-6323-481C-8E83-371E1795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BEFF4223-9A6C-4468-9087-2D2484B8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Trace 还原因果，三层指标判断系统表现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0983806-AC9E-4511-B5E4-301ED0E1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F2346248-BDAA-4573-A137-65BCF98B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D68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93B69EB5-CDCF-463D-B937-DFB74B613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4A34ABCF-D273-4088-9D13-3ADC086FD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人工介入需要明确触发条件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12D3168A-2658-4185-BBE1-C0062D26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6B80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AB3F2120-CCB1-467F-AE07-623D179D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80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897F3B39-D894-40E5-8B40-212DF58C8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82C67881-4F43-4D93-BD15-2ACFCED4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19050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业务负责人定义目标和风险</a:t>
            </a:r>
          </a:p>
        </p:txBody>
      </p:sp>
    </p:spTree>
    <p:extLst>
      <p:ext uri="{BB962C8B-B14F-4D97-AF65-F5344CB8AC3E}">
        <p14:creationId xmlns:p14="http://schemas.microsoft.com/office/powerpoint/2010/main" val="82126083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68B924FC-4791-4B8D-B3C8-114C3B5E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AB17DFEA-C753-4C95-90F0-6B8553FE4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2D9443B0-A34A-4692-B020-1B2DC8558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智能体可靠性：依据、边界与延伸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F96F7C71-7EA1-4132-9731-40A68BE20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32270852-63A1-4410-9B6C-041412A3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AG-005 · AG-005-S13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7DF6911D-E53B-4CCD-9233-A29C2105F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DDF7FC"/>
          </a:solidFill>
          <a:ln xmlns:a="http://schemas.openxmlformats.org/drawingml/2006/main" w="9525">
            <a:solidFill>
              <a:srgbClr val="006B80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F341D006-7E3E-49CA-8D9B-A8DB7BD2D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2312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AgentBench: Evaluating LLMs as Agents：理解如何在多类交互环境中评测智能体能力，以及为什么只看静态问答不足以代表真实执行表现</a:t>
            </a:r>
          </a:p>
        </p:txBody>
      </p:sp>
      <p:sp>
        <p:nvSpPr>
          <p:cNvPr id="8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E93EACC0-706A-4891-80DC-6306EBBFC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A6C8"/>
          </a:solidFill>
          <a:ln xmlns:a="http://schemas.openxmlformats.org/drawingml/2006/main" w="0">
            <a:solidFill>
              <a:srgbClr val="17A6C8"/>
            </a:solidFill>
            <a:prstDash val="solid"/>
          </a:ln>
        </p:spPr>
      </p:sp>
      <p:sp>
        <p:nvSpPr>
          <p:cNvPr id="9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DA61B2E6-20EB-409D-AE75-13E67E223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0D4D68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21127407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2026-07-11T16:55:40.0110000Z</dcterms:created>
  <dcterms:modified xsi:type="dcterms:W3CDTF">2026-07-11T16:55:40.0110000Z</dcterms:modified>
</coreProperties>
</file>