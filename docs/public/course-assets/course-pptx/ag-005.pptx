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f1af8ef64145e7" /><Relationship Type="http://schemas.openxmlformats.org/officeDocument/2006/relationships/extended-properties" Target="/docProps/app.xml" Id="Rd0d63bad3de34548" /><Relationship Type="http://schemas.openxmlformats.org/officeDocument/2006/relationships/officeDocument" Target="/ppt/presentation.xml" Id="R6d32aa82ea4b40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7db68d63384af5"/>
  </p:sldMasterIdLst>
  <p:notesMasterIdLst>
    <p:notesMasterId xmlns:r="http://schemas.openxmlformats.org/officeDocument/2006/relationships" r:id="R6c528fcd16d84055"/>
  </p:notesMasterIdLst>
  <p:sldIdLst>
    <p:sldId xmlns:r="http://schemas.openxmlformats.org/officeDocument/2006/relationships" id="256" r:id="Re125228f1cba484c"/>
    <p:sldId xmlns:r="http://schemas.openxmlformats.org/officeDocument/2006/relationships" id="257" r:id="R69d13f67bbb94d2f"/>
    <p:sldId xmlns:r="http://schemas.openxmlformats.org/officeDocument/2006/relationships" id="258" r:id="R8ca3fd42eb31488a"/>
    <p:sldId xmlns:r="http://schemas.openxmlformats.org/officeDocument/2006/relationships" id="259" r:id="Rdd6f0d399cf24e6b"/>
    <p:sldId xmlns:r="http://schemas.openxmlformats.org/officeDocument/2006/relationships" id="260" r:id="R91c99981b3334910"/>
    <p:sldId xmlns:r="http://schemas.openxmlformats.org/officeDocument/2006/relationships" id="261" r:id="R54589791782c4d31"/>
    <p:sldId xmlns:r="http://schemas.openxmlformats.org/officeDocument/2006/relationships" id="262" r:id="R6a80a8f51136428b"/>
    <p:sldId xmlns:r="http://schemas.openxmlformats.org/officeDocument/2006/relationships" id="263" r:id="R1006b07a001c43a0"/>
    <p:sldId xmlns:r="http://schemas.openxmlformats.org/officeDocument/2006/relationships" id="264" r:id="Rdf4800a785f145f8"/>
    <p:sldId xmlns:r="http://schemas.openxmlformats.org/officeDocument/2006/relationships" id="265" r:id="R5b522d1198f7421f"/>
    <p:sldId xmlns:r="http://schemas.openxmlformats.org/officeDocument/2006/relationships" id="266" r:id="R779b246cd9ab497c"/>
    <p:sldId xmlns:r="http://schemas.openxmlformats.org/officeDocument/2006/relationships" id="267" r:id="Rcd1577010def4179"/>
    <p:sldId xmlns:r="http://schemas.openxmlformats.org/officeDocument/2006/relationships" id="268" r:id="R7ca0d82619604bc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56f85bb78a4c3e" /><Relationship Type="http://schemas.openxmlformats.org/officeDocument/2006/relationships/slideMaster" Target="/ppt/slideMasters/slideMaster1.xml" Id="R137db68d63384af5" /><Relationship Type="http://schemas.openxmlformats.org/officeDocument/2006/relationships/notesMaster" Target="/ppt/notesMasters/notesMaster1.xml" Id="R6c528fcd16d84055" /><Relationship Type="http://schemas.openxmlformats.org/officeDocument/2006/relationships/presProps" Target="/ppt/presProps.xml" Id="Rd9c5220967eb4794" /><Relationship Type="http://schemas.openxmlformats.org/officeDocument/2006/relationships/tableStyles" Target="/ppt/tableStyles.xml" Id="Rdfcf1fb61ca34146" /><Relationship Type="http://schemas.openxmlformats.org/officeDocument/2006/relationships/slide" Target="/ppt/slides/slide1.xml" Id="Re125228f1cba484c" /><Relationship Type="http://schemas.openxmlformats.org/officeDocument/2006/relationships/slide" Target="/ppt/slides/slide2.xml" Id="R69d13f67bbb94d2f" /><Relationship Type="http://schemas.openxmlformats.org/officeDocument/2006/relationships/slide" Target="/ppt/slides/slide3.xml" Id="R8ca3fd42eb31488a" /><Relationship Type="http://schemas.openxmlformats.org/officeDocument/2006/relationships/slide" Target="/ppt/slides/slide4.xml" Id="Rdd6f0d399cf24e6b" /><Relationship Type="http://schemas.openxmlformats.org/officeDocument/2006/relationships/slide" Target="/ppt/slides/slide5.xml" Id="R91c99981b3334910" /><Relationship Type="http://schemas.openxmlformats.org/officeDocument/2006/relationships/slide" Target="/ppt/slides/slide6.xml" Id="R54589791782c4d31" /><Relationship Type="http://schemas.openxmlformats.org/officeDocument/2006/relationships/slide" Target="/ppt/slides/slide7.xml" Id="R6a80a8f51136428b" /><Relationship Type="http://schemas.openxmlformats.org/officeDocument/2006/relationships/slide" Target="/ppt/slides/slide8.xml" Id="R1006b07a001c43a0" /><Relationship Type="http://schemas.openxmlformats.org/officeDocument/2006/relationships/slide" Target="/ppt/slides/slide9.xml" Id="Rdf4800a785f145f8" /><Relationship Type="http://schemas.openxmlformats.org/officeDocument/2006/relationships/slide" Target="/ppt/slides/slide10.xml" Id="R5b522d1198f7421f" /><Relationship Type="http://schemas.openxmlformats.org/officeDocument/2006/relationships/slide" Target="/ppt/slides/slide11.xml" Id="R779b246cd9ab497c" /><Relationship Type="http://schemas.openxmlformats.org/officeDocument/2006/relationships/slide" Target="/ppt/slides/slide12.xml" Id="Rcd1577010def4179" /><Relationship Type="http://schemas.openxmlformats.org/officeDocument/2006/relationships/slide" Target="/ppt/slides/slide13.xml" Id="R7ca0d82619604b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523b8bb6a54d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16e76ec7484132" /><Relationship Type="http://schemas.openxmlformats.org/officeDocument/2006/relationships/notesMaster" Target="/ppt/notesMasters/notesMaster1.xml" Id="Rf6f31b0843ea4d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9925642fde4211" /><Relationship Type="http://schemas.openxmlformats.org/officeDocument/2006/relationships/notesMaster" Target="/ppt/notesMasters/notesMaster1.xml" Id="R5ef9ce9d8c6c44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cc0edbf7ac4acd" /><Relationship Type="http://schemas.openxmlformats.org/officeDocument/2006/relationships/notesMaster" Target="/ppt/notesMasters/notesMaster1.xml" Id="R420a70da6a974bc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024edda26049f8" /><Relationship Type="http://schemas.openxmlformats.org/officeDocument/2006/relationships/notesMaster" Target="/ppt/notesMasters/notesMaster1.xml" Id="Re998a60820094d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256142b6dd4d98" /><Relationship Type="http://schemas.openxmlformats.org/officeDocument/2006/relationships/notesMaster" Target="/ppt/notesMasters/notesMaster1.xml" Id="R9c524e175eb94a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cea86e042d44f1" /><Relationship Type="http://schemas.openxmlformats.org/officeDocument/2006/relationships/notesMaster" Target="/ppt/notesMasters/notesMaster1.xml" Id="Rf0d46980bb1942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2d9af56df3b4c7a" /><Relationship Type="http://schemas.openxmlformats.org/officeDocument/2006/relationships/notesMaster" Target="/ppt/notesMasters/notesMaster1.xml" Id="Rbc0cf96bdff141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756d979b824cfe" /><Relationship Type="http://schemas.openxmlformats.org/officeDocument/2006/relationships/notesMaster" Target="/ppt/notesMasters/notesMaster1.xml" Id="Rfd4d4e1ad41d486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bc15ee011924245" /><Relationship Type="http://schemas.openxmlformats.org/officeDocument/2006/relationships/notesMaster" Target="/ppt/notesMasters/notesMaster1.xml" Id="R56076b3c6fc741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7a6d65286b44d5" /><Relationship Type="http://schemas.openxmlformats.org/officeDocument/2006/relationships/notesMaster" Target="/ppt/notesMasters/notesMaster1.xml" Id="R8b2dfb8a01634bb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f7d38ab2a23490c" /><Relationship Type="http://schemas.openxmlformats.org/officeDocument/2006/relationships/notesMaster" Target="/ppt/notesMasters/notesMaster1.xml" Id="Rcb5d21b4415a43d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0286905b73b48b6" /><Relationship Type="http://schemas.openxmlformats.org/officeDocument/2006/relationships/notesMaster" Target="/ppt/notesMasters/notesMaster1.xml" Id="Rbcdf6bc5a2294dc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f8f61cd16b44759" /><Relationship Type="http://schemas.openxmlformats.org/officeDocument/2006/relationships/notesMaster" Target="/ppt/notesMasters/notesMaster1.xml" Id="R29a2afe077884f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da71f728b74b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48dd2a0e62484f" /><Relationship Type="http://schemas.openxmlformats.org/officeDocument/2006/relationships/slideLayout" Target="/ppt/slideLayouts/slideLayout1.xml" Id="Ra1a1c829560c45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a1c829560c45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98eb8ce57409d" /><Relationship Type="http://schemas.openxmlformats.org/officeDocument/2006/relationships/notesSlide" Target="/ppt/notesSlides/notesSlide1.xml" Id="Reb3ef263038a45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c65dd8092476c" /><Relationship Type="http://schemas.openxmlformats.org/officeDocument/2006/relationships/notesSlide" Target="/ppt/notesSlides/notesSlide2.xml" Id="Rda63cb44c3ec40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0633f54f2342ea" /><Relationship Type="http://schemas.openxmlformats.org/officeDocument/2006/relationships/notesSlide" Target="/ppt/notesSlides/notesSlide3.xml" Id="R18cdbc389abd44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eabd43ef5c4303" /><Relationship Type="http://schemas.openxmlformats.org/officeDocument/2006/relationships/notesSlide" Target="/ppt/notesSlides/notesSlide4.xml" Id="Rbc3544aeb9b245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a761a402d4489" /><Relationship Type="http://schemas.openxmlformats.org/officeDocument/2006/relationships/notesSlide" Target="/ppt/notesSlides/notesSlide5.xml" Id="R6cf881bb131940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1af4361e84da7" /><Relationship Type="http://schemas.openxmlformats.org/officeDocument/2006/relationships/notesSlide" Target="/ppt/notesSlides/notesSlide6.xml" Id="R9a37d8f1560449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a7f25f91e4a66" /><Relationship Type="http://schemas.openxmlformats.org/officeDocument/2006/relationships/notesSlide" Target="/ppt/notesSlides/notesSlide7.xml" Id="R3aebfea23f6947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3a7800f1a4b28" /><Relationship Type="http://schemas.openxmlformats.org/officeDocument/2006/relationships/notesSlide" Target="/ppt/notesSlides/notesSlide8.xml" Id="Rdc0dd30260e945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b4873d100d4b2a" /><Relationship Type="http://schemas.openxmlformats.org/officeDocument/2006/relationships/notesSlide" Target="/ppt/notesSlides/notesSlide9.xml" Id="R70273ab6a6ec4c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999cf2f9e4527" /><Relationship Type="http://schemas.openxmlformats.org/officeDocument/2006/relationships/notesSlide" Target="/ppt/notesSlides/notesSlide10.xml" Id="R6e1ccf891f5643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3f2916a21f4e6c" /><Relationship Type="http://schemas.openxmlformats.org/officeDocument/2006/relationships/notesSlide" Target="/ppt/notesSlides/notesSlide11.xml" Id="Reb2480961e0c459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2751c0116447d" /><Relationship Type="http://schemas.openxmlformats.org/officeDocument/2006/relationships/notesSlide" Target="/ppt/notesSlides/notesSlide12.xml" Id="R57ac6f36d9c647d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1189378dc4882" /><Relationship Type="http://schemas.openxmlformats.org/officeDocument/2006/relationships/notesSlide" Target="/ppt/notesSlides/notesSlide13.xml" Id="Rc204abebf2e5402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7204A30F-2B5F-4D69-A52C-D606DFCE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ACA4B59F-4258-4255-9D1D-457B5B09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5D5A772C-2973-411A-A7C0-08AA50B7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99DFB94B-8582-4E2A-8948-2D5DFD5D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E1816ED4-83F6-4895-855B-D7834BCA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44B0B4E7-920D-4F5E-B8B6-F68B034B4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3A84C4D1-886B-4D45-91A2-D870F403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C52ACEA-DFB9-4DFF-AE45-9D18A27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可观测性、评测与 Human-in-the-loop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EBBA05A-721C-421E-9984-DE9B1136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 trace、任务评测、权限和人工断点建立可运营、可恢复的智能体系统。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2D929A5F-63EB-4552-86CF-0B2FCF83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88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OV-007 已经识别并分级了 AI 风险；形成“要防什么”的风险卡；本节把这张风险卡翻译成可运行、可检查的工程控制；哪些事件必须进入 trace；哪些结果要进入离线与线上评测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E31D9734-B650-441E-8338-33FB5C9E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AFC94F27-1BD0-4636-A283-B66B3AF0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AG-005 · AG-005-S01</a:t>
            </a:r>
          </a:p>
        </p:txBody>
      </p:sp>
    </p:spTree>
    <p:extLst>
      <p:ext uri="{BB962C8B-B14F-4D97-AF65-F5344CB8AC3E}">
        <p14:creationId xmlns:p14="http://schemas.microsoft.com/office/powerpoint/2010/main" val="3351076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BC719559-AD39-425C-A332-C8DC6074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E7496613-FC8A-4C2E-AEDD-B52CA27D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697BB2F9-CF2A-4259-8B8B-A09D96FB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智能体可靠性：4项学习结果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C277710D-6906-45EC-9E7E-61CADC60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4C73B070-5154-4689-AB91-301B5375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EF411874-0E2A-4C3A-A319-1B1FD1EB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为一次智能体运行设计可串联任务、步骤、模型、工具、评测和人工决定的 trace 字段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41302A19-6DBB-4181-A780-4E9E95CE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从结果、过程和运营三个层面建立评测指标，并连接离线测试集与线上监控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9C3510D2-ABD7-48E9-9678-408ABB22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使用统一失败分类定位问题，区分模型错误、工具错误、权限拒绝和流程设计缺陷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67062E01-BE7B-4464-9976-59B68021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 Human-in-the-loop 定义触发阈值、审核队列、恢复点和责任归属</a:t>
            </a:r>
          </a:p>
        </p:txBody>
      </p:sp>
    </p:spTree>
    <p:extLst>
      <p:ext uri="{BB962C8B-B14F-4D97-AF65-F5344CB8AC3E}">
        <p14:creationId xmlns:p14="http://schemas.microsoft.com/office/powerpoint/2010/main" val="17889957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442CDAA3-E7BA-4A8D-A7A7-CC513319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91A756CA-A322-4393-A494-A93052FF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C686FE8-88BC-4D2E-A199-ED6D8A89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Trace 还原因果，三层指标判断系统表现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A4CB1468-BEDA-41AB-A4BE-4B74A607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CDEA6E00-1ECA-4602-B810-E0F454AB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4822D8C-1E10-4A2C-B0D8-05133E4A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0A22AA3-078A-4A08-9134-0A4422AC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Trace：把一次任务串成因果链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B074991-26C8-4DE5-84A3-FE4A85CF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日志可以记录单个事件，trace 则用统一标识把一次任务中的多个事件连接起来。最小字段可以分为六组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2F738ED-40E8-4DCF-AD27-0DC250FC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2FAA83ED-8D67-44F2-BA86-775E89D4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三层评测：结果、过程与运营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98D02FE-7716-4ADB-99D4-3449A95C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结果层 回答“任务做对了吗”。指标可以是事实准确率、任务完成率、字段完整率、答案与来源一致性、测试通过率，以及用户是否接受结果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1EE621E0-32B7-4B3F-A80A-90C3F2D1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07FFFD93-DE1F-45A6-BB3D-0D759D38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Trace 还原因果，三层指标判断系统表现</a:t>
            </a:r>
          </a:p>
        </p:txBody>
      </p:sp>
    </p:spTree>
    <p:extLst>
      <p:ext uri="{BB962C8B-B14F-4D97-AF65-F5344CB8AC3E}">
        <p14:creationId xmlns:p14="http://schemas.microsoft.com/office/powerpoint/2010/main" val="6776326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3521DE7E-E0FD-400D-865B-E2E45453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F98ED0EC-D8A5-4E22-8C56-CAF7DA64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4A083ECE-5E46-4C36-856E-0AB6F4A8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离线覆盖已知风险，线上监测真实分布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3B690972-517E-4CB3-AE76-B6D0B57B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9CA890DE-DD12-45BA-BFDC-A5EF66AB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7FE54C2-FF40-4BDA-9D57-F704AD5B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6EF426B-A859-4EE7-B9B8-8C3ED916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离线评测集：在上线前复现已知世界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774C0DF-235C-4DB6-A362-6F8A331F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离线集应来自真实任务类型；覆盖正常样本、边界样本、对抗样本和历史故障；每个样本需要输入、期望结果、允许变化、禁止动作和评分规则；对开放式输出，可把评分拆成事实、完整性、格式和证据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67302AF-65E9-4B48-83C7-5BF97EA71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782009AD-F120-43D5-9CC0-5CDC3FC8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线上监控：观察真实分布和漂移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929F46F-25A7-425F-8EE8-A388BE22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线上环境会出现离线集没有覆盖的新输入、权限组合和工具异常；监控应同时看质量代理指标和系统指标；例如引用缺失、空结果、同类工具连续失败、任务步数异常增长、人工升级率突变和高风险动作拦截率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1C6AE26F-BD31-4A16-9780-41A2C683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F1D4290F-DEEC-49AC-8411-F4CB8D89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离线覆盖已知风险，线上监测真实分布</a:t>
            </a:r>
          </a:p>
        </p:txBody>
      </p:sp>
    </p:spTree>
    <p:extLst>
      <p:ext uri="{BB962C8B-B14F-4D97-AF65-F5344CB8AC3E}">
        <p14:creationId xmlns:p14="http://schemas.microsoft.com/office/powerpoint/2010/main" val="20151421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3AC19306-AA9D-4F55-836F-B5E23913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91D3EFC1-BCFF-4428-9A8F-CA3A0386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5749592B-5AEE-4F0B-A1A6-CA9B793B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统一分类能避免所有问题都被叫作“幻觉”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AC1F05CF-E180-4A2A-897C-8F7853DB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85057DEF-7985-4E7F-BE08-B3851255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BA625C0-F9FD-490F-BDE7-15E36762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52E9032-0D7B-45A9-9EC6-6BB8479C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失败分类：先归因，再修复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0A27F59-FA0F-445C-ABAA-7834E45E6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统一分类能避免所有问题都被叫作“幻觉”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45A844E-80EC-43B3-9701-1C9A3D59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060EC3F-8524-48D1-86F9-BA62009A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目标理解失败： 误解用户意图、遗漏范围或验收条件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857C7FAC-DB20-4C70-8F18-D0D376C5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BA2C481A-D638-4C42-AAC9-93734518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依据失败： 没有取得证据、引用错误来源、把过期信息当作当前事实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BD109082-D066-4749-985B-77ADD0C7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CFD710DB-30B0-45C2-9D87-929B3D01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统一分类能避免所有问题都被叫作“幻觉”</a:t>
            </a:r>
          </a:p>
        </p:txBody>
      </p:sp>
    </p:spTree>
    <p:extLst>
      <p:ext uri="{BB962C8B-B14F-4D97-AF65-F5344CB8AC3E}">
        <p14:creationId xmlns:p14="http://schemas.microsoft.com/office/powerpoint/2010/main" val="11813324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2EFDEDC1-A84C-45A6-B1BD-5DF07109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82CAFD8E-2542-4DCD-83B4-61F512AB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153E333C-97D6-4EC3-A2D2-6318E021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人工介入需要明确触发条件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43A319DD-BDEE-49CB-9CED-597C480D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379272C4-6958-4E91-B0D3-ACAE21EF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1A611E8-602B-4B44-B35A-BFB7C9B4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3D3D2DB-AF71-4111-9019-B44C441B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6944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HITL 触发阈值：把“必要时人工审核”变成规则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696275D-3FE1-4CFF-855D-825C96A0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人工介入需要明确触发条件。阈值可以分三类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5B96255-B1AB-4B28-B5D8-F48FE51BE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218DF3E-374C-453A-ADF6-1901BCE2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硬触发： 外发、删除、付款、授权、公开发布、访问敏感数据等动作，无论模型得分多高都必须审核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F3DC2A39-95C4-4A9B-AC8C-E8E9E938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3D2E0EE8-F705-4E5A-906B-9D016620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质量触发： 必填证据不完整、关键字段存在冲突、置信指标低于场景阈值，或结果未通过规则校验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2242B3CD-D2BD-4E1B-AD10-4BEEA65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2A502D88-83B2-415E-9037-A35A0F61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人工介入需要明确触发条件</a:t>
            </a:r>
          </a:p>
        </p:txBody>
      </p:sp>
    </p:spTree>
    <p:extLst>
      <p:ext uri="{BB962C8B-B14F-4D97-AF65-F5344CB8AC3E}">
        <p14:creationId xmlns:p14="http://schemas.microsoft.com/office/powerpoint/2010/main" val="15410634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563A949C-D2E9-4214-9238-FE6A68F1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F217CEA0-BC50-41D2-BD44-2EE976AB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D562DC84-14E0-4E1A-812E-D5C44FE8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审核队列：让人看到足够的信息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560F0FA3-A193-42DA-9FCC-1FF0693C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2A1DBD1E-6250-42E2-BA20-AD6AF355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E43514B-6890-46E0-B4E4-5B53749E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F1D7B12-FD86-4A8C-9D46-6A5055FC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审核队列：让人看到足够的信息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2355FC6-3904-4DC3-8670-05CB3009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审核项应包含任务摘要、拟执行动作、影响对象、关键证据、触发规则、系统建议、可选决定和截止时间；队列可按影响与时效分级；例如高影响外发优先于普通低置信度摘要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7DC8DF7-F637-48E7-B4CC-3E0DD28E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DE2CD15-384F-49A3-8679-CD40F8A3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如果只给审核人一个“确认”按钮，而不展示证据和影响范围，HITL 只是把系统风险转移给人。队列还要监控等待时间和积压；人工容量不足时，系统应限流或暂停高风险任务，而不是绕过审核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5FBD9148-B152-4386-AACC-8A2D10F9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7EB2B9C5-B2E8-40F2-A0BE-D4490981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审核队列：让人看到足够的信息</a:t>
            </a:r>
          </a:p>
        </p:txBody>
      </p:sp>
    </p:spTree>
    <p:extLst>
      <p:ext uri="{BB962C8B-B14F-4D97-AF65-F5344CB8AC3E}">
        <p14:creationId xmlns:p14="http://schemas.microsoft.com/office/powerpoint/2010/main" val="13070471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E90D5C01-B3FE-45BB-A283-114AC782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D84EE174-1CFB-419A-9B63-B9441AAB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955A7844-CF59-46CD-90FD-9FD20897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009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在读取完成、草稿生成、审核通过和写入成功等边界保存恢复点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46BBB803-AAE8-44AA-B67E-BB7F89E0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66B8C504-6292-45F2-8AE3-D5B36FA4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EAC3431-3FD2-4290-A131-396C5CAD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88FC6C3-DD32-4D79-85CF-770E09A3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恢复点：失败后从已验证状态继续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04787E3-D702-44C5-9A79-936D6A03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在读取完成、草稿生成、审核通过和写入成功等边界保存恢复点；记录输入版本、已验证产物、外部副作用和下一步；写入工具应尽量使用幂等请求标识；无法撤销的动作要在执行前形成预览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63DDCD9-2F04-401A-B860-70B1C782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0CBF1D6-B6A5-435C-8EC6-1279E5191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恢复不是简单“重新运行全部步骤”。系统先确认外部状态，避免重复发送、重复扣费或覆盖他人更新，再从最近一个可信状态继续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7E8013EA-BD14-4E93-ADD9-99301D3A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F5D0213C-F0A4-4F4F-A43E-ACEF5AA7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在读取完成、草稿生成、审核通过和写入成功等边界保存恢复点</a:t>
            </a:r>
          </a:p>
        </p:txBody>
      </p:sp>
    </p:spTree>
    <p:extLst>
      <p:ext uri="{BB962C8B-B14F-4D97-AF65-F5344CB8AC3E}">
        <p14:creationId xmlns:p14="http://schemas.microsoft.com/office/powerpoint/2010/main" val="4519123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C95438FA-CB9E-4577-B3C8-315470E4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4DCCEDB0-E95A-4CE0-82F7-D262B656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D94E5801-F21A-4E65-BD83-538472B6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业务负责人定义目标和风险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39BC0AA2-0636-4D23-8E05-4BAFB0B7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D2784687-3CDB-4872-BF2A-7A59EEBC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C42AAED-B6CE-4250-A37C-FF9A7B39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52260EC-3410-45A9-85F1-C8EA03A3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责任链：系统必须有可找到的负责人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7C47365-F0D5-4AE8-B4B0-30BE6BAA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业务负责人定义目标和风险；数据负责人管理来源与权限；工程负责人维护模型、工具、trace 和恢复机制；审核人决定指定高风险动作；运营人员监控并响应事件。责任不能归给“模型”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A7BADE16-61C9-41E8-92CC-FD014BCD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BABFE782-0571-4A91-80E1-5B431CD0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业务负责人定义目标和风险</a:t>
            </a:r>
          </a:p>
        </p:txBody>
      </p:sp>
    </p:spTree>
    <p:extLst>
      <p:ext uri="{BB962C8B-B14F-4D97-AF65-F5344CB8AC3E}">
        <p14:creationId xmlns:p14="http://schemas.microsoft.com/office/powerpoint/2010/main" val="14960919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FDB4816B-1DBD-41AD-9342-9CC83B59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A3042053-7941-40A9-A4C3-FF331DAC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82A851E2-4DD0-42DE-9D84-D02D84B4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客户退款建议智能体的三层防线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016A4844-0A8C-4D64-8DD1-CA6787AE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B00FC27C-9E9A-478A-8F64-8A5629B7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D32A6C2F-A9E9-415F-8691-6D27B217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客户退款建议智能体的三层防线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4B5DA4D2-356F-438F-B445-AA5796AC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边界｜系统读取订单和售后政策，为客服生成退款建议，但不能自行付款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70579328-26E5-495A-89DB-C1024C79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机制｜离线集覆盖正常退款、超过期限、订单信息冲突和疑似重复申请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38883EC9-8D3F-4A72-AB27-9B42FB9F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53059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边界｜结果层检查建议是否符合政策，过程层检查是否读取了正确订单和当前政策，运营层监控响应时间、人工升级率和错误建议率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04EAF26B-212E-458F-BE50-683D9ECE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1559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边界｜当订单字段冲突、政策依据缺失、退款金额超过业务阈值，或同一查询连续失败两次时，任务进入人工队列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A710EC05-E8D8-4A07-9154-CD05075E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启示｜审核页展示订单摘要、政策条款、建议金额、冲突字段和触发原因</a:t>
            </a:r>
          </a:p>
        </p:txBody>
      </p:sp>
      <p:sp>
        <p:nvSpPr>
          <p:cNvPr id="12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F8A308C5-FEF5-4D61-AC16-C615BCFB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497F5D5C-D798-4655-9CE8-F98D8D24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客户退款建议智能体的三层防线</a:t>
            </a:r>
          </a:p>
        </p:txBody>
      </p:sp>
    </p:spTree>
    <p:extLst>
      <p:ext uri="{BB962C8B-B14F-4D97-AF65-F5344CB8AC3E}">
        <p14:creationId xmlns:p14="http://schemas.microsoft.com/office/powerpoint/2010/main" val="2473227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95DC7E6B-12D3-4D5A-B04A-6BB7CA4D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B08363A8-13F2-4993-99E9-014838F3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A351BA5F-F39B-423A-829E-502755B7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智能体可靠性：一次可验收练习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40D33B96-88E9-4982-888D-2A1533CE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26EA845C-A117-4F89-87EB-2B223BA0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F02E2D69-2544-4588-B3B8-BBA997FF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565A2424-541B-4F2C-BC9F-C2E5DF7F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FBC58041-338C-404B-B29C-3606D10DF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8663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为“根据会议纪要生成并外发任务通知”的智能体设计一份运营方案；列出一条完整 trace 的字段，并标出需要脱敏的内容；各设计三项结果层、过程层和运营层指标，说明数据从哪里取得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5D80E0CE-A717-4F84-BF94-F24325F9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8E778BF5-1CA5-463F-8A88-D11281F0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3FD4C9BF-759B-45CC-A0F9-0A41BD5D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5C7F2FBE-92A2-4961-ABA9-2019838C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建立 12 条离线样本，至少包含缺负责人、日期冲突、工具超时和恶意指令四类边界；为失败分类写判定规则，并用两个复合故障区分主因与促成因素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C493DBBB-1E34-4953-8355-E2EEAAB1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D031449D-3316-4E4C-A87C-7195DC09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8AB749BE-3FEA-46E9-8A8C-513AB709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7579199B-E929-41D0-AD2E-E66BF642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定义硬触发、质量触发、异常触发阈值，画出审核队列字段和处理优先级；在草稿、批准、外发三个阶段设置恢复点，说明外发结果未知时如何避免重复发送</a:t>
            </a:r>
          </a:p>
        </p:txBody>
      </p:sp>
    </p:spTree>
    <p:extLst>
      <p:ext uri="{BB962C8B-B14F-4D97-AF65-F5344CB8AC3E}">
        <p14:creationId xmlns:p14="http://schemas.microsoft.com/office/powerpoint/2010/main" val="10323853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6CF9446D-2DC4-438F-973A-24AE13704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C6C7B6E3-9236-4056-A004-C2DC353F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561296F9-F536-4B2E-B321-CEEC043D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智能体可靠性：判断时先抓住三点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E0DB7BB4-50DC-40B0-827E-7721E9FC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77A2AC89-CBE1-4296-A6D3-B6B93E26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CABA8CBF-C78E-4585-87D2-34146F15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89270F15-9B2F-4D7D-ADD0-EABF94BD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B8670BDE-83EA-4AED-B1B5-7BBFCE23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Trace 还原因果，三层指标判断系统表现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BCA15A57-9BCB-4501-BFAE-A2245487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662029DA-FE56-413F-A46B-6A579BE4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64DD2D83-68D2-4D5F-B9DA-37A1CED6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C247417C-A41E-4F71-A254-1D26459E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人工介入需要明确触发条件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215E66F3-F805-4CF3-AF56-F02344E9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D08B697E-7A4C-4DB6-8BA5-9A3150212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1CEAA933-5389-4075-A62E-21B888F0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893EF448-830B-419F-BF36-1EA7C09D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业务负责人定义目标和风险</a:t>
            </a:r>
          </a:p>
        </p:txBody>
      </p:sp>
    </p:spTree>
    <p:extLst>
      <p:ext uri="{BB962C8B-B14F-4D97-AF65-F5344CB8AC3E}">
        <p14:creationId xmlns:p14="http://schemas.microsoft.com/office/powerpoint/2010/main" val="75502242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E11952C0-D9FD-495D-8775-DD05659D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369D5B39-6A0E-4653-89AA-DC80176A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BD591C9E-6D33-4EA8-9B07-64D712BF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智能体可靠性：依据、边界与延伸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EA3977A3-2F75-489D-9ED8-7BFED480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FD95F1A6-FFBA-4863-8B34-679191C6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9F2B2F59-8B3A-44DD-A252-E19CEB4B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BAD8A2AA-537E-4EF9-9C64-C84999E8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231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AgentBench: Evaluating LLMs as Agents：理解如何在多类交互环境中评测智能体能力，以及为什么只看静态问答不足以代表真实执行表现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110086A6-8E85-4B83-A18A-B723B957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2C278B3A-8D82-4E49-B7B1-7DF56A73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5855632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2026-07-12T08:20:15.8070000Z</dcterms:created>
  <dcterms:modified xsi:type="dcterms:W3CDTF">2026-07-12T08:20:15.8070000Z</dcterms:modified>
</coreProperties>
</file>