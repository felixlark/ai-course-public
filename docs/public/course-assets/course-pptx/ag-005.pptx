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de16eb3dc94df4" /><Relationship Type="http://schemas.openxmlformats.org/officeDocument/2006/relationships/extended-properties" Target="/docProps/app.xml" Id="R7cc3b990846f4618" /><Relationship Type="http://schemas.openxmlformats.org/officeDocument/2006/relationships/officeDocument" Target="/ppt/presentation.xml" Id="Rbf8fd93b46ad45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83256d291846c5"/>
  </p:sldMasterIdLst>
  <p:notesMasterIdLst>
    <p:notesMasterId xmlns:r="http://schemas.openxmlformats.org/officeDocument/2006/relationships" r:id="R4e7984d4dabb41f8"/>
  </p:notesMasterIdLst>
  <p:sldIdLst>
    <p:sldId xmlns:r="http://schemas.openxmlformats.org/officeDocument/2006/relationships" id="256" r:id="Re790e1d7b4514f86"/>
    <p:sldId xmlns:r="http://schemas.openxmlformats.org/officeDocument/2006/relationships" id="257" r:id="R610934e12cfe4165"/>
    <p:sldId xmlns:r="http://schemas.openxmlformats.org/officeDocument/2006/relationships" id="258" r:id="R31d8910adbd1487c"/>
    <p:sldId xmlns:r="http://schemas.openxmlformats.org/officeDocument/2006/relationships" id="259" r:id="Rf726550cb968428a"/>
    <p:sldId xmlns:r="http://schemas.openxmlformats.org/officeDocument/2006/relationships" id="260" r:id="Rf4a9425219e6474d"/>
    <p:sldId xmlns:r="http://schemas.openxmlformats.org/officeDocument/2006/relationships" id="261" r:id="R43cd5416e2b84531"/>
    <p:sldId xmlns:r="http://schemas.openxmlformats.org/officeDocument/2006/relationships" id="262" r:id="Re9618afc2c504dee"/>
    <p:sldId xmlns:r="http://schemas.openxmlformats.org/officeDocument/2006/relationships" id="263" r:id="R766b837ee5df425d"/>
    <p:sldId xmlns:r="http://schemas.openxmlformats.org/officeDocument/2006/relationships" id="264" r:id="Re017d03631d942e9"/>
    <p:sldId xmlns:r="http://schemas.openxmlformats.org/officeDocument/2006/relationships" id="265" r:id="R5d9a935d263a41f2"/>
    <p:sldId xmlns:r="http://schemas.openxmlformats.org/officeDocument/2006/relationships" id="266" r:id="R09dfae5bbeaa4f50"/>
    <p:sldId xmlns:r="http://schemas.openxmlformats.org/officeDocument/2006/relationships" id="267" r:id="Rd72f45ad28b24276"/>
    <p:sldId xmlns:r="http://schemas.openxmlformats.org/officeDocument/2006/relationships" id="268" r:id="R708c6fc0fc1445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488d22a324608" /><Relationship Type="http://schemas.openxmlformats.org/officeDocument/2006/relationships/slideMaster" Target="/ppt/slideMasters/slideMaster1.xml" Id="Rf683256d291846c5" /><Relationship Type="http://schemas.openxmlformats.org/officeDocument/2006/relationships/notesMaster" Target="/ppt/notesMasters/notesMaster1.xml" Id="R4e7984d4dabb41f8" /><Relationship Type="http://schemas.openxmlformats.org/officeDocument/2006/relationships/presProps" Target="/ppt/presProps.xml" Id="R7691eeb9817f43f2" /><Relationship Type="http://schemas.openxmlformats.org/officeDocument/2006/relationships/tableStyles" Target="/ppt/tableStyles.xml" Id="R94461896418e4e8b" /><Relationship Type="http://schemas.openxmlformats.org/officeDocument/2006/relationships/slide" Target="/ppt/slides/slide1.xml" Id="Re790e1d7b4514f86" /><Relationship Type="http://schemas.openxmlformats.org/officeDocument/2006/relationships/slide" Target="/ppt/slides/slide2.xml" Id="R610934e12cfe4165" /><Relationship Type="http://schemas.openxmlformats.org/officeDocument/2006/relationships/slide" Target="/ppt/slides/slide3.xml" Id="R31d8910adbd1487c" /><Relationship Type="http://schemas.openxmlformats.org/officeDocument/2006/relationships/slide" Target="/ppt/slides/slide4.xml" Id="Rf726550cb968428a" /><Relationship Type="http://schemas.openxmlformats.org/officeDocument/2006/relationships/slide" Target="/ppt/slides/slide5.xml" Id="Rf4a9425219e6474d" /><Relationship Type="http://schemas.openxmlformats.org/officeDocument/2006/relationships/slide" Target="/ppt/slides/slide6.xml" Id="R43cd5416e2b84531" /><Relationship Type="http://schemas.openxmlformats.org/officeDocument/2006/relationships/slide" Target="/ppt/slides/slide7.xml" Id="Re9618afc2c504dee" /><Relationship Type="http://schemas.openxmlformats.org/officeDocument/2006/relationships/slide" Target="/ppt/slides/slide8.xml" Id="R766b837ee5df425d" /><Relationship Type="http://schemas.openxmlformats.org/officeDocument/2006/relationships/slide" Target="/ppt/slides/slide9.xml" Id="Re017d03631d942e9" /><Relationship Type="http://schemas.openxmlformats.org/officeDocument/2006/relationships/slide" Target="/ppt/slides/slide10.xml" Id="R5d9a935d263a41f2" /><Relationship Type="http://schemas.openxmlformats.org/officeDocument/2006/relationships/slide" Target="/ppt/slides/slide11.xml" Id="R09dfae5bbeaa4f50" /><Relationship Type="http://schemas.openxmlformats.org/officeDocument/2006/relationships/slide" Target="/ppt/slides/slide12.xml" Id="Rd72f45ad28b24276" /><Relationship Type="http://schemas.openxmlformats.org/officeDocument/2006/relationships/slide" Target="/ppt/slides/slide13.xml" Id="R708c6fc0fc14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6b870f94f4e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67d2df20da4867" /><Relationship Type="http://schemas.openxmlformats.org/officeDocument/2006/relationships/notesMaster" Target="/ppt/notesMasters/notesMaster1.xml" Id="R3963ed3c7cda4a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ccde7764e74191" /><Relationship Type="http://schemas.openxmlformats.org/officeDocument/2006/relationships/notesMaster" Target="/ppt/notesMasters/notesMaster1.xml" Id="R32e0cea33f3d40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b4c01b18814f47" /><Relationship Type="http://schemas.openxmlformats.org/officeDocument/2006/relationships/notesMaster" Target="/ppt/notesMasters/notesMaster1.xml" Id="R252b6459740d49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4eae2310674b2a" /><Relationship Type="http://schemas.openxmlformats.org/officeDocument/2006/relationships/notesMaster" Target="/ppt/notesMasters/notesMaster1.xml" Id="R80fc73e3db8b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fe33dd174f4179" /><Relationship Type="http://schemas.openxmlformats.org/officeDocument/2006/relationships/notesMaster" Target="/ppt/notesMasters/notesMaster1.xml" Id="Reccd5a40f60a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9f88a07d454127" /><Relationship Type="http://schemas.openxmlformats.org/officeDocument/2006/relationships/notesMaster" Target="/ppt/notesMasters/notesMaster1.xml" Id="Rb019191ce46045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147b30b6d44201" /><Relationship Type="http://schemas.openxmlformats.org/officeDocument/2006/relationships/notesMaster" Target="/ppt/notesMasters/notesMaster1.xml" Id="Rfc5ec314faed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fe7b7b30144293" /><Relationship Type="http://schemas.openxmlformats.org/officeDocument/2006/relationships/notesMaster" Target="/ppt/notesMasters/notesMaster1.xml" Id="R0b7aaa7e22274a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881ea001a24db6" /><Relationship Type="http://schemas.openxmlformats.org/officeDocument/2006/relationships/notesMaster" Target="/ppt/notesMasters/notesMaster1.xml" Id="R5fbafbbd3bb547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d4dcb1895c4b65" /><Relationship Type="http://schemas.openxmlformats.org/officeDocument/2006/relationships/notesMaster" Target="/ppt/notesMasters/notesMaster1.xml" Id="Ra85c8486cd1349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c66115c8b14009" /><Relationship Type="http://schemas.openxmlformats.org/officeDocument/2006/relationships/notesMaster" Target="/ppt/notesMasters/notesMaster1.xml" Id="Rb613cf9705824b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6261c512f344c0" /><Relationship Type="http://schemas.openxmlformats.org/officeDocument/2006/relationships/notesMaster" Target="/ppt/notesMasters/notesMaster1.xml" Id="Re732dde4ca71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38844d5d544dd0" /><Relationship Type="http://schemas.openxmlformats.org/officeDocument/2006/relationships/notesMaster" Target="/ppt/notesMasters/notesMaster1.xml" Id="R7ed4de9559f7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0a37e0d3d40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cb97f2d6a4c78" /><Relationship Type="http://schemas.openxmlformats.org/officeDocument/2006/relationships/slideLayout" Target="/ppt/slideLayouts/slideLayout1.xml" Id="R4278fccdce8f42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8fccdce8f42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568a69be4be2" /><Relationship Type="http://schemas.openxmlformats.org/officeDocument/2006/relationships/notesSlide" Target="/ppt/notesSlides/notesSlide1.xml" Id="R6302154e9b74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ebdc010964925" /><Relationship Type="http://schemas.openxmlformats.org/officeDocument/2006/relationships/notesSlide" Target="/ppt/notesSlides/notesSlide2.xml" Id="R6932141c2331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d9d267dcc4807" /><Relationship Type="http://schemas.openxmlformats.org/officeDocument/2006/relationships/notesSlide" Target="/ppt/notesSlides/notesSlide3.xml" Id="R998af9fd1d8e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361d53014d41" /><Relationship Type="http://schemas.openxmlformats.org/officeDocument/2006/relationships/notesSlide" Target="/ppt/notesSlides/notesSlide4.xml" Id="Rcb6987c5780b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3dc68dcd4c65" /><Relationship Type="http://schemas.openxmlformats.org/officeDocument/2006/relationships/notesSlide" Target="/ppt/notesSlides/notesSlide5.xml" Id="R4d2b556debdb47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d146750e943f6" /><Relationship Type="http://schemas.openxmlformats.org/officeDocument/2006/relationships/notesSlide" Target="/ppt/notesSlides/notesSlide6.xml" Id="R5f0585cc12f745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9610af7d04b8c" /><Relationship Type="http://schemas.openxmlformats.org/officeDocument/2006/relationships/notesSlide" Target="/ppt/notesSlides/notesSlide7.xml" Id="Rdf389a20b6c248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8eabf1c5849b0" /><Relationship Type="http://schemas.openxmlformats.org/officeDocument/2006/relationships/notesSlide" Target="/ppt/notesSlides/notesSlide8.xml" Id="Rd7a7c433941d44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c5180492c4b66" /><Relationship Type="http://schemas.openxmlformats.org/officeDocument/2006/relationships/notesSlide" Target="/ppt/notesSlides/notesSlide9.xml" Id="R59a3ea4d217746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35b2a18a4cfa" /><Relationship Type="http://schemas.openxmlformats.org/officeDocument/2006/relationships/notesSlide" Target="/ppt/notesSlides/notesSlide10.xml" Id="Rf52e56d6213d44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0e862b3074c4d" /><Relationship Type="http://schemas.openxmlformats.org/officeDocument/2006/relationships/notesSlide" Target="/ppt/notesSlides/notesSlide11.xml" Id="Ree7569dae25643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526f20e440ad" /><Relationship Type="http://schemas.openxmlformats.org/officeDocument/2006/relationships/notesSlide" Target="/ppt/notesSlides/notesSlide12.xml" Id="R892fe1104aba40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8a74e1b974d92" /><Relationship Type="http://schemas.openxmlformats.org/officeDocument/2006/relationships/notesSlide" Target="/ppt/notesSlides/notesSlide13.xml" Id="Reab4ab8dfffa4c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17184CED-E593-4AE5-A4F6-F6FAA6C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AB934C77-9A7A-4A17-82FC-74A61543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DF683F9F-701E-4CC0-82BB-0FF145B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3A02E90F-E41A-4816-88B7-59B5CA2B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A90243EF-5C92-4233-ADB0-6BD03318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61FD0451-11C0-49F6-8552-91751A6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C8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AED0B88-E102-4FD6-A135-412A5FE7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第 2 章 · AI 智能体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D70F2FB-B011-460B-8582-B7E1F8F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可观测性、评测与 Human-in-the-loop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355AB1-3B62-4D32-BD6B-D92DFC0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 trace、任务评测、权限和人工断点建立可运营、可恢复的智能体系统。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0B0B0104-B753-4BA1-9977-66526DD5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88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OV-007 已经识别并分级了 AI 风险；形成“要防什么”的风险卡；本节把这张风险卡翻译成可运行、可检查的工程控制；哪些事件必须进入 trace；哪些结果要进入离线与线上评测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FDB8C13B-CEA4-4A15-80B1-75D1338F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1470C885-9285-4204-A18E-6CC1048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A6C8"/>
                </a:solidFill>
                <a:latin typeface="PingFang SC"/>
                <a:ea typeface="PingFang SC"/>
                <a:cs typeface="PingFang SC"/>
              </a:rPr>
              <a:t>AG-005 · AG-005-S01</a:t>
            </a:r>
          </a:p>
        </p:txBody>
      </p:sp>
    </p:spTree>
    <p:extLst>
      <p:ext uri="{BB962C8B-B14F-4D97-AF65-F5344CB8AC3E}">
        <p14:creationId xmlns:p14="http://schemas.microsoft.com/office/powerpoint/2010/main" val="300696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938F2837-6BE5-4257-997F-15746265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22252FCF-A9F3-4486-BEFD-76C480D5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968F5C04-AD20-4370-B1DF-0DCCA800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智能体可靠性：4项学习结果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F3F86671-D1B9-4C6A-A515-3B15B9E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F7BCACB4-257F-45A6-9B58-228E999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6D2000F2-E3B2-4EDA-BCB1-1106EF28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为一次智能体运行设计可串联任务、步骤、模型、工具、评测和人工决定的 trace 字段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410174A-C56F-4229-A444-92F8671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从结果、过程和运营三个层面建立评测指标，并连接离线测试集与线上监控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3686DCDC-91ED-4451-B6C4-2193353A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使用统一失败分类定位问题，区分模型错误、工具错误、权限拒绝和流程设计缺陷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11A72759-72FF-4EA1-A250-AC29D3FA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 Human-in-the-loop 定义触发阈值、审核队列、恢复点和责任归属</a:t>
            </a:r>
          </a:p>
        </p:txBody>
      </p:sp>
    </p:spTree>
    <p:extLst>
      <p:ext uri="{BB962C8B-B14F-4D97-AF65-F5344CB8AC3E}">
        <p14:creationId xmlns:p14="http://schemas.microsoft.com/office/powerpoint/2010/main" val="865664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B72CD055-74B7-4465-8391-296D63B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6E3F4B50-C790-4B6B-A25F-4DEDF9A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AE5C7B59-CE86-4E9A-B0E3-41C2EF15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Trace 还原因果，三层指标判断系统表现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4CA33271-69D7-4E20-AB6D-0701E24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3307529C-FCE1-4AD2-ACA8-89AE4A5A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D755C1E-8C1B-4C1E-8D09-8D546696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0671335D-8F36-4395-A327-510FA17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Trace：把一次任务串成因果链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8C1B6E5-157B-4959-A2AA-AC002730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日志可以记录单个事件，trace 则用统一标识把一次任务中的多个事件连接起来。最小字段可以分为六组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7472B4C4-5DA2-4245-ACBF-06F2380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2E24BA13-733C-4EC7-8980-81B74B23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三层评测：结果、过程与运营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B98F80B-C2E5-4113-B0D0-CCFEC019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结果层 回答“任务做对了吗”。指标可以是事实准确率、任务完成率、字段完整率、答案与来源一致性、测试通过率，以及用户是否接受结果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6FA0E2C0-9913-49A1-BF6E-455CA6B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9747496C-CBA6-4740-8081-0ADAA0D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Trace 还原因果，三层指标判断系统表现</a:t>
            </a:r>
          </a:p>
        </p:txBody>
      </p:sp>
    </p:spTree>
    <p:extLst>
      <p:ext uri="{BB962C8B-B14F-4D97-AF65-F5344CB8AC3E}">
        <p14:creationId xmlns:p14="http://schemas.microsoft.com/office/powerpoint/2010/main" val="105908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498C0D2A-7EE2-4418-9BE0-BF22E32C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A067A991-E698-457C-85BE-2C19B5D0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D5CA8205-BC64-4544-A8A8-196EBC89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离线覆盖已知风险，线上监测真实分布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62CA0693-16F6-43AC-9201-C36AFC9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52F84B44-40B3-402D-89EE-BD6AFDCB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7B67A88-A911-48C3-ACEB-9D031CE3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40FEC20-1575-4A9B-82FB-A4AD2AD7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离线评测集：在上线前复现已知世界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7701F03-E017-4B21-9914-55E22DDC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离线集应来自真实任务类型；覆盖正常样本、边界样本、对抗样本和历史故障；每个样本需要输入、期望结果、允许变化、禁止动作和评分规则；对开放式输出，可把评分拆成事实、完整性、格式和证据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4180E7A-D1A7-4161-B12D-49201E74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C1727666-FD76-4F99-AC35-A82B462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线上监控：观察真实分布和漂移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9961410-86F0-4654-91A7-EA990E07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线上环境会出现离线集没有覆盖的新输入、权限组合和工具异常；监控应同时看质量代理指标和系统指标；例如引用缺失、空结果、同类工具连续失败、任务步数异常增长、人工升级率突变和高风险动作拦截率</a:t>
            </a:r>
          </a:p>
        </p:txBody>
      </p:sp>
      <p:sp>
        <p:nvSpPr>
          <p:cNvPr id="12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CC1811AD-81E9-4403-B30E-BF7FBABB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4DDD0C6D-F01E-4926-811C-7AAAE16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离线覆盖已知风险，线上监测真实分布</a:t>
            </a:r>
          </a:p>
        </p:txBody>
      </p:sp>
    </p:spTree>
    <p:extLst>
      <p:ext uri="{BB962C8B-B14F-4D97-AF65-F5344CB8AC3E}">
        <p14:creationId xmlns:p14="http://schemas.microsoft.com/office/powerpoint/2010/main" val="251654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3D8929D3-DB11-4925-B9F4-595C7196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8885A4F6-0AFD-4D30-BD47-E8433BF7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5E32C354-E15A-47D4-91CA-100A6C0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统一分类能避免所有问题都被叫作“幻觉”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74B76CCE-7796-41C3-9F9D-1C2D3877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696F4B2D-20DA-4C79-9FA8-4EC24A3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CE7E0A0-9890-4AAA-A0BB-A51A6E72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E161E52-DC02-40FD-BFEB-A041659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失败分类：先归因，再修复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8A9060E-97DD-4252-97CA-1ABFD01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统一分类能避免所有问题都被叫作“幻觉”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E7C3881-DEE0-40DE-8C66-FB3C2324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87CC332-E413-42B0-A1FA-DD5A475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目标理解失败： 误解用户意图、遗漏范围或验收条件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8245714C-8016-4620-8D70-8361989B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E2B11A45-68B2-4BE7-8F60-FC526E27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依据失败： 没有取得证据、引用错误来源、把过期信息当作当前事实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E0BC7FD1-EE79-4303-9F98-8617168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5AEA6A97-B32E-4590-BA87-901DEBB3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统一分类能避免所有问题都被叫作“幻觉”</a:t>
            </a:r>
          </a:p>
        </p:txBody>
      </p:sp>
    </p:spTree>
    <p:extLst>
      <p:ext uri="{BB962C8B-B14F-4D97-AF65-F5344CB8AC3E}">
        <p14:creationId xmlns:p14="http://schemas.microsoft.com/office/powerpoint/2010/main" val="1473076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9EBD83F1-BB4E-4B3F-9CE6-7F799AE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5D5DD061-E17E-47F5-91C9-7FA823F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CE39BF34-9CFB-4892-9CA7-6874507D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人工介入需要明确触发条件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E9466DC0-91F0-4F29-A14D-001ECF91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8A5FD55C-416D-4E05-A9B1-1730C799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6FE80503-D737-4B91-88CA-512DE2D2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700D2CC-E608-46B2-83C7-8CFB71DE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HITL 触发阈值：把“必要时人工审核”变成规则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CBBB40F-70E4-48D3-973A-4816580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人工介入需要明确触发条件。阈值可以分三类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B521B7C-3FB6-4254-85CE-153D884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B0E5825-593D-47FA-856B-88C38ED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硬触发： 外发、删除、付款、授权、公开发布、访问敏感数据等动作，无论模型得分多高都必须审核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7117AC5-B1FE-4593-960E-EDC2D71C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A5422489-04B1-4977-9E93-6685633E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质量触发： 必填证据不完整、关键字段存在冲突、置信指标低于场景阈值，或结果未通过规则校验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D66655ED-607F-4D46-B219-A1502088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EC607BF7-3F52-4CC5-8638-31D1D930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人工介入需要明确触发条件</a:t>
            </a:r>
          </a:p>
        </p:txBody>
      </p:sp>
    </p:spTree>
    <p:extLst>
      <p:ext uri="{BB962C8B-B14F-4D97-AF65-F5344CB8AC3E}">
        <p14:creationId xmlns:p14="http://schemas.microsoft.com/office/powerpoint/2010/main" val="778911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ACF3DD37-4AE0-4AA3-B3AB-17F134D3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D7B905B0-6048-4E12-95F4-C35368C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2F7626FC-223E-4D08-B9F6-A49587BF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审核队列：让人看到足够的信息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F9E0CED7-9483-40A4-A56D-677C934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4CE3DBE6-5883-49B1-A40B-E72E3303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95ACBB3-5049-48C2-8014-B449968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FEFA621-0761-4247-8D3E-1BD01EE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审核队列：让人看到足够的信息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EA540D1-9205-4340-A53D-8C5D6B3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审核项应包含任务摘要、拟执行动作、影响对象、关键证据、触发规则、系统建议、可选决定和截止时间；队列可按影响与时效分级；例如高影响外发优先于普通低置信度摘要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14670EB7-3B63-46ED-B110-D5AE72D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19CFE4C6-3CA8-4EF1-A446-4890A72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如果只给审核人一个“确认”按钮，而不展示证据和影响范围，HITL 只是把系统风险转移给人。队列还要监控等待时间和积压；人工容量不足时，系统应限流或暂停高风险任务，而不是绕过审核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70C2CB36-FADF-4AAE-BB1E-7C00DAF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38FBF1E6-C25C-492B-9133-F8760A02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审核队列：让人看到足够的信息</a:t>
            </a:r>
          </a:p>
        </p:txBody>
      </p:sp>
    </p:spTree>
    <p:extLst>
      <p:ext uri="{BB962C8B-B14F-4D97-AF65-F5344CB8AC3E}">
        <p14:creationId xmlns:p14="http://schemas.microsoft.com/office/powerpoint/2010/main" val="45943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06E1F005-867B-40E3-B5FE-956BFB0F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D32A8B0D-7939-47F5-9143-B542310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BF1C518F-D19A-4B80-BB62-F7756BD4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在读取完成、草稿生成、审核通过和写入成功等边界保存恢复点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C76AB681-1FF0-4CBF-8EFF-AC86CC9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7C12F97B-13A2-483D-822E-C539D4DE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0DC6B2E-B56F-4584-85A8-E0C68006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08BA3B8-588D-4580-A7ED-16E589BF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恢复点：失败后从已验证状态继续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1D53F73-11F7-4B37-B34F-F0DEC7D3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在读取完成、草稿生成、审核通过和写入成功等边界保存恢复点；记录输入版本、已验证产物、外部副作用和下一步；写入工具应尽量使用幂等请求标识；无法撤销的动作要在执行前形成预览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24D5CE1-FF16-4161-8F11-75DE7295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9FF58294-FF6C-43CE-8E36-1A35FE28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恢复不是简单“重新运行全部步骤”。系统先确认外部状态，避免重复发送、重复扣费或覆盖他人更新，再从最近一个可信状态继续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9938ABD6-CEB1-4694-A5DE-33D1621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31F9F2FF-A17E-452E-8700-52C2877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在读取完成、草稿生成、审核通过和写入成功等边界保存恢复点</a:t>
            </a:r>
          </a:p>
        </p:txBody>
      </p:sp>
    </p:spTree>
    <p:extLst>
      <p:ext uri="{BB962C8B-B14F-4D97-AF65-F5344CB8AC3E}">
        <p14:creationId xmlns:p14="http://schemas.microsoft.com/office/powerpoint/2010/main" val="752521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C8CE100-9BEE-4464-B123-26956199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39DBFB38-CBD9-45AD-9AE0-FF43209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DE5F1851-F88B-4143-8F3A-66E6CD7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业务负责人定义目标和风险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3701E823-B412-4806-BD06-B7BD9716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76D001A1-4805-4FA1-884A-783DFF43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8B1F37AE-A42E-4964-ACC8-AC29744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6B8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21E42B7-87DA-42CA-AAB2-A91D58B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责任链：系统必须有可找到的负责人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AD11164-19B6-402E-97A6-B021013B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03632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业务负责人定义目标和风险；数据负责人管理来源与权限；工程负责人维护模型、工具、trace 和恢复机制；审核人决定指定高风险动作；运营人员监控并响应事件。责任不能归给“模型”</a:t>
            </a:r>
          </a:p>
        </p:txBody>
      </p:sp>
      <p:sp>
        <p:nvSpPr>
          <p:cNvPr id="9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7CF33610-BF1C-40CC-BABE-47A2F9CA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0" name="s9-takeaway">
            <a:extLst xmlns:a="http://schemas.openxmlformats.org/drawingml/2006/main">
              <a:ext uri="{FF2B5EF4-FFF2-40B4-BE49-F238E27FC236}">
                <a16:creationId xmlns:a16="http://schemas.microsoft.com/office/drawing/2014/main" id="{94114708-77B0-455D-87E0-71E6A994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业务负责人定义目标和风险</a:t>
            </a:r>
          </a:p>
        </p:txBody>
      </p:sp>
    </p:spTree>
    <p:extLst>
      <p:ext uri="{BB962C8B-B14F-4D97-AF65-F5344CB8AC3E}">
        <p14:creationId xmlns:p14="http://schemas.microsoft.com/office/powerpoint/2010/main" val="572278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63984BB4-0589-4BE3-A849-2974548A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A1124E85-E6EB-4861-8E78-0732B46B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4A84BC7F-3516-4CC7-8930-974363C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客户退款建议智能体的三层防线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2D081500-C507-4796-9849-0F4ABCA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4E9A75A4-4E62-4792-BD06-DD9F19A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B11A3C59-C231-4754-AFB4-5EF949B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0D4D68"/>
          </a:solidFill>
          <a:ln xmlns:a="http://schemas.openxmlformats.org/drawingml/2006/main" w="0">
            <a:solidFill>
              <a:srgbClr val="0D4D6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客户退款建议智能体的三层防线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D4602500-F976-40CC-9580-9F2B55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边界｜系统读取订单和售后政策，为客服生成退款建议，但不能自行付款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C241C11-D7F1-4187-8360-47E5831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机制｜离线集覆盖正常退款、超过期限、订单信息冲突和疑似重复申请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9FA7A5E9-5688-4CAD-A369-CFB46286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530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边界｜结果层检查建议是否符合政策，过程层检查是否读取了正确订单和当前政策，运营层监控响应时间、人工升级率和错误建议率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7EBC6352-9CF0-4E2D-8DB0-5D2FA8A4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155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边界｜当订单字段冲突、政策依据缺失、退款金额超过业务阈值，或同一查询连续失败两次时，任务进入人工队列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3FF696AE-E696-49B2-B6B7-99DE295A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启示｜审核页展示订单摘要、政策条款、建议金额、冲突字段和触发原因</a:t>
            </a:r>
          </a:p>
        </p:txBody>
      </p:sp>
      <p:sp>
        <p:nvSpPr>
          <p:cNvPr id="12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8114B825-19BB-4121-835F-A2CD7C8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1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621A35EB-FF6B-4C94-9E7E-80593353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客户退款建议智能体的三层防线</a:t>
            </a:r>
          </a:p>
        </p:txBody>
      </p:sp>
    </p:spTree>
    <p:extLst>
      <p:ext uri="{BB962C8B-B14F-4D97-AF65-F5344CB8AC3E}">
        <p14:creationId xmlns:p14="http://schemas.microsoft.com/office/powerpoint/2010/main" val="7849613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3C3AB031-09B8-4A81-97A4-C7368F9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CEEDDEAC-68EB-49DA-BE31-4C15B076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293FF553-3C70-42D0-853F-E7533B1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智能体可靠性：一次可验收练习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2A1EE318-DAA9-40C0-B766-3B02FA6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5DC25058-C235-4403-8A0E-5FF6533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3631F2EC-8BB4-4CEB-81C7-5649182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70B27BCE-3D66-4D9D-BD47-18183E7F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E44090BD-7A4A-4CC8-90F6-3377C40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8663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为“根据会议纪要生成并外发任务通知”的智能体设计一份运营方案；列出一条完整 trace 的字段，并标出需要脱敏的内容；各设计三项结果层、过程层和运营层指标，说明数据从哪里取得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A642D16C-2CC2-4A19-A96E-45752872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CDE2DF0E-2C87-4068-90D2-6F4244AA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AC797BE7-AC61-45A5-934F-DD738135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0C009CE6-6F87-4B8C-8AE6-D0D8869B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建立 12 条离线样本，至少包含缺负责人、日期冲突、工具超时和恶意指令四类边界；为失败分类写判定规则，并用两个复合故障区分主因与促成因素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8DD8BF4B-C5E9-4845-BF62-3F60DEFA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FD14CC55-F94B-4FE6-BA57-B5773D6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16310EC-CEBC-463C-BDD1-863F350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D719B962-2F43-4C27-ADA7-C0A2BEC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定义硬触发、质量触发、异常触发阈值，画出审核队列字段和处理优先级；在草稿、批准、外发三个阶段设置恢复点，说明外发结果未知时如何避免重复发送</a:t>
            </a:r>
          </a:p>
        </p:txBody>
      </p:sp>
    </p:spTree>
    <p:extLst>
      <p:ext uri="{BB962C8B-B14F-4D97-AF65-F5344CB8AC3E}">
        <p14:creationId xmlns:p14="http://schemas.microsoft.com/office/powerpoint/2010/main" val="431821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EB963B78-1E64-403B-874C-EC9CD0E1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CCF68443-63DF-4AF6-BADF-028762B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A1660716-33B6-4AF5-8EA9-497EF472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智能体可靠性：判断时先抓住三点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2878A498-F306-46F3-B306-C5874572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A5C579D6-0C3F-4C4F-8C0B-5FFD1B78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C4FF5E7D-BDC3-42CC-9A49-D06087D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472CD640-6916-48A2-B649-D2800FBB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C9BCB758-56C7-4004-97FD-A9F45F62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Trace 还原因果，三层指标判断系统表现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B8A6021A-2BB5-4F3A-829B-DDC62BD4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39461CE8-7CED-4674-8ABA-618C9747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D6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830FDA14-BE9E-4F8D-AE15-50230223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B3CFDF65-0B42-4614-AB33-426847C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人工介入需要明确触发条件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1B27DF18-62BC-446D-A485-C0239AD9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6B8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CF2DD282-8F45-43EE-AAB4-5A8FCD33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8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F05D1EF0-72FA-45CC-8810-F8375E36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9F8F5797-054F-473A-A0AB-D3CB32F3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19050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业务负责人定义目标和风险</a:t>
            </a:r>
          </a:p>
        </p:txBody>
      </p:sp>
    </p:spTree>
    <p:extLst>
      <p:ext uri="{BB962C8B-B14F-4D97-AF65-F5344CB8AC3E}">
        <p14:creationId xmlns:p14="http://schemas.microsoft.com/office/powerpoint/2010/main" val="16062591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A1E31DE8-AF0C-43A8-B42E-EF00E1E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CF6F08D2-B9A8-445B-979B-66978116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7604DE30-AE73-4921-A8B6-F6365EA6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智能体可靠性：依据、边界与延伸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C6193F9A-B840-4236-AFAA-17DB036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BF049294-9429-4CB7-91E8-2A3F6AB8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AG-005 · AG-005-S13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C9A1B6D4-5FF7-4E05-90B1-2ADF707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7FC"/>
          </a:solidFill>
          <a:ln xmlns:a="http://schemas.openxmlformats.org/drawingml/2006/main" w="9525">
            <a:solidFill>
              <a:srgbClr val="006B8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4C90091-9452-4ABD-A2B4-A9156E6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23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AgentBench: Evaluating LLMs as Agents：理解如何在多类交互环境中评测智能体能力，以及为什么只看静态问答不足以代表真实执行表现</a:t>
            </a:r>
          </a:p>
        </p:txBody>
      </p:sp>
      <p:sp>
        <p:nvSpPr>
          <p:cNvPr id="8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75A285FA-C067-4952-93A3-492E8CB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C8"/>
          </a:solidFill>
          <a:ln xmlns:a="http://schemas.openxmlformats.org/drawingml/2006/main" w="0">
            <a:solidFill>
              <a:srgbClr val="17A6C8"/>
            </a:solidFill>
            <a:prstDash val="solid"/>
          </a:ln>
        </p:spPr>
      </p:sp>
      <p:sp>
        <p:nvSpPr>
          <p:cNvPr id="9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4EB7E9FD-B39C-49AC-9FAB-1FC0E31F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D4D68"/>
                </a:solidFill>
                <a:latin typeface="PingFang SC"/>
                <a:ea typeface="PingFang SC"/>
                <a:cs typeface="PingFang SC"/>
              </a:rPr>
              <a:t>课程精编页用于讲授主线；播放器中的“原课件”模式保留团队 PowerPoint 精选页、真实图片和可播放视频。</a:t>
            </a:r>
          </a:p>
        </p:txBody>
      </p:sp>
    </p:spTree>
    <p:extLst>
      <p:ext uri="{BB962C8B-B14F-4D97-AF65-F5344CB8AC3E}">
        <p14:creationId xmlns:p14="http://schemas.microsoft.com/office/powerpoint/2010/main" val="1785575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2026-07-12T03:31:52.5450000Z</dcterms:created>
  <dcterms:modified xsi:type="dcterms:W3CDTF">2026-07-12T03:31:52.5450000Z</dcterms:modified>
</coreProperties>
</file>