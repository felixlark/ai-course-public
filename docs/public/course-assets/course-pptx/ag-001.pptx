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288827b1c948e5" /><Relationship Type="http://schemas.openxmlformats.org/officeDocument/2006/relationships/extended-properties" Target="/docProps/app.xml" Id="R5369a0786b564f97" /><Relationship Type="http://schemas.openxmlformats.org/officeDocument/2006/relationships/officeDocument" Target="/ppt/presentation.xml" Id="R41cabca873b74d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a98cf5526a4561"/>
  </p:sldMasterIdLst>
  <p:notesMasterIdLst>
    <p:notesMasterId xmlns:r="http://schemas.openxmlformats.org/officeDocument/2006/relationships" r:id="R8e33b65c2b4143b7"/>
  </p:notesMasterIdLst>
  <p:sldIdLst>
    <p:sldId xmlns:r="http://schemas.openxmlformats.org/officeDocument/2006/relationships" id="256" r:id="R68698cec71a84bf4"/>
    <p:sldId xmlns:r="http://schemas.openxmlformats.org/officeDocument/2006/relationships" id="257" r:id="Re8db4c4f95de4ab4"/>
    <p:sldId xmlns:r="http://schemas.openxmlformats.org/officeDocument/2006/relationships" id="258" r:id="R2da46a082f8c4874"/>
    <p:sldId xmlns:r="http://schemas.openxmlformats.org/officeDocument/2006/relationships" id="259" r:id="R83b324448b8545b5"/>
    <p:sldId xmlns:r="http://schemas.openxmlformats.org/officeDocument/2006/relationships" id="260" r:id="Rfdc6a69582a046b9"/>
    <p:sldId xmlns:r="http://schemas.openxmlformats.org/officeDocument/2006/relationships" id="261" r:id="R5da50f95606e40fc"/>
    <p:sldId xmlns:r="http://schemas.openxmlformats.org/officeDocument/2006/relationships" id="262" r:id="R2d5ed7acbae042ad"/>
    <p:sldId xmlns:r="http://schemas.openxmlformats.org/officeDocument/2006/relationships" id="263" r:id="Ra0af275c38a044c7"/>
    <p:sldId xmlns:r="http://schemas.openxmlformats.org/officeDocument/2006/relationships" id="264" r:id="Rba72f6a0e1e74696"/>
    <p:sldId xmlns:r="http://schemas.openxmlformats.org/officeDocument/2006/relationships" id="265" r:id="Rae8defa79ff74d60"/>
    <p:sldId xmlns:r="http://schemas.openxmlformats.org/officeDocument/2006/relationships" id="266" r:id="R290601ecc53f4567"/>
    <p:sldId xmlns:r="http://schemas.openxmlformats.org/officeDocument/2006/relationships" id="267" r:id="R430a99fa97ee45da"/>
    <p:sldId xmlns:r="http://schemas.openxmlformats.org/officeDocument/2006/relationships" id="268" r:id="R304e2512d45349b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445658661f4c7c" /><Relationship Type="http://schemas.openxmlformats.org/officeDocument/2006/relationships/slideMaster" Target="/ppt/slideMasters/slideMaster1.xml" Id="R6ba98cf5526a4561" /><Relationship Type="http://schemas.openxmlformats.org/officeDocument/2006/relationships/notesMaster" Target="/ppt/notesMasters/notesMaster1.xml" Id="R8e33b65c2b4143b7" /><Relationship Type="http://schemas.openxmlformats.org/officeDocument/2006/relationships/presProps" Target="/ppt/presProps.xml" Id="Re8e12024c7cb419c" /><Relationship Type="http://schemas.openxmlformats.org/officeDocument/2006/relationships/tableStyles" Target="/ppt/tableStyles.xml" Id="R63a1c8e0707b411f" /><Relationship Type="http://schemas.openxmlformats.org/officeDocument/2006/relationships/slide" Target="/ppt/slides/slide1.xml" Id="R68698cec71a84bf4" /><Relationship Type="http://schemas.openxmlformats.org/officeDocument/2006/relationships/slide" Target="/ppt/slides/slide2.xml" Id="Re8db4c4f95de4ab4" /><Relationship Type="http://schemas.openxmlformats.org/officeDocument/2006/relationships/slide" Target="/ppt/slides/slide3.xml" Id="R2da46a082f8c4874" /><Relationship Type="http://schemas.openxmlformats.org/officeDocument/2006/relationships/slide" Target="/ppt/slides/slide4.xml" Id="R83b324448b8545b5" /><Relationship Type="http://schemas.openxmlformats.org/officeDocument/2006/relationships/slide" Target="/ppt/slides/slide5.xml" Id="Rfdc6a69582a046b9" /><Relationship Type="http://schemas.openxmlformats.org/officeDocument/2006/relationships/slide" Target="/ppt/slides/slide6.xml" Id="R5da50f95606e40fc" /><Relationship Type="http://schemas.openxmlformats.org/officeDocument/2006/relationships/slide" Target="/ppt/slides/slide7.xml" Id="R2d5ed7acbae042ad" /><Relationship Type="http://schemas.openxmlformats.org/officeDocument/2006/relationships/slide" Target="/ppt/slides/slide8.xml" Id="Ra0af275c38a044c7" /><Relationship Type="http://schemas.openxmlformats.org/officeDocument/2006/relationships/slide" Target="/ppt/slides/slide9.xml" Id="Rba72f6a0e1e74696" /><Relationship Type="http://schemas.openxmlformats.org/officeDocument/2006/relationships/slide" Target="/ppt/slides/slide10.xml" Id="Rae8defa79ff74d60" /><Relationship Type="http://schemas.openxmlformats.org/officeDocument/2006/relationships/slide" Target="/ppt/slides/slide11.xml" Id="R290601ecc53f4567" /><Relationship Type="http://schemas.openxmlformats.org/officeDocument/2006/relationships/slide" Target="/ppt/slides/slide12.xml" Id="R430a99fa97ee45da" /><Relationship Type="http://schemas.openxmlformats.org/officeDocument/2006/relationships/slide" Target="/ppt/slides/slide13.xml" Id="R304e2512d45349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faa319977a41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2c6641187344d6" /><Relationship Type="http://schemas.openxmlformats.org/officeDocument/2006/relationships/notesMaster" Target="/ppt/notesMasters/notesMaster1.xml" Id="R70d446fc60614e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79001c13304479" /><Relationship Type="http://schemas.openxmlformats.org/officeDocument/2006/relationships/notesMaster" Target="/ppt/notesMasters/notesMaster1.xml" Id="R06f4c529899844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6331e5cbdc446b" /><Relationship Type="http://schemas.openxmlformats.org/officeDocument/2006/relationships/notesMaster" Target="/ppt/notesMasters/notesMaster1.xml" Id="Rccfa7cbab2ed4e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7315aeebc1440d" /><Relationship Type="http://schemas.openxmlformats.org/officeDocument/2006/relationships/notesMaster" Target="/ppt/notesMasters/notesMaster1.xml" Id="Rdd7baba4805844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aea70110f541f9" /><Relationship Type="http://schemas.openxmlformats.org/officeDocument/2006/relationships/notesMaster" Target="/ppt/notesMasters/notesMaster1.xml" Id="Rfd7ad8cd75b242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fd39ae0f5f4274" /><Relationship Type="http://schemas.openxmlformats.org/officeDocument/2006/relationships/notesMaster" Target="/ppt/notesMasters/notesMaster1.xml" Id="R96986cb00d9244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bd4321cbff464c" /><Relationship Type="http://schemas.openxmlformats.org/officeDocument/2006/relationships/notesMaster" Target="/ppt/notesMasters/notesMaster1.xml" Id="R7a876e3fc8bf48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bfc890598c46f0" /><Relationship Type="http://schemas.openxmlformats.org/officeDocument/2006/relationships/notesMaster" Target="/ppt/notesMasters/notesMaster1.xml" Id="R3bcdd6b48c714fa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d9bc01834141f4" /><Relationship Type="http://schemas.openxmlformats.org/officeDocument/2006/relationships/notesMaster" Target="/ppt/notesMasters/notesMaster1.xml" Id="R53cea7344cf243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eea3b05426416b" /><Relationship Type="http://schemas.openxmlformats.org/officeDocument/2006/relationships/notesMaster" Target="/ppt/notesMasters/notesMaster1.xml" Id="R7b7cba9a26c74e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b7258808a94531" /><Relationship Type="http://schemas.openxmlformats.org/officeDocument/2006/relationships/notesMaster" Target="/ppt/notesMasters/notesMaster1.xml" Id="R8e862c94d5504c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af0d6b3d3b4ab7" /><Relationship Type="http://schemas.openxmlformats.org/officeDocument/2006/relationships/notesMaster" Target="/ppt/notesMasters/notesMaster1.xml" Id="Re2a1fbf4374a42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acf3e96777b4f97" /><Relationship Type="http://schemas.openxmlformats.org/officeDocument/2006/relationships/notesMaster" Target="/ppt/notesMasters/notesMaster1.xml" Id="Ra1dc0cd7330540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92af43f6b847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360cc561f34f8c" /><Relationship Type="http://schemas.openxmlformats.org/officeDocument/2006/relationships/slideLayout" Target="/ppt/slideLayouts/slideLayout1.xml" Id="R75b1831f623b48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b1831f623b48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99b1d00aa429e" /><Relationship Type="http://schemas.openxmlformats.org/officeDocument/2006/relationships/notesSlide" Target="/ppt/notesSlides/notesSlide1.xml" Id="Rdf937ec8438f4d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0577d15891450e" /><Relationship Type="http://schemas.openxmlformats.org/officeDocument/2006/relationships/notesSlide" Target="/ppt/notesSlides/notesSlide2.xml" Id="R44fa80af77ab4c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dfe7ca58784425" /><Relationship Type="http://schemas.openxmlformats.org/officeDocument/2006/relationships/notesSlide" Target="/ppt/notesSlides/notesSlide3.xml" Id="R28f2e968613e48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b4b45ed224b75" /><Relationship Type="http://schemas.openxmlformats.org/officeDocument/2006/relationships/notesSlide" Target="/ppt/notesSlides/notesSlide4.xml" Id="R1b6415a9556147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2913e5cc2421e" /><Relationship Type="http://schemas.openxmlformats.org/officeDocument/2006/relationships/notesSlide" Target="/ppt/notesSlides/notesSlide5.xml" Id="R6bc7465317694c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f18aacd3e4edc" /><Relationship Type="http://schemas.openxmlformats.org/officeDocument/2006/relationships/notesSlide" Target="/ppt/notesSlides/notesSlide6.xml" Id="Ra6592ee3c7954f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32c79b3d7443b" /><Relationship Type="http://schemas.openxmlformats.org/officeDocument/2006/relationships/notesSlide" Target="/ppt/notesSlides/notesSlide7.xml" Id="Ra0298e1c57f74e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5b18b314a24e9b" /><Relationship Type="http://schemas.openxmlformats.org/officeDocument/2006/relationships/notesSlide" Target="/ppt/notesSlides/notesSlide8.xml" Id="R6d294d57461c49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25d8bccf394e6a" /><Relationship Type="http://schemas.openxmlformats.org/officeDocument/2006/relationships/notesSlide" Target="/ppt/notesSlides/notesSlide9.xml" Id="Rd4c6771657fd43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9b3d5f336c45f4" /><Relationship Type="http://schemas.openxmlformats.org/officeDocument/2006/relationships/notesSlide" Target="/ppt/notesSlides/notesSlide10.xml" Id="Ra91ce471498947c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3f2ff468d4bf9" /><Relationship Type="http://schemas.openxmlformats.org/officeDocument/2006/relationships/notesSlide" Target="/ppt/notesSlides/notesSlide11.xml" Id="R70e0f1a9c5694b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74ddca87c459a" /><Relationship Type="http://schemas.openxmlformats.org/officeDocument/2006/relationships/notesSlide" Target="/ppt/notesSlides/notesSlide12.xml" Id="R3231a99343e64b1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f64e49972473d" /><Relationship Type="http://schemas.openxmlformats.org/officeDocument/2006/relationships/notesSlide" Target="/ppt/notesSlides/notesSlide13.xml" Id="Rcb1dbde34f8b46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65153C84-9349-4476-B9C0-A728C7B1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9A208FA0-3E68-4073-B562-E7E54C63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DBE64C88-8708-44DD-AA2C-A73F9BA7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61CF45BB-C0BE-478C-889C-FEBCA47F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AD548E01-20B4-410E-971B-B476104F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9E905466-4124-4134-8D64-6879173C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8AC4B280-E176-4A1A-A27D-B24A886E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4C0654C-1CBB-4E6E-AD0D-6AC450E8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Loop 与 ReAct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E748785-18DA-4165-91C5-86720A37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理解智能体如何在观察、推理、行动和反馈之间循环推进任务。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A4B66066-27B5-40A7-A126-373300D2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一次大模型调用通常是“给出输入，得到输出”。智能体则要在变化的环境中持续工作：它读取当前状态，选择一个动作，取得新证据，再决定继续、改道还是停止。因此…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37669CA3-4FF2-4D79-B938-CCF6DD39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BFEB5AD1-3F51-40A5-9AF1-3E79AFD6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AG-001 · AG-001-S01</a:t>
            </a:r>
          </a:p>
        </p:txBody>
      </p:sp>
    </p:spTree>
    <p:extLst>
      <p:ext uri="{BB962C8B-B14F-4D97-AF65-F5344CB8AC3E}">
        <p14:creationId xmlns:p14="http://schemas.microsoft.com/office/powerpoint/2010/main" val="4362370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96382224-4181-4019-80D4-96DB79F5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C29E9BDD-C0B8-4030-BE24-1DA2DF62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DCF2289C-78CF-4247-A63B-0112925E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AC898B0D-D458-490A-A9E5-8EDE7D7F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FCCFE620-1E85-4545-B0CF-278CFB6A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0080100A-E098-4A2D-93AE-261B53F0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 Observe—Reason/Plan—Act—Observe—Evaluate 循环，并说明每一步的输入和输出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7DEAE995-ADF0-4A65-8167-8E3D8D20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 ReAct 的“推理—行动—观察”交错方式解释智能体如何根据环境反馈修正下一步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CC3DA80D-9E06-4CEC-859D-A260D337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为一个任务写出成功、受阻、超限、风险升级和人工终止等停止条件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0ADBA28A-49D5-46AD-8F4E-FB5363E6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阅读一段最小 trace，判断智能体在哪一步偏离目标以及应从哪里恢复</a:t>
            </a:r>
          </a:p>
        </p:txBody>
      </p:sp>
    </p:spTree>
    <p:extLst>
      <p:ext uri="{BB962C8B-B14F-4D97-AF65-F5344CB8AC3E}">
        <p14:creationId xmlns:p14="http://schemas.microsoft.com/office/powerpoint/2010/main" val="4015558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04E7FBE6-F3A7-4FD4-A407-01E479F0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41EDE8F5-F0C9-4AAC-8EF9-F082754A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3B7C1D8F-3445-4EE6-93CB-ED063E962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并非所有问题都需要智能体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44B1DDAC-F6A0-4256-84D3-AD969128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720ED139-FDBB-4A13-ACBF-7325F7E6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09CDF4A-7D50-4574-93CE-E3957219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14A6DCC-D288-4036-BFE7-75B9555F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先区分模型、工作流与智能体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4D5A676-F3B8-4F7E-ADE8-CD610BA2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并非所有问题都需要智能体。固定流程能稳定解决的任务，使用工作流通常更便宜、更容易测试。只有当任务需要根据中间结果选择路径、调用不同工具或处理开放环境时…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BA87F66-C004-4CDB-A60A-64E33F0F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AACE6D78-077D-4E28-81D5-D1342BF3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Observe：把事实与假设分开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68E2979-9394-4AC9-BC22-0EABC002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观察不是把所有上下文一次性塞给模型，而是获取当前决策所需的证据。一次可靠观察至少回答五个问题：目标是什么、已经完成什么、仍缺什么、可以使用哪些工具、当前有哪些约束。工具返回值、文件内容…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20EF349A-EFAB-4B5E-9BCD-71CB761B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E3D0DE04-8905-472D-A700-C0914962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并非所有问题都需要智能体</a:t>
            </a:r>
          </a:p>
        </p:txBody>
      </p:sp>
    </p:spTree>
    <p:extLst>
      <p:ext uri="{BB962C8B-B14F-4D97-AF65-F5344CB8AC3E}">
        <p14:creationId xmlns:p14="http://schemas.microsoft.com/office/powerpoint/2010/main" val="8181080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E5412D72-6919-4689-9E10-185556DF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C9282C3C-1421-4B8F-BE51-CC39EF48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15575931-B3AE-4AD1-A14E-604B76DD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Reason 关注“当前证据说明什么”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546887D5-67D3-45C1-95EA-8FA4874A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497369C9-BF9E-4488-8F7B-BD66DA40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3844271-976A-44E5-9B9B-038A39BD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3A2FB36-96B8-447B-A326-D5B01787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Reason / Plan：选择最小可验证的下一步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A924A0F-777C-46C9-BC42-49F6062B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Reason 关注“当前证据说明什么”，Plan 关注“接下来做什么”。简单任务可以只选择一个下一动作；长任务则需要把目标拆成阶段、依赖和验收点。计划不是不可修改的剧本…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24F68D2-7084-434B-AFC5-B6407584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AF06CB8C-6BCD-420D-92E7-ED6D0ACA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Act：以最小权限改变状态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2E2BEA3-C9DB-40A9-827B-26273A61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行动通过工具发生，例如查询资料、读取文件、调用接口、运行测试或修改记录。每个动作都应带有明确参数、预期结果、权限级别和失败处理。只读动作与写入动作要分开；可逆修改与外发、删除…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FD297F20-96F1-490E-821B-47F507B3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638AAB6B-9156-4371-99C9-11E35F11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Reason 关注“当前证据说明什么”</a:t>
            </a:r>
          </a:p>
        </p:txBody>
      </p:sp>
    </p:spTree>
    <p:extLst>
      <p:ext uri="{BB962C8B-B14F-4D97-AF65-F5344CB8AC3E}">
        <p14:creationId xmlns:p14="http://schemas.microsoft.com/office/powerpoint/2010/main" val="16588840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CEB05BEA-84D7-48BA-9D82-300011E7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2FD7A4EA-C942-4BB3-AD20-12A3FB2E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01B0E0D7-7630-4AB4-BA31-A0965499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工具调用完成不等于任务完成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161871A0-BDD8-4FA7-939C-499CCEA0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8EF079C8-00A6-4EEC-BD67-88D96E67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AB143D4-866E-4CB3-A6CE-F7409847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0E9C873-6957-47A5-B207-62148472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Observe again：把工具结果变成新状态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641E160-3BF5-489A-AD31-B73BBA5E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工具调用完成不等于任务完成。智能体要读取真实返回：是否成功、返回了什么、是否只完成一部分、是否出现警告、环境是否被改变。超时不能被解释为成功，空结果也不能被自动补写成“没有问题”…</a:t>
            </a:r>
          </a:p>
        </p:txBody>
      </p:sp>
      <p:sp>
        <p:nvSpPr>
          <p:cNvPr id="9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B77EEB7A-24A6-420A-95A8-3000E280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5-takeaway">
            <a:extLst xmlns:a="http://schemas.openxmlformats.org/drawingml/2006/main">
              <a:ext uri="{FF2B5EF4-FFF2-40B4-BE49-F238E27FC236}">
                <a16:creationId xmlns:a16="http://schemas.microsoft.com/office/drawing/2014/main" id="{CD77ACE5-2D3C-4FEC-8743-31BE56F4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工具调用完成不等于任务完成</a:t>
            </a:r>
          </a:p>
        </p:txBody>
      </p:sp>
    </p:spTree>
    <p:extLst>
      <p:ext uri="{BB962C8B-B14F-4D97-AF65-F5344CB8AC3E}">
        <p14:creationId xmlns:p14="http://schemas.microsoft.com/office/powerpoint/2010/main" val="18445093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BFAB87FE-2A74-40A8-993B-ACD931CC4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78A5BA04-3596-405C-993A-E773EF95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510053B6-5A55-40C4-B375-E7F9C7CC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Evaluate 把当前结果与验收标准比较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51D172A8-063C-45F9-A2E5-8B46E0A1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B16E7EC8-9B5E-4194-BB5E-1FA81A65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9126D21-3942-40E9-B6D5-4FBD8744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977B522-B033-4F2F-8C92-C84BC33A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Evaluate：对照标准决定继续还是停止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C04B4E6-CF64-4EAD-BEF5-D4F2FFB6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Evaluate 把当前结果与验收标准比较。它既检查最终目标，也检查过程约束：结果是否完整，证据是否足够，是否使用了允许的数据和权限，是否引入新的风险。如果不满足标准…</a:t>
            </a:r>
          </a:p>
        </p:txBody>
      </p:sp>
      <p:sp>
        <p:nvSpPr>
          <p:cNvPr id="9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D704756E-F274-489F-9F95-6437DF79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6-takeaway">
            <a:extLst xmlns:a="http://schemas.openxmlformats.org/drawingml/2006/main">
              <a:ext uri="{FF2B5EF4-FFF2-40B4-BE49-F238E27FC236}">
                <a16:creationId xmlns:a16="http://schemas.microsoft.com/office/drawing/2014/main" id="{5573EE45-E2FF-41F9-ACC4-ED9228F4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Evaluate 把当前结果与验收标准比较</a:t>
            </a:r>
          </a:p>
        </p:txBody>
      </p:sp>
    </p:spTree>
    <p:extLst>
      <p:ext uri="{BB962C8B-B14F-4D97-AF65-F5344CB8AC3E}">
        <p14:creationId xmlns:p14="http://schemas.microsoft.com/office/powerpoint/2010/main" val="16501525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31C3BE5E-931D-4B5E-9753-81020432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CE3FD163-AB5B-4E5A-8B4B-B1725499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97E35E40-946F-4477-8DD4-32B608A2F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ReAct：让推理与行动交错发生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BD40CA84-41A6-437E-BB8E-D7EA349C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33FD43DD-9C8D-4D91-A642-A2BC98274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0728A89-959D-4241-A2B1-6CDA238E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F85421A-E110-4181-8B15-62B26672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ReAct：让推理与行动交错发生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5AD033D-D421-4D01-8DFA-505A9A55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156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ReAct 的关键思想，是让任务求解在“形成行动依据—采取行动—读取观察”之间交错进行。模型不必在一开始猜出全部步骤，而是用环境反馈更新判断。例如，检索未找到目标资料时，它可以调整关键词…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23AD0FD-5EED-413C-BEB5-3D9B497E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88DEDDA-2CFE-428D-950F-D026E455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工程系统不需要保存或暴露模型的全部内部思维。trace 更适合记录简洁的决策摘要、所依据的证据、工具参数和结果，使过程能够审计，同时避免把敏感上下文或冗长推理写入日志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491E22CE-6EB5-46E2-8FB8-00281E68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4B17A508-9D67-45B2-AD0B-4C9B3D5F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ReAct：让推理与行动交错发生</a:t>
            </a:r>
          </a:p>
        </p:txBody>
      </p:sp>
    </p:spTree>
    <p:extLst>
      <p:ext uri="{BB962C8B-B14F-4D97-AF65-F5344CB8AC3E}">
        <p14:creationId xmlns:p14="http://schemas.microsoft.com/office/powerpoint/2010/main" val="14214046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9136E5FB-C1C2-41BC-85CF-0D2A9138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13EC27FA-DAF1-4D20-9FA9-97DA2905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C8BEC25E-FDFD-495A-A27C-E45C5ADD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停止条件：完成只是其中一种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BA02B88F-AB82-44CF-BC5D-1057B63E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0BBCC222-8FFC-47C7-8A81-A0EEF3B7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E477900-84B2-4260-BB75-441C2F91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5BB3305-CDAD-477F-9EB2-7A0F08B2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停止条件：完成只是其中一种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58DCA33-33FF-4D5E-9549-FB5C3324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如果没有停止条件，智能体可能反复调用同一工具、在错误方向上持续消耗资源，甚至把不确定结果当作完成。停止规则应在执行前定义，并在每轮 Evaluate 中检查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332E6ED6-8787-4A74-920E-4432F25B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44245B26-9A25-45B5-92FC-21B3A075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停止条件：完成只是其中一种</a:t>
            </a:r>
          </a:p>
        </p:txBody>
      </p:sp>
    </p:spTree>
    <p:extLst>
      <p:ext uri="{BB962C8B-B14F-4D97-AF65-F5344CB8AC3E}">
        <p14:creationId xmlns:p14="http://schemas.microsoft.com/office/powerpoint/2010/main" val="16074352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9DB8C90C-A001-425B-8405-02A23A10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4A57543B-F5E0-4368-A582-354C7A61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DA902362-994C-40E8-8F98-4D977CC5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8E7C5E50-E8EB-4379-9018-C52095AE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99E62BC-8294-47E9-AE5A-42DA84ED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6B0CA39-491F-4E5A-9AFD-DA580D77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B58AEA3-7349-4A44-A85B-63E5C839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55A9E94-861E-4AF3-B7E3-7F6A0D06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9635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一条最小 trace 可以包含： task id 、 step id 、时间、当前目标、观察来源、决策摘要、动作名称、输入参数摘要、权限级别、工具结果、评测结论、状态变化、下一步和停止原因…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DF0A32E-2289-4651-826F-8AB6329B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D54F449-D721-47C8-BDD6-7823C644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trace 的价值不是“记录得越多越好”，而是回答三个问题：系统为什么采取这一步、这一步实际发生了什么、失败后从哪里恢复。只有能支持这三个问题的记录，才真正服务于调试和责任追踪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57AE2516-85CF-48A8-8050-00F25089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C0E32487-86B9-476E-8675-8AB0490D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</p:spTree>
    <p:extLst>
      <p:ext uri="{BB962C8B-B14F-4D97-AF65-F5344CB8AC3E}">
        <p14:creationId xmlns:p14="http://schemas.microsoft.com/office/powerpoint/2010/main" val="5878175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B93EEB72-984C-49DE-8D85-CFE71884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C32A1A06-E2A5-4AA5-8B26-F21002AC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081BEF71-2567-4A76-A6FB-7A43A2F1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从“整理会议纪要”看一次完整循环必须经过边界验证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0E2A5557-28B8-43C3-B0A3-1C326656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7462AE36-FE28-4388-91D6-F2098741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9C08BCD6-8F86-4553-AFDA-9C7F0A71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从“整理会议纪要”看一次完整循环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56DDE428-E321-44EB-AE52-AACA159E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场景｜假设目标是从三份会议纪要中生成待办清单，并要求每条待办都有负责人和截止时间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A9105031-6B4B-493D-8E3B-7488E5F7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1345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机制｜Observe： 确认三份文件均可读取，记录输出格式，并发现其中一份纪要没有明确截止时间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565CBCF1-A676-49A8-B796-05837165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结果｜Reason / Plan： 先抽取可确认的任务，再把缺失字段列为待澄清项，不凭空补日期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401A03C8-B458-4B0E-99E3-D92F8652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边界｜Act： 调用文档读取工具，逐份提取“事项—负责人—截止时间—原文位置”</a:t>
            </a:r>
          </a:p>
        </p:txBody>
      </p:sp>
      <p:sp>
        <p:nvSpPr>
          <p:cNvPr id="11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51AACFFC-3B54-47A7-8530-22F8D2483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382249A0-732B-41C3-80D7-7895D2A4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从“整理会议纪要”看一次完整循环必须经过边界验证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177230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53776B89-4C5C-4ACF-A5FE-F849CA91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DB7FD82F-DC2E-42BA-BA9A-090C1BDF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B83082F5-16DB-4D52-AF42-2EF1B5C8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324568A9-A437-4702-8BCC-0B2853F6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501F235D-29C8-4923-B0AC-51C34E8E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00964C36-9003-4520-855F-F88C3D45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EBA6C839-3FD9-4F61-B9F4-DD7B5CA3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E68699B5-3DFB-4BE6-9888-7032C68B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选择一个“查询两天内的天气并给出出行建议”或“检查一份表格中的缺失字段”任务，完成以下练习：；写出初始观察清单，至少区分三项事实和两项待验证假设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5408A30B-48EA-4369-AA0E-2106CB81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7FEC7494-1130-456E-9E13-628243C4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EE8E69BE-A16D-4FE6-813B-394434A2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ED292234-E3D8-4F14-9105-A9994000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把任务画成 Observe—Reason/Plan—Act—Observe—Evaluate 循环，并为每个动作写出预期证据。；设计至少四类停止条件，其中必须包括成功停止、受阻停止和风险升级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924BCBEF-4B9D-4144-ADC0-F3729ADD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06FCB92A-63CD-4F2A-9D45-1D4AD8A8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5484720D-AAB1-4DE5-9847-029848C6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2BD51C32-346E-4FE9-8D7F-03C66D76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75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用表格模拟五条 trace 记录，故意加入一次工具失败，再标出系统应如何恢复。；验收时，不只检查最终答案，还要检查每个结论能否回到观察证据，失败是否被如实记录，达到停止条件后是否立即结束</a:t>
            </a:r>
          </a:p>
        </p:txBody>
      </p:sp>
    </p:spTree>
    <p:extLst>
      <p:ext uri="{BB962C8B-B14F-4D97-AF65-F5344CB8AC3E}">
        <p14:creationId xmlns:p14="http://schemas.microsoft.com/office/powerpoint/2010/main" val="7288141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EB943743-FF9F-4AC5-B790-F3A5EFC1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BDEFD0C3-FF6A-4E75-A016-98B6E40C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CB444553-9186-4E3F-A6AC-C68A019B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EF8B9F15-0034-4E23-AD30-240E5C22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FEACB714-6D6B-458C-8764-B20CB22B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83245E0A-7781-4AE1-9015-CD780DF2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58C9217E-8C2B-4205-A88E-9B7E775C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FE7226D7-A172-4588-9A58-5D8B0DF1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并非所有问题都需要智能体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4CB73A32-CD1B-4120-AF2A-003AC8E2B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FC7C9032-544A-4E24-8556-92877986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83CB8949-B45C-46C0-B758-AFFEDB82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B744C59-BEEA-4CEE-AE11-650491E2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Evaluate 把当前结果与验收标准比较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F7A1735C-A2FD-4EFD-AB1B-4B44DCD0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CFBB2955-1A6C-4D5E-969A-F924C3A3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95C6A4A6-EC3D-49D6-8FF6-E58A2086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7DCC9280-801F-4C29-8D38-9C785BFC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</p:spTree>
    <p:extLst>
      <p:ext uri="{BB962C8B-B14F-4D97-AF65-F5344CB8AC3E}">
        <p14:creationId xmlns:p14="http://schemas.microsoft.com/office/powerpoint/2010/main" val="11067166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31F0CCC0-E8CF-4361-BD47-435BE68B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85C4EE08-7609-4A07-8C69-77E2EC22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0A11EF96-BCD0-4626-AABF-00CB26F6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0E4948A9-1C12-4B72-A7F3-A694D016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F26CD5AC-B0ED-4D9E-9AAF-8A589952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2DC343E0-E00B-4346-BBE1-2606D759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4F886E39-E45F-46A1-BF43-FF08D59E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ReAct: Synergizing Reasoning and Acting in Language Models：理解推理与环境行动交错组织的代表性论文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20112D2B-7FA2-47B9-AB24-9BF6728C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9DD263F2-7866-426F-BB3A-887E2165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1623133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2026-07-11T12:05:18.0730000Z</dcterms:created>
  <dcterms:modified xsi:type="dcterms:W3CDTF">2026-07-11T12:05:18.0730000Z</dcterms:modified>
</coreProperties>
</file>