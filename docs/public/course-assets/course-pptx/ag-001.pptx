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357cfe0c164e69" /><Relationship Type="http://schemas.openxmlformats.org/officeDocument/2006/relationships/extended-properties" Target="/docProps/app.xml" Id="Ref431f888b43470f" /><Relationship Type="http://schemas.openxmlformats.org/officeDocument/2006/relationships/officeDocument" Target="/ppt/presentation.xml" Id="R56d4e4bdc31b43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6af4d1a61b4bcf"/>
  </p:sldMasterIdLst>
  <p:notesMasterIdLst>
    <p:notesMasterId xmlns:r="http://schemas.openxmlformats.org/officeDocument/2006/relationships" r:id="Rbe2a577cd2b14ca5"/>
  </p:notesMasterIdLst>
  <p:sldIdLst>
    <p:sldId xmlns:r="http://schemas.openxmlformats.org/officeDocument/2006/relationships" id="256" r:id="Rd7b215f7ff094cad"/>
    <p:sldId xmlns:r="http://schemas.openxmlformats.org/officeDocument/2006/relationships" id="257" r:id="R2f74172f37bd4c5a"/>
    <p:sldId xmlns:r="http://schemas.openxmlformats.org/officeDocument/2006/relationships" id="258" r:id="Ra9e83c8efb86400d"/>
    <p:sldId xmlns:r="http://schemas.openxmlformats.org/officeDocument/2006/relationships" id="259" r:id="R80d2e21e24fe4ab5"/>
    <p:sldId xmlns:r="http://schemas.openxmlformats.org/officeDocument/2006/relationships" id="260" r:id="R82c730353a754901"/>
    <p:sldId xmlns:r="http://schemas.openxmlformats.org/officeDocument/2006/relationships" id="261" r:id="Rcadb59ba42d64a31"/>
    <p:sldId xmlns:r="http://schemas.openxmlformats.org/officeDocument/2006/relationships" id="262" r:id="Rbbffc18567274473"/>
    <p:sldId xmlns:r="http://schemas.openxmlformats.org/officeDocument/2006/relationships" id="263" r:id="Rd844a16b4f034dc1"/>
    <p:sldId xmlns:r="http://schemas.openxmlformats.org/officeDocument/2006/relationships" id="264" r:id="R7c2edfb336c142d9"/>
    <p:sldId xmlns:r="http://schemas.openxmlformats.org/officeDocument/2006/relationships" id="265" r:id="R35b6e5b9928545d5"/>
    <p:sldId xmlns:r="http://schemas.openxmlformats.org/officeDocument/2006/relationships" id="266" r:id="R1336c84dbe564ee8"/>
    <p:sldId xmlns:r="http://schemas.openxmlformats.org/officeDocument/2006/relationships" id="267" r:id="Rfe0fb3e12500434c"/>
    <p:sldId xmlns:r="http://schemas.openxmlformats.org/officeDocument/2006/relationships" id="268" r:id="Rfe8e9f504a8a49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040f788cbf4c1a" /><Relationship Type="http://schemas.openxmlformats.org/officeDocument/2006/relationships/slideMaster" Target="/ppt/slideMasters/slideMaster1.xml" Id="R2b6af4d1a61b4bcf" /><Relationship Type="http://schemas.openxmlformats.org/officeDocument/2006/relationships/notesMaster" Target="/ppt/notesMasters/notesMaster1.xml" Id="Rbe2a577cd2b14ca5" /><Relationship Type="http://schemas.openxmlformats.org/officeDocument/2006/relationships/presProps" Target="/ppt/presProps.xml" Id="R153cc56e75844284" /><Relationship Type="http://schemas.openxmlformats.org/officeDocument/2006/relationships/tableStyles" Target="/ppt/tableStyles.xml" Id="R245ad1f9bd0f4907" /><Relationship Type="http://schemas.openxmlformats.org/officeDocument/2006/relationships/slide" Target="/ppt/slides/slide1.xml" Id="Rd7b215f7ff094cad" /><Relationship Type="http://schemas.openxmlformats.org/officeDocument/2006/relationships/slide" Target="/ppt/slides/slide2.xml" Id="R2f74172f37bd4c5a" /><Relationship Type="http://schemas.openxmlformats.org/officeDocument/2006/relationships/slide" Target="/ppt/slides/slide3.xml" Id="Ra9e83c8efb86400d" /><Relationship Type="http://schemas.openxmlformats.org/officeDocument/2006/relationships/slide" Target="/ppt/slides/slide4.xml" Id="R80d2e21e24fe4ab5" /><Relationship Type="http://schemas.openxmlformats.org/officeDocument/2006/relationships/slide" Target="/ppt/slides/slide5.xml" Id="R82c730353a754901" /><Relationship Type="http://schemas.openxmlformats.org/officeDocument/2006/relationships/slide" Target="/ppt/slides/slide6.xml" Id="Rcadb59ba42d64a31" /><Relationship Type="http://schemas.openxmlformats.org/officeDocument/2006/relationships/slide" Target="/ppt/slides/slide7.xml" Id="Rbbffc18567274473" /><Relationship Type="http://schemas.openxmlformats.org/officeDocument/2006/relationships/slide" Target="/ppt/slides/slide8.xml" Id="Rd844a16b4f034dc1" /><Relationship Type="http://schemas.openxmlformats.org/officeDocument/2006/relationships/slide" Target="/ppt/slides/slide9.xml" Id="R7c2edfb336c142d9" /><Relationship Type="http://schemas.openxmlformats.org/officeDocument/2006/relationships/slide" Target="/ppt/slides/slide10.xml" Id="R35b6e5b9928545d5" /><Relationship Type="http://schemas.openxmlformats.org/officeDocument/2006/relationships/slide" Target="/ppt/slides/slide11.xml" Id="R1336c84dbe564ee8" /><Relationship Type="http://schemas.openxmlformats.org/officeDocument/2006/relationships/slide" Target="/ppt/slides/slide12.xml" Id="Rfe0fb3e12500434c" /><Relationship Type="http://schemas.openxmlformats.org/officeDocument/2006/relationships/slide" Target="/ppt/slides/slide13.xml" Id="Rfe8e9f504a8a49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4f089ca6a040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6f2dc90404277" /><Relationship Type="http://schemas.openxmlformats.org/officeDocument/2006/relationships/notesMaster" Target="/ppt/notesMasters/notesMaster1.xml" Id="R954d17264eb54e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2f2bd3ef004403" /><Relationship Type="http://schemas.openxmlformats.org/officeDocument/2006/relationships/notesMaster" Target="/ppt/notesMasters/notesMaster1.xml" Id="Rf1580d559d5741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9af20a23a84bf9" /><Relationship Type="http://schemas.openxmlformats.org/officeDocument/2006/relationships/notesMaster" Target="/ppt/notesMasters/notesMaster1.xml" Id="R2d56894904a74e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0a36ebfab64f1a" /><Relationship Type="http://schemas.openxmlformats.org/officeDocument/2006/relationships/notesMaster" Target="/ppt/notesMasters/notesMaster1.xml" Id="R6cc7316eb52b48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6f723ff55248de" /><Relationship Type="http://schemas.openxmlformats.org/officeDocument/2006/relationships/notesMaster" Target="/ppt/notesMasters/notesMaster1.xml" Id="Rbc63af71860448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4628a550a64b23" /><Relationship Type="http://schemas.openxmlformats.org/officeDocument/2006/relationships/notesMaster" Target="/ppt/notesMasters/notesMaster1.xml" Id="R4a7521533ff94a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c43c08d839437a" /><Relationship Type="http://schemas.openxmlformats.org/officeDocument/2006/relationships/notesMaster" Target="/ppt/notesMasters/notesMaster1.xml" Id="R4a1ceafd588d4a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bdb7d7f2dc4277" /><Relationship Type="http://schemas.openxmlformats.org/officeDocument/2006/relationships/notesMaster" Target="/ppt/notesMasters/notesMaster1.xml" Id="R0233df16acdb4e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f228c4361c40f3" /><Relationship Type="http://schemas.openxmlformats.org/officeDocument/2006/relationships/notesMaster" Target="/ppt/notesMasters/notesMaster1.xml" Id="Rc237336a7f8b4b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4e366f5a3a4826" /><Relationship Type="http://schemas.openxmlformats.org/officeDocument/2006/relationships/notesMaster" Target="/ppt/notesMasters/notesMaster1.xml" Id="R083f736ea60940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5324a9d83245ae" /><Relationship Type="http://schemas.openxmlformats.org/officeDocument/2006/relationships/notesMaster" Target="/ppt/notesMasters/notesMaster1.xml" Id="R763d2adce7644e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21ccb74ed74e42" /><Relationship Type="http://schemas.openxmlformats.org/officeDocument/2006/relationships/notesMaster" Target="/ppt/notesMasters/notesMaster1.xml" Id="R398314b73fab42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110fdfadd44ccb" /><Relationship Type="http://schemas.openxmlformats.org/officeDocument/2006/relationships/notesMaster" Target="/ppt/notesMasters/notesMaster1.xml" Id="R3bf63700e06546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b688fae8e4e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11d6831b064ec5" /><Relationship Type="http://schemas.openxmlformats.org/officeDocument/2006/relationships/slideLayout" Target="/ppt/slideLayouts/slideLayout1.xml" Id="R61af5b74200144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af5b74200144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1605409e54178" /><Relationship Type="http://schemas.openxmlformats.org/officeDocument/2006/relationships/notesSlide" Target="/ppt/notesSlides/notesSlide1.xml" Id="Rb67c75d5f1d24f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0db4564874ab1" /><Relationship Type="http://schemas.openxmlformats.org/officeDocument/2006/relationships/notesSlide" Target="/ppt/notesSlides/notesSlide2.xml" Id="R9901bf140b8e42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840429d6f422b" /><Relationship Type="http://schemas.openxmlformats.org/officeDocument/2006/relationships/notesSlide" Target="/ppt/notesSlides/notesSlide3.xml" Id="R106dd025c6ca48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b2f2dfe674812" /><Relationship Type="http://schemas.openxmlformats.org/officeDocument/2006/relationships/notesSlide" Target="/ppt/notesSlides/notesSlide4.xml" Id="Rfe5cd6dd6a9748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59814750b4216" /><Relationship Type="http://schemas.openxmlformats.org/officeDocument/2006/relationships/notesSlide" Target="/ppt/notesSlides/notesSlide5.xml" Id="Ra53fe538175448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d3a6918ba4373" /><Relationship Type="http://schemas.openxmlformats.org/officeDocument/2006/relationships/notesSlide" Target="/ppt/notesSlides/notesSlide6.xml" Id="Re805616195d945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a27f3864c49e6" /><Relationship Type="http://schemas.openxmlformats.org/officeDocument/2006/relationships/notesSlide" Target="/ppt/notesSlides/notesSlide7.xml" Id="R065260f0b65f42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94c69af894b49" /><Relationship Type="http://schemas.openxmlformats.org/officeDocument/2006/relationships/notesSlide" Target="/ppt/notesSlides/notesSlide8.xml" Id="R3ce90243edbc41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5702c1f704b60" /><Relationship Type="http://schemas.openxmlformats.org/officeDocument/2006/relationships/notesSlide" Target="/ppt/notesSlides/notesSlide9.xml" Id="Rfc7f2513229341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084e016844e05" /><Relationship Type="http://schemas.openxmlformats.org/officeDocument/2006/relationships/notesSlide" Target="/ppt/notesSlides/notesSlide10.xml" Id="Re2ca86f43e374f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5cd6999204f5c" /><Relationship Type="http://schemas.openxmlformats.org/officeDocument/2006/relationships/notesSlide" Target="/ppt/notesSlides/notesSlide11.xml" Id="Ra422d5bda79b4d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79d5b3ba84b28" /><Relationship Type="http://schemas.openxmlformats.org/officeDocument/2006/relationships/notesSlide" Target="/ppt/notesSlides/notesSlide12.xml" Id="Rb614cbd409f54e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a3fc3a20a45d8" /><Relationship Type="http://schemas.openxmlformats.org/officeDocument/2006/relationships/notesSlide" Target="/ppt/notesSlides/notesSlide13.xml" Id="Rae67b834d90943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AA1E195F-5403-488A-912F-8C22FBF6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326622AA-48BF-499E-9F3C-4E816A40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463C051B-095E-4F03-92B4-8F135C12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6C8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197C64BA-F791-4FDB-92A3-27C27763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D2B09194-BA9B-4424-9C6B-15E48CEF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021B29AF-9534-4930-8DE8-A519E6D4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6C8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2E22946-7CDA-45C8-9D86-F80FAAD8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A6C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A6C8"/>
                </a:solidFill>
                <a:latin typeface="PingFang SC"/>
                <a:ea typeface="PingFang SC"/>
                <a:cs typeface="PingFang SC"/>
              </a:rPr>
              <a:t>第 2 章 · AI 智能体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BA18743-25DD-48B9-AD6B-21FABF90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 Loop 与 ReAct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FC49D1C-8248-430B-9A81-30095B80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理解智能体如何在观察、推理、行动和反馈之间循环推进任务。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46548DA0-D1B4-4E5A-ABB6-7EC4422E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一次大模型调用通常是“给出输入；得到输出”，智能体则要在变化的环境中持续工作；它读取当前状态，选择一个动作；取得新证据，再决定继续、改道还是停止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4570282A-8A34-4564-8AD7-17EA9243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1370FE32-0A7E-4C93-8E37-5777799F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A6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A6C8"/>
                </a:solidFill>
                <a:latin typeface="PingFang SC"/>
                <a:ea typeface="PingFang SC"/>
                <a:cs typeface="PingFang SC"/>
              </a:rPr>
              <a:t>AG-001 · AG-001-S01</a:t>
            </a:r>
          </a:p>
        </p:txBody>
      </p:sp>
    </p:spTree>
    <p:extLst>
      <p:ext uri="{BB962C8B-B14F-4D97-AF65-F5344CB8AC3E}">
        <p14:creationId xmlns:p14="http://schemas.microsoft.com/office/powerpoint/2010/main" val="1720753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FA6367BA-C258-4470-BBD2-EFAAE848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C26DDF3F-D315-4524-BB62-45D1FF41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3B910AE9-F1A6-4D59-AB81-E8F62F71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Agent Loop 与 ReAct：4项学习结果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6AC9DE27-6DB4-48C8-BC03-47E36959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19C23592-7F79-4E91-BA4E-BD6486B4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AG-001 · AG-001-S02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ADD9292A-3323-44EB-A3B4-C529752E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画出 Observe—Reason/Plan—Act—Observe—Evaluate 循环，并说明每一步的输入和输出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5BDF3551-5057-41EE-9766-1837C890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用 ReAct 的“推理—行动—观察”交错方式解释智能体如何根据环境反馈修正下一步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F52C6A60-4D1E-4A67-90C7-EEFC5AC5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为一个任务写出成功、受阻、超限、风险升级和人工终止等停止条件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211A2050-EF89-4732-AFD9-CAA63902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阅读一段最小 trace，判断智能体在哪一步偏离目标以及应从哪里恢复</a:t>
            </a:r>
          </a:p>
        </p:txBody>
      </p:sp>
    </p:spTree>
    <p:extLst>
      <p:ext uri="{BB962C8B-B14F-4D97-AF65-F5344CB8AC3E}">
        <p14:creationId xmlns:p14="http://schemas.microsoft.com/office/powerpoint/2010/main" val="17549603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3559B305-FD98-42B1-9461-2E0F14CF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795F3A31-8D29-4808-8113-58B26C34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1 / 7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914C6F63-3C31-4433-A887-6A5199AE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智能体与工作流的分界在于持续观察并行动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E83E7338-C882-468E-A0E4-549DA29F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DD1B5EFC-6401-4FBA-A0B8-F70C86A7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AG-001 · AG-001-S03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7346419-B926-4B53-AB34-D55F0250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7F785FB7-3369-450A-BCBD-F3159DCE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先区分模型、工作流与智能体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1121B4F9-E5D5-4A37-8558-94679973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并非所有问题都需要智能体；固定流程能稳定解决的任务；使用工作流通常更便宜、更容易测试；只有当任务需要根据中间结果选择路径、调用不同工具或处理开放环境时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7613442E-CD00-4A38-9191-15633404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label-1">
            <a:extLst xmlns:a="http://schemas.openxmlformats.org/drawingml/2006/main">
              <a:ext uri="{FF2B5EF4-FFF2-40B4-BE49-F238E27FC236}">
                <a16:creationId xmlns:a16="http://schemas.microsoft.com/office/drawing/2014/main" id="{59E1C776-03F9-4457-B4B1-FD6A1403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Observe：把事实与假设分开</a:t>
            </a:r>
          </a:p>
        </p:txBody>
      </p:sp>
      <p:sp>
        <p:nvSpPr>
          <p:cNvPr id="11" name="core-body-1">
            <a:extLst xmlns:a="http://schemas.openxmlformats.org/drawingml/2006/main">
              <a:ext uri="{FF2B5EF4-FFF2-40B4-BE49-F238E27FC236}">
                <a16:creationId xmlns:a16="http://schemas.microsoft.com/office/drawing/2014/main" id="{11F64D0D-424E-4D31-B4BC-A246EE46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观察不是把所有上下文一次性塞给模型；而是获取当前决策所需的证据；一次可靠观察至少回答五个问题；目标是什么、已经完成什么、仍缺什么、可以使用哪些工具、当前有哪些约束</a:t>
            </a:r>
          </a:p>
        </p:txBody>
      </p:sp>
      <p:sp>
        <p:nvSpPr>
          <p:cNvPr id="12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DEDF8429-D68B-4197-9942-A3177F82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3" name="s3-takeaway">
            <a:extLst xmlns:a="http://schemas.openxmlformats.org/drawingml/2006/main">
              <a:ext uri="{FF2B5EF4-FFF2-40B4-BE49-F238E27FC236}">
                <a16:creationId xmlns:a16="http://schemas.microsoft.com/office/drawing/2014/main" id="{9EB49410-6543-433C-924D-A2BBA50B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智能体与工作流的分界在于持续观察并行动</a:t>
            </a:r>
          </a:p>
        </p:txBody>
      </p:sp>
    </p:spTree>
    <p:extLst>
      <p:ext uri="{BB962C8B-B14F-4D97-AF65-F5344CB8AC3E}">
        <p14:creationId xmlns:p14="http://schemas.microsoft.com/office/powerpoint/2010/main" val="2565750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B680573E-3FF4-4671-9956-3267C04D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9E8A72C6-A099-4E33-9127-4BC78426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2 / 7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785C37A5-B1C3-4B68-AECD-94B2073B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推理、规划与行动都要指向下一份证据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07A9B9C6-A28E-4C28-9D9B-B499FDA6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8EDED039-181A-4E0B-9C3E-3F650E4F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AG-001 · AG-001-S04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D20F1BE6-4CDA-4467-A0FC-DDC4C1BE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66802662-9841-4E24-B018-4D556858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Reason / Plan：选择最小可验证的下一步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54E9DE59-CA37-4C52-9811-F48E6676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Reason 关注“当前证据说明什么”；Plan 关注“接下来做什么”；简单任务可以只选择一个下一动作；长任务则需要把目标拆成阶段、依赖和验收点；计划不是不可修改的剧本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85802ED1-9AA1-4784-ACCA-30DB4FE8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label-1">
            <a:extLst xmlns:a="http://schemas.openxmlformats.org/drawingml/2006/main">
              <a:ext uri="{FF2B5EF4-FFF2-40B4-BE49-F238E27FC236}">
                <a16:creationId xmlns:a16="http://schemas.microsoft.com/office/drawing/2014/main" id="{A98414EB-31F4-4815-83AB-B5100521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Act：以最小权限改变状态</a:t>
            </a:r>
          </a:p>
        </p:txBody>
      </p:sp>
      <p:sp>
        <p:nvSpPr>
          <p:cNvPr id="11" name="core-body-1">
            <a:extLst xmlns:a="http://schemas.openxmlformats.org/drawingml/2006/main">
              <a:ext uri="{FF2B5EF4-FFF2-40B4-BE49-F238E27FC236}">
                <a16:creationId xmlns:a16="http://schemas.microsoft.com/office/drawing/2014/main" id="{98695114-9484-49C9-BC02-82ED4475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行动通过工具发生，例如查询资料、读取文件、调用接口、运行测试或修改记录；每个动作都应带有明确参数、预期结果、权限级别和失败处理；只读动作与写入动作要分开</a:t>
            </a:r>
          </a:p>
        </p:txBody>
      </p:sp>
      <p:sp>
        <p:nvSpPr>
          <p:cNvPr id="12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4B45DA20-DCE8-4787-82A9-732DF372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3" name="s4-takeaway">
            <a:extLst xmlns:a="http://schemas.openxmlformats.org/drawingml/2006/main">
              <a:ext uri="{FF2B5EF4-FFF2-40B4-BE49-F238E27FC236}">
                <a16:creationId xmlns:a16="http://schemas.microsoft.com/office/drawing/2014/main" id="{A34EDE1E-31D3-443F-8E01-B0C07A50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推理、规划与行动都要指向下一份证据</a:t>
            </a:r>
          </a:p>
        </p:txBody>
      </p:sp>
    </p:spTree>
    <p:extLst>
      <p:ext uri="{BB962C8B-B14F-4D97-AF65-F5344CB8AC3E}">
        <p14:creationId xmlns:p14="http://schemas.microsoft.com/office/powerpoint/2010/main" val="1029392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7DD372EC-6238-4016-8A3F-52F6B9E3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3A3A0256-2364-45B9-B75B-1B82FA7B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3 / 7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1B429EAB-018A-44DF-9615-2708E8D5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工具调用完成不等于任务完成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D6ABBAF7-E801-4431-B52A-DD947C42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07C9CEA5-491A-46DB-945A-1E3FD6DC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AG-001 · AG-001-S05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2E93F392-9CCC-4000-AA8F-930B4B23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197ABD04-E7F8-403F-ACAA-0C8C40C0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036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Observe again：把工具结果变成新状态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2612F0C5-01E2-42CE-8F70-5DF732D4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03632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工具调用完成不等于任务完成；智能体要读取真实返回；是否成功、返回了什么、是否只完成一部分、是否出现警告、环境是否被改变；超时不能被解释为成功；空结果也不能被自动补写成“没有问题”</a:t>
            </a:r>
          </a:p>
        </p:txBody>
      </p:sp>
      <p:sp>
        <p:nvSpPr>
          <p:cNvPr id="9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2CAF1A9D-696E-49BF-8A8E-9975F024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0" name="s5-takeaway">
            <a:extLst xmlns:a="http://schemas.openxmlformats.org/drawingml/2006/main">
              <a:ext uri="{FF2B5EF4-FFF2-40B4-BE49-F238E27FC236}">
                <a16:creationId xmlns:a16="http://schemas.microsoft.com/office/drawing/2014/main" id="{5B2A5557-921F-4895-8026-D8DF0111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工具调用完成不等于任务完成</a:t>
            </a:r>
          </a:p>
        </p:txBody>
      </p:sp>
    </p:spTree>
    <p:extLst>
      <p:ext uri="{BB962C8B-B14F-4D97-AF65-F5344CB8AC3E}">
        <p14:creationId xmlns:p14="http://schemas.microsoft.com/office/powerpoint/2010/main" val="260360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535C2E75-70B7-4297-ABF0-712AACF5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4798D6D8-34E0-4905-8D28-FC36D6E0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4 / 7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B0AB1B69-6FD1-4093-8BB8-79088899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Evaluate 把当前结果与验收标准比较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47AFD313-4F20-4F36-9F7B-87F856AB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BCE5FF79-EFA6-4095-BB8C-7F0486A1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AG-001 · AG-001-S06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696A2987-A022-4741-9363-21FE342C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9767F014-F53A-45E1-AD70-463A8A21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036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Evaluate：对照标准决定继续还是停止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89E82B57-3D2F-47E2-B9CE-42780F54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03632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Evaluate 把当前结果与验收标准比较；它既检查最终目标，也检查过程约束；结果是否完整，证据是否足够；是否使用了允许的数据和权限；是否引入新的风险，如果不满足标准</a:t>
            </a:r>
          </a:p>
        </p:txBody>
      </p:sp>
      <p:sp>
        <p:nvSpPr>
          <p:cNvPr id="9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1B9EDE16-D598-4F07-852D-20624142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0" name="s6-takeaway">
            <a:extLst xmlns:a="http://schemas.openxmlformats.org/drawingml/2006/main">
              <a:ext uri="{FF2B5EF4-FFF2-40B4-BE49-F238E27FC236}">
                <a16:creationId xmlns:a16="http://schemas.microsoft.com/office/drawing/2014/main" id="{F860E51E-84EB-47A6-B184-7817BBF4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Evaluate 把当前结果与验收标准比较</a:t>
            </a:r>
          </a:p>
        </p:txBody>
      </p:sp>
    </p:spTree>
    <p:extLst>
      <p:ext uri="{BB962C8B-B14F-4D97-AF65-F5344CB8AC3E}">
        <p14:creationId xmlns:p14="http://schemas.microsoft.com/office/powerpoint/2010/main" val="1341067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D236B25B-F18A-4AC0-A92D-9FF38BFE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BA968932-05EA-4749-84AF-B5C104A5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5 / 7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11325DAF-AA0A-4B81-A085-DE10BAB9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ReAct：让推理与行动交错发生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D2A24E39-0C29-415E-A54A-8BC33DDA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18B74199-9718-4CE3-9B09-24AFE776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AG-001 · AG-001-S07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C05B8A29-2560-4E5F-8564-D34BA5BC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6A4508C2-33CF-41B3-9875-5DF125DE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ReAct：让推理与行动交错发生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AFA18E9B-D5AF-43CE-BE8E-BE529C12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ReAct 的关键思想；是让任务求解在“形成行动依据—采取行动—读取观察”之间交错进行；模型不必在一开始猜出全部步骤；而是用环境反馈更新判断；例如，检索未找到目标资料时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6AA4E231-8C0B-4ED2-B034-3F46C095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0B04B091-20F9-478B-A6DB-B51DCC84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工程系统不需要保存或暴露模型的全部内部思维。trace 更适合记录简洁的决策摘要、所依据的证据、工具参数和结果，使过程能够审计，同时避免把敏感上下文或冗长推理写入日志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9987E484-D1C6-4CCA-8604-97D9B645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8BAF4FCE-FA5B-44DA-9243-70DC2E15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ReAct：让推理与行动交错发生</a:t>
            </a:r>
          </a:p>
        </p:txBody>
      </p:sp>
    </p:spTree>
    <p:extLst>
      <p:ext uri="{BB962C8B-B14F-4D97-AF65-F5344CB8AC3E}">
        <p14:creationId xmlns:p14="http://schemas.microsoft.com/office/powerpoint/2010/main" val="1282087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9715DF07-34EB-4111-B556-CBB22AC6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8ABB316E-0300-4DDD-B75E-24F98A34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6 / 7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7FB1A3B4-060C-4008-8A0B-E104A68E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停止条件：完成只是其中一种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6AA03184-5921-433B-9AB8-91E13C92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F7A0642B-A3A6-4131-B59C-DDD134F5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AG-001 · AG-001-S08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1518A85F-006E-4CB0-81B1-A80333F1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55F19E7C-CB8D-45E1-ACC5-6CC06420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036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停止条件：完成只是其中一种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9F0F63DC-973B-447C-AF4C-26E7EEA8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03632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如果没有停止条件，智能体可能反复调用同一工具、在错误方向上持续消耗资源，甚至把不确定结果当作完成。停止规则应在执行前定义，并在每轮 Evaluate 中检查</a:t>
            </a:r>
          </a:p>
        </p:txBody>
      </p:sp>
      <p:sp>
        <p:nvSpPr>
          <p:cNvPr id="9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83FB12DB-C16A-4B69-BB05-0241D04C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0" name="s8-takeaway">
            <a:extLst xmlns:a="http://schemas.openxmlformats.org/drawingml/2006/main">
              <a:ext uri="{FF2B5EF4-FFF2-40B4-BE49-F238E27FC236}">
                <a16:creationId xmlns:a16="http://schemas.microsoft.com/office/drawing/2014/main" id="{A01104A0-B558-4F11-83EC-7C4BD9BA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停止条件：完成只是其中一种</a:t>
            </a:r>
          </a:p>
        </p:txBody>
      </p:sp>
    </p:spTree>
    <p:extLst>
      <p:ext uri="{BB962C8B-B14F-4D97-AF65-F5344CB8AC3E}">
        <p14:creationId xmlns:p14="http://schemas.microsoft.com/office/powerpoint/2010/main" val="1229194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0052AA46-9C4C-4E04-B576-D5E4211F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5329BE35-4C8E-4B32-A35E-40C3FF13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7 / 7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4E595687-AB58-4FAC-B80C-20F84EB8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Trace：把循环变成可复盘证据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82C3C364-6D75-414A-92BF-1C836514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96251314-E8CD-4377-BFBF-66C66830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AG-001 · AG-001-S09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D0B45620-CD36-42A9-8671-7C0F15B0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9FDD0ED5-207A-4165-A8A5-04E6D247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Trace：把循环变成可复盘证据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B293082D-F9F5-43E9-94C7-CAFBBB64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9619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一条最小 trace 可以包含；task_id 、 step_id 、时间、当前目标、观察来源、决策摘要、动作名称、输入参数摘要、权限级别、工具结果、评测结论、状态变化、下一步和停止原因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EF7F6EE-261D-4B9E-A820-5B8E6393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7263741C-25FE-49A8-8FD4-166ECFD9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trace 的价值不是“记录得越多越好”，而是回答三个问题：系统为什么采取这一步、这一步实际发生了什么、失败后从哪里恢复。只有能支持这三个问题的记录，才真正服务于调试和责任追踪</a:t>
            </a:r>
          </a:p>
        </p:txBody>
      </p:sp>
      <p:sp>
        <p:nvSpPr>
          <p:cNvPr id="11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3C0BF80D-666D-4E68-98C3-544B712A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2" name="s9-takeaway">
            <a:extLst xmlns:a="http://schemas.openxmlformats.org/drawingml/2006/main">
              <a:ext uri="{FF2B5EF4-FFF2-40B4-BE49-F238E27FC236}">
                <a16:creationId xmlns:a16="http://schemas.microsoft.com/office/drawing/2014/main" id="{0561C8B2-E17C-40BD-94B9-29F5B8A5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Trace：把循环变成可复盘证据</a:t>
            </a:r>
          </a:p>
        </p:txBody>
      </p:sp>
    </p:spTree>
    <p:extLst>
      <p:ext uri="{BB962C8B-B14F-4D97-AF65-F5344CB8AC3E}">
        <p14:creationId xmlns:p14="http://schemas.microsoft.com/office/powerpoint/2010/main" val="20300145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E6514D7B-87B1-4FAE-9B3E-BE1793A8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51CC2862-EEA3-4A5B-830D-59FA8993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案例与边界 1 / 1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0BA1B76D-029B-49B4-BBD4-D60D1DD9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缺失字段要显式待确认，不能由模型补齐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220884F7-86FE-4D34-B1E6-45B10F8F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7039700A-3AF6-4F17-B339-4146D4E4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AG-001 · AG-001-S10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92BA7088-8E0A-41DB-8FE2-7EBC1701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0D4D68"/>
          </a:solidFill>
          <a:ln xmlns:a="http://schemas.openxmlformats.org/drawingml/2006/main" w="0">
            <a:solidFill>
              <a:srgbClr val="0D4D6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从“整理会议纪要”看一次完整循环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18D13A00-590C-4A52-A579-8295FF96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场景｜假设目标是从三份会议纪要中生成待办清单，并要求每条待办都有负责人和截止时间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D013910E-F376-4C30-8D6E-62A9E971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134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结果｜Observe： 确认三份文件均可读取，记录输出格式，并发现其中一份纪要没有明确截止时间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BD3CAA70-C5C2-477E-93BE-C0922FB8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方法｜Reason / Plan： 先抽取可确认的任务，再把缺失字段列为待澄清项，不凭空补日期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8FCE5E38-E7ED-4F86-9887-3430CFCE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方法｜Act： 调用文档读取工具，逐份提取“事项—负责人—截止时间—原文位置”</a:t>
            </a:r>
          </a:p>
        </p:txBody>
      </p:sp>
      <p:sp>
        <p:nvSpPr>
          <p:cNvPr id="11" name="case-row-4">
            <a:extLst xmlns:a="http://schemas.openxmlformats.org/drawingml/2006/main">
              <a:ext uri="{FF2B5EF4-FFF2-40B4-BE49-F238E27FC236}">
                <a16:creationId xmlns:a16="http://schemas.microsoft.com/office/drawing/2014/main" id="{0B22EFCB-5DC5-4DC2-AFA0-09D95939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9525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125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启示｜Observe again： 工具成功读取三份文件，共得到八条候选事项，其中两条负责人表述冲突</a:t>
            </a:r>
          </a:p>
        </p:txBody>
      </p:sp>
      <p:sp>
        <p:nvSpPr>
          <p:cNvPr id="12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88BB5BC7-E1ED-46D9-B179-822C09BD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3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76349C85-EA4A-4D04-9B5E-79F30082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缺失字段要显式待确认，不能由模型补齐</a:t>
            </a:r>
          </a:p>
        </p:txBody>
      </p:sp>
    </p:spTree>
    <p:extLst>
      <p:ext uri="{BB962C8B-B14F-4D97-AF65-F5344CB8AC3E}">
        <p14:creationId xmlns:p14="http://schemas.microsoft.com/office/powerpoint/2010/main" val="10914438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513547AC-3131-4459-871E-93EEB24A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0337C608-C70E-4FD1-BC02-F19F5632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C98494BF-62D6-4794-BC67-AFC7AB37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Agent Loop 与 ReAct：一次可验收练习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DA879A74-6B7E-467D-905E-032E6392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F5794CC8-BC8B-4B76-AAD2-75EAAA23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AG-001 · AG-001-S11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01CD47B4-A18B-47D8-9F30-CDBD405E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3A32A2BE-54AE-41FF-A9A6-6CC3AB42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624E2DFA-CECC-47A6-91EB-7BBE2ACE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选择一个“查询两天内的天气并给出出行建议”或“检查一份表格中的缺失字段”任务，完成以下练习；写出初始观察清单，至少区分三项事实和两项待验证假设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92B86AB7-83E6-464D-815D-44CD6987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AB901FB2-A851-4101-B797-9F4D1FCD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3A05C973-1E8E-4B53-98E3-A83745F3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B9CE6D27-B311-400E-A62F-387BCD93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3921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把任务画成 Observe—Reason/Plan—Act—Observe—Evaluate 循环，并为每个动作写出预期证据；设计至少四类停止条件，其中必须包括成功停止、受阻停止和风险升级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87A45ACF-B8A8-48E4-814C-9A607AA1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C798F3B3-8CA8-4806-BDAD-BC59F8BF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8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4C95ED03-01BF-4E6C-BAD6-03CF4860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47F8E3A3-76B0-406D-A681-1229B16E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2359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用表格模拟五条 trace 记录，故意加入一次工具失败，再标出系统应如何恢复；验收时，不只检查最终答案，还要检查每个结论能否回到观察证据，失败是否被如实记录，达到停止条件后是否立即结束</a:t>
            </a:r>
          </a:p>
        </p:txBody>
      </p:sp>
    </p:spTree>
    <p:extLst>
      <p:ext uri="{BB962C8B-B14F-4D97-AF65-F5344CB8AC3E}">
        <p14:creationId xmlns:p14="http://schemas.microsoft.com/office/powerpoint/2010/main" val="697697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B9C2C175-ECBF-4256-8469-3230DDFF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89A0FA82-65DD-4FCE-8C6D-2A22D667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09C16B96-92F1-4277-8D22-25142F8B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Agent Loop 与 ReAct：判断时先抓住三点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2290D040-A8A2-4690-B7C4-B508CF90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77EBAA30-B578-481E-B353-8E46F89B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AG-001 · AG-001-S12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4D71CAA9-6406-4BA0-90FB-C6B15691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CFE3A988-74D9-436C-A8B8-6653F262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A57563E9-BC94-4645-B11E-CE0622DD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智能体与工作流的分界在于持续观察并行动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BFCCB2FC-BED0-47B9-986E-38B3CCCC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D3725356-4327-4020-B0B4-77B65F73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AA1B89E9-38FC-46D5-A607-A9A39723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24EBC207-B1E9-44CF-8073-B21B71D2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Evaluate 把当前结果与验收标准比较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3AA7FE38-F91A-455C-944F-AE95D294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FB55CF89-F5A7-4B06-AFE9-A58E594F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8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0023BCD7-9DEC-4278-8329-5EE8CC9B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C4351047-C677-4C2E-A5BD-6F7C2352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Trace：把循环变成可复盘证据</a:t>
            </a:r>
          </a:p>
        </p:txBody>
      </p:sp>
    </p:spTree>
    <p:extLst>
      <p:ext uri="{BB962C8B-B14F-4D97-AF65-F5344CB8AC3E}">
        <p14:creationId xmlns:p14="http://schemas.microsoft.com/office/powerpoint/2010/main" val="9794134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3-rule">
            <a:extLst xmlns:a="http://schemas.openxmlformats.org/drawingml/2006/main">
              <a:ext uri="{FF2B5EF4-FFF2-40B4-BE49-F238E27FC236}">
                <a16:creationId xmlns:a16="http://schemas.microsoft.com/office/drawing/2014/main" id="{0D5414D1-AF50-4B71-8A6A-80AD2314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50678C71-852F-48FA-809F-C0CA3585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3-title">
            <a:extLst xmlns:a="http://schemas.openxmlformats.org/drawingml/2006/main">
              <a:ext uri="{FF2B5EF4-FFF2-40B4-BE49-F238E27FC236}">
                <a16:creationId xmlns:a16="http://schemas.microsoft.com/office/drawing/2014/main" id="{EAE8705B-20D9-4368-885A-4E3A6F76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Agent Loop 与 ReAct：依据、边界与延伸</a:t>
            </a:r>
          </a:p>
        </p:txBody>
      </p:sp>
      <p:sp>
        <p:nvSpPr>
          <p:cNvPr id="4" name="s13-footer">
            <a:extLst xmlns:a="http://schemas.openxmlformats.org/drawingml/2006/main">
              <a:ext uri="{FF2B5EF4-FFF2-40B4-BE49-F238E27FC236}">
                <a16:creationId xmlns:a16="http://schemas.microsoft.com/office/drawing/2014/main" id="{3F06B902-46A2-4C33-830A-59FA3B6C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3-identity">
            <a:extLst xmlns:a="http://schemas.openxmlformats.org/drawingml/2006/main">
              <a:ext uri="{FF2B5EF4-FFF2-40B4-BE49-F238E27FC236}">
                <a16:creationId xmlns:a16="http://schemas.microsoft.com/office/drawing/2014/main" id="{3C37190C-0EC8-4674-908F-A16C6D06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AG-001 · AG-001-S13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E4225C67-48A2-4255-B0C3-4ED4CA25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9525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F9F53300-46A8-41EE-BB7A-6091251D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ReAct: Synergizing Reasoning and Acting in Language Models：理解推理与环境行动交错组织的代表性论文</a:t>
            </a:r>
          </a:p>
        </p:txBody>
      </p:sp>
      <p:sp>
        <p:nvSpPr>
          <p:cNvPr id="8" name="s13-takeaway-rule">
            <a:extLst xmlns:a="http://schemas.openxmlformats.org/drawingml/2006/main">
              <a:ext uri="{FF2B5EF4-FFF2-40B4-BE49-F238E27FC236}">
                <a16:creationId xmlns:a16="http://schemas.microsoft.com/office/drawing/2014/main" id="{8083DAF5-AB71-4973-95E9-910F11A8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9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7E25C3C4-9CDD-431D-A5BB-57B3F11A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课程正文与幻灯片共享同一知识主线，图片和视频用于帮助理解本节概念与案例。</a:t>
            </a:r>
          </a:p>
        </p:txBody>
      </p:sp>
    </p:spTree>
    <p:extLst>
      <p:ext uri="{BB962C8B-B14F-4D97-AF65-F5344CB8AC3E}">
        <p14:creationId xmlns:p14="http://schemas.microsoft.com/office/powerpoint/2010/main" val="1108486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2026-07-12T08:20:10.7140000Z</dcterms:created>
  <dcterms:modified xsi:type="dcterms:W3CDTF">2026-07-12T08:20:10.7140000Z</dcterms:modified>
</coreProperties>
</file>