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58f5136695e4c4f" /><Relationship Type="http://schemas.openxmlformats.org/officeDocument/2006/relationships/extended-properties" Target="/docProps/app.xml" Id="R7869e07488b24f35" /><Relationship Type="http://schemas.openxmlformats.org/officeDocument/2006/relationships/officeDocument" Target="/ppt/presentation.xml" Id="R7bf96d752af1494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bf1ffa8d94a4a34"/>
  </p:sldMasterIdLst>
  <p:notesMasterIdLst>
    <p:notesMasterId xmlns:r="http://schemas.openxmlformats.org/officeDocument/2006/relationships" r:id="Rc701fbafc93946ee"/>
  </p:notesMasterIdLst>
  <p:sldIdLst>
    <p:sldId xmlns:r="http://schemas.openxmlformats.org/officeDocument/2006/relationships" id="256" r:id="R19c50a27e4694c2f"/>
    <p:sldId xmlns:r="http://schemas.openxmlformats.org/officeDocument/2006/relationships" id="257" r:id="R0ba009364cef4c7b"/>
    <p:sldId xmlns:r="http://schemas.openxmlformats.org/officeDocument/2006/relationships" id="258" r:id="Rad36857ffbe84e4c"/>
    <p:sldId xmlns:r="http://schemas.openxmlformats.org/officeDocument/2006/relationships" id="259" r:id="R8440704baeef4022"/>
    <p:sldId xmlns:r="http://schemas.openxmlformats.org/officeDocument/2006/relationships" id="260" r:id="R718cbd2d95a5463e"/>
    <p:sldId xmlns:r="http://schemas.openxmlformats.org/officeDocument/2006/relationships" id="261" r:id="R3a989866d8ad46bc"/>
    <p:sldId xmlns:r="http://schemas.openxmlformats.org/officeDocument/2006/relationships" id="262" r:id="R327d0fc8cca94489"/>
    <p:sldId xmlns:r="http://schemas.openxmlformats.org/officeDocument/2006/relationships" id="263" r:id="Rde1ff60cd0fa444b"/>
    <p:sldId xmlns:r="http://schemas.openxmlformats.org/officeDocument/2006/relationships" id="264" r:id="R940f867b97754f05"/>
    <p:sldId xmlns:r="http://schemas.openxmlformats.org/officeDocument/2006/relationships" id="265" r:id="R9ad05a6eb26c48e7"/>
    <p:sldId xmlns:r="http://schemas.openxmlformats.org/officeDocument/2006/relationships" id="266" r:id="R84187b19d1c04739"/>
    <p:sldId xmlns:r="http://schemas.openxmlformats.org/officeDocument/2006/relationships" id="267" r:id="R98422a42c0154700"/>
    <p:sldId xmlns:r="http://schemas.openxmlformats.org/officeDocument/2006/relationships" id="268" r:id="Rdac1818703704aa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411c09c7f1b48ce" /><Relationship Type="http://schemas.openxmlformats.org/officeDocument/2006/relationships/slideMaster" Target="/ppt/slideMasters/slideMaster1.xml" Id="R4bf1ffa8d94a4a34" /><Relationship Type="http://schemas.openxmlformats.org/officeDocument/2006/relationships/notesMaster" Target="/ppt/notesMasters/notesMaster1.xml" Id="Rc701fbafc93946ee" /><Relationship Type="http://schemas.openxmlformats.org/officeDocument/2006/relationships/presProps" Target="/ppt/presProps.xml" Id="R69b40b6ebe694d7a" /><Relationship Type="http://schemas.openxmlformats.org/officeDocument/2006/relationships/tableStyles" Target="/ppt/tableStyles.xml" Id="R9110f0b989fd4416" /><Relationship Type="http://schemas.openxmlformats.org/officeDocument/2006/relationships/slide" Target="/ppt/slides/slide1.xml" Id="R19c50a27e4694c2f" /><Relationship Type="http://schemas.openxmlformats.org/officeDocument/2006/relationships/slide" Target="/ppt/slides/slide2.xml" Id="R0ba009364cef4c7b" /><Relationship Type="http://schemas.openxmlformats.org/officeDocument/2006/relationships/slide" Target="/ppt/slides/slide3.xml" Id="Rad36857ffbe84e4c" /><Relationship Type="http://schemas.openxmlformats.org/officeDocument/2006/relationships/slide" Target="/ppt/slides/slide4.xml" Id="R8440704baeef4022" /><Relationship Type="http://schemas.openxmlformats.org/officeDocument/2006/relationships/slide" Target="/ppt/slides/slide5.xml" Id="R718cbd2d95a5463e" /><Relationship Type="http://schemas.openxmlformats.org/officeDocument/2006/relationships/slide" Target="/ppt/slides/slide6.xml" Id="R3a989866d8ad46bc" /><Relationship Type="http://schemas.openxmlformats.org/officeDocument/2006/relationships/slide" Target="/ppt/slides/slide7.xml" Id="R327d0fc8cca94489" /><Relationship Type="http://schemas.openxmlformats.org/officeDocument/2006/relationships/slide" Target="/ppt/slides/slide8.xml" Id="Rde1ff60cd0fa444b" /><Relationship Type="http://schemas.openxmlformats.org/officeDocument/2006/relationships/slide" Target="/ppt/slides/slide9.xml" Id="R940f867b97754f05" /><Relationship Type="http://schemas.openxmlformats.org/officeDocument/2006/relationships/slide" Target="/ppt/slides/slide10.xml" Id="R9ad05a6eb26c48e7" /><Relationship Type="http://schemas.openxmlformats.org/officeDocument/2006/relationships/slide" Target="/ppt/slides/slide11.xml" Id="R84187b19d1c04739" /><Relationship Type="http://schemas.openxmlformats.org/officeDocument/2006/relationships/slide" Target="/ppt/slides/slide12.xml" Id="R98422a42c0154700" /><Relationship Type="http://schemas.openxmlformats.org/officeDocument/2006/relationships/slide" Target="/ppt/slides/slide13.xml" Id="Rdac1818703704aa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0b9b1978dca427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58ed253b4e94c54" /><Relationship Type="http://schemas.openxmlformats.org/officeDocument/2006/relationships/notesMaster" Target="/ppt/notesMasters/notesMaster1.xml" Id="Re892cf15f4b24b2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33f81dbecd24c11" /><Relationship Type="http://schemas.openxmlformats.org/officeDocument/2006/relationships/notesMaster" Target="/ppt/notesMasters/notesMaster1.xml" Id="R32f6cb1fcca94f2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608ee0a6fbf4fa8" /><Relationship Type="http://schemas.openxmlformats.org/officeDocument/2006/relationships/notesMaster" Target="/ppt/notesMasters/notesMaster1.xml" Id="R5f05381cccba4aa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780c6e52bb54a19" /><Relationship Type="http://schemas.openxmlformats.org/officeDocument/2006/relationships/notesMaster" Target="/ppt/notesMasters/notesMaster1.xml" Id="R936e8cdb2311407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c5bfe5b1885419e" /><Relationship Type="http://schemas.openxmlformats.org/officeDocument/2006/relationships/notesMaster" Target="/ppt/notesMasters/notesMaster1.xml" Id="Rfa1da3859772463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52eca3b65f7407d" /><Relationship Type="http://schemas.openxmlformats.org/officeDocument/2006/relationships/notesMaster" Target="/ppt/notesMasters/notesMaster1.xml" Id="R55f61a38630d4a3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d13bce8466345b7" /><Relationship Type="http://schemas.openxmlformats.org/officeDocument/2006/relationships/notesMaster" Target="/ppt/notesMasters/notesMaster1.xml" Id="R3a6cd932b15a404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e5e4c04685643b7" /><Relationship Type="http://schemas.openxmlformats.org/officeDocument/2006/relationships/notesMaster" Target="/ppt/notesMasters/notesMaster1.xml" Id="Rddd61b655c3540f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71c6ac5183340c8" /><Relationship Type="http://schemas.openxmlformats.org/officeDocument/2006/relationships/notesMaster" Target="/ppt/notesMasters/notesMaster1.xml" Id="Rc620964e62bd4b1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c977087271f4c41" /><Relationship Type="http://schemas.openxmlformats.org/officeDocument/2006/relationships/notesMaster" Target="/ppt/notesMasters/notesMaster1.xml" Id="R1a29bfb99063478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19d28af77a34f6d" /><Relationship Type="http://schemas.openxmlformats.org/officeDocument/2006/relationships/notesMaster" Target="/ppt/notesMasters/notesMaster1.xml" Id="R1f8e0208127d4f5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3d6793c3dbb459a" /><Relationship Type="http://schemas.openxmlformats.org/officeDocument/2006/relationships/notesMaster" Target="/ppt/notesMasters/notesMaster1.xml" Id="R622312d3127c4ae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808e82a0b8e472d" /><Relationship Type="http://schemas.openxmlformats.org/officeDocument/2006/relationships/notesMaster" Target="/ppt/notesMasters/notesMaster1.xml" Id="R026ff9287123423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44dfc4fe104ae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d320b9de8ac4ff1" /><Relationship Type="http://schemas.openxmlformats.org/officeDocument/2006/relationships/slideLayout" Target="/ppt/slideLayouts/slideLayout1.xml" Id="R5e25b6a1164b423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e25b6a1164b423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defec5c13042d4" /><Relationship Type="http://schemas.openxmlformats.org/officeDocument/2006/relationships/notesSlide" Target="/ppt/notesSlides/notesSlide1.xml" Id="Re77bb2cbf5ec466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8a608ac7754a3c" /><Relationship Type="http://schemas.openxmlformats.org/officeDocument/2006/relationships/notesSlide" Target="/ppt/notesSlides/notesSlide2.xml" Id="R640c1863d6184b3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1ad44289924a6d" /><Relationship Type="http://schemas.openxmlformats.org/officeDocument/2006/relationships/notesSlide" Target="/ppt/notesSlides/notesSlide3.xml" Id="R70766906ad9b4bb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8f24a144d94a9f" /><Relationship Type="http://schemas.openxmlformats.org/officeDocument/2006/relationships/notesSlide" Target="/ppt/notesSlides/notesSlide4.xml" Id="Rad451a7e3652426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ca74ba996d43fa" /><Relationship Type="http://schemas.openxmlformats.org/officeDocument/2006/relationships/notesSlide" Target="/ppt/notesSlides/notesSlide5.xml" Id="R4bbc3dd573d3436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8357d3f8c84fb7" /><Relationship Type="http://schemas.openxmlformats.org/officeDocument/2006/relationships/notesSlide" Target="/ppt/notesSlides/notesSlide6.xml" Id="R39f47d1cfa5f43f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a7e70659674663" /><Relationship Type="http://schemas.openxmlformats.org/officeDocument/2006/relationships/notesSlide" Target="/ppt/notesSlides/notesSlide7.xml" Id="Raa2452c2b8da4e1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4a0be83cf240d7" /><Relationship Type="http://schemas.openxmlformats.org/officeDocument/2006/relationships/notesSlide" Target="/ppt/notesSlides/notesSlide8.xml" Id="Rbc9a280a11d149a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3f3b2d552d4192" /><Relationship Type="http://schemas.openxmlformats.org/officeDocument/2006/relationships/notesSlide" Target="/ppt/notesSlides/notesSlide9.xml" Id="R94d0441c2d5f452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5522be078c438d" /><Relationship Type="http://schemas.openxmlformats.org/officeDocument/2006/relationships/notesSlide" Target="/ppt/notesSlides/notesSlide10.xml" Id="Raea3585015c747b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32d3cbdce44612" /><Relationship Type="http://schemas.openxmlformats.org/officeDocument/2006/relationships/notesSlide" Target="/ppt/notesSlides/notesSlide11.xml" Id="R9b61decf4bd34fc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94a440a9ba4563" /><Relationship Type="http://schemas.openxmlformats.org/officeDocument/2006/relationships/notesSlide" Target="/ppt/notesSlides/notesSlide12.xml" Id="R0980c8ea882a4c9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7e8cffe3c14865" /><Relationship Type="http://schemas.openxmlformats.org/officeDocument/2006/relationships/notesSlide" Target="/ppt/notesSlides/notesSlide13.xml" Id="R3707c0a3486a448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886F89DA-A577-4D65-8032-8226C1732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87E3BF4C-EE5D-470D-AE90-65A37A3A7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8E11E332-DB95-49A8-9B4C-098E7F1F6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A6C8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873BEB72-A2F5-4ABB-AF52-143E41F99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F2187AD4-7866-4C48-9764-E0C44B992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D93EF0FC-9D57-4184-941D-039CE53B1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A6C8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7ABA49EA-D822-4BCC-A1BF-1E752D01E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第 2 章 · AI 智能体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FE68B107-D85B-4FCD-A8D4-01BE95669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Agent Loop 与 ReAct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C42CF796-BBA0-492A-A5C1-F30D14186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理解智能体如何在观察、推理、行动和反馈之间循环推进任务。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5676F0F0-15B0-4E6C-8AB3-2B2582B4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一次大模型调用通常是“给出输入；得到输出”，智能体则要在变化的环境中持续工作；它读取当前状态，选择一个动作；取得新证据，再决定继续、改道还是停止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0D3D0E01-C033-4590-8398-2EC485F12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093530F2-8FEA-4180-92F4-3C5770814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AG-001 · AG-001-S01</a:t>
            </a:r>
          </a:p>
        </p:txBody>
      </p:sp>
    </p:spTree>
    <p:extLst>
      <p:ext uri="{BB962C8B-B14F-4D97-AF65-F5344CB8AC3E}">
        <p14:creationId xmlns:p14="http://schemas.microsoft.com/office/powerpoint/2010/main" val="202927353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70F28821-70A1-451D-A05D-CCD9E94F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A5DEFC42-3670-4848-B1ED-2E28DF1F0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95E83DF1-88B8-44F8-8D8F-260372EA4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Agent Loop 与 ReAct：4项学习结果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78586641-DEF3-4FA3-8FD8-39BC23A40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0CA60895-449C-4230-B089-222FA5E0B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AG-001 · AG-001-S02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E242E30D-E39F-46B2-B654-30F12040C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画出 Observe—Reason/Plan—Act—Observe—Evaluate 循环，并说明每一步的输入和输出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0E338C33-EA4F-4790-896F-122575C7E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用 ReAct 的“推理—行动—观察”交错方式解释智能体如何根据环境反馈修正下一步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7C0AA573-A6DC-40A5-BDBA-4ECA7E01B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为一个任务写出成功、受阻、超限、风险升级和人工终止等停止条件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A1577789-4B6D-4969-B5D3-5464F6723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阅读一段最小 trace，判断智能体在哪一步偏离目标以及应从哪里恢复</a:t>
            </a:r>
          </a:p>
        </p:txBody>
      </p:sp>
    </p:spTree>
    <p:extLst>
      <p:ext uri="{BB962C8B-B14F-4D97-AF65-F5344CB8AC3E}">
        <p14:creationId xmlns:p14="http://schemas.microsoft.com/office/powerpoint/2010/main" val="81917957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C900350C-D942-4450-984E-1C0237025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DD59A4AF-EBB3-4A34-9DA1-500374772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1 / 7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F94FBE2F-58D6-4531-B2D7-621932E4E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智能体与工作流的分界在于持续观察并行动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A7378D4C-F113-4FDE-BEEB-DD5DCD303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50B5F6C9-2873-4BF9-A554-5968F59CF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AG-001 · AG-001-S03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B430C714-1911-4DBD-9778-DC92E06C4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4D8C620D-8E7D-4E93-995D-680888A65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先区分模型、工作流与智能体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AD5B08DA-F97F-4D1F-A904-5566A8FA7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并非所有问题都需要智能体；固定流程能稳定解决的任务；使用工作流通常更便宜、更容易测试；只有当任务需要根据中间结果选择路径、调用不同工具或处理开放环境时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6AB2D4AB-7AF5-4811-BFA7-ECE04BEEF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label-1">
            <a:extLst xmlns:a="http://schemas.openxmlformats.org/drawingml/2006/main">
              <a:ext uri="{FF2B5EF4-FFF2-40B4-BE49-F238E27FC236}">
                <a16:creationId xmlns:a16="http://schemas.microsoft.com/office/drawing/2014/main" id="{1247B44F-6572-44A9-BD85-55B4B2170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Observe：把事实与假设分开</a:t>
            </a:r>
          </a:p>
        </p:txBody>
      </p:sp>
      <p:sp>
        <p:nvSpPr>
          <p:cNvPr id="11" name="core-body-1">
            <a:extLst xmlns:a="http://schemas.openxmlformats.org/drawingml/2006/main">
              <a:ext uri="{FF2B5EF4-FFF2-40B4-BE49-F238E27FC236}">
                <a16:creationId xmlns:a16="http://schemas.microsoft.com/office/drawing/2014/main" id="{B3440619-FA07-461D-9186-70976EEAF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观察不是把所有上下文一次性塞给模型；而是获取当前决策所需的证据；一次可靠观察至少回答五个问题；目标是什么、已经完成什么、仍缺什么、可以使用哪些工具、当前有哪些约束</a:t>
            </a:r>
          </a:p>
        </p:txBody>
      </p:sp>
      <p:sp>
        <p:nvSpPr>
          <p:cNvPr id="12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0B4279F8-5FF5-4C1F-80B4-25C742D08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3" name="s3-takeaway">
            <a:extLst xmlns:a="http://schemas.openxmlformats.org/drawingml/2006/main">
              <a:ext uri="{FF2B5EF4-FFF2-40B4-BE49-F238E27FC236}">
                <a16:creationId xmlns:a16="http://schemas.microsoft.com/office/drawing/2014/main" id="{CBA71891-51EB-4875-A80E-0B08E9F72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智能体与工作流的分界在于持续观察并行动</a:t>
            </a:r>
          </a:p>
        </p:txBody>
      </p:sp>
    </p:spTree>
    <p:extLst>
      <p:ext uri="{BB962C8B-B14F-4D97-AF65-F5344CB8AC3E}">
        <p14:creationId xmlns:p14="http://schemas.microsoft.com/office/powerpoint/2010/main" val="5038037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402338A5-A09D-4A1F-A443-CB24841EE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019C6B27-7C1B-4F6D-A082-508E9A141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2 / 7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EA2425A0-2569-4C53-8687-2F7B65CC9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推理、规划与行动都要指向下一份证据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9F022D41-4AA7-4D70-A180-621E725EB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8D3CC020-3EC2-4B16-AB81-0F626EC25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AG-001 · AG-001-S04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8DF343E7-FE12-44C2-A30C-8C66FE17B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EC3E2C0D-5D63-42A1-A894-C534A3DA2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Reason / Plan：选择最小可验证的下一步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041F6BC9-96D9-491A-8B6E-51189C3EC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Reason 关注“当前证据说明什么”；Plan 关注“接下来做什么”；简单任务可以只选择一个下一动作；长任务则需要把目标拆成阶段、依赖和验收点；计划不是不可修改的剧本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92E99808-1990-4AD6-B9DA-9390202E8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label-1">
            <a:extLst xmlns:a="http://schemas.openxmlformats.org/drawingml/2006/main">
              <a:ext uri="{FF2B5EF4-FFF2-40B4-BE49-F238E27FC236}">
                <a16:creationId xmlns:a16="http://schemas.microsoft.com/office/drawing/2014/main" id="{40D0C35B-2D5F-4075-9A52-5CD9581B6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Act：以最小权限改变状态</a:t>
            </a:r>
          </a:p>
        </p:txBody>
      </p:sp>
      <p:sp>
        <p:nvSpPr>
          <p:cNvPr id="11" name="core-body-1">
            <a:extLst xmlns:a="http://schemas.openxmlformats.org/drawingml/2006/main">
              <a:ext uri="{FF2B5EF4-FFF2-40B4-BE49-F238E27FC236}">
                <a16:creationId xmlns:a16="http://schemas.microsoft.com/office/drawing/2014/main" id="{97103242-2BEC-49A1-83B2-6FCCAA822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行动通过工具发生，例如查询资料、读取文件、调用接口、运行测试或修改记录；每个动作都应带有明确参数、预期结果、权限级别和失败处理；只读动作与写入动作要分开</a:t>
            </a:r>
          </a:p>
        </p:txBody>
      </p:sp>
      <p:sp>
        <p:nvSpPr>
          <p:cNvPr id="12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DC839DC5-DBF3-4486-AE0A-788631564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3" name="s4-takeaway">
            <a:extLst xmlns:a="http://schemas.openxmlformats.org/drawingml/2006/main">
              <a:ext uri="{FF2B5EF4-FFF2-40B4-BE49-F238E27FC236}">
                <a16:creationId xmlns:a16="http://schemas.microsoft.com/office/drawing/2014/main" id="{FDB8E975-B5D4-45D3-B256-11AC566CA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推理、规划与行动都要指向下一份证据</a:t>
            </a:r>
          </a:p>
        </p:txBody>
      </p:sp>
    </p:spTree>
    <p:extLst>
      <p:ext uri="{BB962C8B-B14F-4D97-AF65-F5344CB8AC3E}">
        <p14:creationId xmlns:p14="http://schemas.microsoft.com/office/powerpoint/2010/main" val="184281164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263788F6-654D-4B73-AEE1-2CDC5170C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7F761A86-8A60-4D4A-B9F8-53290FA65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3 / 7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E731FB29-1A62-4730-A993-411422861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工具调用完成不等于任务完成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47EAF6E7-B7E6-4E0C-A286-94B24C1DD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244EE265-4084-41E3-864E-438B98722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AG-001 · AG-001-S05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9F0DE45A-CA02-4F97-B9E0-C388AF911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DA670605-CA8D-429F-93EE-C862EC487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10363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Observe again：把工具结果变成新状态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32104FD9-E79A-429A-BFD0-4E091BBF2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03632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工具调用完成不等于任务完成；智能体要读取真实返回；是否成功、返回了什么、是否只完成一部分、是否出现警告、环境是否被改变；超时不能被解释为成功；空结果也不能被自动补写成“没有问题”</a:t>
            </a:r>
          </a:p>
        </p:txBody>
      </p:sp>
      <p:sp>
        <p:nvSpPr>
          <p:cNvPr id="9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093B4BFE-ADD8-4938-882D-958048382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0" name="s5-takeaway">
            <a:extLst xmlns:a="http://schemas.openxmlformats.org/drawingml/2006/main">
              <a:ext uri="{FF2B5EF4-FFF2-40B4-BE49-F238E27FC236}">
                <a16:creationId xmlns:a16="http://schemas.microsoft.com/office/drawing/2014/main" id="{7DA354F0-4CFD-4013-95F3-207FAE2DC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工具调用完成不等于任务完成</a:t>
            </a:r>
          </a:p>
        </p:txBody>
      </p:sp>
    </p:spTree>
    <p:extLst>
      <p:ext uri="{BB962C8B-B14F-4D97-AF65-F5344CB8AC3E}">
        <p14:creationId xmlns:p14="http://schemas.microsoft.com/office/powerpoint/2010/main" val="4622601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43487A6A-2A45-4AA5-9984-584F9D22E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73F43377-5806-42F4-B011-ABA9EA9A9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4 / 7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E51FA957-DA54-402A-BA12-A034D6D74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Evaluate 把当前结果与验收标准比较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9B8134DE-427B-4956-A949-683A8A32A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2F82A1DC-284F-4E17-8120-7BA6B74DE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AG-001 · AG-001-S06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77046D51-FF14-4583-8C57-C7DA8A03C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8B373034-9CB3-4A51-9D42-308AA180D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10363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Evaluate：对照标准决定继续还是停止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224D7D66-EC89-470B-9D55-25DC39A34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03632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Evaluate 把当前结果与验收标准比较；它既检查最终目标，也检查过程约束；结果是否完整，证据是否足够；是否使用了允许的数据和权限；是否引入新的风险，如果不满足标准</a:t>
            </a:r>
          </a:p>
        </p:txBody>
      </p:sp>
      <p:sp>
        <p:nvSpPr>
          <p:cNvPr id="9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E283020B-972B-4750-BD34-354E1C19E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0" name="s6-takeaway">
            <a:extLst xmlns:a="http://schemas.openxmlformats.org/drawingml/2006/main">
              <a:ext uri="{FF2B5EF4-FFF2-40B4-BE49-F238E27FC236}">
                <a16:creationId xmlns:a16="http://schemas.microsoft.com/office/drawing/2014/main" id="{CA95E723-7E85-4C87-81E8-BF233C63C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Evaluate 把当前结果与验收标准比较</a:t>
            </a:r>
          </a:p>
        </p:txBody>
      </p:sp>
    </p:spTree>
    <p:extLst>
      <p:ext uri="{BB962C8B-B14F-4D97-AF65-F5344CB8AC3E}">
        <p14:creationId xmlns:p14="http://schemas.microsoft.com/office/powerpoint/2010/main" val="129897461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7DAFD1B8-274A-440F-86E5-24C57C48B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FE4D602D-6C8B-4C8E-BC6E-94DAFCB08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5 / 7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33067A6F-2D7C-40B8-9BBA-BE7593E07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ReAct：让推理与行动交错发生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E38E5596-A45F-4E87-975E-F0B3D4868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2680DD7B-B8FE-440E-ABBF-772BACA90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AG-001 · AG-001-S07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D67A9383-5205-495D-AC1B-11CFCC4B6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70A73789-B9B1-4BCA-8CD4-F1A9069C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ReAct：让推理与行动交错发生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7C0C8297-1F66-4041-A5A8-2F8D050EA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ReAct 的关键思想；是让任务求解在“形成行动依据—采取行动—读取观察”之间交错进行；模型不必在一开始猜出全部步骤；而是用环境反馈更新判断；例如，检索未找到目标资料时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47F03373-0927-4899-B25A-2D700481A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34E30355-A291-4BC5-833D-825B52E81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工程系统不需要保存或暴露模型的全部内部思维。trace 更适合记录简洁的决策摘要、所依据的证据、工具参数和结果，使过程能够审计，同时避免把敏感上下文或冗长推理写入日志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6ABA9A3C-D468-4051-A810-9DEE62FB4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BD33B84C-AF1E-4A1E-8599-B98E1AA0B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ReAct：让推理与行动交错发生</a:t>
            </a:r>
          </a:p>
        </p:txBody>
      </p:sp>
    </p:spTree>
    <p:extLst>
      <p:ext uri="{BB962C8B-B14F-4D97-AF65-F5344CB8AC3E}">
        <p14:creationId xmlns:p14="http://schemas.microsoft.com/office/powerpoint/2010/main" val="145968463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0A19EF07-C7B4-42D7-BB91-D66A1BC8C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6F6BE067-F1AB-4379-94B8-5C3F0D2E6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6 / 7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6853E306-10C7-4F3A-8254-A04976AD4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停止条件：完成只是其中一种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12D72A65-48AA-418C-9D32-4A203E90D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1975602B-234A-4B3F-ADFB-9AEB15233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AG-001 · AG-001-S08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02702D8D-0254-4673-86D2-6A8CA2593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5EDDED66-3AC6-47AB-B83A-FA57D38AE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10363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停止条件：完成只是其中一种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2A266319-67E5-4804-A8DA-59F935C4C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03632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如果没有停止条件，智能体可能反复调用同一工具、在错误方向上持续消耗资源，甚至把不确定结果当作完成。停止规则应在执行前定义，并在每轮 Evaluate 中检查</a:t>
            </a:r>
          </a:p>
        </p:txBody>
      </p:sp>
      <p:sp>
        <p:nvSpPr>
          <p:cNvPr id="9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208E3861-3813-4487-90D3-7A22DF169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0" name="s8-takeaway">
            <a:extLst xmlns:a="http://schemas.openxmlformats.org/drawingml/2006/main">
              <a:ext uri="{FF2B5EF4-FFF2-40B4-BE49-F238E27FC236}">
                <a16:creationId xmlns:a16="http://schemas.microsoft.com/office/drawing/2014/main" id="{66004D93-520A-49E7-A74B-EB3446E37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停止条件：完成只是其中一种</a:t>
            </a:r>
          </a:p>
        </p:txBody>
      </p:sp>
    </p:spTree>
    <p:extLst>
      <p:ext uri="{BB962C8B-B14F-4D97-AF65-F5344CB8AC3E}">
        <p14:creationId xmlns:p14="http://schemas.microsoft.com/office/powerpoint/2010/main" val="66849283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DC9C6239-FFD4-4530-B76C-6BB571400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4C5AF7E8-4E7D-4565-9BC6-D8E3A370E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7 / 7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6ECC642F-4A1E-474B-96A7-C10F4EB35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Trace：把循环变成可复盘证据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E99337B7-EFAC-4C2A-BFB1-AFC510D6E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4AFEECE9-06C7-427B-8C9D-9CB162021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AG-001 · AG-001-S09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58E64934-7D03-4240-9DC4-D1B452255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5E038E2E-F366-452A-A98C-3A9704A73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Trace：把循环变成可复盘证据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A7D2D375-EE81-45E9-B786-3203DDF05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9619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一条最小 trace 可以包含；task_id 、 step_id 、时间、当前目标、观察来源、决策摘要、动作名称、输入参数摘要、权限级别、工具结果、评测结论、状态变化、下一步和停止原因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3573E417-7A65-4ED2-91BE-70A458B61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6395DAF6-3F55-4BF0-AABA-025542078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trace 的价值不是“记录得越多越好”，而是回答三个问题：系统为什么采取这一步、这一步实际发生了什么、失败后从哪里恢复。只有能支持这三个问题的记录，才真正服务于调试和责任追踪</a:t>
            </a:r>
          </a:p>
        </p:txBody>
      </p:sp>
      <p:sp>
        <p:nvSpPr>
          <p:cNvPr id="11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75A9649C-4CB6-4D8C-BACD-4561AA60C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2" name="s9-takeaway">
            <a:extLst xmlns:a="http://schemas.openxmlformats.org/drawingml/2006/main">
              <a:ext uri="{FF2B5EF4-FFF2-40B4-BE49-F238E27FC236}">
                <a16:creationId xmlns:a16="http://schemas.microsoft.com/office/drawing/2014/main" id="{A8A2C236-F32D-42C7-9A0B-2848586F8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Trace：把循环变成可复盘证据</a:t>
            </a:r>
          </a:p>
        </p:txBody>
      </p:sp>
    </p:spTree>
    <p:extLst>
      <p:ext uri="{BB962C8B-B14F-4D97-AF65-F5344CB8AC3E}">
        <p14:creationId xmlns:p14="http://schemas.microsoft.com/office/powerpoint/2010/main" val="200186248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8AE0D0EC-84B2-4CAE-8F2D-1F9873977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4D1CAAF8-6B74-4608-8C5E-BBCAB635F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案例与边界 1 / 1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22061400-BABB-4941-84F7-5620F2908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缺失字段要显式待确认，不能由模型补齐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49231C82-6E32-415E-93F5-DB7BE5C00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BD3BBF9E-5C7A-476A-B1B6-7A67FFA61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AG-001 · AG-001-S10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6C3EDDCE-6918-41D0-80FC-EB6B8C103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0D4D68"/>
          </a:solidFill>
          <a:ln xmlns:a="http://schemas.openxmlformats.org/drawingml/2006/main" w="0">
            <a:solidFill>
              <a:srgbClr val="0D4D6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从“整理会议纪要”看一次完整循环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6B080B5A-0C44-4743-A130-09E2EE714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场景｜假设目标是从三份会议纪要中生成待办清单，并要求每条待办都有负责人和截止时间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A69F3799-11A8-49A7-96CD-299BB658C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1345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结果｜Observe： 确认三份文件均可读取，记录输出格式，并发现其中一份纪要没有明确截止时间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5C9E311A-810E-444C-A8AD-32F9D7C79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方法｜Reason / Plan： 先抽取可确认的任务，再把缺失字段列为待澄清项，不凭空补日期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55BB2168-BB1B-4308-8275-5CF39228A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方法｜Act： 调用文档读取工具，逐份提取“事项—负责人—截止时间—原文位置”</a:t>
            </a:r>
          </a:p>
        </p:txBody>
      </p:sp>
      <p:sp>
        <p:nvSpPr>
          <p:cNvPr id="11" name="case-row-4">
            <a:extLst xmlns:a="http://schemas.openxmlformats.org/drawingml/2006/main">
              <a:ext uri="{FF2B5EF4-FFF2-40B4-BE49-F238E27FC236}">
                <a16:creationId xmlns:a16="http://schemas.microsoft.com/office/drawing/2014/main" id="{BEF97C5A-8544-4F9F-BB0E-43DD4B363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5529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9525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125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启示｜Observe again： 工具成功读取三份文件，共得到八条候选事项，其中两条负责人表述冲突</a:t>
            </a:r>
          </a:p>
        </p:txBody>
      </p:sp>
      <p:sp>
        <p:nvSpPr>
          <p:cNvPr id="12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5BB7C4AF-6F8A-488E-90E3-0EE1ED737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3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44AEDCC0-13C4-473F-9879-C2197D3AD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缺失字段要显式待确认，不能由模型补齐</a:t>
            </a:r>
          </a:p>
        </p:txBody>
      </p:sp>
    </p:spTree>
    <p:extLst>
      <p:ext uri="{BB962C8B-B14F-4D97-AF65-F5344CB8AC3E}">
        <p14:creationId xmlns:p14="http://schemas.microsoft.com/office/powerpoint/2010/main" val="82142518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7BD3A138-82B5-47C2-918D-EB60369B9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7694AFA6-6A8D-4D97-B601-666FD8839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BF623E25-978F-44FA-93ED-9A8A53C98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Agent Loop 与 ReAct：一次可验收练习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C69F762F-1F34-470D-94B5-0100C4B21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7A47D41F-988A-4868-85EA-585778AAE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AG-001 · AG-001-S11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C683E406-38C3-4EE0-8860-745D7B05B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8213ABEB-FF27-4833-8BCE-C9FAEDB15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D69BB4D2-172A-4D33-8507-B3A3539DB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选择一个“查询两天内的天气并给出出行建议”或“检查一份表格中的缺失字段”任务，完成以下练习；写出初始观察清单，至少区分三项事实和两项待验证假设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B243A5B6-A6DD-4869-B2B9-075951C74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6B80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CF89C25D-25DD-4994-824B-DAD83C93D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3CD372B4-9462-4921-9B52-6884B17C3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E4FF16ED-7D68-4FD8-B5AD-BCF2968B3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3921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把任务画成 Observe—Reason/Plan—Act—Observe—Evaluate 循环，并为每个动作写出预期证据；设计至少四类停止条件，其中必须包括成功停止、受阻停止和风险升级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4AAA9C64-644B-48E5-9300-371F17A6E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6B80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4EB132D1-BDEF-4797-92A0-7ECE1405F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8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050320CA-8241-4A9F-AB52-8B6ED4F01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4777650D-0958-41D4-A6B9-79E97AD85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2359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用表格模拟五条 trace 记录，故意加入一次工具失败，再标出系统应如何恢复；验收时，不只检查最终答案，还要检查每个结论能否回到观察证据，失败是否被如实记录，达到停止条件后是否立即结束</a:t>
            </a:r>
          </a:p>
        </p:txBody>
      </p:sp>
    </p:spTree>
    <p:extLst>
      <p:ext uri="{BB962C8B-B14F-4D97-AF65-F5344CB8AC3E}">
        <p14:creationId xmlns:p14="http://schemas.microsoft.com/office/powerpoint/2010/main" val="213859316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8A025250-E0D2-45F6-B94D-C3646B50C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6003A711-F8D3-4B31-B15F-524CA73C1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1B6A2FE8-4AB4-4CF0-9955-B223941DD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Agent Loop 与 ReAct：判断时先抓住三点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F0C2368D-7B6D-4A88-A9DF-EC11ECA81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CF868FB1-96AE-4EA6-B235-35B4F7715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AG-001 · AG-001-S12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5374F282-21DA-4583-B686-15CF43525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DE30CBBF-A38D-46C5-9195-C98C8D190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B6851A7F-74A3-4049-81F2-8D599AEF0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智能体与工作流的分界在于持续观察并行动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9236B71F-C8FF-42E6-BB71-32CEF98F0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6B80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9F02E4A2-087F-4036-838E-FD77563E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2E99638D-1F6D-40D2-A276-A2BDE0A59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C87296E8-42C1-4733-B833-D35E1E457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Evaluate 把当前结果与验收标准比较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6A053692-13FF-4F3C-890C-F5811E24E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6B80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3B75C3F1-0058-452A-BE65-EF38B1822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8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EBDCF9BD-669A-4058-941D-F14712842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7505CE72-EFD9-4861-B77B-335CDBAAD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Trace：把循环变成可复盘证据</a:t>
            </a:r>
          </a:p>
        </p:txBody>
      </p:sp>
    </p:spTree>
    <p:extLst>
      <p:ext uri="{BB962C8B-B14F-4D97-AF65-F5344CB8AC3E}">
        <p14:creationId xmlns:p14="http://schemas.microsoft.com/office/powerpoint/2010/main" val="158115836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0D0B7F87-7417-49B9-848A-F0737A6E2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5934EF5A-35AD-4DE4-A2EB-A533ECA34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6622C557-9F85-4ED8-952F-99913162E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Agent Loop 与 ReAct：依据、边界与延伸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243A501F-BF98-4E45-A1B0-D36B23A81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241D0412-931C-4591-8055-5DAA7E975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AG-001 · AG-001-S13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058F9FAC-1DBE-488F-9296-F5E289502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9525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45F70BA0-1B94-4190-80F1-4A4817243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ReAct: Synergizing Reasoning and Acting in Language Models：理解推理与环境行动交错组织的代表性论文</a:t>
            </a:r>
          </a:p>
        </p:txBody>
      </p:sp>
      <p:sp>
        <p:nvSpPr>
          <p:cNvPr id="8" name="s13-takeaway-rule">
            <a:extLst xmlns:a="http://schemas.openxmlformats.org/drawingml/2006/main">
              <a:ext uri="{FF2B5EF4-FFF2-40B4-BE49-F238E27FC236}">
                <a16:creationId xmlns:a16="http://schemas.microsoft.com/office/drawing/2014/main" id="{471B7884-59F6-4B86-9594-5FC40DDA2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9" name="s13-takeaway">
            <a:extLst xmlns:a="http://schemas.openxmlformats.org/drawingml/2006/main">
              <a:ext uri="{FF2B5EF4-FFF2-40B4-BE49-F238E27FC236}">
                <a16:creationId xmlns:a16="http://schemas.microsoft.com/office/drawing/2014/main" id="{77E1CD7A-CC1C-4190-A77A-8BBE5CD94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5911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课程精编页用于讲授主线；播放器中的“原课件”模式保留团队 PowerPoint 精选页、真实图片和可播放视频。</a:t>
            </a:r>
          </a:p>
        </p:txBody>
      </p:sp>
    </p:spTree>
    <p:extLst>
      <p:ext uri="{BB962C8B-B14F-4D97-AF65-F5344CB8AC3E}">
        <p14:creationId xmlns:p14="http://schemas.microsoft.com/office/powerpoint/2010/main" val="109035718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2026-07-12T03:31:47.3540000Z</dcterms:created>
  <dcterms:modified xsi:type="dcterms:W3CDTF">2026-07-12T03:31:47.3540000Z</dcterms:modified>
</coreProperties>
</file>