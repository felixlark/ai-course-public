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84699e87514d90" /><Relationship Type="http://schemas.openxmlformats.org/officeDocument/2006/relationships/extended-properties" Target="/docProps/app.xml" Id="R334c91cbf20c42d6" /><Relationship Type="http://schemas.openxmlformats.org/officeDocument/2006/relationships/officeDocument" Target="/ppt/presentation.xml" Id="R121ef88e6c7046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d0fadcb10b494b"/>
  </p:sldMasterIdLst>
  <p:notesMasterIdLst>
    <p:notesMasterId xmlns:r="http://schemas.openxmlformats.org/officeDocument/2006/relationships" r:id="R6011117d2db84da1"/>
  </p:notesMasterIdLst>
  <p:sldIdLst>
    <p:sldId xmlns:r="http://schemas.openxmlformats.org/officeDocument/2006/relationships" id="256" r:id="R71bf51cfc7af445c"/>
    <p:sldId xmlns:r="http://schemas.openxmlformats.org/officeDocument/2006/relationships" id="257" r:id="R4eece0a8cd9e43b9"/>
    <p:sldId xmlns:r="http://schemas.openxmlformats.org/officeDocument/2006/relationships" id="258" r:id="R635d332995c84ff0"/>
    <p:sldId xmlns:r="http://schemas.openxmlformats.org/officeDocument/2006/relationships" id="259" r:id="R555131cc845f4770"/>
    <p:sldId xmlns:r="http://schemas.openxmlformats.org/officeDocument/2006/relationships" id="260" r:id="R243eb63e441a4942"/>
    <p:sldId xmlns:r="http://schemas.openxmlformats.org/officeDocument/2006/relationships" id="261" r:id="R4c222c87685b48b3"/>
    <p:sldId xmlns:r="http://schemas.openxmlformats.org/officeDocument/2006/relationships" id="262" r:id="Rbb53b81be6c8481c"/>
    <p:sldId xmlns:r="http://schemas.openxmlformats.org/officeDocument/2006/relationships" id="263" r:id="R2ddb881467564663"/>
    <p:sldId xmlns:r="http://schemas.openxmlformats.org/officeDocument/2006/relationships" id="264" r:id="R14711366d8fd4908"/>
    <p:sldId xmlns:r="http://schemas.openxmlformats.org/officeDocument/2006/relationships" id="265" r:id="R829f5c033b424d68"/>
    <p:sldId xmlns:r="http://schemas.openxmlformats.org/officeDocument/2006/relationships" id="266" r:id="R406cdc6b88b9442f"/>
    <p:sldId xmlns:r="http://schemas.openxmlformats.org/officeDocument/2006/relationships" id="267" r:id="R5c92420c244e4ccd"/>
    <p:sldId xmlns:r="http://schemas.openxmlformats.org/officeDocument/2006/relationships" id="268" r:id="Rd7dfb9ec9d5249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b0ec4b48514c7a" /><Relationship Type="http://schemas.openxmlformats.org/officeDocument/2006/relationships/slideMaster" Target="/ppt/slideMasters/slideMaster1.xml" Id="R1cd0fadcb10b494b" /><Relationship Type="http://schemas.openxmlformats.org/officeDocument/2006/relationships/notesMaster" Target="/ppt/notesMasters/notesMaster1.xml" Id="R6011117d2db84da1" /><Relationship Type="http://schemas.openxmlformats.org/officeDocument/2006/relationships/presProps" Target="/ppt/presProps.xml" Id="R8da2709ef50040e3" /><Relationship Type="http://schemas.openxmlformats.org/officeDocument/2006/relationships/tableStyles" Target="/ppt/tableStyles.xml" Id="R00978455dc0f4491" /><Relationship Type="http://schemas.openxmlformats.org/officeDocument/2006/relationships/slide" Target="/ppt/slides/slide1.xml" Id="R71bf51cfc7af445c" /><Relationship Type="http://schemas.openxmlformats.org/officeDocument/2006/relationships/slide" Target="/ppt/slides/slide2.xml" Id="R4eece0a8cd9e43b9" /><Relationship Type="http://schemas.openxmlformats.org/officeDocument/2006/relationships/slide" Target="/ppt/slides/slide3.xml" Id="R635d332995c84ff0" /><Relationship Type="http://schemas.openxmlformats.org/officeDocument/2006/relationships/slide" Target="/ppt/slides/slide4.xml" Id="R555131cc845f4770" /><Relationship Type="http://schemas.openxmlformats.org/officeDocument/2006/relationships/slide" Target="/ppt/slides/slide5.xml" Id="R243eb63e441a4942" /><Relationship Type="http://schemas.openxmlformats.org/officeDocument/2006/relationships/slide" Target="/ppt/slides/slide6.xml" Id="R4c222c87685b48b3" /><Relationship Type="http://schemas.openxmlformats.org/officeDocument/2006/relationships/slide" Target="/ppt/slides/slide7.xml" Id="Rbb53b81be6c8481c" /><Relationship Type="http://schemas.openxmlformats.org/officeDocument/2006/relationships/slide" Target="/ppt/slides/slide8.xml" Id="R2ddb881467564663" /><Relationship Type="http://schemas.openxmlformats.org/officeDocument/2006/relationships/slide" Target="/ppt/slides/slide9.xml" Id="R14711366d8fd4908" /><Relationship Type="http://schemas.openxmlformats.org/officeDocument/2006/relationships/slide" Target="/ppt/slides/slide10.xml" Id="R829f5c033b424d68" /><Relationship Type="http://schemas.openxmlformats.org/officeDocument/2006/relationships/slide" Target="/ppt/slides/slide11.xml" Id="R406cdc6b88b9442f" /><Relationship Type="http://schemas.openxmlformats.org/officeDocument/2006/relationships/slide" Target="/ppt/slides/slide12.xml" Id="R5c92420c244e4ccd" /><Relationship Type="http://schemas.openxmlformats.org/officeDocument/2006/relationships/slide" Target="/ppt/slides/slide13.xml" Id="Rd7dfb9ec9d5249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c39d7ea47e40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ebbcd25fd74db2" /><Relationship Type="http://schemas.openxmlformats.org/officeDocument/2006/relationships/notesMaster" Target="/ppt/notesMasters/notesMaster1.xml" Id="Ra3e937c5523940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b76288b99241f0" /><Relationship Type="http://schemas.openxmlformats.org/officeDocument/2006/relationships/notesMaster" Target="/ppt/notesMasters/notesMaster1.xml" Id="Rcf0116c3f4604b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47b344382946b6" /><Relationship Type="http://schemas.openxmlformats.org/officeDocument/2006/relationships/notesMaster" Target="/ppt/notesMasters/notesMaster1.xml" Id="Rfa45f68797f545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7f7eaf021a4237" /><Relationship Type="http://schemas.openxmlformats.org/officeDocument/2006/relationships/notesMaster" Target="/ppt/notesMasters/notesMaster1.xml" Id="Rbec95222b71845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08d598a38e4cfd" /><Relationship Type="http://schemas.openxmlformats.org/officeDocument/2006/relationships/notesMaster" Target="/ppt/notesMasters/notesMaster1.xml" Id="Rbe27a89573f74c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5d346dba8246cc" /><Relationship Type="http://schemas.openxmlformats.org/officeDocument/2006/relationships/notesMaster" Target="/ppt/notesMasters/notesMaster1.xml" Id="R871d849368784d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107d8f08af4981" /><Relationship Type="http://schemas.openxmlformats.org/officeDocument/2006/relationships/notesMaster" Target="/ppt/notesMasters/notesMaster1.xml" Id="R009d9c55f3ab47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234550979f473f" /><Relationship Type="http://schemas.openxmlformats.org/officeDocument/2006/relationships/notesMaster" Target="/ppt/notesMasters/notesMaster1.xml" Id="R0d1db059623c41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ae8eee4cc4490f" /><Relationship Type="http://schemas.openxmlformats.org/officeDocument/2006/relationships/notesMaster" Target="/ppt/notesMasters/notesMaster1.xml" Id="R3338a4718cb644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d6e36c7ec048d1" /><Relationship Type="http://schemas.openxmlformats.org/officeDocument/2006/relationships/notesMaster" Target="/ppt/notesMasters/notesMaster1.xml" Id="Rfffcd3c248a345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d4904941d94ee8" /><Relationship Type="http://schemas.openxmlformats.org/officeDocument/2006/relationships/notesMaster" Target="/ppt/notesMasters/notesMaster1.xml" Id="R6bc49b08cc7e4d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30dd1f70ca44b5" /><Relationship Type="http://schemas.openxmlformats.org/officeDocument/2006/relationships/notesMaster" Target="/ppt/notesMasters/notesMaster1.xml" Id="R7d3baef3f46940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75fabe12a540a0" /><Relationship Type="http://schemas.openxmlformats.org/officeDocument/2006/relationships/notesMaster" Target="/ppt/notesMasters/notesMaster1.xml" Id="Rf95110c5407748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636d2a4d347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24a1a9e0194ab1" /><Relationship Type="http://schemas.openxmlformats.org/officeDocument/2006/relationships/slideLayout" Target="/ppt/slideLayouts/slideLayout1.xml" Id="R5c8c3989b5774c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8c3989b5774c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c71f7bf574ad4" /><Relationship Type="http://schemas.openxmlformats.org/officeDocument/2006/relationships/notesSlide" Target="/ppt/notesSlides/notesSlide1.xml" Id="R84ea359df87247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f4fd787704e74" /><Relationship Type="http://schemas.openxmlformats.org/officeDocument/2006/relationships/notesSlide" Target="/ppt/notesSlides/notesSlide2.xml" Id="R1fe3f03e6fcc48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ddd00fa354bbc" /><Relationship Type="http://schemas.openxmlformats.org/officeDocument/2006/relationships/notesSlide" Target="/ppt/notesSlides/notesSlide3.xml" Id="R72b449678beb40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e50a1053b4d46" /><Relationship Type="http://schemas.openxmlformats.org/officeDocument/2006/relationships/notesSlide" Target="/ppt/notesSlides/notesSlide4.xml" Id="R02d1617aaa3044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cad3c893449c9" /><Relationship Type="http://schemas.openxmlformats.org/officeDocument/2006/relationships/notesSlide" Target="/ppt/notesSlides/notesSlide5.xml" Id="R008b70cc13734a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94c650d224d42" /><Relationship Type="http://schemas.openxmlformats.org/officeDocument/2006/relationships/notesSlide" Target="/ppt/notesSlides/notesSlide6.xml" Id="Rffedea8d9cbf4b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b3c3dd4b546cc" /><Relationship Type="http://schemas.openxmlformats.org/officeDocument/2006/relationships/notesSlide" Target="/ppt/notesSlides/notesSlide7.xml" Id="R431b53e1673044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0e32309cc4922" /><Relationship Type="http://schemas.openxmlformats.org/officeDocument/2006/relationships/notesSlide" Target="/ppt/notesSlides/notesSlide8.xml" Id="R84b6efefba5c48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051bb498d450b" /><Relationship Type="http://schemas.openxmlformats.org/officeDocument/2006/relationships/notesSlide" Target="/ppt/notesSlides/notesSlide9.xml" Id="R94e6f3426fe746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d5eb7bbe847ee" /><Relationship Type="http://schemas.openxmlformats.org/officeDocument/2006/relationships/notesSlide" Target="/ppt/notesSlides/notesSlide10.xml" Id="R2940de0b995347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228fd2ec54a63" /><Relationship Type="http://schemas.openxmlformats.org/officeDocument/2006/relationships/notesSlide" Target="/ppt/notesSlides/notesSlide11.xml" Id="Rc5ac2d64ba0a4c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4658108ef4e18" /><Relationship Type="http://schemas.openxmlformats.org/officeDocument/2006/relationships/notesSlide" Target="/ppt/notesSlides/notesSlide12.xml" Id="R835f57f9784346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11395aa454b54" /><Relationship Type="http://schemas.openxmlformats.org/officeDocument/2006/relationships/notesSlide" Target="/ppt/notesSlides/notesSlide13.xml" Id="R2fa77c31047f4b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6AA12216-6C77-4D46-8E72-CEA7B90C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C8CC33E7-7143-4766-B995-9BF2C737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3165B24E-2A62-48BC-868E-D3ADACB0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E7E36EBF-8352-4E53-8A6E-97389EB5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8BFCCC7A-7BAC-46F8-BB1A-A9C6B09A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3A0EF6B3-A543-4729-8566-550794C7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83F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152CD64-48FD-4637-A588-807DEC87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第 4 章 · 行业应用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60EFD69-4413-4E84-9D16-038AE974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035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企业办公、知识管理与 AIGC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746CFE5-0A8A-4EA1-A559-45E1BE08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把文档、会议、知识库和多模态内容生产连接成可复用、可审批的企业工作流。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5D1816F5-8409-479B-A576-57DD077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企业里并不缺文档，缺的是在正确时间把正确版本交给有权限的人；会议录音、聊天、制度、合同、产品说明和销售材料不断产生；若没有来源与责任管理；AI 只会加速复制旧信息和错误信息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04F1BF98-537E-48E9-944B-8765230A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9101292D-3708-4A65-90AA-2A63DB02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783F"/>
                </a:solidFill>
                <a:latin typeface="PingFang SC"/>
                <a:ea typeface="PingFang SC"/>
                <a:cs typeface="PingFang SC"/>
              </a:rPr>
              <a:t>IN-004 · IN-004-S01</a:t>
            </a:r>
          </a:p>
        </p:txBody>
      </p:sp>
    </p:spTree>
    <p:extLst>
      <p:ext uri="{BB962C8B-B14F-4D97-AF65-F5344CB8AC3E}">
        <p14:creationId xmlns:p14="http://schemas.microsoft.com/office/powerpoint/2010/main" val="1476732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D07292D3-7940-44DB-ABAA-F750666E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C367A01F-B956-4D8C-8DD5-A505F4B2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ABC5666C-37EB-4343-B6AB-EB062791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企业知识与 AIGC：4项学习结果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2E67355E-D6C4-4088-B36B-CE6097EE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CEBD6646-A61B-425B-9D02-C5B817B6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65E7DB73-B7E8-44A6-9E46-81C1A389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将会议、制度和业务文档加工为可检索、可引用的知识单元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F63D6D16-6B8C-4771-ADBF-FFD7049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为知识设置来源、权限、版本、有效期、责任人和失效处置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31721583-C720-4786-B616-DE37A697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设计从草稿生成到人工审批、正式交付和反馈纠错的办公流程</a:t>
            </a:r>
          </a:p>
        </p:txBody>
      </p:sp>
      <p:sp>
        <p:nvSpPr>
          <p:cNvPr id="9" name="objective-4">
            <a:extLst xmlns:a="http://schemas.openxmlformats.org/drawingml/2006/main">
              <a:ext uri="{FF2B5EF4-FFF2-40B4-BE49-F238E27FC236}">
                <a16:creationId xmlns:a16="http://schemas.microsoft.com/office/drawing/2014/main" id="{F628421D-2977-4AE1-B380-07368BDF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04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用使用率、引用质量、时效、纠错与业务结果评估知识系统</a:t>
            </a:r>
          </a:p>
        </p:txBody>
      </p:sp>
    </p:spTree>
    <p:extLst>
      <p:ext uri="{BB962C8B-B14F-4D97-AF65-F5344CB8AC3E}">
        <p14:creationId xmlns:p14="http://schemas.microsoft.com/office/powerpoint/2010/main" val="6801858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94FF70C0-5514-4E8E-A7B5-BC55C5B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F6792190-9F30-476D-BDE9-15A8CA16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1 / 6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565E6E3F-81A0-4703-81D3-9C84B5B7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第一步是接收和规范化资料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7B159CB0-D72F-42E4-BEDC-7813601F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78522F10-B30F-48DD-91FB-109C82CD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84949C2B-64A5-4535-BE60-839C8F62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5B38270-DA05-4913-A201-EE51E657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从原始文档到知识单元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8A0E5D3D-26BF-456C-B7E1-5434D204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30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第一步是接收和规范化资料；文字文档保留原文件和页码；扫描件经过识别后要与图像对照；会议录音转写后保留时间戳与说话人待确认标记；系统应记录资料所有者、密级、创建时间和接入方式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84E2B4E2-4ED2-4355-9E26-FD90F54D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80268CED-78BC-4288-B1A7-67B049DF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第二步是提取结构，会议材料可抽取议题、已确认决策、未决问题、行动项、负责人和截止日期；制度文件可拆成适用对象、条件、规则、例外和办理步骤；销售资料可拆成产品事实、可公开卖点、限制条件和批准用语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D1AE137A-6D45-408F-A025-28712072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1DC2F45D-908F-467A-B1CC-56D56E45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第三步是核验，模型可能把讨论中的建议写成正式决定；也可能把多个版本拼接；资料责任人应检查事实、引用和状态；确认后才进入可检索知识库；未确认的会议转写、草稿和外部网页应明确标为候选信息</a:t>
            </a:r>
          </a:p>
        </p:txBody>
      </p:sp>
      <p:sp>
        <p:nvSpPr>
          <p:cNvPr id="13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3C623ECA-9D09-4E4F-A775-BD3E48C6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3-takeaway">
            <a:extLst xmlns:a="http://schemas.openxmlformats.org/drawingml/2006/main">
              <a:ext uri="{FF2B5EF4-FFF2-40B4-BE49-F238E27FC236}">
                <a16:creationId xmlns:a16="http://schemas.microsoft.com/office/drawing/2014/main" id="{5BF95DE8-C718-4BC2-984C-F70603D0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第一步是接收和规范化资料</a:t>
            </a:r>
          </a:p>
        </p:txBody>
      </p:sp>
    </p:spTree>
    <p:extLst>
      <p:ext uri="{BB962C8B-B14F-4D97-AF65-F5344CB8AC3E}">
        <p14:creationId xmlns:p14="http://schemas.microsoft.com/office/powerpoint/2010/main" val="24759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FF22D612-27DA-414E-9A80-076D39AC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6DBC6ABD-7A82-45B8-909C-D7D07A76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2 / 6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70777533-E22E-4FF3-94A5-EC6D710B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问答必须先校验身份，再检索有效资料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4A3EF4C9-ACFE-4A5A-AF74-E586E4BF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1563083D-ADEB-4947-A012-C3B80FDA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1CCF5F1-3E60-4E1A-9F0B-225E0F42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27A740A7-7766-4976-B26B-F4506403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检索与生成必须带引用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39C43948-74CD-4645-AF26-87C66366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用户提问时，系统先识别身份与用途；再从其有权访问且仍有效的资料中检索；生成回答应附文档名称、版本或日期以及具体位置；必要时直接展示支持结论的短句；若检索结果互相冲突、证据不足或问题超出资料范围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8558A60F-4718-4952-952D-AB65D93E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1C3C775-A0EB-41FD-8B1C-8551A991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引用质量至少包含三层检查；引用文件真实存在，引用位置确实包含相关内容；内容能够支持回答中的结论；只有第一层通过，仍可能出现“有引用的错误答案”；对于数字、价格、承诺、政策与合同条款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09B7A178-F554-4093-B7DF-EC1AF702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D322535D-2E51-4586-8186-65EDD8B4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问答必须先校验身份，再检索有效资料</a:t>
            </a:r>
          </a:p>
        </p:txBody>
      </p:sp>
    </p:spTree>
    <p:extLst>
      <p:ext uri="{BB962C8B-B14F-4D97-AF65-F5344CB8AC3E}">
        <p14:creationId xmlns:p14="http://schemas.microsoft.com/office/powerpoint/2010/main" val="803349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DDB81525-367D-4D2D-9A90-8622960B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FA16A71B-E299-473D-AB52-1006CD02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3 / 6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23699127-CB3E-428C-8DCF-F4A3714D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知识条目必须继承源文件权限与有效期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E796CDF6-2417-407C-A68E-37CABDB8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1275C429-C1D8-451F-A7A4-7F72AF72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2B50F515-C3ED-4661-AF5B-F73E52D3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00E858E-0EEC-4F0F-81E0-10229C63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权限、版本与有效期共同决定可见性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1BC9DEB5-2B93-471E-90EC-615624AC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知识条目应继承源文件权限；而不是进入知识库后自动对全员开放；角色权限还应结合部门、项目、地域、客户和保密义务；检索结果、摘要、导出和日志都应遵循同一规则；管理员需要定期检查权限漂移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9F380BF8-B9B6-4956-9A59-D182D3AD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C1A33762-51B0-478D-86E3-159E3569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同一制度可能有草案、现行版和历史版；同一产品也可能因地区、客户或发布时间不同而有多个口径；系统要标出版本关系、生效时间、失效时间和替代文件；接近复审日期时通知责任人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01023CDB-E9ED-4EAE-BA1B-418F22A7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93D121A7-1525-40A5-8B2F-64D0A50E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知识条目必须继承源文件权限与有效期</a:t>
            </a:r>
          </a:p>
        </p:txBody>
      </p:sp>
    </p:spTree>
    <p:extLst>
      <p:ext uri="{BB962C8B-B14F-4D97-AF65-F5344CB8AC3E}">
        <p14:creationId xmlns:p14="http://schemas.microsoft.com/office/powerpoint/2010/main" val="663686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BC747EE5-4275-4303-97B2-F45A4A49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768D46DD-8ECB-4A03-B5FC-E4A610A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4 / 6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B8DD5B73-2D25-42D8-A4B9-79DFDF3F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不同输出应匹配不同审批与发布责任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E9C70C96-5A6A-4C27-8B18-AC674629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94CF450C-3200-4283-9D4B-EDCAF9C8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AFB71A5-837C-4BB4-A4EC-3DA4583C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396FE9AF-91A5-422E-80A0-BA73E577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审批后再交付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48D5B7E3-2D71-4647-B1F7-6DBF7B8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AIGC 适合生成会议纪要草稿、制度问答、邮件、简报、销售材料和多渠道内容；但不同输出需要不同审批；内部个人草稿可由使用者自审；跨部门通知需要业务负责人确认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D019981A-FE97-40EB-A72F-634E46C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262E880C-B4F6-4A78-A2A3-1D5C178A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流程要保存生成依据、修改差异、审批意见和正式版本。正式交付只能来自批准状态，修改源资料后应使受影响的派生内容进入重新审核。紧急场景也应有预先批准的模板和事后复核，而不是绕过治理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61B70106-336D-4356-9AC5-018D0EDB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C7DA44C8-98F3-4279-8F9E-0811CF08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不同输出应匹配不同审批与发布责任</a:t>
            </a:r>
          </a:p>
        </p:txBody>
      </p:sp>
    </p:spTree>
    <p:extLst>
      <p:ext uri="{BB962C8B-B14F-4D97-AF65-F5344CB8AC3E}">
        <p14:creationId xmlns:p14="http://schemas.microsoft.com/office/powerpoint/2010/main" val="674169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3200908B-6A02-4FBA-88E9-77B4923E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7B54CF99-D686-4C1F-80DA-CFC0B3BF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5 / 6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7093F09D-6E1C-4B2A-A7A7-98B76648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制度发布后由责任部门拆解与核验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835F03F3-551B-403E-8E2D-58A34A6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6C16593F-8D79-4426-805B-DB61BE0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E1619FC-C019-46BE-9477-B6D23A82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51FCEC5-8F59-4FB2-90F0-7C140743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三个常见工作流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F67036D7-0C9B-4CD7-946E-AC354444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094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制度问答： 制度发布后由责任部门拆解与核验，员工提问时返回带条款引用的说明；例外申请和解释争议转人工，制度更新后旧回答自动失效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2D75AF56-E191-4CC9-BD6B-A7420E26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073CA911-6E16-43C9-94B5-E2E2EF79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会议纪要： 系统根据录音与议程生成草稿，参会人确认发言与决策，会议主持人批准；行动项进入任务系统，后续变化回写，而不是把模型摘要视为最终决议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4CA43A4A-BAD8-407F-8376-5BA7A154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F182046D-C038-415D-831E-E542CC0E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销售资料： AI 根据批准的产品事实和品牌表达生成行业版本，产品、法务或合规人员审核关键主张；价格和功能从业务系统读取，过期材料停止外发。这样既能提高复用，也能防止“创作”出不存在的承诺</a:t>
            </a:r>
          </a:p>
        </p:txBody>
      </p:sp>
      <p:sp>
        <p:nvSpPr>
          <p:cNvPr id="13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AB499EF0-8BDA-4DBD-BC72-2CCF2BA8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4" name="s7-takeaway">
            <a:extLst xmlns:a="http://schemas.openxmlformats.org/drawingml/2006/main">
              <a:ext uri="{FF2B5EF4-FFF2-40B4-BE49-F238E27FC236}">
                <a16:creationId xmlns:a16="http://schemas.microsoft.com/office/drawing/2014/main" id="{AE3A2009-B9FB-418C-A41D-C740A639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制度发布后由责任部门拆解与核验</a:t>
            </a:r>
          </a:p>
        </p:txBody>
      </p:sp>
    </p:spTree>
    <p:extLst>
      <p:ext uri="{BB962C8B-B14F-4D97-AF65-F5344CB8AC3E}">
        <p14:creationId xmlns:p14="http://schemas.microsoft.com/office/powerpoint/2010/main" val="20557642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48C1D1AE-D09A-43A5-B725-789C997A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B16C0BC5-40C0-4892-A2E2-5E3C0ECB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核心论点 6 / 6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A474BE03-8F7B-41E8-9BF8-DDAB1203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页面访问量并不能证明知识有用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A2466BED-E437-4E4B-B430-01A073E1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87707A74-0246-4416-B983-F284BAD0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F0D0B9E9-55DC-49CE-AFA5-9EAAD384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ACAAE82-FBE7-4B92-B5C1-C8F62D6C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用真实使用和纠错衡量价值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596626C7-82F2-4C52-A345-E988F4BA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页面访问量并不能证明知识有用。更有意义的指标包括：问题是否得到有依据的解决、引用能否支持回答、用户是否反复追问、人工转交是否准确、旧版本是否被拦截、从资料产生到批准可用需要多久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629BD7AF-4D9A-4D00-9549-AACFC91A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A3F1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2FA4B4B-5DF3-454B-BF2F-BE6EAC1B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还应观察业务结果，例如会议行动项按时完成情况、服务台重复咨询变化、销售资料退回原因和知识责任人的维护负担；若用户很少采用系统答案</a:t>
            </a:r>
          </a:p>
        </p:txBody>
      </p:sp>
      <p:sp>
        <p:nvSpPr>
          <p:cNvPr id="11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BD6363AB-DB48-4035-8C7D-3D18C954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8-takeaway">
            <a:extLst xmlns:a="http://schemas.openxmlformats.org/drawingml/2006/main">
              <a:ext uri="{FF2B5EF4-FFF2-40B4-BE49-F238E27FC236}">
                <a16:creationId xmlns:a16="http://schemas.microsoft.com/office/drawing/2014/main" id="{FA8B59CE-B406-432F-8545-F6E45208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页面访问量并不能证明知识有用</a:t>
            </a:r>
          </a:p>
        </p:txBody>
      </p:sp>
    </p:spTree>
    <p:extLst>
      <p:ext uri="{BB962C8B-B14F-4D97-AF65-F5344CB8AC3E}">
        <p14:creationId xmlns:p14="http://schemas.microsoft.com/office/powerpoint/2010/main" val="12908382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9C2918E0-3121-4995-826E-5F63100F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AFED4B16-C15B-49D3-A1C5-4E573A18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F807EF6D-B483-4145-BEF3-F0AB1DEE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一次会议如何进入知识库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15672D50-6423-4CB6-817C-D3AEAB11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25215F14-38DA-4F32-810D-C0C27949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IN-004-S09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6EDB7C96-E0BB-4163-AB73-A9837B7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一次会议如何进入知识库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21F9B0CC-3AAA-4A4C-B197-4B97310B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输入｜议程、演示材料、录音转写和参会人名单，分别保留原始位置与访问权限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634FA3D6-64C8-43AB-BC78-3E4E5E96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抽取｜系统区分讨论、建议、已确认决策和行动项，并给每一项附时间戳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E706ECB2-1F77-438B-B1E6-B7680AA2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审批｜参会人修正转写，主持人确认决策；未经确认的内容不作为组织结论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6FE99733-293D-45BA-9DF8-E69076DE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交付｜纪要按权限发布，行动项进入任务跟踪，相关知识设置责任人和复审日期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C482E125-358A-486F-8862-B9E68A1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D1428713-C759-42C1-B2DC-E982B7A0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一次会议如何进入知识库</a:t>
            </a:r>
          </a:p>
        </p:txBody>
      </p:sp>
    </p:spTree>
    <p:extLst>
      <p:ext uri="{BB962C8B-B14F-4D97-AF65-F5344CB8AC3E}">
        <p14:creationId xmlns:p14="http://schemas.microsoft.com/office/powerpoint/2010/main" val="1105673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75ADC0A8-B71F-49EE-89F0-A10D7ACD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83C6BC70-0370-448A-93AF-C1A76A3E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0E2A5ABE-878C-4BC4-88B9-3E3E7487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制度问答必须绑定版本、生效日期与权限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30F4426B-CBA4-4DBA-85C8-A2FDB498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FA8B9F17-77A3-474E-AEA1-6E9D872D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IN-004-S10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09292803-89A6-4310-85DF-195BE298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744027"/>
          </a:solidFill>
          <a:ln xmlns:a="http://schemas.openxmlformats.org/drawingml/2006/main" w="0">
            <a:solidFill>
              <a:srgbClr val="74402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带版本的制度问答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64A6528B-758F-4617-A93A-A35883AA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边界｜特殊情形转财务人员；当新制度生效，旧条目停止用于回答，历史版本仅供有权限者查阅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F0A0F1B7-1C51-4BBC-9F7C-A378DA6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提问｜员工询问某类费用能否报销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8CE74A0B-17DB-4472-B79A-FB71739B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6534150" cy="8382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回答｜系统返回适用范围、条件、例外和原文位置，同时显示制度版本与生效时间</a:t>
            </a:r>
          </a:p>
        </p:txBody>
      </p:sp>
      <p:sp>
        <p:nvSpPr>
          <p:cNvPr id="10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3C1CC09B-7CA6-48DC-887A-35721F36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52A10C3C-BB8E-4DDA-82E9-2B4AE604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制度问答必须绑定版本、生效日期与权限</a:t>
            </a:r>
          </a:p>
        </p:txBody>
      </p:sp>
    </p:spTree>
    <p:extLst>
      <p:ext uri="{BB962C8B-B14F-4D97-AF65-F5344CB8AC3E}">
        <p14:creationId xmlns:p14="http://schemas.microsoft.com/office/powerpoint/2010/main" val="8293471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30DD7929-2306-4B69-A788-3309561E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2CEDFBE9-C178-4F31-8DC9-9481E9B3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5A64DAE5-DCB3-4E42-8A58-65B8DC52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企业知识与 AIGC：一次可验收练习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8DFC4DF6-5395-49B8-97A8-86764435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5A92BB2E-F143-4AF3-8686-7E695172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IN-004-S11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22B56C2F-5A17-41FA-9077-916DD95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28601FB2-BEE5-4D83-8874-79A1C521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D50DF389-80EC-45D4-A456-3EF161E2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选取一份不含敏感信息的制度或会议样例，拆出五个知识单元，并填写原文位置、适用对象、版本、有效期、权限和责任人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793FD311-7FE6-43A9-9258-DA554B48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41F0DC6E-F10C-4856-91E1-983028E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1499A619-308F-41DB-9F56-EC712A7C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6E5CD977-D9FF-4761-9E71-9DE070B7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设计三个正常问题、一个证据冲突问题和一个越权问题，检查回答的证据和访问控制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88E425C4-30AC-4454-AC50-8DF059FD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5CC4DDB7-C7BB-416A-9FC4-4D1B725E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A0CBF081-A242-4E98-92D9-5E9B169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5C18BAD4-699F-4C7E-AB71-72FE7EA9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画出“生成草稿—业务审核—正式交付—反馈纠错—版本失效”的状态流，并为每次状态变化指定操作者</a:t>
            </a:r>
          </a:p>
        </p:txBody>
      </p:sp>
    </p:spTree>
    <p:extLst>
      <p:ext uri="{BB962C8B-B14F-4D97-AF65-F5344CB8AC3E}">
        <p14:creationId xmlns:p14="http://schemas.microsoft.com/office/powerpoint/2010/main" val="11966235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67438359-EBF2-4EB4-B1A0-AD974A2E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3C8A5CC3-CF4D-41EB-8BF7-3EDB2773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2894E6D0-C13C-48D9-B6CD-60A9EA69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企业知识与 AIGC：判断时先抓住三点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3F56EADE-7D32-498F-A38B-4727DA66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2AD5E76E-BCD3-4B09-8B42-2A006B7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IN-004-S12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473CC1C9-9C76-4D38-929D-9D701426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2EDDF5B7-54F9-460A-8CA5-930ABC85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B974C361-5C6A-48F2-AEA3-2DFC5A34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第一步是接收和规范化资料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277990F5-4822-48DC-82DD-B2564E3B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486A7149-0D4B-4769-A798-E85043BE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02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FA9F994C-6C75-4D89-B83B-1EAEC7F9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852E6E5C-612C-4CC7-8716-0CC5D9DE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知识条目必须继承源文件权限与有效期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DC44C33A-4D33-44A4-A9F1-4A6B6D48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3F16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89D33805-10EF-4B92-8108-4AB14103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F1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E84EBFAE-C6FF-4887-B700-DEFA4324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5D819CCC-06C5-4AEE-8023-9E626420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页面访问量并不能证明知识有用</a:t>
            </a:r>
          </a:p>
        </p:txBody>
      </p:sp>
    </p:spTree>
    <p:extLst>
      <p:ext uri="{BB962C8B-B14F-4D97-AF65-F5344CB8AC3E}">
        <p14:creationId xmlns:p14="http://schemas.microsoft.com/office/powerpoint/2010/main" val="13954373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7CF87C6A-FFB8-4846-B602-C8B7BA57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6805EE07-E22C-4F1D-989D-44342E0A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E1019F89-3DC9-4226-94CF-B5A27768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企业知识与 AIGC：依据、边界与延伸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3A6A9FAC-9BE3-4446-B673-3449037B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AD37FCFA-C3AF-42AE-AF57-A9244011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IN-004 · IN-004-S13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CE880E38-6928-4662-8A2C-FAE6CA78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9A3F16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2214F53E-3753-4F82-A58E-7937E364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ISO/IEC 42001:2023：人工智能管理体系要求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B157A1F7-EAA6-4B24-B78F-DFE93FEF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ISO/IEC 27001:2022：信息安全管理体系要求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0955202D-B559-4512-97FE-33C987E0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企业落地时还应遵循本组织的文档管理、保密、授权审批、记录保存和对外发布制度</a:t>
            </a:r>
          </a:p>
        </p:txBody>
      </p:sp>
      <p:sp>
        <p:nvSpPr>
          <p:cNvPr id="10" name="s13-takeaway-rule">
            <a:extLst xmlns:a="http://schemas.openxmlformats.org/drawingml/2006/main">
              <a:ext uri="{FF2B5EF4-FFF2-40B4-BE49-F238E27FC236}">
                <a16:creationId xmlns:a16="http://schemas.microsoft.com/office/drawing/2014/main" id="{6CA56871-3A17-44AB-BB0D-204D27FD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83F"/>
          </a:solidFill>
          <a:ln xmlns:a="http://schemas.openxmlformats.org/drawingml/2006/main" w="0">
            <a:solidFill>
              <a:srgbClr val="E5783F"/>
            </a:solidFill>
            <a:prstDash val="solid"/>
          </a:ln>
        </p:spPr>
      </p:sp>
      <p:sp>
        <p:nvSpPr>
          <p:cNvPr id="11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61EEC89C-3D9E-4910-9828-05E24D83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44027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1694364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2026-07-12T08:20:29.1890000Z</dcterms:created>
  <dcterms:modified xsi:type="dcterms:W3CDTF">2026-07-12T08:20:29.1890000Z</dcterms:modified>
</coreProperties>
</file>