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91813dc2a6410f" /><Relationship Type="http://schemas.openxmlformats.org/officeDocument/2006/relationships/extended-properties" Target="/docProps/app.xml" Id="R0533f17fc10e4ee5" /><Relationship Type="http://schemas.openxmlformats.org/officeDocument/2006/relationships/officeDocument" Target="/ppt/presentation.xml" Id="Rcb95c8ca97c0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3b5500824647f7"/>
  </p:sldMasterIdLst>
  <p:notesMasterIdLst>
    <p:notesMasterId xmlns:r="http://schemas.openxmlformats.org/officeDocument/2006/relationships" r:id="Rd653774a75de40ea"/>
  </p:notesMasterIdLst>
  <p:sldIdLst>
    <p:sldId xmlns:r="http://schemas.openxmlformats.org/officeDocument/2006/relationships" id="256" r:id="Rb480919400c449b8"/>
    <p:sldId xmlns:r="http://schemas.openxmlformats.org/officeDocument/2006/relationships" id="257" r:id="R19d74ffd6ca94188"/>
    <p:sldId xmlns:r="http://schemas.openxmlformats.org/officeDocument/2006/relationships" id="258" r:id="Rb7b36d55c4d44270"/>
    <p:sldId xmlns:r="http://schemas.openxmlformats.org/officeDocument/2006/relationships" id="259" r:id="R2bfe0998f84a4e2c"/>
    <p:sldId xmlns:r="http://schemas.openxmlformats.org/officeDocument/2006/relationships" id="260" r:id="R58044d61aaff43cb"/>
    <p:sldId xmlns:r="http://schemas.openxmlformats.org/officeDocument/2006/relationships" id="261" r:id="R5b6df3a2386743e3"/>
    <p:sldId xmlns:r="http://schemas.openxmlformats.org/officeDocument/2006/relationships" id="262" r:id="R109b5b49748443ca"/>
    <p:sldId xmlns:r="http://schemas.openxmlformats.org/officeDocument/2006/relationships" id="263" r:id="R48f1f6f4fdb143f2"/>
    <p:sldId xmlns:r="http://schemas.openxmlformats.org/officeDocument/2006/relationships" id="264" r:id="R1569048c71f7472d"/>
    <p:sldId xmlns:r="http://schemas.openxmlformats.org/officeDocument/2006/relationships" id="265" r:id="Rf5f5a737dce24dfe"/>
    <p:sldId xmlns:r="http://schemas.openxmlformats.org/officeDocument/2006/relationships" id="266" r:id="R0d86d3747da54298"/>
    <p:sldId xmlns:r="http://schemas.openxmlformats.org/officeDocument/2006/relationships" id="267" r:id="R09f172fd7b754b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f1fb321134158" /><Relationship Type="http://schemas.openxmlformats.org/officeDocument/2006/relationships/slideMaster" Target="/ppt/slideMasters/slideMaster1.xml" Id="R933b5500824647f7" /><Relationship Type="http://schemas.openxmlformats.org/officeDocument/2006/relationships/notesMaster" Target="/ppt/notesMasters/notesMaster1.xml" Id="Rd653774a75de40ea" /><Relationship Type="http://schemas.openxmlformats.org/officeDocument/2006/relationships/presProps" Target="/ppt/presProps.xml" Id="Rcffe82ccf52743eb" /><Relationship Type="http://schemas.openxmlformats.org/officeDocument/2006/relationships/tableStyles" Target="/ppt/tableStyles.xml" Id="R370a29807fd2479a" /><Relationship Type="http://schemas.openxmlformats.org/officeDocument/2006/relationships/slide" Target="/ppt/slides/slide1.xml" Id="Rb480919400c449b8" /><Relationship Type="http://schemas.openxmlformats.org/officeDocument/2006/relationships/slide" Target="/ppt/slides/slide2.xml" Id="R19d74ffd6ca94188" /><Relationship Type="http://schemas.openxmlformats.org/officeDocument/2006/relationships/slide" Target="/ppt/slides/slide3.xml" Id="Rb7b36d55c4d44270" /><Relationship Type="http://schemas.openxmlformats.org/officeDocument/2006/relationships/slide" Target="/ppt/slides/slide4.xml" Id="R2bfe0998f84a4e2c" /><Relationship Type="http://schemas.openxmlformats.org/officeDocument/2006/relationships/slide" Target="/ppt/slides/slide5.xml" Id="R58044d61aaff43cb" /><Relationship Type="http://schemas.openxmlformats.org/officeDocument/2006/relationships/slide" Target="/ppt/slides/slide6.xml" Id="R5b6df3a2386743e3" /><Relationship Type="http://schemas.openxmlformats.org/officeDocument/2006/relationships/slide" Target="/ppt/slides/slide7.xml" Id="R109b5b49748443ca" /><Relationship Type="http://schemas.openxmlformats.org/officeDocument/2006/relationships/slide" Target="/ppt/slides/slide8.xml" Id="R48f1f6f4fdb143f2" /><Relationship Type="http://schemas.openxmlformats.org/officeDocument/2006/relationships/slide" Target="/ppt/slides/slide9.xml" Id="R1569048c71f7472d" /><Relationship Type="http://schemas.openxmlformats.org/officeDocument/2006/relationships/slide" Target="/ppt/slides/slide10.xml" Id="Rf5f5a737dce24dfe" /><Relationship Type="http://schemas.openxmlformats.org/officeDocument/2006/relationships/slide" Target="/ppt/slides/slide11.xml" Id="R0d86d3747da54298" /><Relationship Type="http://schemas.openxmlformats.org/officeDocument/2006/relationships/slide" Target="/ppt/slides/slide12.xml" Id="R09f172fd7b75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faca8e20a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e349a218a4a1e" /><Relationship Type="http://schemas.openxmlformats.org/officeDocument/2006/relationships/notesMaster" Target="/ppt/notesMasters/notesMaster1.xml" Id="Rc8fdb6d22fe343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3cb12500f54ff3" /><Relationship Type="http://schemas.openxmlformats.org/officeDocument/2006/relationships/notesMaster" Target="/ppt/notesMasters/notesMaster1.xml" Id="Ra09802c765dd4e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00732b187a4a3b" /><Relationship Type="http://schemas.openxmlformats.org/officeDocument/2006/relationships/notesMaster" Target="/ppt/notesMasters/notesMaster1.xml" Id="R73b787d68c4b4a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b838be600a4c4e" /><Relationship Type="http://schemas.openxmlformats.org/officeDocument/2006/relationships/notesMaster" Target="/ppt/notesMasters/notesMaster1.xml" Id="Rbff3b67dee0249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4398d4bdf6462c" /><Relationship Type="http://schemas.openxmlformats.org/officeDocument/2006/relationships/notesMaster" Target="/ppt/notesMasters/notesMaster1.xml" Id="R5c369555e5984c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68d7da6d79418e" /><Relationship Type="http://schemas.openxmlformats.org/officeDocument/2006/relationships/notesMaster" Target="/ppt/notesMasters/notesMaster1.xml" Id="R631cebfc9e0346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6f4f2083934b76" /><Relationship Type="http://schemas.openxmlformats.org/officeDocument/2006/relationships/notesMaster" Target="/ppt/notesMasters/notesMaster1.xml" Id="R48375b2a671b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fae40084914246" /><Relationship Type="http://schemas.openxmlformats.org/officeDocument/2006/relationships/notesMaster" Target="/ppt/notesMasters/notesMaster1.xml" Id="Ra483d6bcd08145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acc74dc7524774" /><Relationship Type="http://schemas.openxmlformats.org/officeDocument/2006/relationships/notesMaster" Target="/ppt/notesMasters/notesMaster1.xml" Id="Re258b9a8dd7049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ab9c046d2f4eb4" /><Relationship Type="http://schemas.openxmlformats.org/officeDocument/2006/relationships/notesMaster" Target="/ppt/notesMasters/notesMaster1.xml" Id="R0c1f545d1fa54b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87ac21de5c49e7" /><Relationship Type="http://schemas.openxmlformats.org/officeDocument/2006/relationships/notesMaster" Target="/ppt/notesMasters/notesMaster1.xml" Id="R2aa76b94266c4e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ef69bb1a7c461d" /><Relationship Type="http://schemas.openxmlformats.org/officeDocument/2006/relationships/notesMaster" Target="/ppt/notesMasters/notesMaster1.xml" Id="R3c3ac53f9a054a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1723fcd30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1e3e57f67e4a17" /><Relationship Type="http://schemas.openxmlformats.org/officeDocument/2006/relationships/slideLayout" Target="/ppt/slideLayouts/slideLayout1.xml" Id="Rcb9a3ef1492a44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a3ef1492a44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f24f01de54b26" /><Relationship Type="http://schemas.openxmlformats.org/officeDocument/2006/relationships/notesSlide" Target="/ppt/notesSlides/notesSlide1.xml" Id="R32a3142edcc8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92a548154408d" /><Relationship Type="http://schemas.openxmlformats.org/officeDocument/2006/relationships/notesSlide" Target="/ppt/notesSlides/notesSlide2.xml" Id="R32588bda7afb4e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26916e7c54c43" /><Relationship Type="http://schemas.openxmlformats.org/officeDocument/2006/relationships/notesSlide" Target="/ppt/notesSlides/notesSlide3.xml" Id="R5fa1f8a0eaa3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823b67c5049e6" /><Relationship Type="http://schemas.openxmlformats.org/officeDocument/2006/relationships/notesSlide" Target="/ppt/notesSlides/notesSlide4.xml" Id="Rbf8ca24ca0e043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740ca0e0e401e" /><Relationship Type="http://schemas.openxmlformats.org/officeDocument/2006/relationships/notesSlide" Target="/ppt/notesSlides/notesSlide5.xml" Id="R7a20d9a0abc442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b012a427b491c" /><Relationship Type="http://schemas.openxmlformats.org/officeDocument/2006/relationships/notesSlide" Target="/ppt/notesSlides/notesSlide6.xml" Id="R08776d7794a0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9f0c962394679" /><Relationship Type="http://schemas.openxmlformats.org/officeDocument/2006/relationships/notesSlide" Target="/ppt/notesSlides/notesSlide7.xml" Id="R5f34d0f3850840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31ef55a5b49cf" /><Relationship Type="http://schemas.openxmlformats.org/officeDocument/2006/relationships/notesSlide" Target="/ppt/notesSlides/notesSlide8.xml" Id="R9cba10474de94c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7f21f9d72409c" /><Relationship Type="http://schemas.openxmlformats.org/officeDocument/2006/relationships/notesSlide" Target="/ppt/notesSlides/notesSlide9.xml" Id="R77b5594632b742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ecc1176c542d3" /><Relationship Type="http://schemas.openxmlformats.org/officeDocument/2006/relationships/notesSlide" Target="/ppt/notesSlides/notesSlide10.xml" Id="R977862ab185048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6112e7967457f" /><Relationship Type="http://schemas.openxmlformats.org/officeDocument/2006/relationships/notesSlide" Target="/ppt/notesSlides/notesSlide11.xml" Id="R583b278f180c4e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e171307414462" /><Relationship Type="http://schemas.openxmlformats.org/officeDocument/2006/relationships/notesSlide" Target="/ppt/notesSlides/notesSlide12.xml" Id="R9266a1c573ae41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C5D596DC-F134-4FEE-A639-866301B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36EFE687-7114-47BC-980E-F0CC2D3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D585E86C-7FBA-4A0D-BD91-43C0C995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E71CB87E-F917-4404-95F8-AEB2013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05691899-7A21-4773-8C94-1EF5B342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36792D5D-D5E9-457B-BDED-B05D8132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7B512AF-2382-47CE-B281-7B19BEA0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第 2 章 · AI 智能体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5185B6-B270-44F1-B733-641A3D3E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75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工具调用、MCP、记忆与规划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0A60BFF-D72C-4828-9B5C-AA7DC5A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解释智能体如何通过稳定工具契约、分层上下文和可更新记忆完成长任务。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391A58E3-8A09-4F9D-8658-FBAB75E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语言模型能生成文字；但不能仅凭文字读取最新库存、查询内部资料或修改日程；智能体要进入真实业务；必须通过工具与外部系统交互；工具把“模型建议做什么”转换为“系统实际执行了什么”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7BE5F316-5E18-43F1-A7F5-CB70CA69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9C2F416B-4C23-4F56-BFC1-CE33AE2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AG-002 · AG-002-S01</a:t>
            </a:r>
          </a:p>
        </p:txBody>
      </p:sp>
    </p:spTree>
    <p:extLst>
      <p:ext uri="{BB962C8B-B14F-4D97-AF65-F5344CB8AC3E}">
        <p14:creationId xmlns:p14="http://schemas.microsoft.com/office/powerpoint/2010/main" val="1848644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FCE36C45-FC61-43B8-A6D4-9EEF5F25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CC0996ED-5F65-4118-8ED2-CAB15ECD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7DF83595-B5C2-483D-B2B3-80CD3C3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智能体工具与规划：4项学习结果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ABBF4EEC-0453-4EC9-BF2A-55B3C9E1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F6907E22-0A93-473A-B188-82B58D40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78CD600A-9995-4523-96EC-BBB8C4EA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为一个工具写出名称、用途、输入、输出、权限、失败语义和幂等性要求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718008D9-B7BA-42C2-A2FD-EABB444C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 MCP 中 host、client、server 以及 tools、resources、prompts 的职责边界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5BCA849C-6CCC-4588-B8BC-64AE60B4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区分当前上下文、任务短期状态和长期记忆，并为记忆设置来源、范围和失效条件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13ECB369-E1D9-4CE4-A375-52742B23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把长任务拆成可验收步骤，并正确处理无权限、工具异常和部分完成</a:t>
            </a:r>
          </a:p>
        </p:txBody>
      </p:sp>
    </p:spTree>
    <p:extLst>
      <p:ext uri="{BB962C8B-B14F-4D97-AF65-F5344CB8AC3E}">
        <p14:creationId xmlns:p14="http://schemas.microsoft.com/office/powerpoint/2010/main" val="274481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A5758F7E-C954-4D7E-8734-BA025083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660D2466-1F87-40D8-8F25-EBA2AA1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EA91CC42-35C1-44AB-B79F-9E58CDEF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28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工具不是一段模糊的自然语言说明，而是一份可检查的契约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F43197F1-80AC-42DF-AD84-B6832070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D35DD71F-FDE8-4BB3-A7D4-5ED23E1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5518B6EF-B570-4DCC-A1CB-EDA5EBC2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09312EC-2A6C-477F-AC3F-E77C048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工具契约：先约定，再调用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E456CEF-0BE4-478D-9D3C-DC1D4D5E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工具不是一段模糊的自然语言说明，而是一份可检查的契约。至少应包含以下部分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7A6516C-F57A-44E4-A1BC-A147EA27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4E42376-6BFF-4C5D-B160-DE83CB1D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描述越含糊，模型越容易选错工具或补造参数；对于写入型工具，还要提供“预览”或“草稿”能力；让智能体先展示将要发生的变化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1AC54D99-31A9-470F-B564-6C1DE5F2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6FF0B6E1-EA35-4009-9AB6-C003742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工具不是一段模糊的自然语言说明，而是一份可检查的契约</a:t>
            </a:r>
          </a:p>
        </p:txBody>
      </p:sp>
    </p:spTree>
    <p:extLst>
      <p:ext uri="{BB962C8B-B14F-4D97-AF65-F5344CB8AC3E}">
        <p14:creationId xmlns:p14="http://schemas.microsoft.com/office/powerpoint/2010/main" val="1196744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9F372F81-3CD1-49C0-8B6D-6B22421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A6D41DB0-4C92-4A40-84A5-1B6915DD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A9A8CE8D-7779-4C08-A4BF-443A970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工具结果必须区分成功、部分成功与失败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B19EAB07-E487-4710-B3AC-179BB1F9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2998C2AA-6F55-4BDB-A933-57DF922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9E41E66-5A1A-4876-9982-60CBB77F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4878BB0-07DA-4EFC-B7A7-EB903D70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工具结果：失败必须是可读状态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3B1FEE4-7EAE-43C3-9757-562B4CD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工具调用可能出现四类结果；成功、部分成功、可重试失败和不可重试失败；超时或网络中断通常只能说明“结果未知”；不能直接再次写入，否则可能重复创建记录；参数错误应先修正输入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808B174-5AC5-423B-AB61-4EE3BDE8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1BBFD97-4EBE-4A69-90B2-E689181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智能体要读取结构化错误码、错误信息和是否可重试，而不是从一句模糊文本中猜测。系统还应保存调用标识，便于确认一次写入究竟是否已经发生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6113BF01-1E46-45C5-A869-762F940E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5B6CF906-2F5B-414E-8268-CD54259E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工具结果必须区分成功、部分成功与失败</a:t>
            </a:r>
          </a:p>
        </p:txBody>
      </p:sp>
    </p:spTree>
    <p:extLst>
      <p:ext uri="{BB962C8B-B14F-4D97-AF65-F5344CB8AC3E}">
        <p14:creationId xmlns:p14="http://schemas.microsoft.com/office/powerpoint/2010/main" val="945961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F8CF7A27-B37F-4FD6-A3F2-64D1546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9644C776-E023-4CF6-A7D2-AB5C408C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C14A997A-2B70-43B9-B864-A6FEC967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MCP：连接能力的通用边界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CCC85059-0C77-4D62-B5F8-B9275D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6EA5908A-9D19-494F-8636-1B092A71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3ABC000C-C0B4-4185-90CF-EC2E0AE6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F8F41D6-63D6-4F99-82CD-6455C400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MCP：连接能力的通用边界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A43E9D6-5D11-4996-A0BB-B4996F0B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Model Context Protocol（MCP）提供了一套连接 AI 应用与外部能力的协议。可以把它理解为三层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53E3BA2-6BA3-449C-B1C6-2947BD7B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6699D95-26D1-4C19-8AFF-832EE62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Host： 承载用户体验和安全策略的 AI 应用，决定哪些连接可用、哪些信息可以进入模型上下文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76B95A55-3252-428D-A0CF-D74A799A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44681623-74A4-4612-8C20-68CB3B1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Client： host 内与某个 server 建立会话的协议端，负责能力发现、消息交换和连接生命周期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6CDE1B1B-A092-439A-8FF9-0E1DE58E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4403C38C-B2CE-405F-A695-600F09CE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MCP：连接能力的通用边界</a:t>
            </a:r>
          </a:p>
        </p:txBody>
      </p:sp>
    </p:spTree>
    <p:extLst>
      <p:ext uri="{BB962C8B-B14F-4D97-AF65-F5344CB8AC3E}">
        <p14:creationId xmlns:p14="http://schemas.microsoft.com/office/powerpoint/2010/main" val="989756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A6E0D0CB-D3F6-4FB8-9588-FE5939B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B6F92ABA-048F-4007-A2E4-F674A059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1E68EE35-E870-40BF-851F-6A8BAFCC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这三类信息的生命周期不同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FB35A3A4-18A9-4CE3-A24B-8342B10A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CC51A361-DB64-456E-8FED-95318784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7DD9ECE-08E6-4018-991D-F0561FD8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CD36978-94D2-4E17-A09E-1BE920C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上下文、短期状态与长期记忆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B0237EE-F1BB-4FB6-A180-48914ED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这三类信息的生命周期不同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603E60C-1446-4CC9-A41F-2884D15D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619D767D-692B-4607-87AB-8901583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当前上下文 服务于眼前一次决策，包括用户本轮要求、刚取得的工具结果和相关资料片段。它容量有限，任务推进时会变化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800B6A04-B05B-4EB2-ADD0-E8903EBD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B6FC5525-718D-4429-897E-9B40BEC0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短期状态 记录一个任务的可恢复进度，例如目标、已完成步骤、中间产物、待处理错误和下一步。即使会话中断，任务也应能从状态恢复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57C59314-811F-428D-A8B3-3EECDF6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F9CB175B-D44D-4CE8-BD3F-624D97F7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这三类信息的生命周期不同</a:t>
            </a:r>
          </a:p>
        </p:txBody>
      </p:sp>
    </p:spTree>
    <p:extLst>
      <p:ext uri="{BB962C8B-B14F-4D97-AF65-F5344CB8AC3E}">
        <p14:creationId xmlns:p14="http://schemas.microsoft.com/office/powerpoint/2010/main" val="196410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AD04CA57-BE2F-4CD9-A270-ED920AC2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8CCA2643-17EF-4F55-AF66-BE85CB09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101D8ECD-8713-4A3C-8B43-20C22658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规划的作用是把目标转成可执行且可验收的步骤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7E82A123-C6B2-4042-81A0-47D8C49B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C31FCFDF-BCA7-4DE0-9A27-D77C471D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69899EA-FAF0-433F-921E-D0BCB1F8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DF3EAC1-744F-4234-8E80-C84BC2A9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规划：维护可更新的任务图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CA1D03B-D0C1-4867-B3B2-0B41CA40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规划的作用是把目标转成可执行且可验收的步骤；每一步应写清输入、动作、产出、依赖和通过条件；存在依赖时，计划更像任务图而不是线性清单；数据未取得，分析步骤就不能开始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5E17762-6F0E-4B0A-8DDF-13F4915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67F7505-45A3-4B2A-A272-B0AC57B4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计划要随着观察更新；但变更必须有理由，如果工具返回的真实结构与预期不同；应修订后续步骤，如果只是执行困难；不能悄悄降低验收标准；对长任务，建议在每个阶段形成恢复点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EA5D07EB-68B4-4D55-9D10-2E4FEC0E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15C82FE3-14D9-4946-B234-CDEC620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规划的作用是把目标转成可执行且可验收的步骤</a:t>
            </a:r>
          </a:p>
        </p:txBody>
      </p:sp>
    </p:spTree>
    <p:extLst>
      <p:ext uri="{BB962C8B-B14F-4D97-AF65-F5344CB8AC3E}">
        <p14:creationId xmlns:p14="http://schemas.microsoft.com/office/powerpoint/2010/main" val="1516500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76AA9C96-A5BC-4733-98E5-DC178202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620403B2-7421-414B-A96C-E4A852BE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B4AD25A6-2086-4BA0-81D0-A06E01B4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权限失败是系统边界，而不是提示词问题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AD73BB22-60DA-4693-9AD5-7EFE512B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33335C1C-B8E6-403F-8755-307366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D2EB074-91C9-4F62-B6B7-FBE3B983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E4DB6A9-3FEE-43D5-95FE-61BC3B1C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权限失败：不能靠“换一种说法”绕过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A7AE58C-BB48-457E-8F0A-2DC0A18C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权限失败是系统边界；而不是提示词问题，正确处理顺序是；确认调用身份与目标资源；判断所需权限是否属于当前任务；记录被拒绝的动作和原因；寻找权限内的只读或草稿替代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1E0A6C1-6466-48B2-977B-F7CAA41C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8EA3AD8-D81F-486F-A348-FE2FD4E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智能体不应尝试猜测凭据、切换到未授权账号，或通过另一个工具绕过限制。获得权限后，也应从失败步骤重新观察当前状态，因为外部数据可能已经变化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EEF07193-BA1D-4247-A66B-EF91EB6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4ED9C8C7-E929-41F0-A880-35391A8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权限失败是系统边界，而不是提示词问题</a:t>
            </a:r>
          </a:p>
        </p:txBody>
      </p:sp>
    </p:spTree>
    <p:extLst>
      <p:ext uri="{BB962C8B-B14F-4D97-AF65-F5344CB8AC3E}">
        <p14:creationId xmlns:p14="http://schemas.microsoft.com/office/powerpoint/2010/main" val="2105058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9589EC2F-4EC3-470B-9ACC-D0BB210C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A6DF15AE-B377-4FA6-A860-0D1EB7DA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0741CDD0-40A9-41D8-8A68-35438950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文档问答智能体为什么答错了“最新版政策”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7E6C03E2-43B5-4927-AC42-A180A7C3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3C8A1A16-26B1-4D47-9A6A-EE916FE5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DAE3F824-AF4D-4EE6-B95E-C32BE3A3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0D4D68"/>
          </a:solidFill>
          <a:ln xmlns:a="http://schemas.openxmlformats.org/drawingml/2006/main" w="0">
            <a:solidFill>
              <a:srgbClr val="0D4D6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文档问答智能体为什么答错了“最新版政策”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822F4FA4-9148-4064-A3B6-7799544B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场景｜某智能体接到“汇总最新差旅政策并列出报销上限”的任务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0F021EDC-546C-43CF-B391-2FB572F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机制｜它的长期记忆里存有去年的规则，于是直接生成答案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A8539503-9D55-44F0-90F5-52A7254E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机制｜正确设计应当是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15FF16E4-D892-4CE4-A25F-4E61C042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方法｜计划先查询政策目录，再读取标记为“当前生效”的文件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2C9EEE77-1470-4786-ADE9-7FBB3882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方法｜通过 resource 获取原文，记录文件版本、生效日期和来源</a:t>
            </a:r>
          </a:p>
        </p:txBody>
      </p:sp>
      <p:sp>
        <p:nvSpPr>
          <p:cNvPr id="12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42A97631-2C0E-4028-964F-D24CE6AC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9-takeaway">
            <a:extLst xmlns:a="http://schemas.openxmlformats.org/drawingml/2006/main">
              <a:ext uri="{FF2B5EF4-FFF2-40B4-BE49-F238E27FC236}">
                <a16:creationId xmlns:a16="http://schemas.microsoft.com/office/drawing/2014/main" id="{B3A068A2-C711-447A-95BE-9F02CCB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文档问答智能体为什么答错了“最新版政策”</a:t>
            </a:r>
          </a:p>
        </p:txBody>
      </p:sp>
    </p:spTree>
    <p:extLst>
      <p:ext uri="{BB962C8B-B14F-4D97-AF65-F5344CB8AC3E}">
        <p14:creationId xmlns:p14="http://schemas.microsoft.com/office/powerpoint/2010/main" val="1562546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AED7C1AA-D0AD-407A-8BCD-518CBF29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B6CDED56-D303-4E28-8FC5-9DA5DA51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5F3BB715-5FB9-4434-848A-072B84EE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智能体工具与规划：一次可验收练习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E642B637-744D-435B-AF9B-F92EED23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329BE487-8775-42F5-9D89-534DB485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AG-002-S10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37AA6E92-AB58-4A03-B5C7-070D3C5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C720795C-D45A-4D18-8118-D0B38307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2F91C422-A294-4873-89FF-4F9245FA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以“查询图书馆在借图书并生成到期提醒”为例，完成一份系统设计；分别为“查询在借图书”和“创建提醒”写工具契约，标明读取或写入权限、错误码和重试规则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2A3E3C8D-C28F-4103-8282-916AE07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D3919038-AD43-410D-B447-800038F6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8B25A035-53C2-4689-B829-3C81BCC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BC1620A4-8A7B-4F21-B168-598D1FA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 host、两个 client/server 连接以及 tools、resources、prompts 的位置；并写出数据不能越过的边界；把信息分到当前上下文、短期状态、长期记忆三栏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CE363308-9DC0-4918-A3CA-55F23FC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816293E0-F4E4-4EA8-833F-E7D18710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333066A9-BD54-40AD-8F5F-43A318F0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4FBF16F3-3D10-4243-BFDB-E01048EC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2359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设计一个包含至少五步的计划；并加入“查询权限不足”和“创建提醒结果未知”两条失败分支；验收标准是，任何一次失败都能被明确分类；没有权限时不会继续写入；任务中断后能根据短期状态恢复</a:t>
            </a:r>
          </a:p>
        </p:txBody>
      </p:sp>
    </p:spTree>
    <p:extLst>
      <p:ext uri="{BB962C8B-B14F-4D97-AF65-F5344CB8AC3E}">
        <p14:creationId xmlns:p14="http://schemas.microsoft.com/office/powerpoint/2010/main" val="188345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20F3A5B4-7329-483C-9D82-4C81E62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995E003A-7F6E-4552-B49D-D4260875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FDC53887-9F2D-443F-A740-2BAEA459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智能体工具与规划：判断时先抓住三点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0D6811AF-AD44-40EE-9361-6600ACE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325DDE15-BF9A-4108-83FB-A31C63F0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AG-002-S11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AE55F135-9D46-4054-BC83-C3E073C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D467F03C-D01E-4D18-87A5-C5B37B8D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7672774B-2950-4F55-90EA-51963401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工具不是一段模糊的自然语言说明，而是一份可检查的契约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6ED03781-0F8D-4AC1-9364-319D7B36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9D2980E1-FA88-4FFE-BA61-1422E2E4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9C3B307D-5DF4-41A5-A072-8E2F9E1C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3B1DC665-96ED-43D5-8701-99E4BE89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MCP：连接能力的通用边界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F704367C-5680-4DCB-B223-67BFC346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DDD11A34-42F3-4C8E-A705-31363EBC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B405AC7C-C4C6-4A20-90F6-5F645C87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63F30053-3581-4ECF-A4F8-5C9DBEDC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权限失败是系统边界，而不是提示词问题</a:t>
            </a:r>
          </a:p>
        </p:txBody>
      </p:sp>
    </p:spTree>
    <p:extLst>
      <p:ext uri="{BB962C8B-B14F-4D97-AF65-F5344CB8AC3E}">
        <p14:creationId xmlns:p14="http://schemas.microsoft.com/office/powerpoint/2010/main" val="1586376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A1A332FE-F597-46FD-8639-7586047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D7E7FF2E-5052-499B-A7B8-42CFF9D2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CA4FCA92-CF23-4BE0-99F4-3ADAACF8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智能体工具与规划：依据、边界与延伸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CD4A50CC-DAAD-4CDF-B153-72C2BDBD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36DFAA0C-88BE-4B42-9BEE-8A9AA8A6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AG-002 · AG-002-S12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29091675-9B00-4187-AF87-01DB2498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BF224C1F-3287-4F29-B031-5CCDD58D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10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Model Context Protocol Specification 2025-11-25：查阅协议架构、生命周期与 server 能力的正式定义；实现时应以所采用版本的规范为准</a:t>
            </a:r>
          </a:p>
        </p:txBody>
      </p:sp>
      <p:sp>
        <p:nvSpPr>
          <p:cNvPr id="8" name="s12-takeaway-rule">
            <a:extLst xmlns:a="http://schemas.openxmlformats.org/drawingml/2006/main">
              <a:ext uri="{FF2B5EF4-FFF2-40B4-BE49-F238E27FC236}">
                <a16:creationId xmlns:a16="http://schemas.microsoft.com/office/drawing/2014/main" id="{9FBB1071-19D3-47FA-8FC9-86B12A01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9" name="s12-takeaway">
            <a:extLst xmlns:a="http://schemas.openxmlformats.org/drawingml/2006/main">
              <a:ext uri="{FF2B5EF4-FFF2-40B4-BE49-F238E27FC236}">
                <a16:creationId xmlns:a16="http://schemas.microsoft.com/office/drawing/2014/main" id="{C504EE93-E2A3-4EF4-B806-9474C0A5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2125161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2026-07-12T08:20:12.0760000Z</dcterms:created>
  <dcterms:modified xsi:type="dcterms:W3CDTF">2026-07-12T08:20:12.0760000Z</dcterms:modified>
</coreProperties>
</file>