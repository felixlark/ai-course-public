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8010e845c5d4a89" /><Relationship Type="http://schemas.openxmlformats.org/officeDocument/2006/relationships/extended-properties" Target="/docProps/app.xml" Id="Rb8796c749037490e" /><Relationship Type="http://schemas.openxmlformats.org/officeDocument/2006/relationships/officeDocument" Target="/ppt/presentation.xml" Id="Rce90f47eb53e49c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3173c8f8c654419"/>
  </p:sldMasterIdLst>
  <p:notesMasterIdLst>
    <p:notesMasterId xmlns:r="http://schemas.openxmlformats.org/officeDocument/2006/relationships" r:id="Rcc6138b640cd45fd"/>
  </p:notesMasterIdLst>
  <p:sldIdLst>
    <p:sldId xmlns:r="http://schemas.openxmlformats.org/officeDocument/2006/relationships" id="256" r:id="R362ce9f5f00b4ffa"/>
    <p:sldId xmlns:r="http://schemas.openxmlformats.org/officeDocument/2006/relationships" id="257" r:id="R1d5f3afdc0694a7c"/>
    <p:sldId xmlns:r="http://schemas.openxmlformats.org/officeDocument/2006/relationships" id="258" r:id="R9969dec8def944d1"/>
    <p:sldId xmlns:r="http://schemas.openxmlformats.org/officeDocument/2006/relationships" id="259" r:id="Rda53889388ce40d9"/>
    <p:sldId xmlns:r="http://schemas.openxmlformats.org/officeDocument/2006/relationships" id="260" r:id="R5722395a74c544e6"/>
    <p:sldId xmlns:r="http://schemas.openxmlformats.org/officeDocument/2006/relationships" id="261" r:id="Ra3623f1a1749480c"/>
    <p:sldId xmlns:r="http://schemas.openxmlformats.org/officeDocument/2006/relationships" id="262" r:id="R79253707580e4c73"/>
    <p:sldId xmlns:r="http://schemas.openxmlformats.org/officeDocument/2006/relationships" id="263" r:id="Re3968b5e50ec4f51"/>
    <p:sldId xmlns:r="http://schemas.openxmlformats.org/officeDocument/2006/relationships" id="264" r:id="R0d826594cf7748f3"/>
    <p:sldId xmlns:r="http://schemas.openxmlformats.org/officeDocument/2006/relationships" id="265" r:id="R5ebed9ccd82a4911"/>
    <p:sldId xmlns:r="http://schemas.openxmlformats.org/officeDocument/2006/relationships" id="266" r:id="Rcb3d2692213a415b"/>
    <p:sldId xmlns:r="http://schemas.openxmlformats.org/officeDocument/2006/relationships" id="267" r:id="Rd9cf480cb92f4d87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606f2e60fe946d3" /><Relationship Type="http://schemas.openxmlformats.org/officeDocument/2006/relationships/slideMaster" Target="/ppt/slideMasters/slideMaster1.xml" Id="R73173c8f8c654419" /><Relationship Type="http://schemas.openxmlformats.org/officeDocument/2006/relationships/notesMaster" Target="/ppt/notesMasters/notesMaster1.xml" Id="Rcc6138b640cd45fd" /><Relationship Type="http://schemas.openxmlformats.org/officeDocument/2006/relationships/presProps" Target="/ppt/presProps.xml" Id="R72082c07d9bb4733" /><Relationship Type="http://schemas.openxmlformats.org/officeDocument/2006/relationships/tableStyles" Target="/ppt/tableStyles.xml" Id="R592e79c758c24bbd" /><Relationship Type="http://schemas.openxmlformats.org/officeDocument/2006/relationships/slide" Target="/ppt/slides/slide1.xml" Id="R362ce9f5f00b4ffa" /><Relationship Type="http://schemas.openxmlformats.org/officeDocument/2006/relationships/slide" Target="/ppt/slides/slide2.xml" Id="R1d5f3afdc0694a7c" /><Relationship Type="http://schemas.openxmlformats.org/officeDocument/2006/relationships/slide" Target="/ppt/slides/slide3.xml" Id="R9969dec8def944d1" /><Relationship Type="http://schemas.openxmlformats.org/officeDocument/2006/relationships/slide" Target="/ppt/slides/slide4.xml" Id="Rda53889388ce40d9" /><Relationship Type="http://schemas.openxmlformats.org/officeDocument/2006/relationships/slide" Target="/ppt/slides/slide5.xml" Id="R5722395a74c544e6" /><Relationship Type="http://schemas.openxmlformats.org/officeDocument/2006/relationships/slide" Target="/ppt/slides/slide6.xml" Id="Ra3623f1a1749480c" /><Relationship Type="http://schemas.openxmlformats.org/officeDocument/2006/relationships/slide" Target="/ppt/slides/slide7.xml" Id="R79253707580e4c73" /><Relationship Type="http://schemas.openxmlformats.org/officeDocument/2006/relationships/slide" Target="/ppt/slides/slide8.xml" Id="Re3968b5e50ec4f51" /><Relationship Type="http://schemas.openxmlformats.org/officeDocument/2006/relationships/slide" Target="/ppt/slides/slide9.xml" Id="R0d826594cf7748f3" /><Relationship Type="http://schemas.openxmlformats.org/officeDocument/2006/relationships/slide" Target="/ppt/slides/slide10.xml" Id="R5ebed9ccd82a4911" /><Relationship Type="http://schemas.openxmlformats.org/officeDocument/2006/relationships/slide" Target="/ppt/slides/slide11.xml" Id="Rcb3d2692213a415b" /><Relationship Type="http://schemas.openxmlformats.org/officeDocument/2006/relationships/slide" Target="/ppt/slides/slide12.xml" Id="Rd9cf480cb92f4d8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d62867adc804d3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eddf9d27f6b4a0d" /><Relationship Type="http://schemas.openxmlformats.org/officeDocument/2006/relationships/notesMaster" Target="/ppt/notesMasters/notesMaster1.xml" Id="R742b242f2162421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b4fecb970474395" /><Relationship Type="http://schemas.openxmlformats.org/officeDocument/2006/relationships/notesMaster" Target="/ppt/notesMasters/notesMaster1.xml" Id="Rcce13468c0634b1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28040ca07ef4cf7" /><Relationship Type="http://schemas.openxmlformats.org/officeDocument/2006/relationships/notesMaster" Target="/ppt/notesMasters/notesMaster1.xml" Id="Rb8eeedb6930e4d8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68c9c9725e54b8e" /><Relationship Type="http://schemas.openxmlformats.org/officeDocument/2006/relationships/notesMaster" Target="/ppt/notesMasters/notesMaster1.xml" Id="Rc893750a1b904b7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245c062b4e34e7b" /><Relationship Type="http://schemas.openxmlformats.org/officeDocument/2006/relationships/notesMaster" Target="/ppt/notesMasters/notesMaster1.xml" Id="R00afa2432da6484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d186cc834d24e48" /><Relationship Type="http://schemas.openxmlformats.org/officeDocument/2006/relationships/notesMaster" Target="/ppt/notesMasters/notesMaster1.xml" Id="R9bdaa9ea36c6424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896f0ca48f54993" /><Relationship Type="http://schemas.openxmlformats.org/officeDocument/2006/relationships/notesMaster" Target="/ppt/notesMasters/notesMaster1.xml" Id="R9d5e6376b889425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c70ef75552f40b2" /><Relationship Type="http://schemas.openxmlformats.org/officeDocument/2006/relationships/notesMaster" Target="/ppt/notesMasters/notesMaster1.xml" Id="R89f64d6bcd784f2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598c1ba4a4d4447" /><Relationship Type="http://schemas.openxmlformats.org/officeDocument/2006/relationships/notesMaster" Target="/ppt/notesMasters/notesMaster1.xml" Id="Rdce4986c566f44f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a4797312d7d41cb" /><Relationship Type="http://schemas.openxmlformats.org/officeDocument/2006/relationships/notesMaster" Target="/ppt/notesMasters/notesMaster1.xml" Id="Rf4699979ebc34a5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0f06f7b270a42c4" /><Relationship Type="http://schemas.openxmlformats.org/officeDocument/2006/relationships/notesMaster" Target="/ppt/notesMasters/notesMaster1.xml" Id="Ra822f3e7c25e45f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6315f7bc4964520" /><Relationship Type="http://schemas.openxmlformats.org/officeDocument/2006/relationships/notesMaster" Target="/ppt/notesMasters/notesMaster1.xml" Id="Rdc450e7f7eac418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985804ceaee4cf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4a74c6fba4c4cd0" /><Relationship Type="http://schemas.openxmlformats.org/officeDocument/2006/relationships/slideLayout" Target="/ppt/slideLayouts/slideLayout1.xml" Id="Re3845eab861a488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3845eab861a488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171d424f4144f7" /><Relationship Type="http://schemas.openxmlformats.org/officeDocument/2006/relationships/notesSlide" Target="/ppt/notesSlides/notesSlide1.xml" Id="R6cb5d3a712a7465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a37b9ad10047af" /><Relationship Type="http://schemas.openxmlformats.org/officeDocument/2006/relationships/notesSlide" Target="/ppt/notesSlides/notesSlide2.xml" Id="Rfed02a5f36924c5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f9cbfc91cf46d2" /><Relationship Type="http://schemas.openxmlformats.org/officeDocument/2006/relationships/notesSlide" Target="/ppt/notesSlides/notesSlide3.xml" Id="Raaf78e26cf25471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811769a4364ae6" /><Relationship Type="http://schemas.openxmlformats.org/officeDocument/2006/relationships/notesSlide" Target="/ppt/notesSlides/notesSlide4.xml" Id="R17e3c62c9fc8464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fa03e92034448e" /><Relationship Type="http://schemas.openxmlformats.org/officeDocument/2006/relationships/notesSlide" Target="/ppt/notesSlides/notesSlide5.xml" Id="Rc8b35a4cfa424df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46a4163d5244d3" /><Relationship Type="http://schemas.openxmlformats.org/officeDocument/2006/relationships/notesSlide" Target="/ppt/notesSlides/notesSlide6.xml" Id="R75cc68384727440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10513d2e30467f" /><Relationship Type="http://schemas.openxmlformats.org/officeDocument/2006/relationships/notesSlide" Target="/ppt/notesSlides/notesSlide7.xml" Id="Ra7ebfae8b186477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43163c4535447f" /><Relationship Type="http://schemas.openxmlformats.org/officeDocument/2006/relationships/notesSlide" Target="/ppt/notesSlides/notesSlide8.xml" Id="R4ef9e23e7c0847e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5141db4fc4415a" /><Relationship Type="http://schemas.openxmlformats.org/officeDocument/2006/relationships/notesSlide" Target="/ppt/notesSlides/notesSlide9.xml" Id="Rcd69e7fac2d544a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fef993eb854026" /><Relationship Type="http://schemas.openxmlformats.org/officeDocument/2006/relationships/notesSlide" Target="/ppt/notesSlides/notesSlide10.xml" Id="R8ff3134717e8471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592f8e22054d8e" /><Relationship Type="http://schemas.openxmlformats.org/officeDocument/2006/relationships/notesSlide" Target="/ppt/notesSlides/notesSlide11.xml" Id="R60b186aef527499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98f1b806294478" /><Relationship Type="http://schemas.openxmlformats.org/officeDocument/2006/relationships/notesSlide" Target="/ppt/notesSlides/notesSlide12.xml" Id="R526ff0e613a545f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F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-rule">
            <a:extLst xmlns:a="http://schemas.openxmlformats.org/drawingml/2006/main">
              <a:ext uri="{FF2B5EF4-FFF2-40B4-BE49-F238E27FC236}">
                <a16:creationId xmlns:a16="http://schemas.microsoft.com/office/drawing/2014/main" id="{A574E555-3931-47E0-AD88-B8B4E7045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14300" cy="466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cover-ring-1">
            <a:extLst xmlns:a="http://schemas.openxmlformats.org/drawingml/2006/main">
              <a:ext uri="{FF2B5EF4-FFF2-40B4-BE49-F238E27FC236}">
                <a16:creationId xmlns:a16="http://schemas.microsoft.com/office/drawing/2014/main" id="{D673E69C-1C88-4498-AF2D-9A8E9BC02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066800"/>
            <a:ext cx="2857500" cy="2857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1459C7"/>
            </a:solidFill>
            <a:prstDash val="solid"/>
          </a:ln>
        </p:spPr>
      </p:sp>
      <p:sp>
        <p:nvSpPr>
          <p:cNvPr id="3" name="cover-ring-2">
            <a:extLst xmlns:a="http://schemas.openxmlformats.org/drawingml/2006/main">
              <a:ext uri="{FF2B5EF4-FFF2-40B4-BE49-F238E27FC236}">
                <a16:creationId xmlns:a16="http://schemas.microsoft.com/office/drawing/2014/main" id="{7D7E2E26-95FC-4248-8777-406CCAF31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619250"/>
            <a:ext cx="1752600" cy="17526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7A6C8"/>
            </a:solidFill>
            <a:prstDash val="solid"/>
          </a:ln>
        </p:spPr>
      </p:sp>
      <p:sp>
        <p:nvSpPr>
          <p:cNvPr id="4" name="cover-core">
            <a:extLst xmlns:a="http://schemas.openxmlformats.org/drawingml/2006/main">
              <a:ext uri="{FF2B5EF4-FFF2-40B4-BE49-F238E27FC236}">
                <a16:creationId xmlns:a16="http://schemas.microsoft.com/office/drawing/2014/main" id="{361F4C87-DD7C-45D5-979B-552DF09EE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1907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5" name="cover-line-1">
            <a:extLst xmlns:a="http://schemas.openxmlformats.org/drawingml/2006/main">
              <a:ext uri="{FF2B5EF4-FFF2-40B4-BE49-F238E27FC236}">
                <a16:creationId xmlns:a16="http://schemas.microsoft.com/office/drawing/2014/main" id="{99B95865-198D-402F-B5DE-7EE654353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476750"/>
            <a:ext cx="3371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0">
            <a:solidFill>
              <a:srgbClr val="1459C7"/>
            </a:solidFill>
            <a:prstDash val="solid"/>
          </a:ln>
        </p:spPr>
      </p:sp>
      <p:sp>
        <p:nvSpPr>
          <p:cNvPr id="6" name="cover-line-2">
            <a:extLst xmlns:a="http://schemas.openxmlformats.org/drawingml/2006/main">
              <a:ext uri="{FF2B5EF4-FFF2-40B4-BE49-F238E27FC236}">
                <a16:creationId xmlns:a16="http://schemas.microsoft.com/office/drawing/2014/main" id="{0656CD51-134C-46BE-AFB4-5BD15CF3A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895850"/>
            <a:ext cx="266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7A6C8"/>
            </a:solidFill>
            <a:prstDash val="solid"/>
          </a:ln>
        </p:spPr>
      </p:sp>
      <p:sp>
        <p:nvSpPr>
          <p:cNvPr id="7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33451E90-4F60-4384-ADD9-B61762F66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876300"/>
            <a:ext cx="533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A6C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7A6C8"/>
                </a:solidFill>
                <a:latin typeface="PingFang SC"/>
                <a:ea typeface="PingFang SC"/>
                <a:cs typeface="PingFang SC"/>
              </a:rPr>
              <a:t>第 2 章 · AI 智能体</a:t>
            </a:r>
          </a:p>
        </p:txBody>
      </p:sp>
      <p:sp>
        <p:nvSpPr>
          <p:cNvPr id="8" name="cover-title">
            <a:extLst xmlns:a="http://schemas.openxmlformats.org/drawingml/2006/main">
              <a:ext uri="{FF2B5EF4-FFF2-40B4-BE49-F238E27FC236}">
                <a16:creationId xmlns:a16="http://schemas.microsoft.com/office/drawing/2014/main" id="{5B97C2A1-2AB9-40B7-849C-629E9BB2B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504950"/>
            <a:ext cx="6858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87375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工具调用、MCP、记忆与规划</a:t>
            </a:r>
          </a:p>
        </p:txBody>
      </p:sp>
      <p:sp>
        <p:nvSpPr>
          <p:cNvPr id="9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270FEA0A-4B29-41B0-B18E-5E4CEDA82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14650"/>
            <a:ext cx="6477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defRPr>
            </a:pPr>
            <a:r>
              <a: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rPr>
              <a:t>解释智能体如何通过稳定工具契约、分层上下文和可更新记忆完成长任务。</a:t>
            </a:r>
          </a:p>
        </p:txBody>
      </p:sp>
      <p:sp>
        <p:nvSpPr>
          <p:cNvPr id="10" name="cover-lead">
            <a:extLst xmlns:a="http://schemas.openxmlformats.org/drawingml/2006/main">
              <a:ext uri="{FF2B5EF4-FFF2-40B4-BE49-F238E27FC236}">
                <a16:creationId xmlns:a16="http://schemas.microsoft.com/office/drawing/2014/main" id="{77887401-660A-4FBB-9C26-7016223C2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0530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语言模型能生成文字，但不能仅凭文字读取最新库存、查询内部资料或修改日程。智能体要进入真实业务，必须通过工具与外部系统交互。工具把“模型建议做什么”转换为“系统实际执行了什么”…</a:t>
            </a:r>
          </a:p>
        </p:txBody>
      </p:sp>
      <p:sp>
        <p:nvSpPr>
          <p:cNvPr id="11" name="cover-course">
            <a:extLst xmlns:a="http://schemas.openxmlformats.org/drawingml/2006/main">
              <a:ext uri="{FF2B5EF4-FFF2-40B4-BE49-F238E27FC236}">
                <a16:creationId xmlns:a16="http://schemas.microsoft.com/office/drawing/2014/main" id="{F3974094-31BB-4C19-B96C-B622594A3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734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陈龙彪团队人工智能公开课</a:t>
            </a:r>
          </a:p>
        </p:txBody>
      </p:sp>
      <p:sp>
        <p:nvSpPr>
          <p:cNvPr id="12" name="cover-id">
            <a:extLst xmlns:a="http://schemas.openxmlformats.org/drawingml/2006/main">
              <a:ext uri="{FF2B5EF4-FFF2-40B4-BE49-F238E27FC236}">
                <a16:creationId xmlns:a16="http://schemas.microsoft.com/office/drawing/2014/main" id="{AD7A5774-5AE5-4A56-B3E1-DF472A709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7340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17A6C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7A6C8"/>
                </a:solidFill>
                <a:latin typeface="PingFang SC"/>
                <a:ea typeface="PingFang SC"/>
                <a:cs typeface="PingFang SC"/>
              </a:rPr>
              <a:t>AG-002 · AG-002-S01</a:t>
            </a:r>
          </a:p>
        </p:txBody>
      </p:sp>
    </p:spTree>
    <p:extLst>
      <p:ext uri="{BB962C8B-B14F-4D97-AF65-F5344CB8AC3E}">
        <p14:creationId xmlns:p14="http://schemas.microsoft.com/office/powerpoint/2010/main" val="75944668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2-rule">
            <a:extLst xmlns:a="http://schemas.openxmlformats.org/drawingml/2006/main">
              <a:ext uri="{FF2B5EF4-FFF2-40B4-BE49-F238E27FC236}">
                <a16:creationId xmlns:a16="http://schemas.microsoft.com/office/drawing/2014/main" id="{D3425EE9-194D-478D-848C-9682ADACF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2-eyebrow">
            <a:extLst xmlns:a="http://schemas.openxmlformats.org/drawingml/2006/main">
              <a:ext uri="{FF2B5EF4-FFF2-40B4-BE49-F238E27FC236}">
                <a16:creationId xmlns:a16="http://schemas.microsoft.com/office/drawing/2014/main" id="{03E1ABBF-0558-4266-B55A-672331B00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学习结果</a:t>
            </a:r>
          </a:p>
        </p:txBody>
      </p:sp>
      <p:sp>
        <p:nvSpPr>
          <p:cNvPr id="3" name="s2-title">
            <a:extLst xmlns:a="http://schemas.openxmlformats.org/drawingml/2006/main">
              <a:ext uri="{FF2B5EF4-FFF2-40B4-BE49-F238E27FC236}">
                <a16:creationId xmlns:a16="http://schemas.microsoft.com/office/drawing/2014/main" id="{135234D4-E2DD-43D0-9BDA-92B7DFC88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学完这一节，你能完成这些判断与行动</a:t>
            </a:r>
          </a:p>
        </p:txBody>
      </p:sp>
      <p:sp>
        <p:nvSpPr>
          <p:cNvPr id="4" name="s2-footer">
            <a:extLst xmlns:a="http://schemas.openxmlformats.org/drawingml/2006/main">
              <a:ext uri="{FF2B5EF4-FFF2-40B4-BE49-F238E27FC236}">
                <a16:creationId xmlns:a16="http://schemas.microsoft.com/office/drawing/2014/main" id="{CE5C825F-B1B6-4A86-9CB0-F90333DBC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2-identity">
            <a:extLst xmlns:a="http://schemas.openxmlformats.org/drawingml/2006/main">
              <a:ext uri="{FF2B5EF4-FFF2-40B4-BE49-F238E27FC236}">
                <a16:creationId xmlns:a16="http://schemas.microsoft.com/office/drawing/2014/main" id="{14017527-0C13-41A6-BEFB-660159E8B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AG-002 · AG-002-S02</a:t>
            </a:r>
          </a:p>
        </p:txBody>
      </p:sp>
      <p:sp>
        <p:nvSpPr>
          <p:cNvPr id="6" name="objective-1">
            <a:extLst xmlns:a="http://schemas.openxmlformats.org/drawingml/2006/main">
              <a:ext uri="{FF2B5EF4-FFF2-40B4-BE49-F238E27FC236}">
                <a16:creationId xmlns:a16="http://schemas.microsoft.com/office/drawing/2014/main" id="{3E297215-1487-4BEA-BC92-E460C417D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01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为一个工具写出名称、用途、输入、输出、权限、失败语义和幂等性要求</a:t>
            </a:r>
          </a:p>
        </p:txBody>
      </p:sp>
      <p:sp>
        <p:nvSpPr>
          <p:cNvPr id="7" name="objective-2">
            <a:extLst xmlns:a="http://schemas.openxmlformats.org/drawingml/2006/main">
              <a:ext uri="{FF2B5EF4-FFF2-40B4-BE49-F238E27FC236}">
                <a16:creationId xmlns:a16="http://schemas.microsoft.com/office/drawing/2014/main" id="{0406A748-D028-4B60-A5C7-DEB418335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02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说明 MCP 中 host、client、server 以及 tools、resources、prompts 的职责边界</a:t>
            </a:r>
          </a:p>
        </p:txBody>
      </p:sp>
      <p:sp>
        <p:nvSpPr>
          <p:cNvPr id="8" name="objective-3">
            <a:extLst xmlns:a="http://schemas.openxmlformats.org/drawingml/2006/main">
              <a:ext uri="{FF2B5EF4-FFF2-40B4-BE49-F238E27FC236}">
                <a16:creationId xmlns:a16="http://schemas.microsoft.com/office/drawing/2014/main" id="{C588A1B7-1332-480A-BACB-273678579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9570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03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区分当前上下文、任务短期状态和长期记忆，并为记忆设置来源、范围和失效条件</a:t>
            </a:r>
          </a:p>
        </p:txBody>
      </p:sp>
      <p:sp>
        <p:nvSpPr>
          <p:cNvPr id="9" name="objective-4">
            <a:extLst xmlns:a="http://schemas.openxmlformats.org/drawingml/2006/main">
              <a:ext uri="{FF2B5EF4-FFF2-40B4-BE49-F238E27FC236}">
                <a16:creationId xmlns:a16="http://schemas.microsoft.com/office/drawing/2014/main" id="{15703E8E-613B-4F89-9AAC-0EB261646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69570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17A6C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04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把长任务拆成可验收步骤，并正确处理无权限、工具异常和部分完成</a:t>
            </a:r>
          </a:p>
        </p:txBody>
      </p:sp>
    </p:spTree>
    <p:extLst>
      <p:ext uri="{BB962C8B-B14F-4D97-AF65-F5344CB8AC3E}">
        <p14:creationId xmlns:p14="http://schemas.microsoft.com/office/powerpoint/2010/main" val="60579186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3-rule">
            <a:extLst xmlns:a="http://schemas.openxmlformats.org/drawingml/2006/main">
              <a:ext uri="{FF2B5EF4-FFF2-40B4-BE49-F238E27FC236}">
                <a16:creationId xmlns:a16="http://schemas.microsoft.com/office/drawing/2014/main" id="{00BAE30A-9063-41BC-9DCF-56EA545DB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3-eyebrow">
            <a:extLst xmlns:a="http://schemas.openxmlformats.org/drawingml/2006/main">
              <a:ext uri="{FF2B5EF4-FFF2-40B4-BE49-F238E27FC236}">
                <a16:creationId xmlns:a16="http://schemas.microsoft.com/office/drawing/2014/main" id="{5412FF38-8D6A-4E4B-AE01-6376390AE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核心论点 1 / 6</a:t>
            </a:r>
          </a:p>
        </p:txBody>
      </p:sp>
      <p:sp>
        <p:nvSpPr>
          <p:cNvPr id="3" name="s3-title">
            <a:extLst xmlns:a="http://schemas.openxmlformats.org/drawingml/2006/main">
              <a:ext uri="{FF2B5EF4-FFF2-40B4-BE49-F238E27FC236}">
                <a16:creationId xmlns:a16="http://schemas.microsoft.com/office/drawing/2014/main" id="{D3A3B2B5-0CE5-4EDB-96F2-5939D959F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7028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工具不是一段模糊的自然语言说明，而是一份可检查的契约</a:t>
            </a:r>
          </a:p>
        </p:txBody>
      </p:sp>
      <p:sp>
        <p:nvSpPr>
          <p:cNvPr id="4" name="s3-footer">
            <a:extLst xmlns:a="http://schemas.openxmlformats.org/drawingml/2006/main">
              <a:ext uri="{FF2B5EF4-FFF2-40B4-BE49-F238E27FC236}">
                <a16:creationId xmlns:a16="http://schemas.microsoft.com/office/drawing/2014/main" id="{7828C548-62A3-4226-9DDF-C86D1408A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3-identity">
            <a:extLst xmlns:a="http://schemas.openxmlformats.org/drawingml/2006/main">
              <a:ext uri="{FF2B5EF4-FFF2-40B4-BE49-F238E27FC236}">
                <a16:creationId xmlns:a16="http://schemas.microsoft.com/office/drawing/2014/main" id="{D97FE103-5BE7-4737-906D-D9F4CB092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AG-002 · AG-002-S03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D688F9D5-E71C-4FB3-98B3-DB66935A7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BAD05A23-038B-490D-B965-FF88307FB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工具契约：先约定，再调用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A5CB1931-2F69-4283-9C0E-EAC5DCF0B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17A6C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工具不是一段模糊的自然语言说明，而是一份可检查的契约。至少应包含以下部分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47A4DFCD-DCA4-458C-8C59-80A3A48A0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D491C069-8898-4FF8-A76F-B47ECA1C7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描述越含糊，模型越容易选错工具或补造参数。对于写入型工具，还要提供“预览”或“草稿”能力，让智能体先展示将要发生的变化，再进入真正执行。删除、外发、付款…</a:t>
            </a:r>
          </a:p>
        </p:txBody>
      </p:sp>
      <p:sp>
        <p:nvSpPr>
          <p:cNvPr id="11" name="s3-takeaway-rule">
            <a:extLst xmlns:a="http://schemas.openxmlformats.org/drawingml/2006/main">
              <a:ext uri="{FF2B5EF4-FFF2-40B4-BE49-F238E27FC236}">
                <a16:creationId xmlns:a16="http://schemas.microsoft.com/office/drawing/2014/main" id="{F3B3F9B4-2BE5-4744-8B4F-13EF2C6BD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12" name="s3-takeaway">
            <a:extLst xmlns:a="http://schemas.openxmlformats.org/drawingml/2006/main">
              <a:ext uri="{FF2B5EF4-FFF2-40B4-BE49-F238E27FC236}">
                <a16:creationId xmlns:a16="http://schemas.microsoft.com/office/drawing/2014/main" id="{330454BE-DC77-4EB0-993D-CD5F77C85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工具不是一段模糊的自然语言说明，而是一份可检查的契约</a:t>
            </a:r>
          </a:p>
        </p:txBody>
      </p:sp>
    </p:spTree>
    <p:extLst>
      <p:ext uri="{BB962C8B-B14F-4D97-AF65-F5344CB8AC3E}">
        <p14:creationId xmlns:p14="http://schemas.microsoft.com/office/powerpoint/2010/main" val="140764203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4-rule">
            <a:extLst xmlns:a="http://schemas.openxmlformats.org/drawingml/2006/main">
              <a:ext uri="{FF2B5EF4-FFF2-40B4-BE49-F238E27FC236}">
                <a16:creationId xmlns:a16="http://schemas.microsoft.com/office/drawing/2014/main" id="{6A420BB7-852D-413A-9E0C-EFF481DB1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4-eyebrow">
            <a:extLst xmlns:a="http://schemas.openxmlformats.org/drawingml/2006/main">
              <a:ext uri="{FF2B5EF4-FFF2-40B4-BE49-F238E27FC236}">
                <a16:creationId xmlns:a16="http://schemas.microsoft.com/office/drawing/2014/main" id="{0B5A3DE4-E74F-429D-9380-362E6AA09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核心论点 2 / 6</a:t>
            </a:r>
          </a:p>
        </p:txBody>
      </p:sp>
      <p:sp>
        <p:nvSpPr>
          <p:cNvPr id="3" name="s4-title">
            <a:extLst xmlns:a="http://schemas.openxmlformats.org/drawingml/2006/main">
              <a:ext uri="{FF2B5EF4-FFF2-40B4-BE49-F238E27FC236}">
                <a16:creationId xmlns:a16="http://schemas.microsoft.com/office/drawing/2014/main" id="{9CDCDDC6-CFD6-49A7-9C81-895B36B45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76449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工具调用可能出现四类结果：成功、部分成功、可重试失败和不可重试失败</a:t>
            </a:r>
          </a:p>
        </p:txBody>
      </p:sp>
      <p:sp>
        <p:nvSpPr>
          <p:cNvPr id="4" name="s4-footer">
            <a:extLst xmlns:a="http://schemas.openxmlformats.org/drawingml/2006/main">
              <a:ext uri="{FF2B5EF4-FFF2-40B4-BE49-F238E27FC236}">
                <a16:creationId xmlns:a16="http://schemas.microsoft.com/office/drawing/2014/main" id="{3C22840F-0D1A-440E-8B66-BAD2276C5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4-identity">
            <a:extLst xmlns:a="http://schemas.openxmlformats.org/drawingml/2006/main">
              <a:ext uri="{FF2B5EF4-FFF2-40B4-BE49-F238E27FC236}">
                <a16:creationId xmlns:a16="http://schemas.microsoft.com/office/drawing/2014/main" id="{F600097D-BB96-4EBA-95B1-CC5856D9A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AG-002 · AG-002-S04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C5B44DDB-5FC0-4F5B-B528-C7CCF5676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19397F28-2A9D-447F-B3D4-77CB499F5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工具结果：失败必须是可读状态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E3C3EDC1-5568-4F62-8710-49DD8A194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17A6C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工具调用可能出现四类结果：成功、部分成功、可重试失败和不可重试失败。超时或网络中断通常只能说明“结果未知”，不能直接再次写入，否则可能重复创建记录。参数错误应先修正输入…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9447E136-4733-4D64-BBAE-63F6DE8AA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97500FD3-5BB6-4289-A374-2A371B815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智能体要读取结构化错误码、错误信息和是否可重试，而不是从一句模糊文本中猜测。系统还应保存调用标识，便于确认一次写入究竟是否已经发生</a:t>
            </a:r>
          </a:p>
        </p:txBody>
      </p:sp>
      <p:sp>
        <p:nvSpPr>
          <p:cNvPr id="11" name="s4-takeaway-rule">
            <a:extLst xmlns:a="http://schemas.openxmlformats.org/drawingml/2006/main">
              <a:ext uri="{FF2B5EF4-FFF2-40B4-BE49-F238E27FC236}">
                <a16:creationId xmlns:a16="http://schemas.microsoft.com/office/drawing/2014/main" id="{F433F17F-815A-4716-9C68-C90CD3932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12" name="s4-takeaway">
            <a:extLst xmlns:a="http://schemas.openxmlformats.org/drawingml/2006/main">
              <a:ext uri="{FF2B5EF4-FFF2-40B4-BE49-F238E27FC236}">
                <a16:creationId xmlns:a16="http://schemas.microsoft.com/office/drawing/2014/main" id="{EAD790CB-123A-4BFB-9EF1-3274F1F4E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工具调用可能出现四类结果：成功、部分成功、可重试失败和不可重试失败</a:t>
            </a:r>
          </a:p>
        </p:txBody>
      </p:sp>
    </p:spTree>
    <p:extLst>
      <p:ext uri="{BB962C8B-B14F-4D97-AF65-F5344CB8AC3E}">
        <p14:creationId xmlns:p14="http://schemas.microsoft.com/office/powerpoint/2010/main" val="143835214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5-rule">
            <a:extLst xmlns:a="http://schemas.openxmlformats.org/drawingml/2006/main">
              <a:ext uri="{FF2B5EF4-FFF2-40B4-BE49-F238E27FC236}">
                <a16:creationId xmlns:a16="http://schemas.microsoft.com/office/drawing/2014/main" id="{CA01AFB8-4B81-4781-82FD-F0078FD59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5-eyebrow">
            <a:extLst xmlns:a="http://schemas.openxmlformats.org/drawingml/2006/main">
              <a:ext uri="{FF2B5EF4-FFF2-40B4-BE49-F238E27FC236}">
                <a16:creationId xmlns:a16="http://schemas.microsoft.com/office/drawing/2014/main" id="{083E0B6E-370F-4CE4-A1D6-6D82A7D5A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核心论点 3 / 6</a:t>
            </a:r>
          </a:p>
        </p:txBody>
      </p:sp>
      <p:sp>
        <p:nvSpPr>
          <p:cNvPr id="3" name="s5-title">
            <a:extLst xmlns:a="http://schemas.openxmlformats.org/drawingml/2006/main">
              <a:ext uri="{FF2B5EF4-FFF2-40B4-BE49-F238E27FC236}">
                <a16:creationId xmlns:a16="http://schemas.microsoft.com/office/drawing/2014/main" id="{3A0DF2F4-48BB-4CEA-A893-67C254BED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MCP：连接能力的通用边界</a:t>
            </a:r>
          </a:p>
        </p:txBody>
      </p:sp>
      <p:sp>
        <p:nvSpPr>
          <p:cNvPr id="4" name="s5-footer">
            <a:extLst xmlns:a="http://schemas.openxmlformats.org/drawingml/2006/main">
              <a:ext uri="{FF2B5EF4-FFF2-40B4-BE49-F238E27FC236}">
                <a16:creationId xmlns:a16="http://schemas.microsoft.com/office/drawing/2014/main" id="{208DFA6B-C5CB-44C4-B92B-B2FC6E397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5-identity">
            <a:extLst xmlns:a="http://schemas.openxmlformats.org/drawingml/2006/main">
              <a:ext uri="{FF2B5EF4-FFF2-40B4-BE49-F238E27FC236}">
                <a16:creationId xmlns:a16="http://schemas.microsoft.com/office/drawing/2014/main" id="{A466DC6F-FFC9-4737-9AFA-D6FB6B39A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AG-002 · AG-002-S05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70FB14CE-C63C-4A0B-829C-74554F445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9AFBB3D6-68BF-42D6-865A-682C28ECD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3263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MCP：连接能力的通用边界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F0233F0A-210E-4DC8-ABBD-13485C136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32639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17A6C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Model Context Protocol（MCP）提供了一套连接 AI 应用与外部能力的协议。可以把它理解为三层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119955F9-E944-441E-8FF2-7A9E53BAE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27DA50FF-4527-408D-9AE3-3FDC3B539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Host： 承载用户体验和安全策略的 AI 应用，决定哪些连接可用、哪些信息可以进入模型上下文</a:t>
            </a:r>
          </a:p>
        </p:txBody>
      </p:sp>
      <p:sp>
        <p:nvSpPr>
          <p:cNvPr id="11" name="core-no-2">
            <a:extLst xmlns:a="http://schemas.openxmlformats.org/drawingml/2006/main">
              <a:ext uri="{FF2B5EF4-FFF2-40B4-BE49-F238E27FC236}">
                <a16:creationId xmlns:a16="http://schemas.microsoft.com/office/drawing/2014/main" id="{BFE90CCD-2F16-4F5A-8BC7-2D688B893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2" name="core-body-2">
            <a:extLst xmlns:a="http://schemas.openxmlformats.org/drawingml/2006/main">
              <a:ext uri="{FF2B5EF4-FFF2-40B4-BE49-F238E27FC236}">
                <a16:creationId xmlns:a16="http://schemas.microsoft.com/office/drawing/2014/main" id="{D64AEBC6-32BC-4197-AAED-8A0149C13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Client： host 内与某个 server 建立会话的协议端，负责能力发现、消息交换和连接生命周期</a:t>
            </a:r>
          </a:p>
        </p:txBody>
      </p:sp>
      <p:sp>
        <p:nvSpPr>
          <p:cNvPr id="13" name="s5-takeaway-rule">
            <a:extLst xmlns:a="http://schemas.openxmlformats.org/drawingml/2006/main">
              <a:ext uri="{FF2B5EF4-FFF2-40B4-BE49-F238E27FC236}">
                <a16:creationId xmlns:a16="http://schemas.microsoft.com/office/drawing/2014/main" id="{6922E78E-F3C6-4FEC-AB94-378B6B796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14" name="s5-takeaway">
            <a:extLst xmlns:a="http://schemas.openxmlformats.org/drawingml/2006/main">
              <a:ext uri="{FF2B5EF4-FFF2-40B4-BE49-F238E27FC236}">
                <a16:creationId xmlns:a16="http://schemas.microsoft.com/office/drawing/2014/main" id="{BA054F95-DB21-4616-AF7B-BAC3F39B6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MCP：连接能力的通用边界</a:t>
            </a:r>
          </a:p>
        </p:txBody>
      </p:sp>
    </p:spTree>
    <p:extLst>
      <p:ext uri="{BB962C8B-B14F-4D97-AF65-F5344CB8AC3E}">
        <p14:creationId xmlns:p14="http://schemas.microsoft.com/office/powerpoint/2010/main" val="9217941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6-rule">
            <a:extLst xmlns:a="http://schemas.openxmlformats.org/drawingml/2006/main">
              <a:ext uri="{FF2B5EF4-FFF2-40B4-BE49-F238E27FC236}">
                <a16:creationId xmlns:a16="http://schemas.microsoft.com/office/drawing/2014/main" id="{33586DFB-F2B8-4219-938F-1AC73ACBB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6-eyebrow">
            <a:extLst xmlns:a="http://schemas.openxmlformats.org/drawingml/2006/main">
              <a:ext uri="{FF2B5EF4-FFF2-40B4-BE49-F238E27FC236}">
                <a16:creationId xmlns:a16="http://schemas.microsoft.com/office/drawing/2014/main" id="{E0E0547B-65FD-430C-9C0B-1597F5056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核心论点 4 / 6</a:t>
            </a:r>
          </a:p>
        </p:txBody>
      </p:sp>
      <p:sp>
        <p:nvSpPr>
          <p:cNvPr id="3" name="s6-title">
            <a:extLst xmlns:a="http://schemas.openxmlformats.org/drawingml/2006/main">
              <a:ext uri="{FF2B5EF4-FFF2-40B4-BE49-F238E27FC236}">
                <a16:creationId xmlns:a16="http://schemas.microsoft.com/office/drawing/2014/main" id="{05743317-8426-488F-A17B-4FE97ABCC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这三类信息的生命周期不同</a:t>
            </a:r>
          </a:p>
        </p:txBody>
      </p:sp>
      <p:sp>
        <p:nvSpPr>
          <p:cNvPr id="4" name="s6-footer">
            <a:extLst xmlns:a="http://schemas.openxmlformats.org/drawingml/2006/main">
              <a:ext uri="{FF2B5EF4-FFF2-40B4-BE49-F238E27FC236}">
                <a16:creationId xmlns:a16="http://schemas.microsoft.com/office/drawing/2014/main" id="{F8F54361-8AF2-4322-A2E4-E68454FCB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6-identity">
            <a:extLst xmlns:a="http://schemas.openxmlformats.org/drawingml/2006/main">
              <a:ext uri="{FF2B5EF4-FFF2-40B4-BE49-F238E27FC236}">
                <a16:creationId xmlns:a16="http://schemas.microsoft.com/office/drawing/2014/main" id="{F81BFCD0-ADF6-49B2-A199-E7B1B8B7D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AG-002 · AG-002-S06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7CD0F9B6-B077-45FA-B29D-6AA8E4C13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FBF79F0B-DFAC-44E8-BD58-AAD592423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3263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上下文、短期状态与长期记忆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DCEC9D59-B053-4201-81E7-863DB3437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32639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17A6C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这三类信息的生命周期不同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994876B5-78EC-4108-83B1-30D2636E2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F5F50938-344F-47CB-9CA2-8BE03C7CB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当前上下文 服务于眼前一次决策，包括用户本轮要求、刚取得的工具结果和相关资料片段。它容量有限，任务推进时会变化</a:t>
            </a:r>
          </a:p>
        </p:txBody>
      </p:sp>
      <p:sp>
        <p:nvSpPr>
          <p:cNvPr id="11" name="core-no-2">
            <a:extLst xmlns:a="http://schemas.openxmlformats.org/drawingml/2006/main">
              <a:ext uri="{FF2B5EF4-FFF2-40B4-BE49-F238E27FC236}">
                <a16:creationId xmlns:a16="http://schemas.microsoft.com/office/drawing/2014/main" id="{FCF84D65-8C61-4385-8BE0-A8FE11DA8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2" name="core-body-2">
            <a:extLst xmlns:a="http://schemas.openxmlformats.org/drawingml/2006/main">
              <a:ext uri="{FF2B5EF4-FFF2-40B4-BE49-F238E27FC236}">
                <a16:creationId xmlns:a16="http://schemas.microsoft.com/office/drawing/2014/main" id="{7039F636-C55A-4960-97D6-CAF9C7E32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短期状态 记录一个任务的可恢复进度，例如目标、已完成步骤、中间产物、待处理错误和下一步。即使会话中断，任务也应能从状态恢复</a:t>
            </a:r>
          </a:p>
        </p:txBody>
      </p:sp>
      <p:sp>
        <p:nvSpPr>
          <p:cNvPr id="13" name="s6-takeaway-rule">
            <a:extLst xmlns:a="http://schemas.openxmlformats.org/drawingml/2006/main">
              <a:ext uri="{FF2B5EF4-FFF2-40B4-BE49-F238E27FC236}">
                <a16:creationId xmlns:a16="http://schemas.microsoft.com/office/drawing/2014/main" id="{15FDEF89-87CB-498F-8958-A6CE5AE42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14" name="s6-takeaway">
            <a:extLst xmlns:a="http://schemas.openxmlformats.org/drawingml/2006/main">
              <a:ext uri="{FF2B5EF4-FFF2-40B4-BE49-F238E27FC236}">
                <a16:creationId xmlns:a16="http://schemas.microsoft.com/office/drawing/2014/main" id="{CB06ABDD-0F7C-4DC1-90D4-7E9845EBF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这三类信息的生命周期不同</a:t>
            </a:r>
          </a:p>
        </p:txBody>
      </p:sp>
    </p:spTree>
    <p:extLst>
      <p:ext uri="{BB962C8B-B14F-4D97-AF65-F5344CB8AC3E}">
        <p14:creationId xmlns:p14="http://schemas.microsoft.com/office/powerpoint/2010/main" val="122780100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7-rule">
            <a:extLst xmlns:a="http://schemas.openxmlformats.org/drawingml/2006/main">
              <a:ext uri="{FF2B5EF4-FFF2-40B4-BE49-F238E27FC236}">
                <a16:creationId xmlns:a16="http://schemas.microsoft.com/office/drawing/2014/main" id="{76E76F33-456B-4629-AD74-F16413EB9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7-eyebrow">
            <a:extLst xmlns:a="http://schemas.openxmlformats.org/drawingml/2006/main">
              <a:ext uri="{FF2B5EF4-FFF2-40B4-BE49-F238E27FC236}">
                <a16:creationId xmlns:a16="http://schemas.microsoft.com/office/drawing/2014/main" id="{16B7BA3E-9AD6-4A4F-B5A7-DBC7C514D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核心论点 5 / 6</a:t>
            </a:r>
          </a:p>
        </p:txBody>
      </p:sp>
      <p:sp>
        <p:nvSpPr>
          <p:cNvPr id="3" name="s7-title">
            <a:extLst xmlns:a="http://schemas.openxmlformats.org/drawingml/2006/main">
              <a:ext uri="{FF2B5EF4-FFF2-40B4-BE49-F238E27FC236}">
                <a16:creationId xmlns:a16="http://schemas.microsoft.com/office/drawing/2014/main" id="{607EA79A-DB6B-4C1B-9C4A-845E1FC27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规划的作用是把目标转成可执行且可验收的步骤</a:t>
            </a:r>
          </a:p>
        </p:txBody>
      </p:sp>
      <p:sp>
        <p:nvSpPr>
          <p:cNvPr id="4" name="s7-footer">
            <a:extLst xmlns:a="http://schemas.openxmlformats.org/drawingml/2006/main">
              <a:ext uri="{FF2B5EF4-FFF2-40B4-BE49-F238E27FC236}">
                <a16:creationId xmlns:a16="http://schemas.microsoft.com/office/drawing/2014/main" id="{02DE202C-5E00-4BC3-AE32-4825E9ADB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7-identity">
            <a:extLst xmlns:a="http://schemas.openxmlformats.org/drawingml/2006/main">
              <a:ext uri="{FF2B5EF4-FFF2-40B4-BE49-F238E27FC236}">
                <a16:creationId xmlns:a16="http://schemas.microsoft.com/office/drawing/2014/main" id="{5E3ADB0C-30AC-40DB-854A-7C2305D21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AG-002 · AG-002-S07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CFD59FE9-82CF-4173-A0C3-AAE3C4B67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2A26F167-AF8E-4C9A-B86B-C62588EA3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规划：维护可更新的任务图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8C92298C-BF66-4B50-912F-1B0A8AEAA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17A6C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规划的作用是把目标转成可执行且可验收的步骤。每一步应写清输入、动作、产出、依赖和通过条件。存在依赖时，计划更像任务图而不是线性清单：数据未取得，分析步骤就不能开始；审批未通过…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D988C896-57E4-4A87-97F2-FDF699667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72E4DA2F-A690-4AA3-AB19-D2C2EB6BA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计划要随着观察更新，但变更必须有理由。如果工具返回的真实结构与预期不同，应修订后续步骤；如果只是执行困难，不能悄悄降低验收标准。对长任务，建议在每个阶段形成恢复点：保存已验证产物…</a:t>
            </a:r>
          </a:p>
        </p:txBody>
      </p:sp>
      <p:sp>
        <p:nvSpPr>
          <p:cNvPr id="11" name="s7-takeaway-rule">
            <a:extLst xmlns:a="http://schemas.openxmlformats.org/drawingml/2006/main">
              <a:ext uri="{FF2B5EF4-FFF2-40B4-BE49-F238E27FC236}">
                <a16:creationId xmlns:a16="http://schemas.microsoft.com/office/drawing/2014/main" id="{044487C5-C0D6-4B85-83E3-7FD273BB1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12" name="s7-takeaway">
            <a:extLst xmlns:a="http://schemas.openxmlformats.org/drawingml/2006/main">
              <a:ext uri="{FF2B5EF4-FFF2-40B4-BE49-F238E27FC236}">
                <a16:creationId xmlns:a16="http://schemas.microsoft.com/office/drawing/2014/main" id="{74D4D033-6E70-4C0E-92F0-F82EB0CDB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规划的作用是把目标转成可执行且可验收的步骤</a:t>
            </a:r>
          </a:p>
        </p:txBody>
      </p:sp>
    </p:spTree>
    <p:extLst>
      <p:ext uri="{BB962C8B-B14F-4D97-AF65-F5344CB8AC3E}">
        <p14:creationId xmlns:p14="http://schemas.microsoft.com/office/powerpoint/2010/main" val="156155716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8-rule">
            <a:extLst xmlns:a="http://schemas.openxmlformats.org/drawingml/2006/main">
              <a:ext uri="{FF2B5EF4-FFF2-40B4-BE49-F238E27FC236}">
                <a16:creationId xmlns:a16="http://schemas.microsoft.com/office/drawing/2014/main" id="{3E5BC9D6-D6A1-46AA-81FF-A043A89AE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8-eyebrow">
            <a:extLst xmlns:a="http://schemas.openxmlformats.org/drawingml/2006/main">
              <a:ext uri="{FF2B5EF4-FFF2-40B4-BE49-F238E27FC236}">
                <a16:creationId xmlns:a16="http://schemas.microsoft.com/office/drawing/2014/main" id="{B17AE679-8E02-4EF8-93AC-B8E65ED55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核心论点 6 / 6</a:t>
            </a:r>
          </a:p>
        </p:txBody>
      </p:sp>
      <p:sp>
        <p:nvSpPr>
          <p:cNvPr id="3" name="s8-title">
            <a:extLst xmlns:a="http://schemas.openxmlformats.org/drawingml/2006/main">
              <a:ext uri="{FF2B5EF4-FFF2-40B4-BE49-F238E27FC236}">
                <a16:creationId xmlns:a16="http://schemas.microsoft.com/office/drawing/2014/main" id="{D8BCC29A-40C9-4AA2-9BFB-2171CB323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权限失败是系统边界，而不是提示词问题</a:t>
            </a:r>
          </a:p>
        </p:txBody>
      </p:sp>
      <p:sp>
        <p:nvSpPr>
          <p:cNvPr id="4" name="s8-footer">
            <a:extLst xmlns:a="http://schemas.openxmlformats.org/drawingml/2006/main">
              <a:ext uri="{FF2B5EF4-FFF2-40B4-BE49-F238E27FC236}">
                <a16:creationId xmlns:a16="http://schemas.microsoft.com/office/drawing/2014/main" id="{A5294425-C645-4CDE-A156-22317F1D2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8-identity">
            <a:extLst xmlns:a="http://schemas.openxmlformats.org/drawingml/2006/main">
              <a:ext uri="{FF2B5EF4-FFF2-40B4-BE49-F238E27FC236}">
                <a16:creationId xmlns:a16="http://schemas.microsoft.com/office/drawing/2014/main" id="{09A1298A-838A-4FF7-A98D-F8950DD12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AG-002 · AG-002-S08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8DD04B3A-47FC-4887-A952-497ED139D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C5D354C9-C553-4E2D-8A0A-B5A6FA83C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权限失败：不能靠“换一种说法”绕过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38BAE971-3498-4B90-9527-473291DFD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17A6C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权限失败是系统边界，而不是提示词问题。正确处理顺序是：确认调用身份与目标资源；判断所需权限是否属于当前任务；记录被拒绝的动作和原因；寻找权限内的只读或草稿替代；如果仍无法完成…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22D968EF-16ED-4193-9B35-B5AF5A911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4C6ECD3C-DB1B-40AE-8678-EB7AE92FF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智能体不应尝试猜测凭据、切换到未授权账号，或通过另一个工具绕过限制。获得权限后，也应从失败步骤重新观察当前状态，因为外部数据可能已经变化</a:t>
            </a:r>
          </a:p>
        </p:txBody>
      </p:sp>
      <p:sp>
        <p:nvSpPr>
          <p:cNvPr id="11" name="s8-takeaway-rule">
            <a:extLst xmlns:a="http://schemas.openxmlformats.org/drawingml/2006/main">
              <a:ext uri="{FF2B5EF4-FFF2-40B4-BE49-F238E27FC236}">
                <a16:creationId xmlns:a16="http://schemas.microsoft.com/office/drawing/2014/main" id="{3FA50997-2A6C-4268-9100-58814DC46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12" name="s8-takeaway">
            <a:extLst xmlns:a="http://schemas.openxmlformats.org/drawingml/2006/main">
              <a:ext uri="{FF2B5EF4-FFF2-40B4-BE49-F238E27FC236}">
                <a16:creationId xmlns:a16="http://schemas.microsoft.com/office/drawing/2014/main" id="{A447DB16-1F2B-4264-8990-F23D014E1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权限失败是系统边界，而不是提示词问题</a:t>
            </a:r>
          </a:p>
        </p:txBody>
      </p:sp>
    </p:spTree>
    <p:extLst>
      <p:ext uri="{BB962C8B-B14F-4D97-AF65-F5344CB8AC3E}">
        <p14:creationId xmlns:p14="http://schemas.microsoft.com/office/powerpoint/2010/main" val="156837103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9-rule">
            <a:extLst xmlns:a="http://schemas.openxmlformats.org/drawingml/2006/main">
              <a:ext uri="{FF2B5EF4-FFF2-40B4-BE49-F238E27FC236}">
                <a16:creationId xmlns:a16="http://schemas.microsoft.com/office/drawing/2014/main" id="{A6D41767-7178-4DEF-B290-24840AAE0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9-eyebrow">
            <a:extLst xmlns:a="http://schemas.openxmlformats.org/drawingml/2006/main">
              <a:ext uri="{FF2B5EF4-FFF2-40B4-BE49-F238E27FC236}">
                <a16:creationId xmlns:a16="http://schemas.microsoft.com/office/drawing/2014/main" id="{E5CED485-520C-4DE6-A388-D774623E4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案例与边界 1 / 1</a:t>
            </a:r>
          </a:p>
        </p:txBody>
      </p:sp>
      <p:sp>
        <p:nvSpPr>
          <p:cNvPr id="3" name="s9-title">
            <a:extLst xmlns:a="http://schemas.openxmlformats.org/drawingml/2006/main">
              <a:ext uri="{FF2B5EF4-FFF2-40B4-BE49-F238E27FC236}">
                <a16:creationId xmlns:a16="http://schemas.microsoft.com/office/drawing/2014/main" id="{0F819B42-9431-4734-B99B-15C2FD8A3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文档问答智能体为什么答错了“最新版政策”</a:t>
            </a:r>
          </a:p>
        </p:txBody>
      </p:sp>
      <p:sp>
        <p:nvSpPr>
          <p:cNvPr id="4" name="s9-footer">
            <a:extLst xmlns:a="http://schemas.openxmlformats.org/drawingml/2006/main">
              <a:ext uri="{FF2B5EF4-FFF2-40B4-BE49-F238E27FC236}">
                <a16:creationId xmlns:a16="http://schemas.microsoft.com/office/drawing/2014/main" id="{35571090-7168-4524-B539-D1C66584F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9-identity">
            <a:extLst xmlns:a="http://schemas.openxmlformats.org/drawingml/2006/main">
              <a:ext uri="{FF2B5EF4-FFF2-40B4-BE49-F238E27FC236}">
                <a16:creationId xmlns:a16="http://schemas.microsoft.com/office/drawing/2014/main" id="{52CBE58E-69EB-4DFA-A5FA-B0F7CAA9F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AG-002 · AG-002-S09</a:t>
            </a:r>
          </a:p>
        </p:txBody>
      </p:sp>
      <p:sp>
        <p:nvSpPr>
          <p:cNvPr id="6" name="case-title">
            <a:extLst xmlns:a="http://schemas.openxmlformats.org/drawingml/2006/main">
              <a:ext uri="{FF2B5EF4-FFF2-40B4-BE49-F238E27FC236}">
                <a16:creationId xmlns:a16="http://schemas.microsoft.com/office/drawing/2014/main" id="{56A7ACBB-EA7F-42CA-ADC2-79CCC37F6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0" cy="2724150"/>
          </a:xfrm>
          <a:prstGeom xmlns:a="http://schemas.openxmlformats.org/drawingml/2006/main" prst="roundRect">
            <a:avLst>
              <a:gd name="adj" fmla="val 6993"/>
            </a:avLst>
          </a:prstGeom>
          <a:solidFill xmlns:a="http://schemas.openxmlformats.org/drawingml/2006/main">
            <a:srgbClr val="0D4D68"/>
          </a:solidFill>
          <a:ln xmlns:a="http://schemas.openxmlformats.org/drawingml/2006/main" w="0">
            <a:solidFill>
              <a:srgbClr val="0D4D6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文档问答智能体为什么答错了“最新版政策”</a:t>
            </a:r>
          </a:p>
        </p:txBody>
      </p:sp>
      <p:sp>
        <p:nvSpPr>
          <p:cNvPr id="7" name="case-row-0">
            <a:extLst xmlns:a="http://schemas.openxmlformats.org/drawingml/2006/main">
              <a:ext uri="{FF2B5EF4-FFF2-40B4-BE49-F238E27FC236}">
                <a16:creationId xmlns:a16="http://schemas.microsoft.com/office/drawing/2014/main" id="{755ADB71-4AFC-41AB-8233-D62DAA3AA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383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5122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场景｜某智能体接到“汇总最新差旅政策并列出报销上限”的任务。它的长期记忆里存有去年的规则，于是直接生成答案。正确设计应当是</a:t>
            </a:r>
          </a:p>
        </p:txBody>
      </p:sp>
      <p:sp>
        <p:nvSpPr>
          <p:cNvPr id="8" name="case-row-1">
            <a:extLst xmlns:a="http://schemas.openxmlformats.org/drawingml/2006/main">
              <a:ext uri="{FF2B5EF4-FFF2-40B4-BE49-F238E27FC236}">
                <a16:creationId xmlns:a16="http://schemas.microsoft.com/office/drawing/2014/main" id="{99830592-C6A6-48E5-8DBB-211E0A0AF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6670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机制｜计划先查询政策目录，再读取标记为“当前生效”的文件</a:t>
            </a:r>
          </a:p>
        </p:txBody>
      </p:sp>
      <p:sp>
        <p:nvSpPr>
          <p:cNvPr id="9" name="case-row-2">
            <a:extLst xmlns:a="http://schemas.openxmlformats.org/drawingml/2006/main">
              <a:ext uri="{FF2B5EF4-FFF2-40B4-BE49-F238E27FC236}">
                <a16:creationId xmlns:a16="http://schemas.microsoft.com/office/drawing/2014/main" id="{1B72978B-2FAB-41C9-8098-EAAF7C224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2956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结果｜通过 resource 获取原文，记录文件版本、生效日期和来源</a:t>
            </a:r>
          </a:p>
        </p:txBody>
      </p:sp>
      <p:sp>
        <p:nvSpPr>
          <p:cNvPr id="10" name="case-row-3">
            <a:extLst xmlns:a="http://schemas.openxmlformats.org/drawingml/2006/main">
              <a:ext uri="{FF2B5EF4-FFF2-40B4-BE49-F238E27FC236}">
                <a16:creationId xmlns:a16="http://schemas.microsoft.com/office/drawing/2014/main" id="{67F0C893-B47B-40DD-9D3D-FAAD16EC0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9243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9525">
            <a:solidFill>
              <a:srgbClr val="17A6C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边界｜如需查询个人可报额度，再调用只读 tool，并显式传入授权范围内的人员标识</a:t>
            </a:r>
          </a:p>
        </p:txBody>
      </p:sp>
      <p:sp>
        <p:nvSpPr>
          <p:cNvPr id="11" name="s9-takeaway-rule">
            <a:extLst xmlns:a="http://schemas.openxmlformats.org/drawingml/2006/main">
              <a:ext uri="{FF2B5EF4-FFF2-40B4-BE49-F238E27FC236}">
                <a16:creationId xmlns:a16="http://schemas.microsoft.com/office/drawing/2014/main" id="{4388E610-08FB-461B-8A8E-754F0449E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12" name="s9-takeaway">
            <a:extLst xmlns:a="http://schemas.openxmlformats.org/drawingml/2006/main">
              <a:ext uri="{FF2B5EF4-FFF2-40B4-BE49-F238E27FC236}">
                <a16:creationId xmlns:a16="http://schemas.microsoft.com/office/drawing/2014/main" id="{E5E436FF-7F0B-4AAB-B804-4A22814E5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文档问答智能体为什么答错了“最新版政策”</a:t>
            </a:r>
          </a:p>
        </p:txBody>
      </p:sp>
    </p:spTree>
    <p:extLst>
      <p:ext uri="{BB962C8B-B14F-4D97-AF65-F5344CB8AC3E}">
        <p14:creationId xmlns:p14="http://schemas.microsoft.com/office/powerpoint/2010/main" val="120949285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0-rule">
            <a:extLst xmlns:a="http://schemas.openxmlformats.org/drawingml/2006/main">
              <a:ext uri="{FF2B5EF4-FFF2-40B4-BE49-F238E27FC236}">
                <a16:creationId xmlns:a16="http://schemas.microsoft.com/office/drawing/2014/main" id="{71DD4F5B-6283-4426-882E-2D3C7176B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10-eyebrow">
            <a:extLst xmlns:a="http://schemas.openxmlformats.org/drawingml/2006/main">
              <a:ext uri="{FF2B5EF4-FFF2-40B4-BE49-F238E27FC236}">
                <a16:creationId xmlns:a16="http://schemas.microsoft.com/office/drawing/2014/main" id="{E40CED19-8F71-4E40-AA73-7D4935EC1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动手实践</a:t>
            </a:r>
          </a:p>
        </p:txBody>
      </p:sp>
      <p:sp>
        <p:nvSpPr>
          <p:cNvPr id="3" name="s10-title">
            <a:extLst xmlns:a="http://schemas.openxmlformats.org/drawingml/2006/main">
              <a:ext uri="{FF2B5EF4-FFF2-40B4-BE49-F238E27FC236}">
                <a16:creationId xmlns:a16="http://schemas.microsoft.com/office/drawing/2014/main" id="{69612CC7-D64B-4D0B-8CFF-EFF9D385A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把方法落实为可验证的行动</a:t>
            </a:r>
          </a:p>
        </p:txBody>
      </p:sp>
      <p:sp>
        <p:nvSpPr>
          <p:cNvPr id="4" name="s10-footer">
            <a:extLst xmlns:a="http://schemas.openxmlformats.org/drawingml/2006/main">
              <a:ext uri="{FF2B5EF4-FFF2-40B4-BE49-F238E27FC236}">
                <a16:creationId xmlns:a16="http://schemas.microsoft.com/office/drawing/2014/main" id="{73457CB0-5DFF-44FC-9289-809EAF0FD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0-identity">
            <a:extLst xmlns:a="http://schemas.openxmlformats.org/drawingml/2006/main">
              <a:ext uri="{FF2B5EF4-FFF2-40B4-BE49-F238E27FC236}">
                <a16:creationId xmlns:a16="http://schemas.microsoft.com/office/drawing/2014/main" id="{8992C922-16DE-41AD-94E3-FC210DCB9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AG-002 · AG-002-S10</a:t>
            </a:r>
          </a:p>
        </p:txBody>
      </p:sp>
      <p:sp>
        <p:nvSpPr>
          <p:cNvPr id="6" name="practice-circle-0">
            <a:extLst xmlns:a="http://schemas.openxmlformats.org/drawingml/2006/main">
              <a:ext uri="{FF2B5EF4-FFF2-40B4-BE49-F238E27FC236}">
                <a16:creationId xmlns:a16="http://schemas.microsoft.com/office/drawing/2014/main" id="{0DF86719-0424-4809-890B-734FF40E1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4D6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practice-number-0">
            <a:extLst xmlns:a="http://schemas.openxmlformats.org/drawingml/2006/main">
              <a:ext uri="{FF2B5EF4-FFF2-40B4-BE49-F238E27FC236}">
                <a16:creationId xmlns:a16="http://schemas.microsoft.com/office/drawing/2014/main" id="{16BB603D-5A0E-429D-970A-7147D754A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practice-item-0">
            <a:extLst xmlns:a="http://schemas.openxmlformats.org/drawingml/2006/main">
              <a:ext uri="{FF2B5EF4-FFF2-40B4-BE49-F238E27FC236}">
                <a16:creationId xmlns:a16="http://schemas.microsoft.com/office/drawing/2014/main" id="{7B4AB5C3-CAB4-4942-93EC-468560AB6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5772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以“查询图书馆在借图书并生成到期提醒”为例，完成一份系统设计：；分别为“查询在借图书”和“创建提醒”写工具契约，标明读取或写入权限、错误码和重试规则</a:t>
            </a:r>
          </a:p>
        </p:txBody>
      </p:sp>
      <p:sp>
        <p:nvSpPr>
          <p:cNvPr id="9" name="practice-connector-0">
            <a:extLst xmlns:a="http://schemas.openxmlformats.org/drawingml/2006/main">
              <a:ext uri="{FF2B5EF4-FFF2-40B4-BE49-F238E27FC236}">
                <a16:creationId xmlns:a16="http://schemas.microsoft.com/office/drawing/2014/main" id="{5A84C952-AF10-484E-8731-58553132D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7A6C8"/>
            </a:solidFill>
            <a:prstDash val="solid"/>
          </a:ln>
        </p:spPr>
      </p:sp>
      <p:sp>
        <p:nvSpPr>
          <p:cNvPr id="10" name="practice-circle-1">
            <a:extLst xmlns:a="http://schemas.openxmlformats.org/drawingml/2006/main">
              <a:ext uri="{FF2B5EF4-FFF2-40B4-BE49-F238E27FC236}">
                <a16:creationId xmlns:a16="http://schemas.microsoft.com/office/drawing/2014/main" id="{A29DD182-817F-4AF3-8E6F-6DF09A35B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4D6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practice-number-1">
            <a:extLst xmlns:a="http://schemas.openxmlformats.org/drawingml/2006/main">
              <a:ext uri="{FF2B5EF4-FFF2-40B4-BE49-F238E27FC236}">
                <a16:creationId xmlns:a16="http://schemas.microsoft.com/office/drawing/2014/main" id="{A9B47EE3-47E3-49B2-B142-65F2B1A2D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practice-item-1">
            <a:extLst xmlns:a="http://schemas.openxmlformats.org/drawingml/2006/main">
              <a:ext uri="{FF2B5EF4-FFF2-40B4-BE49-F238E27FC236}">
                <a16:creationId xmlns:a16="http://schemas.microsoft.com/office/drawing/2014/main" id="{D00DD5AC-0EE4-49BE-9801-D4A7EB8F6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3921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画出 host、两个 client/server 连接以及 tools、resources、prompts 的位置，并写出数据不能越过的边界。；把信息分到当前上下文、短期状态、长期记忆三栏…</a:t>
            </a:r>
          </a:p>
        </p:txBody>
      </p:sp>
      <p:sp>
        <p:nvSpPr>
          <p:cNvPr id="13" name="practice-connector-1">
            <a:extLst xmlns:a="http://schemas.openxmlformats.org/drawingml/2006/main">
              <a:ext uri="{FF2B5EF4-FFF2-40B4-BE49-F238E27FC236}">
                <a16:creationId xmlns:a16="http://schemas.microsoft.com/office/drawing/2014/main" id="{54357C33-834B-47DD-9059-0CF406D77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7A6C8"/>
            </a:solidFill>
            <a:prstDash val="solid"/>
          </a:ln>
        </p:spPr>
      </p:sp>
      <p:sp>
        <p:nvSpPr>
          <p:cNvPr id="14" name="practice-circle-2">
            <a:extLst xmlns:a="http://schemas.openxmlformats.org/drawingml/2006/main">
              <a:ext uri="{FF2B5EF4-FFF2-40B4-BE49-F238E27FC236}">
                <a16:creationId xmlns:a16="http://schemas.microsoft.com/office/drawing/2014/main" id="{5DEA4DFA-8A7E-4207-9393-F17C49756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practice-number-2">
            <a:extLst xmlns:a="http://schemas.openxmlformats.org/drawingml/2006/main">
              <a:ext uri="{FF2B5EF4-FFF2-40B4-BE49-F238E27FC236}">
                <a16:creationId xmlns:a16="http://schemas.microsoft.com/office/drawing/2014/main" id="{D54B2618-3A05-49D5-91FC-6CDA9CEC8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practice-item-2">
            <a:extLst xmlns:a="http://schemas.openxmlformats.org/drawingml/2006/main">
              <a:ext uri="{FF2B5EF4-FFF2-40B4-BE49-F238E27FC236}">
                <a16:creationId xmlns:a16="http://schemas.microsoft.com/office/drawing/2014/main" id="{D20FB444-BC66-4BA4-8ED6-54954095B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17A6C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2359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设计一个包含至少五步的计划，并加入“查询权限不足”和“创建提醒结果未知”两条失败分支。；验收标准是：任何一次失败都能被明确分类；没有权限时不会继续写入；任务中断后能根据短期状态恢复…</a:t>
            </a:r>
          </a:p>
        </p:txBody>
      </p:sp>
    </p:spTree>
    <p:extLst>
      <p:ext uri="{BB962C8B-B14F-4D97-AF65-F5344CB8AC3E}">
        <p14:creationId xmlns:p14="http://schemas.microsoft.com/office/powerpoint/2010/main" val="37017716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1-rule">
            <a:extLst xmlns:a="http://schemas.openxmlformats.org/drawingml/2006/main">
              <a:ext uri="{FF2B5EF4-FFF2-40B4-BE49-F238E27FC236}">
                <a16:creationId xmlns:a16="http://schemas.microsoft.com/office/drawing/2014/main" id="{6B1AC7FA-B793-43F1-A39B-C8D114A1F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11-eyebrow">
            <a:extLst xmlns:a="http://schemas.openxmlformats.org/drawingml/2006/main">
              <a:ext uri="{FF2B5EF4-FFF2-40B4-BE49-F238E27FC236}">
                <a16:creationId xmlns:a16="http://schemas.microsoft.com/office/drawing/2014/main" id="{0C057CDF-32E3-41FF-BFAE-100F31684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课后复盘</a:t>
            </a:r>
          </a:p>
        </p:txBody>
      </p:sp>
      <p:sp>
        <p:nvSpPr>
          <p:cNvPr id="3" name="s11-title">
            <a:extLst xmlns:a="http://schemas.openxmlformats.org/drawingml/2006/main">
              <a:ext uri="{FF2B5EF4-FFF2-40B4-BE49-F238E27FC236}">
                <a16:creationId xmlns:a16="http://schemas.microsoft.com/office/drawing/2014/main" id="{52FECF0C-5DA2-42A4-861B-B6C24E617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带走三条可复用的判断原则</a:t>
            </a:r>
          </a:p>
        </p:txBody>
      </p:sp>
      <p:sp>
        <p:nvSpPr>
          <p:cNvPr id="4" name="s11-footer">
            <a:extLst xmlns:a="http://schemas.openxmlformats.org/drawingml/2006/main">
              <a:ext uri="{FF2B5EF4-FFF2-40B4-BE49-F238E27FC236}">
                <a16:creationId xmlns:a16="http://schemas.microsoft.com/office/drawing/2014/main" id="{FC1BA3C5-34FC-4BC9-AEEB-ACC8F3E10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1-identity">
            <a:extLst xmlns:a="http://schemas.openxmlformats.org/drawingml/2006/main">
              <a:ext uri="{FF2B5EF4-FFF2-40B4-BE49-F238E27FC236}">
                <a16:creationId xmlns:a16="http://schemas.microsoft.com/office/drawing/2014/main" id="{26900F2A-5BBB-4827-A8CE-EA55C0EBD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AG-002 · AG-002-S11</a:t>
            </a:r>
          </a:p>
        </p:txBody>
      </p:sp>
      <p:sp>
        <p:nvSpPr>
          <p:cNvPr id="6" name="recap-circle-0">
            <a:extLst xmlns:a="http://schemas.openxmlformats.org/drawingml/2006/main">
              <a:ext uri="{FF2B5EF4-FFF2-40B4-BE49-F238E27FC236}">
                <a16:creationId xmlns:a16="http://schemas.microsoft.com/office/drawing/2014/main" id="{975F12AC-585B-4EE7-80D4-5178E8364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4D6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recap-number-0">
            <a:extLst xmlns:a="http://schemas.openxmlformats.org/drawingml/2006/main">
              <a:ext uri="{FF2B5EF4-FFF2-40B4-BE49-F238E27FC236}">
                <a16:creationId xmlns:a16="http://schemas.microsoft.com/office/drawing/2014/main" id="{9E24D8B2-57FE-4910-960A-4BDA7378B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recap-item-0">
            <a:extLst xmlns:a="http://schemas.openxmlformats.org/drawingml/2006/main">
              <a:ext uri="{FF2B5EF4-FFF2-40B4-BE49-F238E27FC236}">
                <a16:creationId xmlns:a16="http://schemas.microsoft.com/office/drawing/2014/main" id="{A82D78C5-13BD-4118-BC6C-6659C3717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工具不是一段模糊的自然语言说明，而是一份可检查的契约</a:t>
            </a:r>
          </a:p>
        </p:txBody>
      </p:sp>
      <p:sp>
        <p:nvSpPr>
          <p:cNvPr id="9" name="recap-connector-0">
            <a:extLst xmlns:a="http://schemas.openxmlformats.org/drawingml/2006/main">
              <a:ext uri="{FF2B5EF4-FFF2-40B4-BE49-F238E27FC236}">
                <a16:creationId xmlns:a16="http://schemas.microsoft.com/office/drawing/2014/main" id="{51414A82-FBE3-450A-A30F-1181777AA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7A6C8"/>
            </a:solidFill>
            <a:prstDash val="solid"/>
          </a:ln>
        </p:spPr>
      </p:sp>
      <p:sp>
        <p:nvSpPr>
          <p:cNvPr id="10" name="recap-circle-1">
            <a:extLst xmlns:a="http://schemas.openxmlformats.org/drawingml/2006/main">
              <a:ext uri="{FF2B5EF4-FFF2-40B4-BE49-F238E27FC236}">
                <a16:creationId xmlns:a16="http://schemas.microsoft.com/office/drawing/2014/main" id="{52D76BB5-6548-49EC-8EE2-4D5F3347B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4D6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recap-number-1">
            <a:extLst xmlns:a="http://schemas.openxmlformats.org/drawingml/2006/main">
              <a:ext uri="{FF2B5EF4-FFF2-40B4-BE49-F238E27FC236}">
                <a16:creationId xmlns:a16="http://schemas.microsoft.com/office/drawing/2014/main" id="{27F75C2A-CFDA-4006-A0B0-238800518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recap-item-1">
            <a:extLst xmlns:a="http://schemas.openxmlformats.org/drawingml/2006/main">
              <a:ext uri="{FF2B5EF4-FFF2-40B4-BE49-F238E27FC236}">
                <a16:creationId xmlns:a16="http://schemas.microsoft.com/office/drawing/2014/main" id="{F1C1F0C8-CE2C-434E-9C17-61DD7E343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MCP：连接能力的通用边界</a:t>
            </a:r>
          </a:p>
        </p:txBody>
      </p:sp>
      <p:sp>
        <p:nvSpPr>
          <p:cNvPr id="13" name="recap-connector-1">
            <a:extLst xmlns:a="http://schemas.openxmlformats.org/drawingml/2006/main">
              <a:ext uri="{FF2B5EF4-FFF2-40B4-BE49-F238E27FC236}">
                <a16:creationId xmlns:a16="http://schemas.microsoft.com/office/drawing/2014/main" id="{69D3828E-AC1C-467F-8D75-A6A123BA9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7A6C8"/>
            </a:solidFill>
            <a:prstDash val="solid"/>
          </a:ln>
        </p:spPr>
      </p:sp>
      <p:sp>
        <p:nvSpPr>
          <p:cNvPr id="14" name="recap-circle-2">
            <a:extLst xmlns:a="http://schemas.openxmlformats.org/drawingml/2006/main">
              <a:ext uri="{FF2B5EF4-FFF2-40B4-BE49-F238E27FC236}">
                <a16:creationId xmlns:a16="http://schemas.microsoft.com/office/drawing/2014/main" id="{98F62C3A-4514-4DC4-8199-6D9586B86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recap-number-2">
            <a:extLst xmlns:a="http://schemas.openxmlformats.org/drawingml/2006/main">
              <a:ext uri="{FF2B5EF4-FFF2-40B4-BE49-F238E27FC236}">
                <a16:creationId xmlns:a16="http://schemas.microsoft.com/office/drawing/2014/main" id="{E56458CD-F36F-4A1C-98C8-A243DC237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recap-item-2">
            <a:extLst xmlns:a="http://schemas.openxmlformats.org/drawingml/2006/main">
              <a:ext uri="{FF2B5EF4-FFF2-40B4-BE49-F238E27FC236}">
                <a16:creationId xmlns:a16="http://schemas.microsoft.com/office/drawing/2014/main" id="{6C9AE2DA-677D-443B-8354-8A903799E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17A6C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权限失败是系统边界，而不是提示词问题</a:t>
            </a:r>
          </a:p>
        </p:txBody>
      </p:sp>
    </p:spTree>
    <p:extLst>
      <p:ext uri="{BB962C8B-B14F-4D97-AF65-F5344CB8AC3E}">
        <p14:creationId xmlns:p14="http://schemas.microsoft.com/office/powerpoint/2010/main" val="169902772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2-rule">
            <a:extLst xmlns:a="http://schemas.openxmlformats.org/drawingml/2006/main">
              <a:ext uri="{FF2B5EF4-FFF2-40B4-BE49-F238E27FC236}">
                <a16:creationId xmlns:a16="http://schemas.microsoft.com/office/drawing/2014/main" id="{B753BF3E-AD8A-4E07-8751-7DB21CA08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12-eyebrow">
            <a:extLst xmlns:a="http://schemas.openxmlformats.org/drawingml/2006/main">
              <a:ext uri="{FF2B5EF4-FFF2-40B4-BE49-F238E27FC236}">
                <a16:creationId xmlns:a16="http://schemas.microsoft.com/office/drawing/2014/main" id="{407BC59F-F3D4-4B28-803D-C8CF93835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来源与延伸</a:t>
            </a:r>
          </a:p>
        </p:txBody>
      </p:sp>
      <p:sp>
        <p:nvSpPr>
          <p:cNvPr id="3" name="s12-title">
            <a:extLst xmlns:a="http://schemas.openxmlformats.org/drawingml/2006/main">
              <a:ext uri="{FF2B5EF4-FFF2-40B4-BE49-F238E27FC236}">
                <a16:creationId xmlns:a16="http://schemas.microsoft.com/office/drawing/2014/main" id="{AF03A302-8CEE-4944-B3B5-54CB7E9BA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从公开重制课件回到可核对的学习资料</a:t>
            </a:r>
          </a:p>
        </p:txBody>
      </p:sp>
      <p:sp>
        <p:nvSpPr>
          <p:cNvPr id="4" name="s12-footer">
            <a:extLst xmlns:a="http://schemas.openxmlformats.org/drawingml/2006/main">
              <a:ext uri="{FF2B5EF4-FFF2-40B4-BE49-F238E27FC236}">
                <a16:creationId xmlns:a16="http://schemas.microsoft.com/office/drawing/2014/main" id="{1269C2DD-D526-4DBB-BE2E-8272D0FAF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2-identity">
            <a:extLst xmlns:a="http://schemas.openxmlformats.org/drawingml/2006/main">
              <a:ext uri="{FF2B5EF4-FFF2-40B4-BE49-F238E27FC236}">
                <a16:creationId xmlns:a16="http://schemas.microsoft.com/office/drawing/2014/main" id="{E8715324-B6E5-4E0E-B4D0-CC21F332D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AG-002 · AG-002-S12</a:t>
            </a:r>
          </a:p>
        </p:txBody>
      </p:sp>
      <p:sp>
        <p:nvSpPr>
          <p:cNvPr id="6" name="source-0">
            <a:extLst xmlns:a="http://schemas.openxmlformats.org/drawingml/2006/main">
              <a:ext uri="{FF2B5EF4-FFF2-40B4-BE49-F238E27FC236}">
                <a16:creationId xmlns:a16="http://schemas.microsoft.com/office/drawing/2014/main" id="{BD488429-F293-40A5-AFE1-F27977EDD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9525">
            <a:solidFill>
              <a:srgbClr val="17A6C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01  团队既有课程资料经重新组织、改写与原创视觉重制</a:t>
            </a:r>
          </a:p>
        </p:txBody>
      </p:sp>
      <p:sp>
        <p:nvSpPr>
          <p:cNvPr id="7" name="source-1">
            <a:extLst xmlns:a="http://schemas.openxmlformats.org/drawingml/2006/main">
              <a:ext uri="{FF2B5EF4-FFF2-40B4-BE49-F238E27FC236}">
                <a16:creationId xmlns:a16="http://schemas.microsoft.com/office/drawing/2014/main" id="{B0ADF1F5-C2EA-4E6F-8E76-A921B7E6E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289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101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02  Model Context Protocol Specification 2025-11-25：查阅协议架构、生命周期与 server 能力的正式定义；实现时应以所采用版本的规范为准</a:t>
            </a:r>
          </a:p>
        </p:txBody>
      </p:sp>
      <p:sp>
        <p:nvSpPr>
          <p:cNvPr id="8" name="s12-takeaway-rule">
            <a:extLst xmlns:a="http://schemas.openxmlformats.org/drawingml/2006/main">
              <a:ext uri="{FF2B5EF4-FFF2-40B4-BE49-F238E27FC236}">
                <a16:creationId xmlns:a16="http://schemas.microsoft.com/office/drawing/2014/main" id="{1A925C0B-7D34-44F4-B933-BD3852EA2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626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9" name="s12-takeaway">
            <a:extLst xmlns:a="http://schemas.openxmlformats.org/drawingml/2006/main">
              <a:ext uri="{FF2B5EF4-FFF2-40B4-BE49-F238E27FC236}">
                <a16:creationId xmlns:a16="http://schemas.microsoft.com/office/drawing/2014/main" id="{49574D25-C5BD-46E3-80A1-4F9E0767E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5816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公开幻灯片只使用课程原创文字与原生图形；完整论证、链接和事实边界请见本节讲义。</a:t>
            </a:r>
          </a:p>
        </p:txBody>
      </p:sp>
    </p:spTree>
    <p:extLst>
      <p:ext uri="{BB962C8B-B14F-4D97-AF65-F5344CB8AC3E}">
        <p14:creationId xmlns:p14="http://schemas.microsoft.com/office/powerpoint/2010/main" val="92265054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2026-07-11T12:05:19.9900000Z</dcterms:created>
  <dcterms:modified xsi:type="dcterms:W3CDTF">2026-07-11T12:05:19.9900000Z</dcterms:modified>
</coreProperties>
</file>