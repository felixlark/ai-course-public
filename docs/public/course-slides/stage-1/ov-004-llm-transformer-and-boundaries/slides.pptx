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1160514f56487d" /><Relationship Type="http://schemas.openxmlformats.org/officeDocument/2006/relationships/extended-properties" Target="/docProps/app.xml" Id="R4f6a9f8e6ca34802" /><Relationship Type="http://schemas.openxmlformats.org/officeDocument/2006/relationships/officeDocument" Target="/ppt/presentation.xml" Id="R6ec5dc2575fc45ac" /></Relationships>
</file>

<file path=ppt/presentation.xml><?xml version="1.0" encoding="utf-8"?>
<p:presentation xmlns:p="http://schemas.openxmlformats.org/presentationml/2006/main">
  <p:sldMasterIdLst>
    <p:sldMasterId xmlns:r="http://schemas.openxmlformats.org/officeDocument/2006/relationships" id="2147483648" r:id="R38abda6d3c214d5c"/>
  </p:sldMasterIdLst>
  <p:notesMasterIdLst>
    <p:notesMasterId xmlns:r="http://schemas.openxmlformats.org/officeDocument/2006/relationships" r:id="R67bb7e0b8e424a78"/>
  </p:notesMasterIdLst>
  <p:sldIdLst>
    <p:sldId xmlns:r="http://schemas.openxmlformats.org/officeDocument/2006/relationships" id="256" r:id="Rbd9a850444004fad"/>
    <p:sldId xmlns:r="http://schemas.openxmlformats.org/officeDocument/2006/relationships" id="257" r:id="R59deed2c774a4be4"/>
    <p:sldId xmlns:r="http://schemas.openxmlformats.org/officeDocument/2006/relationships" id="258" r:id="R73be14041fd746c4"/>
    <p:sldId xmlns:r="http://schemas.openxmlformats.org/officeDocument/2006/relationships" id="259" r:id="R97826fdd6b2348ee"/>
    <p:sldId xmlns:r="http://schemas.openxmlformats.org/officeDocument/2006/relationships" id="260" r:id="Ra8b652b844c540d5"/>
    <p:sldId xmlns:r="http://schemas.openxmlformats.org/officeDocument/2006/relationships" id="261" r:id="Ra9d194524c9e48c9"/>
    <p:sldId xmlns:r="http://schemas.openxmlformats.org/officeDocument/2006/relationships" id="262" r:id="R33fa57998a2141f3"/>
    <p:sldId xmlns:r="http://schemas.openxmlformats.org/officeDocument/2006/relationships" id="263" r:id="R664dc8735ee74b48"/>
    <p:sldId xmlns:r="http://schemas.openxmlformats.org/officeDocument/2006/relationships" id="264" r:id="R1e98968a5fa04243"/>
    <p:sldId xmlns:r="http://schemas.openxmlformats.org/officeDocument/2006/relationships" id="265" r:id="Rfb43e4b8acea473d"/>
    <p:sldId xmlns:r="http://schemas.openxmlformats.org/officeDocument/2006/relationships" id="266" r:id="R761e83480ebd48ef"/>
    <p:sldId xmlns:r="http://schemas.openxmlformats.org/officeDocument/2006/relationships" id="267" r:id="Rff5e529e85af492f"/>
    <p:sldId xmlns:r="http://schemas.openxmlformats.org/officeDocument/2006/relationships" id="268" r:id="R258d8f2c2d574279"/>
    <p:sldId xmlns:r="http://schemas.openxmlformats.org/officeDocument/2006/relationships" id="269" r:id="Ra40718f023514642"/>
    <p:sldId xmlns:r="http://schemas.openxmlformats.org/officeDocument/2006/relationships" id="270" r:id="R8978ef5573f44ff0"/>
    <p:sldId xmlns:r="http://schemas.openxmlformats.org/officeDocument/2006/relationships" id="271" r:id="R9d192a50ff514b74"/>
    <p:sldId xmlns:r="http://schemas.openxmlformats.org/officeDocument/2006/relationships" id="272" r:id="R367a4bf2c991425f"/>
    <p:sldId xmlns:r="http://schemas.openxmlformats.org/officeDocument/2006/relationships" id="273" r:id="Rbd2585a1217e4d30"/>
    <p:sldId xmlns:r="http://schemas.openxmlformats.org/officeDocument/2006/relationships" id="274" r:id="R9fcc37204a8249ee"/>
    <p:sldId xmlns:r="http://schemas.openxmlformats.org/officeDocument/2006/relationships" id="275" r:id="R1f9156ba424e4265"/>
  </p:sldIdLst>
  <p:sldSz cx="9144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howGuides="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e3fe39c445b4f25" /><Relationship Type="http://schemas.openxmlformats.org/officeDocument/2006/relationships/slideMaster" Target="/ppt/slideMasters/slideMaster1.xml" Id="R38abda6d3c214d5c" /><Relationship Type="http://schemas.openxmlformats.org/officeDocument/2006/relationships/notesMaster" Target="/ppt/notesMasters/notesMaster1.xml" Id="R67bb7e0b8e424a78" /><Relationship Type="http://schemas.openxmlformats.org/officeDocument/2006/relationships/presProps" Target="/ppt/presProps.xml" Id="Ra48ecb2077204e94" /><Relationship Type="http://schemas.openxmlformats.org/officeDocument/2006/relationships/viewProps" Target="/ppt/viewProps.xml" Id="Ra9f56e4869e9439e" /><Relationship Type="http://schemas.openxmlformats.org/officeDocument/2006/relationships/tableStyles" Target="/ppt/tableStyles.xml" Id="Ref1ed21d15da4e68" /><Relationship Type="http://schemas.openxmlformats.org/officeDocument/2006/relationships/slide" Target="/ppt/slides/slide1.xml" Id="Rbd9a850444004fad" /><Relationship Type="http://schemas.openxmlformats.org/officeDocument/2006/relationships/slide" Target="/ppt/slides/slide2.xml" Id="R59deed2c774a4be4" /><Relationship Type="http://schemas.openxmlformats.org/officeDocument/2006/relationships/slide" Target="/ppt/slides/slide3.xml" Id="R73be14041fd746c4" /><Relationship Type="http://schemas.openxmlformats.org/officeDocument/2006/relationships/slide" Target="/ppt/slides/slide4.xml" Id="R97826fdd6b2348ee" /><Relationship Type="http://schemas.openxmlformats.org/officeDocument/2006/relationships/slide" Target="/ppt/slides/slide5.xml" Id="Ra8b652b844c540d5" /><Relationship Type="http://schemas.openxmlformats.org/officeDocument/2006/relationships/slide" Target="/ppt/slides/slide6.xml" Id="Ra9d194524c9e48c9" /><Relationship Type="http://schemas.openxmlformats.org/officeDocument/2006/relationships/slide" Target="/ppt/slides/slide7.xml" Id="R33fa57998a2141f3" /><Relationship Type="http://schemas.openxmlformats.org/officeDocument/2006/relationships/slide" Target="/ppt/slides/slide8.xml" Id="R664dc8735ee74b48" /><Relationship Type="http://schemas.openxmlformats.org/officeDocument/2006/relationships/slide" Target="/ppt/slides/slide9.xml" Id="R1e98968a5fa04243" /><Relationship Type="http://schemas.openxmlformats.org/officeDocument/2006/relationships/slide" Target="/ppt/slides/slide10.xml" Id="Rfb43e4b8acea473d" /><Relationship Type="http://schemas.openxmlformats.org/officeDocument/2006/relationships/slide" Target="/ppt/slides/slide11.xml" Id="R761e83480ebd48ef" /><Relationship Type="http://schemas.openxmlformats.org/officeDocument/2006/relationships/slide" Target="/ppt/slides/slide12.xml" Id="Rff5e529e85af492f" /><Relationship Type="http://schemas.openxmlformats.org/officeDocument/2006/relationships/slide" Target="/ppt/slides/slide13.xml" Id="R258d8f2c2d574279" /><Relationship Type="http://schemas.openxmlformats.org/officeDocument/2006/relationships/slide" Target="/ppt/slides/slide14.xml" Id="Ra40718f023514642" /><Relationship Type="http://schemas.openxmlformats.org/officeDocument/2006/relationships/slide" Target="/ppt/slides/slide15.xml" Id="R8978ef5573f44ff0" /><Relationship Type="http://schemas.openxmlformats.org/officeDocument/2006/relationships/slide" Target="/ppt/slides/slide16.xml" Id="R9d192a50ff514b74" /><Relationship Type="http://schemas.openxmlformats.org/officeDocument/2006/relationships/slide" Target="/ppt/slides/slide17.xml" Id="R367a4bf2c991425f" /><Relationship Type="http://schemas.openxmlformats.org/officeDocument/2006/relationships/slide" Target="/ppt/slides/slide18.xml" Id="Rbd2585a1217e4d30" /><Relationship Type="http://schemas.openxmlformats.org/officeDocument/2006/relationships/slide" Target="/ppt/slides/slide19.xml" Id="R9fcc37204a8249ee" /><Relationship Type="http://schemas.openxmlformats.org/officeDocument/2006/relationships/slide" Target="/ppt/slides/slide20.xml" Id="R1f9156ba424e42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8a1b583f1f49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1_红白模板">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黑体"/>
        <a:cs typeface=""/>
      </a:majorFont>
      <a:minorFont>
        <a:latin typeface="Verdana"/>
        <a:ea typeface="黑体"/>
        <a:cs typeface=""/>
      </a:minorFont>
    </a:fontScheme>
    <a:fmtScheme name="Profile 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4eebf2288d47f1" /><Relationship Type="http://schemas.openxmlformats.org/officeDocument/2006/relationships/notesMaster" Target="/ppt/notesMasters/notesMaster1.xml" Id="R34b2906ba29b45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be7558397f4ce9" /><Relationship Type="http://schemas.openxmlformats.org/officeDocument/2006/relationships/notesMaster" Target="/ppt/notesMasters/notesMaster1.xml" Id="Rc907dec4b8d447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19dca2896f49ac" /><Relationship Type="http://schemas.openxmlformats.org/officeDocument/2006/relationships/notesMaster" Target="/ppt/notesMasters/notesMaster1.xml" Id="Rd3b745e7f3af4b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8d0d88c59b4fbf" /><Relationship Type="http://schemas.openxmlformats.org/officeDocument/2006/relationships/notesMaster" Target="/ppt/notesMasters/notesMaster1.xml" Id="R6a48fca05cf841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3bef9d7bf5431f" /><Relationship Type="http://schemas.openxmlformats.org/officeDocument/2006/relationships/notesMaster" Target="/ppt/notesMasters/notesMaster1.xml" Id="Rf5ae8f67b5304c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42ecdb21054dd6" /><Relationship Type="http://schemas.openxmlformats.org/officeDocument/2006/relationships/notesMaster" Target="/ppt/notesMasters/notesMaster1.xml" Id="Rbbb81020bfd547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1e00c74c314690" /><Relationship Type="http://schemas.openxmlformats.org/officeDocument/2006/relationships/notesMaster" Target="/ppt/notesMasters/notesMaster1.xml" Id="Rf0657b6c2d1847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24a71ba71c4a3e" /><Relationship Type="http://schemas.openxmlformats.org/officeDocument/2006/relationships/notesMaster" Target="/ppt/notesMasters/notesMaster1.xml" Id="R78d81ea0f2ee42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ab8faa837c4494" /><Relationship Type="http://schemas.openxmlformats.org/officeDocument/2006/relationships/notesMaster" Target="/ppt/notesMasters/notesMaster1.xml" Id="R37c6f5dd953345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6fdd95d3004582" /><Relationship Type="http://schemas.openxmlformats.org/officeDocument/2006/relationships/notesMaster" Target="/ppt/notesMasters/notesMaster1.xml" Id="Rfb7142c00cc447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d939333badf44fc" /><Relationship Type="http://schemas.openxmlformats.org/officeDocument/2006/relationships/notesMaster" Target="/ppt/notesMasters/notesMaster1.xml" Id="Rb435d313be3245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17b3ca0e13f4139" /><Relationship Type="http://schemas.openxmlformats.org/officeDocument/2006/relationships/notesMaster" Target="/ppt/notesMasters/notesMaster1.xml" Id="R9394408863b24a2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5367e370fe34f58" /><Relationship Type="http://schemas.openxmlformats.org/officeDocument/2006/relationships/notesMaster" Target="/ppt/notesMasters/notesMaster1.xml" Id="R79435190318844d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aecf6cc72c468c" /><Relationship Type="http://schemas.openxmlformats.org/officeDocument/2006/relationships/notesMaster" Target="/ppt/notesMasters/notesMaster1.xml" Id="R94f8ff379f1449e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05008e82ae4af2" /><Relationship Type="http://schemas.openxmlformats.org/officeDocument/2006/relationships/notesMaster" Target="/ppt/notesMasters/notesMaster1.xml" Id="Re029977086e046e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3d9d41c44e34ddc" /><Relationship Type="http://schemas.openxmlformats.org/officeDocument/2006/relationships/notesMaster" Target="/ppt/notesMasters/notesMaster1.xml" Id="R28ed887a331c442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a13926fd319416c" /><Relationship Type="http://schemas.openxmlformats.org/officeDocument/2006/relationships/notesMaster" Target="/ppt/notesMasters/notesMaster1.xml" Id="R4017d38ee9ef4b2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4f4293967b84ff5" /><Relationship Type="http://schemas.openxmlformats.org/officeDocument/2006/relationships/notesMaster" Target="/ppt/notesMasters/notesMaster1.xml" Id="Raca826760c454dd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8f3f4d1ffde4969" /><Relationship Type="http://schemas.openxmlformats.org/officeDocument/2006/relationships/notesMaster" Target="/ppt/notesMasters/notesMaster1.xml" Id="R0c288f452cf2469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c9382844a864eba" /><Relationship Type="http://schemas.openxmlformats.org/officeDocument/2006/relationships/notesMaster" Target="/ppt/notesMasters/notesMaster1.xml" Id="Rb2cda2098f5441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a9601068064a6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2d0bb673a245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b1e68eef4a47c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5709002cf0c438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e6de1e375ed4ae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626eca92c44936" /></Relationships>
</file>

<file path=ppt/slideLayouts/slideLayout1.xml><?xml version="1.0" encoding="utf-8"?>
<p:sldLayout xmlns:p="http://schemas.openxmlformats.org/presentationml/2006/main" showMasterSp="0" type="title" preserve="1">
  <p:cSld name="标题幻灯片">
    <p:spTree>
      <p:nvGrpSpPr>
        <p:cNvPr id="1" name=""/>
        <p:cNvGrpSpPr/>
        <p:nvPr/>
      </p:nvGrpSpPr>
      <p:grpSpPr>
        <a:xfrm xmlns:a="http://schemas.openxmlformats.org/drawingml/2006/main"/>
      </p:grpSpPr>
      <p:sp>
        <p:nvSpPr>
          <p:cNvPr id="4" name="AutoShape 7">
            <a:extLst xmlns:a="http://schemas.openxmlformats.org/drawingml/2006/main">
              <a:ext uri="{FF2B5EF4-FFF2-40B4-BE49-F238E27FC236}">
                <a16:creationId xmlns:a16="http://schemas.microsoft.com/office/drawing/2014/main" id="{FDA8B717-2830-4B52-9F2B-EA09073A479D}"/>
              </a:ext>
            </a:extLst>
          </p:cNvPr>
          <p:cNvSpPr>
            <a:spLocks xmlns:a="http://schemas.openxmlformats.org/drawingml/2006/main" noGrp="1"/>
          </p:cNvSpPr>
          <p:nvPr/>
        </p:nvSpPr>
        <p:spPr>
          <a:xfrm xmlns:a="http://schemas.openxmlformats.org/drawingml/2006/main">
            <a:off x="685800" y="2166950"/>
            <a:ext cx="7772400" cy="109537"/>
          </a:xfrm>
          <a:custGeom xmlns:a="http://schemas.openxmlformats.org/drawingml/2006/main">
            <a:rect l="0" t="0" r="r" b="b"/>
            <a:pathLst>
              <a:path w="1000" h="1000">
                <a:moveTo>
                  <a:pt x="0" y="0"/>
                </a:moveTo>
                <a:lnTo>
                  <a:pt x="618" y="0"/>
                </a:lnTo>
                <a:lnTo>
                  <a:pt x="618" y="1000"/>
                </a:lnTo>
                <a:lnTo>
                  <a:pt x="0" y="1000"/>
                </a:lnTo>
                <a:lnTo>
                  <a:pt x="0" y="0"/>
                </a:lnTo>
                <a:close/>
              </a:path>
              <a:path w="1000" h="1000">
                <a:moveTo>
                  <a:pt x="0" y="0"/>
                </a:moveTo>
                <a:lnTo>
                  <a:pt x="1000" y="0"/>
                </a:lnTo>
              </a:path>
            </a:pathLst>
          </a:custGeom>
          <a:solidFill xmlns:a="http://schemas.openxmlformats.org/drawingml/2006/main">
            <a:srgbClr val="0A3E77"/>
          </a:solidFill>
          <a:ln xmlns:a="http://schemas.openxmlformats.org/drawingml/2006/main" w="9525">
            <a:solidFill>
              <a:srgbClr val="0A3E77"/>
            </a:solidFill>
          </a:ln>
        </p:spPr>
        <p:txBody>
          <a:bodyPr xmlns:a="http://schemas.openxmlformats.org/drawingml/2006/main"/>
          <a:lstStyle xmlns:a="http://schemas.openxmlformats.org/drawingml/2006/main"/>
          <a:p xmlns:a="http://schemas.openxmlformats.org/drawingml/2006/main"/>
        </p:txBody>
      </p:sp>
      <p:sp>
        <p:nvSpPr>
          <p:cNvPr id="4566018" name="Rectangle 2">
            <a:extLst xmlns:a="http://schemas.openxmlformats.org/drawingml/2006/main">
              <a:ext uri="{FF2B5EF4-FFF2-40B4-BE49-F238E27FC236}">
                <a16:creationId xmlns:a16="http://schemas.microsoft.com/office/drawing/2014/main" id="{68424549-D9A1-4568-A343-CAC0C5381E7F}"/>
              </a:ext>
            </a:extLst>
          </p:cNvPr>
          <p:cNvSpPr>
            <a:spLocks xmlns:a="http://schemas.openxmlformats.org/drawingml/2006/main" noGrp="1"/>
          </p:cNvSpPr>
          <p:nvPr>
            <p:ph type="ctrTitle" idx="0"/>
          </p:nvPr>
        </p:nvSpPr>
        <p:spPr>
          <a:xfrm xmlns:a="http://schemas.openxmlformats.org/drawingml/2006/main">
            <a:off x="685800" y="476672"/>
            <a:ext cx="7772400" cy="1371600"/>
          </a:xfrm>
        </p:spPr>
        <p:txBody>
          <a:bodyPr xmlns:a="http://schemas.openxmlformats.org/drawingml/2006/main"/>
          <a:lstStyle xmlns:a="http://schemas.openxmlformats.org/drawingml/2006/main">
            <a:lvl1pPr>
              <a:buNone/>
              <a:defRPr sz="4000">
                <a:latin typeface="Arial"/>
                <a:ea typeface="Arial"/>
                <a:cs typeface="Arial"/>
              </a:defRPr>
            </a:lvl1pPr>
          </a:lstStyle>
          <a:p xmlns:a="http://schemas.openxmlformats.org/drawingml/2006/main">
            <a:r>
              <a:t>Click to edit Master title style</a:t>
            </a:r>
          </a:p>
        </p:txBody>
      </p:sp>
      <p:sp>
        <p:nvSpPr>
          <p:cNvPr id="4566019" name="Rectangle 3">
            <a:extLst xmlns:a="http://schemas.openxmlformats.org/drawingml/2006/main">
              <a:ext uri="{FF2B5EF4-FFF2-40B4-BE49-F238E27FC236}">
                <a16:creationId xmlns:a16="http://schemas.microsoft.com/office/drawing/2014/main" id="{EC6D5165-9474-4078-8935-592646B9BCC1}"/>
              </a:ext>
            </a:extLst>
          </p:cNvPr>
          <p:cNvSpPr>
            <a:spLocks xmlns:a="http://schemas.openxmlformats.org/drawingml/2006/main" noGrp="1"/>
          </p:cNvSpPr>
          <p:nvPr>
            <p:ph type="subTitle" idx="1"/>
          </p:nvPr>
        </p:nvSpPr>
        <p:spPr>
          <a:xfrm xmlns:a="http://schemas.openxmlformats.org/drawingml/2006/main">
            <a:off x="1447800" y="3429000"/>
            <a:ext cx="7010400" cy="1600200"/>
          </a:xfrm>
        </p:spPr>
        <p:txBody>
          <a:bodyPr xmlns:a="http://schemas.openxmlformats.org/drawingml/2006/main"/>
          <a:lstStyle xmlns:a="http://schemas.openxmlformats.org/drawingml/2006/main">
            <a:lvl1pPr marL="0" indent="0">
              <a:buNone/>
              <a:defRPr sz="2200">
                <a:latin typeface="Arial"/>
                <a:ea typeface="Arial"/>
                <a:cs typeface="Arial"/>
              </a:defRPr>
            </a:lvl1pPr>
          </a:lstStyle>
          <a:p xmlns:a="http://schemas.openxmlformats.org/drawingml/2006/main">
            <a:r>
              <a:t>Click to edit Master subtitle style</a:t>
            </a:r>
          </a:p>
        </p:txBody>
      </p:sp>
      <p:sp>
        <p:nvSpPr>
          <p:cNvPr id="6" name="标题 1">
            <a:extLst xmlns:a="http://schemas.openxmlformats.org/drawingml/2006/main">
              <a:ext uri="{FF2B5EF4-FFF2-40B4-BE49-F238E27FC236}">
                <a16:creationId xmlns:a16="http://schemas.microsoft.com/office/drawing/2014/main" id="{A33C04C6-A076-4BB3-9346-06EA9CDF59B5}"/>
              </a:ext>
            </a:extLst>
          </p:cNvPr>
          <p:cNvSpPr>
            <a:spLocks xmlns:a="http://schemas.openxmlformats.org/drawingml/2006/main" noGrp="1"/>
          </p:cNvSpPr>
          <p:nvPr/>
        </p:nvSpPr>
        <p:spPr>
          <a:xfrm xmlns:a="http://schemas.openxmlformats.org/drawingml/2006/main">
            <a:off x="8686801" y="6400806"/>
            <a:ext cx="469900" cy="447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b"/>
          <a:lstStyle xmlns:a="http://schemas.openxmlformats.org/drawingml/2006/main">
            <a:lvl1pPr algn="l">
              <a:buNone/>
              <a:defRPr sz="3600" b="1">
                <a:solidFill>
                  <a:schemeClr val="accent2"/>
                </a:solidFill>
                <a:latin typeface="Times New Roman"/>
                <a:ea typeface="Times New Roman"/>
                <a:cs typeface="Times New Roman"/>
              </a:defRPr>
            </a:lvl1pPr>
            <a:lvl2pPr algn="l">
              <a:buNone/>
              <a:defRPr sz="3800" b="1">
                <a:solidFill>
                  <a:schemeClr val="accent2"/>
                </a:solidFill>
                <a:latin typeface="微软雅黑"/>
                <a:ea typeface="微软雅黑"/>
                <a:cs typeface="微软雅黑"/>
              </a:defRPr>
            </a:lvl2pPr>
            <a:lvl3pPr algn="l">
              <a:buNone/>
              <a:defRPr sz="3800" b="1">
                <a:solidFill>
                  <a:schemeClr val="accent2"/>
                </a:solidFill>
                <a:latin typeface="微软雅黑"/>
                <a:ea typeface="微软雅黑"/>
                <a:cs typeface="微软雅黑"/>
              </a:defRPr>
            </a:lvl3pPr>
            <a:lvl4pPr algn="l">
              <a:buNone/>
              <a:defRPr sz="3800" b="1">
                <a:solidFill>
                  <a:schemeClr val="accent2"/>
                </a:solidFill>
                <a:latin typeface="微软雅黑"/>
                <a:ea typeface="微软雅黑"/>
                <a:cs typeface="微软雅黑"/>
              </a:defRPr>
            </a:lvl4pPr>
            <a:lvl5pPr algn="l">
              <a:buNone/>
              <a:defRPr sz="3800" b="1">
                <a:solidFill>
                  <a:schemeClr val="accent2"/>
                </a:solidFill>
                <a:latin typeface="微软雅黑"/>
                <a:ea typeface="微软雅黑"/>
                <a:cs typeface="微软雅黑"/>
              </a:defRPr>
            </a:lvl5pPr>
            <a:lvl6pPr marL="457200" algn="l">
              <a:buNone/>
              <a:defRPr sz="3800" b="1">
                <a:solidFill>
                  <a:schemeClr val="accent2"/>
                </a:solidFill>
                <a:latin typeface="Verdana"/>
                <a:ea typeface="Verdana"/>
                <a:cs typeface="Verdana"/>
              </a:defRPr>
            </a:lvl6pPr>
            <a:lvl7pPr marL="914400" algn="l">
              <a:buNone/>
              <a:defRPr sz="3800" b="1">
                <a:solidFill>
                  <a:schemeClr val="accent2"/>
                </a:solidFill>
                <a:latin typeface="Verdana"/>
                <a:ea typeface="Verdana"/>
                <a:cs typeface="Verdana"/>
              </a:defRPr>
            </a:lvl7pPr>
            <a:lvl8pPr marL="1371600" algn="l">
              <a:buNone/>
              <a:defRPr sz="3800" b="1">
                <a:solidFill>
                  <a:schemeClr val="accent2"/>
                </a:solidFill>
                <a:latin typeface="Verdana"/>
                <a:ea typeface="Verdana"/>
                <a:cs typeface="Verdana"/>
              </a:defRPr>
            </a:lvl8pPr>
            <a:lvl9pPr marL="1828800" algn="l">
              <a:buNone/>
              <a:defRPr sz="3800" b="1">
                <a:solidFill>
                  <a:schemeClr val="accent2"/>
                </a:solidFill>
                <a:latin typeface="Verdana"/>
                <a:ea typeface="Verdana"/>
                <a:cs typeface="Verdana"/>
              </a:defRPr>
            </a:lvl9pPr>
          </a:lstStyle>
          <a:p xmlns:a="http://schemas.openxmlformats.org/drawingml/2006/main">
            <a:pPr>
              <a:buNone/>
            </a:pPr>
          </a:p>
        </p:txBody>
      </p:sp>
    </p:spTree>
  </p:cSld>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5" name="标题 1">
            <a:extLst xmlns:a="http://schemas.openxmlformats.org/drawingml/2006/main">
              <a:ext uri="{FF2B5EF4-FFF2-40B4-BE49-F238E27FC236}">
                <a16:creationId xmlns:a16="http://schemas.microsoft.com/office/drawing/2014/main" id="{9D6698C6-F5BF-4E22-9003-564FD2EED76D}"/>
              </a:ext>
            </a:extLst>
          </p:cNvPr>
          <p:cNvSpPr>
            <a:spLocks xmlns:a="http://schemas.openxmlformats.org/drawingml/2006/main" noGrp="1"/>
          </p:cNvSpPr>
          <p:nvPr/>
        </p:nvSpPr>
        <p:spPr>
          <a:xfrm xmlns:a="http://schemas.openxmlformats.org/drawingml/2006/main">
            <a:off x="3492507" y="6319849"/>
            <a:ext cx="1908175" cy="447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b"/>
          <a:lstStyle xmlns:a="http://schemas.openxmlformats.org/drawingml/2006/main">
            <a:lvl1pPr algn="l">
              <a:buNone/>
              <a:defRPr sz="3600" b="1">
                <a:solidFill>
                  <a:schemeClr val="accent2"/>
                </a:solidFill>
                <a:latin typeface="Times New Roman"/>
                <a:ea typeface="Times New Roman"/>
                <a:cs typeface="Times New Roman"/>
              </a:defRPr>
            </a:lvl1pPr>
            <a:lvl2pPr algn="l">
              <a:buNone/>
              <a:defRPr sz="3800" b="1">
                <a:solidFill>
                  <a:schemeClr val="accent2"/>
                </a:solidFill>
                <a:latin typeface="微软雅黑"/>
                <a:ea typeface="微软雅黑"/>
                <a:cs typeface="微软雅黑"/>
              </a:defRPr>
            </a:lvl2pPr>
            <a:lvl3pPr algn="l">
              <a:buNone/>
              <a:defRPr sz="3800" b="1">
                <a:solidFill>
                  <a:schemeClr val="accent2"/>
                </a:solidFill>
                <a:latin typeface="微软雅黑"/>
                <a:ea typeface="微软雅黑"/>
                <a:cs typeface="微软雅黑"/>
              </a:defRPr>
            </a:lvl3pPr>
            <a:lvl4pPr algn="l">
              <a:buNone/>
              <a:defRPr sz="3800" b="1">
                <a:solidFill>
                  <a:schemeClr val="accent2"/>
                </a:solidFill>
                <a:latin typeface="微软雅黑"/>
                <a:ea typeface="微软雅黑"/>
                <a:cs typeface="微软雅黑"/>
              </a:defRPr>
            </a:lvl4pPr>
            <a:lvl5pPr algn="l">
              <a:buNone/>
              <a:defRPr sz="3800" b="1">
                <a:solidFill>
                  <a:schemeClr val="accent2"/>
                </a:solidFill>
                <a:latin typeface="微软雅黑"/>
                <a:ea typeface="微软雅黑"/>
                <a:cs typeface="微软雅黑"/>
              </a:defRPr>
            </a:lvl5pPr>
            <a:lvl6pPr marL="457200" algn="l">
              <a:buNone/>
              <a:defRPr sz="3800" b="1">
                <a:solidFill>
                  <a:schemeClr val="accent2"/>
                </a:solidFill>
                <a:latin typeface="Verdana"/>
                <a:ea typeface="Verdana"/>
                <a:cs typeface="Verdana"/>
              </a:defRPr>
            </a:lvl6pPr>
            <a:lvl7pPr marL="914400" algn="l">
              <a:buNone/>
              <a:defRPr sz="3800" b="1">
                <a:solidFill>
                  <a:schemeClr val="accent2"/>
                </a:solidFill>
                <a:latin typeface="Verdana"/>
                <a:ea typeface="Verdana"/>
                <a:cs typeface="Verdana"/>
              </a:defRPr>
            </a:lvl7pPr>
            <a:lvl8pPr marL="1371600" algn="l">
              <a:buNone/>
              <a:defRPr sz="3800" b="1">
                <a:solidFill>
                  <a:schemeClr val="accent2"/>
                </a:solidFill>
                <a:latin typeface="Verdana"/>
                <a:ea typeface="Verdana"/>
                <a:cs typeface="Verdana"/>
              </a:defRPr>
            </a:lvl8pPr>
            <a:lvl9pPr marL="1828800" algn="l">
              <a:buNone/>
              <a:defRPr sz="3800" b="1">
                <a:solidFill>
                  <a:schemeClr val="accent2"/>
                </a:solidFill>
                <a:latin typeface="Verdana"/>
                <a:ea typeface="Verdana"/>
                <a:cs typeface="Verdana"/>
              </a:defRPr>
            </a:lvl9pPr>
          </a:lstStyle>
          <a:p xmlns:a="http://schemas.openxmlformats.org/drawingml/2006/main">
            <a:pPr>
              <a:buNone/>
            </a:pPr>
          </a:p>
        </p:txBody>
      </p:sp>
      <p:sp>
        <p:nvSpPr>
          <p:cNvPr id="2" name="标题 1">
            <a:extLst xmlns:a="http://schemas.openxmlformats.org/drawingml/2006/main">
              <a:ext uri="{FF2B5EF4-FFF2-40B4-BE49-F238E27FC236}">
                <a16:creationId xmlns:a16="http://schemas.microsoft.com/office/drawing/2014/main" id="{B1791934-B895-458C-B291-C1A903984EB0}"/>
              </a:ext>
            </a:extLst>
          </p:cNvPr>
          <p:cNvSpPr>
            <a:spLocks xmlns:a="http://schemas.openxmlformats.org/drawingml/2006/main" noGrp="1"/>
          </p:cNvSpPr>
          <p:nvPr>
            <p:ph type="title" idx="0"/>
          </p:nvPr>
        </p:nvSpPr>
        <p:spPr>
          <a:xfrm xmlns:a="http://schemas.openxmlformats.org/drawingml/2006/main">
            <a:off x="395538" y="304812"/>
            <a:ext cx="8172202" cy="663575"/>
          </a:xfrm>
        </p:spPr>
        <p:txBody>
          <a:bodyPr xmlns:a="http://schemas.openxmlformats.org/drawingml/2006/main"/>
          <a:lstStyle xmlns:a="http://schemas.openxmlformats.org/drawingml/2006/main">
            <a:lvl1pPr>
              <a:buNone/>
              <a:defRPr sz="3600">
                <a:latin typeface="Arial"/>
                <a:ea typeface="Arial"/>
                <a:cs typeface="Arial"/>
              </a:defRPr>
            </a:lvl1pPr>
          </a:lstStyle>
          <a:p xmlns:a="http://schemas.openxmlformats.org/drawingml/2006/main">
            <a:r>
              <a:t>Click to edit Master title style</a:t>
            </a:r>
          </a:p>
        </p:txBody>
      </p:sp>
      <p:sp>
        <p:nvSpPr>
          <p:cNvPr id="3" name="内容占位符 2">
            <a:extLst xmlns:a="http://schemas.openxmlformats.org/drawingml/2006/main">
              <a:ext uri="{FF2B5EF4-FFF2-40B4-BE49-F238E27FC236}">
                <a16:creationId xmlns:a16="http://schemas.microsoft.com/office/drawing/2014/main" id="{D0A48B13-FF50-4145-B6B4-A24571B8F6E4}"/>
              </a:ext>
            </a:extLst>
          </p:cNvPr>
          <p:cNvSpPr>
            <a:spLocks xmlns:a="http://schemas.openxmlformats.org/drawingml/2006/main" noGrp="1"/>
          </p:cNvSpPr>
          <p:nvPr>
            <p:ph idx="1"/>
          </p:nvPr>
        </p:nvSpPr>
        <p:spPr>
          <a:xfrm xmlns:a="http://schemas.openxmlformats.org/drawingml/2006/main">
            <a:off x="566738" y="1285861"/>
            <a:ext cx="8001000" cy="5286412"/>
          </a:xfrm>
        </p:spPr>
        <p:txBody>
          <a:bodyPr xmlns:a="http://schemas.openxmlformats.org/drawingml/2006/main"/>
          <a:lstStyle xmlns:a="http://schemas.openxmlformats.org/drawingml/2006/main">
            <a:lvl1pPr>
              <a:buChar char="p"/>
              <a:defRPr sz="2800">
                <a:solidFill>
                  <a:srgbClr val="0A3E77"/>
                </a:solidFill>
                <a:latin typeface="Arial"/>
                <a:ea typeface="Arial"/>
                <a:cs typeface="Arial"/>
              </a:defRPr>
            </a:lvl1pPr>
            <a:lvl2pPr>
              <a:buNone/>
              <a:defRPr sz="2400">
                <a:solidFill>
                  <a:srgbClr val="0A3E77"/>
                </a:solidFill>
                <a:latin typeface="Arial"/>
                <a:ea typeface="Arial"/>
                <a:cs typeface="Arial"/>
              </a:defRPr>
            </a:lvl2pPr>
            <a:lvl3pPr marL="1252220" indent="-342900">
              <a:buChar char="p"/>
              <a:defRPr sz="2000" b="0">
                <a:solidFill>
                  <a:srgbClr val="0A3E77"/>
                </a:solidFill>
                <a:latin typeface="Arial"/>
                <a:ea typeface="Arial"/>
                <a:cs typeface="Arial"/>
              </a:defRPr>
            </a:lvl3pPr>
            <a:lvl4pPr>
              <a:buNone/>
              <a:defRPr sz="1800">
                <a:solidFill>
                  <a:srgbClr val="0A3E77"/>
                </a:solidFill>
                <a:latin typeface="Arial"/>
                <a:ea typeface="Arial"/>
                <a:cs typeface="Arial"/>
              </a:defRPr>
            </a:lvl4pPr>
            <a:lvl5pPr>
              <a:buNone/>
              <a:defRPr>
                <a:latin typeface="微软雅黑"/>
                <a:ea typeface="微软雅黑"/>
                <a:cs typeface="微软雅黑"/>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p:txBody>
      </p:sp>
    </p:spTree>
  </p:cSld>
</p:sldLayout>
</file>

<file path=ppt/slideLayouts/slideLayout3.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4DA7F56-C7BF-4CE8-9025-582E6B85614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sz="3600">
                <a:latin typeface="Arial"/>
                <a:ea typeface="Arial"/>
                <a:cs typeface="Arial"/>
              </a:defRPr>
            </a:lvl1pPr>
          </a:lstStyle>
          <a:p xmlns:a="http://schemas.openxmlformats.org/drawingml/2006/main">
            <a:r>
              <a:t>Click to edit Master title style</a:t>
            </a:r>
          </a:p>
        </p:txBody>
      </p:sp>
    </p:spTree>
  </p:cSld>
</p:sldLayout>
</file>

<file path=ppt/slideLayouts/slideLayout4.xml><?xml version="1.0" encoding="utf-8"?>
<p:sldLayout xmlns:p="http://schemas.openxmlformats.org/presentationml/2006/main" type="obj">
  <p:cSld name="Two Content">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0F632E57-864C-4D35-B016-1CAF6F9977FA}"/>
              </a:ext>
            </a:extLst>
          </p:cNvPr>
          <p:cNvSpPr>
            <a:spLocks xmlns:a="http://schemas.openxmlformats.org/drawingml/2006/main" noGrp="1"/>
          </p:cNvSpPr>
          <p:nvPr>
            <p:ph type="title" idx="0"/>
          </p:nvPr>
        </p:nvSpPr>
        <p:spPr/>
        <p:txBody>
          <a:bodyPr xmlns:a="http://schemas.openxmlformats.org/drawingml/2006/main" lIns="0" tIns="0" rIns="0" bIns="0"/>
          <a:lstStyle xmlns:a="http://schemas.openxmlformats.org/drawingml/2006/main">
            <a:lvl1pPr>
              <a:buNone/>
              <a:defRPr sz="4400" b="0" i="0">
                <a:solidFill>
                  <a:schemeClr val="tx1"/>
                </a:solidFill>
                <a:latin typeface="Calibri Light"/>
                <a:ea typeface="Calibri Light"/>
                <a:cs typeface="Calibri Light"/>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744508CC-FAE2-4A18-94CA-443CD8C22884}"/>
              </a:ext>
            </a:extLst>
          </p:cNvPr>
          <p:cNvSpPr>
            <a:spLocks xmlns:a="http://schemas.openxmlformats.org/drawingml/2006/main" noGrp="1"/>
          </p:cNvSpPr>
          <p:nvPr>
            <p:ph idx="2"/>
          </p:nvPr>
        </p:nvSpPr>
        <p:spPr>
          <a:xfrm xmlns:a="http://schemas.openxmlformats.org/drawingml/2006/main">
            <a:off x="228599" y="1577340"/>
            <a:ext cx="4206241" cy="452628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55B77015-12B7-4FC4-A230-93020644CECA}"/>
              </a:ext>
            </a:extLst>
          </p:cNvPr>
          <p:cNvSpPr>
            <a:spLocks xmlns:a="http://schemas.openxmlformats.org/drawingml/2006/main" noGrp="1"/>
          </p:cNvSpPr>
          <p:nvPr>
            <p:ph idx="3"/>
          </p:nvPr>
        </p:nvSpPr>
        <p:spPr>
          <a:xfrm xmlns:a="http://schemas.openxmlformats.org/drawingml/2006/main">
            <a:off x="4708652" y="1854658"/>
            <a:ext cx="3458209" cy="3644265"/>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3200" b="1" i="0">
                <a:solidFill>
                  <a:schemeClr val="tx1"/>
                </a:solidFill>
                <a:latin typeface="PMingLiU"/>
                <a:ea typeface="PMingLiU"/>
                <a:cs typeface="PMingLiU"/>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30B52F5B-A509-4B09-9228-1DBD0C88404C}"/>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6" name="Holder 6">
            <a:extLst xmlns:a="http://schemas.openxmlformats.org/drawingml/2006/main">
              <a:ext uri="{FF2B5EF4-FFF2-40B4-BE49-F238E27FC236}">
                <a16:creationId xmlns:a16="http://schemas.microsoft.com/office/drawing/2014/main" id="{86DC7820-8E75-4634-88FF-B989CA6FC2DA}"/>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p:txBody>
      </p:sp>
      <p:sp>
        <p:nvSpPr>
          <p:cNvPr id="7" name="Holder 7">
            <a:extLst xmlns:a="http://schemas.openxmlformats.org/drawingml/2006/main">
              <a:ext uri="{FF2B5EF4-FFF2-40B4-BE49-F238E27FC236}">
                <a16:creationId xmlns:a16="http://schemas.microsoft.com/office/drawing/2014/main" id="{FE5649FE-9699-459A-92DA-41C1D05AE64B}"/>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p:txBody>
      </p:sp>
    </p:spTree>
  </p:cSld>
</p:sldLayout>
</file>

<file path=ppt/slideLayouts/slideLayout5.xml><?xml version="1.0" encoding="utf-8"?>
<p:sldLayout xmlns:p="http://schemas.openxmlformats.org/presentationml/2006/main" preserve="1" userDrawn="1">
  <p:cSld name="Title">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4A32D716-84C3-4560-917D-949519E41019}"/>
              </a:ext>
            </a:extLst>
          </p:cNvPr>
          <p:cNvSpPr>
            <a:spLocks xmlns:a="http://schemas.openxmlformats.org/drawingml/2006/main" noGrp="1"/>
          </p:cNvSpPr>
          <p:nvPr>
            <p:ph type="dt" idx="10"/>
          </p:nvPr>
        </p:nvSpPr>
        <p:spPr>
          <a:xfrm xmlns:a="http://schemas.openxmlformats.org/drawingml/2006/main">
            <a:off x="342900" y="6356350"/>
            <a:ext cx="1600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3168C1C4-76F6-4910-87A0-CCDBB9A778A7}"/>
              </a:ext>
            </a:extLst>
          </p:cNvPr>
          <p:cNvSpPr>
            <a:spLocks xmlns:a="http://schemas.openxmlformats.org/drawingml/2006/main" noGrp="1"/>
          </p:cNvSpPr>
          <p:nvPr>
            <p:ph type="ftr" idx="11"/>
          </p:nvPr>
        </p:nvSpPr>
        <p:spPr>
          <a:xfrm xmlns:a="http://schemas.openxmlformats.org/drawingml/2006/main">
            <a:off x="2343150" y="6356350"/>
            <a:ext cx="21717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14" name="Google Shape;14;p2">
            <a:extLst xmlns:a="http://schemas.openxmlformats.org/drawingml/2006/main">
              <a:ext uri="{FF2B5EF4-FFF2-40B4-BE49-F238E27FC236}">
                <a16:creationId xmlns:a16="http://schemas.microsoft.com/office/drawing/2014/main" id="{2DE6BA9E-D67E-44A0-9573-DEA085F5EEBF}"/>
              </a:ext>
            </a:extLst>
          </p:cNvPr>
          <p:cNvSpPr>
            <a:spLocks xmlns:a="http://schemas.openxmlformats.org/drawingml/2006/main" noGrp="1"/>
          </p:cNvSpPr>
          <p:nvPr>
            <p:ph type="sldNum" idx="12"/>
          </p:nvPr>
        </p:nvSpPr>
        <p:spPr>
          <a:xfrm xmlns:a="http://schemas.openxmlformats.org/drawingml/2006/main">
            <a:off x="4914900" y="6356350"/>
            <a:ext cx="1600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cc791313d74d79" /><Relationship Type="http://schemas.openxmlformats.org/officeDocument/2006/relationships/slideLayout" Target="/ppt/slideLayouts/slideLayout1.xml" Id="Rb047b450721f42bb" /><Relationship Type="http://schemas.openxmlformats.org/officeDocument/2006/relationships/slideLayout" Target="/ppt/slideLayouts/slideLayout2.xml" Id="R70fe130779714c59" /><Relationship Type="http://schemas.openxmlformats.org/officeDocument/2006/relationships/slideLayout" Target="/ppt/slideLayouts/slideLayout3.xml" Id="R8474574b87384783" /><Relationship Type="http://schemas.openxmlformats.org/officeDocument/2006/relationships/slideLayout" Target="/ppt/slideLayouts/slideLayout4.xml" Id="R014326cad00b4d87" /><Relationship Type="http://schemas.openxmlformats.org/officeDocument/2006/relationships/slideLayout" Target="/ppt/slideLayouts/slideLayout5.xml" Id="R910a40c963ab4fef" /><Relationship Type="http://schemas.openxmlformats.org/officeDocument/2006/relationships/slideLayout" Target="/ppt/slideLayouts/slideLayout6.xml" Id="R76543bcbf7f64a99"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026" name="Rectangle 2">
            <a:extLst xmlns:a="http://schemas.openxmlformats.org/drawingml/2006/main">
              <a:ext uri="{FF2B5EF4-FFF2-40B4-BE49-F238E27FC236}">
                <a16:creationId xmlns:a16="http://schemas.microsoft.com/office/drawing/2014/main" id="{79676FC9-963E-482C-B043-9EEAF0FADF76}"/>
              </a:ext>
            </a:extLst>
          </p:cNvPr>
          <p:cNvSpPr>
            <a:spLocks xmlns:a="http://schemas.openxmlformats.org/drawingml/2006/main" noGrp="1"/>
          </p:cNvSpPr>
          <p:nvPr>
            <p:ph type="title" idx="0"/>
          </p:nvPr>
        </p:nvSpPr>
        <p:spPr>
          <a:xfrm xmlns:a="http://schemas.openxmlformats.org/drawingml/2006/main">
            <a:off x="395295" y="304812"/>
            <a:ext cx="8180387" cy="663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b"/>
          <a:lstStyle xmlns:a="http://schemas.openxmlformats.org/drawingml/2006/main"/>
          <a:p xmlns:a="http://schemas.openxmlformats.org/drawingml/2006/main">
            <a:pPr>
              <a:buNone/>
            </a:pPr>
          </a:p>
        </p:txBody>
      </p:sp>
      <p:sp>
        <p:nvSpPr>
          <p:cNvPr id="1027" name="Rectangle 3">
            <a:extLst xmlns:a="http://schemas.openxmlformats.org/drawingml/2006/main">
              <a:ext uri="{FF2B5EF4-FFF2-40B4-BE49-F238E27FC236}">
                <a16:creationId xmlns:a16="http://schemas.microsoft.com/office/drawing/2014/main" id="{CB73AC18-E718-4362-BB88-89ADDFDFE948}"/>
              </a:ext>
            </a:extLst>
          </p:cNvPr>
          <p:cNvSpPr>
            <a:spLocks xmlns:a="http://schemas.openxmlformats.org/drawingml/2006/main" noGrp="1"/>
          </p:cNvSpPr>
          <p:nvPr>
            <p:ph type="body" idx="1"/>
          </p:nvPr>
        </p:nvSpPr>
        <p:spPr>
          <a:xfrm xmlns:a="http://schemas.openxmlformats.org/drawingml/2006/main">
            <a:off x="566738" y="1077916"/>
            <a:ext cx="8001000" cy="57419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pPr>
              <a:buNone/>
            </a:pPr>
          </a:p>
        </p:txBody>
      </p:sp>
      <p:sp>
        <p:nvSpPr>
          <p:cNvPr id="1028" name="AutoShape 4">
            <a:extLst xmlns:a="http://schemas.openxmlformats.org/drawingml/2006/main">
              <a:ext uri="{FF2B5EF4-FFF2-40B4-BE49-F238E27FC236}">
                <a16:creationId xmlns:a16="http://schemas.microsoft.com/office/drawing/2014/main" id="{91B09D33-95C7-4267-A19F-515A401C2CC7}"/>
              </a:ext>
            </a:extLst>
          </p:cNvPr>
          <p:cNvSpPr>
            <a:spLocks xmlns:a="http://schemas.openxmlformats.org/drawingml/2006/main" noGrp="1"/>
          </p:cNvSpPr>
          <p:nvPr/>
        </p:nvSpPr>
        <p:spPr>
          <a:xfrm xmlns:a="http://schemas.openxmlformats.org/drawingml/2006/main">
            <a:off x="469900" y="968376"/>
            <a:ext cx="7958138" cy="109539"/>
          </a:xfrm>
          <a:custGeom xmlns:a="http://schemas.openxmlformats.org/drawingml/2006/main">
            <a:rect l="0" t="0" r="r" b="b"/>
            <a:pathLst>
              <a:path w="1000" h="1000">
                <a:moveTo>
                  <a:pt x="0" y="0"/>
                </a:moveTo>
                <a:lnTo>
                  <a:pt x="585" y="0"/>
                </a:lnTo>
                <a:lnTo>
                  <a:pt x="585" y="1000"/>
                </a:lnTo>
                <a:lnTo>
                  <a:pt x="0" y="1000"/>
                </a:lnTo>
                <a:lnTo>
                  <a:pt x="0" y="0"/>
                </a:lnTo>
                <a:close/>
              </a:path>
              <a:path w="1000" h="1000">
                <a:moveTo>
                  <a:pt x="0" y="0"/>
                </a:moveTo>
                <a:lnTo>
                  <a:pt x="1000" y="0"/>
                </a:lnTo>
              </a:path>
            </a:pathLst>
          </a:custGeom>
          <a:solidFill xmlns:a="http://schemas.openxmlformats.org/drawingml/2006/main">
            <a:srgbClr val="0A3E77"/>
          </a:solidFill>
          <a:ln xmlns:a="http://schemas.openxmlformats.org/drawingml/2006/main" w="9525">
            <a:solidFill>
              <a:srgbClr val="0A3E77"/>
            </a:solidFill>
          </a:ln>
        </p:spPr>
        <p:txBody>
          <a:bodyPr xmlns:a="http://schemas.openxmlformats.org/drawingml/2006/main"/>
          <a:lstStyle xmlns:a="http://schemas.openxmlformats.org/drawingml/2006/main"/>
          <a:p xmlns:a="http://schemas.openxmlformats.org/drawingml/2006/main"/>
        </p:txBody>
      </p:sp>
      <p:sp>
        <p:nvSpPr>
          <p:cNvPr id="6" name="标题 1">
            <a:extLst xmlns:a="http://schemas.openxmlformats.org/drawingml/2006/main">
              <a:ext uri="{FF2B5EF4-FFF2-40B4-BE49-F238E27FC236}">
                <a16:creationId xmlns:a16="http://schemas.microsoft.com/office/drawing/2014/main" id="{43A8E5EA-1DE6-4AAC-98F4-61C9223EE1B1}"/>
              </a:ext>
            </a:extLst>
          </p:cNvPr>
          <p:cNvSpPr>
            <a:spLocks xmlns:a="http://schemas.openxmlformats.org/drawingml/2006/main" noGrp="1"/>
          </p:cNvSpPr>
          <p:nvPr/>
        </p:nvSpPr>
        <p:spPr>
          <a:xfrm xmlns:a="http://schemas.openxmlformats.org/drawingml/2006/main">
            <a:off x="8686801" y="6400806"/>
            <a:ext cx="469900" cy="447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b"/>
          <a:lstStyle xmlns:a="http://schemas.openxmlformats.org/drawingml/2006/main">
            <a:lvl1pPr algn="l">
              <a:buNone/>
              <a:defRPr sz="3600" b="1">
                <a:solidFill>
                  <a:schemeClr val="accent2"/>
                </a:solidFill>
                <a:latin typeface="Times New Roman"/>
                <a:ea typeface="Times New Roman"/>
                <a:cs typeface="Times New Roman"/>
              </a:defRPr>
            </a:lvl1pPr>
            <a:lvl2pPr algn="l">
              <a:buNone/>
              <a:defRPr sz="3800" b="1">
                <a:solidFill>
                  <a:schemeClr val="accent2"/>
                </a:solidFill>
                <a:latin typeface="微软雅黑"/>
                <a:ea typeface="微软雅黑"/>
                <a:cs typeface="微软雅黑"/>
              </a:defRPr>
            </a:lvl2pPr>
            <a:lvl3pPr algn="l">
              <a:buNone/>
              <a:defRPr sz="3800" b="1">
                <a:solidFill>
                  <a:schemeClr val="accent2"/>
                </a:solidFill>
                <a:latin typeface="微软雅黑"/>
                <a:ea typeface="微软雅黑"/>
                <a:cs typeface="微软雅黑"/>
              </a:defRPr>
            </a:lvl3pPr>
            <a:lvl4pPr algn="l">
              <a:buNone/>
              <a:defRPr sz="3800" b="1">
                <a:solidFill>
                  <a:schemeClr val="accent2"/>
                </a:solidFill>
                <a:latin typeface="微软雅黑"/>
                <a:ea typeface="微软雅黑"/>
                <a:cs typeface="微软雅黑"/>
              </a:defRPr>
            </a:lvl4pPr>
            <a:lvl5pPr algn="l">
              <a:buNone/>
              <a:defRPr sz="3800" b="1">
                <a:solidFill>
                  <a:schemeClr val="accent2"/>
                </a:solidFill>
                <a:latin typeface="微软雅黑"/>
                <a:ea typeface="微软雅黑"/>
                <a:cs typeface="微软雅黑"/>
              </a:defRPr>
            </a:lvl5pPr>
            <a:lvl6pPr marL="457200" algn="l">
              <a:buNone/>
              <a:defRPr sz="3800" b="1">
                <a:solidFill>
                  <a:schemeClr val="accent2"/>
                </a:solidFill>
                <a:latin typeface="Verdana"/>
                <a:ea typeface="Verdana"/>
                <a:cs typeface="Verdana"/>
              </a:defRPr>
            </a:lvl6pPr>
            <a:lvl7pPr marL="914400" algn="l">
              <a:buNone/>
              <a:defRPr sz="3800" b="1">
                <a:solidFill>
                  <a:schemeClr val="accent2"/>
                </a:solidFill>
                <a:latin typeface="Verdana"/>
                <a:ea typeface="Verdana"/>
                <a:cs typeface="Verdana"/>
              </a:defRPr>
            </a:lvl7pPr>
            <a:lvl8pPr marL="1371600" algn="l">
              <a:buNone/>
              <a:defRPr sz="3800" b="1">
                <a:solidFill>
                  <a:schemeClr val="accent2"/>
                </a:solidFill>
                <a:latin typeface="Verdana"/>
                <a:ea typeface="Verdana"/>
                <a:cs typeface="Verdana"/>
              </a:defRPr>
            </a:lvl8pPr>
            <a:lvl9pPr marL="1828800" algn="l">
              <a:buNone/>
              <a:defRPr sz="3800" b="1">
                <a:solidFill>
                  <a:schemeClr val="accent2"/>
                </a:solidFill>
                <a:latin typeface="Verdana"/>
                <a:ea typeface="Verdana"/>
                <a:cs typeface="Verdana"/>
              </a:defRPr>
            </a:lvl9pPr>
          </a:lstStyle>
          <a:p xmlns:a="http://schemas.openxmlformats.org/drawingml/2006/main">
            <a:pPr>
              <a:buNone/>
            </a:p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47b450721f42bb"/>
    <p:sldLayoutId xmlns:r="http://schemas.openxmlformats.org/officeDocument/2006/relationships" id="2147483650" r:id="R70fe130779714c59"/>
    <p:sldLayoutId xmlns:r="http://schemas.openxmlformats.org/officeDocument/2006/relationships" id="2147483651" r:id="R8474574b87384783"/>
    <p:sldLayoutId xmlns:r="http://schemas.openxmlformats.org/officeDocument/2006/relationships" id="2147483652" r:id="R014326cad00b4d87"/>
    <p:sldLayoutId xmlns:r="http://schemas.openxmlformats.org/officeDocument/2006/relationships" id="2147483653" r:id="R910a40c963ab4fef"/>
    <p:sldLayoutId xmlns:r="http://schemas.openxmlformats.org/officeDocument/2006/relationships" id="2147483654" r:id="R76543bcbf7f64a99"/>
  </p:sldLayoutIdLst>
  <p:hf hdr="0" ftr="0" dt="0"/>
  <p:txStyles>
    <p:titleStyle>
      <a:lvl1pPr xmlns:a="http://schemas.openxmlformats.org/drawingml/2006/main" algn="l">
        <a:buNone/>
        <a:defRPr sz="3600" b="1">
          <a:solidFill>
            <a:srgbClr val="0A3E77"/>
          </a:solidFill>
          <a:latin typeface="微软雅黑"/>
          <a:ea typeface="微软雅黑"/>
          <a:cs typeface="微软雅黑"/>
        </a:defRPr>
      </a:lvl1pPr>
      <a:lvl2pPr xmlns:a="http://schemas.openxmlformats.org/drawingml/2006/main" algn="l">
        <a:buNone/>
        <a:defRPr sz="3600" b="1">
          <a:solidFill>
            <a:schemeClr val="accent2"/>
          </a:solidFill>
          <a:latin typeface="Times New Roman"/>
          <a:ea typeface="Times New Roman"/>
          <a:cs typeface="Times New Roman"/>
        </a:defRPr>
      </a:lvl2pPr>
      <a:lvl3pPr xmlns:a="http://schemas.openxmlformats.org/drawingml/2006/main" algn="l">
        <a:buNone/>
        <a:defRPr sz="3600" b="1">
          <a:solidFill>
            <a:schemeClr val="accent2"/>
          </a:solidFill>
          <a:latin typeface="Times New Roman"/>
          <a:ea typeface="Times New Roman"/>
          <a:cs typeface="Times New Roman"/>
        </a:defRPr>
      </a:lvl3pPr>
      <a:lvl4pPr xmlns:a="http://schemas.openxmlformats.org/drawingml/2006/main" algn="l">
        <a:buNone/>
        <a:defRPr sz="3600" b="1">
          <a:solidFill>
            <a:schemeClr val="accent2"/>
          </a:solidFill>
          <a:latin typeface="Times New Roman"/>
          <a:ea typeface="Times New Roman"/>
          <a:cs typeface="Times New Roman"/>
        </a:defRPr>
      </a:lvl4pPr>
      <a:lvl5pPr xmlns:a="http://schemas.openxmlformats.org/drawingml/2006/main" algn="l">
        <a:buNone/>
        <a:defRPr sz="3600" b="1">
          <a:solidFill>
            <a:schemeClr val="accent2"/>
          </a:solidFill>
          <a:latin typeface="Times New Roman"/>
          <a:ea typeface="Times New Roman"/>
          <a:cs typeface="Times New Roman"/>
        </a:defRPr>
      </a:lvl5pPr>
      <a:lvl6pPr xmlns:a="http://schemas.openxmlformats.org/drawingml/2006/main" marL="457200" algn="l">
        <a:buNone/>
        <a:defRPr sz="3800" b="1">
          <a:solidFill>
            <a:schemeClr val="accent2"/>
          </a:solidFill>
          <a:latin typeface="Verdana"/>
          <a:ea typeface="Verdana"/>
          <a:cs typeface="Verdana"/>
        </a:defRPr>
      </a:lvl6pPr>
      <a:lvl7pPr xmlns:a="http://schemas.openxmlformats.org/drawingml/2006/main" marL="914400" algn="l">
        <a:buNone/>
        <a:defRPr sz="3800" b="1">
          <a:solidFill>
            <a:schemeClr val="accent2"/>
          </a:solidFill>
          <a:latin typeface="Verdana"/>
          <a:ea typeface="Verdana"/>
          <a:cs typeface="Verdana"/>
        </a:defRPr>
      </a:lvl7pPr>
      <a:lvl8pPr xmlns:a="http://schemas.openxmlformats.org/drawingml/2006/main" marL="1371600" algn="l">
        <a:buNone/>
        <a:defRPr sz="3800" b="1">
          <a:solidFill>
            <a:schemeClr val="accent2"/>
          </a:solidFill>
          <a:latin typeface="Verdana"/>
          <a:ea typeface="Verdana"/>
          <a:cs typeface="Verdana"/>
        </a:defRPr>
      </a:lvl8pPr>
      <a:lvl9pPr xmlns:a="http://schemas.openxmlformats.org/drawingml/2006/main" marL="1828800" algn="l">
        <a:buNone/>
        <a:defRPr sz="3800" b="1">
          <a:solidFill>
            <a:schemeClr val="accent2"/>
          </a:solidFill>
          <a:latin typeface="Verdana"/>
          <a:ea typeface="Verdana"/>
          <a:cs typeface="Verdana"/>
        </a:defRPr>
      </a:lvl9pPr>
    </p:titleStyle>
    <p:bodyStyle>
      <a:lvl1pPr xmlns:a="http://schemas.openxmlformats.org/drawingml/2006/main" marL="469900" indent="-469900" algn="l">
        <a:buChar char="o"/>
        <a:defRPr sz="3000" b="1">
          <a:solidFill>
            <a:schemeClr val="tx1"/>
          </a:solidFill>
          <a:latin typeface="微软雅黑"/>
          <a:ea typeface="微软雅黑"/>
          <a:cs typeface="微软雅黑"/>
        </a:defRPr>
      </a:lvl1pPr>
      <a:lvl2pPr xmlns:a="http://schemas.openxmlformats.org/drawingml/2006/main" marL="908050" indent="-436880" algn="l">
        <a:buChar char="n"/>
        <a:defRPr sz="2600" b="1">
          <a:solidFill>
            <a:srgbClr val="0A3E77"/>
          </a:solidFill>
          <a:latin typeface="Calibri"/>
          <a:ea typeface="Calibri"/>
          <a:cs typeface="Calibri"/>
        </a:defRPr>
      </a:lvl2pPr>
      <a:lvl3pPr xmlns:a="http://schemas.openxmlformats.org/drawingml/2006/main" marL="1304925" indent="-395605" algn="l">
        <a:buChar char="o"/>
        <a:defRPr sz="2400" b="1">
          <a:solidFill>
            <a:schemeClr val="tx1"/>
          </a:solidFill>
          <a:latin typeface="仿宋_GB2312"/>
          <a:ea typeface="仿宋_GB2312"/>
          <a:cs typeface="仿宋_GB2312"/>
        </a:defRPr>
      </a:lvl3pPr>
      <a:lvl4pPr xmlns:a="http://schemas.openxmlformats.org/drawingml/2006/main" marL="1694180" indent="-387350" algn="l">
        <a:buChar char="n"/>
        <a:defRPr sz="1600">
          <a:solidFill>
            <a:srgbClr val="0000FF"/>
          </a:solidFill>
          <a:latin typeface="仿宋_GB2312"/>
          <a:ea typeface="仿宋_GB2312"/>
          <a:cs typeface="仿宋_GB2312"/>
        </a:defRPr>
      </a:lvl4pPr>
      <a:lvl5pPr xmlns:a="http://schemas.openxmlformats.org/drawingml/2006/main" marL="2094230" indent="-398780" algn="l">
        <a:buChar char="§"/>
        <a:defRPr sz="1200">
          <a:solidFill>
            <a:schemeClr val="tx1"/>
          </a:solidFill>
          <a:latin typeface="仿宋_GB2312"/>
          <a:ea typeface="仿宋_GB2312"/>
          <a:cs typeface="仿宋_GB2312"/>
        </a:defRPr>
      </a:lvl5pPr>
      <a:lvl6pPr xmlns:a="http://schemas.openxmlformats.org/drawingml/2006/main" marL="2551430" indent="-398780" algn="l">
        <a:buChar char="§"/>
        <a:defRPr sz="1200">
          <a:solidFill>
            <a:schemeClr val="tx1"/>
          </a:solidFill>
          <a:latin typeface="+mn-lt"/>
          <a:ea typeface="+mn-lt"/>
          <a:cs typeface="+mn-lt"/>
        </a:defRPr>
      </a:lvl6pPr>
      <a:lvl7pPr xmlns:a="http://schemas.openxmlformats.org/drawingml/2006/main" marL="3008630" indent="-398780" algn="l">
        <a:buChar char="§"/>
        <a:defRPr sz="1200">
          <a:solidFill>
            <a:schemeClr val="tx1"/>
          </a:solidFill>
          <a:latin typeface="+mn-lt"/>
          <a:ea typeface="+mn-lt"/>
          <a:cs typeface="+mn-lt"/>
        </a:defRPr>
      </a:lvl7pPr>
      <a:lvl8pPr xmlns:a="http://schemas.openxmlformats.org/drawingml/2006/main" marL="3465830" indent="-398780" algn="l">
        <a:buChar char="§"/>
        <a:defRPr sz="1200">
          <a:solidFill>
            <a:schemeClr val="tx1"/>
          </a:solidFill>
          <a:latin typeface="+mn-lt"/>
          <a:ea typeface="+mn-lt"/>
          <a:cs typeface="+mn-lt"/>
        </a:defRPr>
      </a:lvl8pPr>
      <a:lvl9pPr xmlns:a="http://schemas.openxmlformats.org/drawingml/2006/main" marL="3923030" indent="-398780" algn="l">
        <a:buChar char="§"/>
        <a:defRPr sz="12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1_红白模板">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黑体"/>
        <a:cs typeface=""/>
      </a:majorFont>
      <a:minorFont>
        <a:latin typeface="Verdana"/>
        <a:ea typeface="黑体"/>
        <a:cs typeface=""/>
      </a:minorFont>
    </a:fontScheme>
    <a:fmtScheme name="Profile 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30da552bf2434b" /><Relationship Type="http://schemas.openxmlformats.org/officeDocument/2006/relationships/image" Target="/ppt/media/image.png" Id="Rd579f3c5631f48eb" /><Relationship Type="http://schemas.openxmlformats.org/officeDocument/2006/relationships/image" Target="/ppt/media/image.jpeg" Id="R14d06ab5200f46ca" /><Relationship Type="http://schemas.openxmlformats.org/officeDocument/2006/relationships/notesSlide" Target="/ppt/notesSlides/notesSlide1.xml" Id="R2b45b863279147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d63b1c7646149db" /><Relationship Type="http://schemas.openxmlformats.org/officeDocument/2006/relationships/image" Target="/ppt/media/image2.png" Id="R39c47b46b6b04c2c" /><Relationship Type="http://schemas.openxmlformats.org/officeDocument/2006/relationships/image" Target="/ppt/media/image3.png" Id="R91dfd4f971324d7e" /><Relationship Type="http://schemas.openxmlformats.org/officeDocument/2006/relationships/notesSlide" Target="/ppt/notesSlides/notesSlide2.xml" Id="Rb314371fa2de4a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19dc654b95b48c5" /><Relationship Type="http://schemas.openxmlformats.org/officeDocument/2006/relationships/image" Target="/ppt/media/image2.jpeg" Id="R4c766911652b4d54" /><Relationship Type="http://schemas.openxmlformats.org/officeDocument/2006/relationships/notesSlide" Target="/ppt/notesSlides/notesSlide3.xml" Id="R7fd87705f95949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c3c45baf448491c" /><Relationship Type="http://schemas.openxmlformats.org/officeDocument/2006/relationships/image" Target="/ppt/media/image3.jpeg" Id="R0556a2ec09a44155" /><Relationship Type="http://schemas.openxmlformats.org/officeDocument/2006/relationships/notesSlide" Target="/ppt/notesSlides/notesSlide4.xml" Id="R8d478059fb2349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4c131e0cc6c4c44" /><Relationship Type="http://schemas.openxmlformats.org/officeDocument/2006/relationships/image" Target="/ppt/media/image4.png" Id="Rb18483995b8541b0" /><Relationship Type="http://schemas.openxmlformats.org/officeDocument/2006/relationships/notesSlide" Target="/ppt/notesSlides/notesSlide5.xml" Id="R2627e9f9f9f444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9eecbea91874b61" /><Relationship Type="http://schemas.openxmlformats.org/officeDocument/2006/relationships/image" Target="/ppt/media/image4.jpeg" Id="R4e0b7b55d07e481a" /><Relationship Type="http://schemas.openxmlformats.org/officeDocument/2006/relationships/notesSlide" Target="/ppt/notesSlides/notesSlide6.xml" Id="Ra78f004d185b46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c6b72f71929f4119" /><Relationship Type="http://schemas.openxmlformats.org/officeDocument/2006/relationships/image" Target="/ppt/media/image5.jpeg" Id="R8769a14386784ad7" /><Relationship Type="http://schemas.openxmlformats.org/officeDocument/2006/relationships/notesSlide" Target="/ppt/notesSlides/notesSlide7.xml" Id="Rddca1748006e42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10a617df47964e49" /><Relationship Type="http://schemas.openxmlformats.org/officeDocument/2006/relationships/image" Target="/ppt/media/image6.jpeg" Id="R3e9b5342499b4a76" /><Relationship Type="http://schemas.openxmlformats.org/officeDocument/2006/relationships/notesSlide" Target="/ppt/notesSlides/notesSlide8.xml" Id="R5e7dd3b6067040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8f917259d42747c9" /><Relationship Type="http://schemas.openxmlformats.org/officeDocument/2006/relationships/image" Target="/ppt/media/image7.jpeg" Id="R651214fd3e854fb8" /><Relationship Type="http://schemas.openxmlformats.org/officeDocument/2006/relationships/image" Target="/ppt/media/image5.png" Id="Rf14cf7a1c0dc4ad0" /><Relationship Type="http://schemas.openxmlformats.org/officeDocument/2006/relationships/notesSlide" Target="/ppt/notesSlides/notesSlide9.xml" Id="R993dccdcbbe14f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1c6f851ef1a4f94" /><Relationship Type="http://schemas.openxmlformats.org/officeDocument/2006/relationships/image" Target="/ppt/media/image8.jpeg" Id="Rddbc4f811cc44746" /><Relationship Type="http://schemas.openxmlformats.org/officeDocument/2006/relationships/notesSlide" Target="/ppt/notesSlides/notesSlide10.xml" Id="Rd0c35f31755f45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7236822cfd054b52" /><Relationship Type="http://schemas.openxmlformats.org/officeDocument/2006/relationships/image" Target="/ppt/media/image9.jpeg" Id="Rec59ca791eb54dce" /><Relationship Type="http://schemas.openxmlformats.org/officeDocument/2006/relationships/image" Target="/ppt/media/image10.jpeg" Id="R4a0eb97c02224382" /><Relationship Type="http://schemas.openxmlformats.org/officeDocument/2006/relationships/notesSlide" Target="/ppt/notesSlides/notesSlide11.xml" Id="R5e1f8380a5b6404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5a6bfb7e4214e41" /><Relationship Type="http://schemas.openxmlformats.org/officeDocument/2006/relationships/image" Target="/ppt/media/image11.jpeg" Id="Re828eb9a7d9d4ca8" /><Relationship Type="http://schemas.openxmlformats.org/officeDocument/2006/relationships/notesSlide" Target="/ppt/notesSlides/notesSlide12.xml" Id="Rcf78119e102045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4ee372c5bcf46ea" /><Relationship Type="http://schemas.openxmlformats.org/officeDocument/2006/relationships/notesSlide" Target="/ppt/notesSlides/notesSlide13.xml" Id="Rc4df3e43badb4dd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67a22e226ee54591" /><Relationship Type="http://schemas.openxmlformats.org/officeDocument/2006/relationships/image" Target="/ppt/media/image6.png" Id="Rd8b17abe695c40ba" /><Relationship Type="http://schemas.openxmlformats.org/officeDocument/2006/relationships/notesSlide" Target="/ppt/notesSlides/notesSlide14.xml" Id="R6dc1664e21af4bc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949bf94ee411498f" /><Relationship Type="http://schemas.openxmlformats.org/officeDocument/2006/relationships/image" Target="/ppt/media/image7.png" Id="R8f4733ccfe8c4381" /><Relationship Type="http://schemas.openxmlformats.org/officeDocument/2006/relationships/notesSlide" Target="/ppt/notesSlides/notesSlide15.xml" Id="R8598e5f598b044a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f88aac751c86484f" /><Relationship Type="http://schemas.openxmlformats.org/officeDocument/2006/relationships/notesSlide" Target="/ppt/notesSlides/notesSlide16.xml" Id="R4196c6bcb54341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5.xml" Id="R5285a8846ca24e11" /><Relationship Type="http://schemas.openxmlformats.org/officeDocument/2006/relationships/image" Target="/ppt/media/image8.png" Id="R2d505ca72ead4c0f" /><Relationship Type="http://schemas.openxmlformats.org/officeDocument/2006/relationships/image" Target="/ppt/media/image9.png" Id="Rc6dfa1a49efb4675" /><Relationship Type="http://schemas.openxmlformats.org/officeDocument/2006/relationships/image" Target="/ppt/media/image10.png" Id="R42287c7c6340480d" /><Relationship Type="http://schemas.openxmlformats.org/officeDocument/2006/relationships/image" Target="/ppt/media/image11.png" Id="R5cbc204695274b51" /><Relationship Type="http://schemas.openxmlformats.org/officeDocument/2006/relationships/image" Target="/ppt/media/image12.png" Id="R0aa24f035a7741c8" /><Relationship Type="http://schemas.openxmlformats.org/officeDocument/2006/relationships/image" Target="/ppt/media/image13.png" Id="R6174c31e52f54225" /><Relationship Type="http://schemas.openxmlformats.org/officeDocument/2006/relationships/notesSlide" Target="/ppt/notesSlides/notesSlide17.xml" Id="R30cb43e31bce421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5.xml" Id="Rea02fae17ba345a8" /><Relationship Type="http://schemas.openxmlformats.org/officeDocument/2006/relationships/image" Target="/ppt/media/image14.png" Id="R7775e24c9ec54ca5" /><Relationship Type="http://schemas.openxmlformats.org/officeDocument/2006/relationships/notesSlide" Target="/ppt/notesSlides/notesSlide18.xml" Id="R87d0aac3ac1444e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85c04acdfeed433f" /><Relationship Type="http://schemas.openxmlformats.org/officeDocument/2006/relationships/image" Target="/ppt/media/image15.png" Id="Re2aca2e48e164eaf" /><Relationship Type="http://schemas.openxmlformats.org/officeDocument/2006/relationships/notesSlide" Target="/ppt/notesSlides/notesSlide19.xml" Id="R3d27bff766844cd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18c68bcef7b04e3f" /><Relationship Type="http://schemas.openxmlformats.org/officeDocument/2006/relationships/notesSlide" Target="/ppt/notesSlides/notesSlide20.xml" Id="R73239b152f3549c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1265" name="标题 1">
            <a:extLst xmlns:a="http://schemas.openxmlformats.org/drawingml/2006/main">
              <a:ext uri="{FF2B5EF4-FFF2-40B4-BE49-F238E27FC236}">
                <a16:creationId xmlns:a16="http://schemas.microsoft.com/office/drawing/2014/main" id="{FEDA2D7D-7345-4489-B97D-DE8A5F92558E}"/>
              </a:ext>
            </a:extLst>
          </p:cNvPr>
          <p:cNvSpPr>
            <a:spLocks xmlns:a="http://schemas.openxmlformats.org/drawingml/2006/main" noGrp="1"/>
          </p:cNvSpPr>
          <p:nvPr>
            <p:ph type="ctrTitle" idx="0"/>
          </p:nvPr>
        </p:nvSpPr>
        <p:spPr>
          <a:xfrm xmlns:a="http://schemas.openxmlformats.org/drawingml/2006/main">
            <a:off x="457195" y="914401"/>
            <a:ext cx="8229604" cy="1219212"/>
          </a:xfrm>
        </p:spPr>
        <p:txBody>
          <a:bodyPr xmlns:a="http://schemas.openxmlformats.org/drawingml/2006/main"/>
          <a:lstStyle xmlns:a="http://schemas.openxmlformats.org/drawingml/2006/main"/>
          <a:p xmlns:a="http://schemas.openxmlformats.org/drawingml/2006/main">
            <a:pPr algn="ctr">
              <a:buNone/>
            </a:pPr>
            <a:r>
              <a:rPr sz="3600">
                <a:latin typeface="微软雅黑"/>
                <a:ea typeface="微软雅黑"/>
                <a:cs typeface="微软雅黑"/>
              </a:rPr>
              <a:t>厦门大学信息学院 本科选修课</a:t>
            </a:r>
            <a:br/>
            <a:r>
              <a:rPr sz="3600">
                <a:latin typeface="微软雅黑"/>
                <a:ea typeface="微软雅黑"/>
                <a:cs typeface="微软雅黑"/>
              </a:rPr>
              <a:t>2025-2026 </a:t>
            </a:r>
            <a:r>
              <a:rPr sz="3600">
                <a:latin typeface="微软雅黑"/>
                <a:ea typeface="微软雅黑"/>
                <a:cs typeface="微软雅黑"/>
              </a:rPr>
              <a:t>第二学期</a:t>
            </a:r>
          </a:p>
        </p:txBody>
      </p:sp>
      <p:sp>
        <p:nvSpPr>
          <p:cNvPr id="9" name="副标题 2">
            <a:extLst xmlns:a="http://schemas.openxmlformats.org/drawingml/2006/main">
              <a:ext uri="{FF2B5EF4-FFF2-40B4-BE49-F238E27FC236}">
                <a16:creationId xmlns:a16="http://schemas.microsoft.com/office/drawing/2014/main" id="{6BC28ECD-FCB2-4561-9059-36CC00AC27CC}"/>
              </a:ext>
            </a:extLst>
          </p:cNvPr>
          <p:cNvSpPr>
            <a:spLocks xmlns:a="http://schemas.openxmlformats.org/drawingml/2006/main" noGrp="1"/>
          </p:cNvSpPr>
          <p:nvPr/>
        </p:nvSpPr>
        <p:spPr>
          <a:xfrm xmlns:a="http://schemas.openxmlformats.org/drawingml/2006/main">
            <a:off x="1371597" y="3886200"/>
            <a:ext cx="6400800" cy="1166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t">
            <a:normAutofit lnSpcReduction="10000"/>
          </a:bodyPr>
          <a:lstStyle xmlns:a="http://schemas.openxmlformats.org/drawingml/2006/main">
            <a:lvl1pPr marL="0" indent="0" algn="ctr">
              <a:buNone/>
              <a:defRPr sz="2800">
                <a:solidFill>
                  <a:schemeClr val="tx1"/>
                </a:solidFill>
                <a:latin typeface="+mn-lt"/>
                <a:ea typeface="+mn-lt"/>
                <a:cs typeface="+mn-lt"/>
              </a:defRPr>
            </a:lvl1pPr>
            <a:lvl2pPr marL="457200" indent="0" algn="ctr">
              <a:buNone/>
              <a:defRPr sz="2800">
                <a:solidFill>
                  <a:schemeClr val="tx1">
                    <a:tint val="75000"/>
                  </a:schemeClr>
                </a:solidFill>
                <a:latin typeface="+mn-lt"/>
                <a:ea typeface="+mn-lt"/>
                <a:cs typeface="+mn-lt"/>
              </a:defRPr>
            </a:lvl2pPr>
            <a:lvl3pPr marL="914400" indent="0" algn="ctr">
              <a:buNone/>
              <a:defRPr sz="2400">
                <a:solidFill>
                  <a:schemeClr val="tx1">
                    <a:tint val="75000"/>
                  </a:schemeClr>
                </a:solidFill>
                <a:latin typeface="+mn-lt"/>
                <a:ea typeface="+mn-lt"/>
                <a:cs typeface="+mn-lt"/>
              </a:defRPr>
            </a:lvl3pPr>
            <a:lvl4pPr marL="1371600" indent="0" algn="ctr">
              <a:buNone/>
              <a:defRPr sz="2000">
                <a:solidFill>
                  <a:schemeClr val="tx1">
                    <a:tint val="75000"/>
                  </a:schemeClr>
                </a:solidFill>
                <a:latin typeface="+mn-lt"/>
                <a:ea typeface="+mn-lt"/>
                <a:cs typeface="+mn-lt"/>
              </a:defRPr>
            </a:lvl4pPr>
            <a:lvl5pPr marL="1828800" indent="0" algn="ctr">
              <a:buNone/>
              <a:defRPr sz="2000">
                <a:solidFill>
                  <a:schemeClr val="tx1">
                    <a:tint val="75000"/>
                  </a:schemeClr>
                </a:solidFill>
                <a:latin typeface="+mn-lt"/>
                <a:ea typeface="+mn-lt"/>
                <a:cs typeface="+mn-lt"/>
              </a:defRPr>
            </a:lvl5pPr>
            <a:lvl6pPr marL="2286000" indent="0" algn="ctr">
              <a:buNone/>
              <a:defRPr sz="2000">
                <a:solidFill>
                  <a:schemeClr val="tx1">
                    <a:tint val="75000"/>
                  </a:schemeClr>
                </a:solidFill>
                <a:latin typeface="+mn-lt"/>
                <a:ea typeface="+mn-lt"/>
                <a:cs typeface="+mn-lt"/>
              </a:defRPr>
            </a:lvl6pPr>
            <a:lvl7pPr marL="2743200" indent="0" algn="ctr">
              <a:buNone/>
              <a:defRPr sz="2000">
                <a:solidFill>
                  <a:schemeClr val="tx1">
                    <a:tint val="75000"/>
                  </a:schemeClr>
                </a:solidFill>
                <a:latin typeface="+mn-lt"/>
                <a:ea typeface="+mn-lt"/>
                <a:cs typeface="+mn-lt"/>
              </a:defRPr>
            </a:lvl7pPr>
            <a:lvl8pPr marL="3200400" indent="0" algn="ctr">
              <a:buNone/>
              <a:defRPr sz="2000">
                <a:solidFill>
                  <a:schemeClr val="tx1">
                    <a:tint val="75000"/>
                  </a:schemeClr>
                </a:solidFill>
                <a:latin typeface="+mn-lt"/>
                <a:ea typeface="+mn-lt"/>
                <a:cs typeface="+mn-lt"/>
              </a:defRPr>
            </a:lvl8pPr>
            <a:lvl9pPr marL="3657600" indent="0" algn="ctr">
              <a:buNone/>
              <a:defRPr sz="2000">
                <a:solidFill>
                  <a:schemeClr val="tx1">
                    <a:tint val="75000"/>
                  </a:schemeClr>
                </a:solidFill>
                <a:latin typeface="+mn-lt"/>
                <a:ea typeface="+mn-lt"/>
                <a:cs typeface="+mn-lt"/>
              </a:defRPr>
            </a:lvl9pPr>
          </a:lstStyle>
          <a:p xmlns:a="http://schemas.openxmlformats.org/drawingml/2006/main">
            <a:pPr marL="0" indent="0" algn="ctr">
              <a:lnSpc>
                <a:spcPct val="110000"/>
              </a:lnSpc>
              <a:spcBef>
                <a:spcPts val="0"/>
              </a:spcBef>
              <a:spcAft>
                <a:spcPts val="0"/>
              </a:spcAft>
              <a:buNone/>
            </a:pPr>
            <a:r>
              <a:rPr sz="2000" b="1" i="0" u="none" cap="none">
                <a:ln>
                  <a:noFill/>
                </a:ln>
                <a:solidFill>
                  <a:srgbClr val="000000"/>
                </a:solidFill>
                <a:latin typeface="微软雅黑"/>
                <a:ea typeface="微软雅黑"/>
                <a:cs typeface="微软雅黑"/>
              </a:rPr>
              <a:t>主 讲：王程教授、陈龙彪副教授</a:t>
            </a:r>
          </a:p>
          <a:p xmlns:a="http://schemas.openxmlformats.org/drawingml/2006/main">
            <a:pPr marL="0" indent="0" algn="ctr">
              <a:lnSpc>
                <a:spcPct val="110000"/>
              </a:lnSpc>
              <a:spcBef>
                <a:spcPts val="0"/>
              </a:spcBef>
              <a:spcAft>
                <a:spcPts val="0"/>
              </a:spcAft>
              <a:buNone/>
            </a:pPr>
            <a:r>
              <a:rPr sz="2000" b="1">
                <a:solidFill>
                  <a:srgbClr val="0A3E77"/>
                </a:solidFill>
                <a:latin typeface="微软雅黑"/>
                <a:ea typeface="微软雅黑"/>
                <a:cs typeface="微软雅黑"/>
              </a:rPr>
              <a:t>厦门大学信息学院</a:t>
            </a:r>
            <a:r>
              <a:rPr sz="2000" b="1">
                <a:solidFill>
                  <a:srgbClr val="0A3E77"/>
                </a:solidFill>
                <a:latin typeface="微软雅黑"/>
                <a:ea typeface="微软雅黑"/>
                <a:cs typeface="微软雅黑"/>
              </a:rPr>
              <a:t>计算机科学与技术系</a:t>
            </a:r>
          </a:p>
          <a:p xmlns:a="http://schemas.openxmlformats.org/drawingml/2006/main">
            <a:pPr marL="0" indent="0" algn="ctr">
              <a:lnSpc>
                <a:spcPct val="110000"/>
              </a:lnSpc>
              <a:spcBef>
                <a:spcPts val="0"/>
              </a:spcBef>
              <a:spcAft>
                <a:spcPts val="0"/>
              </a:spcAft>
              <a:buNone/>
            </a:pPr>
            <a:r>
              <a:rPr sz="2000" b="1" i="0" u="none" cap="none">
                <a:ln>
                  <a:noFill/>
                </a:ln>
                <a:solidFill>
                  <a:srgbClr val="0A3E77"/>
                </a:solidFill>
                <a:latin typeface="微软雅黑"/>
                <a:ea typeface="微软雅黑"/>
                <a:cs typeface="微软雅黑"/>
              </a:rPr>
              <a:t>人工智能引论</a:t>
            </a:r>
            <a:r>
              <a:rPr sz="2000" b="1" i="0" u="none" cap="none">
                <a:ln>
                  <a:noFill/>
                </a:ln>
                <a:solidFill>
                  <a:srgbClr val="0A3E77"/>
                </a:solidFill>
                <a:latin typeface="微软雅黑"/>
                <a:ea typeface="微软雅黑"/>
                <a:cs typeface="微软雅黑"/>
              </a:rPr>
              <a:t>101</a:t>
            </a:r>
            <a:r>
              <a:rPr sz="2000" b="1" i="0" u="none" cap="none">
                <a:ln>
                  <a:noFill/>
                </a:ln>
                <a:solidFill>
                  <a:srgbClr val="0A3E77"/>
                </a:solidFill>
                <a:latin typeface="微软雅黑"/>
                <a:ea typeface="微软雅黑"/>
                <a:cs typeface="微软雅黑"/>
              </a:rPr>
              <a:t>计划系列课程</a:t>
            </a:r>
          </a:p>
          <a:p xmlns:a="http://schemas.openxmlformats.org/drawingml/2006/main">
            <a:pPr marL="0" indent="0" algn="ctr">
              <a:lnSpc>
                <a:spcPct val="110000"/>
              </a:lnSpc>
              <a:spcBef>
                <a:spcPts val="0"/>
              </a:spcBef>
              <a:spcAft>
                <a:spcPts val="0"/>
              </a:spcAft>
              <a:buNone/>
            </a:pPr>
          </a:p>
        </p:txBody>
      </p:sp>
      <p:pic>
        <p:nvPicPr>
          <p:cNvPr id="11270" name="图片 14"/>
          <p:cNvPicPr>
            <a:picLocks xmlns:a="http://schemas.openxmlformats.org/drawingml/2006/main" noChangeAspect="1"/>
          </p:cNvPicPr>
          <p:nvPr/>
        </p:nvPicPr>
        <p:blipFill>
          <a:blip xmlns:r="http://schemas.openxmlformats.org/officeDocument/2006/relationships" xmlns:a="http://schemas.openxmlformats.org/drawingml/2006/main" r:embed="Rd579f3c5631f48eb"/>
          <a:stretch xmlns:a="http://schemas.openxmlformats.org/drawingml/2006/main">
            <a:fillRect l="0" t="0" r="0" b="0"/>
          </a:stretch>
        </p:blipFill>
        <p:spPr>
          <a:xfrm xmlns:a="http://schemas.openxmlformats.org/drawingml/2006/main">
            <a:off x="1" y="4933438"/>
            <a:ext cx="9144000" cy="1945033"/>
          </a:xfrm>
          <a:prstGeom xmlns:a="http://schemas.openxmlformats.org/drawingml/2006/main" prst="rect">
            <a:avLst/>
          </a:prstGeom>
        </p:spPr>
      </p:pic>
      <p:pic>
        <p:nvPicPr>
          <p:cNvPr id="11271" name="图片 1"/>
          <p:cNvPicPr>
            <a:picLocks xmlns:a="http://schemas.openxmlformats.org/drawingml/2006/main" noChangeAspect="1"/>
          </p:cNvPicPr>
          <p:nvPr/>
        </p:nvPicPr>
        <p:blipFill>
          <a:blip xmlns:r="http://schemas.openxmlformats.org/officeDocument/2006/relationships" xmlns:a="http://schemas.openxmlformats.org/drawingml/2006/main" r:embed="R14d06ab5200f46ca"/>
          <a:srcRect xmlns:a="http://schemas.openxmlformats.org/drawingml/2006/main" l="16737" t="4308" r="18250" b="6384"/>
          <a:stretch xmlns:a="http://schemas.openxmlformats.org/drawingml/2006/main">
            <a:fillRect l="0" t="0" r="0" b="0"/>
          </a:stretch>
        </p:blipFill>
        <p:spPr>
          <a:xfrm xmlns:a="http://schemas.openxmlformats.org/drawingml/2006/main">
            <a:off x="152400" y="124277"/>
            <a:ext cx="838200" cy="849653"/>
          </a:xfrm>
          <a:prstGeom xmlns:a="http://schemas.openxmlformats.org/drawingml/2006/main" prst="rect">
            <a:avLst/>
          </a:prstGeom>
          <a:ln xmlns:a="http://schemas.openxmlformats.org/drawingml/2006/main">
            <a:noFill/>
          </a:ln>
        </p:spPr>
      </p:pic>
      <p:sp>
        <p:nvSpPr>
          <p:cNvPr id="10" name="文本框 9">
            <a:extLst xmlns:a="http://schemas.openxmlformats.org/drawingml/2006/main">
              <a:ext uri="{FF2B5EF4-FFF2-40B4-BE49-F238E27FC236}">
                <a16:creationId xmlns:a16="http://schemas.microsoft.com/office/drawing/2014/main" id="{1D2FCE02-6318-4560-8A3E-A2C367E00191}"/>
              </a:ext>
            </a:extLst>
          </p:cNvPr>
          <p:cNvSpPr>
            <a:spLocks xmlns:a="http://schemas.openxmlformats.org/drawingml/2006/main" noGrp="1"/>
          </p:cNvSpPr>
          <p:nvPr/>
        </p:nvSpPr>
        <p:spPr>
          <a:xfrm xmlns:a="http://schemas.openxmlformats.org/drawingml/2006/main">
            <a:off x="1943097" y="2458061"/>
            <a:ext cx="5257800"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5400" b="1">
                <a:solidFill>
                  <a:srgbClr val="0A3E77"/>
                </a:solidFill>
                <a:effectLst>
                  <a:outerShdw blurRad="38100" dist="38100" dir="2700000" algn="tl">
                    <a:srgbClr val="000000">
                      <a:alpha val="43137"/>
                    </a:srgbClr>
                  </a:outerShdw>
                </a:effectLst>
                <a:latin typeface="微软雅黑"/>
                <a:ea typeface="微软雅黑"/>
                <a:cs typeface="微软雅黑"/>
              </a:rPr>
              <a:t>模 式 识 别</a:t>
            </a:r>
          </a:p>
        </p:txBody>
      </p:sp>
      <p:sp>
        <p:nvSpPr>
          <p:cNvPr id="12" name="文本框 11">
            <a:extLst xmlns:a="http://schemas.openxmlformats.org/drawingml/2006/main">
              <a:ext uri="{FF2B5EF4-FFF2-40B4-BE49-F238E27FC236}">
                <a16:creationId xmlns:a16="http://schemas.microsoft.com/office/drawing/2014/main" id="{B24FC6DB-1F06-4D35-B81F-A8825D1CCFFC}"/>
              </a:ext>
            </a:extLst>
          </p:cNvPr>
          <p:cNvSpPr>
            <a:spLocks xmlns:a="http://schemas.openxmlformats.org/drawingml/2006/main" noGrp="1"/>
          </p:cNvSpPr>
          <p:nvPr/>
        </p:nvSpPr>
        <p:spPr>
          <a:xfrm xmlns:a="http://schemas.openxmlformats.org/drawingml/2006/main">
            <a:off x="2285997" y="3316517"/>
            <a:ext cx="4572000" cy="3683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800" b="1">
                <a:solidFill>
                  <a:srgbClr val="0A3E77"/>
                </a:solidFill>
                <a:effectLst>
                  <a:outerShdw blurRad="38100" dist="38100" dir="2700000" algn="tl">
                    <a:srgbClr val="000000">
                      <a:alpha val="43137"/>
                    </a:srgbClr>
                  </a:outerShdw>
                </a:effectLst>
                <a:latin typeface="Arial"/>
                <a:ea typeface="Arial"/>
                <a:cs typeface="Arial"/>
              </a:rPr>
              <a:t>Pattern  Recognition</a:t>
            </a:r>
          </a:p>
        </p:txBody>
      </p:sp>
    </p:spTree>
    <p:extLst>
      <p:ext uri="{BB962C8B-B14F-4D97-AF65-F5344CB8AC3E}">
        <p14:creationId xmlns:p14="http://schemas.microsoft.com/office/powerpoint/2010/main" val="140609728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3078" name="图片 2"/>
          <p:cNvPicPr>
            <a:picLocks xmlns:a="http://schemas.openxmlformats.org/drawingml/2006/main" noChangeAspect="1"/>
          </p:cNvPicPr>
          <p:nvPr/>
        </p:nvPicPr>
        <p:blipFill>
          <a:blip xmlns:r="http://schemas.openxmlformats.org/officeDocument/2006/relationships" xmlns:a="http://schemas.openxmlformats.org/drawingml/2006/main" r:embed="R39c47b46b6b04c2c"/>
          <a:stretch xmlns:a="http://schemas.openxmlformats.org/drawingml/2006/main">
            <a:fillRect l="0" t="0" r="0" b="0"/>
          </a:stretch>
        </p:blipFill>
        <p:spPr>
          <a:xfrm xmlns:a="http://schemas.openxmlformats.org/drawingml/2006/main">
            <a:off x="5362575" y="809625"/>
            <a:ext cx="3727616" cy="5181600"/>
          </a:xfrm>
          <a:prstGeom xmlns:a="http://schemas.openxmlformats.org/drawingml/2006/main" prst="rect">
            <a:avLst/>
          </a:prstGeom>
        </p:spPr>
      </p:pic>
      <p:sp>
        <p:nvSpPr>
          <p:cNvPr id="3075" name="Rectangle 3">
            <a:extLst xmlns:a="http://schemas.openxmlformats.org/drawingml/2006/main">
              <a:ext uri="{FF2B5EF4-FFF2-40B4-BE49-F238E27FC236}">
                <a16:creationId xmlns:a16="http://schemas.microsoft.com/office/drawing/2014/main" id="{EC214EBF-5084-4F3F-8988-35965306695A}"/>
              </a:ext>
            </a:extLst>
          </p:cNvPr>
          <p:cNvSpPr>
            <a:spLocks xmlns:a="http://schemas.openxmlformats.org/drawingml/2006/main" noGrp="1"/>
          </p:cNvSpPr>
          <p:nvPr>
            <p:ph type="subTitle" idx="1"/>
          </p:nvPr>
        </p:nvSpPr>
        <p:spPr>
          <a:xfrm xmlns:a="http://schemas.openxmlformats.org/drawingml/2006/main">
            <a:off x="609600" y="1143000"/>
            <a:ext cx="4724400" cy="685800"/>
          </a:xfrm>
        </p:spPr>
        <p:txBody>
          <a:bodyPr xmlns:a="http://schemas.openxmlformats.org/drawingml/2006/main"/>
          <a:lstStyle xmlns:a="http://schemas.openxmlformats.org/drawingml/2006/main"/>
          <a:p xmlns:a="http://schemas.openxmlformats.org/drawingml/2006/main">
            <a:pPr algn="ctr">
              <a:buNone/>
            </a:pPr>
            <a:r>
              <a:rPr sz="5400">
                <a:solidFill>
                  <a:srgbClr val="0A3E77"/>
                </a:solidFill>
              </a:rPr>
              <a:t>Transformer</a:t>
            </a:r>
          </a:p>
          <a:p xmlns:a="http://schemas.openxmlformats.org/drawingml/2006/main">
            <a:pPr algn="ctr">
              <a:buNone/>
            </a:pPr>
          </a:p>
        </p:txBody>
      </p:sp>
      <p:pic>
        <p:nvPicPr>
          <p:cNvPr id="3080" name="图片 4"/>
          <p:cNvPicPr>
            <a:picLocks xmlns:a="http://schemas.openxmlformats.org/drawingml/2006/main" noChangeAspect="1"/>
          </p:cNvPicPr>
          <p:nvPr/>
        </p:nvPicPr>
        <p:blipFill>
          <a:blip xmlns:r="http://schemas.openxmlformats.org/officeDocument/2006/relationships" xmlns:a="http://schemas.openxmlformats.org/drawingml/2006/main" r:embed="R91dfd4f971324d7e"/>
          <a:stretch xmlns:a="http://schemas.openxmlformats.org/drawingml/2006/main">
            <a:fillRect l="0" t="0" r="0" b="0"/>
          </a:stretch>
        </p:blipFill>
        <p:spPr>
          <a:xfrm xmlns:a="http://schemas.openxmlformats.org/drawingml/2006/main">
            <a:off x="390525" y="3400425"/>
            <a:ext cx="5318537" cy="3086215"/>
          </a:xfrm>
          <a:prstGeom xmlns:a="http://schemas.openxmlformats.org/drawingml/2006/main" prst="rect">
            <a:avLst/>
          </a:prstGeom>
        </p:spPr>
      </p:pic>
    </p:spTree>
    <p:extLst>
      <p:ext uri="{BB962C8B-B14F-4D97-AF65-F5344CB8AC3E}">
        <p14:creationId xmlns:p14="http://schemas.microsoft.com/office/powerpoint/2010/main" val="68060193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F081DE6-8A37-406F-9337-EE9A05B8CE0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Arial"/>
                <a:ea typeface="Arial"/>
                <a:cs typeface="Arial"/>
              </a:rPr>
              <a:t>Transformer</a:t>
            </a:r>
            <a:r>
              <a:rPr>
                <a:latin typeface="微软雅黑"/>
                <a:ea typeface="微软雅黑"/>
                <a:cs typeface="微软雅黑"/>
              </a:rPr>
              <a:t>介绍</a:t>
            </a:r>
          </a:p>
        </p:txBody>
      </p:sp>
      <p:sp>
        <p:nvSpPr>
          <p:cNvPr id="3" name="内容占位符 2">
            <a:extLst xmlns:a="http://schemas.openxmlformats.org/drawingml/2006/main">
              <a:ext uri="{FF2B5EF4-FFF2-40B4-BE49-F238E27FC236}">
                <a16:creationId xmlns:a16="http://schemas.microsoft.com/office/drawing/2014/main" id="{77FC610C-4BBF-417A-AF9D-64534B67FB1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为什么需要</a:t>
            </a:r>
            <a:r>
              <a:rPr sz="3200">
                <a:latin typeface="Arial"/>
                <a:ea typeface="Arial"/>
                <a:cs typeface="Arial"/>
              </a:rPr>
              <a:t>Transformer</a:t>
            </a:r>
          </a:p>
        </p:txBody>
      </p:sp>
      <p:pic>
        <p:nvPicPr>
          <p:cNvPr id="11" name="Picture 2"/>
          <p:cNvPicPr>
            <a:picLocks xmlns:a="http://schemas.openxmlformats.org/drawingml/2006/main" noChangeAspect="1"/>
          </p:cNvPicPr>
          <p:nvPr/>
        </p:nvPicPr>
        <p:blipFill>
          <a:blip xmlns:r="http://schemas.openxmlformats.org/officeDocument/2006/relationships" xmlns:a="http://schemas.openxmlformats.org/drawingml/2006/main" r:embed="R4c766911652b4d54"/>
          <a:srcRect xmlns:a="http://schemas.openxmlformats.org/drawingml/2006/main" l="0" t="0" r="0" b="0"/>
          <a:stretch xmlns:a="http://schemas.openxmlformats.org/drawingml/2006/main">
            <a:fillRect l="0" t="0" r="0" b="0"/>
          </a:stretch>
        </p:blipFill>
        <p:spPr>
          <a:xfrm xmlns:a="http://schemas.openxmlformats.org/drawingml/2006/main">
            <a:off x="3276600" y="1905000"/>
            <a:ext cx="5715000" cy="2466975"/>
          </a:xfrm>
          <a:prstGeom xmlns:a="http://schemas.openxmlformats.org/drawingml/2006/main" prst="rect">
            <a:avLst/>
          </a:prstGeom>
        </p:spPr>
      </p:pic>
      <p:sp>
        <p:nvSpPr>
          <p:cNvPr id="6" name="文本框 5">
            <a:extLst xmlns:a="http://schemas.openxmlformats.org/drawingml/2006/main">
              <a:ext uri="{FF2B5EF4-FFF2-40B4-BE49-F238E27FC236}">
                <a16:creationId xmlns:a16="http://schemas.microsoft.com/office/drawing/2014/main" id="{0E314325-E09D-4BBB-AF46-B1F0DD713D71}"/>
              </a:ext>
            </a:extLst>
          </p:cNvPr>
          <p:cNvSpPr>
            <a:spLocks xmlns:a="http://schemas.openxmlformats.org/drawingml/2006/main" noGrp="1"/>
          </p:cNvSpPr>
          <p:nvPr/>
        </p:nvSpPr>
        <p:spPr>
          <a:xfrm xmlns:a="http://schemas.openxmlformats.org/drawingml/2006/main">
            <a:off x="685800" y="4371975"/>
            <a:ext cx="8116570" cy="1753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50000"/>
              </a:lnSpc>
              <a:buNone/>
            </a:pPr>
            <a:r>
              <a:rPr sz="1800" b="0" i="0">
                <a:solidFill>
                  <a:srgbClr val="0A3E77"/>
                </a:solidFill>
                <a:latin typeface="微软雅黑"/>
                <a:ea typeface="微软雅黑"/>
                <a:cs typeface="微软雅黑"/>
              </a:rPr>
              <a:t>        其实在之前我们使用的是</a:t>
            </a:r>
            <a:r>
              <a:rPr sz="1800" b="0" i="0">
                <a:solidFill>
                  <a:srgbClr val="0A3E77"/>
                </a:solidFill>
                <a:latin typeface="微软雅黑"/>
                <a:ea typeface="微软雅黑"/>
                <a:cs typeface="微软雅黑"/>
              </a:rPr>
              <a:t>RNN</a:t>
            </a:r>
            <a:r>
              <a:rPr sz="1800" b="0" i="0">
                <a:solidFill>
                  <a:srgbClr val="0A3E77"/>
                </a:solidFill>
                <a:latin typeface="微软雅黑"/>
                <a:ea typeface="微软雅黑"/>
                <a:cs typeface="微软雅黑"/>
              </a:rPr>
              <a:t>（或者是其的单向或者双向变种</a:t>
            </a:r>
            <a:r>
              <a:rPr sz="1800" b="0" i="0">
                <a:solidFill>
                  <a:srgbClr val="0A3E77"/>
                </a:solidFill>
                <a:latin typeface="微软雅黑"/>
                <a:ea typeface="微软雅黑"/>
                <a:cs typeface="微软雅黑"/>
              </a:rPr>
              <a:t>LSTM/GRU</a:t>
            </a:r>
            <a:r>
              <a:rPr sz="1800" b="0" i="0">
                <a:solidFill>
                  <a:srgbClr val="0A3E77"/>
                </a:solidFill>
                <a:latin typeface="微软雅黑"/>
                <a:ea typeface="微软雅黑"/>
                <a:cs typeface="微软雅黑"/>
              </a:rPr>
              <a:t>等） 来作为编解码器。</a:t>
            </a:r>
            <a:r>
              <a:rPr sz="1800" b="0" i="0">
                <a:solidFill>
                  <a:srgbClr val="0A3E77"/>
                </a:solidFill>
                <a:latin typeface="微软雅黑"/>
                <a:ea typeface="微软雅黑"/>
                <a:cs typeface="微软雅黑"/>
              </a:rPr>
              <a:t>RNN</a:t>
            </a:r>
            <a:r>
              <a:rPr sz="1800" b="0" i="0">
                <a:solidFill>
                  <a:srgbClr val="0A3E77"/>
                </a:solidFill>
                <a:latin typeface="微软雅黑"/>
                <a:ea typeface="微软雅黑"/>
                <a:cs typeface="微软雅黑"/>
              </a:rPr>
              <a:t>模块每次只能够吃进一个输入</a:t>
            </a:r>
            <a:r>
              <a:rPr sz="1800" b="0" i="0">
                <a:solidFill>
                  <a:srgbClr val="0A3E77"/>
                </a:solidFill>
                <a:latin typeface="微软雅黑"/>
                <a:ea typeface="微软雅黑"/>
                <a:cs typeface="微软雅黑"/>
              </a:rPr>
              <a:t>token</a:t>
            </a:r>
            <a:r>
              <a:rPr sz="1800" b="0" i="0">
                <a:solidFill>
                  <a:srgbClr val="0A3E77"/>
                </a:solidFill>
                <a:latin typeface="微软雅黑"/>
                <a:ea typeface="微软雅黑"/>
                <a:cs typeface="微软雅黑"/>
              </a:rPr>
              <a:t>和前一次的隐藏状态，然后得到输出。它的时序结构使得这个模型能够得到长距离的依赖关系，但是这也使得它</a:t>
            </a:r>
            <a:r>
              <a:rPr sz="1800" b="1" i="0">
                <a:solidFill>
                  <a:srgbClr val="0A3E77"/>
                </a:solidFill>
                <a:latin typeface="微软雅黑"/>
                <a:ea typeface="微软雅黑"/>
                <a:cs typeface="微软雅黑"/>
              </a:rPr>
              <a:t>不能够并行计算</a:t>
            </a:r>
            <a:r>
              <a:rPr sz="1800" b="0" i="0">
                <a:solidFill>
                  <a:srgbClr val="0A3E77"/>
                </a:solidFill>
                <a:latin typeface="微软雅黑"/>
                <a:ea typeface="微软雅黑"/>
                <a:cs typeface="微软雅黑"/>
              </a:rPr>
              <a:t>，模型效率十分低。</a:t>
            </a:r>
          </a:p>
        </p:txBody>
      </p:sp>
      <p:sp>
        <p:nvSpPr>
          <p:cNvPr id="7" name="文本框 6">
            <a:extLst xmlns:a="http://schemas.openxmlformats.org/drawingml/2006/main">
              <a:ext uri="{FF2B5EF4-FFF2-40B4-BE49-F238E27FC236}">
                <a16:creationId xmlns:a16="http://schemas.microsoft.com/office/drawing/2014/main" id="{718B5FF6-F45D-4064-9990-E7DD68BF7B9B}"/>
              </a:ext>
            </a:extLst>
          </p:cNvPr>
          <p:cNvSpPr>
            <a:spLocks xmlns:a="http://schemas.openxmlformats.org/drawingml/2006/main" noGrp="1"/>
          </p:cNvSpPr>
          <p:nvPr/>
        </p:nvSpPr>
        <p:spPr>
          <a:xfrm xmlns:a="http://schemas.openxmlformats.org/drawingml/2006/main">
            <a:off x="304483" y="2493535"/>
            <a:ext cx="3029200" cy="128990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50000"/>
              </a:lnSpc>
              <a:buNone/>
            </a:pPr>
            <a:r>
              <a:rPr sz="1800">
                <a:solidFill>
                  <a:srgbClr val="0A3E77"/>
                </a:solidFill>
                <a:latin typeface="微软雅黑"/>
                <a:ea typeface="微软雅黑"/>
                <a:cs typeface="微软雅黑"/>
              </a:rPr>
              <a:t>        </a:t>
            </a:r>
            <a:r>
              <a:rPr sz="1800" i="0">
                <a:solidFill>
                  <a:srgbClr val="0A3E77"/>
                </a:solidFill>
                <a:latin typeface="微软雅黑"/>
                <a:ea typeface="微软雅黑"/>
                <a:cs typeface="微软雅黑"/>
              </a:rPr>
              <a:t>在没有</a:t>
            </a:r>
            <a:r>
              <a:rPr sz="1800" i="0">
                <a:solidFill>
                  <a:srgbClr val="0A3E77"/>
                </a:solidFill>
                <a:latin typeface="微软雅黑"/>
                <a:ea typeface="微软雅黑"/>
                <a:cs typeface="微软雅黑"/>
              </a:rPr>
              <a:t>transformer</a:t>
            </a:r>
            <a:r>
              <a:rPr sz="1800" i="0">
                <a:solidFill>
                  <a:srgbClr val="0A3E77"/>
                </a:solidFill>
                <a:latin typeface="微软雅黑"/>
                <a:ea typeface="微软雅黑"/>
                <a:cs typeface="微软雅黑"/>
              </a:rPr>
              <a:t>的时候，我们都是用什么来完成这系列的任务的呢？</a:t>
            </a:r>
          </a:p>
        </p:txBody>
      </p:sp>
    </p:spTree>
    <p:extLst>
      <p:ext uri="{BB962C8B-B14F-4D97-AF65-F5344CB8AC3E}">
        <p14:creationId xmlns:p14="http://schemas.microsoft.com/office/powerpoint/2010/main" val="180056171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A34FF415-27C1-40A1-92BF-14CFD4CE832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Arial"/>
                <a:ea typeface="Arial"/>
                <a:cs typeface="Arial"/>
              </a:rPr>
              <a:t>Transformer</a:t>
            </a:r>
            <a:r>
              <a:rPr>
                <a:latin typeface="微软雅黑"/>
                <a:ea typeface="微软雅黑"/>
                <a:cs typeface="微软雅黑"/>
              </a:rPr>
              <a:t>介绍</a:t>
            </a:r>
          </a:p>
        </p:txBody>
      </p:sp>
      <p:sp>
        <p:nvSpPr>
          <p:cNvPr id="3" name="内容占位符 2">
            <a:extLst xmlns:a="http://schemas.openxmlformats.org/drawingml/2006/main">
              <a:ext uri="{FF2B5EF4-FFF2-40B4-BE49-F238E27FC236}">
                <a16:creationId xmlns:a16="http://schemas.microsoft.com/office/drawing/2014/main" id="{A0A89084-C6E9-43F6-9FF2-A03725846EF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Attention</a:t>
            </a:r>
            <a:r>
              <a:rPr>
                <a:latin typeface="微软雅黑"/>
                <a:ea typeface="微软雅黑"/>
                <a:cs typeface="微软雅黑"/>
              </a:rPr>
              <a:t>注意力机制</a:t>
            </a:r>
          </a:p>
        </p:txBody>
      </p:sp>
      <p:sp>
        <p:nvSpPr>
          <p:cNvPr id="4" name="文本框 3">
            <a:extLst xmlns:a="http://schemas.openxmlformats.org/drawingml/2006/main">
              <a:ext uri="{FF2B5EF4-FFF2-40B4-BE49-F238E27FC236}">
                <a16:creationId xmlns:a16="http://schemas.microsoft.com/office/drawing/2014/main" id="{D9A94D32-CC14-49D0-A6E4-728D249BA9DF}"/>
              </a:ext>
            </a:extLst>
          </p:cNvPr>
          <p:cNvSpPr>
            <a:spLocks xmlns:a="http://schemas.openxmlformats.org/drawingml/2006/main" noGrp="1"/>
          </p:cNvSpPr>
          <p:nvPr/>
        </p:nvSpPr>
        <p:spPr>
          <a:xfrm xmlns:a="http://schemas.openxmlformats.org/drawingml/2006/main">
            <a:off x="467360" y="2209800"/>
            <a:ext cx="3341370" cy="29997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1800" b="0" i="0">
                <a:solidFill>
                  <a:srgbClr val="0A3E77"/>
                </a:solidFill>
                <a:latin typeface="微软雅黑"/>
                <a:ea typeface="微软雅黑"/>
                <a:cs typeface="微软雅黑"/>
              </a:rPr>
              <a:t>         在介绍什么是注意力机制之前，先让大家看一张图片。当大家看到下面图片，会首先看到什么内容？当过载信息映入眼帘时，我们的大脑会把注意力放在主要的信息上，这就是大脑的注意力机制。</a:t>
            </a:r>
          </a:p>
        </p:txBody>
      </p:sp>
      <p:pic>
        <p:nvPicPr>
          <p:cNvPr id="9" name="图片 6"/>
          <p:cNvPicPr>
            <a:picLocks xmlns:a="http://schemas.openxmlformats.org/drawingml/2006/main" noChangeAspect="1"/>
          </p:cNvPicPr>
          <p:nvPr/>
        </p:nvPicPr>
        <p:blipFill>
          <a:blip xmlns:r="http://schemas.openxmlformats.org/officeDocument/2006/relationships" xmlns:a="http://schemas.openxmlformats.org/drawingml/2006/main" r:embed="R0556a2ec09a44155"/>
          <a:stretch xmlns:a="http://schemas.openxmlformats.org/drawingml/2006/main">
            <a:fillRect l="0" t="0" r="0" b="0"/>
          </a:stretch>
        </p:blipFill>
        <p:spPr>
          <a:xfrm xmlns:a="http://schemas.openxmlformats.org/drawingml/2006/main">
            <a:off x="3885884" y="2285837"/>
            <a:ext cx="5065258" cy="2829886"/>
          </a:xfrm>
          <a:prstGeom xmlns:a="http://schemas.openxmlformats.org/drawingml/2006/main" prst="rect">
            <a:avLst/>
          </a:prstGeom>
        </p:spPr>
      </p:pic>
    </p:spTree>
    <p:extLst>
      <p:ext uri="{BB962C8B-B14F-4D97-AF65-F5344CB8AC3E}">
        <p14:creationId xmlns:p14="http://schemas.microsoft.com/office/powerpoint/2010/main" val="55758389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B4B7304-686E-46EF-8B79-9AFBD9E672D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Arial"/>
                <a:ea typeface="Arial"/>
                <a:cs typeface="Arial"/>
              </a:rPr>
              <a:t>Transformer</a:t>
            </a:r>
            <a:r>
              <a:rPr>
                <a:latin typeface="微软雅黑"/>
                <a:ea typeface="微软雅黑"/>
                <a:cs typeface="微软雅黑"/>
              </a:rPr>
              <a:t>介绍</a:t>
            </a:r>
          </a:p>
        </p:txBody>
      </p:sp>
      <p:sp>
        <p:nvSpPr>
          <p:cNvPr id="3" name="内容占位符 2">
            <a:extLst xmlns:a="http://schemas.openxmlformats.org/drawingml/2006/main">
              <a:ext uri="{FF2B5EF4-FFF2-40B4-BE49-F238E27FC236}">
                <a16:creationId xmlns:a16="http://schemas.microsoft.com/office/drawing/2014/main" id="{00207036-C5CE-437D-BB09-6761628B225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rPr>
                <a:latin typeface="Arial"/>
                <a:ea typeface="Arial"/>
                <a:cs typeface="Arial"/>
              </a:rPr>
              <a:t>Transformer</a:t>
            </a:r>
          </a:p>
        </p:txBody>
      </p:sp>
      <p:sp>
        <p:nvSpPr>
          <p:cNvPr id="4" name="文本框 3">
            <a:extLst xmlns:a="http://schemas.openxmlformats.org/drawingml/2006/main">
              <a:ext uri="{FF2B5EF4-FFF2-40B4-BE49-F238E27FC236}">
                <a16:creationId xmlns:a16="http://schemas.microsoft.com/office/drawing/2014/main" id="{D543E641-F187-4E28-BA56-489E4E036E59}"/>
              </a:ext>
            </a:extLst>
          </p:cNvPr>
          <p:cNvSpPr>
            <a:spLocks xmlns:a="http://schemas.openxmlformats.org/drawingml/2006/main" noGrp="1"/>
          </p:cNvSpPr>
          <p:nvPr/>
        </p:nvSpPr>
        <p:spPr>
          <a:xfrm xmlns:a="http://schemas.openxmlformats.org/drawingml/2006/main">
            <a:off x="473073" y="1905760"/>
            <a:ext cx="3566860" cy="335880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1800" b="0" i="0">
                <a:solidFill>
                  <a:srgbClr val="121212"/>
                </a:solidFill>
                <a:latin typeface="微软雅黑"/>
                <a:ea typeface="微软雅黑"/>
                <a:cs typeface="微软雅黑"/>
              </a:rPr>
              <a:t>2017</a:t>
            </a:r>
            <a:r>
              <a:rPr sz="1800" b="0" i="0">
                <a:solidFill>
                  <a:srgbClr val="121212"/>
                </a:solidFill>
                <a:latin typeface="微软雅黑"/>
                <a:ea typeface="微软雅黑"/>
                <a:cs typeface="微软雅黑"/>
              </a:rPr>
              <a:t>年</a:t>
            </a:r>
            <a:r>
              <a:rPr sz="1800" b="0" i="0">
                <a:solidFill>
                  <a:srgbClr val="121212"/>
                </a:solidFill>
                <a:latin typeface="微软雅黑"/>
                <a:ea typeface="微软雅黑"/>
                <a:cs typeface="微软雅黑"/>
              </a:rPr>
              <a:t>google</a:t>
            </a:r>
            <a:r>
              <a:rPr sz="1800" b="0" i="0">
                <a:solidFill>
                  <a:srgbClr val="121212"/>
                </a:solidFill>
                <a:latin typeface="微软雅黑"/>
                <a:ea typeface="微软雅黑"/>
                <a:cs typeface="微软雅黑"/>
              </a:rPr>
              <a:t>的机器翻译团队在</a:t>
            </a:r>
            <a:r>
              <a:rPr sz="1800" b="0" i="0">
                <a:solidFill>
                  <a:srgbClr val="121212"/>
                </a:solidFill>
                <a:latin typeface="微软雅黑"/>
                <a:ea typeface="微软雅黑"/>
                <a:cs typeface="微软雅黑"/>
              </a:rPr>
              <a:t>NIPS</a:t>
            </a:r>
            <a:r>
              <a:rPr sz="1800" b="0" i="0">
                <a:solidFill>
                  <a:srgbClr val="121212"/>
                </a:solidFill>
                <a:latin typeface="微软雅黑"/>
                <a:ea typeface="微软雅黑"/>
                <a:cs typeface="微软雅黑"/>
              </a:rPr>
              <a:t>上发表了</a:t>
            </a:r>
            <a:r>
              <a:rPr sz="1800" b="1" i="0">
                <a:solidFill>
                  <a:srgbClr val="121212"/>
                </a:solidFill>
                <a:latin typeface="微软雅黑"/>
                <a:ea typeface="微软雅黑"/>
                <a:cs typeface="微软雅黑"/>
              </a:rPr>
              <a:t>Attention is all you need</a:t>
            </a:r>
            <a:r>
              <a:rPr sz="1800" b="0" i="0">
                <a:solidFill>
                  <a:srgbClr val="121212"/>
                </a:solidFill>
                <a:latin typeface="微软雅黑"/>
                <a:ea typeface="微软雅黑"/>
                <a:cs typeface="微软雅黑"/>
              </a:rPr>
              <a:t>的文章，开创性地提出了在序列转录领域，完全抛弃 </a:t>
            </a:r>
            <a:r>
              <a:rPr sz="1800" b="0" i="0">
                <a:solidFill>
                  <a:srgbClr val="121212"/>
                </a:solidFill>
                <a:latin typeface="微软雅黑"/>
                <a:ea typeface="微软雅黑"/>
                <a:cs typeface="微软雅黑"/>
              </a:rPr>
              <a:t>CNN</a:t>
            </a:r>
            <a:r>
              <a:rPr sz="1800" b="0" i="0">
                <a:solidFill>
                  <a:srgbClr val="121212"/>
                </a:solidFill>
                <a:latin typeface="微软雅黑"/>
                <a:ea typeface="微软雅黑"/>
                <a:cs typeface="微软雅黑"/>
              </a:rPr>
              <a:t>和</a:t>
            </a:r>
            <a:r>
              <a:rPr sz="1800" b="0" i="0">
                <a:solidFill>
                  <a:srgbClr val="121212"/>
                </a:solidFill>
                <a:latin typeface="微软雅黑"/>
                <a:ea typeface="微软雅黑"/>
                <a:cs typeface="微软雅黑"/>
              </a:rPr>
              <a:t>RNN</a:t>
            </a:r>
            <a:r>
              <a:rPr sz="1800" b="0" i="0">
                <a:solidFill>
                  <a:srgbClr val="121212"/>
                </a:solidFill>
                <a:latin typeface="微软雅黑"/>
                <a:ea typeface="微软雅黑"/>
                <a:cs typeface="微软雅黑"/>
              </a:rPr>
              <a:t>，只依赖</a:t>
            </a:r>
            <a:r>
              <a:rPr sz="1800" b="0" i="0">
                <a:solidFill>
                  <a:srgbClr val="FF0000"/>
                </a:solidFill>
                <a:latin typeface="微软雅黑"/>
                <a:ea typeface="微软雅黑"/>
                <a:cs typeface="微软雅黑"/>
              </a:rPr>
              <a:t>Attention-</a:t>
            </a:r>
            <a:r>
              <a:rPr sz="1800" b="0" i="0">
                <a:solidFill>
                  <a:srgbClr val="FF0000"/>
                </a:solidFill>
                <a:latin typeface="微软雅黑"/>
                <a:ea typeface="微软雅黑"/>
                <a:cs typeface="微软雅黑"/>
              </a:rPr>
              <a:t>注意力</a:t>
            </a:r>
            <a:r>
              <a:rPr sz="1800" b="0" i="0">
                <a:solidFill>
                  <a:srgbClr val="121212"/>
                </a:solidFill>
                <a:latin typeface="微软雅黑"/>
                <a:ea typeface="微软雅黑"/>
                <a:cs typeface="微软雅黑"/>
              </a:rPr>
              <a:t>结构的简单的网络架构，名为</a:t>
            </a:r>
            <a:r>
              <a:rPr sz="1800" b="0" i="0">
                <a:solidFill>
                  <a:srgbClr val="FF0000"/>
                </a:solidFill>
                <a:latin typeface="微软雅黑"/>
                <a:ea typeface="微软雅黑"/>
                <a:cs typeface="微软雅黑"/>
              </a:rPr>
              <a:t>Transformer</a:t>
            </a:r>
            <a:r>
              <a:rPr sz="1800" b="0" i="0">
                <a:solidFill>
                  <a:srgbClr val="121212"/>
                </a:solidFill>
                <a:latin typeface="微软雅黑"/>
                <a:ea typeface="微软雅黑"/>
                <a:cs typeface="微软雅黑"/>
              </a:rPr>
              <a:t>；论文实现的任务是机器翻译。</a:t>
            </a:r>
          </a:p>
        </p:txBody>
      </p:sp>
      <p:sp>
        <p:nvSpPr>
          <p:cNvPr id="5" name="文本框 4">
            <a:extLst xmlns:a="http://schemas.openxmlformats.org/drawingml/2006/main">
              <a:ext uri="{FF2B5EF4-FFF2-40B4-BE49-F238E27FC236}">
                <a16:creationId xmlns:a16="http://schemas.microsoft.com/office/drawing/2014/main" id="{C12280B5-96AE-487F-B3D4-FB98DCDB0479}"/>
              </a:ext>
            </a:extLst>
          </p:cNvPr>
          <p:cNvSpPr>
            <a:spLocks xmlns:a="http://schemas.openxmlformats.org/drawingml/2006/main" noGrp="1"/>
          </p:cNvSpPr>
          <p:nvPr/>
        </p:nvSpPr>
        <p:spPr>
          <a:xfrm xmlns:a="http://schemas.openxmlformats.org/drawingml/2006/main">
            <a:off x="4204583" y="1896786"/>
            <a:ext cx="2440799"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1" i="0">
                <a:solidFill>
                  <a:srgbClr val="222222"/>
                </a:solidFill>
                <a:latin typeface="微软雅黑"/>
                <a:ea typeface="微软雅黑"/>
                <a:cs typeface="微软雅黑"/>
              </a:rPr>
              <a:t>Transformer</a:t>
            </a:r>
            <a:r>
              <a:rPr sz="1800" b="1" i="0">
                <a:solidFill>
                  <a:srgbClr val="222222"/>
                </a:solidFill>
                <a:latin typeface="微软雅黑"/>
                <a:ea typeface="微软雅黑"/>
                <a:cs typeface="微软雅黑"/>
              </a:rPr>
              <a:t>结构</a:t>
            </a:r>
          </a:p>
        </p:txBody>
      </p:sp>
      <p:sp>
        <p:nvSpPr>
          <p:cNvPr id="7" name="Google Shape;3248;p52">
            <a:extLst xmlns:a="http://schemas.openxmlformats.org/drawingml/2006/main">
              <a:ext uri="{FF2B5EF4-FFF2-40B4-BE49-F238E27FC236}">
                <a16:creationId xmlns:a16="http://schemas.microsoft.com/office/drawing/2014/main" id="{E59E48AB-4A8B-4535-83C2-EA87544A672B}"/>
              </a:ext>
            </a:extLst>
          </p:cNvPr>
          <p:cNvSpPr>
            <a:spLocks xmlns:a="http://schemas.openxmlformats.org/drawingml/2006/main" noGrp="1"/>
          </p:cNvSpPr>
          <p:nvPr/>
        </p:nvSpPr>
        <p:spPr>
          <a:xfrm xmlns:a="http://schemas.openxmlformats.org/drawingml/2006/main" rot="0">
            <a:off x="6416386" y="2079092"/>
            <a:ext cx="1914300" cy="2966400"/>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 name="Google Shape;3249;p52">
            <a:extLst xmlns:a="http://schemas.openxmlformats.org/drawingml/2006/main">
              <a:ext uri="{FF2B5EF4-FFF2-40B4-BE49-F238E27FC236}">
                <a16:creationId xmlns:a16="http://schemas.microsoft.com/office/drawing/2014/main" id="{383F5825-C4FF-43F4-BD6B-CC249E5AD955}"/>
              </a:ext>
            </a:extLst>
          </p:cNvPr>
          <p:cNvSpPr>
            <a:spLocks xmlns:a="http://schemas.openxmlformats.org/drawingml/2006/main" noGrp="1"/>
          </p:cNvSpPr>
          <p:nvPr/>
        </p:nvSpPr>
        <p:spPr>
          <a:xfrm xmlns:a="http://schemas.openxmlformats.org/drawingml/2006/main" rot="0">
            <a:off x="4223186" y="3109492"/>
            <a:ext cx="1914300" cy="1935900"/>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 name="Google Shape;3250;p52">
            <a:extLst xmlns:a="http://schemas.openxmlformats.org/drawingml/2006/main">
              <a:ext uri="{FF2B5EF4-FFF2-40B4-BE49-F238E27FC236}">
                <a16:creationId xmlns:a16="http://schemas.microsoft.com/office/drawing/2014/main" id="{BDA4BC61-6A55-48D2-AC51-193763B1665D}"/>
              </a:ext>
            </a:extLst>
          </p:cNvPr>
          <p:cNvSpPr>
            <a:spLocks xmlns:a="http://schemas.openxmlformats.org/drawingml/2006/main" noGrp="1"/>
          </p:cNvSpPr>
          <p:nvPr/>
        </p:nvSpPr>
        <p:spPr>
          <a:xfrm xmlns:a="http://schemas.openxmlformats.org/drawingml/2006/main" rot="0">
            <a:off x="4510136" y="4383342"/>
            <a:ext cx="1515000" cy="385200"/>
          </a:xfrm>
          <a:prstGeom xmlns:a="http://schemas.openxmlformats.org/drawingml/2006/main" prst="roundRect">
            <a:avLst>
              <a:gd name="adj" fmla="val 16667"/>
            </a:avLst>
          </a:prstGeom>
          <a:gradFill xmlns:a="http://schemas.openxmlformats.org/drawingml/2006/main">
            <a:gsLst>
              <a:gs pos="0">
                <a:srgbClr val="F7E9D4"/>
              </a:gs>
              <a:gs pos="100000">
                <a:srgbClr val="E6B94E"/>
              </a:gs>
            </a:gsLst>
            <a:lin ang="2700006" scaled="0"/>
          </a:gradFill>
          <a:ln xmlns:a="http://schemas.openxmlformats.org/drawingml/2006/main" w="19050" cmpd="sng">
            <a:solidFill>
              <a:srgbClr val="99999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Multi-Head</a:t>
            </a:r>
          </a:p>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Attention</a:t>
            </a:r>
          </a:p>
        </p:txBody>
      </p:sp>
      <p:sp>
        <p:nvSpPr>
          <p:cNvPr id="10" name="Google Shape;3251;p52">
            <a:extLst xmlns:a="http://schemas.openxmlformats.org/drawingml/2006/main">
              <a:ext uri="{FF2B5EF4-FFF2-40B4-BE49-F238E27FC236}">
                <a16:creationId xmlns:a16="http://schemas.microsoft.com/office/drawing/2014/main" id="{FE17F80C-3F47-4D64-AFD4-D3B1B83D7209}"/>
              </a:ext>
            </a:extLst>
          </p:cNvPr>
          <p:cNvSpPr>
            <a:spLocks xmlns:a="http://schemas.openxmlformats.org/drawingml/2006/main" noGrp="1"/>
          </p:cNvSpPr>
          <p:nvPr/>
        </p:nvSpPr>
        <p:spPr>
          <a:xfrm xmlns:a="http://schemas.openxmlformats.org/drawingml/2006/main" rot="0">
            <a:off x="4510036" y="4117892"/>
            <a:ext cx="1515000" cy="196200"/>
          </a:xfrm>
          <a:prstGeom xmlns:a="http://schemas.openxmlformats.org/drawingml/2006/main" prst="roundRect">
            <a:avLst>
              <a:gd name="adj" fmla="val 28518"/>
            </a:avLst>
          </a:prstGeom>
          <a:gradFill xmlns:a="http://schemas.openxmlformats.org/drawingml/2006/main">
            <a:gsLst>
              <a:gs pos="0">
                <a:srgbClr val="69D4F4">
                  <a:alpha val="26274"/>
                </a:srgbClr>
              </a:gs>
              <a:gs pos="100000">
                <a:srgbClr val="9F39D5">
                  <a:alpha val="16862"/>
                </a:srgbClr>
              </a:gs>
            </a:gsLst>
            <a:lin ang="13500032" scaled="0"/>
          </a:gradFill>
          <a:ln xmlns:a="http://schemas.openxmlformats.org/drawingml/2006/main" w="19050" cmpd="sng">
            <a:solidFill>
              <a:srgbClr val="99999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Add &amp; Norm</a:t>
            </a:r>
          </a:p>
        </p:txBody>
      </p:sp>
      <p:sp>
        <p:nvSpPr>
          <p:cNvPr id="11" name="Google Shape;3252;p52">
            <a:extLst xmlns:a="http://schemas.openxmlformats.org/drawingml/2006/main">
              <a:ext uri="{FF2B5EF4-FFF2-40B4-BE49-F238E27FC236}">
                <a16:creationId xmlns:a16="http://schemas.microsoft.com/office/drawing/2014/main" id="{C8825055-D984-4664-BB9F-34ACB16073EE}"/>
              </a:ext>
            </a:extLst>
          </p:cNvPr>
          <p:cNvSpPr>
            <a:spLocks xmlns:a="http://schemas.openxmlformats.org/drawingml/2006/main" noGrp="1"/>
          </p:cNvSpPr>
          <p:nvPr/>
        </p:nvSpPr>
        <p:spPr>
          <a:xfrm xmlns:a="http://schemas.openxmlformats.org/drawingml/2006/main" rot="0">
            <a:off x="4510136" y="5599317"/>
            <a:ext cx="1515000" cy="435900"/>
          </a:xfrm>
          <a:prstGeom xmlns:a="http://schemas.openxmlformats.org/drawingml/2006/main" prst="roundRect">
            <a:avLst>
              <a:gd name="adj" fmla="val 16667"/>
            </a:avLst>
          </a:prstGeom>
          <a:gradFill xmlns:a="http://schemas.openxmlformats.org/drawingml/2006/main">
            <a:gsLst>
              <a:gs pos="0">
                <a:srgbClr val="D8EDBA">
                  <a:alpha val="57647"/>
                </a:srgbClr>
              </a:gs>
              <a:gs pos="100000">
                <a:srgbClr val="FE9696">
                  <a:alpha val="73725"/>
                </a:srgbClr>
              </a:gs>
            </a:gsLst>
            <a:lin ang="13500032" scaled="0"/>
          </a:gradFill>
          <a:ln xmlns:a="http://schemas.openxmlformats.org/drawingml/2006/main" w="19050" cmpd="sng">
            <a:solidFill>
              <a:srgbClr val="99999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Input</a:t>
            </a:r>
          </a:p>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Embedding</a:t>
            </a:r>
          </a:p>
        </p:txBody>
      </p:sp>
      <p:pic>
        <p:nvPicPr>
          <p:cNvPr id="79" name="Google Shape;3254;p52"/>
          <p:cNvPicPr>
            <a:picLocks xmlns:a="http://schemas.openxmlformats.org/drawingml/2006/main" noChangeAspect="1"/>
          </p:cNvPicPr>
          <p:nvPr/>
        </p:nvPicPr>
        <p:blipFill>
          <a:blip xmlns:r="http://schemas.openxmlformats.org/officeDocument/2006/relationships" xmlns:a="http://schemas.openxmlformats.org/drawingml/2006/main" r:embed="Rb18483995b8541b0"/>
          <a:stretch xmlns:a="http://schemas.openxmlformats.org/drawingml/2006/main">
            <a:fillRect l="0" t="0" r="0" b="0"/>
          </a:stretch>
        </p:blipFill>
        <p:spPr>
          <a:xfrm xmlns:a="http://schemas.openxmlformats.org/drawingml/2006/main" rot="0" flipH="0" flipV="0">
            <a:off x="5175114" y="5174888"/>
            <a:ext cx="185039" cy="202107"/>
          </a:xfrm>
          <a:prstGeom xmlns:a="http://schemas.openxmlformats.org/drawingml/2006/main" prst="rect">
            <a:avLst/>
          </a:prstGeom>
          <a:ln xmlns:a="http://schemas.openxmlformats.org/drawingml/2006/main">
            <a:noFill/>
          </a:ln>
        </p:spPr>
      </p:pic>
      <p:sp>
        <p:nvSpPr>
          <p:cNvPr id="67" name="Google Shape;3255;p52">
            <a:extLst xmlns:a="http://schemas.openxmlformats.org/drawingml/2006/main">
              <a:ext uri="{FF2B5EF4-FFF2-40B4-BE49-F238E27FC236}">
                <a16:creationId xmlns:a16="http://schemas.microsoft.com/office/drawing/2014/main" id="{5430E926-3421-4932-BCDA-1FA46516B156}"/>
              </a:ext>
            </a:extLst>
          </p:cNvPr>
          <p:cNvSpPr>
            <a:spLocks xmlns:a="http://schemas.openxmlformats.org/drawingml/2006/main" noGrp="1"/>
          </p:cNvSpPr>
          <p:nvPr/>
        </p:nvSpPr>
        <p:spPr>
          <a:xfrm xmlns:a="http://schemas.openxmlformats.org/drawingml/2006/main" rot="0">
            <a:off x="5139667" y="5146825"/>
            <a:ext cx="255933" cy="258234"/>
          </a:xfrm>
          <a:prstGeom xmlns:a="http://schemas.openxmlformats.org/drawingml/2006/main" prst="ellipse">
            <a:avLst/>
          </a:prstGeom>
          <a:gradFill xmlns:a="http://schemas.openxmlformats.org/drawingml/2006/main">
            <a:gsLst>
              <a:gs pos="0">
                <a:srgbClr val="69D4F4">
                  <a:alpha val="26274"/>
                </a:srgbClr>
              </a:gs>
              <a:gs pos="100000">
                <a:srgbClr val="9F39D5">
                  <a:alpha val="16862"/>
                </a:srgbClr>
              </a:gs>
            </a:gsLst>
            <a:lin ang="13500032" scaled="0"/>
          </a:gradFill>
          <a:ln xmlns:a="http://schemas.openxmlformats.org/drawingml/2006/main" w="9525" cmpd="sng">
            <a:solidFill>
              <a:schemeClr val="dk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p>
        </p:txBody>
      </p:sp>
      <p:sp>
        <p:nvSpPr>
          <p:cNvPr id="64" name="Google Shape;3257;p52">
            <a:extLst xmlns:a="http://schemas.openxmlformats.org/drawingml/2006/main">
              <a:ext uri="{FF2B5EF4-FFF2-40B4-BE49-F238E27FC236}">
                <a16:creationId xmlns:a16="http://schemas.microsoft.com/office/drawing/2014/main" id="{CF94CED7-7CBE-4B32-A848-9A496CB1E46D}"/>
              </a:ext>
            </a:extLst>
          </p:cNvPr>
          <p:cNvSpPr>
            <a:spLocks xmlns:a="http://schemas.openxmlformats.org/drawingml/2006/main" noGrp="1"/>
          </p:cNvSpPr>
          <p:nvPr/>
        </p:nvSpPr>
        <p:spPr>
          <a:xfrm xmlns:a="http://schemas.openxmlformats.org/drawingml/2006/main" rot="0">
            <a:off x="4510135" y="5083341"/>
            <a:ext cx="407100" cy="385200"/>
          </a:xfrm>
          <a:prstGeom xmlns:a="http://schemas.openxmlformats.org/drawingml/2006/main" prst="ellipse">
            <a:avLst/>
          </a:prstGeom>
          <a:gradFill xmlns:a="http://schemas.openxmlformats.org/drawingml/2006/main">
            <a:gsLst>
              <a:gs pos="0">
                <a:srgbClr val="69D4F4">
                  <a:alpha val="26274"/>
                </a:srgbClr>
              </a:gs>
              <a:gs pos="100000">
                <a:srgbClr val="9F39D5">
                  <a:alpha val="16862"/>
                </a:srgbClr>
              </a:gs>
            </a:gsLst>
            <a:lin ang="13500032" scaled="0"/>
          </a:gradFill>
          <a:ln xmlns:a="http://schemas.openxmlformats.org/drawingml/2006/main" w="9525" cmpd="sng">
            <a:solidFill>
              <a:schemeClr val="dk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p>
        </p:txBody>
      </p:sp>
      <p:sp>
        <p:nvSpPr>
          <p:cNvPr id="65" name="Google Shape;3258;p52">
            <a:extLst xmlns:a="http://schemas.openxmlformats.org/drawingml/2006/main">
              <a:ext uri="{FF2B5EF4-FFF2-40B4-BE49-F238E27FC236}">
                <a16:creationId xmlns:a16="http://schemas.microsoft.com/office/drawing/2014/main" id="{DA2E19B2-51A8-4D8C-9CA0-265142C42EED}"/>
              </a:ext>
            </a:extLst>
          </p:cNvPr>
          <p:cNvSpPr>
            <a:spLocks xmlns:a="http://schemas.openxmlformats.org/drawingml/2006/main" noGrp="1"/>
          </p:cNvSpPr>
          <p:nvPr/>
        </p:nvSpPr>
        <p:spPr>
          <a:xfrm xmlns:a="http://schemas.openxmlformats.org/drawingml/2006/main" rot="0">
            <a:off x="4518026" y="5195652"/>
            <a:ext cx="399290" cy="178980"/>
          </a:xfrm>
          <a:custGeom xmlns:a="http://schemas.openxmlformats.org/drawingml/2006/main">
            <a:rect l="l" t="t" r="r" b="b"/>
            <a:pathLst>
              <a:path w="20772" h="9028">
                <a:moveTo>
                  <a:pt x="0" y="3089"/>
                </a:moveTo>
                <a:cubicBezTo>
                  <a:pt x="1222" y="2614"/>
                  <a:pt x="4819" y="-712"/>
                  <a:pt x="7331" y="238"/>
                </a:cubicBezTo>
                <a:cubicBezTo>
                  <a:pt x="9843" y="1188"/>
                  <a:pt x="12830" y="7841"/>
                  <a:pt x="15070" y="8791"/>
                </a:cubicBezTo>
                <a:cubicBezTo>
                  <a:pt x="17310" y="9741"/>
                  <a:pt x="19822" y="6415"/>
                  <a:pt x="20772" y="5940"/>
                </a:cubicBezTo>
              </a:path>
            </a:pathLst>
          </a:custGeom>
          <a:noFill xmlns:a="http://schemas.openxmlformats.org/drawingml/2006/main"/>
          <a:ln xmlns:a="http://schemas.openxmlformats.org/drawingml/2006/main" w="9525" cmpd="sng">
            <a:solidFill>
              <a:schemeClr val="dk2"/>
            </a:solidFill>
            <a:prstDash val="solid"/>
            <a:headEnd type="none" w="med" len="med"/>
            <a:tailEnd type="none" w="med" len="med"/>
          </a:ln>
        </p:spPr>
        <p:txBody>
          <a:bodyPr xmlns:a="http://schemas.openxmlformats.org/drawingml/2006/main"/>
          <a:lstStyle xmlns:a="http://schemas.openxmlformats.org/drawingml/2006/main"/>
          <a:p xmlns:a="http://schemas.openxmlformats.org/drawingml/2006/main"/>
        </p:txBody>
      </p:sp>
      <p:cxnSp>
        <p:nvCxnSpPr>
          <p:cNvPr id="83" name="Google Shape;3259;p52"/>
          <p:cNvCxnSpPr>
            <a:endCxn xmlns:a="http://schemas.openxmlformats.org/drawingml/2006/main" id="11" idx="2"/>
          </p:cNvCxnSpPr>
          <p:nvPr/>
        </p:nvCxnSpPr>
        <p:spPr>
          <a:xfrm xmlns:a="http://schemas.openxmlformats.org/drawingml/2006/main" rot="10800000">
            <a:off x="5267636" y="6035217"/>
            <a:ext cx="4500" cy="230700"/>
          </a:xfrm>
          <a:prstGeom xmlns:a="http://schemas.openxmlformats.org/drawingml/2006/main" prst="straightConnector1">
            <a:avLst/>
          </a:prstGeom>
          <a:ln xmlns:a="http://schemas.openxmlformats.org/drawingml/2006/main" w="9525" cap="flat">
            <a:solidFill>
              <a:schemeClr val="dk2"/>
            </a:solidFill>
            <a:prstDash val="solid"/>
            <a:round/>
            <a:headEnd type="none" w="med" len="med"/>
            <a:tailEnd type="triangle" w="med" len="med"/>
          </a:ln>
        </p:spPr>
      </p:cxnSp>
      <p:cxnSp>
        <p:nvCxnSpPr>
          <p:cNvPr id="84" name="Google Shape;3260;p52"/>
          <p:cNvCxnSpPr>
            <a:endCxn xmlns:a="http://schemas.openxmlformats.org/drawingml/2006/main" id="67" idx="4"/>
          </p:cNvCxnSpPr>
          <p:nvPr/>
        </p:nvCxnSpPr>
        <p:spPr>
          <a:xfrm xmlns:a="http://schemas.openxmlformats.org/drawingml/2006/main" rot="10800000">
            <a:off x="5267634" y="5405059"/>
            <a:ext cx="0" cy="196200"/>
          </a:xfrm>
          <a:prstGeom xmlns:a="http://schemas.openxmlformats.org/drawingml/2006/main" prst="straightConnector1">
            <a:avLst/>
          </a:prstGeom>
          <a:ln xmlns:a="http://schemas.openxmlformats.org/drawingml/2006/main" w="9525" cap="flat">
            <a:solidFill>
              <a:schemeClr val="dk2"/>
            </a:solidFill>
            <a:prstDash val="solid"/>
            <a:round/>
            <a:headEnd type="none" w="med" len="med"/>
            <a:tailEnd type="triangle" w="med" len="med"/>
          </a:ln>
        </p:spPr>
      </p:cxnSp>
      <p:cxnSp>
        <p:nvCxnSpPr>
          <p:cNvPr id="85" name="Google Shape;3261;p52"/>
          <p:cNvCxnSpPr>
            <a:stCxn xmlns:a="http://schemas.openxmlformats.org/drawingml/2006/main" id="67" idx="0"/>
            <a:endCxn xmlns:a="http://schemas.openxmlformats.org/drawingml/2006/main" id="9" idx="2"/>
          </p:cNvCxnSpPr>
          <p:nvPr/>
        </p:nvCxnSpPr>
        <p:spPr>
          <a:xfrm xmlns:a="http://schemas.openxmlformats.org/drawingml/2006/main" rot="10800000">
            <a:off x="5267634" y="4768525"/>
            <a:ext cx="0" cy="378300"/>
          </a:xfrm>
          <a:prstGeom xmlns:a="http://schemas.openxmlformats.org/drawingml/2006/main" prst="straightConnector1">
            <a:avLst/>
          </a:prstGeom>
          <a:ln xmlns:a="http://schemas.openxmlformats.org/drawingml/2006/main" w="9525" cap="flat">
            <a:solidFill>
              <a:schemeClr val="dk2"/>
            </a:solidFill>
            <a:prstDash val="solid"/>
            <a:round/>
            <a:headEnd type="none" w="med" len="med"/>
            <a:tailEnd type="triangle" w="med" len="med"/>
          </a:ln>
        </p:spPr>
      </p:cxnSp>
      <p:sp>
        <p:nvSpPr>
          <p:cNvPr id="17" name="Google Shape;3262;p52">
            <a:extLst xmlns:a="http://schemas.openxmlformats.org/drawingml/2006/main">
              <a:ext uri="{FF2B5EF4-FFF2-40B4-BE49-F238E27FC236}">
                <a16:creationId xmlns:a16="http://schemas.microsoft.com/office/drawing/2014/main" id="{48215C31-5CE8-49FD-82D7-6122606CCEA1}"/>
              </a:ext>
            </a:extLst>
          </p:cNvPr>
          <p:cNvSpPr>
            <a:spLocks xmlns:a="http://schemas.openxmlformats.org/drawingml/2006/main" noGrp="1"/>
          </p:cNvSpPr>
          <p:nvPr/>
        </p:nvSpPr>
        <p:spPr>
          <a:xfrm xmlns:a="http://schemas.openxmlformats.org/drawingml/2006/main" rot="0">
            <a:off x="6616086" y="5607417"/>
            <a:ext cx="1515000" cy="435900"/>
          </a:xfrm>
          <a:prstGeom xmlns:a="http://schemas.openxmlformats.org/drawingml/2006/main" prst="roundRect">
            <a:avLst>
              <a:gd name="adj" fmla="val 16667"/>
            </a:avLst>
          </a:prstGeom>
          <a:gradFill xmlns:a="http://schemas.openxmlformats.org/drawingml/2006/main">
            <a:gsLst>
              <a:gs pos="0">
                <a:srgbClr val="D8EDBA">
                  <a:alpha val="57647"/>
                </a:srgbClr>
              </a:gs>
              <a:gs pos="100000">
                <a:srgbClr val="FE9696">
                  <a:alpha val="73725"/>
                </a:srgbClr>
              </a:gs>
            </a:gsLst>
            <a:lin ang="13500032" scaled="0"/>
          </a:gradFill>
          <a:ln xmlns:a="http://schemas.openxmlformats.org/drawingml/2006/main" w="19050" cmpd="sng">
            <a:solidFill>
              <a:srgbClr val="99999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Output</a:t>
            </a:r>
          </a:p>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Embedding</a:t>
            </a:r>
          </a:p>
        </p:txBody>
      </p:sp>
      <p:cxnSp>
        <p:nvCxnSpPr>
          <p:cNvPr id="87" name="Google Shape;3263;p52"/>
          <p:cNvCxnSpPr/>
          <p:nvPr/>
        </p:nvCxnSpPr>
        <p:spPr>
          <a:xfrm xmlns:a="http://schemas.openxmlformats.org/drawingml/2006/main" rot="10800000">
            <a:off x="7371336" y="6068192"/>
            <a:ext cx="4500" cy="230700"/>
          </a:xfrm>
          <a:prstGeom xmlns:a="http://schemas.openxmlformats.org/drawingml/2006/main" prst="straightConnector1">
            <a:avLst/>
          </a:prstGeom>
          <a:ln xmlns:a="http://schemas.openxmlformats.org/drawingml/2006/main" w="9525" cap="flat">
            <a:solidFill>
              <a:schemeClr val="dk2"/>
            </a:solidFill>
            <a:prstDash val="solid"/>
            <a:round/>
            <a:headEnd type="none" w="med" len="med"/>
            <a:tailEnd type="triangle" w="med" len="med"/>
          </a:ln>
        </p:spPr>
      </p:cxnSp>
      <p:cxnSp>
        <p:nvCxnSpPr>
          <p:cNvPr id="88" name="Google Shape;3264;p52"/>
          <p:cNvCxnSpPr>
            <a:stCxn xmlns:a="http://schemas.openxmlformats.org/drawingml/2006/main" id="64" idx="6"/>
            <a:endCxn xmlns:a="http://schemas.openxmlformats.org/drawingml/2006/main" id="67" idx="2"/>
          </p:cNvCxnSpPr>
          <p:nvPr/>
        </p:nvCxnSpPr>
        <p:spPr>
          <a:xfrm xmlns:a="http://schemas.openxmlformats.org/drawingml/2006/main" rot="0">
            <a:off x="4917235" y="5275941"/>
            <a:ext cx="222300" cy="0"/>
          </a:xfrm>
          <a:prstGeom xmlns:a="http://schemas.openxmlformats.org/drawingml/2006/main" prst="straightConnector1">
            <a:avLst/>
          </a:prstGeom>
          <a:ln xmlns:a="http://schemas.openxmlformats.org/drawingml/2006/main" w="9525" cap="flat">
            <a:solidFill>
              <a:schemeClr val="dk2"/>
            </a:solidFill>
            <a:prstDash val="solid"/>
            <a:round/>
            <a:headEnd type="none" w="med" len="med"/>
            <a:tailEnd type="none" w="med" len="med"/>
          </a:ln>
        </p:spPr>
      </p:cxnSp>
      <p:cxnSp>
        <p:nvCxnSpPr>
          <p:cNvPr id="89" name="Google Shape;3265;p52"/>
          <p:cNvCxnSpPr>
            <a:stCxn xmlns:a="http://schemas.openxmlformats.org/drawingml/2006/main" id="9" idx="2"/>
            <a:endCxn xmlns:a="http://schemas.openxmlformats.org/drawingml/2006/main" id="10" idx="1"/>
          </p:cNvCxnSpPr>
          <p:nvPr/>
        </p:nvCxnSpPr>
        <p:spPr>
          <a:xfrm xmlns:a="http://schemas.openxmlformats.org/drawingml/2006/main" rot="5400000" flipH="1">
            <a:off x="4612586" y="4113492"/>
            <a:ext cx="552600" cy="757500"/>
          </a:xfrm>
          <a:prstGeom xmlns:a="http://schemas.openxmlformats.org/drawingml/2006/main" prst="bentConnector4">
            <a:avLst>
              <a:gd name="adj1" fmla="val -33297"/>
              <a:gd name="adj2" fmla="val 121752"/>
            </a:avLst>
          </a:prstGeom>
          <a:ln xmlns:a="http://schemas.openxmlformats.org/drawingml/2006/main" w="9525" cap="flat">
            <a:solidFill>
              <a:schemeClr val="dk2"/>
            </a:solidFill>
            <a:prstDash val="solid"/>
            <a:round/>
            <a:headEnd type="none" w="med" len="med"/>
            <a:tailEnd type="triangle" w="med" len="med"/>
          </a:ln>
        </p:spPr>
      </p:cxnSp>
      <p:cxnSp>
        <p:nvCxnSpPr>
          <p:cNvPr id="90" name="Google Shape;3266;p52"/>
          <p:cNvCxnSpPr>
            <a:stCxn xmlns:a="http://schemas.openxmlformats.org/drawingml/2006/main" id="10" idx="2"/>
          </p:cNvCxnSpPr>
          <p:nvPr/>
        </p:nvCxnSpPr>
        <p:spPr>
          <a:xfrm xmlns:a="http://schemas.openxmlformats.org/drawingml/2006/main" rot="0">
            <a:off x="5267536" y="4314092"/>
            <a:ext cx="0" cy="0"/>
          </a:xfrm>
          <a:prstGeom xmlns:a="http://schemas.openxmlformats.org/drawingml/2006/main" prst="straightConnector1">
            <a:avLst/>
          </a:prstGeom>
          <a:ln xmlns:a="http://schemas.openxmlformats.org/drawingml/2006/main" w="9525" cap="flat">
            <a:solidFill>
              <a:schemeClr val="dk2"/>
            </a:solidFill>
            <a:prstDash val="solid"/>
            <a:round/>
            <a:headEnd type="none" w="med" len="med"/>
            <a:tailEnd type="none" w="med" len="med"/>
          </a:ln>
        </p:spPr>
      </p:cxnSp>
      <p:cxnSp>
        <p:nvCxnSpPr>
          <p:cNvPr id="91" name="Google Shape;3267;p52"/>
          <p:cNvCxnSpPr>
            <a:stCxn xmlns:a="http://schemas.openxmlformats.org/drawingml/2006/main" id="9" idx="0"/>
            <a:endCxn xmlns:a="http://schemas.openxmlformats.org/drawingml/2006/main" id="10" idx="2"/>
          </p:cNvCxnSpPr>
          <p:nvPr/>
        </p:nvCxnSpPr>
        <p:spPr>
          <a:xfrm xmlns:a="http://schemas.openxmlformats.org/drawingml/2006/main" rot="10800000">
            <a:off x="5267636" y="4314042"/>
            <a:ext cx="0" cy="69300"/>
          </a:xfrm>
          <a:prstGeom xmlns:a="http://schemas.openxmlformats.org/drawingml/2006/main" prst="straightConnector1">
            <a:avLst/>
          </a:prstGeom>
          <a:ln xmlns:a="http://schemas.openxmlformats.org/drawingml/2006/main" w="9525" cap="flat">
            <a:solidFill>
              <a:srgbClr val="999999"/>
            </a:solidFill>
            <a:prstDash val="solid"/>
            <a:round/>
            <a:headEnd type="none" w="med" len="med"/>
            <a:tailEnd type="none" w="med" len="med"/>
          </a:ln>
        </p:spPr>
      </p:cxnSp>
      <p:sp>
        <p:nvSpPr>
          <p:cNvPr id="23" name="Google Shape;3268;p52">
            <a:extLst xmlns:a="http://schemas.openxmlformats.org/drawingml/2006/main">
              <a:ext uri="{FF2B5EF4-FFF2-40B4-BE49-F238E27FC236}">
                <a16:creationId xmlns:a16="http://schemas.microsoft.com/office/drawing/2014/main" id="{DEB54D24-13B5-4E84-8B25-60555FCA5D4E}"/>
              </a:ext>
            </a:extLst>
          </p:cNvPr>
          <p:cNvSpPr>
            <a:spLocks xmlns:a="http://schemas.openxmlformats.org/drawingml/2006/main" noGrp="1"/>
          </p:cNvSpPr>
          <p:nvPr/>
        </p:nvSpPr>
        <p:spPr>
          <a:xfrm xmlns:a="http://schemas.openxmlformats.org/drawingml/2006/main" rot="0">
            <a:off x="4510086" y="3474592"/>
            <a:ext cx="1515000" cy="385200"/>
          </a:xfrm>
          <a:prstGeom xmlns:a="http://schemas.openxmlformats.org/drawingml/2006/main" prst="roundRect">
            <a:avLst>
              <a:gd name="adj" fmla="val 16667"/>
            </a:avLst>
          </a:prstGeom>
          <a:gradFill xmlns:a="http://schemas.openxmlformats.org/drawingml/2006/main">
            <a:gsLst>
              <a:gs pos="0">
                <a:srgbClr val="00FFFF"/>
              </a:gs>
              <a:gs pos="100000">
                <a:srgbClr val="B0DAF1"/>
              </a:gs>
            </a:gsLst>
            <a:lin ang="0" scaled="0"/>
          </a:gradFill>
          <a:ln xmlns:a="http://schemas.openxmlformats.org/drawingml/2006/main" w="19050" cmpd="sng">
            <a:solidFill>
              <a:srgbClr val="99999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Feed</a:t>
            </a:r>
          </a:p>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Forward</a:t>
            </a:r>
          </a:p>
        </p:txBody>
      </p:sp>
      <p:sp>
        <p:nvSpPr>
          <p:cNvPr id="24" name="Google Shape;3269;p52">
            <a:extLst xmlns:a="http://schemas.openxmlformats.org/drawingml/2006/main">
              <a:ext uri="{FF2B5EF4-FFF2-40B4-BE49-F238E27FC236}">
                <a16:creationId xmlns:a16="http://schemas.microsoft.com/office/drawing/2014/main" id="{77A128CF-4ECA-4D4C-A309-F8F3F88B9966}"/>
              </a:ext>
            </a:extLst>
          </p:cNvPr>
          <p:cNvSpPr>
            <a:spLocks xmlns:a="http://schemas.openxmlformats.org/drawingml/2006/main" noGrp="1"/>
          </p:cNvSpPr>
          <p:nvPr/>
        </p:nvSpPr>
        <p:spPr>
          <a:xfrm xmlns:a="http://schemas.openxmlformats.org/drawingml/2006/main" rot="0">
            <a:off x="4509986" y="3209142"/>
            <a:ext cx="1515000" cy="196200"/>
          </a:xfrm>
          <a:prstGeom xmlns:a="http://schemas.openxmlformats.org/drawingml/2006/main" prst="roundRect">
            <a:avLst>
              <a:gd name="adj" fmla="val 28518"/>
            </a:avLst>
          </a:prstGeom>
          <a:gradFill xmlns:a="http://schemas.openxmlformats.org/drawingml/2006/main">
            <a:gsLst>
              <a:gs pos="0">
                <a:srgbClr val="69D4F4">
                  <a:alpha val="26274"/>
                </a:srgbClr>
              </a:gs>
              <a:gs pos="100000">
                <a:srgbClr val="9F39D5">
                  <a:alpha val="16862"/>
                </a:srgbClr>
              </a:gs>
            </a:gsLst>
            <a:lin ang="13500032" scaled="0"/>
          </a:gradFill>
          <a:ln xmlns:a="http://schemas.openxmlformats.org/drawingml/2006/main" w="19050" cmpd="sng">
            <a:solidFill>
              <a:srgbClr val="99999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Add &amp; Norm</a:t>
            </a:r>
          </a:p>
        </p:txBody>
      </p:sp>
      <p:cxnSp>
        <p:nvCxnSpPr>
          <p:cNvPr id="94" name="Google Shape;3270;p52"/>
          <p:cNvCxnSpPr>
            <a:stCxn xmlns:a="http://schemas.openxmlformats.org/drawingml/2006/main" id="10" idx="0"/>
            <a:endCxn xmlns:a="http://schemas.openxmlformats.org/drawingml/2006/main" id="23" idx="2"/>
          </p:cNvCxnSpPr>
          <p:nvPr/>
        </p:nvCxnSpPr>
        <p:spPr>
          <a:xfrm xmlns:a="http://schemas.openxmlformats.org/drawingml/2006/main" rot="10800000">
            <a:off x="5267536" y="3859892"/>
            <a:ext cx="0" cy="258000"/>
          </a:xfrm>
          <a:prstGeom xmlns:a="http://schemas.openxmlformats.org/drawingml/2006/main" prst="straightConnector1">
            <a:avLst/>
          </a:prstGeom>
          <a:ln xmlns:a="http://schemas.openxmlformats.org/drawingml/2006/main" w="9525" cap="flat">
            <a:solidFill>
              <a:schemeClr val="dk2"/>
            </a:solidFill>
            <a:prstDash val="solid"/>
            <a:round/>
            <a:headEnd type="none" w="med" len="med"/>
            <a:tailEnd type="triangle" w="med" len="med"/>
          </a:ln>
        </p:spPr>
      </p:cxnSp>
      <p:cxnSp>
        <p:nvCxnSpPr>
          <p:cNvPr id="95" name="Google Shape;3271;p52"/>
          <p:cNvCxnSpPr/>
          <p:nvPr/>
        </p:nvCxnSpPr>
        <p:spPr>
          <a:xfrm xmlns:a="http://schemas.openxmlformats.org/drawingml/2006/main" rot="5400000" flipH="1">
            <a:off x="4612586" y="3209592"/>
            <a:ext cx="552600" cy="757500"/>
          </a:xfrm>
          <a:prstGeom xmlns:a="http://schemas.openxmlformats.org/drawingml/2006/main" prst="bentConnector4">
            <a:avLst>
              <a:gd name="adj1" fmla="val -25502"/>
              <a:gd name="adj2" fmla="val 121752"/>
            </a:avLst>
          </a:prstGeom>
          <a:ln xmlns:a="http://schemas.openxmlformats.org/drawingml/2006/main" w="9525" cap="flat">
            <a:solidFill>
              <a:schemeClr val="dk2"/>
            </a:solidFill>
            <a:prstDash val="solid"/>
            <a:round/>
            <a:headEnd type="none" w="med" len="med"/>
            <a:tailEnd type="triangle" w="med" len="med"/>
          </a:ln>
        </p:spPr>
      </p:cxnSp>
      <p:sp>
        <p:nvSpPr>
          <p:cNvPr id="27" name="Google Shape;3272;p52">
            <a:extLst xmlns:a="http://schemas.openxmlformats.org/drawingml/2006/main">
              <a:ext uri="{FF2B5EF4-FFF2-40B4-BE49-F238E27FC236}">
                <a16:creationId xmlns:a16="http://schemas.microsoft.com/office/drawing/2014/main" id="{7AEFBC97-D9A0-4914-84B3-CA9A20F572BA}"/>
              </a:ext>
            </a:extLst>
          </p:cNvPr>
          <p:cNvSpPr>
            <a:spLocks xmlns:a="http://schemas.openxmlformats.org/drawingml/2006/main" noGrp="1"/>
          </p:cNvSpPr>
          <p:nvPr/>
        </p:nvSpPr>
        <p:spPr>
          <a:xfrm xmlns:a="http://schemas.openxmlformats.org/drawingml/2006/main" rot="0">
            <a:off x="6616136" y="4142742"/>
            <a:ext cx="1515000" cy="633900"/>
          </a:xfrm>
          <a:prstGeom xmlns:a="http://schemas.openxmlformats.org/drawingml/2006/main" prst="roundRect">
            <a:avLst>
              <a:gd name="adj" fmla="val 16667"/>
            </a:avLst>
          </a:prstGeom>
          <a:gradFill xmlns:a="http://schemas.openxmlformats.org/drawingml/2006/main">
            <a:gsLst>
              <a:gs pos="0">
                <a:srgbClr val="F7E9D4"/>
              </a:gs>
              <a:gs pos="100000">
                <a:srgbClr val="E6B94E"/>
              </a:gs>
            </a:gsLst>
            <a:lin ang="2700006" scaled="0"/>
          </a:gradFill>
          <a:ln xmlns:a="http://schemas.openxmlformats.org/drawingml/2006/main" w="19050" cmpd="sng">
            <a:solidFill>
              <a:srgbClr val="99999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Masked</a:t>
            </a:r>
          </a:p>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Multi-Head</a:t>
            </a:r>
          </a:p>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Attention</a:t>
            </a:r>
          </a:p>
        </p:txBody>
      </p:sp>
      <p:sp>
        <p:nvSpPr>
          <p:cNvPr id="28" name="Google Shape;3273;p52">
            <a:extLst xmlns:a="http://schemas.openxmlformats.org/drawingml/2006/main">
              <a:ext uri="{FF2B5EF4-FFF2-40B4-BE49-F238E27FC236}">
                <a16:creationId xmlns:a16="http://schemas.microsoft.com/office/drawing/2014/main" id="{533343D0-C586-40F1-B821-E1F04CD92DF6}"/>
              </a:ext>
            </a:extLst>
          </p:cNvPr>
          <p:cNvSpPr>
            <a:spLocks xmlns:a="http://schemas.openxmlformats.org/drawingml/2006/main" noGrp="1"/>
          </p:cNvSpPr>
          <p:nvPr/>
        </p:nvSpPr>
        <p:spPr>
          <a:xfrm xmlns:a="http://schemas.openxmlformats.org/drawingml/2006/main" rot="0">
            <a:off x="6616036" y="3877292"/>
            <a:ext cx="1515000" cy="196200"/>
          </a:xfrm>
          <a:prstGeom xmlns:a="http://schemas.openxmlformats.org/drawingml/2006/main" prst="roundRect">
            <a:avLst>
              <a:gd name="adj" fmla="val 28518"/>
            </a:avLst>
          </a:prstGeom>
          <a:gradFill xmlns:a="http://schemas.openxmlformats.org/drawingml/2006/main">
            <a:gsLst>
              <a:gs pos="0">
                <a:srgbClr val="69D4F4">
                  <a:alpha val="26274"/>
                </a:srgbClr>
              </a:gs>
              <a:gs pos="100000">
                <a:srgbClr val="9F39D5">
                  <a:alpha val="16862"/>
                </a:srgbClr>
              </a:gs>
            </a:gsLst>
            <a:lin ang="13500032" scaled="0"/>
          </a:gradFill>
          <a:ln xmlns:a="http://schemas.openxmlformats.org/drawingml/2006/main" w="19050" cmpd="sng">
            <a:solidFill>
              <a:srgbClr val="99999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Add &amp; Norm</a:t>
            </a:r>
          </a:p>
        </p:txBody>
      </p:sp>
      <p:cxnSp>
        <p:nvCxnSpPr>
          <p:cNvPr id="98" name="Google Shape;3274;p52"/>
          <p:cNvCxnSpPr>
            <a:stCxn xmlns:a="http://schemas.openxmlformats.org/drawingml/2006/main" id="27" idx="0"/>
            <a:endCxn xmlns:a="http://schemas.openxmlformats.org/drawingml/2006/main" id="28" idx="2"/>
          </p:cNvCxnSpPr>
          <p:nvPr/>
        </p:nvCxnSpPr>
        <p:spPr>
          <a:xfrm xmlns:a="http://schemas.openxmlformats.org/drawingml/2006/main" rot="10800000">
            <a:off x="7373636" y="4073442"/>
            <a:ext cx="0" cy="69300"/>
          </a:xfrm>
          <a:prstGeom xmlns:a="http://schemas.openxmlformats.org/drawingml/2006/main" prst="straightConnector1">
            <a:avLst/>
          </a:prstGeom>
          <a:ln xmlns:a="http://schemas.openxmlformats.org/drawingml/2006/main" w="9525" cap="flat">
            <a:solidFill>
              <a:srgbClr val="999999"/>
            </a:solidFill>
            <a:prstDash val="solid"/>
            <a:round/>
            <a:headEnd type="none" w="med" len="med"/>
            <a:tailEnd type="none" w="med" len="med"/>
          </a:ln>
        </p:spPr>
      </p:cxnSp>
      <p:sp>
        <p:nvSpPr>
          <p:cNvPr id="62" name="Google Shape;3276;p52">
            <a:extLst xmlns:a="http://schemas.openxmlformats.org/drawingml/2006/main">
              <a:ext uri="{FF2B5EF4-FFF2-40B4-BE49-F238E27FC236}">
                <a16:creationId xmlns:a16="http://schemas.microsoft.com/office/drawing/2014/main" id="{315B2C7B-AD60-4075-8085-A03A2C463D0F}"/>
              </a:ext>
            </a:extLst>
          </p:cNvPr>
          <p:cNvSpPr>
            <a:spLocks xmlns:a="http://schemas.openxmlformats.org/drawingml/2006/main" noGrp="1"/>
          </p:cNvSpPr>
          <p:nvPr/>
        </p:nvSpPr>
        <p:spPr>
          <a:xfrm xmlns:a="http://schemas.openxmlformats.org/drawingml/2006/main" rot="0" flipH="1">
            <a:off x="-8304001" y="5090931"/>
            <a:ext cx="424116" cy="385200"/>
          </a:xfrm>
          <a:prstGeom xmlns:a="http://schemas.openxmlformats.org/drawingml/2006/main" prst="ellipse">
            <a:avLst/>
          </a:prstGeom>
          <a:gradFill xmlns:a="http://schemas.openxmlformats.org/drawingml/2006/main">
            <a:gsLst>
              <a:gs pos="0">
                <a:srgbClr val="69D4F4">
                  <a:alpha val="26274"/>
                </a:srgbClr>
              </a:gs>
              <a:gs pos="100000">
                <a:srgbClr val="9F39D5">
                  <a:alpha val="16862"/>
                </a:srgbClr>
              </a:gs>
            </a:gsLst>
            <a:lin ang="13500032" scaled="0"/>
          </a:gradFill>
          <a:ln xmlns:a="http://schemas.openxmlformats.org/drawingml/2006/main" w="9525" cmpd="sng">
            <a:solidFill>
              <a:schemeClr val="dk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p>
        </p:txBody>
      </p:sp>
      <p:sp>
        <p:nvSpPr>
          <p:cNvPr id="63" name="Google Shape;3277;p52">
            <a:extLst xmlns:a="http://schemas.openxmlformats.org/drawingml/2006/main">
              <a:ext uri="{FF2B5EF4-FFF2-40B4-BE49-F238E27FC236}">
                <a16:creationId xmlns:a16="http://schemas.microsoft.com/office/drawing/2014/main" id="{D6A3980E-4187-45F6-974F-F290B0248F02}"/>
              </a:ext>
            </a:extLst>
          </p:cNvPr>
          <p:cNvSpPr>
            <a:spLocks xmlns:a="http://schemas.openxmlformats.org/drawingml/2006/main" noGrp="1"/>
          </p:cNvSpPr>
          <p:nvPr/>
        </p:nvSpPr>
        <p:spPr>
          <a:xfrm xmlns:a="http://schemas.openxmlformats.org/drawingml/2006/main" rot="0" flipH="1">
            <a:off x="-8312222" y="5203242"/>
            <a:ext cx="415980" cy="178980"/>
          </a:xfrm>
          <a:custGeom xmlns:a="http://schemas.openxmlformats.org/drawingml/2006/main">
            <a:rect l="l" t="t" r="r" b="b"/>
            <a:pathLst>
              <a:path w="20772" h="9028">
                <a:moveTo>
                  <a:pt x="0" y="3089"/>
                </a:moveTo>
                <a:cubicBezTo>
                  <a:pt x="1222" y="2614"/>
                  <a:pt x="4819" y="-712"/>
                  <a:pt x="7331" y="238"/>
                </a:cubicBezTo>
                <a:cubicBezTo>
                  <a:pt x="9843" y="1188"/>
                  <a:pt x="12830" y="7841"/>
                  <a:pt x="15070" y="8791"/>
                </a:cubicBezTo>
                <a:cubicBezTo>
                  <a:pt x="17310" y="9741"/>
                  <a:pt x="19822" y="6415"/>
                  <a:pt x="20772" y="5940"/>
                </a:cubicBezTo>
              </a:path>
            </a:pathLst>
          </a:custGeom>
          <a:noFill xmlns:a="http://schemas.openxmlformats.org/drawingml/2006/main"/>
          <a:ln xmlns:a="http://schemas.openxmlformats.org/drawingml/2006/main" w="9525" cmpd="sng">
            <a:solidFill>
              <a:schemeClr val="dk2"/>
            </a:solidFill>
            <a:prstDash val="solid"/>
            <a:headEnd type="none" w="med" len="med"/>
            <a:tailEnd type="none" w="med" len="med"/>
          </a:ln>
        </p:spPr>
        <p:txBody>
          <a:bodyPr xmlns:a="http://schemas.openxmlformats.org/drawingml/2006/main"/>
          <a:lstStyle xmlns:a="http://schemas.openxmlformats.org/drawingml/2006/main"/>
          <a:p xmlns:a="http://schemas.openxmlformats.org/drawingml/2006/main"/>
        </p:txBody>
      </p:sp>
      <p:cxnSp>
        <p:nvCxnSpPr>
          <p:cNvPr id="101" name="Google Shape;3278;p52"/>
          <p:cNvCxnSpPr/>
          <p:nvPr/>
        </p:nvCxnSpPr>
        <p:spPr>
          <a:xfrm xmlns:a="http://schemas.openxmlformats.org/drawingml/2006/main" rot="10800000" flipH="1">
            <a:off x="7373586" y="5419317"/>
            <a:ext cx="6300" cy="188100"/>
          </a:xfrm>
          <a:prstGeom xmlns:a="http://schemas.openxmlformats.org/drawingml/2006/main" prst="straightConnector1">
            <a:avLst/>
          </a:prstGeom>
          <a:ln xmlns:a="http://schemas.openxmlformats.org/drawingml/2006/main" w="9525" cap="flat">
            <a:solidFill>
              <a:schemeClr val="dk2"/>
            </a:solidFill>
            <a:prstDash val="solid"/>
            <a:round/>
            <a:headEnd type="none" w="med" len="med"/>
            <a:tailEnd type="triangle" w="med" len="med"/>
          </a:ln>
        </p:spPr>
      </p:cxnSp>
      <p:cxnSp>
        <p:nvCxnSpPr>
          <p:cNvPr id="102" name="Google Shape;3279;p52"/>
          <p:cNvCxnSpPr>
            <a:stCxn xmlns:a="http://schemas.openxmlformats.org/drawingml/2006/main" id="62" idx="6"/>
            <a:endCxn xmlns:a="http://schemas.openxmlformats.org/drawingml/2006/main" id="57" idx="2"/>
          </p:cNvCxnSpPr>
          <p:nvPr/>
        </p:nvCxnSpPr>
        <p:spPr>
          <a:xfrm xmlns:a="http://schemas.openxmlformats.org/drawingml/2006/main" rot="10800000">
            <a:off x="7506891" y="5283531"/>
            <a:ext cx="207900" cy="0"/>
          </a:xfrm>
          <a:prstGeom xmlns:a="http://schemas.openxmlformats.org/drawingml/2006/main" prst="straightConnector1">
            <a:avLst/>
          </a:prstGeom>
          <a:ln xmlns:a="http://schemas.openxmlformats.org/drawingml/2006/main" w="9525" cap="flat">
            <a:solidFill>
              <a:schemeClr val="dk2"/>
            </a:solidFill>
            <a:prstDash val="solid"/>
            <a:round/>
            <a:headEnd type="none" w="med" len="med"/>
            <a:tailEnd type="none" w="med" len="med"/>
          </a:ln>
        </p:spPr>
      </p:cxnSp>
      <p:cxnSp>
        <p:nvCxnSpPr>
          <p:cNvPr id="103" name="Google Shape;3281;p52"/>
          <p:cNvCxnSpPr>
            <a:stCxn xmlns:a="http://schemas.openxmlformats.org/drawingml/2006/main" id="57" idx="0"/>
          </p:cNvCxnSpPr>
          <p:nvPr/>
        </p:nvCxnSpPr>
        <p:spPr>
          <a:xfrm xmlns:a="http://schemas.openxmlformats.org/drawingml/2006/main" rot="10800000" flipH="1">
            <a:off x="7373541" y="4791081"/>
            <a:ext cx="3300" cy="363300"/>
          </a:xfrm>
          <a:prstGeom xmlns:a="http://schemas.openxmlformats.org/drawingml/2006/main" prst="straightConnector1">
            <a:avLst/>
          </a:prstGeom>
          <a:ln xmlns:a="http://schemas.openxmlformats.org/drawingml/2006/main" w="9525" cap="flat">
            <a:solidFill>
              <a:schemeClr val="dk2"/>
            </a:solidFill>
            <a:prstDash val="solid"/>
            <a:round/>
            <a:headEnd type="none" w="med" len="med"/>
            <a:tailEnd type="triangle" w="med" len="med"/>
          </a:ln>
        </p:spPr>
      </p:cxnSp>
      <p:cxnSp>
        <p:nvCxnSpPr>
          <p:cNvPr id="104" name="Google Shape;3282;p52"/>
          <p:cNvCxnSpPr>
            <a:stCxn xmlns:a="http://schemas.openxmlformats.org/drawingml/2006/main" id="7" idx="2"/>
            <a:endCxn xmlns:a="http://schemas.openxmlformats.org/drawingml/2006/main" id="28" idx="3"/>
          </p:cNvCxnSpPr>
          <p:nvPr/>
        </p:nvCxnSpPr>
        <p:spPr>
          <a:xfrm xmlns:a="http://schemas.openxmlformats.org/drawingml/2006/main" rot="-5400000">
            <a:off x="7217236" y="4131692"/>
            <a:ext cx="1070100" cy="757500"/>
          </a:xfrm>
          <a:prstGeom xmlns:a="http://schemas.openxmlformats.org/drawingml/2006/main" prst="bentConnector4">
            <a:avLst>
              <a:gd name="adj1" fmla="val 9329"/>
              <a:gd name="adj2" fmla="val 119119"/>
            </a:avLst>
          </a:prstGeom>
          <a:ln xmlns:a="http://schemas.openxmlformats.org/drawingml/2006/main" w="9525" cap="flat">
            <a:solidFill>
              <a:schemeClr val="dk2"/>
            </a:solidFill>
            <a:prstDash val="solid"/>
            <a:round/>
            <a:headEnd type="none" w="med" len="med"/>
            <a:tailEnd type="triangle" w="med" len="med"/>
          </a:ln>
        </p:spPr>
      </p:cxnSp>
      <p:sp>
        <p:nvSpPr>
          <p:cNvPr id="35" name="Google Shape;3283;p52">
            <a:extLst xmlns:a="http://schemas.openxmlformats.org/drawingml/2006/main">
              <a:ext uri="{FF2B5EF4-FFF2-40B4-BE49-F238E27FC236}">
                <a16:creationId xmlns:a16="http://schemas.microsoft.com/office/drawing/2014/main" id="{5AFB6764-067A-43EF-B337-E960A2C917E2}"/>
              </a:ext>
            </a:extLst>
          </p:cNvPr>
          <p:cNvSpPr>
            <a:spLocks xmlns:a="http://schemas.openxmlformats.org/drawingml/2006/main" noGrp="1"/>
          </p:cNvSpPr>
          <p:nvPr/>
        </p:nvSpPr>
        <p:spPr>
          <a:xfrm xmlns:a="http://schemas.openxmlformats.org/drawingml/2006/main" rot="0">
            <a:off x="6619286" y="3290842"/>
            <a:ext cx="1515000" cy="385200"/>
          </a:xfrm>
          <a:prstGeom xmlns:a="http://schemas.openxmlformats.org/drawingml/2006/main" prst="roundRect">
            <a:avLst>
              <a:gd name="adj" fmla="val 16667"/>
            </a:avLst>
          </a:prstGeom>
          <a:gradFill xmlns:a="http://schemas.openxmlformats.org/drawingml/2006/main">
            <a:gsLst>
              <a:gs pos="0">
                <a:srgbClr val="F7E9D4"/>
              </a:gs>
              <a:gs pos="100000">
                <a:srgbClr val="E6B94E"/>
              </a:gs>
            </a:gsLst>
            <a:lin ang="2700006" scaled="0"/>
          </a:gradFill>
          <a:ln xmlns:a="http://schemas.openxmlformats.org/drawingml/2006/main" w="19050" cmpd="sng">
            <a:solidFill>
              <a:srgbClr val="99999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Multi-Head</a:t>
            </a:r>
          </a:p>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Attention</a:t>
            </a:r>
          </a:p>
        </p:txBody>
      </p:sp>
      <p:sp>
        <p:nvSpPr>
          <p:cNvPr id="36" name="Google Shape;3284;p52">
            <a:extLst xmlns:a="http://schemas.openxmlformats.org/drawingml/2006/main">
              <a:ext uri="{FF2B5EF4-FFF2-40B4-BE49-F238E27FC236}">
                <a16:creationId xmlns:a16="http://schemas.microsoft.com/office/drawing/2014/main" id="{1CE35FDA-EF81-4A30-AED9-17AA32B5ED2B}"/>
              </a:ext>
            </a:extLst>
          </p:cNvPr>
          <p:cNvSpPr>
            <a:spLocks xmlns:a="http://schemas.openxmlformats.org/drawingml/2006/main" noGrp="1"/>
          </p:cNvSpPr>
          <p:nvPr/>
        </p:nvSpPr>
        <p:spPr>
          <a:xfrm xmlns:a="http://schemas.openxmlformats.org/drawingml/2006/main" rot="0">
            <a:off x="6619186" y="3025392"/>
            <a:ext cx="1515000" cy="196200"/>
          </a:xfrm>
          <a:prstGeom xmlns:a="http://schemas.openxmlformats.org/drawingml/2006/main" prst="roundRect">
            <a:avLst>
              <a:gd name="adj" fmla="val 28518"/>
            </a:avLst>
          </a:prstGeom>
          <a:gradFill xmlns:a="http://schemas.openxmlformats.org/drawingml/2006/main">
            <a:gsLst>
              <a:gs pos="0">
                <a:srgbClr val="69D4F4">
                  <a:alpha val="26274"/>
                </a:srgbClr>
              </a:gs>
              <a:gs pos="100000">
                <a:srgbClr val="9F39D5">
                  <a:alpha val="16862"/>
                </a:srgbClr>
              </a:gs>
            </a:gsLst>
            <a:lin ang="13500032" scaled="0"/>
          </a:gradFill>
          <a:ln xmlns:a="http://schemas.openxmlformats.org/drawingml/2006/main" w="19050" cmpd="sng">
            <a:solidFill>
              <a:srgbClr val="99999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Add &amp; Norm</a:t>
            </a:r>
          </a:p>
        </p:txBody>
      </p:sp>
      <p:cxnSp>
        <p:nvCxnSpPr>
          <p:cNvPr id="107" name="Google Shape;3285;p52"/>
          <p:cNvCxnSpPr>
            <a:stCxn xmlns:a="http://schemas.openxmlformats.org/drawingml/2006/main" id="35" idx="0"/>
            <a:endCxn xmlns:a="http://schemas.openxmlformats.org/drawingml/2006/main" id="36" idx="2"/>
          </p:cNvCxnSpPr>
          <p:nvPr/>
        </p:nvCxnSpPr>
        <p:spPr>
          <a:xfrm xmlns:a="http://schemas.openxmlformats.org/drawingml/2006/main" rot="10800000">
            <a:off x="7376786" y="3221542"/>
            <a:ext cx="0" cy="69300"/>
          </a:xfrm>
          <a:prstGeom xmlns:a="http://schemas.openxmlformats.org/drawingml/2006/main" prst="straightConnector1">
            <a:avLst/>
          </a:prstGeom>
          <a:ln xmlns:a="http://schemas.openxmlformats.org/drawingml/2006/main" w="9525" cap="flat">
            <a:solidFill>
              <a:srgbClr val="999999"/>
            </a:solidFill>
            <a:prstDash val="solid"/>
            <a:round/>
            <a:headEnd type="none" w="med" len="med"/>
            <a:tailEnd type="none" w="med" len="med"/>
          </a:ln>
        </p:spPr>
      </p:cxnSp>
      <p:sp>
        <p:nvSpPr>
          <p:cNvPr id="38" name="Google Shape;3286;p52">
            <a:extLst xmlns:a="http://schemas.openxmlformats.org/drawingml/2006/main">
              <a:ext uri="{FF2B5EF4-FFF2-40B4-BE49-F238E27FC236}">
                <a16:creationId xmlns:a16="http://schemas.microsoft.com/office/drawing/2014/main" id="{22B1FC35-7E7C-49EF-B9D8-4046FF091756}"/>
              </a:ext>
            </a:extLst>
          </p:cNvPr>
          <p:cNvSpPr>
            <a:spLocks xmlns:a="http://schemas.openxmlformats.org/drawingml/2006/main" noGrp="1"/>
          </p:cNvSpPr>
          <p:nvPr/>
        </p:nvSpPr>
        <p:spPr>
          <a:xfrm xmlns:a="http://schemas.openxmlformats.org/drawingml/2006/main" rot="0">
            <a:off x="6619336" y="2438942"/>
            <a:ext cx="1515000" cy="385200"/>
          </a:xfrm>
          <a:prstGeom xmlns:a="http://schemas.openxmlformats.org/drawingml/2006/main" prst="roundRect">
            <a:avLst>
              <a:gd name="adj" fmla="val 16667"/>
            </a:avLst>
          </a:prstGeom>
          <a:gradFill xmlns:a="http://schemas.openxmlformats.org/drawingml/2006/main">
            <a:gsLst>
              <a:gs pos="0">
                <a:srgbClr val="00FFFF"/>
              </a:gs>
              <a:gs pos="100000">
                <a:srgbClr val="B0DAF1"/>
              </a:gs>
            </a:gsLst>
            <a:lin ang="0" scaled="0"/>
          </a:gradFill>
          <a:ln xmlns:a="http://schemas.openxmlformats.org/drawingml/2006/main" w="19050" cmpd="sng">
            <a:solidFill>
              <a:srgbClr val="99999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Feed</a:t>
            </a:r>
          </a:p>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Forward</a:t>
            </a:r>
          </a:p>
        </p:txBody>
      </p:sp>
      <p:sp>
        <p:nvSpPr>
          <p:cNvPr id="39" name="Google Shape;3287;p52">
            <a:extLst xmlns:a="http://schemas.openxmlformats.org/drawingml/2006/main">
              <a:ext uri="{FF2B5EF4-FFF2-40B4-BE49-F238E27FC236}">
                <a16:creationId xmlns:a16="http://schemas.microsoft.com/office/drawing/2014/main" id="{91E191DA-9DC3-4484-BFBE-5B5F238FBBB6}"/>
              </a:ext>
            </a:extLst>
          </p:cNvPr>
          <p:cNvSpPr>
            <a:spLocks xmlns:a="http://schemas.openxmlformats.org/drawingml/2006/main" noGrp="1"/>
          </p:cNvSpPr>
          <p:nvPr/>
        </p:nvSpPr>
        <p:spPr>
          <a:xfrm xmlns:a="http://schemas.openxmlformats.org/drawingml/2006/main" rot="0">
            <a:off x="6619236" y="2173492"/>
            <a:ext cx="1515000" cy="196200"/>
          </a:xfrm>
          <a:prstGeom xmlns:a="http://schemas.openxmlformats.org/drawingml/2006/main" prst="roundRect">
            <a:avLst>
              <a:gd name="adj" fmla="val 28518"/>
            </a:avLst>
          </a:prstGeom>
          <a:gradFill xmlns:a="http://schemas.openxmlformats.org/drawingml/2006/main">
            <a:gsLst>
              <a:gs pos="0">
                <a:srgbClr val="69D4F4">
                  <a:alpha val="26274"/>
                </a:srgbClr>
              </a:gs>
              <a:gs pos="100000">
                <a:srgbClr val="9F39D5">
                  <a:alpha val="16862"/>
                </a:srgbClr>
              </a:gs>
            </a:gsLst>
            <a:lin ang="13500032" scaled="0"/>
          </a:gradFill>
          <a:ln xmlns:a="http://schemas.openxmlformats.org/drawingml/2006/main" w="19050" cmpd="sng">
            <a:solidFill>
              <a:srgbClr val="99999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Add &amp; Norm</a:t>
            </a:r>
          </a:p>
        </p:txBody>
      </p:sp>
      <p:cxnSp>
        <p:nvCxnSpPr>
          <p:cNvPr id="110" name="Google Shape;3288;p52"/>
          <p:cNvCxnSpPr>
            <a:stCxn xmlns:a="http://schemas.openxmlformats.org/drawingml/2006/main" id="38" idx="0"/>
            <a:endCxn xmlns:a="http://schemas.openxmlformats.org/drawingml/2006/main" id="39" idx="2"/>
          </p:cNvCxnSpPr>
          <p:nvPr/>
        </p:nvCxnSpPr>
        <p:spPr>
          <a:xfrm xmlns:a="http://schemas.openxmlformats.org/drawingml/2006/main" rot="10800000">
            <a:off x="7376836" y="2369642"/>
            <a:ext cx="0" cy="69300"/>
          </a:xfrm>
          <a:prstGeom xmlns:a="http://schemas.openxmlformats.org/drawingml/2006/main" prst="straightConnector1">
            <a:avLst/>
          </a:prstGeom>
          <a:ln xmlns:a="http://schemas.openxmlformats.org/drawingml/2006/main" w="9525" cap="flat">
            <a:solidFill>
              <a:srgbClr val="999999"/>
            </a:solidFill>
            <a:prstDash val="solid"/>
            <a:round/>
            <a:headEnd type="none" w="med" len="med"/>
            <a:tailEnd type="none" w="med" len="med"/>
          </a:ln>
        </p:spPr>
      </p:cxnSp>
      <p:sp>
        <p:nvSpPr>
          <p:cNvPr id="41" name="Google Shape;3289;p52">
            <a:extLst xmlns:a="http://schemas.openxmlformats.org/drawingml/2006/main">
              <a:ext uri="{FF2B5EF4-FFF2-40B4-BE49-F238E27FC236}">
                <a16:creationId xmlns:a16="http://schemas.microsoft.com/office/drawing/2014/main" id="{F685FB79-1C3F-490D-B71B-441D6E305143}"/>
              </a:ext>
            </a:extLst>
          </p:cNvPr>
          <p:cNvSpPr>
            <a:spLocks xmlns:a="http://schemas.openxmlformats.org/drawingml/2006/main" noGrp="1"/>
          </p:cNvSpPr>
          <p:nvPr/>
        </p:nvSpPr>
        <p:spPr>
          <a:xfrm xmlns:a="http://schemas.openxmlformats.org/drawingml/2006/main" rot="0">
            <a:off x="6619336" y="1798142"/>
            <a:ext cx="1515000" cy="196200"/>
          </a:xfrm>
          <a:prstGeom xmlns:a="http://schemas.openxmlformats.org/drawingml/2006/main" prst="roundRect">
            <a:avLst>
              <a:gd name="adj" fmla="val 28518"/>
            </a:avLst>
          </a:prstGeom>
          <a:gradFill xmlns:a="http://schemas.openxmlformats.org/drawingml/2006/main">
            <a:gsLst>
              <a:gs pos="0">
                <a:srgbClr val="DE87F1">
                  <a:alpha val="39607"/>
                </a:srgbClr>
              </a:gs>
              <a:gs pos="100000">
                <a:srgbClr val="F1DD87"/>
              </a:gs>
            </a:gsLst>
            <a:lin ang="13500032" scaled="0"/>
          </a:gradFill>
          <a:ln xmlns:a="http://schemas.openxmlformats.org/drawingml/2006/main" w="19050" cmpd="sng">
            <a:solidFill>
              <a:srgbClr val="99999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Linear</a:t>
            </a:r>
          </a:p>
        </p:txBody>
      </p:sp>
      <p:sp>
        <p:nvSpPr>
          <p:cNvPr id="42" name="Google Shape;3290;p52">
            <a:extLst xmlns:a="http://schemas.openxmlformats.org/drawingml/2006/main">
              <a:ext uri="{FF2B5EF4-FFF2-40B4-BE49-F238E27FC236}">
                <a16:creationId xmlns:a16="http://schemas.microsoft.com/office/drawing/2014/main" id="{5A49A59D-7554-43E3-BF29-DA3CC67378A0}"/>
              </a:ext>
            </a:extLst>
          </p:cNvPr>
          <p:cNvSpPr>
            <a:spLocks xmlns:a="http://schemas.openxmlformats.org/drawingml/2006/main" noGrp="1"/>
          </p:cNvSpPr>
          <p:nvPr/>
        </p:nvSpPr>
        <p:spPr>
          <a:xfrm xmlns:a="http://schemas.openxmlformats.org/drawingml/2006/main" rot="0">
            <a:off x="6616036" y="1440992"/>
            <a:ext cx="1515000" cy="196200"/>
          </a:xfrm>
          <a:prstGeom xmlns:a="http://schemas.openxmlformats.org/drawingml/2006/main" prst="roundRect">
            <a:avLst>
              <a:gd name="adj" fmla="val 28518"/>
            </a:avLst>
          </a:prstGeom>
          <a:gradFill xmlns:a="http://schemas.openxmlformats.org/drawingml/2006/main">
            <a:gsLst>
              <a:gs pos="0">
                <a:srgbClr val="E0EDBA">
                  <a:alpha val="70980"/>
                </a:srgbClr>
              </a:gs>
              <a:gs pos="100000">
                <a:srgbClr val="B6D7A8"/>
              </a:gs>
            </a:gsLst>
            <a:lin ang="13500032" scaled="0"/>
          </a:gradFill>
          <a:ln xmlns:a="http://schemas.openxmlformats.org/drawingml/2006/main" w="19050" cmpd="sng">
            <a:solidFill>
              <a:srgbClr val="99999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100">
                <a:solidFill>
                  <a:srgbClr val="666666"/>
                </a:solidFill>
                <a:latin typeface="微软雅黑"/>
                <a:ea typeface="微软雅黑"/>
                <a:cs typeface="微软雅黑"/>
              </a:rPr>
              <a:t>Softmax</a:t>
            </a:r>
          </a:p>
        </p:txBody>
      </p:sp>
      <p:cxnSp>
        <p:nvCxnSpPr>
          <p:cNvPr id="113" name="Google Shape;3291;p52"/>
          <p:cNvCxnSpPr>
            <a:stCxn xmlns:a="http://schemas.openxmlformats.org/drawingml/2006/main" id="28" idx="0"/>
            <a:endCxn xmlns:a="http://schemas.openxmlformats.org/drawingml/2006/main" id="35" idx="2"/>
          </p:cNvCxnSpPr>
          <p:nvPr/>
        </p:nvCxnSpPr>
        <p:spPr>
          <a:xfrm xmlns:a="http://schemas.openxmlformats.org/drawingml/2006/main" rot="10800000" flipH="1">
            <a:off x="7373536" y="3675992"/>
            <a:ext cx="3300" cy="201300"/>
          </a:xfrm>
          <a:prstGeom xmlns:a="http://schemas.openxmlformats.org/drawingml/2006/main" prst="straightConnector1">
            <a:avLst/>
          </a:prstGeom>
          <a:ln xmlns:a="http://schemas.openxmlformats.org/drawingml/2006/main" w="9525" cap="flat">
            <a:solidFill>
              <a:schemeClr val="dk2"/>
            </a:solidFill>
            <a:prstDash val="solid"/>
            <a:round/>
            <a:headEnd type="none" w="med" len="med"/>
            <a:tailEnd type="triangle" w="med" len="med"/>
          </a:ln>
        </p:spPr>
      </p:cxnSp>
      <p:cxnSp>
        <p:nvCxnSpPr>
          <p:cNvPr id="114" name="Google Shape;3292;p52"/>
          <p:cNvCxnSpPr>
            <a:stCxn xmlns:a="http://schemas.openxmlformats.org/drawingml/2006/main" id="36" idx="0"/>
            <a:endCxn xmlns:a="http://schemas.openxmlformats.org/drawingml/2006/main" id="38" idx="2"/>
          </p:cNvCxnSpPr>
          <p:nvPr/>
        </p:nvCxnSpPr>
        <p:spPr>
          <a:xfrm xmlns:a="http://schemas.openxmlformats.org/drawingml/2006/main" rot="10800000" flipH="1">
            <a:off x="7376686" y="2824092"/>
            <a:ext cx="300" cy="201300"/>
          </a:xfrm>
          <a:prstGeom xmlns:a="http://schemas.openxmlformats.org/drawingml/2006/main" prst="straightConnector1">
            <a:avLst/>
          </a:prstGeom>
          <a:ln xmlns:a="http://schemas.openxmlformats.org/drawingml/2006/main" w="9525" cap="flat">
            <a:solidFill>
              <a:schemeClr val="dk2"/>
            </a:solidFill>
            <a:prstDash val="solid"/>
            <a:round/>
            <a:headEnd type="none" w="med" len="med"/>
            <a:tailEnd type="triangle" w="med" len="med"/>
          </a:ln>
        </p:spPr>
      </p:cxnSp>
      <p:cxnSp>
        <p:nvCxnSpPr>
          <p:cNvPr id="115" name="Google Shape;3293;p52"/>
          <p:cNvCxnSpPr>
            <a:stCxn xmlns:a="http://schemas.openxmlformats.org/drawingml/2006/main" id="36" idx="0"/>
            <a:endCxn xmlns:a="http://schemas.openxmlformats.org/drawingml/2006/main" id="39" idx="3"/>
          </p:cNvCxnSpPr>
          <p:nvPr/>
        </p:nvCxnSpPr>
        <p:spPr>
          <a:xfrm xmlns:a="http://schemas.openxmlformats.org/drawingml/2006/main" rot="-5400000">
            <a:off x="7378486" y="2269692"/>
            <a:ext cx="753900" cy="757500"/>
          </a:xfrm>
          <a:prstGeom xmlns:a="http://schemas.openxmlformats.org/drawingml/2006/main" prst="bentConnector4">
            <a:avLst>
              <a:gd name="adj1" fmla="val 8668"/>
              <a:gd name="adj2" fmla="val 121389"/>
            </a:avLst>
          </a:prstGeom>
          <a:ln xmlns:a="http://schemas.openxmlformats.org/drawingml/2006/main" w="9525" cap="flat">
            <a:solidFill>
              <a:schemeClr val="dk2"/>
            </a:solidFill>
            <a:prstDash val="solid"/>
            <a:round/>
            <a:headEnd type="none" w="med" len="med"/>
            <a:tailEnd type="triangle" w="med" len="med"/>
          </a:ln>
        </p:spPr>
      </p:cxnSp>
      <p:cxnSp>
        <p:nvCxnSpPr>
          <p:cNvPr id="116" name="Google Shape;3294;p52"/>
          <p:cNvCxnSpPr>
            <a:stCxn xmlns:a="http://schemas.openxmlformats.org/drawingml/2006/main" id="39" idx="0"/>
            <a:endCxn xmlns:a="http://schemas.openxmlformats.org/drawingml/2006/main" id="41" idx="2"/>
          </p:cNvCxnSpPr>
          <p:nvPr/>
        </p:nvCxnSpPr>
        <p:spPr>
          <a:xfrm xmlns:a="http://schemas.openxmlformats.org/drawingml/2006/main" rot="10800000">
            <a:off x="7376736" y="1994392"/>
            <a:ext cx="0" cy="179100"/>
          </a:xfrm>
          <a:prstGeom xmlns:a="http://schemas.openxmlformats.org/drawingml/2006/main" prst="straightConnector1">
            <a:avLst/>
          </a:prstGeom>
          <a:ln xmlns:a="http://schemas.openxmlformats.org/drawingml/2006/main" w="9525" cap="flat">
            <a:solidFill>
              <a:schemeClr val="dk2"/>
            </a:solidFill>
            <a:prstDash val="solid"/>
            <a:round/>
            <a:headEnd type="none" w="med" len="med"/>
            <a:tailEnd type="triangle" w="med" len="med"/>
          </a:ln>
        </p:spPr>
      </p:cxnSp>
      <p:cxnSp>
        <p:nvCxnSpPr>
          <p:cNvPr id="117" name="Google Shape;3295;p52"/>
          <p:cNvCxnSpPr/>
          <p:nvPr/>
        </p:nvCxnSpPr>
        <p:spPr>
          <a:xfrm xmlns:a="http://schemas.openxmlformats.org/drawingml/2006/main" rot="10800000">
            <a:off x="7373536" y="1614367"/>
            <a:ext cx="0" cy="179100"/>
          </a:xfrm>
          <a:prstGeom xmlns:a="http://schemas.openxmlformats.org/drawingml/2006/main" prst="straightConnector1">
            <a:avLst/>
          </a:prstGeom>
          <a:ln xmlns:a="http://schemas.openxmlformats.org/drawingml/2006/main" w="9525" cap="flat">
            <a:solidFill>
              <a:schemeClr val="dk2"/>
            </a:solidFill>
            <a:prstDash val="solid"/>
            <a:round/>
            <a:headEnd type="none" w="med" len="med"/>
            <a:tailEnd type="triangle" w="med" len="med"/>
          </a:ln>
        </p:spPr>
      </p:cxnSp>
      <p:cxnSp>
        <p:nvCxnSpPr>
          <p:cNvPr id="118" name="Google Shape;3296;p52"/>
          <p:cNvCxnSpPr/>
          <p:nvPr/>
        </p:nvCxnSpPr>
        <p:spPr>
          <a:xfrm xmlns:a="http://schemas.openxmlformats.org/drawingml/2006/main" rot="10800000">
            <a:off x="5267636" y="3405342"/>
            <a:ext cx="0" cy="69300"/>
          </a:xfrm>
          <a:prstGeom xmlns:a="http://schemas.openxmlformats.org/drawingml/2006/main" prst="straightConnector1">
            <a:avLst/>
          </a:prstGeom>
          <a:ln xmlns:a="http://schemas.openxmlformats.org/drawingml/2006/main" w="9525" cap="flat">
            <a:solidFill>
              <a:srgbClr val="999999"/>
            </a:solidFill>
            <a:prstDash val="solid"/>
            <a:round/>
            <a:headEnd type="none" w="med" len="med"/>
            <a:tailEnd type="none" w="med" len="med"/>
          </a:ln>
        </p:spPr>
      </p:cxnSp>
      <p:cxnSp>
        <p:nvCxnSpPr>
          <p:cNvPr id="119" name="Google Shape;3299;p52"/>
          <p:cNvCxnSpPr>
            <a:stCxn xmlns:a="http://schemas.openxmlformats.org/drawingml/2006/main" id="24" idx="0"/>
          </p:cNvCxnSpPr>
          <p:nvPr/>
        </p:nvCxnSpPr>
        <p:spPr>
          <a:xfrm xmlns:a="http://schemas.openxmlformats.org/drawingml/2006/main" rot="16200000" flipH="1">
            <a:off x="5883086" y="2593542"/>
            <a:ext cx="601200" cy="1832400"/>
          </a:xfrm>
          <a:prstGeom xmlns:a="http://schemas.openxmlformats.org/drawingml/2006/main" prst="bentConnector4">
            <a:avLst>
              <a:gd name="adj1" fmla="val -39608"/>
              <a:gd name="adj2" fmla="val 70670"/>
            </a:avLst>
          </a:prstGeom>
          <a:ln xmlns:a="http://schemas.openxmlformats.org/drawingml/2006/main" w="9525" cap="flat">
            <a:solidFill>
              <a:schemeClr val="dk2"/>
            </a:solidFill>
            <a:prstDash val="solid"/>
            <a:round/>
            <a:headEnd type="none" w="med" len="med"/>
            <a:tailEnd type="none" w="med" len="med"/>
          </a:ln>
        </p:spPr>
      </p:cxnSp>
      <p:cxnSp>
        <p:nvCxnSpPr>
          <p:cNvPr id="120" name="Google Shape;3300;p52"/>
          <p:cNvCxnSpPr/>
          <p:nvPr/>
        </p:nvCxnSpPr>
        <p:spPr>
          <a:xfrm xmlns:a="http://schemas.openxmlformats.org/drawingml/2006/main" rot="10800000" flipH="1">
            <a:off x="7094661" y="3675892"/>
            <a:ext cx="3300" cy="134400"/>
          </a:xfrm>
          <a:prstGeom xmlns:a="http://schemas.openxmlformats.org/drawingml/2006/main" prst="straightConnector1">
            <a:avLst/>
          </a:prstGeom>
          <a:ln xmlns:a="http://schemas.openxmlformats.org/drawingml/2006/main" w="9525" cap="flat">
            <a:solidFill>
              <a:schemeClr val="dk2"/>
            </a:solidFill>
            <a:prstDash val="solid"/>
            <a:round/>
            <a:headEnd type="none" w="med" len="med"/>
            <a:tailEnd type="triangle" w="med" len="med"/>
          </a:ln>
        </p:spPr>
      </p:cxnSp>
      <p:cxnSp>
        <p:nvCxnSpPr>
          <p:cNvPr id="121" name="Google Shape;3301;p52"/>
          <p:cNvCxnSpPr/>
          <p:nvPr/>
        </p:nvCxnSpPr>
        <p:spPr>
          <a:xfrm xmlns:a="http://schemas.openxmlformats.org/drawingml/2006/main" rot="10800000" flipH="1">
            <a:off x="6855036" y="3673642"/>
            <a:ext cx="3300" cy="134400"/>
          </a:xfrm>
          <a:prstGeom xmlns:a="http://schemas.openxmlformats.org/drawingml/2006/main" prst="straightConnector1">
            <a:avLst/>
          </a:prstGeom>
          <a:ln xmlns:a="http://schemas.openxmlformats.org/drawingml/2006/main" w="9525" cap="flat">
            <a:solidFill>
              <a:schemeClr val="dk2"/>
            </a:solidFill>
            <a:prstDash val="solid"/>
            <a:round/>
            <a:headEnd type="none" w="med" len="med"/>
            <a:tailEnd type="triangle" w="med" len="med"/>
          </a:ln>
        </p:spPr>
      </p:cxnSp>
      <p:cxnSp>
        <p:nvCxnSpPr>
          <p:cNvPr id="122" name="Google Shape;3302;p52"/>
          <p:cNvCxnSpPr>
            <a:endCxn xmlns:a="http://schemas.openxmlformats.org/drawingml/2006/main" id="36" idx="3"/>
          </p:cNvCxnSpPr>
          <p:nvPr/>
        </p:nvCxnSpPr>
        <p:spPr>
          <a:xfrm xmlns:a="http://schemas.openxmlformats.org/drawingml/2006/main" rot="10800000" flipH="1">
            <a:off x="7374886" y="3123492"/>
            <a:ext cx="759300" cy="666600"/>
          </a:xfrm>
          <a:prstGeom xmlns:a="http://schemas.openxmlformats.org/drawingml/2006/main" prst="bentConnector3">
            <a:avLst>
              <a:gd name="adj1" fmla="val 120670"/>
            </a:avLst>
          </a:prstGeom>
          <a:ln xmlns:a="http://schemas.openxmlformats.org/drawingml/2006/main" w="9525" cap="flat">
            <a:solidFill>
              <a:schemeClr val="dk2"/>
            </a:solidFill>
            <a:prstDash val="solid"/>
            <a:round/>
            <a:headEnd type="none" w="med" len="med"/>
            <a:tailEnd type="triangle" w="med" len="med"/>
          </a:ln>
        </p:spPr>
      </p:cxnSp>
      <p:pic>
        <p:nvPicPr>
          <p:cNvPr id="123" name="Google Shape;3304;p52"/>
          <p:cNvPicPr>
            <a:picLocks xmlns:a="http://schemas.openxmlformats.org/drawingml/2006/main" noChangeAspect="1"/>
          </p:cNvPicPr>
          <p:nvPr/>
        </p:nvPicPr>
        <p:blipFill>
          <a:blip xmlns:r="http://schemas.openxmlformats.org/officeDocument/2006/relationships" xmlns:a="http://schemas.openxmlformats.org/drawingml/2006/main" r:embed="Rb18483995b8541b0"/>
          <a:stretch xmlns:a="http://schemas.openxmlformats.org/drawingml/2006/main">
            <a:fillRect l="0" t="0" r="0" b="0"/>
          </a:stretch>
        </p:blipFill>
        <p:spPr>
          <a:xfrm xmlns:a="http://schemas.openxmlformats.org/drawingml/2006/main" rot="0" flipH="1" flipV="0">
            <a:off x="2259954" y="5182444"/>
            <a:ext cx="192774" cy="202107"/>
          </a:xfrm>
          <a:prstGeom xmlns:a="http://schemas.openxmlformats.org/drawingml/2006/main" prst="rect">
            <a:avLst/>
          </a:prstGeom>
          <a:ln xmlns:a="http://schemas.openxmlformats.org/drawingml/2006/main">
            <a:noFill/>
          </a:ln>
        </p:spPr>
      </p:pic>
      <p:sp>
        <p:nvSpPr>
          <p:cNvPr id="57" name="Google Shape;3280;p52">
            <a:extLst xmlns:a="http://schemas.openxmlformats.org/drawingml/2006/main">
              <a:ext uri="{FF2B5EF4-FFF2-40B4-BE49-F238E27FC236}">
                <a16:creationId xmlns:a16="http://schemas.microsoft.com/office/drawing/2014/main" id="{F714313E-E422-499E-AD07-9CE44709AE83}"/>
              </a:ext>
            </a:extLst>
          </p:cNvPr>
          <p:cNvSpPr>
            <a:spLocks xmlns:a="http://schemas.openxmlformats.org/drawingml/2006/main" noGrp="1"/>
          </p:cNvSpPr>
          <p:nvPr/>
        </p:nvSpPr>
        <p:spPr>
          <a:xfrm xmlns:a="http://schemas.openxmlformats.org/drawingml/2006/main" rot="0" flipH="1">
            <a:off x="2296883" y="5154381"/>
            <a:ext cx="266597" cy="258300"/>
          </a:xfrm>
          <a:prstGeom xmlns:a="http://schemas.openxmlformats.org/drawingml/2006/main" prst="ellipse">
            <a:avLst/>
          </a:prstGeom>
          <a:gradFill xmlns:a="http://schemas.openxmlformats.org/drawingml/2006/main">
            <a:gsLst>
              <a:gs pos="0">
                <a:srgbClr val="69D4F4">
                  <a:alpha val="26274"/>
                </a:srgbClr>
              </a:gs>
              <a:gs pos="100000">
                <a:srgbClr val="9F39D5">
                  <a:alpha val="16862"/>
                </a:srgbClr>
              </a:gs>
            </a:gsLst>
            <a:lin ang="13500032" scaled="0"/>
          </a:gradFill>
          <a:ln xmlns:a="http://schemas.openxmlformats.org/drawingml/2006/main" w="9525" cmpd="sng">
            <a:solidFill>
              <a:schemeClr val="dk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p>
        </p:txBody>
      </p:sp>
      <p:sp>
        <p:nvSpPr>
          <p:cNvPr id="52" name="Google Shape;3305;p52">
            <a:extLst xmlns:a="http://schemas.openxmlformats.org/drawingml/2006/main">
              <a:ext uri="{FF2B5EF4-FFF2-40B4-BE49-F238E27FC236}">
                <a16:creationId xmlns:a16="http://schemas.microsoft.com/office/drawing/2014/main" id="{E610024E-3CDD-4264-9021-6EBB921D4DB8}"/>
              </a:ext>
            </a:extLst>
          </p:cNvPr>
          <p:cNvSpPr>
            <a:spLocks xmlns:a="http://schemas.openxmlformats.org/drawingml/2006/main" noGrp="1"/>
          </p:cNvSpPr>
          <p:nvPr/>
        </p:nvSpPr>
        <p:spPr>
          <a:xfrm xmlns:a="http://schemas.openxmlformats.org/drawingml/2006/main" rot="0">
            <a:off x="4984786" y="6183092"/>
            <a:ext cx="672000" cy="17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indent="0" algn="l">
              <a:spcBef>
                <a:spcPts val="0"/>
              </a:spcBef>
              <a:spcAft>
                <a:spcPts val="0"/>
              </a:spcAft>
              <a:buNone/>
            </a:pPr>
            <a:r>
              <a:rPr sz="1100">
                <a:solidFill>
                  <a:srgbClr val="999999"/>
                </a:solidFill>
                <a:latin typeface="微软雅黑"/>
                <a:ea typeface="微软雅黑"/>
                <a:cs typeface="微软雅黑"/>
              </a:rPr>
              <a:t>Inputs</a:t>
            </a:r>
          </a:p>
        </p:txBody>
      </p:sp>
      <p:sp>
        <p:nvSpPr>
          <p:cNvPr id="53" name="Google Shape;3306;p52">
            <a:extLst xmlns:a="http://schemas.openxmlformats.org/drawingml/2006/main">
              <a:ext uri="{FF2B5EF4-FFF2-40B4-BE49-F238E27FC236}">
                <a16:creationId xmlns:a16="http://schemas.microsoft.com/office/drawing/2014/main" id="{C1FF3456-CD55-4818-81A6-25B6ACB3926E}"/>
              </a:ext>
            </a:extLst>
          </p:cNvPr>
          <p:cNvSpPr>
            <a:spLocks xmlns:a="http://schemas.openxmlformats.org/drawingml/2006/main" noGrp="1"/>
          </p:cNvSpPr>
          <p:nvPr/>
        </p:nvSpPr>
        <p:spPr>
          <a:xfrm xmlns:a="http://schemas.openxmlformats.org/drawingml/2006/main" rot="0">
            <a:off x="6559786" y="6238042"/>
            <a:ext cx="1634100" cy="17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indent="0" algn="l">
              <a:spcBef>
                <a:spcPts val="0"/>
              </a:spcBef>
              <a:spcAft>
                <a:spcPts val="0"/>
              </a:spcAft>
              <a:buNone/>
            </a:pPr>
            <a:r>
              <a:rPr sz="1100">
                <a:solidFill>
                  <a:srgbClr val="999999"/>
                </a:solidFill>
                <a:latin typeface="微软雅黑"/>
                <a:ea typeface="微软雅黑"/>
                <a:cs typeface="微软雅黑"/>
              </a:rPr>
              <a:t>Outputs (shifted right)</a:t>
            </a:r>
          </a:p>
        </p:txBody>
      </p:sp>
      <p:sp>
        <p:nvSpPr>
          <p:cNvPr id="54" name="Google Shape;3307;p52">
            <a:extLst xmlns:a="http://schemas.openxmlformats.org/drawingml/2006/main">
              <a:ext uri="{FF2B5EF4-FFF2-40B4-BE49-F238E27FC236}">
                <a16:creationId xmlns:a16="http://schemas.microsoft.com/office/drawing/2014/main" id="{8264685D-B646-4D70-AB0E-8310E0B0944D}"/>
              </a:ext>
            </a:extLst>
          </p:cNvPr>
          <p:cNvSpPr>
            <a:spLocks xmlns:a="http://schemas.openxmlformats.org/drawingml/2006/main" noGrp="1"/>
          </p:cNvSpPr>
          <p:nvPr/>
        </p:nvSpPr>
        <p:spPr>
          <a:xfrm xmlns:a="http://schemas.openxmlformats.org/drawingml/2006/main" rot="0">
            <a:off x="7786586" y="5026280"/>
            <a:ext cx="1634100" cy="17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indent="0" algn="ctr">
              <a:spcBef>
                <a:spcPts val="0"/>
              </a:spcBef>
              <a:spcAft>
                <a:spcPts val="0"/>
              </a:spcAft>
              <a:buNone/>
            </a:pPr>
            <a:r>
              <a:rPr sz="1100">
                <a:solidFill>
                  <a:srgbClr val="999999"/>
                </a:solidFill>
                <a:latin typeface="微软雅黑"/>
                <a:ea typeface="微软雅黑"/>
                <a:cs typeface="微软雅黑"/>
              </a:rPr>
              <a:t>Positional </a:t>
            </a:r>
          </a:p>
          <a:p xmlns:a="http://schemas.openxmlformats.org/drawingml/2006/main">
            <a:pPr marL="0" indent="0" algn="ctr">
              <a:spcBef>
                <a:spcPts val="0"/>
              </a:spcBef>
              <a:spcAft>
                <a:spcPts val="0"/>
              </a:spcAft>
              <a:buNone/>
            </a:pPr>
            <a:r>
              <a:rPr sz="1100">
                <a:solidFill>
                  <a:srgbClr val="999999"/>
                </a:solidFill>
                <a:latin typeface="微软雅黑"/>
                <a:ea typeface="微软雅黑"/>
                <a:cs typeface="微软雅黑"/>
              </a:rPr>
              <a:t>Encoding</a:t>
            </a:r>
          </a:p>
        </p:txBody>
      </p:sp>
      <p:sp>
        <p:nvSpPr>
          <p:cNvPr id="55" name="Google Shape;3308;p52">
            <a:extLst xmlns:a="http://schemas.openxmlformats.org/drawingml/2006/main">
              <a:ext uri="{FF2B5EF4-FFF2-40B4-BE49-F238E27FC236}">
                <a16:creationId xmlns:a16="http://schemas.microsoft.com/office/drawing/2014/main" id="{42A309F3-6246-4D0D-92C4-C8813D498E85}"/>
              </a:ext>
            </a:extLst>
          </p:cNvPr>
          <p:cNvSpPr>
            <a:spLocks xmlns:a="http://schemas.openxmlformats.org/drawingml/2006/main" noGrp="1"/>
          </p:cNvSpPr>
          <p:nvPr/>
        </p:nvSpPr>
        <p:spPr>
          <a:xfrm xmlns:a="http://schemas.openxmlformats.org/drawingml/2006/main" rot="0">
            <a:off x="3186986" y="5014730"/>
            <a:ext cx="1634100" cy="17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indent="0" algn="ctr">
              <a:spcBef>
                <a:spcPts val="0"/>
              </a:spcBef>
              <a:spcAft>
                <a:spcPts val="0"/>
              </a:spcAft>
              <a:buNone/>
            </a:pPr>
            <a:r>
              <a:rPr sz="1100">
                <a:solidFill>
                  <a:srgbClr val="999999"/>
                </a:solidFill>
                <a:latin typeface="微软雅黑"/>
                <a:ea typeface="微软雅黑"/>
                <a:cs typeface="微软雅黑"/>
              </a:rPr>
              <a:t>Positional </a:t>
            </a:r>
          </a:p>
          <a:p xmlns:a="http://schemas.openxmlformats.org/drawingml/2006/main">
            <a:pPr marL="0" indent="0" algn="ctr">
              <a:spcBef>
                <a:spcPts val="0"/>
              </a:spcBef>
              <a:spcAft>
                <a:spcPts val="0"/>
              </a:spcAft>
              <a:buNone/>
            </a:pPr>
            <a:r>
              <a:rPr sz="1100">
                <a:solidFill>
                  <a:srgbClr val="999999"/>
                </a:solidFill>
                <a:latin typeface="微软雅黑"/>
                <a:ea typeface="微软雅黑"/>
                <a:cs typeface="微软雅黑"/>
              </a:rPr>
              <a:t>Encoding</a:t>
            </a:r>
          </a:p>
        </p:txBody>
      </p:sp>
    </p:spTree>
    <p:extLst>
      <p:ext uri="{BB962C8B-B14F-4D97-AF65-F5344CB8AC3E}">
        <p14:creationId xmlns:p14="http://schemas.microsoft.com/office/powerpoint/2010/main" val="67963153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3A9EFC8-1761-4648-B5F0-9AA7539EF71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Arial"/>
                <a:ea typeface="Arial"/>
                <a:cs typeface="Arial"/>
              </a:rPr>
              <a:t>Transformer</a:t>
            </a:r>
            <a:r>
              <a:rPr>
                <a:latin typeface="微软雅黑"/>
                <a:ea typeface="微软雅黑"/>
                <a:cs typeface="微软雅黑"/>
              </a:rPr>
              <a:t>的工作流程</a:t>
            </a:r>
          </a:p>
        </p:txBody>
      </p:sp>
      <p:sp>
        <p:nvSpPr>
          <p:cNvPr id="4" name="文本框 3">
            <a:extLst xmlns:a="http://schemas.openxmlformats.org/drawingml/2006/main">
              <a:ext uri="{FF2B5EF4-FFF2-40B4-BE49-F238E27FC236}">
                <a16:creationId xmlns:a16="http://schemas.microsoft.com/office/drawing/2014/main" id="{1C203F2B-5537-4D7C-B6A1-9E2ADDA58749}"/>
              </a:ext>
            </a:extLst>
          </p:cNvPr>
          <p:cNvSpPr>
            <a:spLocks xmlns:a="http://schemas.openxmlformats.org/drawingml/2006/main" noGrp="1"/>
          </p:cNvSpPr>
          <p:nvPr/>
        </p:nvSpPr>
        <p:spPr>
          <a:xfrm xmlns:a="http://schemas.openxmlformats.org/drawingml/2006/main">
            <a:off x="761998" y="1524000"/>
            <a:ext cx="7620001"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0" i="0">
                <a:solidFill>
                  <a:srgbClr val="0A3E77"/>
                </a:solidFill>
                <a:latin typeface="微软雅黑"/>
                <a:ea typeface="微软雅黑"/>
                <a:cs typeface="微软雅黑"/>
              </a:rPr>
              <a:t>从宏观的视角开始 首先将这个模型看成是一个黑箱操作。在机器翻译中，就是输入一种语言，输出另一种语言。</a:t>
            </a:r>
          </a:p>
        </p:txBody>
      </p:sp>
      <p:pic>
        <p:nvPicPr>
          <p:cNvPr id="8" name="图片 4"/>
          <p:cNvPicPr>
            <a:picLocks xmlns:a="http://schemas.openxmlformats.org/drawingml/2006/main" noChangeAspect="1"/>
          </p:cNvPicPr>
          <p:nvPr/>
        </p:nvPicPr>
        <p:blipFill>
          <a:blip xmlns:r="http://schemas.openxmlformats.org/officeDocument/2006/relationships" xmlns:a="http://schemas.openxmlformats.org/drawingml/2006/main" r:embed="R4e0b7b55d07e481a"/>
          <a:stretch xmlns:a="http://schemas.openxmlformats.org/drawingml/2006/main">
            <a:fillRect l="0" t="0" r="0" b="0"/>
          </a:stretch>
        </p:blipFill>
        <p:spPr>
          <a:xfrm xmlns:a="http://schemas.openxmlformats.org/drawingml/2006/main">
            <a:off x="450107" y="3019797"/>
            <a:ext cx="8243785" cy="1686923"/>
          </a:xfrm>
          <a:prstGeom xmlns:a="http://schemas.openxmlformats.org/drawingml/2006/main" prst="rect">
            <a:avLst/>
          </a:prstGeom>
        </p:spPr>
      </p:pic>
    </p:spTree>
    <p:extLst>
      <p:ext uri="{BB962C8B-B14F-4D97-AF65-F5344CB8AC3E}">
        <p14:creationId xmlns:p14="http://schemas.microsoft.com/office/powerpoint/2010/main" val="198872992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6" name="图片 4"/>
          <p:cNvPicPr>
            <a:picLocks xmlns:a="http://schemas.openxmlformats.org/drawingml/2006/main" noChangeAspect="1"/>
          </p:cNvPicPr>
          <p:nvPr/>
        </p:nvPicPr>
        <p:blipFill>
          <a:blip xmlns:r="http://schemas.openxmlformats.org/officeDocument/2006/relationships" xmlns:a="http://schemas.openxmlformats.org/drawingml/2006/main" r:embed="R8769a14386784ad7"/>
          <a:stretch xmlns:a="http://schemas.openxmlformats.org/drawingml/2006/main">
            <a:fillRect l="0" t="0" r="0" b="0"/>
          </a:stretch>
        </p:blipFill>
        <p:spPr>
          <a:xfrm xmlns:a="http://schemas.openxmlformats.org/drawingml/2006/main">
            <a:off x="1219438" y="4419600"/>
            <a:ext cx="7353062" cy="2246769"/>
          </a:xfrm>
          <a:prstGeom xmlns:a="http://schemas.openxmlformats.org/drawingml/2006/main" prst="rect">
            <a:avLst/>
          </a:prstGeom>
        </p:spPr>
      </p:pic>
      <p:sp>
        <p:nvSpPr>
          <p:cNvPr id="2" name="标题 1">
            <a:extLst xmlns:a="http://schemas.openxmlformats.org/drawingml/2006/main">
              <a:ext uri="{FF2B5EF4-FFF2-40B4-BE49-F238E27FC236}">
                <a16:creationId xmlns:a16="http://schemas.microsoft.com/office/drawing/2014/main" id="{A3EE8B94-5FFF-4916-B08A-0ACAE88980E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Arial"/>
                <a:ea typeface="Arial"/>
                <a:cs typeface="Arial"/>
              </a:rPr>
              <a:t>Transformer</a:t>
            </a:r>
            <a:r>
              <a:rPr>
                <a:latin typeface="微软雅黑"/>
                <a:ea typeface="微软雅黑"/>
                <a:cs typeface="微软雅黑"/>
              </a:rPr>
              <a:t>的工作流程</a:t>
            </a:r>
          </a:p>
        </p:txBody>
      </p:sp>
      <p:sp>
        <p:nvSpPr>
          <p:cNvPr id="4" name="文本框 3">
            <a:extLst xmlns:a="http://schemas.openxmlformats.org/drawingml/2006/main">
              <a:ext uri="{FF2B5EF4-FFF2-40B4-BE49-F238E27FC236}">
                <a16:creationId xmlns:a16="http://schemas.microsoft.com/office/drawing/2014/main" id="{CB6273C2-AC27-4689-881F-36F48D4230C6}"/>
              </a:ext>
            </a:extLst>
          </p:cNvPr>
          <p:cNvSpPr>
            <a:spLocks xmlns:a="http://schemas.openxmlformats.org/drawingml/2006/main" noGrp="1"/>
          </p:cNvSpPr>
          <p:nvPr/>
        </p:nvSpPr>
        <p:spPr>
          <a:xfrm xmlns:a="http://schemas.openxmlformats.org/drawingml/2006/main">
            <a:off x="533400" y="1219200"/>
            <a:ext cx="7848600" cy="336887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1800" b="0" i="0">
                <a:solidFill>
                  <a:srgbClr val="0A3E77"/>
                </a:solidFill>
                <a:latin typeface="微软雅黑"/>
                <a:ea typeface="微软雅黑"/>
                <a:cs typeface="微软雅黑"/>
              </a:rPr>
              <a:t>从编码器输入的句子首先会经过一个自注意力（</a:t>
            </a:r>
            <a:r>
              <a:rPr sz="1800" b="0" i="0">
                <a:solidFill>
                  <a:srgbClr val="0A3E77"/>
                </a:solidFill>
                <a:latin typeface="微软雅黑"/>
                <a:ea typeface="微软雅黑"/>
                <a:cs typeface="微软雅黑"/>
              </a:rPr>
              <a:t>self-attention</a:t>
            </a:r>
            <a:r>
              <a:rPr sz="1800" b="0" i="0">
                <a:solidFill>
                  <a:srgbClr val="0A3E77"/>
                </a:solidFill>
                <a:latin typeface="微软雅黑"/>
                <a:ea typeface="微软雅黑"/>
                <a:cs typeface="微软雅黑"/>
              </a:rPr>
              <a:t>）层，这层帮助编码器在对每个单词编码时关注输入句子的其他单词。</a:t>
            </a:r>
          </a:p>
          <a:p xmlns:a="http://schemas.openxmlformats.org/drawingml/2006/main">
            <a:pPr>
              <a:lnSpc>
                <a:spcPct val="150000"/>
              </a:lnSpc>
              <a:buNone/>
            </a:pPr>
            <a:r>
              <a:rPr sz="1800" b="0" i="0">
                <a:solidFill>
                  <a:srgbClr val="0A3E77"/>
                </a:solidFill>
                <a:latin typeface="微软雅黑"/>
                <a:ea typeface="微软雅黑"/>
                <a:cs typeface="微软雅黑"/>
              </a:rPr>
              <a:t>自注意力层的输出会传递到前馈（</a:t>
            </a:r>
            <a:r>
              <a:rPr sz="1800" b="0" i="0">
                <a:solidFill>
                  <a:srgbClr val="0A3E77"/>
                </a:solidFill>
                <a:latin typeface="微软雅黑"/>
                <a:ea typeface="微软雅黑"/>
                <a:cs typeface="微软雅黑"/>
              </a:rPr>
              <a:t>feed-forward</a:t>
            </a:r>
            <a:r>
              <a:rPr sz="1800" b="0" i="0">
                <a:solidFill>
                  <a:srgbClr val="0A3E77"/>
                </a:solidFill>
                <a:latin typeface="微软雅黑"/>
                <a:ea typeface="微软雅黑"/>
                <a:cs typeface="微软雅黑"/>
              </a:rPr>
              <a:t>）神经网络中。每个位置的单词对应的前馈神经网络都完全一样（译注：另一种解读就是一层窗口为一个单词的一维卷积神经网络）。</a:t>
            </a:r>
          </a:p>
          <a:p xmlns:a="http://schemas.openxmlformats.org/drawingml/2006/main">
            <a:pPr>
              <a:lnSpc>
                <a:spcPct val="150000"/>
              </a:lnSpc>
              <a:buNone/>
            </a:pPr>
            <a:r>
              <a:rPr sz="1800" b="0" i="0">
                <a:solidFill>
                  <a:srgbClr val="0A3E77"/>
                </a:solidFill>
                <a:latin typeface="微软雅黑"/>
                <a:ea typeface="微软雅黑"/>
                <a:cs typeface="微软雅黑"/>
              </a:rPr>
              <a:t>解码器中也有编码器的自注意力（</a:t>
            </a:r>
            <a:r>
              <a:rPr sz="1800" b="0" i="0">
                <a:solidFill>
                  <a:srgbClr val="0A3E77"/>
                </a:solidFill>
                <a:latin typeface="微软雅黑"/>
                <a:ea typeface="微软雅黑"/>
                <a:cs typeface="微软雅黑"/>
              </a:rPr>
              <a:t>self-attention</a:t>
            </a:r>
            <a:r>
              <a:rPr sz="1800" b="0" i="0">
                <a:solidFill>
                  <a:srgbClr val="0A3E77"/>
                </a:solidFill>
                <a:latin typeface="微软雅黑"/>
                <a:ea typeface="微软雅黑"/>
                <a:cs typeface="微软雅黑"/>
              </a:rPr>
              <a:t>）层和前馈（</a:t>
            </a:r>
            <a:r>
              <a:rPr sz="1800" b="0" i="0">
                <a:solidFill>
                  <a:srgbClr val="0A3E77"/>
                </a:solidFill>
                <a:latin typeface="微软雅黑"/>
                <a:ea typeface="微软雅黑"/>
                <a:cs typeface="微软雅黑"/>
              </a:rPr>
              <a:t>feed-forward</a:t>
            </a:r>
            <a:r>
              <a:rPr sz="1800" b="0" i="0">
                <a:solidFill>
                  <a:srgbClr val="0A3E77"/>
                </a:solidFill>
                <a:latin typeface="微软雅黑"/>
                <a:ea typeface="微软雅黑"/>
                <a:cs typeface="微软雅黑"/>
              </a:rPr>
              <a:t>）层。除此之外，这两个层之间还有一个注意力层，用来关注输入句子的相关部分（和</a:t>
            </a:r>
            <a:r>
              <a:rPr sz="1800" b="0" i="0">
                <a:solidFill>
                  <a:srgbClr val="0A3E77"/>
                </a:solidFill>
                <a:latin typeface="微软雅黑"/>
                <a:ea typeface="微软雅黑"/>
                <a:cs typeface="微软雅黑"/>
              </a:rPr>
              <a:t>seq2seq</a:t>
            </a:r>
            <a:r>
              <a:rPr sz="1800" b="0" i="0">
                <a:solidFill>
                  <a:srgbClr val="0A3E77"/>
                </a:solidFill>
                <a:latin typeface="微软雅黑"/>
                <a:ea typeface="微软雅黑"/>
                <a:cs typeface="微软雅黑"/>
              </a:rPr>
              <a:t>模型的注意力作用相似）。</a:t>
            </a:r>
          </a:p>
        </p:txBody>
      </p:sp>
    </p:spTree>
    <p:extLst>
      <p:ext uri="{BB962C8B-B14F-4D97-AF65-F5344CB8AC3E}">
        <p14:creationId xmlns:p14="http://schemas.microsoft.com/office/powerpoint/2010/main" val="59134057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8E81C0D-F4CE-4CBA-831A-474F181910A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Arial"/>
                <a:ea typeface="Arial"/>
                <a:cs typeface="Arial"/>
              </a:rPr>
              <a:t>Transformer</a:t>
            </a:r>
            <a:r>
              <a:rPr>
                <a:latin typeface="微软雅黑"/>
                <a:ea typeface="微软雅黑"/>
                <a:cs typeface="微软雅黑"/>
              </a:rPr>
              <a:t>的工作流程</a:t>
            </a:r>
          </a:p>
        </p:txBody>
      </p:sp>
      <p:sp>
        <p:nvSpPr>
          <p:cNvPr id="4" name="文本框 3">
            <a:extLst xmlns:a="http://schemas.openxmlformats.org/drawingml/2006/main">
              <a:ext uri="{FF2B5EF4-FFF2-40B4-BE49-F238E27FC236}">
                <a16:creationId xmlns:a16="http://schemas.microsoft.com/office/drawing/2014/main" id="{D1A4BA11-C11E-42F6-8F45-0D4B5ACE4351}"/>
              </a:ext>
            </a:extLst>
          </p:cNvPr>
          <p:cNvSpPr>
            <a:spLocks xmlns:a="http://schemas.openxmlformats.org/drawingml/2006/main" noGrp="1"/>
          </p:cNvSpPr>
          <p:nvPr/>
        </p:nvSpPr>
        <p:spPr>
          <a:xfrm xmlns:a="http://schemas.openxmlformats.org/drawingml/2006/main">
            <a:off x="329809" y="1289780"/>
            <a:ext cx="609681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800" b="1" i="0">
                <a:solidFill>
                  <a:srgbClr val="0A3E77"/>
                </a:solidFill>
                <a:latin typeface="微软雅黑"/>
                <a:ea typeface="微软雅黑"/>
                <a:cs typeface="微软雅黑"/>
              </a:rPr>
              <a:t>从宏观视角看自注意力机制</a:t>
            </a:r>
          </a:p>
        </p:txBody>
      </p:sp>
      <p:pic>
        <p:nvPicPr>
          <p:cNvPr id="12" name="图片 4"/>
          <p:cNvPicPr>
            <a:picLocks xmlns:a="http://schemas.openxmlformats.org/drawingml/2006/main" noChangeAspect="1"/>
          </p:cNvPicPr>
          <p:nvPr/>
        </p:nvPicPr>
        <p:blipFill>
          <a:blip xmlns:r="http://schemas.openxmlformats.org/officeDocument/2006/relationships" xmlns:a="http://schemas.openxmlformats.org/drawingml/2006/main" r:embed="R3e9b5342499b4a76"/>
          <a:stretch xmlns:a="http://schemas.openxmlformats.org/drawingml/2006/main">
            <a:fillRect l="0" t="0" r="0" b="0"/>
          </a:stretch>
        </p:blipFill>
        <p:spPr>
          <a:xfrm xmlns:a="http://schemas.openxmlformats.org/drawingml/2006/main">
            <a:off x="3959463" y="1101151"/>
            <a:ext cx="5184537" cy="4899803"/>
          </a:xfrm>
          <a:prstGeom xmlns:a="http://schemas.openxmlformats.org/drawingml/2006/main" prst="rect">
            <a:avLst/>
          </a:prstGeom>
        </p:spPr>
      </p:pic>
      <p:sp>
        <p:nvSpPr>
          <p:cNvPr id="6" name="文本框 5">
            <a:extLst xmlns:a="http://schemas.openxmlformats.org/drawingml/2006/main">
              <a:ext uri="{FF2B5EF4-FFF2-40B4-BE49-F238E27FC236}">
                <a16:creationId xmlns:a16="http://schemas.microsoft.com/office/drawing/2014/main" id="{22F7E41B-A2B9-42C5-B706-7374E5310D2F}"/>
              </a:ext>
            </a:extLst>
          </p:cNvPr>
          <p:cNvSpPr>
            <a:spLocks xmlns:a="http://schemas.openxmlformats.org/drawingml/2006/main" noGrp="1"/>
          </p:cNvSpPr>
          <p:nvPr/>
        </p:nvSpPr>
        <p:spPr>
          <a:xfrm xmlns:a="http://schemas.openxmlformats.org/drawingml/2006/main">
            <a:off x="329809" y="1828690"/>
            <a:ext cx="3937391" cy="169681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1800" b="0" i="0">
                <a:solidFill>
                  <a:srgbClr val="0A3E77"/>
                </a:solidFill>
                <a:latin typeface="微软雅黑"/>
                <a:ea typeface="微软雅黑"/>
                <a:cs typeface="微软雅黑"/>
              </a:rPr>
              <a:t>随着模型处理输入序列的每个单词，自注意力会关注整个输入序列的所有单词，帮助模型对本单词更好地进行编码。</a:t>
            </a:r>
          </a:p>
        </p:txBody>
      </p:sp>
      <p:sp>
        <p:nvSpPr>
          <p:cNvPr id="7" name="文本框 6">
            <a:extLst xmlns:a="http://schemas.openxmlformats.org/drawingml/2006/main">
              <a:ext uri="{FF2B5EF4-FFF2-40B4-BE49-F238E27FC236}">
                <a16:creationId xmlns:a16="http://schemas.microsoft.com/office/drawing/2014/main" id="{91A5F420-6B14-493E-A635-436AC1746C25}"/>
              </a:ext>
            </a:extLst>
          </p:cNvPr>
          <p:cNvSpPr>
            <a:spLocks xmlns:a="http://schemas.openxmlformats.org/drawingml/2006/main" noGrp="1"/>
          </p:cNvSpPr>
          <p:nvPr/>
        </p:nvSpPr>
        <p:spPr>
          <a:xfrm xmlns:a="http://schemas.openxmlformats.org/drawingml/2006/main">
            <a:off x="329809" y="3551053"/>
            <a:ext cx="3937391" cy="21123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1800" b="0" i="0">
                <a:solidFill>
                  <a:srgbClr val="0A3E77"/>
                </a:solidFill>
                <a:latin typeface="微软雅黑"/>
                <a:ea typeface="微软雅黑"/>
                <a:cs typeface="微软雅黑"/>
              </a:rPr>
              <a:t>RNN</a:t>
            </a:r>
            <a:r>
              <a:rPr sz="1800" b="0" i="0">
                <a:solidFill>
                  <a:srgbClr val="0A3E77"/>
                </a:solidFill>
                <a:latin typeface="微软雅黑"/>
                <a:ea typeface="微软雅黑"/>
                <a:cs typeface="微软雅黑"/>
              </a:rPr>
              <a:t>会将它已经处理过的前面的所有单词</a:t>
            </a:r>
            <a:r>
              <a:rPr sz="1800" b="0" i="0">
                <a:solidFill>
                  <a:srgbClr val="0A3E77"/>
                </a:solidFill>
                <a:latin typeface="微软雅黑"/>
                <a:ea typeface="微软雅黑"/>
                <a:cs typeface="微软雅黑"/>
              </a:rPr>
              <a:t>/</a:t>
            </a:r>
            <a:r>
              <a:rPr sz="1800" b="0" i="0">
                <a:solidFill>
                  <a:srgbClr val="0A3E77"/>
                </a:solidFill>
                <a:latin typeface="微软雅黑"/>
                <a:ea typeface="微软雅黑"/>
                <a:cs typeface="微软雅黑"/>
              </a:rPr>
              <a:t>向量的表示与它正在处理的当前单词</a:t>
            </a:r>
            <a:r>
              <a:rPr sz="1800" b="0" i="0">
                <a:solidFill>
                  <a:srgbClr val="0A3E77"/>
                </a:solidFill>
                <a:latin typeface="微软雅黑"/>
                <a:ea typeface="微软雅黑"/>
                <a:cs typeface="微软雅黑"/>
              </a:rPr>
              <a:t>/</a:t>
            </a:r>
            <a:r>
              <a:rPr sz="1800" b="0" i="0">
                <a:solidFill>
                  <a:srgbClr val="0A3E77"/>
                </a:solidFill>
                <a:latin typeface="微软雅黑"/>
                <a:ea typeface="微软雅黑"/>
                <a:cs typeface="微软雅黑"/>
              </a:rPr>
              <a:t>向量结合起来。而自注意力机制会将所有相关单词的理解融入到我们正在处理的单词中。</a:t>
            </a:r>
          </a:p>
        </p:txBody>
      </p:sp>
      <p:sp>
        <p:nvSpPr>
          <p:cNvPr id="8" name="文本框 7">
            <a:extLst xmlns:a="http://schemas.openxmlformats.org/drawingml/2006/main">
              <a:ext uri="{FF2B5EF4-FFF2-40B4-BE49-F238E27FC236}">
                <a16:creationId xmlns:a16="http://schemas.microsoft.com/office/drawing/2014/main" id="{009C7A9A-E6A6-4312-9BA7-34947E99E37F}"/>
              </a:ext>
            </a:extLst>
          </p:cNvPr>
          <p:cNvSpPr>
            <a:spLocks xmlns:a="http://schemas.openxmlformats.org/drawingml/2006/main" noGrp="1"/>
          </p:cNvSpPr>
          <p:nvPr/>
        </p:nvSpPr>
        <p:spPr>
          <a:xfrm xmlns:a="http://schemas.openxmlformats.org/drawingml/2006/main">
            <a:off x="3657600" y="5968413"/>
            <a:ext cx="5486400"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b="0" i="0">
                <a:solidFill>
                  <a:srgbClr val="333333"/>
                </a:solidFill>
                <a:latin typeface="微软雅黑"/>
                <a:ea typeface="微软雅黑"/>
                <a:cs typeface="微软雅黑"/>
              </a:rPr>
              <a:t>当我们在编码器</a:t>
            </a:r>
            <a:r>
              <a:rPr sz="1600" b="0" i="0">
                <a:solidFill>
                  <a:srgbClr val="333333"/>
                </a:solidFill>
                <a:latin typeface="微软雅黑"/>
                <a:ea typeface="微软雅黑"/>
                <a:cs typeface="微软雅黑"/>
              </a:rPr>
              <a:t>#5</a:t>
            </a:r>
            <a:r>
              <a:rPr sz="1600" b="0" i="0">
                <a:solidFill>
                  <a:srgbClr val="333333"/>
                </a:solidFill>
                <a:latin typeface="微软雅黑"/>
                <a:ea typeface="微软雅黑"/>
                <a:cs typeface="微软雅黑"/>
              </a:rPr>
              <a:t>（栈中最上层编码器）中编码“</a:t>
            </a:r>
            <a:r>
              <a:rPr sz="1600" b="0" i="0">
                <a:solidFill>
                  <a:srgbClr val="333333"/>
                </a:solidFill>
                <a:latin typeface="微软雅黑"/>
                <a:ea typeface="微软雅黑"/>
                <a:cs typeface="微软雅黑"/>
              </a:rPr>
              <a:t>it”</a:t>
            </a:r>
            <a:r>
              <a:rPr sz="1600" b="0" i="0">
                <a:solidFill>
                  <a:srgbClr val="333333"/>
                </a:solidFill>
                <a:latin typeface="微软雅黑"/>
                <a:ea typeface="微软雅黑"/>
                <a:cs typeface="微软雅黑"/>
              </a:rPr>
              <a:t>这个单词的时，注意力机制的部分会去关注“</a:t>
            </a:r>
            <a:r>
              <a:rPr sz="1600" b="0" i="0">
                <a:solidFill>
                  <a:srgbClr val="333333"/>
                </a:solidFill>
                <a:latin typeface="微软雅黑"/>
                <a:ea typeface="微软雅黑"/>
                <a:cs typeface="微软雅黑"/>
              </a:rPr>
              <a:t>The Animal”</a:t>
            </a:r>
            <a:r>
              <a:rPr sz="1600" b="0" i="0">
                <a:solidFill>
                  <a:srgbClr val="333333"/>
                </a:solidFill>
                <a:latin typeface="微软雅黑"/>
                <a:ea typeface="微软雅黑"/>
                <a:cs typeface="微软雅黑"/>
              </a:rPr>
              <a:t>，将它的表示的一部分编入“</a:t>
            </a:r>
            <a:r>
              <a:rPr sz="1600" b="0" i="0">
                <a:solidFill>
                  <a:srgbClr val="333333"/>
                </a:solidFill>
                <a:latin typeface="微软雅黑"/>
                <a:ea typeface="微软雅黑"/>
                <a:cs typeface="微软雅黑"/>
              </a:rPr>
              <a:t>it”</a:t>
            </a:r>
            <a:r>
              <a:rPr sz="1600" b="0" i="0">
                <a:solidFill>
                  <a:srgbClr val="333333"/>
                </a:solidFill>
                <a:latin typeface="微软雅黑"/>
                <a:ea typeface="微软雅黑"/>
                <a:cs typeface="微软雅黑"/>
              </a:rPr>
              <a:t>的编码中。</a:t>
            </a:r>
          </a:p>
        </p:txBody>
      </p:sp>
    </p:spTree>
    <p:extLst>
      <p:ext uri="{BB962C8B-B14F-4D97-AF65-F5344CB8AC3E}">
        <p14:creationId xmlns:p14="http://schemas.microsoft.com/office/powerpoint/2010/main" val="144822571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22D4AE0-3B43-4376-92A6-62515DAD8B4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Arial"/>
                <a:ea typeface="Arial"/>
                <a:cs typeface="Arial"/>
              </a:rPr>
              <a:t>Transformer</a:t>
            </a:r>
            <a:r>
              <a:rPr>
                <a:latin typeface="微软雅黑"/>
                <a:ea typeface="微软雅黑"/>
                <a:cs typeface="微软雅黑"/>
              </a:rPr>
              <a:t>的工作流程</a:t>
            </a:r>
          </a:p>
        </p:txBody>
      </p:sp>
      <p:sp>
        <p:nvSpPr>
          <p:cNvPr id="4" name="文本框 3">
            <a:extLst xmlns:a="http://schemas.openxmlformats.org/drawingml/2006/main">
              <a:ext uri="{FF2B5EF4-FFF2-40B4-BE49-F238E27FC236}">
                <a16:creationId xmlns:a16="http://schemas.microsoft.com/office/drawing/2014/main" id="{88AB86C7-2726-4F08-80DA-F8AFAAF9475D}"/>
              </a:ext>
            </a:extLst>
          </p:cNvPr>
          <p:cNvSpPr>
            <a:spLocks xmlns:a="http://schemas.openxmlformats.org/drawingml/2006/main" noGrp="1"/>
          </p:cNvSpPr>
          <p:nvPr/>
        </p:nvSpPr>
        <p:spPr>
          <a:xfrm xmlns:a="http://schemas.openxmlformats.org/drawingml/2006/main">
            <a:off x="228600" y="1295400"/>
            <a:ext cx="7666612"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1" i="0">
                <a:solidFill>
                  <a:srgbClr val="0A3E77"/>
                </a:solidFill>
                <a:latin typeface="微软雅黑"/>
                <a:ea typeface="微软雅黑"/>
                <a:cs typeface="微软雅黑"/>
              </a:rPr>
              <a:t>“多头”注意力（“</a:t>
            </a:r>
            <a:r>
              <a:rPr sz="1800" b="1" i="0">
                <a:solidFill>
                  <a:srgbClr val="0A3E77"/>
                </a:solidFill>
                <a:latin typeface="微软雅黑"/>
                <a:ea typeface="微软雅黑"/>
                <a:cs typeface="微软雅黑"/>
              </a:rPr>
              <a:t>multi-headed” attention</a:t>
            </a:r>
            <a:r>
              <a:rPr sz="1800" b="1" i="0">
                <a:solidFill>
                  <a:srgbClr val="0A3E77"/>
                </a:solidFill>
                <a:latin typeface="微软雅黑"/>
                <a:ea typeface="微软雅黑"/>
                <a:cs typeface="微软雅黑"/>
              </a:rPr>
              <a:t>）的机制</a:t>
            </a:r>
          </a:p>
        </p:txBody>
      </p:sp>
      <p:pic>
        <p:nvPicPr>
          <p:cNvPr id="12" name="图片 4"/>
          <p:cNvPicPr>
            <a:picLocks xmlns:a="http://schemas.openxmlformats.org/drawingml/2006/main" noChangeAspect="1"/>
          </p:cNvPicPr>
          <p:nvPr/>
        </p:nvPicPr>
        <p:blipFill>
          <a:blip xmlns:r="http://schemas.openxmlformats.org/officeDocument/2006/relationships" xmlns:a="http://schemas.openxmlformats.org/drawingml/2006/main" r:embed="R651214fd3e854fb8"/>
          <a:stretch xmlns:a="http://schemas.openxmlformats.org/drawingml/2006/main">
            <a:fillRect l="0" t="0" r="0" b="0"/>
          </a:stretch>
        </p:blipFill>
        <p:spPr>
          <a:xfrm xmlns:a="http://schemas.openxmlformats.org/drawingml/2006/main">
            <a:off x="304800" y="1794030"/>
            <a:ext cx="4521867" cy="3082770"/>
          </a:xfrm>
          <a:prstGeom xmlns:a="http://schemas.openxmlformats.org/drawingml/2006/main" prst="rect">
            <a:avLst/>
          </a:prstGeom>
        </p:spPr>
      </p:pic>
      <p:pic>
        <p:nvPicPr>
          <p:cNvPr id="13" name="图片 5"/>
          <p:cNvPicPr>
            <a:picLocks xmlns:a="http://schemas.openxmlformats.org/drawingml/2006/main" noChangeAspect="1"/>
          </p:cNvPicPr>
          <p:nvPr/>
        </p:nvPicPr>
        <p:blipFill>
          <a:blip xmlns:r="http://schemas.openxmlformats.org/officeDocument/2006/relationships" xmlns:a="http://schemas.openxmlformats.org/drawingml/2006/main" r:embed="Rf14cf7a1c0dc4ad0"/>
          <a:stretch xmlns:a="http://schemas.openxmlformats.org/drawingml/2006/main">
            <a:fillRect l="0" t="0" r="0" b="0"/>
          </a:stretch>
        </p:blipFill>
        <p:spPr>
          <a:xfrm xmlns:a="http://schemas.openxmlformats.org/drawingml/2006/main">
            <a:off x="4953000" y="2316113"/>
            <a:ext cx="3972769" cy="2038603"/>
          </a:xfrm>
          <a:prstGeom xmlns:a="http://schemas.openxmlformats.org/drawingml/2006/main" prst="rect">
            <a:avLst/>
          </a:prstGeom>
        </p:spPr>
      </p:pic>
      <p:sp>
        <p:nvSpPr>
          <p:cNvPr id="7" name="文本框 6">
            <a:extLst xmlns:a="http://schemas.openxmlformats.org/drawingml/2006/main">
              <a:ext uri="{FF2B5EF4-FFF2-40B4-BE49-F238E27FC236}">
                <a16:creationId xmlns:a16="http://schemas.microsoft.com/office/drawing/2014/main" id="{E9975B04-DC96-4FFB-ABEA-CD9E215F0397}"/>
              </a:ext>
            </a:extLst>
          </p:cNvPr>
          <p:cNvSpPr>
            <a:spLocks xmlns:a="http://schemas.openxmlformats.org/drawingml/2006/main" noGrp="1"/>
          </p:cNvSpPr>
          <p:nvPr/>
        </p:nvSpPr>
        <p:spPr>
          <a:xfrm xmlns:a="http://schemas.openxmlformats.org/drawingml/2006/main">
            <a:off x="1778667" y="5214417"/>
            <a:ext cx="609600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a:solidFill>
                  <a:srgbClr val="0A3E77"/>
                </a:solidFill>
                <a:latin typeface="微软雅黑"/>
                <a:ea typeface="微软雅黑"/>
                <a:cs typeface="微软雅黑"/>
              </a:rPr>
              <a:t>一组</a:t>
            </a:r>
            <a:r>
              <a:rPr sz="1800">
                <a:solidFill>
                  <a:srgbClr val="0A3E77"/>
                </a:solidFill>
                <a:latin typeface="微软雅黑"/>
                <a:ea typeface="微软雅黑"/>
                <a:cs typeface="微软雅黑"/>
              </a:rPr>
              <a:t>Q</a:t>
            </a:r>
            <a:r>
              <a:rPr sz="1800">
                <a:solidFill>
                  <a:srgbClr val="0A3E77"/>
                </a:solidFill>
                <a:latin typeface="微软雅黑"/>
                <a:ea typeface="微软雅黑"/>
                <a:cs typeface="微软雅黑"/>
              </a:rPr>
              <a:t>,</a:t>
            </a:r>
            <a:r>
              <a:rPr sz="1800">
                <a:solidFill>
                  <a:srgbClr val="0A3E77"/>
                </a:solidFill>
                <a:latin typeface="微软雅黑"/>
                <a:ea typeface="微软雅黑"/>
                <a:cs typeface="微软雅黑"/>
              </a:rPr>
              <a:t>K</a:t>
            </a:r>
            <a:r>
              <a:rPr sz="1800">
                <a:solidFill>
                  <a:srgbClr val="0A3E77"/>
                </a:solidFill>
                <a:latin typeface="微软雅黑"/>
                <a:ea typeface="微软雅黑"/>
                <a:cs typeface="微软雅黑"/>
              </a:rPr>
              <a:t>,</a:t>
            </a:r>
            <a:r>
              <a:rPr sz="1800">
                <a:solidFill>
                  <a:srgbClr val="0A3E77"/>
                </a:solidFill>
                <a:latin typeface="微软雅黑"/>
                <a:ea typeface="微软雅黑"/>
                <a:cs typeface="微软雅黑"/>
              </a:rPr>
              <a:t>V</a:t>
            </a:r>
            <a:r>
              <a:rPr sz="1800">
                <a:solidFill>
                  <a:srgbClr val="0A3E77"/>
                </a:solidFill>
                <a:latin typeface="微软雅黑"/>
                <a:ea typeface="微软雅黑"/>
                <a:cs typeface="微软雅黑"/>
              </a:rPr>
              <a:t>得到了一组当前词的特征表达</a:t>
            </a:r>
          </a:p>
        </p:txBody>
      </p:sp>
    </p:spTree>
    <p:extLst>
      <p:ext uri="{BB962C8B-B14F-4D97-AF65-F5344CB8AC3E}">
        <p14:creationId xmlns:p14="http://schemas.microsoft.com/office/powerpoint/2010/main" val="61552161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DF6D2E2-8E30-47CC-B320-22FF47F21F0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Arial"/>
                <a:ea typeface="Arial"/>
                <a:cs typeface="Arial"/>
              </a:rPr>
              <a:t>Transformer</a:t>
            </a:r>
            <a:r>
              <a:rPr>
                <a:latin typeface="微软雅黑"/>
                <a:ea typeface="微软雅黑"/>
                <a:cs typeface="微软雅黑"/>
              </a:rPr>
              <a:t>的工作流程</a:t>
            </a:r>
          </a:p>
        </p:txBody>
      </p:sp>
      <p:sp>
        <p:nvSpPr>
          <p:cNvPr id="4" name="文本框 3">
            <a:extLst xmlns:a="http://schemas.openxmlformats.org/drawingml/2006/main">
              <a:ext uri="{FF2B5EF4-FFF2-40B4-BE49-F238E27FC236}">
                <a16:creationId xmlns:a16="http://schemas.microsoft.com/office/drawing/2014/main" id="{49042564-7FF6-483E-94AF-2035E5FE3E90}"/>
              </a:ext>
            </a:extLst>
          </p:cNvPr>
          <p:cNvSpPr>
            <a:spLocks xmlns:a="http://schemas.openxmlformats.org/drawingml/2006/main" noGrp="1"/>
          </p:cNvSpPr>
          <p:nvPr/>
        </p:nvSpPr>
        <p:spPr>
          <a:xfrm xmlns:a="http://schemas.openxmlformats.org/drawingml/2006/main">
            <a:off x="376488" y="1219200"/>
            <a:ext cx="609681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1" i="0">
                <a:solidFill>
                  <a:srgbClr val="0A3E77"/>
                </a:solidFill>
                <a:latin typeface="微软雅黑"/>
                <a:ea typeface="微软雅黑"/>
                <a:cs typeface="微软雅黑"/>
              </a:rPr>
              <a:t>使用位置编码表示序列的顺序</a:t>
            </a:r>
          </a:p>
        </p:txBody>
      </p:sp>
      <p:sp>
        <p:nvSpPr>
          <p:cNvPr id="5" name="文本框 4">
            <a:extLst xmlns:a="http://schemas.openxmlformats.org/drawingml/2006/main">
              <a:ext uri="{FF2B5EF4-FFF2-40B4-BE49-F238E27FC236}">
                <a16:creationId xmlns:a16="http://schemas.microsoft.com/office/drawing/2014/main" id="{D581BB63-76C9-4056-9CED-CA7A1C1C51E4}"/>
              </a:ext>
            </a:extLst>
          </p:cNvPr>
          <p:cNvSpPr>
            <a:spLocks xmlns:a="http://schemas.openxmlformats.org/drawingml/2006/main" noGrp="1"/>
          </p:cNvSpPr>
          <p:nvPr/>
        </p:nvSpPr>
        <p:spPr>
          <a:xfrm xmlns:a="http://schemas.openxmlformats.org/drawingml/2006/main">
            <a:off x="395538" y="1752600"/>
            <a:ext cx="4084955" cy="42462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1800" b="0" i="0">
                <a:solidFill>
                  <a:srgbClr val="0A3E77"/>
                </a:solidFill>
                <a:latin typeface="微软雅黑"/>
                <a:ea typeface="微软雅黑"/>
                <a:cs typeface="微软雅黑"/>
              </a:rPr>
              <a:t>到目前为止，我们对模型的描述缺少了一种理解输入单词顺序的方法。</a:t>
            </a:r>
          </a:p>
          <a:p xmlns:a="http://schemas.openxmlformats.org/drawingml/2006/main">
            <a:pPr>
              <a:lnSpc>
                <a:spcPct val="150000"/>
              </a:lnSpc>
              <a:buNone/>
            </a:pPr>
            <a:r>
              <a:rPr sz="1800" b="0" i="0">
                <a:solidFill>
                  <a:srgbClr val="0A3E77"/>
                </a:solidFill>
                <a:latin typeface="微软雅黑"/>
                <a:ea typeface="微软雅黑"/>
                <a:cs typeface="微软雅黑"/>
              </a:rPr>
              <a:t>为了解决这个问题，</a:t>
            </a:r>
            <a:r>
              <a:rPr sz="1800" b="0" i="0">
                <a:solidFill>
                  <a:srgbClr val="0A3E77"/>
                </a:solidFill>
                <a:latin typeface="微软雅黑"/>
                <a:ea typeface="微软雅黑"/>
                <a:cs typeface="微软雅黑"/>
              </a:rPr>
              <a:t>Transformer</a:t>
            </a:r>
            <a:r>
              <a:rPr sz="1800" b="0" i="0">
                <a:solidFill>
                  <a:srgbClr val="0A3E77"/>
                </a:solidFill>
                <a:latin typeface="微软雅黑"/>
                <a:ea typeface="微软雅黑"/>
                <a:cs typeface="微软雅黑"/>
              </a:rPr>
              <a:t>为每个输入的词嵌入添加了一个向量。这些向量遵循模型学习到的特定模式，这有助于确定每个单词的位置，或序列中不同单词之间的距离。这里的直觉是，将位置向量添加到词嵌入中使得它们在接下来的运算中，能够更好地表达的词与词之间的距离。</a:t>
            </a:r>
          </a:p>
        </p:txBody>
      </p:sp>
      <p:pic>
        <p:nvPicPr>
          <p:cNvPr id="11" name="图片 5"/>
          <p:cNvPicPr>
            <a:picLocks xmlns:a="http://schemas.openxmlformats.org/drawingml/2006/main" noChangeAspect="1"/>
          </p:cNvPicPr>
          <p:nvPr/>
        </p:nvPicPr>
        <p:blipFill rotWithShape="1">
          <a:blip xmlns:r="http://schemas.openxmlformats.org/officeDocument/2006/relationships" xmlns:a="http://schemas.openxmlformats.org/drawingml/2006/main" r:embed="Rddbc4f811cc44746"/>
          <a:srcRect xmlns:a="http://schemas.openxmlformats.org/drawingml/2006/main" l="0" t="0" r="0" b="47080"/>
          <a:stretch xmlns:a="http://schemas.openxmlformats.org/drawingml/2006/main">
            <a:fillRect l="0" t="0" r="0" b="0"/>
          </a:stretch>
        </p:blipFill>
        <p:spPr>
          <a:xfrm xmlns:a="http://schemas.openxmlformats.org/drawingml/2006/main">
            <a:off x="4527550" y="1905000"/>
            <a:ext cx="4467860" cy="1339850"/>
          </a:xfrm>
          <a:prstGeom xmlns:a="http://schemas.openxmlformats.org/drawingml/2006/main" prst="rect">
            <a:avLst/>
          </a:prstGeom>
        </p:spPr>
      </p:pic>
      <p:pic>
        <p:nvPicPr>
          <p:cNvPr id="12" name="图片 6"/>
          <p:cNvPicPr>
            <a:picLocks xmlns:a="http://schemas.openxmlformats.org/drawingml/2006/main" noChangeAspect="1"/>
          </p:cNvPicPr>
          <p:nvPr/>
        </p:nvPicPr>
        <p:blipFill rotWithShape="1">
          <a:blip xmlns:r="http://schemas.openxmlformats.org/officeDocument/2006/relationships" xmlns:a="http://schemas.openxmlformats.org/drawingml/2006/main" r:embed="Rddbc4f811cc44746"/>
          <a:srcRect xmlns:a="http://schemas.openxmlformats.org/drawingml/2006/main" l="3164" t="55567" r="29691" b="0"/>
          <a:stretch xmlns:a="http://schemas.openxmlformats.org/drawingml/2006/main">
            <a:fillRect l="0" t="0" r="0" b="0"/>
          </a:stretch>
        </p:blipFill>
        <p:spPr>
          <a:xfrm xmlns:a="http://schemas.openxmlformats.org/drawingml/2006/main">
            <a:off x="4631055" y="3810000"/>
            <a:ext cx="4512945" cy="1692275"/>
          </a:xfrm>
          <a:prstGeom xmlns:a="http://schemas.openxmlformats.org/drawingml/2006/main" prst="rect">
            <a:avLst/>
          </a:prstGeom>
        </p:spPr>
      </p:pic>
    </p:spTree>
    <p:extLst>
      <p:ext uri="{BB962C8B-B14F-4D97-AF65-F5344CB8AC3E}">
        <p14:creationId xmlns:p14="http://schemas.microsoft.com/office/powerpoint/2010/main" val="194415091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D084A2A-A0A8-4919-B65F-8B37E651404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Arial"/>
                <a:ea typeface="Arial"/>
                <a:cs typeface="Arial"/>
              </a:rPr>
              <a:t>Transformer</a:t>
            </a:r>
            <a:r>
              <a:rPr>
                <a:latin typeface="微软雅黑"/>
                <a:ea typeface="微软雅黑"/>
                <a:cs typeface="微软雅黑"/>
              </a:rPr>
              <a:t>的工作流程</a:t>
            </a:r>
          </a:p>
        </p:txBody>
      </p:sp>
      <p:pic>
        <p:nvPicPr>
          <p:cNvPr id="11" name="图片 3"/>
          <p:cNvPicPr>
            <a:picLocks xmlns:a="http://schemas.openxmlformats.org/drawingml/2006/main" noChangeAspect="1"/>
          </p:cNvPicPr>
          <p:nvPr/>
        </p:nvPicPr>
        <p:blipFill>
          <a:blip xmlns:r="http://schemas.openxmlformats.org/officeDocument/2006/relationships" xmlns:a="http://schemas.openxmlformats.org/drawingml/2006/main" r:embed="Rec59ca791eb54dce"/>
          <a:stretch xmlns:a="http://schemas.openxmlformats.org/drawingml/2006/main">
            <a:fillRect l="0" t="0" r="0" b="0"/>
          </a:stretch>
        </p:blipFill>
        <p:spPr>
          <a:xfrm xmlns:a="http://schemas.openxmlformats.org/drawingml/2006/main">
            <a:off x="93034" y="2268744"/>
            <a:ext cx="4315342" cy="2912856"/>
          </a:xfrm>
          <a:prstGeom xmlns:a="http://schemas.openxmlformats.org/drawingml/2006/main" prst="rect">
            <a:avLst/>
          </a:prstGeom>
        </p:spPr>
      </p:pic>
      <p:pic>
        <p:nvPicPr>
          <p:cNvPr id="12" name="图片 4"/>
          <p:cNvPicPr>
            <a:picLocks xmlns:a="http://schemas.openxmlformats.org/drawingml/2006/main" noChangeAspect="1"/>
          </p:cNvPicPr>
          <p:nvPr/>
        </p:nvPicPr>
        <p:blipFill>
          <a:blip xmlns:r="http://schemas.openxmlformats.org/officeDocument/2006/relationships" xmlns:a="http://schemas.openxmlformats.org/drawingml/2006/main" r:embed="R4a0eb97c02224382"/>
          <a:stretch xmlns:a="http://schemas.openxmlformats.org/drawingml/2006/main">
            <a:fillRect l="0" t="0" r="0" b="0"/>
          </a:stretch>
        </p:blipFill>
        <p:spPr>
          <a:xfrm xmlns:a="http://schemas.openxmlformats.org/drawingml/2006/main">
            <a:off x="4769015" y="3175525"/>
            <a:ext cx="3808250" cy="3481489"/>
          </a:xfrm>
          <a:prstGeom xmlns:a="http://schemas.openxmlformats.org/drawingml/2006/main" prst="rect">
            <a:avLst/>
          </a:prstGeom>
        </p:spPr>
      </p:pic>
      <p:sp>
        <p:nvSpPr>
          <p:cNvPr id="6" name="文本框 5">
            <a:extLst xmlns:a="http://schemas.openxmlformats.org/drawingml/2006/main">
              <a:ext uri="{FF2B5EF4-FFF2-40B4-BE49-F238E27FC236}">
                <a16:creationId xmlns:a16="http://schemas.microsoft.com/office/drawing/2014/main" id="{9B9BDBC2-93AB-43EF-9BEC-1C794997E3C2}"/>
              </a:ext>
            </a:extLst>
          </p:cNvPr>
          <p:cNvSpPr>
            <a:spLocks xmlns:a="http://schemas.openxmlformats.org/drawingml/2006/main" noGrp="1"/>
          </p:cNvSpPr>
          <p:nvPr/>
        </p:nvSpPr>
        <p:spPr>
          <a:xfrm xmlns:a="http://schemas.openxmlformats.org/drawingml/2006/main">
            <a:off x="395538" y="1295400"/>
            <a:ext cx="8367462"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0" i="0">
                <a:solidFill>
                  <a:srgbClr val="0A3E77"/>
                </a:solidFill>
                <a:latin typeface="微软雅黑"/>
                <a:ea typeface="微软雅黑"/>
                <a:cs typeface="微软雅黑"/>
              </a:rPr>
              <a:t>在每个编码器中的每个子层（自注意力、前馈网络）的周围都有一个残差连接，并且都跟随着一个“层</a:t>
            </a:r>
            <a:r>
              <a:rPr sz="1800" b="0" i="0">
                <a:solidFill>
                  <a:srgbClr val="0A3E77"/>
                </a:solidFill>
                <a:latin typeface="微软雅黑"/>
                <a:ea typeface="微软雅黑"/>
                <a:cs typeface="微软雅黑"/>
              </a:rPr>
              <a:t>-</a:t>
            </a:r>
            <a:r>
              <a:rPr sz="1800" b="0" i="0">
                <a:solidFill>
                  <a:srgbClr val="0A3E77"/>
                </a:solidFill>
                <a:latin typeface="微软雅黑"/>
                <a:ea typeface="微软雅黑"/>
                <a:cs typeface="微软雅黑"/>
              </a:rPr>
              <a:t>归一化”步骤。</a:t>
            </a:r>
          </a:p>
        </p:txBody>
      </p:sp>
      <p:sp>
        <p:nvSpPr>
          <p:cNvPr id="7" name="文本框 6">
            <a:extLst xmlns:a="http://schemas.openxmlformats.org/drawingml/2006/main">
              <a:ext uri="{FF2B5EF4-FFF2-40B4-BE49-F238E27FC236}">
                <a16:creationId xmlns:a16="http://schemas.microsoft.com/office/drawing/2014/main" id="{BB57D4F2-1E79-4C99-8133-DF07E5132328}"/>
              </a:ext>
            </a:extLst>
          </p:cNvPr>
          <p:cNvSpPr>
            <a:spLocks xmlns:a="http://schemas.openxmlformats.org/drawingml/2006/main" noGrp="1"/>
          </p:cNvSpPr>
          <p:nvPr/>
        </p:nvSpPr>
        <p:spPr>
          <a:xfrm xmlns:a="http://schemas.openxmlformats.org/drawingml/2006/main">
            <a:off x="4572001" y="2057400"/>
            <a:ext cx="4191000" cy="13234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600" b="0" i="0">
                <a:solidFill>
                  <a:srgbClr val="0A3E77"/>
                </a:solidFill>
                <a:latin typeface="微软雅黑"/>
                <a:ea typeface="微软雅黑"/>
                <a:cs typeface="微软雅黑"/>
              </a:rPr>
              <a:t>如果我们去可视化这些向量以及这个和自注意力相关联的层</a:t>
            </a:r>
            <a:r>
              <a:rPr sz="1600" b="0" i="0">
                <a:solidFill>
                  <a:srgbClr val="0A3E77"/>
                </a:solidFill>
                <a:latin typeface="微软雅黑"/>
                <a:ea typeface="微软雅黑"/>
                <a:cs typeface="微软雅黑"/>
              </a:rPr>
              <a:t>-</a:t>
            </a:r>
            <a:r>
              <a:rPr sz="1600" b="0" i="0">
                <a:solidFill>
                  <a:srgbClr val="0A3E77"/>
                </a:solidFill>
                <a:latin typeface="微软雅黑"/>
                <a:ea typeface="微软雅黑"/>
                <a:cs typeface="微软雅黑"/>
              </a:rPr>
              <a:t>归一化操作，那么看起来就像下面这张图描述一样：</a:t>
            </a:r>
          </a:p>
          <a:p xmlns:a="http://schemas.openxmlformats.org/drawingml/2006/main">
            <a:br/>
          </a:p>
        </p:txBody>
      </p:sp>
    </p:spTree>
    <p:extLst>
      <p:ext uri="{BB962C8B-B14F-4D97-AF65-F5344CB8AC3E}">
        <p14:creationId xmlns:p14="http://schemas.microsoft.com/office/powerpoint/2010/main" val="4848856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61FF560-97AF-46F1-9321-7C7273753F1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Arial"/>
                <a:ea typeface="Arial"/>
                <a:cs typeface="Arial"/>
              </a:rPr>
              <a:t>Transformer</a:t>
            </a:r>
            <a:r>
              <a:rPr>
                <a:latin typeface="微软雅黑"/>
                <a:ea typeface="微软雅黑"/>
                <a:cs typeface="微软雅黑"/>
              </a:rPr>
              <a:t>的工作流程</a:t>
            </a:r>
          </a:p>
        </p:txBody>
      </p:sp>
      <p:sp>
        <p:nvSpPr>
          <p:cNvPr id="4" name="文本框 3">
            <a:extLst xmlns:a="http://schemas.openxmlformats.org/drawingml/2006/main">
              <a:ext uri="{FF2B5EF4-FFF2-40B4-BE49-F238E27FC236}">
                <a16:creationId xmlns:a16="http://schemas.microsoft.com/office/drawing/2014/main" id="{AF89CA84-E03D-4B5D-B746-C9A47551349A}"/>
              </a:ext>
            </a:extLst>
          </p:cNvPr>
          <p:cNvSpPr>
            <a:spLocks xmlns:a="http://schemas.openxmlformats.org/drawingml/2006/main" noGrp="1"/>
          </p:cNvSpPr>
          <p:nvPr/>
        </p:nvSpPr>
        <p:spPr>
          <a:xfrm xmlns:a="http://schemas.openxmlformats.org/drawingml/2006/main">
            <a:off x="395538" y="1219200"/>
            <a:ext cx="609681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800" b="1" i="0">
                <a:solidFill>
                  <a:srgbClr val="0A3E77"/>
                </a:solidFill>
                <a:latin typeface="微软雅黑"/>
                <a:ea typeface="微软雅黑"/>
                <a:cs typeface="微软雅黑"/>
              </a:rPr>
              <a:t>最终的线性变换和</a:t>
            </a:r>
            <a:r>
              <a:rPr sz="1800" b="1" i="0">
                <a:solidFill>
                  <a:srgbClr val="0A3E77"/>
                </a:solidFill>
                <a:latin typeface="微软雅黑"/>
                <a:ea typeface="微软雅黑"/>
                <a:cs typeface="微软雅黑"/>
              </a:rPr>
              <a:t>Softmax</a:t>
            </a:r>
            <a:r>
              <a:rPr sz="1800" b="1" i="0">
                <a:solidFill>
                  <a:srgbClr val="0A3E77"/>
                </a:solidFill>
                <a:latin typeface="微软雅黑"/>
                <a:ea typeface="微软雅黑"/>
                <a:cs typeface="微软雅黑"/>
              </a:rPr>
              <a:t>层</a:t>
            </a:r>
          </a:p>
        </p:txBody>
      </p:sp>
      <p:pic>
        <p:nvPicPr>
          <p:cNvPr id="11" name="图片 4"/>
          <p:cNvPicPr>
            <a:picLocks xmlns:a="http://schemas.openxmlformats.org/drawingml/2006/main" noChangeAspect="1"/>
          </p:cNvPicPr>
          <p:nvPr/>
        </p:nvPicPr>
        <p:blipFill>
          <a:blip xmlns:r="http://schemas.openxmlformats.org/officeDocument/2006/relationships" xmlns:a="http://schemas.openxmlformats.org/drawingml/2006/main" r:embed="Re828eb9a7d9d4ca8"/>
          <a:stretch xmlns:a="http://schemas.openxmlformats.org/drawingml/2006/main">
            <a:fillRect l="0" t="0" r="0" b="0"/>
          </a:stretch>
        </p:blipFill>
        <p:spPr>
          <a:xfrm xmlns:a="http://schemas.openxmlformats.org/drawingml/2006/main">
            <a:off x="4918710" y="1447800"/>
            <a:ext cx="3976370" cy="3040380"/>
          </a:xfrm>
          <a:prstGeom xmlns:a="http://schemas.openxmlformats.org/drawingml/2006/main" prst="rect">
            <a:avLst/>
          </a:prstGeom>
        </p:spPr>
      </p:pic>
      <p:sp>
        <p:nvSpPr>
          <p:cNvPr id="6" name="文本框 5">
            <a:extLst xmlns:a="http://schemas.openxmlformats.org/drawingml/2006/main">
              <a:ext uri="{FF2B5EF4-FFF2-40B4-BE49-F238E27FC236}">
                <a16:creationId xmlns:a16="http://schemas.microsoft.com/office/drawing/2014/main" id="{464BEC8F-30D3-478B-9175-E927B377A9C7}"/>
              </a:ext>
            </a:extLst>
          </p:cNvPr>
          <p:cNvSpPr>
            <a:spLocks xmlns:a="http://schemas.openxmlformats.org/drawingml/2006/main" noGrp="1"/>
          </p:cNvSpPr>
          <p:nvPr/>
        </p:nvSpPr>
        <p:spPr>
          <a:xfrm xmlns:a="http://schemas.openxmlformats.org/drawingml/2006/main">
            <a:off x="457200" y="1839595"/>
            <a:ext cx="4461510" cy="43731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5000"/>
              </a:lnSpc>
              <a:buNone/>
            </a:pPr>
            <a:r>
              <a:rPr sz="1600" b="0" i="0">
                <a:solidFill>
                  <a:srgbClr val="0A3E77"/>
                </a:solidFill>
                <a:latin typeface="微软雅黑"/>
                <a:ea typeface="微软雅黑"/>
                <a:cs typeface="微软雅黑"/>
              </a:rPr>
              <a:t>解码组件最后会输出一个实数向量。我们如何把浮点数变成一个单词？这便是线性变换层要做的工作，它之后就是</a:t>
            </a:r>
            <a:r>
              <a:rPr sz="1600" b="0" i="0">
                <a:solidFill>
                  <a:srgbClr val="0A3E77"/>
                </a:solidFill>
                <a:latin typeface="微软雅黑"/>
                <a:ea typeface="微软雅黑"/>
                <a:cs typeface="微软雅黑"/>
              </a:rPr>
              <a:t>Softmax</a:t>
            </a:r>
            <a:r>
              <a:rPr sz="1600" b="0" i="0">
                <a:solidFill>
                  <a:srgbClr val="0A3E77"/>
                </a:solidFill>
                <a:latin typeface="微软雅黑"/>
                <a:ea typeface="微软雅黑"/>
                <a:cs typeface="微软雅黑"/>
              </a:rPr>
              <a:t>层。</a:t>
            </a:r>
          </a:p>
          <a:p xmlns:a="http://schemas.openxmlformats.org/drawingml/2006/main">
            <a:pPr>
              <a:lnSpc>
                <a:spcPct val="125000"/>
              </a:lnSpc>
              <a:buNone/>
            </a:pPr>
            <a:r>
              <a:rPr sz="1600" b="0" i="0">
                <a:solidFill>
                  <a:srgbClr val="0A3E77"/>
                </a:solidFill>
                <a:latin typeface="微软雅黑"/>
                <a:ea typeface="微软雅黑"/>
                <a:cs typeface="微软雅黑"/>
              </a:rPr>
              <a:t>线性变换层是一个简单的全连接神经网络，它可以把解码组件产生的向量投射到一个比它大得多的、被称作对数几率（</a:t>
            </a:r>
            <a:r>
              <a:rPr sz="1600" b="0" i="0">
                <a:solidFill>
                  <a:srgbClr val="0A3E77"/>
                </a:solidFill>
                <a:latin typeface="微软雅黑"/>
                <a:ea typeface="微软雅黑"/>
                <a:cs typeface="微软雅黑"/>
              </a:rPr>
              <a:t>logits</a:t>
            </a:r>
            <a:r>
              <a:rPr sz="1600" b="0" i="0">
                <a:solidFill>
                  <a:srgbClr val="0A3E77"/>
                </a:solidFill>
                <a:latin typeface="微软雅黑"/>
                <a:ea typeface="微软雅黑"/>
                <a:cs typeface="微软雅黑"/>
              </a:rPr>
              <a:t>）的向量里。</a:t>
            </a:r>
          </a:p>
          <a:p xmlns:a="http://schemas.openxmlformats.org/drawingml/2006/main">
            <a:pPr>
              <a:lnSpc>
                <a:spcPct val="125000"/>
              </a:lnSpc>
              <a:buNone/>
            </a:pPr>
            <a:r>
              <a:rPr sz="1600" b="0" i="0">
                <a:solidFill>
                  <a:srgbClr val="0A3E77"/>
                </a:solidFill>
                <a:latin typeface="微软雅黑"/>
                <a:ea typeface="微软雅黑"/>
                <a:cs typeface="微软雅黑"/>
              </a:rPr>
              <a:t>不妨假设我们的模型从训练集中学习一万个不同的英语单词（我们模型的“输出词表”）。因此对数几率向量为一万个单元格长度的向量</a:t>
            </a:r>
            <a:r>
              <a:rPr sz="1600" b="0" i="0">
                <a:solidFill>
                  <a:srgbClr val="0A3E77"/>
                </a:solidFill>
                <a:latin typeface="微软雅黑"/>
                <a:ea typeface="微软雅黑"/>
                <a:cs typeface="微软雅黑"/>
              </a:rPr>
              <a:t>——</a:t>
            </a:r>
            <a:r>
              <a:rPr sz="1600" b="0" i="0">
                <a:solidFill>
                  <a:srgbClr val="0A3E77"/>
                </a:solidFill>
                <a:latin typeface="微软雅黑"/>
                <a:ea typeface="微软雅黑"/>
                <a:cs typeface="微软雅黑"/>
              </a:rPr>
              <a:t>每个单元格对应某一个单词的分数。</a:t>
            </a:r>
          </a:p>
          <a:p xmlns:a="http://schemas.openxmlformats.org/drawingml/2006/main">
            <a:pPr>
              <a:lnSpc>
                <a:spcPct val="125000"/>
              </a:lnSpc>
              <a:buNone/>
            </a:pPr>
            <a:r>
              <a:rPr sz="1600" b="0" i="0">
                <a:solidFill>
                  <a:srgbClr val="0A3E77"/>
                </a:solidFill>
                <a:latin typeface="微软雅黑"/>
                <a:ea typeface="微软雅黑"/>
                <a:cs typeface="微软雅黑"/>
              </a:rPr>
              <a:t>接下来的</a:t>
            </a:r>
            <a:r>
              <a:rPr sz="1600" b="0" i="0">
                <a:solidFill>
                  <a:srgbClr val="0A3E77"/>
                </a:solidFill>
                <a:latin typeface="微软雅黑"/>
                <a:ea typeface="微软雅黑"/>
                <a:cs typeface="微软雅黑"/>
              </a:rPr>
              <a:t>Softmax</a:t>
            </a:r>
            <a:r>
              <a:rPr sz="1600" b="0" i="0">
                <a:solidFill>
                  <a:srgbClr val="0A3E77"/>
                </a:solidFill>
                <a:latin typeface="微软雅黑"/>
                <a:ea typeface="微软雅黑"/>
                <a:cs typeface="微软雅黑"/>
              </a:rPr>
              <a:t> </a:t>
            </a:r>
            <a:r>
              <a:rPr sz="1600" b="0" i="0">
                <a:solidFill>
                  <a:srgbClr val="0A3E77"/>
                </a:solidFill>
                <a:latin typeface="微软雅黑"/>
                <a:ea typeface="微软雅黑"/>
                <a:cs typeface="微软雅黑"/>
              </a:rPr>
              <a:t>层便会把那些分数变成概率（都为正数、上限</a:t>
            </a:r>
            <a:r>
              <a:rPr sz="1600" b="0" i="0">
                <a:solidFill>
                  <a:srgbClr val="0A3E77"/>
                </a:solidFill>
                <a:latin typeface="微软雅黑"/>
                <a:ea typeface="微软雅黑"/>
                <a:cs typeface="微软雅黑"/>
              </a:rPr>
              <a:t>1.0</a:t>
            </a:r>
            <a:r>
              <a:rPr sz="1600" b="0" i="0">
                <a:solidFill>
                  <a:srgbClr val="0A3E77"/>
                </a:solidFill>
                <a:latin typeface="微软雅黑"/>
                <a:ea typeface="微软雅黑"/>
                <a:cs typeface="微软雅黑"/>
              </a:rPr>
              <a:t>）。概率最高的单元格被选中，并且它对应的单词被作为这个时间步的输出。</a:t>
            </a:r>
          </a:p>
        </p:txBody>
      </p:sp>
      <p:sp>
        <p:nvSpPr>
          <p:cNvPr id="7" name="文本框 6">
            <a:extLst xmlns:a="http://schemas.openxmlformats.org/drawingml/2006/main">
              <a:ext uri="{FF2B5EF4-FFF2-40B4-BE49-F238E27FC236}">
                <a16:creationId xmlns:a16="http://schemas.microsoft.com/office/drawing/2014/main" id="{579EAE50-B199-48CE-B756-991C8A51BFA8}"/>
              </a:ext>
            </a:extLst>
          </p:cNvPr>
          <p:cNvSpPr>
            <a:spLocks xmlns:a="http://schemas.openxmlformats.org/drawingml/2006/main" noGrp="1"/>
          </p:cNvSpPr>
          <p:nvPr/>
        </p:nvSpPr>
        <p:spPr>
          <a:xfrm xmlns:a="http://schemas.openxmlformats.org/drawingml/2006/main">
            <a:off x="5291455" y="4876591"/>
            <a:ext cx="3276600"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b="0" i="0">
                <a:solidFill>
                  <a:srgbClr val="222222"/>
                </a:solidFill>
                <a:latin typeface="微软雅黑"/>
                <a:ea typeface="微软雅黑"/>
                <a:cs typeface="微软雅黑"/>
              </a:rPr>
              <a:t>这张图片从底部以解码器组件产生的输出向量开始。之后它会转化出一个输出单词。</a:t>
            </a:r>
          </a:p>
        </p:txBody>
      </p:sp>
    </p:spTree>
    <p:extLst>
      <p:ext uri="{BB962C8B-B14F-4D97-AF65-F5344CB8AC3E}">
        <p14:creationId xmlns:p14="http://schemas.microsoft.com/office/powerpoint/2010/main" val="137689457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075" name="Rectangle 3">
            <a:extLst xmlns:a="http://schemas.openxmlformats.org/drawingml/2006/main">
              <a:ext uri="{FF2B5EF4-FFF2-40B4-BE49-F238E27FC236}">
                <a16:creationId xmlns:a16="http://schemas.microsoft.com/office/drawing/2014/main" id="{5E3E4D94-B918-41EC-988E-12D8996DBBA5}"/>
              </a:ext>
            </a:extLst>
          </p:cNvPr>
          <p:cNvSpPr>
            <a:spLocks xmlns:a="http://schemas.openxmlformats.org/drawingml/2006/main" noGrp="1"/>
          </p:cNvSpPr>
          <p:nvPr>
            <p:ph type="subTitle" idx="1"/>
          </p:nvPr>
        </p:nvSpPr>
        <p:spPr>
          <a:xfrm xmlns:a="http://schemas.openxmlformats.org/drawingml/2006/main">
            <a:off x="1638351" y="2514600"/>
            <a:ext cx="5867297" cy="685800"/>
          </a:xfrm>
        </p:spPr>
        <p:txBody>
          <a:bodyPr xmlns:a="http://schemas.openxmlformats.org/drawingml/2006/main"/>
          <a:lstStyle xmlns:a="http://schemas.openxmlformats.org/drawingml/2006/main"/>
          <a:p xmlns:a="http://schemas.openxmlformats.org/drawingml/2006/main">
            <a:pPr algn="ctr">
              <a:buNone/>
            </a:pPr>
            <a:r>
              <a:rPr sz="4400">
                <a:solidFill>
                  <a:srgbClr val="0A3E77"/>
                </a:solidFill>
                <a:latin typeface="微软雅黑"/>
                <a:ea typeface="微软雅黑"/>
                <a:cs typeface="微软雅黑"/>
              </a:rPr>
              <a:t>大语言模型相关知识</a:t>
            </a:r>
          </a:p>
        </p:txBody>
      </p:sp>
    </p:spTree>
    <p:extLst>
      <p:ext uri="{BB962C8B-B14F-4D97-AF65-F5344CB8AC3E}">
        <p14:creationId xmlns:p14="http://schemas.microsoft.com/office/powerpoint/2010/main" val="109912661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F2A1CBB-E7EC-4F5D-805E-075BD869E45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预训练</a:t>
            </a:r>
            <a:r>
              <a:rPr>
                <a:latin typeface="微软雅黑"/>
                <a:ea typeface="微软雅黑"/>
                <a:cs typeface="微软雅黑"/>
              </a:rPr>
              <a:t>(</a:t>
            </a:r>
            <a:r>
              <a:rPr>
                <a:latin typeface="Arial"/>
                <a:ea typeface="Arial"/>
                <a:cs typeface="Arial"/>
              </a:rPr>
              <a:t>Pre-Training</a:t>
            </a:r>
            <a:r>
              <a:rPr>
                <a:latin typeface="微软雅黑"/>
                <a:ea typeface="微软雅黑"/>
                <a:cs typeface="微软雅黑"/>
              </a:rPr>
              <a:t>)</a:t>
            </a:r>
          </a:p>
        </p:txBody>
      </p:sp>
      <p:sp>
        <p:nvSpPr>
          <p:cNvPr id="3" name="内容占位符 2">
            <a:extLst xmlns:a="http://schemas.openxmlformats.org/drawingml/2006/main">
              <a:ext uri="{FF2B5EF4-FFF2-40B4-BE49-F238E27FC236}">
                <a16:creationId xmlns:a16="http://schemas.microsoft.com/office/drawing/2014/main" id="{4D0C49AF-5B7E-43D3-99C7-399D46C3FB9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为什么需要预训练</a:t>
            </a:r>
            <a:r>
              <a:rPr>
                <a:latin typeface="微软雅黑"/>
                <a:ea typeface="微软雅黑"/>
                <a:cs typeface="微软雅黑"/>
              </a:rPr>
              <a:t>(</a:t>
            </a:r>
            <a:r>
              <a:rPr sz="3200">
                <a:latin typeface="Arial"/>
                <a:ea typeface="Arial"/>
                <a:cs typeface="Arial"/>
              </a:rPr>
              <a:t>Pre-Training</a:t>
            </a:r>
            <a:r>
              <a:rPr>
                <a:latin typeface="微软雅黑"/>
                <a:ea typeface="微软雅黑"/>
                <a:cs typeface="微软雅黑"/>
              </a:rPr>
              <a:t>) </a:t>
            </a:r>
            <a:r>
              <a:rPr>
                <a:latin typeface="微软雅黑"/>
                <a:ea typeface="微软雅黑"/>
                <a:cs typeface="微软雅黑"/>
              </a:rPr>
              <a:t>？</a:t>
            </a:r>
          </a:p>
          <a:p xmlns:a="http://schemas.openxmlformats.org/drawingml/2006/main">
            <a:pPr>
              <a:lnSpc>
                <a:spcPct val="150000"/>
              </a:lnSpc>
              <a:buNone/>
            </a:pPr>
            <a:r>
              <a:rPr sz="2000" b="0" i="0">
                <a:solidFill>
                  <a:srgbClr val="1F2328"/>
                </a:solidFill>
                <a:latin typeface="微软雅黑"/>
                <a:ea typeface="微软雅黑"/>
                <a:cs typeface="微软雅黑"/>
              </a:rPr>
              <a:t> </a:t>
            </a:r>
            <a:r>
              <a:rPr sz="2000" b="0" i="0">
                <a:latin typeface="微软雅黑"/>
                <a:ea typeface="微软雅黑"/>
                <a:cs typeface="微软雅黑"/>
              </a:rPr>
              <a:t>预训练是为了让模型在见到特定任务数据之前，先通过学习大量通用数据来捕获广泛有用的特征，从而提升模型在目标任务上的表现和泛化能力。</a:t>
            </a:r>
          </a:p>
        </p:txBody>
      </p:sp>
      <p:pic>
        <p:nvPicPr>
          <p:cNvPr id="7" name="Picture 4"/>
          <p:cNvPicPr>
            <a:picLocks xmlns:a="http://schemas.openxmlformats.org/drawingml/2006/main" noChangeAspect="1"/>
          </p:cNvPicPr>
          <p:nvPr/>
        </p:nvPicPr>
        <p:blipFill>
          <a:blip xmlns:r="http://schemas.openxmlformats.org/officeDocument/2006/relationships" xmlns:a="http://schemas.openxmlformats.org/drawingml/2006/main" r:embed="Rd8b17abe695c40ba"/>
          <a:srcRect xmlns:a="http://schemas.openxmlformats.org/drawingml/2006/main" l="0" t="0" r="0" b="0"/>
          <a:stretch xmlns:a="http://schemas.openxmlformats.org/drawingml/2006/main">
            <a:fillRect l="0" t="0" r="0" b="0"/>
          </a:stretch>
        </p:blipFill>
        <p:spPr>
          <a:xfrm xmlns:a="http://schemas.openxmlformats.org/drawingml/2006/main">
            <a:off x="1570038" y="3276600"/>
            <a:ext cx="5994400" cy="3371850"/>
          </a:xfrm>
          <a:prstGeom xmlns:a="http://schemas.openxmlformats.org/drawingml/2006/main" prst="rect">
            <a:avLst/>
          </a:prstGeom>
        </p:spPr>
      </p:pic>
    </p:spTree>
    <p:extLst>
      <p:ext uri="{BB962C8B-B14F-4D97-AF65-F5344CB8AC3E}">
        <p14:creationId xmlns:p14="http://schemas.microsoft.com/office/powerpoint/2010/main" val="86496864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A534B661-4AD5-4326-87E9-686224AEC1C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l">
              <a:buNone/>
            </a:pPr>
            <a:r>
              <a:rPr b="1" i="0">
                <a:latin typeface="微软雅黑"/>
                <a:ea typeface="微软雅黑"/>
                <a:cs typeface="微软雅黑"/>
              </a:rPr>
              <a:t>自回归</a:t>
            </a:r>
            <a:r>
              <a:rPr b="1" i="0">
                <a:latin typeface="微软雅黑"/>
                <a:ea typeface="微软雅黑"/>
                <a:cs typeface="微软雅黑"/>
              </a:rPr>
              <a:t>(</a:t>
            </a:r>
            <a:r>
              <a:rPr b="1" i="0">
                <a:latin typeface="Arial"/>
                <a:ea typeface="Arial"/>
                <a:cs typeface="Arial"/>
              </a:rPr>
              <a:t>Autoregressive</a:t>
            </a:r>
            <a:r>
              <a:rPr b="1" i="0">
                <a:latin typeface="微软雅黑"/>
                <a:ea typeface="微软雅黑"/>
                <a:cs typeface="微软雅黑"/>
              </a:rPr>
              <a:t>)</a:t>
            </a:r>
            <a:r>
              <a:rPr b="1" i="0">
                <a:latin typeface="微软雅黑"/>
                <a:ea typeface="微软雅黑"/>
                <a:cs typeface="微软雅黑"/>
              </a:rPr>
              <a:t>模型</a:t>
            </a:r>
          </a:p>
        </p:txBody>
      </p:sp>
      <p:sp>
        <p:nvSpPr>
          <p:cNvPr id="3" name="内容占位符 2">
            <a:extLst xmlns:a="http://schemas.openxmlformats.org/drawingml/2006/main">
              <a:ext uri="{FF2B5EF4-FFF2-40B4-BE49-F238E27FC236}">
                <a16:creationId xmlns:a16="http://schemas.microsoft.com/office/drawing/2014/main" id="{C3F07FD6-FA12-4AFA-9A7E-8C6FB390D05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自回归</a:t>
            </a:r>
            <a:r>
              <a:rPr>
                <a:latin typeface="微软雅黑"/>
                <a:ea typeface="微软雅黑"/>
                <a:cs typeface="微软雅黑"/>
              </a:rPr>
              <a:t>(</a:t>
            </a:r>
            <a:r>
              <a:rPr b="1" i="0">
                <a:latin typeface="Arial"/>
                <a:ea typeface="Arial"/>
                <a:cs typeface="Arial"/>
              </a:rPr>
              <a:t>Autoregressive</a:t>
            </a:r>
            <a:r>
              <a:rPr>
                <a:latin typeface="微软雅黑"/>
                <a:ea typeface="微软雅黑"/>
                <a:cs typeface="微软雅黑"/>
              </a:rPr>
              <a:t>)</a:t>
            </a:r>
            <a:r>
              <a:rPr>
                <a:latin typeface="微软雅黑"/>
                <a:ea typeface="微软雅黑"/>
                <a:cs typeface="微软雅黑"/>
              </a:rPr>
              <a:t>语言模型</a:t>
            </a:r>
          </a:p>
          <a:p xmlns:a="http://schemas.openxmlformats.org/drawingml/2006/main">
            <a:pPr>
              <a:buNone/>
            </a:pPr>
            <a:r>
              <a:rPr b="0" i="0">
                <a:latin typeface="微软雅黑"/>
                <a:ea typeface="微软雅黑"/>
                <a:cs typeface="微软雅黑"/>
              </a:rPr>
              <a:t>这种方法主要用于生成式预训练（如</a:t>
            </a:r>
            <a:r>
              <a:rPr b="0" i="0">
                <a:latin typeface="微软雅黑"/>
                <a:ea typeface="微软雅黑"/>
                <a:cs typeface="微软雅黑"/>
              </a:rPr>
              <a:t>GPT</a:t>
            </a:r>
            <a:r>
              <a:rPr b="0" i="0">
                <a:latin typeface="微软雅黑"/>
                <a:ea typeface="微软雅黑"/>
                <a:cs typeface="微软雅黑"/>
              </a:rPr>
              <a:t>）。模型通过预测文本序列中的下一个</a:t>
            </a:r>
            <a:r>
              <a:rPr b="0" i="0">
                <a:latin typeface="微软雅黑"/>
                <a:ea typeface="微软雅黑"/>
                <a:cs typeface="微软雅黑"/>
              </a:rPr>
              <a:t>token</a:t>
            </a:r>
            <a:r>
              <a:rPr b="0" i="0">
                <a:latin typeface="微软雅黑"/>
                <a:ea typeface="微软雅黑"/>
                <a:cs typeface="微软雅黑"/>
              </a:rPr>
              <a:t>来学习语言规律。即在自回归模型中，输入序列中的每个</a:t>
            </a:r>
            <a:r>
              <a:rPr b="0" i="0">
                <a:latin typeface="微软雅黑"/>
                <a:ea typeface="微软雅黑"/>
                <a:cs typeface="微软雅黑"/>
              </a:rPr>
              <a:t>token</a:t>
            </a:r>
            <a:r>
              <a:rPr b="0" i="0">
                <a:latin typeface="微软雅黑"/>
                <a:ea typeface="微软雅黑"/>
                <a:cs typeface="微软雅黑"/>
              </a:rPr>
              <a:t>都是基于前文信息进行预测的，也就是根据前面所有的词预测下一个词。</a:t>
            </a:r>
          </a:p>
        </p:txBody>
      </p:sp>
      <p:pic>
        <p:nvPicPr>
          <p:cNvPr id="7" name="图片 4"/>
          <p:cNvPicPr>
            <a:picLocks xmlns:a="http://schemas.openxmlformats.org/drawingml/2006/main" noChangeAspect="1"/>
          </p:cNvPicPr>
          <p:nvPr/>
        </p:nvPicPr>
        <p:blipFill>
          <a:blip xmlns:r="http://schemas.openxmlformats.org/officeDocument/2006/relationships" xmlns:a="http://schemas.openxmlformats.org/drawingml/2006/main" r:embed="R8f4733ccfe8c4381"/>
          <a:stretch xmlns:a="http://schemas.openxmlformats.org/drawingml/2006/main">
            <a:fillRect l="0" t="0" r="0" b="0"/>
          </a:stretch>
        </p:blipFill>
        <p:spPr>
          <a:xfrm xmlns:a="http://schemas.openxmlformats.org/drawingml/2006/main">
            <a:off x="1371600" y="3670297"/>
            <a:ext cx="6791325" cy="3181350"/>
          </a:xfrm>
          <a:prstGeom xmlns:a="http://schemas.openxmlformats.org/drawingml/2006/main" prst="rect">
            <a:avLst/>
          </a:prstGeom>
        </p:spPr>
      </p:pic>
    </p:spTree>
    <p:extLst>
      <p:ext uri="{BB962C8B-B14F-4D97-AF65-F5344CB8AC3E}">
        <p14:creationId xmlns:p14="http://schemas.microsoft.com/office/powerpoint/2010/main" val="132185900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68D8936-A455-46C8-BDA5-87686697BBB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名词解释</a:t>
            </a:r>
          </a:p>
        </p:txBody>
      </p:sp>
      <p:sp>
        <p:nvSpPr>
          <p:cNvPr id="3" name="内容占位符 2">
            <a:extLst xmlns:a="http://schemas.openxmlformats.org/drawingml/2006/main">
              <a:ext uri="{FF2B5EF4-FFF2-40B4-BE49-F238E27FC236}">
                <a16:creationId xmlns:a16="http://schemas.microsoft.com/office/drawing/2014/main" id="{6C78B513-9AFC-49C7-B35D-B727EFC4F30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监督微调</a:t>
            </a:r>
            <a:r>
              <a:rPr>
                <a:latin typeface="微软雅黑"/>
                <a:ea typeface="微软雅黑"/>
                <a:cs typeface="微软雅黑"/>
              </a:rPr>
              <a:t>SFT</a:t>
            </a:r>
          </a:p>
          <a:p xmlns:a="http://schemas.openxmlformats.org/drawingml/2006/main">
            <a:pPr>
              <a:buNone/>
            </a:pPr>
            <a:r>
              <a:rPr b="0">
                <a:latin typeface="微软雅黑"/>
                <a:ea typeface="微软雅黑"/>
                <a:cs typeface="微软雅黑"/>
              </a:rPr>
              <a:t>使用标注过的带有标签数据来调整预训练模型的参数，使其更好的适应特定任务或领域。</a:t>
            </a:r>
          </a:p>
          <a:p xmlns:a="http://schemas.openxmlformats.org/drawingml/2006/main">
            <a:pPr>
              <a:buNone/>
            </a:pPr>
          </a:p>
          <a:p xmlns:a="http://schemas.openxmlformats.org/drawingml/2006/main">
            <a:r>
              <a:rPr>
                <a:latin typeface="微软雅黑"/>
                <a:ea typeface="微软雅黑"/>
                <a:cs typeface="微软雅黑"/>
              </a:rPr>
              <a:t>基于人类反馈的强化学习微调</a:t>
            </a:r>
            <a:r>
              <a:rPr>
                <a:latin typeface="微软雅黑"/>
                <a:ea typeface="微软雅黑"/>
                <a:cs typeface="微软雅黑"/>
              </a:rPr>
              <a:t>RLHF</a:t>
            </a:r>
          </a:p>
          <a:p xmlns:a="http://schemas.openxmlformats.org/drawingml/2006/main">
            <a:pPr>
              <a:buNone/>
            </a:pPr>
            <a:r>
              <a:rPr b="0" i="0">
                <a:latin typeface="微软雅黑"/>
                <a:ea typeface="微软雅黑"/>
                <a:cs typeface="微软雅黑"/>
              </a:rPr>
              <a:t>一种利用人类反馈作为奖励信号来训练强化学习模型的方法，旨在提升模型生成文本等内容的质量，使其更符合人类偏好。</a:t>
            </a:r>
          </a:p>
        </p:txBody>
      </p:sp>
    </p:spTree>
    <p:extLst>
      <p:ext uri="{BB962C8B-B14F-4D97-AF65-F5344CB8AC3E}">
        <p14:creationId xmlns:p14="http://schemas.microsoft.com/office/powerpoint/2010/main" val="65629312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0" name="textbox 10">
            <a:extLst xmlns:a="http://schemas.openxmlformats.org/drawingml/2006/main">
              <a:ext uri="{FF2B5EF4-FFF2-40B4-BE49-F238E27FC236}">
                <a16:creationId xmlns:a16="http://schemas.microsoft.com/office/drawing/2014/main" id="{28E25010-FAA6-425D-B36A-2FC3FF0E4E18}"/>
              </a:ext>
            </a:extLst>
          </p:cNvPr>
          <p:cNvSpPr>
            <a:spLocks xmlns:a="http://schemas.openxmlformats.org/drawingml/2006/main" noGrp="1"/>
          </p:cNvSpPr>
          <p:nvPr/>
        </p:nvSpPr>
        <p:spPr>
          <a:xfrm xmlns:a="http://schemas.openxmlformats.org/drawingml/2006/main">
            <a:off x="637540" y="1161415"/>
            <a:ext cx="6696075" cy="438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vert="horz" wrap="square" lIns="0" tIns="0" rIns="0" bIns="0"/>
          <a:lstStyle xmlns:a="http://schemas.openxmlformats.org/drawingml/2006/main"/>
          <a:p xmlns:a="http://schemas.openxmlformats.org/drawingml/2006/main">
            <a:pPr algn="l">
              <a:lnSpc>
                <a:spcPct val="100000"/>
              </a:lnSpc>
              <a:buNone/>
            </a:pPr>
          </a:p>
          <a:p xmlns:a="http://schemas.openxmlformats.org/drawingml/2006/main">
            <a:pPr marL="12700" algn="l">
              <a:lnSpc>
                <a:spcPts val="4525"/>
              </a:lnSpc>
              <a:buNone/>
            </a:pPr>
            <a:r>
              <a:rPr sz="2645" b="1">
                <a:solidFill>
                  <a:srgbClr val="000000">
                    <a:alpha val="100000"/>
                  </a:srgbClr>
                </a:solidFill>
                <a:latin typeface="宋体"/>
                <a:ea typeface="宋体"/>
                <a:cs typeface="宋体"/>
              </a:rPr>
              <a:t>三步流程</a:t>
            </a:r>
          </a:p>
        </p:txBody>
      </p:sp>
      <p:sp>
        <p:nvSpPr>
          <p:cNvPr id="3" name="标题 2">
            <a:extLst xmlns:a="http://schemas.openxmlformats.org/drawingml/2006/main">
              <a:ext uri="{FF2B5EF4-FFF2-40B4-BE49-F238E27FC236}">
                <a16:creationId xmlns:a16="http://schemas.microsoft.com/office/drawing/2014/main" id="{5BF080C8-D08C-4C6E-BEEA-6F8F42BFF1F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l">
              <a:buNone/>
            </a:pPr>
            <a:r>
              <a:rPr b="1" i="0">
                <a:latin typeface="微软雅黑"/>
                <a:ea typeface="微软雅黑"/>
                <a:cs typeface="微软雅黑"/>
              </a:rPr>
              <a:t>大语言模型的后训练（</a:t>
            </a:r>
            <a:r>
              <a:rPr b="1" i="0">
                <a:latin typeface="微软雅黑"/>
                <a:ea typeface="微软雅黑"/>
                <a:cs typeface="微软雅黑"/>
              </a:rPr>
              <a:t>Post-training</a:t>
            </a:r>
            <a:r>
              <a:rPr b="1" i="0">
                <a:latin typeface="微软雅黑"/>
                <a:ea typeface="微软雅黑"/>
                <a:cs typeface="微软雅黑"/>
              </a:rPr>
              <a:t>）</a:t>
            </a:r>
          </a:p>
        </p:txBody>
      </p:sp>
      <p:pic>
        <p:nvPicPr>
          <p:cNvPr id="120" name="Google Shape;103;p15"/>
          <p:cNvPicPr>
            <a:picLocks xmlns:a="http://schemas.openxmlformats.org/drawingml/2006/main" noChangeAspect="1"/>
          </p:cNvPicPr>
          <p:nvPr/>
        </p:nvPicPr>
        <p:blipFill rotWithShape="1">
          <a:blip xmlns:r="http://schemas.openxmlformats.org/officeDocument/2006/relationships" xmlns:a="http://schemas.openxmlformats.org/drawingml/2006/main" r:embed="R2d505ca72ead4c0f"/>
          <a:srcRect xmlns:a="http://schemas.openxmlformats.org/drawingml/2006/main" l="0" t="0" r="0" b="0"/>
          <a:stretch xmlns:a="http://schemas.openxmlformats.org/drawingml/2006/main">
            <a:fillRect l="0" t="0" r="0" b="0"/>
          </a:stretch>
        </p:blipFill>
        <p:spPr>
          <a:xfrm xmlns:a="http://schemas.openxmlformats.org/drawingml/2006/main">
            <a:off x="357505" y="1900555"/>
            <a:ext cx="2619375" cy="4514215"/>
          </a:xfrm>
          <a:prstGeom xmlns:a="http://schemas.openxmlformats.org/drawingml/2006/main" prst="rect">
            <a:avLst/>
          </a:prstGeom>
          <a:ln xmlns:a="http://schemas.openxmlformats.org/drawingml/2006/main">
            <a:noFill/>
          </a:ln>
        </p:spPr>
      </p:pic>
      <p:pic>
        <p:nvPicPr>
          <p:cNvPr id="121" name="Google Shape;104;p15"/>
          <p:cNvPicPr>
            <a:picLocks xmlns:a="http://schemas.openxmlformats.org/drawingml/2006/main" noChangeAspect="1"/>
          </p:cNvPicPr>
          <p:nvPr/>
        </p:nvPicPr>
        <p:blipFill rotWithShape="1">
          <a:blip xmlns:r="http://schemas.openxmlformats.org/officeDocument/2006/relationships" xmlns:a="http://schemas.openxmlformats.org/drawingml/2006/main" r:embed="Rc6dfa1a49efb4675"/>
          <a:srcRect xmlns:a="http://schemas.openxmlformats.org/drawingml/2006/main" l="0" t="0" r="0" b="0"/>
          <a:stretch xmlns:a="http://schemas.openxmlformats.org/drawingml/2006/main">
            <a:fillRect l="0" t="0" r="0" b="0"/>
          </a:stretch>
        </p:blipFill>
        <p:spPr>
          <a:xfrm xmlns:a="http://schemas.openxmlformats.org/drawingml/2006/main">
            <a:off x="3262630" y="1900555"/>
            <a:ext cx="2619375" cy="4514215"/>
          </a:xfrm>
          <a:prstGeom xmlns:a="http://schemas.openxmlformats.org/drawingml/2006/main" prst="rect">
            <a:avLst/>
          </a:prstGeom>
          <a:ln xmlns:a="http://schemas.openxmlformats.org/drawingml/2006/main">
            <a:noFill/>
          </a:ln>
        </p:spPr>
      </p:pic>
      <p:pic>
        <p:nvPicPr>
          <p:cNvPr id="122" name="Google Shape;105;p15"/>
          <p:cNvPicPr>
            <a:picLocks xmlns:a="http://schemas.openxmlformats.org/drawingml/2006/main" noChangeAspect="1"/>
          </p:cNvPicPr>
          <p:nvPr/>
        </p:nvPicPr>
        <p:blipFill rotWithShape="1">
          <a:blip xmlns:r="http://schemas.openxmlformats.org/officeDocument/2006/relationships" xmlns:a="http://schemas.openxmlformats.org/drawingml/2006/main" r:embed="R42287c7c6340480d"/>
          <a:srcRect xmlns:a="http://schemas.openxmlformats.org/drawingml/2006/main" l="0" t="0" r="0" b="0"/>
          <a:stretch xmlns:a="http://schemas.openxmlformats.org/drawingml/2006/main">
            <a:fillRect l="0" t="0" r="0" b="0"/>
          </a:stretch>
        </p:blipFill>
        <p:spPr>
          <a:xfrm xmlns:a="http://schemas.openxmlformats.org/drawingml/2006/main">
            <a:off x="6167755" y="1900555"/>
            <a:ext cx="2619375" cy="4514215"/>
          </a:xfrm>
          <a:prstGeom xmlns:a="http://schemas.openxmlformats.org/drawingml/2006/main" prst="rect">
            <a:avLst/>
          </a:prstGeom>
          <a:ln xmlns:a="http://schemas.openxmlformats.org/drawingml/2006/main">
            <a:noFill/>
          </a:ln>
        </p:spPr>
      </p:pic>
      <p:sp>
        <p:nvSpPr>
          <p:cNvPr id="106" name="Google Shape;106;p15">
            <a:extLst xmlns:a="http://schemas.openxmlformats.org/drawingml/2006/main">
              <a:ext uri="{FF2B5EF4-FFF2-40B4-BE49-F238E27FC236}">
                <a16:creationId xmlns:a16="http://schemas.microsoft.com/office/drawing/2014/main" id="{72E9F8FA-D586-4B72-9DD0-B94989B183BC}"/>
              </a:ext>
            </a:extLst>
          </p:cNvPr>
          <p:cNvSpPr>
            <a:spLocks xmlns:a="http://schemas.openxmlformats.org/drawingml/2006/main" noGrp="1"/>
          </p:cNvSpPr>
          <p:nvPr/>
        </p:nvSpPr>
        <p:spPr>
          <a:xfrm xmlns:a="http://schemas.openxmlformats.org/drawingml/2006/main">
            <a:off x="531732" y="2893739"/>
            <a:ext cx="2270323" cy="24574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005088"/>
                </a:solidFill>
                <a:latin typeface="微软雅黑"/>
                <a:ea typeface="微软雅黑"/>
                <a:cs typeface="微软雅黑"/>
              </a:rPr>
              <a:t>步骤 1：监督微调 (SFT)</a:t>
            </a:r>
          </a:p>
        </p:txBody>
      </p:sp>
      <p:sp>
        <p:nvSpPr>
          <p:cNvPr id="107" name="Google Shape;107;p15">
            <a:extLst xmlns:a="http://schemas.openxmlformats.org/drawingml/2006/main">
              <a:ext uri="{FF2B5EF4-FFF2-40B4-BE49-F238E27FC236}">
                <a16:creationId xmlns:a16="http://schemas.microsoft.com/office/drawing/2014/main" id="{0B36AC5D-C80F-4859-99CF-8ED2CF90D5D2}"/>
              </a:ext>
            </a:extLst>
          </p:cNvPr>
          <p:cNvSpPr>
            <a:spLocks xmlns:a="http://schemas.openxmlformats.org/drawingml/2006/main" noGrp="1"/>
          </p:cNvSpPr>
          <p:nvPr/>
        </p:nvSpPr>
        <p:spPr>
          <a:xfrm xmlns:a="http://schemas.openxmlformats.org/drawingml/2006/main">
            <a:off x="609283" y="3410470"/>
            <a:ext cx="2162212" cy="275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lnSpc>
                <a:spcPct val="160000"/>
              </a:lnSpc>
              <a:spcBef>
                <a:spcPts val="0"/>
              </a:spcBef>
              <a:spcAft>
                <a:spcPts val="0"/>
              </a:spcAft>
              <a:buNone/>
            </a:pPr>
            <a:r>
              <a:rPr sz="1600" b="0" i="0" u="none" cap="none">
                <a:solidFill>
                  <a:srgbClr val="121212"/>
                </a:solidFill>
                <a:latin typeface="微软雅黑"/>
                <a:ea typeface="微软雅黑"/>
                <a:cs typeface="微软雅黑"/>
              </a:rPr>
              <a:t>收集演示数据并训练监督策略。从提示数据集中采样后，由人类标注者演示期望的输出行为。这些数据被用来对语言模型进行有监督的微调。</a:t>
            </a:r>
          </a:p>
        </p:txBody>
      </p:sp>
      <p:sp>
        <p:nvSpPr>
          <p:cNvPr id="108" name="Google Shape;108;p15">
            <a:extLst xmlns:a="http://schemas.openxmlformats.org/drawingml/2006/main">
              <a:ext uri="{FF2B5EF4-FFF2-40B4-BE49-F238E27FC236}">
                <a16:creationId xmlns:a16="http://schemas.microsoft.com/office/drawing/2014/main" id="{EB5E9F3F-6D52-446E-90DA-B7CE62382CCC}"/>
              </a:ext>
            </a:extLst>
          </p:cNvPr>
          <p:cNvSpPr>
            <a:spLocks xmlns:a="http://schemas.openxmlformats.org/drawingml/2006/main" noGrp="1"/>
          </p:cNvSpPr>
          <p:nvPr/>
        </p:nvSpPr>
        <p:spPr>
          <a:xfrm xmlns:a="http://schemas.openxmlformats.org/drawingml/2006/main">
            <a:off x="3450610" y="2893739"/>
            <a:ext cx="2242780" cy="24574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005088"/>
                </a:solidFill>
                <a:latin typeface="微软雅黑"/>
                <a:ea typeface="微软雅黑"/>
                <a:cs typeface="微软雅黑"/>
              </a:rPr>
              <a:t>步骤 2：奖励模型 (RM)</a:t>
            </a:r>
          </a:p>
        </p:txBody>
      </p:sp>
      <p:sp>
        <p:nvSpPr>
          <p:cNvPr id="109" name="Google Shape;109;p15">
            <a:extLst xmlns:a="http://schemas.openxmlformats.org/drawingml/2006/main">
              <a:ext uri="{FF2B5EF4-FFF2-40B4-BE49-F238E27FC236}">
                <a16:creationId xmlns:a16="http://schemas.microsoft.com/office/drawing/2014/main" id="{0C61F4F3-E2BD-429D-B23D-A28DB68095F5}"/>
              </a:ext>
            </a:extLst>
          </p:cNvPr>
          <p:cNvSpPr>
            <a:spLocks xmlns:a="http://schemas.openxmlformats.org/drawingml/2006/main" noGrp="1"/>
          </p:cNvSpPr>
          <p:nvPr/>
        </p:nvSpPr>
        <p:spPr>
          <a:xfrm xmlns:a="http://schemas.openxmlformats.org/drawingml/2006/main">
            <a:off x="3490949" y="3400945"/>
            <a:ext cx="2162212" cy="275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lnSpc>
                <a:spcPct val="160000"/>
              </a:lnSpc>
              <a:spcBef>
                <a:spcPts val="0"/>
              </a:spcBef>
              <a:spcAft>
                <a:spcPts val="0"/>
              </a:spcAft>
              <a:buNone/>
            </a:pPr>
            <a:r>
              <a:rPr sz="1600" b="0" i="0" u="none" cap="none">
                <a:solidFill>
                  <a:srgbClr val="121212"/>
                </a:solidFill>
                <a:latin typeface="微软雅黑"/>
                <a:ea typeface="微软雅黑"/>
                <a:cs typeface="微软雅黑"/>
              </a:rPr>
              <a:t>收集对比数据并训练奖励模型。对同一个提示采样多个模型输出，标注者对这些输出从最佳到最差进行严格排序，以此训练符合人类偏好的奖励模型。</a:t>
            </a:r>
          </a:p>
        </p:txBody>
      </p:sp>
      <p:sp>
        <p:nvSpPr>
          <p:cNvPr id="110" name="Google Shape;110;p15">
            <a:extLst xmlns:a="http://schemas.openxmlformats.org/drawingml/2006/main">
              <a:ext uri="{FF2B5EF4-FFF2-40B4-BE49-F238E27FC236}">
                <a16:creationId xmlns:a16="http://schemas.microsoft.com/office/drawing/2014/main" id="{A60DEB17-B2E4-418C-A395-73497885FD6F}"/>
              </a:ext>
            </a:extLst>
          </p:cNvPr>
          <p:cNvSpPr>
            <a:spLocks xmlns:a="http://schemas.openxmlformats.org/drawingml/2006/main" noGrp="1"/>
          </p:cNvSpPr>
          <p:nvPr/>
        </p:nvSpPr>
        <p:spPr>
          <a:xfrm xmlns:a="http://schemas.openxmlformats.org/drawingml/2006/main">
            <a:off x="6397027" y="2893739"/>
            <a:ext cx="2160270" cy="24574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005088"/>
                </a:solidFill>
                <a:latin typeface="微软雅黑"/>
                <a:ea typeface="微软雅黑"/>
                <a:cs typeface="微软雅黑"/>
              </a:rPr>
              <a:t>步骤 3：强化学习 (RL)</a:t>
            </a:r>
          </a:p>
        </p:txBody>
      </p:sp>
      <p:sp>
        <p:nvSpPr>
          <p:cNvPr id="111" name="Google Shape;111;p15">
            <a:extLst xmlns:a="http://schemas.openxmlformats.org/drawingml/2006/main">
              <a:ext uri="{FF2B5EF4-FFF2-40B4-BE49-F238E27FC236}">
                <a16:creationId xmlns:a16="http://schemas.microsoft.com/office/drawing/2014/main" id="{1DE27865-F508-4E5C-A62E-EB27D3C32198}"/>
              </a:ext>
            </a:extLst>
          </p:cNvPr>
          <p:cNvSpPr>
            <a:spLocks xmlns:a="http://schemas.openxmlformats.org/drawingml/2006/main" noGrp="1"/>
          </p:cNvSpPr>
          <p:nvPr/>
        </p:nvSpPr>
        <p:spPr>
          <a:xfrm xmlns:a="http://schemas.openxmlformats.org/drawingml/2006/main">
            <a:off x="6396112" y="3400945"/>
            <a:ext cx="2162212" cy="275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lnSpc>
                <a:spcPct val="160000"/>
              </a:lnSpc>
              <a:spcBef>
                <a:spcPts val="0"/>
              </a:spcBef>
              <a:spcAft>
                <a:spcPts val="0"/>
              </a:spcAft>
              <a:buNone/>
            </a:pPr>
            <a:r>
              <a:rPr sz="1600" b="0" i="0" u="none" cap="none">
                <a:solidFill>
                  <a:srgbClr val="121212"/>
                </a:solidFill>
                <a:latin typeface="微软雅黑"/>
                <a:ea typeface="微软雅黑"/>
                <a:cs typeface="微软雅黑"/>
              </a:rPr>
              <a:t>针对奖励模型使用强化学习优化策略。采样新提示词，策略模型生成输出并由奖励模型计算奖励打分，最终使用 PPO 算法持续更新并优化策略。</a:t>
            </a:r>
          </a:p>
        </p:txBody>
      </p:sp>
      <p:pic>
        <p:nvPicPr>
          <p:cNvPr id="129" name="Google Shape;112;p15"/>
          <p:cNvPicPr>
            <a:picLocks xmlns:a="http://schemas.openxmlformats.org/drawingml/2006/main" noChangeAspect="1"/>
          </p:cNvPicPr>
          <p:nvPr/>
        </p:nvPicPr>
        <p:blipFill rotWithShape="1">
          <a:blip xmlns:r="http://schemas.openxmlformats.org/officeDocument/2006/relationships" xmlns:a="http://schemas.openxmlformats.org/drawingml/2006/main" r:embed="R5cbc204695274b51"/>
          <a:srcRect xmlns:a="http://schemas.openxmlformats.org/drawingml/2006/main" l="0" t="0" r="0" b="0"/>
          <a:stretch xmlns:a="http://schemas.openxmlformats.org/drawingml/2006/main">
            <a:fillRect l="0" t="0" r="0" b="0"/>
          </a:stretch>
        </p:blipFill>
        <p:spPr>
          <a:xfrm xmlns:a="http://schemas.openxmlformats.org/drawingml/2006/main">
            <a:off x="1470384" y="2250802"/>
            <a:ext cx="392906" cy="392906"/>
          </a:xfrm>
          <a:prstGeom xmlns:a="http://schemas.openxmlformats.org/drawingml/2006/main" prst="rect">
            <a:avLst/>
          </a:prstGeom>
          <a:ln xmlns:a="http://schemas.openxmlformats.org/drawingml/2006/main">
            <a:noFill/>
          </a:ln>
        </p:spPr>
      </p:pic>
      <p:pic>
        <p:nvPicPr>
          <p:cNvPr id="130" name="Google Shape;113;p15"/>
          <p:cNvPicPr>
            <a:picLocks xmlns:a="http://schemas.openxmlformats.org/drawingml/2006/main" noChangeAspect="1"/>
          </p:cNvPicPr>
          <p:nvPr/>
        </p:nvPicPr>
        <p:blipFill rotWithShape="1">
          <a:blip xmlns:r="http://schemas.openxmlformats.org/officeDocument/2006/relationships" xmlns:a="http://schemas.openxmlformats.org/drawingml/2006/main" r:embed="R0aa24f035a7741c8"/>
          <a:srcRect xmlns:a="http://schemas.openxmlformats.org/drawingml/2006/main" l="0" t="0" r="0" b="0"/>
          <a:stretch xmlns:a="http://schemas.openxmlformats.org/drawingml/2006/main">
            <a:fillRect l="0" t="0" r="0" b="0"/>
          </a:stretch>
        </p:blipFill>
        <p:spPr>
          <a:xfrm xmlns:a="http://schemas.openxmlformats.org/drawingml/2006/main">
            <a:off x="4375547" y="2250802"/>
            <a:ext cx="392906" cy="392906"/>
          </a:xfrm>
          <a:prstGeom xmlns:a="http://schemas.openxmlformats.org/drawingml/2006/main" prst="rect">
            <a:avLst/>
          </a:prstGeom>
          <a:ln xmlns:a="http://schemas.openxmlformats.org/drawingml/2006/main">
            <a:noFill/>
          </a:ln>
        </p:spPr>
      </p:pic>
      <p:pic>
        <p:nvPicPr>
          <p:cNvPr id="131" name="Google Shape;114;p15"/>
          <p:cNvPicPr>
            <a:picLocks xmlns:a="http://schemas.openxmlformats.org/drawingml/2006/main" noChangeAspect="1"/>
          </p:cNvPicPr>
          <p:nvPr/>
        </p:nvPicPr>
        <p:blipFill rotWithShape="1">
          <a:blip xmlns:r="http://schemas.openxmlformats.org/officeDocument/2006/relationships" xmlns:a="http://schemas.openxmlformats.org/drawingml/2006/main" r:embed="R6174c31e52f54225"/>
          <a:srcRect xmlns:a="http://schemas.openxmlformats.org/drawingml/2006/main" l="0" t="0" r="0" b="0"/>
          <a:stretch xmlns:a="http://schemas.openxmlformats.org/drawingml/2006/main">
            <a:fillRect l="0" t="0" r="0" b="0"/>
          </a:stretch>
        </p:blipFill>
        <p:spPr>
          <a:xfrm xmlns:a="http://schemas.openxmlformats.org/drawingml/2006/main">
            <a:off x="7230703" y="2250802"/>
            <a:ext cx="492919" cy="39290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71609305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标题 2">
            <a:extLst xmlns:a="http://schemas.openxmlformats.org/drawingml/2006/main">
              <a:ext uri="{FF2B5EF4-FFF2-40B4-BE49-F238E27FC236}">
                <a16:creationId xmlns:a16="http://schemas.microsoft.com/office/drawing/2014/main" id="{555408AD-482A-4CF4-81A2-2AEF644A1CAD}"/>
              </a:ext>
            </a:extLst>
          </p:cNvPr>
          <p:cNvSpPr>
            <a:spLocks xmlns:a="http://schemas.openxmlformats.org/drawingml/2006/main" noGrp="1"/>
          </p:cNvSpPr>
          <p:nvPr/>
        </p:nvSpPr>
        <p:spPr>
          <a:xfrm xmlns:a="http://schemas.openxmlformats.org/drawingml/2006/main">
            <a:off x="395605" y="304800"/>
            <a:ext cx="9409430" cy="663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b"/>
          <a:lstStyle xmlns:a="http://schemas.openxmlformats.org/drawingml/2006/main">
            <a:lvl1pPr algn="l">
              <a:buNone/>
              <a:defRPr sz="3600" b="1">
                <a:solidFill>
                  <a:srgbClr val="0A3E77"/>
                </a:solidFill>
                <a:latin typeface="微软雅黑"/>
                <a:ea typeface="微软雅黑"/>
                <a:cs typeface="微软雅黑"/>
              </a:defRPr>
            </a:lvl1pPr>
            <a:lvl2pPr algn="l">
              <a:buNone/>
              <a:defRPr sz="3600" b="1">
                <a:solidFill>
                  <a:schemeClr val="accent2"/>
                </a:solidFill>
                <a:latin typeface="Times New Roman"/>
                <a:ea typeface="Times New Roman"/>
                <a:cs typeface="Times New Roman"/>
              </a:defRPr>
            </a:lvl2pPr>
            <a:lvl3pPr algn="l">
              <a:buNone/>
              <a:defRPr sz="3600" b="1">
                <a:solidFill>
                  <a:schemeClr val="accent2"/>
                </a:solidFill>
                <a:latin typeface="Times New Roman"/>
                <a:ea typeface="Times New Roman"/>
                <a:cs typeface="Times New Roman"/>
              </a:defRPr>
            </a:lvl3pPr>
            <a:lvl4pPr algn="l">
              <a:buNone/>
              <a:defRPr sz="3600" b="1">
                <a:solidFill>
                  <a:schemeClr val="accent2"/>
                </a:solidFill>
                <a:latin typeface="Times New Roman"/>
                <a:ea typeface="Times New Roman"/>
                <a:cs typeface="Times New Roman"/>
              </a:defRPr>
            </a:lvl4pPr>
            <a:lvl5pPr algn="l">
              <a:buNone/>
              <a:defRPr sz="3600" b="1">
                <a:solidFill>
                  <a:schemeClr val="accent2"/>
                </a:solidFill>
                <a:latin typeface="Times New Roman"/>
                <a:ea typeface="Times New Roman"/>
                <a:cs typeface="Times New Roman"/>
              </a:defRPr>
            </a:lvl5pPr>
            <a:lvl6pPr marL="457200" algn="l">
              <a:buNone/>
              <a:defRPr sz="3800" b="1">
                <a:solidFill>
                  <a:schemeClr val="accent2"/>
                </a:solidFill>
                <a:latin typeface="Verdana"/>
                <a:ea typeface="Verdana"/>
                <a:cs typeface="Verdana"/>
              </a:defRPr>
            </a:lvl6pPr>
            <a:lvl7pPr marL="914400" algn="l">
              <a:buNone/>
              <a:defRPr sz="3800" b="1">
                <a:solidFill>
                  <a:schemeClr val="accent2"/>
                </a:solidFill>
                <a:latin typeface="Verdana"/>
                <a:ea typeface="Verdana"/>
                <a:cs typeface="Verdana"/>
              </a:defRPr>
            </a:lvl7pPr>
            <a:lvl8pPr marL="1371600" algn="l">
              <a:buNone/>
              <a:defRPr sz="3800" b="1">
                <a:solidFill>
                  <a:schemeClr val="accent2"/>
                </a:solidFill>
                <a:latin typeface="Verdana"/>
                <a:ea typeface="Verdana"/>
                <a:cs typeface="Verdana"/>
              </a:defRPr>
            </a:lvl8pPr>
            <a:lvl9pPr marL="1828800" algn="l">
              <a:buNone/>
              <a:defRPr sz="3800" b="1">
                <a:solidFill>
                  <a:schemeClr val="accent2"/>
                </a:solidFill>
                <a:latin typeface="Verdana"/>
                <a:ea typeface="Verdana"/>
                <a:cs typeface="Verdana"/>
              </a:defRPr>
            </a:lvl9pPr>
          </a:lstStyle>
          <a:p xmlns:a="http://schemas.openxmlformats.org/drawingml/2006/main">
            <a:pPr algn="l">
              <a:buNone/>
            </a:pPr>
            <a:r>
              <a:t>基于人类反馈的强化学习 (RLHF)</a:t>
            </a:r>
          </a:p>
        </p:txBody>
      </p:sp>
      <p:pic>
        <p:nvPicPr>
          <p:cNvPr id="8" name="图片 1"/>
          <p:cNvPicPr>
            <a:picLocks xmlns:a="http://schemas.openxmlformats.org/drawingml/2006/main" noChangeAspect="1"/>
          </p:cNvPicPr>
          <p:nvPr/>
        </p:nvPicPr>
        <p:blipFill>
          <a:blip xmlns:r="http://schemas.openxmlformats.org/officeDocument/2006/relationships" xmlns:a="http://schemas.openxmlformats.org/drawingml/2006/main" r:embed="R7775e24c9ec54ca5"/>
          <a:stretch xmlns:a="http://schemas.openxmlformats.org/drawingml/2006/main">
            <a:fillRect l="0" t="0" r="0" b="0"/>
          </a:stretch>
        </p:blipFill>
        <p:spPr>
          <a:xfrm xmlns:a="http://schemas.openxmlformats.org/drawingml/2006/main">
            <a:off x="114935" y="1219200"/>
            <a:ext cx="8794750" cy="5154295"/>
          </a:xfrm>
          <a:prstGeom xmlns:a="http://schemas.openxmlformats.org/drawingml/2006/main" prst="rect">
            <a:avLst/>
          </a:prstGeom>
        </p:spPr>
      </p:pic>
      <p:sp>
        <p:nvSpPr>
          <p:cNvPr id="4" name="文本框 3">
            <a:extLst xmlns:a="http://schemas.openxmlformats.org/drawingml/2006/main">
              <a:ext uri="{FF2B5EF4-FFF2-40B4-BE49-F238E27FC236}">
                <a16:creationId xmlns:a16="http://schemas.microsoft.com/office/drawing/2014/main" id="{C3F41F9A-DF74-465F-B2DF-9B973BAC5BA8}"/>
              </a:ext>
            </a:extLst>
          </p:cNvPr>
          <p:cNvSpPr>
            <a:spLocks xmlns:a="http://schemas.openxmlformats.org/drawingml/2006/main" noGrp="1"/>
          </p:cNvSpPr>
          <p:nvPr/>
        </p:nvSpPr>
        <p:spPr>
          <a:xfrm xmlns:a="http://schemas.openxmlformats.org/drawingml/2006/main">
            <a:off x="457200" y="1295400"/>
            <a:ext cx="7694295" cy="398780"/>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r>
              <a:rPr sz="2000" b="1">
                <a:solidFill>
                  <a:srgbClr val="000000"/>
                </a:solidFill>
                <a:latin typeface="Helvetica Neue Bold"/>
                <a:ea typeface="Helvetica Neue Bold"/>
                <a:cs typeface="Helvetica Neue Bold"/>
              </a:rPr>
              <a:t>RLHF</a:t>
            </a:r>
            <a:r>
              <a:rPr sz="1600" b="1">
                <a:solidFill>
                  <a:srgbClr val="000000"/>
                </a:solidFill>
                <a:latin typeface="Helvetica Neue Bold"/>
                <a:ea typeface="Helvetica Neue Bold"/>
                <a:cs typeface="Helvetica Neue Bold"/>
              </a:rPr>
              <a:t>(Reinforcement Learning from Human Feedback)</a:t>
            </a:r>
          </a:p>
        </p:txBody>
      </p:sp>
      <p:sp>
        <p:nvSpPr>
          <p:cNvPr id="5" name="矩形 4">
            <a:extLst xmlns:a="http://schemas.openxmlformats.org/drawingml/2006/main">
              <a:ext uri="{FF2B5EF4-FFF2-40B4-BE49-F238E27FC236}">
                <a16:creationId xmlns:a16="http://schemas.microsoft.com/office/drawing/2014/main" id="{4FB1C3C7-7BC7-48DC-8395-B87A5F40E4AB}"/>
              </a:ext>
            </a:extLst>
          </p:cNvPr>
          <p:cNvSpPr>
            <a:spLocks xmlns:a="http://schemas.openxmlformats.org/drawingml/2006/main" noGrp="1"/>
          </p:cNvSpPr>
          <p:nvPr/>
        </p:nvSpPr>
        <p:spPr>
          <a:xfrm xmlns:a="http://schemas.openxmlformats.org/drawingml/2006/main">
            <a:off x="4038600" y="1676400"/>
            <a:ext cx="4495800" cy="4648200"/>
          </a:xfrm>
          <a:prstGeom xmlns:a="http://schemas.openxmlformats.org/drawingml/2006/main" prst="rect">
            <a:avLst/>
          </a:prstGeom>
          <a:noFill xmlns:a="http://schemas.openxmlformats.org/drawingml/2006/main"/>
          <a:ln xmlns:a="http://schemas.openxmlformats.org/drawingml/2006/main" w="50800" cmpd="sng">
            <a:solidFill>
              <a:srgbClr val="FF5050"/>
            </a:solidFill>
            <a:prstDash val="solid"/>
            <a:headEnd type="none" w="med" len="med"/>
            <a:tailEnd type="none" w="med" len="med"/>
          </a:ln>
        </p:spPr>
        <p:txBody>
          <a:bodyPr xmlns:a="http://schemas.openxmlformats.org/drawingml/2006/main" vert="horz" wrap="square" lIns="91440" tIns="45720" rIns="91440" bIns="45720" anchor="t">
            <a:spAutoFit/>
          </a:bodyPr>
          <a:lstStyle xmlns:a="http://schemas.openxmlformats.org/drawingml/2006/main"/>
          <a:p xmlns:a="http://schemas.openxmlformats.org/drawingml/2006/main">
            <a:pPr marL="342900" indent="-342900" algn="l">
              <a:lnSpc>
                <a:spcPct val="100000"/>
              </a:lnSpc>
              <a:spcBef>
                <a:spcPts val="0"/>
              </a:spcBef>
              <a:spcAft>
                <a:spcPts val="0"/>
              </a:spcAft>
              <a:buChar char="p"/>
            </a:pPr>
          </a:p>
        </p:txBody>
      </p:sp>
    </p:spTree>
    <p:extLst>
      <p:ext uri="{BB962C8B-B14F-4D97-AF65-F5344CB8AC3E}">
        <p14:creationId xmlns:p14="http://schemas.microsoft.com/office/powerpoint/2010/main" val="173007859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ED94002-639E-4557-B782-EA12CAB08F4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直接偏好优化</a:t>
            </a:r>
            <a:r>
              <a:rPr>
                <a:latin typeface="微软雅黑"/>
                <a:ea typeface="微软雅黑"/>
                <a:cs typeface="微软雅黑"/>
              </a:rPr>
              <a:t>(</a:t>
            </a:r>
            <a:r>
              <a:rPr>
                <a:latin typeface="微软雅黑"/>
                <a:ea typeface="微软雅黑"/>
                <a:cs typeface="微软雅黑"/>
              </a:rPr>
              <a:t>DPO)</a:t>
            </a:r>
          </a:p>
        </p:txBody>
      </p:sp>
      <p:sp>
        <p:nvSpPr>
          <p:cNvPr id="3" name="内容占位符 2">
            <a:extLst xmlns:a="http://schemas.openxmlformats.org/drawingml/2006/main">
              <a:ext uri="{FF2B5EF4-FFF2-40B4-BE49-F238E27FC236}">
                <a16:creationId xmlns:a16="http://schemas.microsoft.com/office/drawing/2014/main" id="{7E86A754-83BE-48E2-AE73-E5D4A328A353}"/>
              </a:ext>
            </a:extLst>
          </p:cNvPr>
          <p:cNvSpPr>
            <a:spLocks xmlns:a="http://schemas.openxmlformats.org/drawingml/2006/main" noGrp="1"/>
          </p:cNvSpPr>
          <p:nvPr/>
        </p:nvSpPr>
        <p:spPr>
          <a:xfrm xmlns:a="http://schemas.openxmlformats.org/drawingml/2006/main">
            <a:off x="567055" y="1285875"/>
            <a:ext cx="8164830" cy="25488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t"/>
          <a:lstStyle xmlns:a="http://schemas.openxmlformats.org/drawingml/2006/main">
            <a:lvl1pPr marL="469900" indent="-469900" algn="l">
              <a:buChar char="p"/>
              <a:defRPr sz="2800" b="1">
                <a:solidFill>
                  <a:srgbClr val="0A3E77"/>
                </a:solidFill>
                <a:latin typeface="Arial"/>
                <a:ea typeface="Arial"/>
                <a:cs typeface="Arial"/>
              </a:defRPr>
            </a:lvl1pPr>
            <a:lvl2pPr marL="908050" indent="-436880" algn="l">
              <a:buChar char="n"/>
              <a:defRPr sz="2400" b="1">
                <a:solidFill>
                  <a:srgbClr val="0A3E77"/>
                </a:solidFill>
                <a:latin typeface="Arial"/>
                <a:ea typeface="Arial"/>
                <a:cs typeface="Arial"/>
              </a:defRPr>
            </a:lvl2pPr>
            <a:lvl3pPr marL="1252220" indent="-342900" algn="l">
              <a:buChar char="p"/>
              <a:defRPr sz="2000" b="0">
                <a:solidFill>
                  <a:srgbClr val="0A3E77"/>
                </a:solidFill>
                <a:latin typeface="Arial"/>
                <a:ea typeface="Arial"/>
                <a:cs typeface="Arial"/>
              </a:defRPr>
            </a:lvl3pPr>
            <a:lvl4pPr marL="1694180" indent="-387350" algn="l">
              <a:buChar char="n"/>
              <a:defRPr sz="1800">
                <a:solidFill>
                  <a:srgbClr val="0A3E77"/>
                </a:solidFill>
                <a:latin typeface="Arial"/>
                <a:ea typeface="Arial"/>
                <a:cs typeface="Arial"/>
              </a:defRPr>
            </a:lvl4pPr>
            <a:lvl5pPr marL="2094230" indent="-398780" algn="l">
              <a:buChar char="§"/>
              <a:defRPr sz="1200">
                <a:solidFill>
                  <a:schemeClr val="tx1"/>
                </a:solidFill>
                <a:latin typeface="微软雅黑"/>
                <a:ea typeface="微软雅黑"/>
                <a:cs typeface="微软雅黑"/>
              </a:defRPr>
            </a:lvl5pPr>
            <a:lvl6pPr marL="2551430" indent="-398780" algn="l">
              <a:buChar char="§"/>
              <a:defRPr sz="1200">
                <a:solidFill>
                  <a:schemeClr val="tx1"/>
                </a:solidFill>
                <a:latin typeface="+mn-lt"/>
                <a:ea typeface="+mn-lt"/>
                <a:cs typeface="+mn-lt"/>
              </a:defRPr>
            </a:lvl6pPr>
            <a:lvl7pPr marL="3008630" indent="-398780" algn="l">
              <a:buChar char="§"/>
              <a:defRPr sz="1200">
                <a:solidFill>
                  <a:schemeClr val="tx1"/>
                </a:solidFill>
                <a:latin typeface="+mn-lt"/>
                <a:ea typeface="+mn-lt"/>
                <a:cs typeface="+mn-lt"/>
              </a:defRPr>
            </a:lvl7pPr>
            <a:lvl8pPr marL="3465830" indent="-398780" algn="l">
              <a:buChar char="§"/>
              <a:defRPr sz="1200">
                <a:solidFill>
                  <a:schemeClr val="tx1"/>
                </a:solidFill>
                <a:latin typeface="+mn-lt"/>
                <a:ea typeface="+mn-lt"/>
                <a:cs typeface="+mn-lt"/>
              </a:defRPr>
            </a:lvl8pPr>
            <a:lvl9pPr marL="3923030" indent="-398780" algn="l">
              <a:buChar char="§"/>
              <a:defRPr sz="1200">
                <a:solidFill>
                  <a:schemeClr val="tx1"/>
                </a:solidFill>
                <a:latin typeface="+mn-lt"/>
                <a:ea typeface="+mn-lt"/>
                <a:cs typeface="+mn-lt"/>
              </a:defRPr>
            </a:lvl9pPr>
          </a:lstStyle>
          <a:p xmlns:a="http://schemas.openxmlformats.org/drawingml/2006/main">
            <a:r>
              <a:rPr sz="2800">
                <a:latin typeface="微软雅黑"/>
                <a:ea typeface="微软雅黑"/>
                <a:cs typeface="微软雅黑"/>
              </a:rPr>
              <a:t>采用另一种离线强化学习 (</a:t>
            </a:r>
            <a:r>
              <a:rPr sz="2800">
                <a:latin typeface="微软雅黑"/>
                <a:ea typeface="微软雅黑"/>
                <a:cs typeface="微软雅黑"/>
              </a:rPr>
              <a:t>Offline RL) </a:t>
            </a:r>
            <a:r>
              <a:rPr sz="2800">
                <a:latin typeface="微软雅黑"/>
                <a:ea typeface="微软雅黑"/>
                <a:cs typeface="微软雅黑"/>
              </a:rPr>
              <a:t>方案：</a:t>
            </a:r>
          </a:p>
          <a:p xmlns:a="http://schemas.openxmlformats.org/drawingml/2006/main">
            <a:pPr>
              <a:buNone/>
            </a:pPr>
            <a:r>
              <a:rPr sz="2400" b="0">
                <a:latin typeface="微软雅黑"/>
                <a:ea typeface="微软雅黑"/>
                <a:cs typeface="微软雅黑"/>
              </a:rPr>
              <a:t>离线强化学习使用一组包含奖励的静态轨迹，而不是在学习过程中生成新的轨迹（正如我们在</a:t>
            </a:r>
            <a:r>
              <a:rPr sz="2400" b="0">
                <a:latin typeface="微软雅黑"/>
                <a:ea typeface="微软雅黑"/>
                <a:cs typeface="微软雅黑"/>
              </a:rPr>
              <a:t>REINFORCE </a:t>
            </a:r>
            <a:r>
              <a:rPr sz="2400" b="0">
                <a:latin typeface="微软雅黑"/>
                <a:ea typeface="微软雅黑"/>
                <a:cs typeface="微软雅黑"/>
              </a:rPr>
              <a:t>和 </a:t>
            </a:r>
            <a:r>
              <a:rPr sz="2400" b="0">
                <a:latin typeface="微软雅黑"/>
                <a:ea typeface="微软雅黑"/>
                <a:cs typeface="微软雅黑"/>
              </a:rPr>
              <a:t>PPO </a:t>
            </a:r>
            <a:r>
              <a:rPr sz="2400" b="0">
                <a:latin typeface="微软雅黑"/>
                <a:ea typeface="微软雅黑"/>
                <a:cs typeface="微软雅黑"/>
              </a:rPr>
              <a:t>算法中所看到的那样）</a:t>
            </a:r>
          </a:p>
          <a:p xmlns:a="http://schemas.openxmlformats.org/drawingml/2006/main">
            <a:pPr marL="469900" indent="-469900">
              <a:buChar char="p"/>
            </a:pPr>
            <a:r>
              <a:rPr>
                <a:solidFill>
                  <a:srgbClr val="0A3E77"/>
                </a:solidFill>
                <a:latin typeface="微软雅黑"/>
                <a:ea typeface="微软雅黑"/>
                <a:cs typeface="微软雅黑"/>
              </a:rPr>
              <a:t>将奖励限制在一种特定的形式</a:t>
            </a:r>
          </a:p>
          <a:p xmlns:a="http://schemas.openxmlformats.org/drawingml/2006/main">
            <a:pPr marL="469900" indent="-469900">
              <a:buChar char="p"/>
            </a:pPr>
            <a:r>
              <a:rPr>
                <a:solidFill>
                  <a:srgbClr val="0A3E77"/>
                </a:solidFill>
                <a:latin typeface="微软雅黑"/>
                <a:ea typeface="微软雅黑"/>
                <a:cs typeface="微软雅黑"/>
              </a:rPr>
              <a:t>将奖励学习目标与强化学习（</a:t>
            </a:r>
            <a:r>
              <a:rPr>
                <a:solidFill>
                  <a:srgbClr val="0A3E77"/>
                </a:solidFill>
                <a:latin typeface="微软雅黑"/>
                <a:ea typeface="微软雅黑"/>
                <a:cs typeface="微软雅黑"/>
              </a:rPr>
              <a:t>RL）</a:t>
            </a:r>
            <a:r>
              <a:rPr>
                <a:solidFill>
                  <a:srgbClr val="0A3E77"/>
                </a:solidFill>
                <a:latin typeface="微软雅黑"/>
                <a:ea typeface="微软雅黑"/>
                <a:cs typeface="微软雅黑"/>
              </a:rPr>
              <a:t>目标相结合，从而直接优化策略</a:t>
            </a:r>
          </a:p>
        </p:txBody>
      </p:sp>
      <p:pic>
        <p:nvPicPr>
          <p:cNvPr id="7" name="图片 3"/>
          <p:cNvPicPr>
            <a:picLocks xmlns:a="http://schemas.openxmlformats.org/drawingml/2006/main" noChangeAspect="1"/>
          </p:cNvPicPr>
          <p:nvPr/>
        </p:nvPicPr>
        <p:blipFill>
          <a:blip xmlns:r="http://schemas.openxmlformats.org/officeDocument/2006/relationships" xmlns:a="http://schemas.openxmlformats.org/drawingml/2006/main" r:embed="Re2aca2e48e164eaf"/>
          <a:stretch xmlns:a="http://schemas.openxmlformats.org/drawingml/2006/main">
            <a:fillRect l="0" t="0" r="0" b="0"/>
          </a:stretch>
        </p:blipFill>
        <p:spPr>
          <a:xfrm xmlns:a="http://schemas.openxmlformats.org/drawingml/2006/main">
            <a:off x="266700" y="4572000"/>
            <a:ext cx="8765540" cy="1814195"/>
          </a:xfrm>
          <a:prstGeom xmlns:a="http://schemas.openxmlformats.org/drawingml/2006/main" prst="rect">
            <a:avLst/>
          </a:prstGeom>
        </p:spPr>
      </p:pic>
    </p:spTree>
    <p:extLst>
      <p:ext uri="{BB962C8B-B14F-4D97-AF65-F5344CB8AC3E}">
        <p14:creationId xmlns:p14="http://schemas.microsoft.com/office/powerpoint/2010/main" val="152450453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EBBD74C-2C34-4E06-B50A-902BA71DCC2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800">
                <a:latin typeface="微软雅黑"/>
                <a:ea typeface="微软雅黑"/>
                <a:cs typeface="微软雅黑"/>
              </a:rPr>
              <a:t>大语言模型后训练 (</a:t>
            </a:r>
            <a:r>
              <a:rPr sz="2800">
                <a:latin typeface="微软雅黑"/>
                <a:ea typeface="微软雅黑"/>
                <a:cs typeface="微软雅黑"/>
              </a:rPr>
              <a:t>Post-training LLMs)</a:t>
            </a:r>
          </a:p>
        </p:txBody>
      </p:sp>
      <p:sp>
        <p:nvSpPr>
          <p:cNvPr id="5" name="内容占位符 2">
            <a:extLst xmlns:a="http://schemas.openxmlformats.org/drawingml/2006/main">
              <a:ext uri="{FF2B5EF4-FFF2-40B4-BE49-F238E27FC236}">
                <a16:creationId xmlns:a16="http://schemas.microsoft.com/office/drawing/2014/main" id="{7357A769-08F5-40BF-90EF-539C4C9E3296}"/>
              </a:ext>
            </a:extLst>
          </p:cNvPr>
          <p:cNvSpPr>
            <a:spLocks xmlns:a="http://schemas.openxmlformats.org/drawingml/2006/main" noGrp="1"/>
          </p:cNvSpPr>
          <p:nvPr/>
        </p:nvSpPr>
        <p:spPr>
          <a:xfrm xmlns:a="http://schemas.openxmlformats.org/drawingml/2006/main">
            <a:off x="567055" y="1285875"/>
            <a:ext cx="8000365" cy="514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t"/>
          <a:lstStyle xmlns:a="http://schemas.openxmlformats.org/drawingml/2006/main">
            <a:lvl1pPr marL="469900" indent="-469900" algn="l">
              <a:buChar char="p"/>
              <a:defRPr sz="2800" b="1">
                <a:solidFill>
                  <a:srgbClr val="0A3E77"/>
                </a:solidFill>
                <a:latin typeface="Arial"/>
                <a:ea typeface="Arial"/>
                <a:cs typeface="Arial"/>
              </a:defRPr>
            </a:lvl1pPr>
            <a:lvl2pPr marL="908050" indent="-436880" algn="l">
              <a:buChar char="n"/>
              <a:defRPr sz="2400" b="1">
                <a:solidFill>
                  <a:srgbClr val="0A3E77"/>
                </a:solidFill>
                <a:latin typeface="Arial"/>
                <a:ea typeface="Arial"/>
                <a:cs typeface="Arial"/>
              </a:defRPr>
            </a:lvl2pPr>
            <a:lvl3pPr marL="1252220" indent="-342900" algn="l">
              <a:buChar char="p"/>
              <a:defRPr sz="2000" b="0">
                <a:solidFill>
                  <a:srgbClr val="0A3E77"/>
                </a:solidFill>
                <a:latin typeface="Arial"/>
                <a:ea typeface="Arial"/>
                <a:cs typeface="Arial"/>
              </a:defRPr>
            </a:lvl3pPr>
            <a:lvl4pPr marL="1694180" indent="-387350" algn="l">
              <a:buChar char="n"/>
              <a:defRPr sz="1800">
                <a:solidFill>
                  <a:srgbClr val="0A3E77"/>
                </a:solidFill>
                <a:latin typeface="Arial"/>
                <a:ea typeface="Arial"/>
                <a:cs typeface="Arial"/>
              </a:defRPr>
            </a:lvl4pPr>
            <a:lvl5pPr marL="2094230" indent="-398780" algn="l">
              <a:buChar char="§"/>
              <a:defRPr sz="1200">
                <a:solidFill>
                  <a:schemeClr val="tx1"/>
                </a:solidFill>
                <a:latin typeface="微软雅黑"/>
                <a:ea typeface="微软雅黑"/>
                <a:cs typeface="微软雅黑"/>
              </a:defRPr>
            </a:lvl5pPr>
            <a:lvl6pPr marL="2551430" indent="-398780" algn="l">
              <a:buChar char="§"/>
              <a:defRPr sz="1200">
                <a:solidFill>
                  <a:schemeClr val="tx1"/>
                </a:solidFill>
                <a:latin typeface="+mn-lt"/>
                <a:ea typeface="+mn-lt"/>
                <a:cs typeface="+mn-lt"/>
              </a:defRPr>
            </a:lvl6pPr>
            <a:lvl7pPr marL="3008630" indent="-398780" algn="l">
              <a:buChar char="§"/>
              <a:defRPr sz="1200">
                <a:solidFill>
                  <a:schemeClr val="tx1"/>
                </a:solidFill>
                <a:latin typeface="+mn-lt"/>
                <a:ea typeface="+mn-lt"/>
                <a:cs typeface="+mn-lt"/>
              </a:defRPr>
            </a:lvl7pPr>
            <a:lvl8pPr marL="3465830" indent="-398780" algn="l">
              <a:buChar char="§"/>
              <a:defRPr sz="1200">
                <a:solidFill>
                  <a:schemeClr val="tx1"/>
                </a:solidFill>
                <a:latin typeface="+mn-lt"/>
                <a:ea typeface="+mn-lt"/>
                <a:cs typeface="+mn-lt"/>
              </a:defRPr>
            </a:lvl8pPr>
            <a:lvl9pPr marL="3923030" indent="-398780" algn="l">
              <a:buChar char="§"/>
              <a:defRPr sz="1200">
                <a:solidFill>
                  <a:schemeClr val="tx1"/>
                </a:solidFill>
                <a:latin typeface="+mn-lt"/>
                <a:ea typeface="+mn-lt"/>
                <a:cs typeface="+mn-lt"/>
              </a:defRPr>
            </a:lvl9pPr>
          </a:lstStyle>
          <a:p xmlns:a="http://schemas.openxmlformats.org/drawingml/2006/main">
            <a:r>
              <a:rPr>
                <a:solidFill>
                  <a:srgbClr val="0A3E77"/>
                </a:solidFill>
                <a:latin typeface="微软雅黑"/>
                <a:ea typeface="微软雅黑"/>
                <a:cs typeface="微软雅黑"/>
              </a:rPr>
              <a:t>核心要点</a:t>
            </a:r>
          </a:p>
          <a:p xmlns:a="http://schemas.openxmlformats.org/drawingml/2006/main">
            <a:pPr>
              <a:lnSpc>
                <a:spcPct val="130000"/>
              </a:lnSpc>
              <a:buChar char="l"/>
            </a:pPr>
            <a:r>
              <a:rPr sz="1800">
                <a:solidFill>
                  <a:srgbClr val="0A3E77"/>
                </a:solidFill>
                <a:latin typeface="微软雅黑"/>
                <a:ea typeface="微软雅黑"/>
                <a:cs typeface="微软雅黑"/>
              </a:rPr>
              <a:t>RLHF </a:t>
            </a:r>
            <a:r>
              <a:rPr sz="1800">
                <a:solidFill>
                  <a:srgbClr val="0A3E77"/>
                </a:solidFill>
                <a:latin typeface="微软雅黑"/>
                <a:ea typeface="微软雅黑"/>
                <a:cs typeface="微软雅黑"/>
              </a:rPr>
              <a:t>是让强大的 </a:t>
            </a:r>
            <a:r>
              <a:rPr sz="1800">
                <a:solidFill>
                  <a:srgbClr val="0A3E77"/>
                </a:solidFill>
                <a:latin typeface="微软雅黑"/>
                <a:ea typeface="微软雅黑"/>
                <a:cs typeface="微软雅黑"/>
              </a:rPr>
              <a:t>LLM </a:t>
            </a:r>
            <a:r>
              <a:rPr sz="1800">
                <a:solidFill>
                  <a:srgbClr val="0A3E77"/>
                </a:solidFill>
                <a:latin typeface="微软雅黑"/>
                <a:ea typeface="微软雅黑"/>
                <a:cs typeface="微软雅黑"/>
              </a:rPr>
              <a:t>变得实用的核心过程：</a:t>
            </a:r>
            <a:r>
              <a:rPr sz="1800" b="0">
                <a:solidFill>
                  <a:srgbClr val="0A3E77"/>
                </a:solidFill>
                <a:latin typeface="微软雅黑"/>
                <a:ea typeface="微软雅黑"/>
                <a:cs typeface="微软雅黑"/>
              </a:rPr>
              <a:t> 虽然不可或缺，但这一过程非常复杂且耗费计算资源。</a:t>
            </a:r>
          </a:p>
          <a:p xmlns:a="http://schemas.openxmlformats.org/drawingml/2006/main">
            <a:pPr>
              <a:lnSpc>
                <a:spcPct val="130000"/>
              </a:lnSpc>
              <a:buChar char="l"/>
            </a:pPr>
            <a:r>
              <a:rPr sz="1800">
                <a:solidFill>
                  <a:srgbClr val="0A3E77"/>
                </a:solidFill>
                <a:latin typeface="微软雅黑"/>
                <a:ea typeface="微软雅黑"/>
                <a:cs typeface="微软雅黑"/>
              </a:rPr>
              <a:t>它使用了强化学习的一个受限实例：</a:t>
            </a:r>
            <a:r>
              <a:rPr sz="1800" b="0">
                <a:solidFill>
                  <a:srgbClr val="0A3E77"/>
                </a:solidFill>
                <a:latin typeface="微软雅黑"/>
                <a:ea typeface="微软雅黑"/>
                <a:cs typeface="微软雅黑"/>
              </a:rPr>
              <a:t> 即“上下文</a:t>
            </a:r>
            <a:r>
              <a:rPr sz="1800" b="0">
                <a:solidFill>
                  <a:srgbClr val="0A3E77"/>
                </a:solidFill>
                <a:latin typeface="微软雅黑"/>
                <a:ea typeface="微软雅黑"/>
                <a:cs typeface="微软雅黑"/>
              </a:rPr>
              <a:t>赌博机 (</a:t>
            </a:r>
            <a:r>
              <a:rPr sz="1800" b="0">
                <a:solidFill>
                  <a:srgbClr val="0A3E77"/>
                </a:solidFill>
                <a:latin typeface="微软雅黑"/>
                <a:ea typeface="微软雅黑"/>
                <a:cs typeface="微软雅黑"/>
              </a:rPr>
              <a:t>Contextual Bandits)”，</a:t>
            </a:r>
            <a:r>
              <a:rPr sz="1800" b="0">
                <a:solidFill>
                  <a:srgbClr val="0A3E77"/>
                </a:solidFill>
                <a:latin typeface="微软雅黑"/>
                <a:ea typeface="微软雅黑"/>
                <a:cs typeface="微软雅黑"/>
              </a:rPr>
              <a:t>尽管所使用的算法相对通用。</a:t>
            </a:r>
          </a:p>
          <a:p xmlns:a="http://schemas.openxmlformats.org/drawingml/2006/main">
            <a:pPr>
              <a:lnSpc>
                <a:spcPct val="130000"/>
              </a:lnSpc>
              <a:buChar char="l"/>
            </a:pPr>
            <a:r>
              <a:rPr sz="1800">
                <a:solidFill>
                  <a:srgbClr val="0A3E77"/>
                </a:solidFill>
                <a:latin typeface="微软雅黑"/>
                <a:ea typeface="微软雅黑"/>
                <a:cs typeface="微软雅黑"/>
              </a:rPr>
              <a:t>数据是整个过程的关键：</a:t>
            </a:r>
            <a:r>
              <a:rPr sz="1800" b="0">
                <a:solidFill>
                  <a:srgbClr val="0A3E77"/>
                </a:solidFill>
                <a:latin typeface="微软雅黑"/>
                <a:ea typeface="微软雅黑"/>
                <a:cs typeface="微软雅黑"/>
              </a:rPr>
              <a:t> 需要对数据进行精细的筛选和标注。</a:t>
            </a:r>
          </a:p>
          <a:p xmlns:a="http://schemas.openxmlformats.org/drawingml/2006/main">
            <a:pPr>
              <a:lnSpc>
                <a:spcPct val="130000"/>
              </a:lnSpc>
              <a:buChar char="l"/>
            </a:pPr>
            <a:r>
              <a:rPr sz="1800">
                <a:solidFill>
                  <a:srgbClr val="0A3E77"/>
                </a:solidFill>
                <a:latin typeface="微软雅黑"/>
                <a:ea typeface="微软雅黑"/>
                <a:cs typeface="微软雅黑"/>
              </a:rPr>
              <a:t>存在可以达到相似甚至相同效果的有监督方法：</a:t>
            </a:r>
            <a:r>
              <a:rPr sz="1800" b="0">
                <a:solidFill>
                  <a:srgbClr val="0A3E77"/>
                </a:solidFill>
                <a:latin typeface="微软雅黑"/>
                <a:ea typeface="微软雅黑"/>
                <a:cs typeface="微软雅黑"/>
              </a:rPr>
              <a:t> 例如 </a:t>
            </a:r>
            <a:r>
              <a:rPr sz="1800" b="0">
                <a:solidFill>
                  <a:srgbClr val="0A3E77"/>
                </a:solidFill>
                <a:latin typeface="微软雅黑"/>
                <a:ea typeface="微软雅黑"/>
                <a:cs typeface="微软雅黑"/>
              </a:rPr>
              <a:t>DPO (</a:t>
            </a:r>
            <a:r>
              <a:rPr sz="1800" b="0">
                <a:solidFill>
                  <a:srgbClr val="0A3E77"/>
                </a:solidFill>
                <a:latin typeface="微软雅黑"/>
                <a:ea typeface="微软雅黑"/>
                <a:cs typeface="微软雅黑"/>
              </a:rPr>
              <a:t>直接偏好优化</a:t>
            </a:r>
            <a:r>
              <a:rPr sz="1800" b="0">
                <a:solidFill>
                  <a:srgbClr val="0A3E77"/>
                </a:solidFill>
                <a:latin typeface="微软雅黑"/>
                <a:ea typeface="微软雅黑"/>
                <a:cs typeface="微软雅黑"/>
              </a:rPr>
              <a:t>)。</a:t>
            </a:r>
          </a:p>
          <a:p xmlns:a="http://schemas.openxmlformats.org/drawingml/2006/main">
            <a:pPr>
              <a:lnSpc>
                <a:spcPct val="130000"/>
              </a:lnSpc>
              <a:buChar char="l"/>
            </a:pPr>
            <a:r>
              <a:rPr sz="1800">
                <a:solidFill>
                  <a:srgbClr val="0A3E77"/>
                </a:solidFill>
                <a:latin typeface="微软雅黑"/>
                <a:ea typeface="微软雅黑"/>
                <a:cs typeface="微软雅黑"/>
              </a:rPr>
              <a:t>小规模微调仍有发挥空间：</a:t>
            </a:r>
            <a:r>
              <a:rPr sz="1800" b="0">
                <a:solidFill>
                  <a:srgbClr val="0A3E77"/>
                </a:solidFill>
                <a:latin typeface="微软雅黑"/>
                <a:ea typeface="微软雅黑"/>
                <a:cs typeface="微软雅黑"/>
              </a:rPr>
              <a:t> 尤其是在</a:t>
            </a:r>
            <a:r>
              <a:rPr sz="1800" b="0">
                <a:solidFill>
                  <a:srgbClr val="0A3E77"/>
                </a:solidFill>
                <a:latin typeface="微软雅黑"/>
                <a:ea typeface="微软雅黑"/>
                <a:cs typeface="微软雅黑"/>
              </a:rPr>
              <a:t>特定的场景下。</a:t>
            </a:r>
          </a:p>
          <a:p xmlns:a="http://schemas.openxmlformats.org/drawingml/2006/main">
            <a:pPr>
              <a:lnSpc>
                <a:spcPct val="130000"/>
              </a:lnSpc>
              <a:buChar char="l"/>
            </a:pPr>
            <a:r>
              <a:rPr sz="1800">
                <a:solidFill>
                  <a:srgbClr val="0A3E77"/>
                </a:solidFill>
                <a:latin typeface="微软雅黑"/>
                <a:ea typeface="微软雅黑"/>
                <a:cs typeface="微软雅黑"/>
              </a:rPr>
              <a:t>仍有许多未解决的问题：</a:t>
            </a:r>
            <a:r>
              <a:rPr sz="1800" b="0">
                <a:solidFill>
                  <a:srgbClr val="0A3E77"/>
                </a:solidFill>
                <a:latin typeface="微软雅黑"/>
                <a:ea typeface="微软雅黑"/>
                <a:cs typeface="微软雅黑"/>
              </a:rPr>
              <a:t> 该领域目前仍有大量的活跃研究。</a:t>
            </a:r>
          </a:p>
        </p:txBody>
      </p:sp>
    </p:spTree>
    <p:extLst>
      <p:ext uri="{BB962C8B-B14F-4D97-AF65-F5344CB8AC3E}">
        <p14:creationId xmlns:p14="http://schemas.microsoft.com/office/powerpoint/2010/main" val="220813612"/>
      </p:ext>
    </p:extLst>
  </p:cSld>
</p:sld>
</file>

<file path=ppt/theme/theme1.xml><?xml version="1.0" encoding="utf-8"?>
<a:theme xmlns:a="http://schemas.openxmlformats.org/drawingml/2006/main" name="1_红白模板">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黑体"/>
        <a:cs typeface=""/>
      </a:majorFont>
      <a:minorFont>
        <a:latin typeface="Verdana"/>
        <a:ea typeface="黑体"/>
        <a:cs typeface=""/>
      </a:minorFont>
    </a:fontScheme>
    <a:fmtScheme name="Profile 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2026-07-16T03:38:57.9790000Z</dcterms:created>
  <dcterms:modified xsi:type="dcterms:W3CDTF">2026-07-16T03:38:57.9790000Z</dcterms:modified>
</coreProperties>
</file>