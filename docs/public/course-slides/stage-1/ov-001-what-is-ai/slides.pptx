
<file path=[Content_Types].xml><?xml version="1.0" encoding="utf-8"?>
<Types xmlns="http://schemas.openxmlformats.org/package/2006/content-types">
  <Default Extension="xml" ContentType="application/vnd.openxmlformats-package.core-properties+xml"/>
  <Default Extension="tiff" ContentType="image/tiff"/>
  <Default Extension="jpeg" ContentType="image/jpeg"/>
  <Default Extension="png" ContentType="image/png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6ea2e471e24828" /><Relationship Type="http://schemas.openxmlformats.org/officeDocument/2006/relationships/extended-properties" Target="/docProps/app.xml" Id="Re407ab30225e4356" /><Relationship Type="http://schemas.openxmlformats.org/officeDocument/2006/relationships/officeDocument" Target="/ppt/presentation.xml" Id="R4bc66b41ef3541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733a5895c34e84"/>
  </p:sldMasterIdLst>
  <p:notesMasterIdLst>
    <p:notesMasterId xmlns:r="http://schemas.openxmlformats.org/officeDocument/2006/relationships" r:id="R2ab04b004a214849"/>
  </p:notesMasterIdLst>
  <p:sldIdLst>
    <p:sldId xmlns:r="http://schemas.openxmlformats.org/officeDocument/2006/relationships" id="256" r:id="Ra7c7cb5e7ce140ea"/>
    <p:sldId xmlns:r="http://schemas.openxmlformats.org/officeDocument/2006/relationships" id="257" r:id="R583e8d7fe78d4349"/>
    <p:sldId xmlns:r="http://schemas.openxmlformats.org/officeDocument/2006/relationships" id="258" r:id="Rce86df56c2c1448e"/>
    <p:sldId xmlns:r="http://schemas.openxmlformats.org/officeDocument/2006/relationships" id="259" r:id="Rce153bfc82f745ab"/>
    <p:sldId xmlns:r="http://schemas.openxmlformats.org/officeDocument/2006/relationships" id="260" r:id="Rcf1f5106f0b94a54"/>
    <p:sldId xmlns:r="http://schemas.openxmlformats.org/officeDocument/2006/relationships" id="261" r:id="R30266a5707c74d59"/>
    <p:sldId xmlns:r="http://schemas.openxmlformats.org/officeDocument/2006/relationships" id="262" r:id="Rb0cedda68aa6426f"/>
    <p:sldId xmlns:r="http://schemas.openxmlformats.org/officeDocument/2006/relationships" id="263" r:id="R37a0f8bb5e4d49a4"/>
    <p:sldId xmlns:r="http://schemas.openxmlformats.org/officeDocument/2006/relationships" id="264" r:id="Rca47438c69ff4488"/>
    <p:sldId xmlns:r="http://schemas.openxmlformats.org/officeDocument/2006/relationships" id="265" r:id="R212cba78ebd04ff6"/>
    <p:sldId xmlns:r="http://schemas.openxmlformats.org/officeDocument/2006/relationships" id="266" r:id="Rcf24a1a856544a01"/>
    <p:sldId xmlns:r="http://schemas.openxmlformats.org/officeDocument/2006/relationships" id="267" r:id="Rba15f42b2fce4fb8"/>
    <p:sldId xmlns:r="http://schemas.openxmlformats.org/officeDocument/2006/relationships" id="268" r:id="R2049b634b7d44063"/>
    <p:sldId xmlns:r="http://schemas.openxmlformats.org/officeDocument/2006/relationships" id="269" r:id="R87b71b6ef34e4b17"/>
    <p:sldId xmlns:r="http://schemas.openxmlformats.org/officeDocument/2006/relationships" id="270" r:id="R84f9762c42c34f58"/>
    <p:sldId xmlns:r="http://schemas.openxmlformats.org/officeDocument/2006/relationships" id="271" r:id="R4b7bcff4542b466c"/>
    <p:sldId xmlns:r="http://schemas.openxmlformats.org/officeDocument/2006/relationships" id="272" r:id="R49ff85b0420d436c"/>
    <p:sldId xmlns:r="http://schemas.openxmlformats.org/officeDocument/2006/relationships" id="273" r:id="Re387953c49ea4a8c"/>
    <p:sldId xmlns:r="http://schemas.openxmlformats.org/officeDocument/2006/relationships" id="274" r:id="R755a8b1c28e3433f"/>
    <p:sldId xmlns:r="http://schemas.openxmlformats.org/officeDocument/2006/relationships" id="275" r:id="Rec007faee45d4ac7"/>
    <p:sldId xmlns:r="http://schemas.openxmlformats.org/officeDocument/2006/relationships" id="276" r:id="R88ca963dbee14698"/>
    <p:sldId xmlns:r="http://schemas.openxmlformats.org/officeDocument/2006/relationships" id="277" r:id="Ra5fcd2d41cab4363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35501b9f9d418a" /><Relationship Type="http://schemas.openxmlformats.org/officeDocument/2006/relationships/slideMaster" Target="/ppt/slideMasters/slideMaster1.xml" Id="R2e733a5895c34e84" /><Relationship Type="http://schemas.openxmlformats.org/officeDocument/2006/relationships/notesMaster" Target="/ppt/notesMasters/notesMaster1.xml" Id="R2ab04b004a214849" /><Relationship Type="http://schemas.openxmlformats.org/officeDocument/2006/relationships/presProps" Target="/ppt/presProps.xml" Id="R89b31b52f09c45b5" /><Relationship Type="http://schemas.openxmlformats.org/officeDocument/2006/relationships/viewProps" Target="/ppt/viewProps.xml" Id="Rdf2b343a53364648" /><Relationship Type="http://schemas.openxmlformats.org/officeDocument/2006/relationships/tableStyles" Target="/ppt/tableStyles.xml" Id="R87c6bf65006947e8" /><Relationship Type="http://schemas.openxmlformats.org/officeDocument/2006/relationships/slide" Target="/ppt/slides/slide1.xml" Id="Ra7c7cb5e7ce140ea" /><Relationship Type="http://schemas.openxmlformats.org/officeDocument/2006/relationships/slide" Target="/ppt/slides/slide2.xml" Id="R583e8d7fe78d4349" /><Relationship Type="http://schemas.openxmlformats.org/officeDocument/2006/relationships/slide" Target="/ppt/slides/slide3.xml" Id="Rce86df56c2c1448e" /><Relationship Type="http://schemas.openxmlformats.org/officeDocument/2006/relationships/slide" Target="/ppt/slides/slide4.xml" Id="Rce153bfc82f745ab" /><Relationship Type="http://schemas.openxmlformats.org/officeDocument/2006/relationships/slide" Target="/ppt/slides/slide5.xml" Id="Rcf1f5106f0b94a54" /><Relationship Type="http://schemas.openxmlformats.org/officeDocument/2006/relationships/slide" Target="/ppt/slides/slide6.xml" Id="R30266a5707c74d59" /><Relationship Type="http://schemas.openxmlformats.org/officeDocument/2006/relationships/slide" Target="/ppt/slides/slide7.xml" Id="Rb0cedda68aa6426f" /><Relationship Type="http://schemas.openxmlformats.org/officeDocument/2006/relationships/slide" Target="/ppt/slides/slide8.xml" Id="R37a0f8bb5e4d49a4" /><Relationship Type="http://schemas.openxmlformats.org/officeDocument/2006/relationships/slide" Target="/ppt/slides/slide9.xml" Id="Rca47438c69ff4488" /><Relationship Type="http://schemas.openxmlformats.org/officeDocument/2006/relationships/slide" Target="/ppt/slides/slide10.xml" Id="R212cba78ebd04ff6" /><Relationship Type="http://schemas.openxmlformats.org/officeDocument/2006/relationships/slide" Target="/ppt/slides/slide11.xml" Id="Rcf24a1a856544a01" /><Relationship Type="http://schemas.openxmlformats.org/officeDocument/2006/relationships/slide" Target="/ppt/slides/slide12.xml" Id="Rba15f42b2fce4fb8" /><Relationship Type="http://schemas.openxmlformats.org/officeDocument/2006/relationships/slide" Target="/ppt/slides/slide13.xml" Id="R2049b634b7d44063" /><Relationship Type="http://schemas.openxmlformats.org/officeDocument/2006/relationships/slide" Target="/ppt/slides/slide14.xml" Id="R87b71b6ef34e4b17" /><Relationship Type="http://schemas.openxmlformats.org/officeDocument/2006/relationships/slide" Target="/ppt/slides/slide15.xml" Id="R84f9762c42c34f58" /><Relationship Type="http://schemas.openxmlformats.org/officeDocument/2006/relationships/slide" Target="/ppt/slides/slide16.xml" Id="R4b7bcff4542b466c" /><Relationship Type="http://schemas.openxmlformats.org/officeDocument/2006/relationships/slide" Target="/ppt/slides/slide17.xml" Id="R49ff85b0420d436c" /><Relationship Type="http://schemas.openxmlformats.org/officeDocument/2006/relationships/slide" Target="/ppt/slides/slide18.xml" Id="Re387953c49ea4a8c" /><Relationship Type="http://schemas.openxmlformats.org/officeDocument/2006/relationships/slide" Target="/ppt/slides/slide19.xml" Id="R755a8b1c28e3433f" /><Relationship Type="http://schemas.openxmlformats.org/officeDocument/2006/relationships/slide" Target="/ppt/slides/slide20.xml" Id="Rec007faee45d4ac7" /><Relationship Type="http://schemas.openxmlformats.org/officeDocument/2006/relationships/slide" Target="/ppt/slides/slide21.xml" Id="R88ca963dbee14698" /><Relationship Type="http://schemas.openxmlformats.org/officeDocument/2006/relationships/slide" Target="/ppt/slides/slide22.xml" Id="Ra5fcd2d41cab43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551c96297346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红白模板">
  <a:themeElements>
    <a:clrScheme name="Custom 6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00539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8e339ce979473b" /><Relationship Type="http://schemas.openxmlformats.org/officeDocument/2006/relationships/notesMaster" Target="/ppt/notesMasters/notesMaster1.xml" Id="Ra4226068073f46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ea393939fc48ac" /><Relationship Type="http://schemas.openxmlformats.org/officeDocument/2006/relationships/notesMaster" Target="/ppt/notesMasters/notesMaster1.xml" Id="R5f201df48c864c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ea503556c44cc5" /><Relationship Type="http://schemas.openxmlformats.org/officeDocument/2006/relationships/notesMaster" Target="/ppt/notesMasters/notesMaster1.xml" Id="R6a04921d25a245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cf204ba9444404" /><Relationship Type="http://schemas.openxmlformats.org/officeDocument/2006/relationships/notesMaster" Target="/ppt/notesMasters/notesMaster1.xml" Id="R7e107ecf8abc43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a0036e8a9f40c3" /><Relationship Type="http://schemas.openxmlformats.org/officeDocument/2006/relationships/notesMaster" Target="/ppt/notesMasters/notesMaster1.xml" Id="R4db3e718b2624c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7fe735e3224171" /><Relationship Type="http://schemas.openxmlformats.org/officeDocument/2006/relationships/notesMaster" Target="/ppt/notesMasters/notesMaster1.xml" Id="R9c0914fd75214b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a391e33517403d" /><Relationship Type="http://schemas.openxmlformats.org/officeDocument/2006/relationships/notesMaster" Target="/ppt/notesMasters/notesMaster1.xml" Id="Rb5a50a85f2bd46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44be3c9f6c4e4d" /><Relationship Type="http://schemas.openxmlformats.org/officeDocument/2006/relationships/notesMaster" Target="/ppt/notesMasters/notesMaster1.xml" Id="Rf831aba6fcf64c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104cfa18cd4444" /><Relationship Type="http://schemas.openxmlformats.org/officeDocument/2006/relationships/notesMaster" Target="/ppt/notesMasters/notesMaster1.xml" Id="R424a60dde8a847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fcc2d01db24b28" /><Relationship Type="http://schemas.openxmlformats.org/officeDocument/2006/relationships/notesMaster" Target="/ppt/notesMasters/notesMaster1.xml" Id="Rc9bc0eacdd1d4b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cf0c4505264b23" /><Relationship Type="http://schemas.openxmlformats.org/officeDocument/2006/relationships/notesMaster" Target="/ppt/notesMasters/notesMaster1.xml" Id="R606d4603a8ef4a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44517b5ade4885" /><Relationship Type="http://schemas.openxmlformats.org/officeDocument/2006/relationships/notesMaster" Target="/ppt/notesMasters/notesMaster1.xml" Id="R7b18863290fb4b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3be2f060c54221" /><Relationship Type="http://schemas.openxmlformats.org/officeDocument/2006/relationships/notesMaster" Target="/ppt/notesMasters/notesMaster1.xml" Id="R5ad82cc8ac9741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f85e03c1924d60" /><Relationship Type="http://schemas.openxmlformats.org/officeDocument/2006/relationships/notesMaster" Target="/ppt/notesMasters/notesMaster1.xml" Id="R588c36511d974e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637ad5c1d34454" /><Relationship Type="http://schemas.openxmlformats.org/officeDocument/2006/relationships/notesMaster" Target="/ppt/notesMasters/notesMaster1.xml" Id="R76e4247f2ac14b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9a495bccf0432f" /><Relationship Type="http://schemas.openxmlformats.org/officeDocument/2006/relationships/notesMaster" Target="/ppt/notesMasters/notesMaster1.xml" Id="R65acc8efdd414a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43e892f1fd4751" /><Relationship Type="http://schemas.openxmlformats.org/officeDocument/2006/relationships/notesMaster" Target="/ppt/notesMasters/notesMaster1.xml" Id="Rd94048552e5044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9f121749c34302" /><Relationship Type="http://schemas.openxmlformats.org/officeDocument/2006/relationships/notesMaster" Target="/ppt/notesMasters/notesMaster1.xml" Id="R3008a0698e7049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12694fcb83432d" /><Relationship Type="http://schemas.openxmlformats.org/officeDocument/2006/relationships/notesMaster" Target="/ppt/notesMasters/notesMaster1.xml" Id="R98832970e0254d1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be575c1228e4db9" /><Relationship Type="http://schemas.openxmlformats.org/officeDocument/2006/relationships/notesMaster" Target="/ppt/notesMasters/notesMaster1.xml" Id="R58cc2558dc8c40f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5a8aa1b64743c8" /><Relationship Type="http://schemas.openxmlformats.org/officeDocument/2006/relationships/notesMaster" Target="/ppt/notesMasters/notesMaster1.xml" Id="Rd871b5c001fd42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b3c430994b04438" /><Relationship Type="http://schemas.openxmlformats.org/officeDocument/2006/relationships/notesMaster" Target="/ppt/notesMasters/notesMaster1.xml" Id="R529628e1670344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符号学派、联结学派、进化学派、贝叶斯学派、类推学派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43d85be464588" /><Relationship Type="http://schemas.openxmlformats.org/officeDocument/2006/relationships/image" Target="/ppt/media/image.tiff" Id="R353bcac8116044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f12ef63f742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016d955e145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f0ed62fea4e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d258d16af45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6fd8477a54a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02a153e13463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68801de4f4dc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be2eb5c2f494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90134df7e47e5" /></Relationships>
</file>

<file path=ppt/slideLayouts/slideLayout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278263EF-0878-4F15-968B-2AB7F45E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7334"/>
            <a:ext cx="7772400" cy="109538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525">
            <a:solidFill>
              <a:schemeClr val="accent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CF420FD-1755-43D2-A901-86257172C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 b="0" i="0"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/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C675B44-63BE-4ADB-BC7C-E98E67B5E58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 b="0" i="0"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单击此处编辑母版副标题样式</a:t>
            </a:r>
          </a:p>
        </p:txBody>
      </p:sp>
      <p:pic>
        <p:nvPicPr>
          <p:cNvPr id="4566020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3bcac81160443c">
            <a:alphaModFix amt="30000"/>
          </a:blip>
          <a:srcRect xmlns:a="http://schemas.openxmlformats.org/drawingml/2006/main" l="0" t="0" r="0" b="26529"/>
          <a:stretch xmlns:a="http://schemas.openxmlformats.org/drawingml/2006/main"/>
        </p:blipFill>
        <p:spPr>
          <a:xfrm xmlns:a="http://schemas.openxmlformats.org/drawingml/2006/main">
            <a:off x="7973864" y="7058"/>
            <a:ext cx="1170856" cy="106761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B6C96D-D909-425F-8BD1-C133FF2F0CB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95536" y="260648"/>
            <a:ext cx="7992888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 b="0" i="0"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BDADCD4-108E-4F60-80C6-BE0243FD0819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7424" y="1285860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20000"/>
              </a:lnSpc>
              <a:buChar char="p"/>
              <a:defRPr sz="2400" b="0" i="0">
                <a:latin typeface="Microsoft YaHei"/>
                <a:ea typeface="Microsoft YaHei"/>
                <a:cs typeface="Microsoft YaHei"/>
              </a:defRPr>
            </a:lvl1pPr>
            <a:lvl2pPr>
              <a:lnSpc>
                <a:spcPct val="120000"/>
              </a:lnSpc>
              <a:buNone/>
              <a:defRPr sz="2000" b="0" i="0">
                <a:latin typeface="Microsoft YaHei"/>
                <a:ea typeface="Microsoft YaHei"/>
                <a:cs typeface="Microsoft YaHei"/>
              </a:defRPr>
            </a:lvl2pPr>
            <a:lvl3pPr marL="1252220" indent="-342900">
              <a:lnSpc>
                <a:spcPct val="120000"/>
              </a:lnSpc>
              <a:buChar char="p"/>
              <a:defRPr sz="1800" b="0" i="0">
                <a:latin typeface="Microsoft YaHei"/>
                <a:ea typeface="Microsoft YaHei"/>
                <a:cs typeface="Microsoft YaHei"/>
              </a:defRPr>
            </a:lvl3pPr>
            <a:lvl4pPr>
              <a:lnSpc>
                <a:spcPct val="120000"/>
              </a:lnSpc>
              <a:buNone/>
              <a:defRPr b="0" i="0"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56DF1725-DF41-4568-BE10-73FB6335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880" y="6319437"/>
            <a:ext cx="1908212" cy="447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B9B43F-5D64-42B9-AF5F-17DDE3844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8313" y="260352"/>
            <a:ext cx="8229600" cy="5762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C00000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1EED8D-99D4-FC45-8689-0A933094988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5536" y="1268760"/>
            <a:ext cx="8032502" cy="55511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8A3F0FE-D1AE-4732-BF4B-B3AA039BB30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493100" y="4615200"/>
            <a:ext cx="58266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单击此处编辑文本</a:t>
            </a:r>
          </a:p>
        </p:txBody>
      </p:sp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9268041E-8231-3601-0551-1ADF1DEC1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1C069B1-B02F-419D-AB04-B978B17F9E8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56248" y="1555115"/>
            <a:ext cx="3924776" cy="4608195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CF98295-F9D5-4C34-8FEF-C067219FDE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762800" y="1555200"/>
            <a:ext cx="39204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4C5ACEC-9529-439F-A12F-9DB95B5BCB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6314400"/>
            <a:ext cx="2025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/>
            </a:lvl1pPr>
          </a:lstStyle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ECBA6B4-E2B0-49BB-88AF-C9180262EC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6314400"/>
            <a:ext cx="297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/>
            </a:lvl1pPr>
          </a:lstStyle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D79FABF-0732-4939-AC7A-CF56DCC4F7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6314400"/>
            <a:ext cx="2025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/>
            </a:lvl1pPr>
          </a:lstStyle>
          <a:p xmlns:a="http://schemas.openxmlformats.org/drawingml/2006/main">
            <a:fld id="{FABC47A4-756D-490B-A52F-7D9E2C9FC05F}" type="slidenum">
              <a:t>‹#›</a:t>
            </a:fld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928F70D8-981E-4CCA-ABA0-8C1AC05FD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E417CCD-252F-4EB2-B385-D17974DF1C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6314400"/>
            <a:ext cx="2025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/>
            </a:lvl1pPr>
          </a:lstStyle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98BC7AD-522E-4003-B5EC-A5D8E3B92B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6314400"/>
            <a:ext cx="297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/>
            </a:lvl1pPr>
          </a:lstStyle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A2D714E-4E73-4F81-8FDD-0F497B85A7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6314400"/>
            <a:ext cx="2025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/>
            </a:lvl1pPr>
          </a:lstStyle>
          <a:p xmlns:a="http://schemas.openxmlformats.org/drawingml/2006/main">
            <a:fld id="{49AE70B2-8BF9-45C0-BB95-33D1B9D3A854}" type="slidenum">
              <a:t>‹#›</a:t>
            </a:fld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57A11A3D-3C81-44AC-BAE2-0C0DDDB6F596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6300" y="774000"/>
            <a:ext cx="82296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D151CAC-D994-407D-92DF-47F6B199AE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6314400"/>
            <a:ext cx="2025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/>
            </a:lvl1pPr>
          </a:lstStyle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EFB44A5-D07B-412D-837F-B5EB3C42DC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6314400"/>
            <a:ext cx="297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/>
            </a:lvl1pPr>
          </a:lstStyle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78783C2-A854-4E6B-84D0-4DB364FAB9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6314400"/>
            <a:ext cx="2025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/>
            </a:lvl1pPr>
          </a:lstStyle>
          <a:p xmlns:a="http://schemas.openxmlformats.org/drawingml/2006/main">
            <a:fld id="{49AE70B2-8BF9-45C0-BB95-33D1B9D3A854}" type="slidenum">
              <a:t>‹#›</a:t>
            </a:fld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8001606-FC0A-485B-9493-00B5F01264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99100" y="2484000"/>
            <a:ext cx="73494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3A9FB8D4-BD03-4339-8D18-CBB8E3FEE7D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99100" y="3560400"/>
            <a:ext cx="73494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1800" spc="15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1f99110b2f4571" /><Relationship Type="http://schemas.openxmlformats.org/officeDocument/2006/relationships/slideLayout" Target="/ppt/slideLayouts/slideLayout1.xml" Id="R174838c76235479d" /><Relationship Type="http://schemas.openxmlformats.org/officeDocument/2006/relationships/slideLayout" Target="/ppt/slideLayouts/slideLayout2.xml" Id="R8d574f3d9d6d4a02" /><Relationship Type="http://schemas.openxmlformats.org/officeDocument/2006/relationships/slideLayout" Target="/ppt/slideLayouts/slideLayout3.xml" Id="R50d3173fe1a64a8e" /><Relationship Type="http://schemas.openxmlformats.org/officeDocument/2006/relationships/slideLayout" Target="/ppt/slideLayouts/slideLayout4.xml" Id="Re25c1d807e8b4cf9" /><Relationship Type="http://schemas.openxmlformats.org/officeDocument/2006/relationships/slideLayout" Target="/ppt/slideLayouts/slideLayout5.xml" Id="R5a56a01aac934715" /><Relationship Type="http://schemas.openxmlformats.org/officeDocument/2006/relationships/slideLayout" Target="/ppt/slideLayouts/slideLayout6.xml" Id="Rc3fa7a2dd85e4cc6" /><Relationship Type="http://schemas.openxmlformats.org/officeDocument/2006/relationships/slideLayout" Target="/ppt/slideLayouts/slideLayout7.xml" Id="R1fe08bf8992b4b36" /><Relationship Type="http://schemas.openxmlformats.org/officeDocument/2006/relationships/slideLayout" Target="/ppt/slideLayouts/slideLayout8.xml" Id="R0b6963300a0d403f" /><Relationship Type="http://schemas.openxmlformats.org/officeDocument/2006/relationships/slideLayout" Target="/ppt/slideLayouts/slideLayout9.xml" Id="R2861da349a9f4168" /><Relationship Type="http://schemas.openxmlformats.org/officeDocument/2006/relationships/slideLayout" Target="/ppt/slideLayouts/slideLayout10.xml" Id="Rf71a31420b9341e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FBFF26-AD6B-4669-B20D-41A0B73E72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6" y="304800"/>
            <a:ext cx="8032502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2D78098-30CE-40BC-95FE-80A1A47D32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5536" y="1077913"/>
            <a:ext cx="8032502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</p:txBody>
      </p:sp>
      <p:sp>
        <p:nvSpPr>
          <p:cNvPr id="4564996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8FD653E-AD6A-4F39-960A-4B4609D1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5"/>
            <a:ext cx="7958138" cy="109538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525">
            <a:solidFill>
              <a:schemeClr val="accent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27F4B93-5C1C-BD7C-CE8E-CCE23A34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456" y="6437833"/>
            <a:ext cx="1080120" cy="447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fld id="{51C9ED30-E685-45AF-A8F6-A69D03C55800}" type="slidenum">
              <a:rPr sz="16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4838c76235479d"/>
    <p:sldLayoutId xmlns:r="http://schemas.openxmlformats.org/officeDocument/2006/relationships" id="2147483650" r:id="R8d574f3d9d6d4a02"/>
    <p:sldLayoutId xmlns:r="http://schemas.openxmlformats.org/officeDocument/2006/relationships" id="2147483651" r:id="R50d3173fe1a64a8e"/>
    <p:sldLayoutId xmlns:r="http://schemas.openxmlformats.org/officeDocument/2006/relationships" id="2147483652" r:id="Re25c1d807e8b4cf9"/>
    <p:sldLayoutId xmlns:r="http://schemas.openxmlformats.org/officeDocument/2006/relationships" id="2147483653" r:id="R5a56a01aac934715"/>
    <p:sldLayoutId xmlns:r="http://schemas.openxmlformats.org/officeDocument/2006/relationships" id="2147483654" r:id="Rc3fa7a2dd85e4cc6"/>
    <p:sldLayoutId xmlns:r="http://schemas.openxmlformats.org/officeDocument/2006/relationships" id="2147483655" r:id="R1fe08bf8992b4b36"/>
    <p:sldLayoutId xmlns:r="http://schemas.openxmlformats.org/officeDocument/2006/relationships" id="2147483656" r:id="R0b6963300a0d403f"/>
    <p:sldLayoutId xmlns:r="http://schemas.openxmlformats.org/officeDocument/2006/relationships" id="2147483657" r:id="R2861da349a9f4168"/>
    <p:sldLayoutId xmlns:r="http://schemas.openxmlformats.org/officeDocument/2006/relationships" id="2147483658" r:id="Rf71a31420b9341e0"/>
  </p:sldLayoutIdLst>
  <p:hf sldNum="0" hdr="0" ftr="0" dt="0"/>
  <p:txStyles>
    <p:titleStyle>
      <a:lvl1pPr xmlns:a="http://schemas.openxmlformats.org/drawingml/2006/main" algn="l">
        <a:buNone/>
        <a:defRPr sz="3600" b="0" i="0">
          <a:solidFill>
            <a:schemeClr val="tx1">
              <a:lumMod val="75000"/>
              <a:lumOff val="25000"/>
            </a:schemeClr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algn="l">
        <a:buNone/>
        <a:defRPr sz="3800" b="1">
          <a:solidFill>
            <a:schemeClr val="accent2"/>
          </a:solidFill>
          <a:latin typeface="微软雅黑"/>
          <a:ea typeface="微软雅黑"/>
          <a:cs typeface="微软雅黑"/>
        </a:defRPr>
      </a:lvl2pPr>
      <a:lvl3pPr xmlns:a="http://schemas.openxmlformats.org/drawingml/2006/main" algn="l">
        <a:buNone/>
        <a:defRPr sz="3800" b="1">
          <a:solidFill>
            <a:schemeClr val="accent2"/>
          </a:solidFill>
          <a:latin typeface="微软雅黑"/>
          <a:ea typeface="微软雅黑"/>
          <a:cs typeface="微软雅黑"/>
        </a:defRPr>
      </a:lvl3pPr>
      <a:lvl4pPr xmlns:a="http://schemas.openxmlformats.org/drawingml/2006/main" algn="l">
        <a:buNone/>
        <a:defRPr sz="3800" b="1">
          <a:solidFill>
            <a:schemeClr val="accent2"/>
          </a:solidFill>
          <a:latin typeface="微软雅黑"/>
          <a:ea typeface="微软雅黑"/>
          <a:cs typeface="微软雅黑"/>
        </a:defRPr>
      </a:lvl4pPr>
      <a:lvl5pPr xmlns:a="http://schemas.openxmlformats.org/drawingml/2006/main" algn="l">
        <a:buNone/>
        <a:defRPr sz="3800" b="1">
          <a:solidFill>
            <a:schemeClr val="accent2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0" i="0">
          <a:solidFill>
            <a:schemeClr val="tx1">
              <a:lumMod val="75000"/>
              <a:lumOff val="25000"/>
            </a:schemeClr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908050" indent="-436880" algn="l">
        <a:buChar char="n"/>
        <a:defRPr sz="2600" b="0" i="0">
          <a:solidFill>
            <a:schemeClr val="tx1">
              <a:lumMod val="75000"/>
              <a:lumOff val="25000"/>
            </a:schemeClr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红白模板">
  <a:themeElements>
    <a:clrScheme name="Custom 6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00539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d8447c562d41b3" /><Relationship Type="http://schemas.openxmlformats.org/officeDocument/2006/relationships/image" Target="/ppt/media/image.jpeg" Id="Rbf5e59fdd27a4a56" /><Relationship Type="http://schemas.openxmlformats.org/officeDocument/2006/relationships/image" Target="/ppt/media/image.png" Id="R0e5eaabf380945e6" /><Relationship Type="http://schemas.openxmlformats.org/officeDocument/2006/relationships/notesSlide" Target="/ppt/notesSlides/notesSlide1.xml" Id="Rc9beeee443514d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d08226f1c4ce4" /><Relationship Type="http://schemas.openxmlformats.org/officeDocument/2006/relationships/notesSlide" Target="/ppt/notesSlides/notesSlide2.xml" Id="Rf3557961e60a43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6c12e14dbc64add" /><Relationship Type="http://schemas.openxmlformats.org/officeDocument/2006/relationships/image" Target="/ppt/media/image.emf" Id="R6f683652dbb6495b" /><Relationship Type="http://schemas.openxmlformats.org/officeDocument/2006/relationships/image" Target="/ppt/media/image2.png" Id="R818ec10f97d14a50" /><Relationship Type="http://schemas.openxmlformats.org/officeDocument/2006/relationships/image" Target="/ppt/media/image3.png" Id="R19e4d66606a74bf9" /><Relationship Type="http://schemas.openxmlformats.org/officeDocument/2006/relationships/image" Target="/ppt/media/image4.png" Id="R7b840687edc1424e" /><Relationship Type="http://schemas.openxmlformats.org/officeDocument/2006/relationships/notesSlide" Target="/ppt/notesSlides/notesSlide3.xml" Id="Raa9f7695b5544b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4fc1c4e15e24a90" /><Relationship Type="http://schemas.openxmlformats.org/officeDocument/2006/relationships/image" Target="/ppt/media/image2.emf" Id="R75a7b3942c8a44b5" /><Relationship Type="http://schemas.openxmlformats.org/officeDocument/2006/relationships/image" Target="/ppt/media/image5.png" Id="Rfc758c7237a84da3" /><Relationship Type="http://schemas.openxmlformats.org/officeDocument/2006/relationships/notesSlide" Target="/ppt/notesSlides/notesSlide4.xml" Id="Rac7d863f0c454f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b1200cb0d824209" /><Relationship Type="http://schemas.openxmlformats.org/officeDocument/2006/relationships/image" Target="/ppt/media/image6.png" Id="R4a3436e8d838447e" /><Relationship Type="http://schemas.openxmlformats.org/officeDocument/2006/relationships/notesSlide" Target="/ppt/notesSlides/notesSlide5.xml" Id="R79955b09b58b44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9ebdf9defb46e1" /><Relationship Type="http://schemas.openxmlformats.org/officeDocument/2006/relationships/image" Target="/ppt/media/image7.png" Id="R0310c1b762a54774" /><Relationship Type="http://schemas.openxmlformats.org/officeDocument/2006/relationships/image" Target="/ppt/media/image8.png" Id="Rdba1af7708554b2c" /><Relationship Type="http://schemas.openxmlformats.org/officeDocument/2006/relationships/image" Target="/ppt/media/image9.png" Id="R9f8ff568649c4f13" /><Relationship Type="http://schemas.openxmlformats.org/officeDocument/2006/relationships/image" Target="/ppt/media/image10.png" Id="Rd1ee2c8f0cbf4b6a" /><Relationship Type="http://schemas.openxmlformats.org/officeDocument/2006/relationships/image" Target="/ppt/media/image11.png" Id="Ra756bebda94b4fb1" /><Relationship Type="http://schemas.openxmlformats.org/officeDocument/2006/relationships/image" Target="/ppt/media/image12.png" Id="R5dbd89d3e07a4055" /><Relationship Type="http://schemas.openxmlformats.org/officeDocument/2006/relationships/image" Target="/ppt/media/image13.png" Id="R1ad2548d07eb433d" /><Relationship Type="http://schemas.openxmlformats.org/officeDocument/2006/relationships/image" Target="/ppt/media/image14.png" Id="R648c6a43900f4d9b" /><Relationship Type="http://schemas.openxmlformats.org/officeDocument/2006/relationships/image" Target="/ppt/media/image15.png" Id="R81232b4deff9458e" /><Relationship Type="http://schemas.openxmlformats.org/officeDocument/2006/relationships/image" Target="/ppt/media/image16.png" Id="R49249d86dcf44b05" /><Relationship Type="http://schemas.openxmlformats.org/officeDocument/2006/relationships/notesSlide" Target="/ppt/notesSlides/notesSlide6.xml" Id="R9f56b9104b234e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eb4d202ebb44bb2" /><Relationship Type="http://schemas.openxmlformats.org/officeDocument/2006/relationships/image" Target="/ppt/media/image17.png" Id="R0989986fc2f1484d" /><Relationship Type="http://schemas.openxmlformats.org/officeDocument/2006/relationships/image" Target="/ppt/media/image5.png" Id="R09840e7208434fed" /><Relationship Type="http://schemas.openxmlformats.org/officeDocument/2006/relationships/notesSlide" Target="/ppt/notesSlides/notesSlide7.xml" Id="Rf6fcd45a74de40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cfd81e54e864f59" /><Relationship Type="http://schemas.openxmlformats.org/officeDocument/2006/relationships/image" Target="/ppt/media/image2.jpeg" Id="Rc0c7211b174a45b5" /><Relationship Type="http://schemas.openxmlformats.org/officeDocument/2006/relationships/notesSlide" Target="/ppt/notesSlides/notesSlide8.xml" Id="Refae13fd9d744f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4a2be0bcd44a11" /><Relationship Type="http://schemas.openxmlformats.org/officeDocument/2006/relationships/image" Target="/ppt/media/image3.emf" Id="R84b4eb8667094819" /><Relationship Type="http://schemas.openxmlformats.org/officeDocument/2006/relationships/notesSlide" Target="/ppt/notesSlides/notesSlide9.xml" Id="R6213d52328d349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6ea8bc3303d4d12" /><Relationship Type="http://schemas.openxmlformats.org/officeDocument/2006/relationships/notesSlide" Target="/ppt/notesSlides/notesSlide10.xml" Id="R98f924c3fedd4f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6551698fe349a8" /><Relationship Type="http://schemas.openxmlformats.org/officeDocument/2006/relationships/image" Target="/ppt/media/image18.png" Id="R1b81fd917101451e" /><Relationship Type="http://schemas.openxmlformats.org/officeDocument/2006/relationships/image" Target="/ppt/media/image19.png" Id="R2d99aa8e871e4c33" /><Relationship Type="http://schemas.openxmlformats.org/officeDocument/2006/relationships/image" Target="/ppt/media/image20.png" Id="R37057e79e7204448" /><Relationship Type="http://schemas.openxmlformats.org/officeDocument/2006/relationships/notesSlide" Target="/ppt/notesSlides/notesSlide11.xml" Id="Rcb26b7c9f9ae4e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a744a2400c54603" /><Relationship Type="http://schemas.openxmlformats.org/officeDocument/2006/relationships/image" Target="/ppt/media/image21.png" Id="R23f625fa85554d4b" /><Relationship Type="http://schemas.openxmlformats.org/officeDocument/2006/relationships/notesSlide" Target="/ppt/notesSlides/notesSlide12.xml" Id="Rc0cfe0463f7448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b1a5335e5104fd6" /><Relationship Type="http://schemas.openxmlformats.org/officeDocument/2006/relationships/image" Target="/ppt/media/image22.png" Id="R8012a55763e14e94" /><Relationship Type="http://schemas.openxmlformats.org/officeDocument/2006/relationships/image" Target="/ppt/media/image23.png" Id="R74a6e262a42c4623" /><Relationship Type="http://schemas.openxmlformats.org/officeDocument/2006/relationships/notesSlide" Target="/ppt/notesSlides/notesSlide13.xml" Id="R0284d457359548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f216d956b71467e" /><Relationship Type="http://schemas.openxmlformats.org/officeDocument/2006/relationships/image" Target="/ppt/media/image24.png" Id="R01914b85890f48d7" /><Relationship Type="http://schemas.openxmlformats.org/officeDocument/2006/relationships/image" Target="/ppt/media/image3.jpeg" Id="R40ea5b289abc4f96" /><Relationship Type="http://schemas.openxmlformats.org/officeDocument/2006/relationships/notesSlide" Target="/ppt/notesSlides/notesSlide14.xml" Id="R65395c06ddc449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deb1bcad04ad9" /><Relationship Type="http://schemas.openxmlformats.org/officeDocument/2006/relationships/notesSlide" Target="/ppt/notesSlides/notesSlide15.xml" Id="R9dcb75c96e3d42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d35d6e052e242d0" /><Relationship Type="http://schemas.openxmlformats.org/officeDocument/2006/relationships/image" Target="/ppt/media/image4.emf" Id="R8ee0756ecf484ad0" /><Relationship Type="http://schemas.openxmlformats.org/officeDocument/2006/relationships/notesSlide" Target="/ppt/notesSlides/notesSlide16.xml" Id="Re5092a316a5644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cb2cb62b1ed4ef2" /><Relationship Type="http://schemas.openxmlformats.org/officeDocument/2006/relationships/image" Target="/ppt/media/image4.jpeg" Id="R151c9f82ad124772" /><Relationship Type="http://schemas.openxmlformats.org/officeDocument/2006/relationships/notesSlide" Target="/ppt/notesSlides/notesSlide17.xml" Id="R4fc67ea7b3e347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8290cd3767c4b15" /><Relationship Type="http://schemas.openxmlformats.org/officeDocument/2006/relationships/image" Target="/ppt/media/image25.png" Id="R46c920bab4974d7e" /><Relationship Type="http://schemas.openxmlformats.org/officeDocument/2006/relationships/image" Target="/ppt/media/image26.png" Id="R949e07804493450a" /><Relationship Type="http://schemas.openxmlformats.org/officeDocument/2006/relationships/image" Target="/ppt/media/image27.png" Id="R0367912816f941c1" /><Relationship Type="http://schemas.openxmlformats.org/officeDocument/2006/relationships/image" Target="/ppt/media/image28.png" Id="R186b05c458494eb4" /><Relationship Type="http://schemas.openxmlformats.org/officeDocument/2006/relationships/image" Target="/ppt/media/image29.png" Id="R08fce39583ab414a" /><Relationship Type="http://schemas.openxmlformats.org/officeDocument/2006/relationships/image" Target="/ppt/media/image30.png" Id="R63157ea2bce140ec" /><Relationship Type="http://schemas.openxmlformats.org/officeDocument/2006/relationships/image" Target="/ppt/media/image31.png" Id="R5435f17c3a0f404c" /><Relationship Type="http://schemas.openxmlformats.org/officeDocument/2006/relationships/notesSlide" Target="/ppt/notesSlides/notesSlide18.xml" Id="R0b7910aed7f74a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0bae85764f64173" /><Relationship Type="http://schemas.openxmlformats.org/officeDocument/2006/relationships/image" Target="/ppt/media/image32.png" Id="R7aeb878674d64c71" /><Relationship Type="http://schemas.openxmlformats.org/officeDocument/2006/relationships/notesSlide" Target="/ppt/notesSlides/notesSlide19.xml" Id="Re6c2686c5d5a4c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c806e3df234116" /><Relationship Type="http://schemas.openxmlformats.org/officeDocument/2006/relationships/image" Target="/ppt/media/image33.png" Id="Rf7c856eff0ba47e3" /><Relationship Type="http://schemas.openxmlformats.org/officeDocument/2006/relationships/notesSlide" Target="/ppt/notesSlides/notesSlide20.xml" Id="R83283178bd9441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9c5c010e23b4e97" /><Relationship Type="http://schemas.openxmlformats.org/officeDocument/2006/relationships/image" Target="/ppt/media/image34.png" Id="R1119876025894108" /><Relationship Type="http://schemas.openxmlformats.org/officeDocument/2006/relationships/notesSlide" Target="/ppt/notesSlides/notesSlide21.xml" Id="Ra18cfeb4fd144f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3d93f30f4aa43ff" /><Relationship Type="http://schemas.openxmlformats.org/officeDocument/2006/relationships/image" Target="/ppt/media/image5.jpeg" Id="R34b43e88426c45a0" /><Relationship Type="http://schemas.openxmlformats.org/officeDocument/2006/relationships/notesSlide" Target="/ppt/notesSlides/notesSlide22.xml" Id="R416f0dec536747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3F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2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e59fdd27a4a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718887"/>
            <a:ext cx="9136201" cy="51391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2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eaabf380945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8760" y="1131094"/>
            <a:ext cx="2251560" cy="5137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318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2DCF615-018D-174F-BA92-9A0CE012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8078"/>
            <a:ext cx="9143999" cy="886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51422" tIns="25711" rIns="51422" bIns="25711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E7C28C"/>
                </a:solidFill>
                <a:latin typeface="Rockwell"/>
                <a:ea typeface="Rockwell"/>
                <a:cs typeface="Rockwell"/>
              </a:rPr>
              <a:t>人工智能发展</a:t>
            </a:r>
            <a:r>
              <a:rPr sz="4000" b="1" i="0" u="none" cap="none">
                <a:ln>
                  <a:noFill/>
                </a:ln>
                <a:solidFill>
                  <a:srgbClr val="E7C28C"/>
                </a:solidFill>
                <a:latin typeface="Rockwell"/>
                <a:ea typeface="Rockwell"/>
                <a:cs typeface="Rockwell"/>
              </a:rPr>
              <a:t>概述</a:t>
            </a:r>
          </a:p>
        </p:txBody>
      </p:sp>
      <p:sp>
        <p:nvSpPr>
          <p:cNvPr id="10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7207353-6566-F74D-9EE4-2000237A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3733800"/>
            <a:ext cx="9143999" cy="1111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51422" tIns="25711" rIns="51422" bIns="25711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400" b="1">
                <a:solidFill>
                  <a:srgbClr val="E7C28C"/>
                </a:solidFill>
                <a:latin typeface="方正小标宋简体"/>
                <a:ea typeface="方正小标宋简体"/>
                <a:cs typeface="方正小标宋简体"/>
              </a:rPr>
              <a:t>陈龙彪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400" b="1">
                <a:solidFill>
                  <a:srgbClr val="E7C28C"/>
                </a:solidFill>
                <a:latin typeface="方正小标宋简体"/>
                <a:ea typeface="方正小标宋简体"/>
                <a:cs typeface="方正小标宋简体"/>
              </a:rPr>
              <a:t>厦门大学南强青年拔尖人才、副教授、博导</a:t>
            </a:r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42E1033-6219-904B-FFC5-96D54FD4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776" y="1139453"/>
            <a:ext cx="6456824" cy="493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51422" tIns="25711" rIns="51422" bIns="25711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cap="none">
                <a:ln>
                  <a:noFill/>
                </a:ln>
                <a:solidFill>
                  <a:srgbClr val="E7C28C"/>
                </a:solidFill>
                <a:latin typeface="方正小标宋简体"/>
                <a:ea typeface="方正小标宋简体"/>
                <a:cs typeface="方正小标宋简体"/>
              </a:rPr>
              <a:t>大语言模型原理、技术及应用</a:t>
            </a:r>
          </a:p>
        </p:txBody>
      </p:sp>
    </p:spTree>
    <p:extLst>
      <p:ext uri="{BB962C8B-B14F-4D97-AF65-F5344CB8AC3E}">
        <p14:creationId xmlns:p14="http://schemas.microsoft.com/office/powerpoint/2010/main" val="12214843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2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4D064154-06D6-4677-805B-150E25C8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7675" y="3341131"/>
            <a:ext cx="1957018" cy="128350"/>
          </a:xfrm>
          <a:custGeom xmlns:a="http://schemas.openxmlformats.org/drawingml/2006/main">
            <a:rect l="T15" t="T16" r="T17" b="T18"/>
            <a:pathLst>
              <a:path w="1307927" h="101600">
                <a:moveTo>
                  <a:pt x="0" y="0"/>
                </a:moveTo>
                <a:lnTo>
                  <a:pt x="1223454" y="0"/>
                </a:lnTo>
                <a:lnTo>
                  <a:pt x="1307927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AA5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127" name="任意多边形 126">
            <a:extLst xmlns:a="http://schemas.openxmlformats.org/drawingml/2006/main">
              <a:ext uri="{FF2B5EF4-FFF2-40B4-BE49-F238E27FC236}">
                <a16:creationId xmlns:a16="http://schemas.microsoft.com/office/drawing/2014/main" id="{46BB6806-26B7-4977-98FE-022328FD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0062" y="3341131"/>
            <a:ext cx="4326353" cy="128350"/>
          </a:xfrm>
          <a:custGeom xmlns:a="http://schemas.openxmlformats.org/drawingml/2006/main">
            <a:rect l="T15" t="T16" r="T17" b="T18"/>
            <a:pathLst>
              <a:path w="2891416" h="101600">
                <a:moveTo>
                  <a:pt x="0" y="0"/>
                </a:moveTo>
                <a:lnTo>
                  <a:pt x="2891416" y="0"/>
                </a:lnTo>
                <a:lnTo>
                  <a:pt x="2891416" y="101600"/>
                </a:lnTo>
                <a:lnTo>
                  <a:pt x="84473" y="101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76A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128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C5DDBA01-855F-405E-AEC4-F6F0C80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5936" y="2733676"/>
            <a:ext cx="4098891" cy="553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3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人工智能：新工业革命</a:t>
            </a:r>
          </a:p>
        </p:txBody>
      </p:sp>
      <p:sp>
        <p:nvSpPr>
          <p:cNvPr id="5129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E51D45C3-4443-430E-B573-15ECA39A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5944" y="2746867"/>
            <a:ext cx="1988750" cy="600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3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第一节</a:t>
            </a:r>
          </a:p>
        </p:txBody>
      </p:sp>
      <p:sp>
        <p:nvSpPr>
          <p:cNvPr id="5123" name="矩形 47">
            <a:extLst xmlns:a="http://schemas.openxmlformats.org/drawingml/2006/main">
              <a:ext uri="{FF2B5EF4-FFF2-40B4-BE49-F238E27FC236}">
                <a16:creationId xmlns:a16="http://schemas.microsoft.com/office/drawing/2014/main" id="{53BD0C66-C9D7-4B6C-91EA-3825B15A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910" y="3550444"/>
            <a:ext cx="2858690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 marL="342900" indent="-34290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人工智能概述</a:t>
            </a:r>
          </a:p>
        </p:txBody>
      </p:sp>
      <p:sp>
        <p:nvSpPr>
          <p:cNvPr id="5124" name="矩形 50">
            <a:extLst xmlns:a="http://schemas.openxmlformats.org/drawingml/2006/main">
              <a:ext uri="{FF2B5EF4-FFF2-40B4-BE49-F238E27FC236}">
                <a16:creationId xmlns:a16="http://schemas.microsoft.com/office/drawing/2014/main" id="{7F2D10C1-802E-4452-8066-3F60589B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910" y="3949304"/>
            <a:ext cx="3689747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 marL="342900" indent="-34290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深度学习</a:t>
            </a:r>
          </a:p>
        </p:txBody>
      </p:sp>
      <p:sp>
        <p:nvSpPr>
          <p:cNvPr id="9" name="矩形 50">
            <a:extLst xmlns:a="http://schemas.openxmlformats.org/drawingml/2006/main">
              <a:ext uri="{FF2B5EF4-FFF2-40B4-BE49-F238E27FC236}">
                <a16:creationId xmlns:a16="http://schemas.microsoft.com/office/drawing/2014/main" id="{C82C87E6-56F9-4962-942E-18B1E00B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910" y="4383644"/>
            <a:ext cx="3689747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 marL="342900" indent="-34290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知识图谱</a:t>
            </a:r>
          </a:p>
        </p:txBody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41EE5BE7-170E-4C43-86FA-8244874F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804221" y="3527584"/>
            <a:ext cx="848678" cy="388541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92976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D647C77-C58C-4546-A4CA-4F2FAB480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人工智能：第四次工业革命（智能化）</a:t>
            </a:r>
          </a:p>
        </p:txBody>
      </p:sp>
      <p:cxnSp>
        <p:nvCxnSpPr>
          <p:cNvPr id="54" name="直接箭头连接符 10"/>
          <p:cNvCxnSpPr/>
          <p:nvPr/>
        </p:nvCxnSpPr>
        <p:spPr>
          <a:xfrm xmlns:a="http://schemas.openxmlformats.org/drawingml/2006/main">
            <a:off x="1275398" y="5681902"/>
            <a:ext cx="7381875" cy="119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00FF"/>
            </a:solidFill>
            <a:tailEnd type="triangle" w="med" len="lg"/>
          </a:ln>
        </p:spPr>
      </p:cxnSp>
      <p:cxnSp>
        <p:nvCxnSpPr>
          <p:cNvPr id="55" name="直接箭头连接符 11"/>
          <p:cNvCxnSpPr/>
          <p:nvPr/>
        </p:nvCxnSpPr>
        <p:spPr>
          <a:xfrm xmlns:a="http://schemas.openxmlformats.org/drawingml/2006/main" flipV="1">
            <a:off x="8225076" y="2794635"/>
            <a:ext cx="0" cy="28860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tx1"/>
            </a:solidFill>
            <a:tailEnd type="triangle" w="med" len="lg"/>
          </a:ln>
        </p:spPr>
      </p:cxnSp>
      <p:sp>
        <p:nvSpPr>
          <p:cNvPr id="13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F12946C-59A7-4B23-BF34-D53BCFC2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273" y="5559266"/>
            <a:ext cx="530915" cy="300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cxnSp>
        <p:nvCxnSpPr>
          <p:cNvPr id="57" name="直接箭头连接符 15"/>
          <p:cNvCxnSpPr/>
          <p:nvPr/>
        </p:nvCxnSpPr>
        <p:spPr>
          <a:xfrm xmlns:a="http://schemas.openxmlformats.org/drawingml/2006/main">
            <a:off x="2943464" y="4973479"/>
            <a:ext cx="1190" cy="709613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7F7F7F"/>
            </a:solidFill>
            <a:tailEnd type="arrow" w="med" len="med"/>
          </a:ln>
        </p:spPr>
      </p:cxnSp>
      <p:pic>
        <p:nvPicPr>
          <p:cNvPr id="5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83652dbb649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9926" y="4654392"/>
            <a:ext cx="996553" cy="10025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89103B7E-E111-4A74-826D-A10D0AC5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5681901"/>
            <a:ext cx="915635" cy="300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18</a:t>
            </a:r>
            <a:r>
              <a:rPr sz="13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世纪末</a:t>
            </a:r>
          </a:p>
        </p:txBody>
      </p:sp>
      <p:sp>
        <p:nvSpPr>
          <p:cNvPr id="1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B02CF2C9-850D-4EC1-9D1E-5B5519C0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1" y="3963353"/>
            <a:ext cx="1520666" cy="680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工业</a:t>
            </a:r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  <a:p xmlns:a="http://schemas.openxmlformats.org/drawingml/2006/main"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创造了机器工厂的</a:t>
            </a:r>
          </a:p>
          <a:p xmlns:a="http://schemas.openxmlformats.org/drawingml/2006/main"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“蒸汽时代”</a:t>
            </a:r>
          </a:p>
        </p:txBody>
      </p:sp>
      <p:sp>
        <p:nvSpPr>
          <p:cNvPr id="18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3A8550C8-B9BD-4D41-876E-49F3850E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592" y="5681901"/>
            <a:ext cx="915635" cy="300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</a:t>
            </a:r>
            <a:r>
              <a:rPr sz="13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世纪初</a:t>
            </a:r>
          </a:p>
        </p:txBody>
      </p:sp>
      <p:sp>
        <p:nvSpPr>
          <p:cNvPr id="19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E83D2D7-CD1B-4F34-B7D5-A417D9A4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682" y="5286614"/>
            <a:ext cx="1107996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电力广泛应用</a:t>
            </a:r>
          </a:p>
        </p:txBody>
      </p:sp>
      <p:sp>
        <p:nvSpPr>
          <p:cNvPr id="20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BE76E9A0-4A17-4F1F-BD22-C1974282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5037773"/>
            <a:ext cx="675185" cy="288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蒸汽机</a:t>
            </a:r>
          </a:p>
        </p:txBody>
      </p:sp>
      <p:cxnSp>
        <p:nvCxnSpPr>
          <p:cNvPr id="64" name="直接箭头连接符 27"/>
          <p:cNvCxnSpPr/>
          <p:nvPr/>
        </p:nvCxnSpPr>
        <p:spPr>
          <a:xfrm xmlns:a="http://schemas.openxmlformats.org/drawingml/2006/main">
            <a:off x="4635341" y="4280535"/>
            <a:ext cx="1191" cy="1401366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7F7F7F"/>
            </a:solidFill>
            <a:tailEnd type="arrow" w="med" len="med"/>
          </a:ln>
        </p:spPr>
      </p:cxnSp>
      <p:cxnSp>
        <p:nvCxnSpPr>
          <p:cNvPr id="65" name="直接箭头连接符 31"/>
          <p:cNvCxnSpPr/>
          <p:nvPr/>
        </p:nvCxnSpPr>
        <p:spPr>
          <a:xfrm xmlns:a="http://schemas.openxmlformats.org/drawingml/2006/main">
            <a:off x="6331982" y="3589972"/>
            <a:ext cx="0" cy="2091929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7F7F7F"/>
            </a:solidFill>
            <a:tailEnd type="arrow" w="med" len="med"/>
          </a:ln>
        </p:spPr>
      </p:cxnSp>
      <p:sp>
        <p:nvSpPr>
          <p:cNvPr id="23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9191939B-3588-49FE-934A-BFD10A15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039" y="4747260"/>
            <a:ext cx="1165704" cy="288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信息物联系统</a:t>
            </a:r>
          </a:p>
        </p:txBody>
      </p:sp>
      <p:sp>
        <p:nvSpPr>
          <p:cNvPr id="24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768E38EF-E6EB-4660-8709-8B74E0D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82" y="5685472"/>
            <a:ext cx="1117614" cy="300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1970</a:t>
            </a:r>
            <a:r>
              <a:rPr sz="13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年代初</a:t>
            </a:r>
          </a:p>
        </p:txBody>
      </p:sp>
      <p:sp>
        <p:nvSpPr>
          <p:cNvPr id="25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6CDDC3E-80D3-46FD-A377-19767401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358" y="5685472"/>
            <a:ext cx="530915" cy="300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今天</a:t>
            </a:r>
          </a:p>
        </p:txBody>
      </p:sp>
      <p:sp>
        <p:nvSpPr>
          <p:cNvPr id="2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F1F7C22-335B-4998-9EEA-320950A7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034" y="3090387"/>
            <a:ext cx="1554956" cy="107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工业</a:t>
            </a:r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2.0</a:t>
            </a:r>
          </a:p>
          <a:p xmlns:a="http://schemas.openxmlformats.org/drawingml/2006/main"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将人类带入分工明确、大批量生产的流水线模式和“电气时代”</a:t>
            </a:r>
          </a:p>
        </p:txBody>
      </p:sp>
      <p:sp>
        <p:nvSpPr>
          <p:cNvPr id="28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D183902-D7E2-4E25-BFCD-0B001743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3" y="2799398"/>
            <a:ext cx="1554956" cy="877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工业</a:t>
            </a:r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3.0</a:t>
            </a:r>
          </a:p>
          <a:p xmlns:a="http://schemas.openxmlformats.org/drawingml/2006/main"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应用电子信息技术，进一步提高生产自动化水平</a:t>
            </a:r>
          </a:p>
        </p:txBody>
      </p:sp>
      <p:sp>
        <p:nvSpPr>
          <p:cNvPr id="30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BB8C23A3-C52A-43DA-87E1-E2E4BD1E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695" y="5016342"/>
            <a:ext cx="1329210" cy="288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自动化、信息化</a:t>
            </a:r>
          </a:p>
        </p:txBody>
      </p:sp>
      <p:sp>
        <p:nvSpPr>
          <p:cNvPr id="32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B33FD99C-B293-4ED6-9030-A07AC4EF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084" y="2665095"/>
            <a:ext cx="1553766" cy="680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工业</a:t>
            </a:r>
            <a:r>
              <a:rPr sz="1275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4.0</a:t>
            </a:r>
          </a:p>
          <a:p xmlns:a="http://schemas.openxmlformats.org/drawingml/2006/main">
            <a:r>
              <a:rPr sz="1275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开始应用信息物理融合系统（</a:t>
            </a:r>
            <a:r>
              <a:rPr sz="1275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CPS</a:t>
            </a:r>
            <a:r>
              <a:rPr sz="1275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33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B651906-318A-44C3-8DD9-FF5E405B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5323" y="2833926"/>
            <a:ext cx="348172" cy="680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</a:t>
            </a:r>
          </a:p>
          <a:p xmlns:a="http://schemas.openxmlformats.org/drawingml/2006/main"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杂</a:t>
            </a:r>
          </a:p>
          <a:p xmlns:a="http://schemas.openxmlformats.org/drawingml/2006/main">
            <a:r>
              <a:rPr sz="12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度</a:t>
            </a:r>
          </a:p>
        </p:txBody>
      </p:sp>
      <p:sp>
        <p:nvSpPr>
          <p:cNvPr id="41" name="减号 40">
            <a:extLst xmlns:a="http://schemas.openxmlformats.org/drawingml/2006/main">
              <a:ext uri="{FF2B5EF4-FFF2-40B4-BE49-F238E27FC236}">
                <a16:creationId xmlns:a16="http://schemas.microsoft.com/office/drawing/2014/main" id="{604BBDC3-8CB0-417C-838A-75B5B5EE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56308">
            <a:off x="-320383" y="2711982"/>
            <a:ext cx="6058586" cy="693800"/>
          </a:xfrm>
          <a:prstGeom xmlns:a="http://schemas.openxmlformats.org/drawingml/2006/main" prst="mathMinus">
            <a:avLst/>
          </a:prstGeom>
          <a:solidFill xmlns:a="http://schemas.openxmlformats.org/drawingml/2006/main">
            <a:srgbClr val="92D050"/>
          </a:solidFill>
        </p:spPr>
        <p:style>
          <a:lnRef xmlns:a="http://schemas.openxmlformats.org/drawingml/2006/main" idx="2">
            <a:schemeClr val="lt1">
              <a:lumOff val="0"/>
            </a:schemeClr>
          </a:lnRef>
          <a:fillRef xmlns:a="http://schemas.openxmlformats.org/drawingml/2006/main" idx="1"/>
          <a:effectRef xmlns:a="http://schemas.openxmlformats.org/drawingml/2006/main" idx="0">
            <a:schemeClr val="accent1">
              <a:tint val="60000"/>
              <a:lumOff val="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</p:sp>
      <p:sp>
        <p:nvSpPr>
          <p:cNvPr id="42" name="下箭头 41">
            <a:extLst xmlns:a="http://schemas.openxmlformats.org/drawingml/2006/main">
              <a:ext uri="{FF2B5EF4-FFF2-40B4-BE49-F238E27FC236}">
                <a16:creationId xmlns:a16="http://schemas.microsoft.com/office/drawing/2014/main" id="{A6C27301-E122-44E2-A526-D831ED6B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2462317"/>
            <a:ext cx="1545976" cy="116099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chemeClr val="accent6">
              <a:lumMod val="50000"/>
            </a:schemeClr>
          </a:solidFill>
        </p:spPr>
        <p:style>
          <a:lnRef xmlns:a="http://schemas.openxmlformats.org/drawingml/2006/main" idx="2">
            <a:schemeClr val="lt1">
              <a:lumOff val="0"/>
            </a:schemeClr>
          </a:lnRef>
          <a:fillRef xmlns:a="http://schemas.openxmlformats.org/drawingml/2006/main" idx="1"/>
          <a:effectRef xmlns:a="http://schemas.openxmlformats.org/drawingml/2006/main" idx="0">
            <a:schemeClr val="accent1">
              <a:lumOff val="0"/>
            </a:schemeClr>
          </a:effectRef>
          <a:fontRef xmlns:a="http://schemas.openxmlformats.org/drawingml/2006/main" idx="minor">
            <a:schemeClr val="lt1"/>
          </a:fontRef>
        </p:style>
      </p:sp>
      <p:sp>
        <p:nvSpPr>
          <p:cNvPr id="43" name="上箭头 42">
            <a:extLst xmlns:a="http://schemas.openxmlformats.org/drawingml/2006/main">
              <a:ext uri="{FF2B5EF4-FFF2-40B4-BE49-F238E27FC236}">
                <a16:creationId xmlns:a16="http://schemas.microsoft.com/office/drawing/2014/main" id="{5D8A7E44-65D7-46C6-AC3E-E717C791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695" y="1467366"/>
            <a:ext cx="1299210" cy="1160354"/>
          </a:xfrm>
          <a:prstGeom xmlns:a="http://schemas.openxmlformats.org/drawingml/2006/main" prst="upArrow">
            <a:avLst/>
          </a:prstGeom>
          <a:solidFill xmlns:a="http://schemas.openxmlformats.org/drawingml/2006/main">
            <a:schemeClr val="accent6">
              <a:lumMod val="50000"/>
            </a:schemeClr>
          </a:solidFill>
        </p:spPr>
        <p:style>
          <a:lnRef xmlns:a="http://schemas.openxmlformats.org/drawingml/2006/main" idx="2">
            <a:schemeClr val="lt1">
              <a:lumOff val="0"/>
            </a:schemeClr>
          </a:lnRef>
          <a:fillRef xmlns:a="http://schemas.openxmlformats.org/drawingml/2006/main" idx="1"/>
          <a:effectRef xmlns:a="http://schemas.openxmlformats.org/drawingml/2006/main" idx="0">
            <a:schemeClr val="accent1">
              <a:lumOff val="0"/>
            </a:schemeClr>
          </a:effectRef>
          <a:fontRef xmlns:a="http://schemas.openxmlformats.org/drawingml/2006/main" idx="minor">
            <a:schemeClr val="lt1"/>
          </a:fontRef>
        </p:style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B8901142-2CF8-46D5-BE26-96C37B33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182" y="1929725"/>
            <a:ext cx="699872" cy="579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spAutoFit/>
          </a:bodyPr>
          <a:lstStyle xmlns:a="http://schemas.openxmlformats.org/drawingml/2006/main">
            <a:lvl1pPr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ts val="1875"/>
              </a:lnSpc>
              <a:buNone/>
            </a:pPr>
            <a:r>
              <a:rPr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悄然</a:t>
            </a:r>
          </a:p>
          <a:p xmlns:a="http://schemas.openxmlformats.org/drawingml/2006/main">
            <a:pPr algn="ctr">
              <a:lnSpc>
                <a:spcPts val="1875"/>
              </a:lnSpc>
              <a:buNone/>
            </a:pPr>
            <a:r>
              <a:rPr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来临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4BDE253E-C09F-4787-91BF-0E75A60C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17" y="2090827"/>
            <a:ext cx="1233325" cy="37917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>
              <a:lumOff val="0"/>
            </a:schemeClr>
          </a:fontRef>
        </p:style>
        <p:txBody>
          <a:bodyPr xmlns:a="http://schemas.openxmlformats.org/drawingml/2006/main" spcFirstLastPara="0" vert="horz" wrap="square" lIns="101346" tIns="101346" rIns="101346" bIns="101346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latin typeface="微软雅黑"/>
                <a:ea typeface="微软雅黑"/>
                <a:cs typeface="微软雅黑"/>
              </a:rPr>
              <a:t>互联网时代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D9FF5B9C-779C-4BBB-8398-39256040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52" y="2522965"/>
            <a:ext cx="699872" cy="579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>
            <a:spAutoFit/>
          </a:bodyPr>
          <a:lstStyle xmlns:a="http://schemas.openxmlformats.org/drawingml/2006/main">
            <a:lvl1pPr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 b="1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ts val="1875"/>
              </a:lnSpc>
              <a:buNone/>
            </a:pPr>
            <a:r>
              <a:rPr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正在</a:t>
            </a:r>
          </a:p>
          <a:p xmlns:a="http://schemas.openxmlformats.org/drawingml/2006/main">
            <a:pPr algn="ctr">
              <a:lnSpc>
                <a:spcPts val="1875"/>
              </a:lnSpc>
              <a:buNone/>
            </a:pPr>
            <a:r>
              <a:rPr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终结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DF431345-ADB8-4264-94A4-CA2BB5FA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681" y="1559152"/>
            <a:ext cx="2554000" cy="121307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>
              <a:lumOff val="0"/>
            </a:schemeClr>
          </a:fontRef>
        </p:style>
        <p:txBody>
          <a:bodyPr xmlns:a="http://schemas.openxmlformats.org/drawingml/2006/main" spcFirstLastPara="0" vert="horz" wrap="square" lIns="101346" tIns="101346" rIns="101346" bIns="101346" anchor="ctr">
            <a:noAutofit/>
          </a:bodyPr>
          <a:lstStyle xmlns:a="http://schemas.openxmlformats.org/drawingml/2006/main"/>
          <a:p xmlns:a="http://schemas.openxmlformats.org/drawingml/2006/main">
            <a:pPr marL="257175" indent="-25717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机器人</a:t>
            </a:r>
          </a:p>
          <a:p xmlns:a="http://schemas.openxmlformats.org/drawingml/2006/main">
            <a:pPr marL="257175" indent="-25717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无人机</a:t>
            </a:r>
          </a:p>
          <a:p xmlns:a="http://schemas.openxmlformats.org/drawingml/2006/main">
            <a:pPr marL="257175" indent="-25717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无人驾驶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E21CE060-9186-4800-8047-7F9FF164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540" y="1559153"/>
            <a:ext cx="3569570" cy="78535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>
              <a:lumOff val="0"/>
            </a:schemeClr>
          </a:fontRef>
        </p:style>
        <p:txBody>
          <a:bodyPr xmlns:a="http://schemas.openxmlformats.org/drawingml/2006/main" spcFirstLastPara="0" vert="horz" wrap="square" lIns="101346" tIns="101346" rIns="101346" bIns="101346" anchor="ctr">
            <a:noAutofit/>
          </a:bodyPr>
          <a:lstStyle xmlns:a="http://schemas.openxmlformats.org/drawingml/2006/main"/>
          <a:p xmlns:a="http://schemas.openxmlformats.org/drawingml/2006/main">
            <a:pPr marL="257175" indent="-25717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5G</a:t>
            </a:r>
          </a:p>
          <a:p xmlns:a="http://schemas.openxmlformats.org/drawingml/2006/main">
            <a:pPr marL="257175" indent="-25717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VR</a:t>
            </a: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（虚拟现实）、</a:t>
            </a: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AR</a:t>
            </a: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（增强现实）</a:t>
            </a:r>
          </a:p>
        </p:txBody>
      </p:sp>
      <p:pic>
        <p:nvPicPr>
          <p:cNvPr id="8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ec10f97d14a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76337" y="4171767"/>
            <a:ext cx="1376363" cy="10977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4d66606a74b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5114" y="3767785"/>
            <a:ext cx="1569244" cy="12227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40687edc142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2234" y="3411616"/>
            <a:ext cx="1678781" cy="13013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矩形 44">
            <a:extLst xmlns:a="http://schemas.openxmlformats.org/drawingml/2006/main">
              <a:ext uri="{FF2B5EF4-FFF2-40B4-BE49-F238E27FC236}">
                <a16:creationId xmlns:a16="http://schemas.microsoft.com/office/drawing/2014/main" id="{AB196CBF-56FC-8145-B77D-1FEB9D0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08" y="1087228"/>
            <a:ext cx="1405810" cy="37917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>
              <a:lumOff val="0"/>
            </a:schemeClr>
          </a:fontRef>
        </p:style>
        <p:txBody>
          <a:bodyPr xmlns:a="http://schemas.openxmlformats.org/drawingml/2006/main" spcFirstLastPara="0" vert="horz" wrap="square" lIns="101346" tIns="101346" rIns="101346" bIns="101346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latin typeface="微软雅黑"/>
                <a:ea typeface="微软雅黑"/>
                <a:cs typeface="微软雅黑"/>
              </a:rPr>
              <a:t>人工智能时代</a:t>
            </a:r>
          </a:p>
        </p:txBody>
      </p:sp>
    </p:spTree>
    <p:extLst>
      <p:ext uri="{BB962C8B-B14F-4D97-AF65-F5344CB8AC3E}">
        <p14:creationId xmlns:p14="http://schemas.microsoft.com/office/powerpoint/2010/main" val="26482399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3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7823500E-76ED-4B96-8973-52879FA5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97" y="1747838"/>
            <a:ext cx="1947863" cy="332185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bg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None/>
            </a:pPr>
          </a:p>
        </p:txBody>
      </p:sp>
      <p:sp>
        <p:nvSpPr>
          <p:cNvPr id="717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916AAD06-24CE-476A-9382-DCF49C5C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97" y="3007519"/>
            <a:ext cx="1947863" cy="332185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bg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None/>
            </a:pPr>
          </a:p>
        </p:txBody>
      </p:sp>
      <p:sp>
        <p:nvSpPr>
          <p:cNvPr id="7181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1F101FE2-ABA0-4C5E-A38B-C23745B0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97" y="4267200"/>
            <a:ext cx="1947863" cy="332185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bg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None/>
            </a:pPr>
          </a:p>
        </p:txBody>
      </p:sp>
      <p:pic>
        <p:nvPicPr>
          <p:cNvPr id="718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7b3942c8a44b5"/>
          <a:srcRect xmlns:a="http://schemas.openxmlformats.org/drawingml/2006/main" l="0" t="0" r="3709" b="53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84785"/>
            <a:ext cx="9144000" cy="5400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8AD68EB-D973-4D8A-9328-FE78C4E733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AI</a:t>
            </a:r>
            <a:r>
              <a:rPr>
                <a:latin typeface="Microsoft YaHei"/>
                <a:ea typeface="Microsoft YaHei"/>
                <a:cs typeface="Microsoft YaHei"/>
              </a:rPr>
              <a:t>将催生“无用阶层”吗？</a:t>
            </a:r>
          </a:p>
        </p:txBody>
      </p:sp>
      <p:sp>
        <p:nvSpPr>
          <p:cNvPr id="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CC24F5B-BA8B-433D-830F-1A3F88DB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137" y="1326416"/>
            <a:ext cx="3240360" cy="8428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人工</a:t>
            </a: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/</a:t>
            </a: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脑力劳动：翻译、记者</a:t>
            </a: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...</a:t>
            </a:r>
          </a:p>
          <a:p xmlns:a="http://schemas.openxmlformats.org/drawingml/2006/main">
            <a:pPr>
              <a:buNone/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人工</a:t>
            </a: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/</a:t>
            </a: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体力劳动：保安、保姆</a:t>
            </a: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...</a:t>
            </a:r>
          </a:p>
        </p:txBody>
      </p:sp>
      <p:pic>
        <p:nvPicPr>
          <p:cNvPr id="71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58c7237a84d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1" y="5996384"/>
            <a:ext cx="876300" cy="88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36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49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8E4B5DEC-BDA5-467A-9331-FFC9F7F5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87" y="1622108"/>
            <a:ext cx="1947863" cy="332185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bg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A178B7C-6DFE-48D0-9396-6BFE54E2AA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什么是人工智能</a:t>
            </a:r>
            <a:r>
              <a:rPr>
                <a:latin typeface="Microsoft YaHei"/>
                <a:ea typeface="Microsoft YaHei"/>
                <a:cs typeface="Microsoft YaHei"/>
              </a:rPr>
              <a:t>(AI)?</a:t>
            </a:r>
          </a:p>
        </p:txBody>
      </p:sp>
      <p:sp>
        <p:nvSpPr>
          <p:cNvPr id="17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ECC8C90-6204-49AB-8636-DD2A0227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" y="1974064"/>
            <a:ext cx="4379416" cy="1059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425">
                <a:latin typeface="Microsoft YaHei"/>
                <a:ea typeface="Microsoft YaHei"/>
                <a:cs typeface="Microsoft YaHei"/>
              </a:rPr>
              <a:t>全面实施战略性新兴产业发展规划，加快人工智能等技术的研发和转化，做大做强产业集群</a:t>
            </a:r>
          </a:p>
          <a:p xmlns:a="http://schemas.openxmlformats.org/drawingml/2006/main">
            <a:pPr>
              <a:buNone/>
            </a:pPr>
            <a:r>
              <a:rPr sz="1425">
                <a:latin typeface="Microsoft YaHei"/>
                <a:ea typeface="Microsoft YaHei"/>
                <a:cs typeface="Microsoft YaHei"/>
              </a:rPr>
              <a:t>把发展智能制造作为主攻方向，推进国家智能制造示范区、制造业创新中心建设</a:t>
            </a:r>
          </a:p>
        </p:txBody>
      </p:sp>
      <p:sp>
        <p:nvSpPr>
          <p:cNvPr id="18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1702DB4D-E416-4933-8727-0691242C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49" y="1608543"/>
            <a:ext cx="5120640" cy="34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人工智能：国家战略（政府工作报告）</a:t>
            </a:r>
          </a:p>
        </p:txBody>
      </p:sp>
      <p:sp>
        <p:nvSpPr>
          <p:cNvPr id="1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D42FFAB-DB3E-4622-8180-2E649B75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4" y="3392813"/>
            <a:ext cx="4401026" cy="1424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425">
                <a:latin typeface="Microsoft YaHei"/>
                <a:ea typeface="Microsoft YaHei"/>
                <a:cs typeface="Microsoft YaHei"/>
              </a:rPr>
              <a:t>人工智能（</a:t>
            </a:r>
            <a:r>
              <a:rPr sz="1425">
                <a:latin typeface="Microsoft YaHei"/>
                <a:ea typeface="Microsoft YaHei"/>
                <a:cs typeface="Microsoft YaHei"/>
              </a:rPr>
              <a:t>Artificial Intelligence</a:t>
            </a:r>
            <a:r>
              <a:rPr sz="1425">
                <a:latin typeface="Microsoft YaHei"/>
                <a:ea typeface="Microsoft YaHei"/>
                <a:cs typeface="Microsoft YaHei"/>
              </a:rPr>
              <a:t>），英文缩写为</a:t>
            </a:r>
            <a:r>
              <a:rPr sz="1425">
                <a:latin typeface="Microsoft YaHei"/>
                <a:ea typeface="Microsoft YaHei"/>
                <a:cs typeface="Microsoft YaHei"/>
              </a:rPr>
              <a:t>AI</a:t>
            </a:r>
            <a:r>
              <a:rPr sz="1425">
                <a:latin typeface="Microsoft YaHei"/>
                <a:ea typeface="Microsoft YaHei"/>
                <a:cs typeface="Microsoft YaHei"/>
              </a:rPr>
              <a:t>。它是研究、开发用于模拟、延伸和扩展人的智能的理论、方法、技术及应用系统的一门新的技术科学。</a:t>
            </a:r>
          </a:p>
          <a:p xmlns:a="http://schemas.openxmlformats.org/drawingml/2006/main">
            <a:pPr>
              <a:buNone/>
            </a:pPr>
            <a:r>
              <a:rPr sz="1425">
                <a:latin typeface="Microsoft YaHei"/>
                <a:ea typeface="Microsoft YaHei"/>
                <a:cs typeface="Microsoft YaHei"/>
              </a:rPr>
              <a:t>它企图了解智能的实质，并生产出一种新的能以人类智能相似的方式做出反应的智能机器，该领域的研究包括机器人、语言识别、图像识别、自然语言处理和专家系统等。</a:t>
            </a:r>
          </a:p>
          <a:p xmlns:a="http://schemas.openxmlformats.org/drawingml/2006/main">
            <a:pPr>
              <a:buNone/>
            </a:pPr>
            <a:r>
              <a:rPr sz="1425">
                <a:latin typeface="Microsoft YaHei"/>
                <a:ea typeface="Microsoft YaHei"/>
                <a:cs typeface="Microsoft YaHei"/>
              </a:rPr>
              <a:t>人工智能是对人的意识、思维的信息过程的模拟。人工智能不是人的智能，但能像人那样思考、也可能超过人的智能。</a:t>
            </a:r>
          </a:p>
        </p:txBody>
      </p:sp>
      <p:sp>
        <p:nvSpPr>
          <p:cNvPr id="20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927D3C0C-7AE6-4F6E-896F-F5115919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67" y="3033720"/>
            <a:ext cx="3449241" cy="34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人工智能的一种定义</a:t>
            </a:r>
          </a:p>
        </p:txBody>
      </p:sp>
      <p:pic>
        <p:nvPicPr>
          <p:cNvPr id="615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436e8d83844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9130" y="1154590"/>
            <a:ext cx="4674870" cy="26335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67C7C935-A7F1-4439-A216-0177D071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333" y="3788100"/>
            <a:ext cx="3449241" cy="34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人工智能有哪些类型？</a:t>
            </a:r>
          </a:p>
        </p:txBody>
      </p:sp>
      <p:sp>
        <p:nvSpPr>
          <p:cNvPr id="1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313E3F1-B11F-4D3A-B44C-14F00F01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711" y="4183156"/>
            <a:ext cx="4282761" cy="1622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425" b="1">
                <a:latin typeface="Microsoft YaHei"/>
                <a:ea typeface="Microsoft YaHei"/>
                <a:cs typeface="Microsoft YaHei"/>
              </a:rPr>
              <a:t>弱人工智能：</a:t>
            </a:r>
            <a:r>
              <a:rPr sz="1425">
                <a:latin typeface="Microsoft YaHei"/>
                <a:ea typeface="Microsoft YaHei"/>
                <a:cs typeface="Microsoft YaHei"/>
              </a:rPr>
              <a:t>包含基础的、特定场景下的角色型任务，如</a:t>
            </a:r>
            <a:r>
              <a:rPr sz="1425">
                <a:latin typeface="Microsoft YaHei"/>
                <a:ea typeface="Microsoft YaHei"/>
                <a:cs typeface="Microsoft YaHei"/>
              </a:rPr>
              <a:t>Siri</a:t>
            </a:r>
            <a:r>
              <a:rPr sz="1425">
                <a:latin typeface="Microsoft YaHei"/>
                <a:ea typeface="Microsoft YaHei"/>
                <a:cs typeface="Microsoft YaHei"/>
              </a:rPr>
              <a:t>等聊天机器人和</a:t>
            </a:r>
            <a:r>
              <a:rPr sz="1425">
                <a:latin typeface="Microsoft YaHei"/>
                <a:ea typeface="Microsoft YaHei"/>
                <a:cs typeface="Microsoft YaHei"/>
              </a:rPr>
              <a:t>AlphaGo</a:t>
            </a:r>
            <a:r>
              <a:rPr sz="1425">
                <a:latin typeface="Microsoft YaHei"/>
                <a:ea typeface="Microsoft YaHei"/>
                <a:cs typeface="Microsoft YaHei"/>
              </a:rPr>
              <a:t>等下棋机器人；</a:t>
            </a:r>
          </a:p>
          <a:p xmlns:a="http://schemas.openxmlformats.org/drawingml/2006/main">
            <a:pPr>
              <a:buNone/>
            </a:pPr>
            <a:r>
              <a:rPr sz="1425" b="1">
                <a:latin typeface="Microsoft YaHei"/>
                <a:ea typeface="Microsoft YaHei"/>
                <a:cs typeface="Microsoft YaHei"/>
              </a:rPr>
              <a:t>通用人工智能：</a:t>
            </a:r>
            <a:r>
              <a:rPr sz="1425">
                <a:latin typeface="Microsoft YaHei"/>
                <a:ea typeface="Microsoft YaHei"/>
                <a:cs typeface="Microsoft YaHei"/>
              </a:rPr>
              <a:t>包含人类水平的任务，涉及机器的持续学习；</a:t>
            </a:r>
          </a:p>
          <a:p xmlns:a="http://schemas.openxmlformats.org/drawingml/2006/main">
            <a:pPr>
              <a:buNone/>
            </a:pPr>
            <a:r>
              <a:rPr sz="1425" b="1">
                <a:latin typeface="Microsoft YaHei"/>
                <a:ea typeface="Microsoft YaHei"/>
                <a:cs typeface="Microsoft YaHei"/>
              </a:rPr>
              <a:t>强人工智能</a:t>
            </a:r>
            <a:r>
              <a:rPr sz="1425">
                <a:latin typeface="Microsoft YaHei"/>
                <a:ea typeface="Microsoft YaHei"/>
                <a:cs typeface="Microsoft YaHei"/>
              </a:rPr>
              <a:t>，指比人类更聪明的机器；</a:t>
            </a:r>
          </a:p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2499448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B3A6ED9-B8A6-4F5D-9632-A494B8F2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58" y="3453670"/>
            <a:ext cx="1226819" cy="195729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310c1b762a54774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125D6275-4A00-42D3-873A-50FA3D15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329" y="1784222"/>
            <a:ext cx="1024127" cy="166897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ba1af7708554b2c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07C9AB0C-668F-43B2-B771-3893CA04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804" y="3463291"/>
            <a:ext cx="1024127" cy="194995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f8ff568649c4f13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BF056142-67F4-450E-8B60-38B23A52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3" y="1810512"/>
            <a:ext cx="1024128" cy="1667256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1ee2c8f0cbf4b6a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13268122-9069-4DB4-83CA-4250D907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552" y="3459860"/>
            <a:ext cx="1025271" cy="1949958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756bebda94b4fb1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C14D5C5-5A6D-415C-855E-9A56302D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015" y="1784223"/>
            <a:ext cx="1024128" cy="169535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dbd89d3e07a4055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9B15D580-154F-46A7-8B9F-1BE7375A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6243"/>
            <a:ext cx="1024128" cy="199615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ad2548d07eb433d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D74196E-1DD0-414F-9DE9-6485828D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908" y="1804797"/>
            <a:ext cx="1024127" cy="15273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48c6a43900f4d9b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0C1CD2BD-12BE-4684-B00A-1397CD12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54" y="1789937"/>
            <a:ext cx="1024128" cy="154419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1232b4deff9458e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AB2AE247-65D6-4796-8C0E-FF7B9E28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20" y="3423570"/>
            <a:ext cx="7908131" cy="85725"/>
          </a:xfrm>
          <a:custGeom xmlns:a="http://schemas.openxmlformats.org/drawingml/2006/main">
            <a:rect l="l" t="t" r="r" b="b"/>
            <a:pathLst>
              <a:path w="10544175" h="114300">
                <a:moveTo>
                  <a:pt x="10505704" y="37973"/>
                </a:moveTo>
                <a:lnTo>
                  <a:pt x="10448467" y="37973"/>
                </a:lnTo>
                <a:lnTo>
                  <a:pt x="10448594" y="76073"/>
                </a:lnTo>
                <a:lnTo>
                  <a:pt x="10429417" y="76130"/>
                </a:lnTo>
                <a:lnTo>
                  <a:pt x="10429544" y="114300"/>
                </a:lnTo>
                <a:lnTo>
                  <a:pt x="10543590" y="56768"/>
                </a:lnTo>
                <a:lnTo>
                  <a:pt x="10505704" y="37973"/>
                </a:lnTo>
                <a:close/>
              </a:path>
              <a:path w="10544175" h="114300">
                <a:moveTo>
                  <a:pt x="10429290" y="38030"/>
                </a:moveTo>
                <a:lnTo>
                  <a:pt x="0" y="69087"/>
                </a:lnTo>
                <a:lnTo>
                  <a:pt x="101" y="107187"/>
                </a:lnTo>
                <a:lnTo>
                  <a:pt x="10429417" y="76130"/>
                </a:lnTo>
                <a:lnTo>
                  <a:pt x="10429290" y="38030"/>
                </a:lnTo>
                <a:close/>
              </a:path>
              <a:path w="10544175" h="114300">
                <a:moveTo>
                  <a:pt x="10448467" y="37973"/>
                </a:moveTo>
                <a:lnTo>
                  <a:pt x="10429290" y="38030"/>
                </a:lnTo>
                <a:lnTo>
                  <a:pt x="10429417" y="76130"/>
                </a:lnTo>
                <a:lnTo>
                  <a:pt x="10448594" y="76073"/>
                </a:lnTo>
                <a:lnTo>
                  <a:pt x="10448467" y="37973"/>
                </a:lnTo>
                <a:close/>
              </a:path>
              <a:path w="10544175" h="114300">
                <a:moveTo>
                  <a:pt x="10429163" y="0"/>
                </a:moveTo>
                <a:lnTo>
                  <a:pt x="10429290" y="38030"/>
                </a:lnTo>
                <a:lnTo>
                  <a:pt x="10505704" y="37973"/>
                </a:lnTo>
                <a:lnTo>
                  <a:pt x="10429163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3784D90E-EF0A-4EDE-B730-52729C3A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925" y="3323272"/>
            <a:ext cx="461010" cy="325755"/>
          </a:xfrm>
          <a:custGeom xmlns:a="http://schemas.openxmlformats.org/drawingml/2006/main">
            <a:rect l="l" t="t" r="r" b="b"/>
            <a:pathLst>
              <a:path w="614680" h="434339">
                <a:moveTo>
                  <a:pt x="307085" y="0"/>
                </a:moveTo>
                <a:lnTo>
                  <a:pt x="251901" y="3500"/>
                </a:lnTo>
                <a:lnTo>
                  <a:pt x="199955" y="13592"/>
                </a:lnTo>
                <a:lnTo>
                  <a:pt x="152117" y="29661"/>
                </a:lnTo>
                <a:lnTo>
                  <a:pt x="109256" y="51092"/>
                </a:lnTo>
                <a:lnTo>
                  <a:pt x="72240" y="77271"/>
                </a:lnTo>
                <a:lnTo>
                  <a:pt x="41938" y="107583"/>
                </a:lnTo>
                <a:lnTo>
                  <a:pt x="19218" y="141413"/>
                </a:lnTo>
                <a:lnTo>
                  <a:pt x="4949" y="178147"/>
                </a:lnTo>
                <a:lnTo>
                  <a:pt x="0" y="217170"/>
                </a:lnTo>
                <a:lnTo>
                  <a:pt x="4949" y="256192"/>
                </a:lnTo>
                <a:lnTo>
                  <a:pt x="19218" y="292926"/>
                </a:lnTo>
                <a:lnTo>
                  <a:pt x="41938" y="326756"/>
                </a:lnTo>
                <a:lnTo>
                  <a:pt x="72240" y="357068"/>
                </a:lnTo>
                <a:lnTo>
                  <a:pt x="109256" y="383247"/>
                </a:lnTo>
                <a:lnTo>
                  <a:pt x="152117" y="404678"/>
                </a:lnTo>
                <a:lnTo>
                  <a:pt x="199955" y="420747"/>
                </a:lnTo>
                <a:lnTo>
                  <a:pt x="251901" y="430839"/>
                </a:lnTo>
                <a:lnTo>
                  <a:pt x="307085" y="434340"/>
                </a:lnTo>
                <a:lnTo>
                  <a:pt x="362270" y="430839"/>
                </a:lnTo>
                <a:lnTo>
                  <a:pt x="414216" y="420747"/>
                </a:lnTo>
                <a:lnTo>
                  <a:pt x="462054" y="404678"/>
                </a:lnTo>
                <a:lnTo>
                  <a:pt x="504915" y="383247"/>
                </a:lnTo>
                <a:lnTo>
                  <a:pt x="541931" y="357068"/>
                </a:lnTo>
                <a:lnTo>
                  <a:pt x="572233" y="326756"/>
                </a:lnTo>
                <a:lnTo>
                  <a:pt x="594953" y="292926"/>
                </a:lnTo>
                <a:lnTo>
                  <a:pt x="609222" y="256192"/>
                </a:lnTo>
                <a:lnTo>
                  <a:pt x="614171" y="217170"/>
                </a:lnTo>
                <a:lnTo>
                  <a:pt x="609222" y="178147"/>
                </a:lnTo>
                <a:lnTo>
                  <a:pt x="594953" y="141413"/>
                </a:lnTo>
                <a:lnTo>
                  <a:pt x="572233" y="107583"/>
                </a:lnTo>
                <a:lnTo>
                  <a:pt x="541931" y="77271"/>
                </a:lnTo>
                <a:lnTo>
                  <a:pt x="504915" y="51092"/>
                </a:lnTo>
                <a:lnTo>
                  <a:pt x="462054" y="29661"/>
                </a:lnTo>
                <a:lnTo>
                  <a:pt x="414216" y="13592"/>
                </a:lnTo>
                <a:lnTo>
                  <a:pt x="362270" y="3500"/>
                </a:lnTo>
                <a:lnTo>
                  <a:pt x="30708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E2B7A17F-9008-4162-97B7-61EC8893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925" y="3323272"/>
            <a:ext cx="461010" cy="325755"/>
          </a:xfrm>
          <a:custGeom xmlns:a="http://schemas.openxmlformats.org/drawingml/2006/main">
            <a:rect l="l" t="t" r="r" b="b"/>
            <a:pathLst>
              <a:path w="614680" h="434339">
                <a:moveTo>
                  <a:pt x="0" y="217170"/>
                </a:moveTo>
                <a:lnTo>
                  <a:pt x="4949" y="178147"/>
                </a:lnTo>
                <a:lnTo>
                  <a:pt x="19218" y="141413"/>
                </a:lnTo>
                <a:lnTo>
                  <a:pt x="41938" y="107583"/>
                </a:lnTo>
                <a:lnTo>
                  <a:pt x="72240" y="77271"/>
                </a:lnTo>
                <a:lnTo>
                  <a:pt x="109256" y="51092"/>
                </a:lnTo>
                <a:lnTo>
                  <a:pt x="152117" y="29661"/>
                </a:lnTo>
                <a:lnTo>
                  <a:pt x="199955" y="13592"/>
                </a:lnTo>
                <a:lnTo>
                  <a:pt x="251901" y="3500"/>
                </a:lnTo>
                <a:lnTo>
                  <a:pt x="307085" y="0"/>
                </a:lnTo>
                <a:lnTo>
                  <a:pt x="362270" y="3500"/>
                </a:lnTo>
                <a:lnTo>
                  <a:pt x="414216" y="13592"/>
                </a:lnTo>
                <a:lnTo>
                  <a:pt x="462054" y="29661"/>
                </a:lnTo>
                <a:lnTo>
                  <a:pt x="504915" y="51092"/>
                </a:lnTo>
                <a:lnTo>
                  <a:pt x="541931" y="77271"/>
                </a:lnTo>
                <a:lnTo>
                  <a:pt x="572233" y="107583"/>
                </a:lnTo>
                <a:lnTo>
                  <a:pt x="594953" y="141413"/>
                </a:lnTo>
                <a:lnTo>
                  <a:pt x="609222" y="178147"/>
                </a:lnTo>
                <a:lnTo>
                  <a:pt x="614171" y="217170"/>
                </a:lnTo>
                <a:lnTo>
                  <a:pt x="609222" y="256192"/>
                </a:lnTo>
                <a:lnTo>
                  <a:pt x="594953" y="292926"/>
                </a:lnTo>
                <a:lnTo>
                  <a:pt x="572233" y="326756"/>
                </a:lnTo>
                <a:lnTo>
                  <a:pt x="541931" y="357068"/>
                </a:lnTo>
                <a:lnTo>
                  <a:pt x="504915" y="383247"/>
                </a:lnTo>
                <a:lnTo>
                  <a:pt x="462054" y="404678"/>
                </a:lnTo>
                <a:lnTo>
                  <a:pt x="414216" y="420747"/>
                </a:lnTo>
                <a:lnTo>
                  <a:pt x="362270" y="430839"/>
                </a:lnTo>
                <a:lnTo>
                  <a:pt x="307085" y="434340"/>
                </a:lnTo>
                <a:lnTo>
                  <a:pt x="251901" y="430839"/>
                </a:lnTo>
                <a:lnTo>
                  <a:pt x="199955" y="420747"/>
                </a:lnTo>
                <a:lnTo>
                  <a:pt x="152117" y="404678"/>
                </a:lnTo>
                <a:lnTo>
                  <a:pt x="109256" y="383247"/>
                </a:lnTo>
                <a:lnTo>
                  <a:pt x="72240" y="357068"/>
                </a:lnTo>
                <a:lnTo>
                  <a:pt x="41938" y="326756"/>
                </a:lnTo>
                <a:lnTo>
                  <a:pt x="19218" y="292926"/>
                </a:lnTo>
                <a:lnTo>
                  <a:pt x="4949" y="256192"/>
                </a:lnTo>
                <a:lnTo>
                  <a:pt x="0" y="217170"/>
                </a:lnTo>
                <a:close/>
              </a:path>
            </a:pathLst>
          </a:custGeom>
          <a:ln xmlns:a="http://schemas.openxmlformats.org/drawingml/2006/main" w="38100">
            <a:solidFill>
              <a:srgbClr val="006FC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AC3A25C-1006-4EE6-9650-05C78146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219" y="3422713"/>
            <a:ext cx="388907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1956</a:t>
            </a: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A147883-49AC-4B9E-B599-E7C1B2B3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235" y="3336988"/>
            <a:ext cx="402431" cy="278130"/>
          </a:xfrm>
          <a:custGeom xmlns:a="http://schemas.openxmlformats.org/drawingml/2006/main">
            <a:rect l="l" t="t" r="r" b="b"/>
            <a:pathLst>
              <a:path w="536575" h="370839">
                <a:moveTo>
                  <a:pt x="268224" y="0"/>
                </a:moveTo>
                <a:lnTo>
                  <a:pt x="214183" y="3763"/>
                </a:lnTo>
                <a:lnTo>
                  <a:pt x="163841" y="14555"/>
                </a:lnTo>
                <a:lnTo>
                  <a:pt x="118281" y="31631"/>
                </a:lnTo>
                <a:lnTo>
                  <a:pt x="78581" y="54244"/>
                </a:lnTo>
                <a:lnTo>
                  <a:pt x="45822" y="81650"/>
                </a:lnTo>
                <a:lnTo>
                  <a:pt x="21085" y="113103"/>
                </a:lnTo>
                <a:lnTo>
                  <a:pt x="5451" y="147857"/>
                </a:lnTo>
                <a:lnTo>
                  <a:pt x="0" y="185166"/>
                </a:lnTo>
                <a:lnTo>
                  <a:pt x="5451" y="222474"/>
                </a:lnTo>
                <a:lnTo>
                  <a:pt x="21085" y="257228"/>
                </a:lnTo>
                <a:lnTo>
                  <a:pt x="45822" y="288681"/>
                </a:lnTo>
                <a:lnTo>
                  <a:pt x="78581" y="316087"/>
                </a:lnTo>
                <a:lnTo>
                  <a:pt x="118281" y="338700"/>
                </a:lnTo>
                <a:lnTo>
                  <a:pt x="163841" y="355776"/>
                </a:lnTo>
                <a:lnTo>
                  <a:pt x="214183" y="366568"/>
                </a:lnTo>
                <a:lnTo>
                  <a:pt x="268224" y="370332"/>
                </a:lnTo>
                <a:lnTo>
                  <a:pt x="322264" y="366568"/>
                </a:lnTo>
                <a:lnTo>
                  <a:pt x="372606" y="355776"/>
                </a:lnTo>
                <a:lnTo>
                  <a:pt x="418166" y="338700"/>
                </a:lnTo>
                <a:lnTo>
                  <a:pt x="457866" y="316087"/>
                </a:lnTo>
                <a:lnTo>
                  <a:pt x="490625" y="288681"/>
                </a:lnTo>
                <a:lnTo>
                  <a:pt x="515362" y="257228"/>
                </a:lnTo>
                <a:lnTo>
                  <a:pt x="530996" y="222474"/>
                </a:lnTo>
                <a:lnTo>
                  <a:pt x="536448" y="185166"/>
                </a:lnTo>
                <a:lnTo>
                  <a:pt x="530996" y="147857"/>
                </a:lnTo>
                <a:lnTo>
                  <a:pt x="515362" y="113103"/>
                </a:lnTo>
                <a:lnTo>
                  <a:pt x="490625" y="81650"/>
                </a:lnTo>
                <a:lnTo>
                  <a:pt x="457866" y="54244"/>
                </a:lnTo>
                <a:lnTo>
                  <a:pt x="418166" y="31631"/>
                </a:lnTo>
                <a:lnTo>
                  <a:pt x="372606" y="14555"/>
                </a:lnTo>
                <a:lnTo>
                  <a:pt x="322264" y="3763"/>
                </a:lnTo>
                <a:lnTo>
                  <a:pt x="268224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0298D3A-E415-482F-B537-81FEB81C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235" y="3336988"/>
            <a:ext cx="402431" cy="278130"/>
          </a:xfrm>
          <a:custGeom xmlns:a="http://schemas.openxmlformats.org/drawingml/2006/main">
            <a:rect l="l" t="t" r="r" b="b"/>
            <a:pathLst>
              <a:path w="536575" h="370839">
                <a:moveTo>
                  <a:pt x="0" y="185166"/>
                </a:moveTo>
                <a:lnTo>
                  <a:pt x="21085" y="113103"/>
                </a:lnTo>
                <a:lnTo>
                  <a:pt x="45822" y="81650"/>
                </a:lnTo>
                <a:lnTo>
                  <a:pt x="78581" y="54244"/>
                </a:lnTo>
                <a:lnTo>
                  <a:pt x="118281" y="31631"/>
                </a:lnTo>
                <a:lnTo>
                  <a:pt x="163841" y="14555"/>
                </a:lnTo>
                <a:lnTo>
                  <a:pt x="214183" y="3763"/>
                </a:lnTo>
                <a:lnTo>
                  <a:pt x="268224" y="0"/>
                </a:lnTo>
                <a:lnTo>
                  <a:pt x="322264" y="3763"/>
                </a:lnTo>
                <a:lnTo>
                  <a:pt x="372606" y="14555"/>
                </a:lnTo>
                <a:lnTo>
                  <a:pt x="418166" y="31631"/>
                </a:lnTo>
                <a:lnTo>
                  <a:pt x="457866" y="54244"/>
                </a:lnTo>
                <a:lnTo>
                  <a:pt x="490625" y="81650"/>
                </a:lnTo>
                <a:lnTo>
                  <a:pt x="515362" y="113103"/>
                </a:lnTo>
                <a:lnTo>
                  <a:pt x="530996" y="147857"/>
                </a:lnTo>
                <a:lnTo>
                  <a:pt x="536448" y="185166"/>
                </a:lnTo>
                <a:lnTo>
                  <a:pt x="530996" y="222474"/>
                </a:lnTo>
                <a:lnTo>
                  <a:pt x="515362" y="257228"/>
                </a:lnTo>
                <a:lnTo>
                  <a:pt x="490625" y="288681"/>
                </a:lnTo>
                <a:lnTo>
                  <a:pt x="457866" y="316087"/>
                </a:lnTo>
                <a:lnTo>
                  <a:pt x="418166" y="338700"/>
                </a:lnTo>
                <a:lnTo>
                  <a:pt x="372606" y="355776"/>
                </a:lnTo>
                <a:lnTo>
                  <a:pt x="322264" y="366568"/>
                </a:lnTo>
                <a:lnTo>
                  <a:pt x="268224" y="370332"/>
                </a:lnTo>
                <a:lnTo>
                  <a:pt x="214183" y="366568"/>
                </a:lnTo>
                <a:lnTo>
                  <a:pt x="163841" y="355776"/>
                </a:lnTo>
                <a:lnTo>
                  <a:pt x="118281" y="338700"/>
                </a:lnTo>
                <a:lnTo>
                  <a:pt x="78581" y="316087"/>
                </a:lnTo>
                <a:lnTo>
                  <a:pt x="45822" y="288681"/>
                </a:lnTo>
                <a:lnTo>
                  <a:pt x="21085" y="257228"/>
                </a:lnTo>
                <a:lnTo>
                  <a:pt x="5451" y="222474"/>
                </a:lnTo>
                <a:lnTo>
                  <a:pt x="0" y="185166"/>
                </a:lnTo>
                <a:close/>
              </a:path>
            </a:pathLst>
          </a:custGeom>
          <a:ln xmlns:a="http://schemas.openxmlformats.org/drawingml/2006/main" w="38100">
            <a:solidFill>
              <a:srgbClr val="006FC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5CBE4E11-CD67-4E8C-9490-8F797A02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906" y="3398711"/>
            <a:ext cx="388907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1974</a:t>
            </a: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A86A9558-C733-48C3-B816-51245D1D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503" y="3347276"/>
            <a:ext cx="417195" cy="255270"/>
          </a:xfrm>
          <a:custGeom xmlns:a="http://schemas.openxmlformats.org/drawingml/2006/main">
            <a:rect l="l" t="t" r="r" b="b"/>
            <a:pathLst>
              <a:path w="556260" h="340360">
                <a:moveTo>
                  <a:pt x="278129" y="0"/>
                </a:moveTo>
                <a:lnTo>
                  <a:pt x="222059" y="3452"/>
                </a:lnTo>
                <a:lnTo>
                  <a:pt x="169842" y="13352"/>
                </a:lnTo>
                <a:lnTo>
                  <a:pt x="122597" y="29019"/>
                </a:lnTo>
                <a:lnTo>
                  <a:pt x="81438" y="49768"/>
                </a:lnTo>
                <a:lnTo>
                  <a:pt x="47483" y="74916"/>
                </a:lnTo>
                <a:lnTo>
                  <a:pt x="21847" y="103780"/>
                </a:lnTo>
                <a:lnTo>
                  <a:pt x="0" y="169925"/>
                </a:lnTo>
                <a:lnTo>
                  <a:pt x="5648" y="204173"/>
                </a:lnTo>
                <a:lnTo>
                  <a:pt x="47483" y="264935"/>
                </a:lnTo>
                <a:lnTo>
                  <a:pt x="81438" y="290083"/>
                </a:lnTo>
                <a:lnTo>
                  <a:pt x="122597" y="310832"/>
                </a:lnTo>
                <a:lnTo>
                  <a:pt x="169842" y="326499"/>
                </a:lnTo>
                <a:lnTo>
                  <a:pt x="222059" y="336399"/>
                </a:lnTo>
                <a:lnTo>
                  <a:pt x="278129" y="339851"/>
                </a:lnTo>
                <a:lnTo>
                  <a:pt x="334200" y="336399"/>
                </a:lnTo>
                <a:lnTo>
                  <a:pt x="386417" y="326499"/>
                </a:lnTo>
                <a:lnTo>
                  <a:pt x="433662" y="310832"/>
                </a:lnTo>
                <a:lnTo>
                  <a:pt x="474821" y="290083"/>
                </a:lnTo>
                <a:lnTo>
                  <a:pt x="508776" y="264935"/>
                </a:lnTo>
                <a:lnTo>
                  <a:pt x="534412" y="236071"/>
                </a:lnTo>
                <a:lnTo>
                  <a:pt x="556259" y="169925"/>
                </a:lnTo>
                <a:lnTo>
                  <a:pt x="550611" y="135678"/>
                </a:lnTo>
                <a:lnTo>
                  <a:pt x="508776" y="74916"/>
                </a:lnTo>
                <a:lnTo>
                  <a:pt x="474821" y="49768"/>
                </a:lnTo>
                <a:lnTo>
                  <a:pt x="433662" y="29019"/>
                </a:lnTo>
                <a:lnTo>
                  <a:pt x="386417" y="13352"/>
                </a:lnTo>
                <a:lnTo>
                  <a:pt x="334200" y="3452"/>
                </a:lnTo>
                <a:lnTo>
                  <a:pt x="278129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131B4C42-AA1E-470F-A1A1-3BDF2F06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503" y="3347276"/>
            <a:ext cx="417195" cy="255270"/>
          </a:xfrm>
          <a:custGeom xmlns:a="http://schemas.openxmlformats.org/drawingml/2006/main">
            <a:rect l="l" t="t" r="r" b="b"/>
            <a:pathLst>
              <a:path w="556260" h="340360">
                <a:moveTo>
                  <a:pt x="0" y="169925"/>
                </a:moveTo>
                <a:lnTo>
                  <a:pt x="21847" y="103780"/>
                </a:lnTo>
                <a:lnTo>
                  <a:pt x="47483" y="74916"/>
                </a:lnTo>
                <a:lnTo>
                  <a:pt x="81438" y="49768"/>
                </a:lnTo>
                <a:lnTo>
                  <a:pt x="122597" y="29019"/>
                </a:lnTo>
                <a:lnTo>
                  <a:pt x="169842" y="13352"/>
                </a:lnTo>
                <a:lnTo>
                  <a:pt x="222059" y="3452"/>
                </a:lnTo>
                <a:lnTo>
                  <a:pt x="278129" y="0"/>
                </a:lnTo>
                <a:lnTo>
                  <a:pt x="334200" y="3452"/>
                </a:lnTo>
                <a:lnTo>
                  <a:pt x="386417" y="13352"/>
                </a:lnTo>
                <a:lnTo>
                  <a:pt x="433662" y="29019"/>
                </a:lnTo>
                <a:lnTo>
                  <a:pt x="474821" y="49768"/>
                </a:lnTo>
                <a:lnTo>
                  <a:pt x="508776" y="74916"/>
                </a:lnTo>
                <a:lnTo>
                  <a:pt x="534412" y="103780"/>
                </a:lnTo>
                <a:lnTo>
                  <a:pt x="556259" y="169925"/>
                </a:lnTo>
                <a:lnTo>
                  <a:pt x="550611" y="204173"/>
                </a:lnTo>
                <a:lnTo>
                  <a:pt x="508776" y="264935"/>
                </a:lnTo>
                <a:lnTo>
                  <a:pt x="474821" y="290083"/>
                </a:lnTo>
                <a:lnTo>
                  <a:pt x="433662" y="310832"/>
                </a:lnTo>
                <a:lnTo>
                  <a:pt x="386417" y="326499"/>
                </a:lnTo>
                <a:lnTo>
                  <a:pt x="334200" y="336399"/>
                </a:lnTo>
                <a:lnTo>
                  <a:pt x="278129" y="339851"/>
                </a:lnTo>
                <a:lnTo>
                  <a:pt x="222059" y="336399"/>
                </a:lnTo>
                <a:lnTo>
                  <a:pt x="169842" y="326499"/>
                </a:lnTo>
                <a:lnTo>
                  <a:pt x="122597" y="310832"/>
                </a:lnTo>
                <a:lnTo>
                  <a:pt x="81438" y="290083"/>
                </a:lnTo>
                <a:lnTo>
                  <a:pt x="47483" y="264935"/>
                </a:lnTo>
                <a:lnTo>
                  <a:pt x="21847" y="236071"/>
                </a:lnTo>
                <a:lnTo>
                  <a:pt x="0" y="169925"/>
                </a:lnTo>
                <a:close/>
              </a:path>
            </a:pathLst>
          </a:custGeom>
          <a:ln xmlns:a="http://schemas.openxmlformats.org/drawingml/2006/main" w="38100">
            <a:solidFill>
              <a:srgbClr val="006FC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8BB4F434-02E8-4F54-8782-7225E04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745" y="3402902"/>
            <a:ext cx="388907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1980</a:t>
            </a: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EF828487-138D-4178-9CF2-01BFF55B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627" y="3331273"/>
            <a:ext cx="421005" cy="278130"/>
          </a:xfrm>
          <a:custGeom xmlns:a="http://schemas.openxmlformats.org/drawingml/2006/main">
            <a:rect l="l" t="t" r="r" b="b"/>
            <a:pathLst>
              <a:path w="561340" h="370839">
                <a:moveTo>
                  <a:pt x="280415" y="0"/>
                </a:moveTo>
                <a:lnTo>
                  <a:pt x="223918" y="3763"/>
                </a:lnTo>
                <a:lnTo>
                  <a:pt x="171289" y="14555"/>
                </a:lnTo>
                <a:lnTo>
                  <a:pt x="123657" y="31631"/>
                </a:lnTo>
                <a:lnTo>
                  <a:pt x="82153" y="54244"/>
                </a:lnTo>
                <a:lnTo>
                  <a:pt x="47905" y="81650"/>
                </a:lnTo>
                <a:lnTo>
                  <a:pt x="22044" y="113103"/>
                </a:lnTo>
                <a:lnTo>
                  <a:pt x="5699" y="147857"/>
                </a:lnTo>
                <a:lnTo>
                  <a:pt x="0" y="185165"/>
                </a:lnTo>
                <a:lnTo>
                  <a:pt x="5699" y="222474"/>
                </a:lnTo>
                <a:lnTo>
                  <a:pt x="22044" y="257228"/>
                </a:lnTo>
                <a:lnTo>
                  <a:pt x="47905" y="288681"/>
                </a:lnTo>
                <a:lnTo>
                  <a:pt x="82153" y="316087"/>
                </a:lnTo>
                <a:lnTo>
                  <a:pt x="123657" y="338700"/>
                </a:lnTo>
                <a:lnTo>
                  <a:pt x="171289" y="355776"/>
                </a:lnTo>
                <a:lnTo>
                  <a:pt x="223918" y="366568"/>
                </a:lnTo>
                <a:lnTo>
                  <a:pt x="280415" y="370331"/>
                </a:lnTo>
                <a:lnTo>
                  <a:pt x="336913" y="366568"/>
                </a:lnTo>
                <a:lnTo>
                  <a:pt x="389542" y="355776"/>
                </a:lnTo>
                <a:lnTo>
                  <a:pt x="437174" y="338700"/>
                </a:lnTo>
                <a:lnTo>
                  <a:pt x="478678" y="316087"/>
                </a:lnTo>
                <a:lnTo>
                  <a:pt x="512926" y="288681"/>
                </a:lnTo>
                <a:lnTo>
                  <a:pt x="538787" y="257228"/>
                </a:lnTo>
                <a:lnTo>
                  <a:pt x="555132" y="222474"/>
                </a:lnTo>
                <a:lnTo>
                  <a:pt x="560831" y="185165"/>
                </a:lnTo>
                <a:lnTo>
                  <a:pt x="555132" y="147857"/>
                </a:lnTo>
                <a:lnTo>
                  <a:pt x="538787" y="113103"/>
                </a:lnTo>
                <a:lnTo>
                  <a:pt x="512926" y="81650"/>
                </a:lnTo>
                <a:lnTo>
                  <a:pt x="478678" y="54244"/>
                </a:lnTo>
                <a:lnTo>
                  <a:pt x="437174" y="31631"/>
                </a:lnTo>
                <a:lnTo>
                  <a:pt x="389542" y="14555"/>
                </a:lnTo>
                <a:lnTo>
                  <a:pt x="336913" y="3763"/>
                </a:lnTo>
                <a:lnTo>
                  <a:pt x="28041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98FA8D96-2531-42A8-A58D-133614D9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627" y="3331273"/>
            <a:ext cx="421005" cy="278130"/>
          </a:xfrm>
          <a:custGeom xmlns:a="http://schemas.openxmlformats.org/drawingml/2006/main">
            <a:rect l="l" t="t" r="r" b="b"/>
            <a:pathLst>
              <a:path w="561340" h="370839">
                <a:moveTo>
                  <a:pt x="0" y="185165"/>
                </a:moveTo>
                <a:lnTo>
                  <a:pt x="22044" y="113103"/>
                </a:lnTo>
                <a:lnTo>
                  <a:pt x="47905" y="81650"/>
                </a:lnTo>
                <a:lnTo>
                  <a:pt x="82153" y="54244"/>
                </a:lnTo>
                <a:lnTo>
                  <a:pt x="123657" y="31631"/>
                </a:lnTo>
                <a:lnTo>
                  <a:pt x="171289" y="14555"/>
                </a:lnTo>
                <a:lnTo>
                  <a:pt x="223918" y="3763"/>
                </a:lnTo>
                <a:lnTo>
                  <a:pt x="280415" y="0"/>
                </a:lnTo>
                <a:lnTo>
                  <a:pt x="336913" y="3763"/>
                </a:lnTo>
                <a:lnTo>
                  <a:pt x="389542" y="14555"/>
                </a:lnTo>
                <a:lnTo>
                  <a:pt x="437174" y="31631"/>
                </a:lnTo>
                <a:lnTo>
                  <a:pt x="478678" y="54244"/>
                </a:lnTo>
                <a:lnTo>
                  <a:pt x="512926" y="81650"/>
                </a:lnTo>
                <a:lnTo>
                  <a:pt x="538787" y="113103"/>
                </a:lnTo>
                <a:lnTo>
                  <a:pt x="555132" y="147857"/>
                </a:lnTo>
                <a:lnTo>
                  <a:pt x="560831" y="185165"/>
                </a:lnTo>
                <a:lnTo>
                  <a:pt x="555132" y="222474"/>
                </a:lnTo>
                <a:lnTo>
                  <a:pt x="538787" y="257228"/>
                </a:lnTo>
                <a:lnTo>
                  <a:pt x="512926" y="288681"/>
                </a:lnTo>
                <a:lnTo>
                  <a:pt x="478678" y="316087"/>
                </a:lnTo>
                <a:lnTo>
                  <a:pt x="437174" y="338700"/>
                </a:lnTo>
                <a:lnTo>
                  <a:pt x="389542" y="355776"/>
                </a:lnTo>
                <a:lnTo>
                  <a:pt x="336913" y="366568"/>
                </a:lnTo>
                <a:lnTo>
                  <a:pt x="280415" y="370331"/>
                </a:lnTo>
                <a:lnTo>
                  <a:pt x="223918" y="366568"/>
                </a:lnTo>
                <a:lnTo>
                  <a:pt x="171289" y="355776"/>
                </a:lnTo>
                <a:lnTo>
                  <a:pt x="123657" y="338700"/>
                </a:lnTo>
                <a:lnTo>
                  <a:pt x="82153" y="316087"/>
                </a:lnTo>
                <a:lnTo>
                  <a:pt x="47905" y="288681"/>
                </a:lnTo>
                <a:lnTo>
                  <a:pt x="22044" y="257228"/>
                </a:lnTo>
                <a:lnTo>
                  <a:pt x="5699" y="222474"/>
                </a:lnTo>
                <a:lnTo>
                  <a:pt x="0" y="185165"/>
                </a:lnTo>
                <a:close/>
              </a:path>
            </a:pathLst>
          </a:custGeom>
          <a:ln xmlns:a="http://schemas.openxmlformats.org/drawingml/2006/main" w="38100">
            <a:solidFill>
              <a:srgbClr val="006FC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88B7A67A-AD2A-44B0-9378-66A8C19B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39" y="3396044"/>
            <a:ext cx="388907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1987</a:t>
            </a: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D16501FE-D61A-4C09-8884-5813E478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461" y="3320987"/>
            <a:ext cx="427673" cy="278130"/>
          </a:xfrm>
          <a:custGeom xmlns:a="http://schemas.openxmlformats.org/drawingml/2006/main">
            <a:rect l="l" t="t" r="r" b="b"/>
            <a:pathLst>
              <a:path w="570229" h="370839">
                <a:moveTo>
                  <a:pt x="284988" y="0"/>
                </a:moveTo>
                <a:lnTo>
                  <a:pt x="227564" y="3763"/>
                </a:lnTo>
                <a:lnTo>
                  <a:pt x="174075" y="14555"/>
                </a:lnTo>
                <a:lnTo>
                  <a:pt x="125666" y="31631"/>
                </a:lnTo>
                <a:lnTo>
                  <a:pt x="83486" y="54244"/>
                </a:lnTo>
                <a:lnTo>
                  <a:pt x="48682" y="81650"/>
                </a:lnTo>
                <a:lnTo>
                  <a:pt x="22401" y="113103"/>
                </a:lnTo>
                <a:lnTo>
                  <a:pt x="5791" y="147857"/>
                </a:lnTo>
                <a:lnTo>
                  <a:pt x="0" y="185165"/>
                </a:lnTo>
                <a:lnTo>
                  <a:pt x="5791" y="222474"/>
                </a:lnTo>
                <a:lnTo>
                  <a:pt x="22401" y="257228"/>
                </a:lnTo>
                <a:lnTo>
                  <a:pt x="48682" y="288681"/>
                </a:lnTo>
                <a:lnTo>
                  <a:pt x="83486" y="316087"/>
                </a:lnTo>
                <a:lnTo>
                  <a:pt x="125666" y="338700"/>
                </a:lnTo>
                <a:lnTo>
                  <a:pt x="174075" y="355776"/>
                </a:lnTo>
                <a:lnTo>
                  <a:pt x="227564" y="366568"/>
                </a:lnTo>
                <a:lnTo>
                  <a:pt x="284988" y="370331"/>
                </a:lnTo>
                <a:lnTo>
                  <a:pt x="342411" y="366568"/>
                </a:lnTo>
                <a:lnTo>
                  <a:pt x="395900" y="355776"/>
                </a:lnTo>
                <a:lnTo>
                  <a:pt x="444309" y="338700"/>
                </a:lnTo>
                <a:lnTo>
                  <a:pt x="486489" y="316087"/>
                </a:lnTo>
                <a:lnTo>
                  <a:pt x="521293" y="288681"/>
                </a:lnTo>
                <a:lnTo>
                  <a:pt x="547574" y="257228"/>
                </a:lnTo>
                <a:lnTo>
                  <a:pt x="564184" y="222474"/>
                </a:lnTo>
                <a:lnTo>
                  <a:pt x="569976" y="185165"/>
                </a:lnTo>
                <a:lnTo>
                  <a:pt x="564184" y="147857"/>
                </a:lnTo>
                <a:lnTo>
                  <a:pt x="547574" y="113103"/>
                </a:lnTo>
                <a:lnTo>
                  <a:pt x="521293" y="81650"/>
                </a:lnTo>
                <a:lnTo>
                  <a:pt x="486489" y="54244"/>
                </a:lnTo>
                <a:lnTo>
                  <a:pt x="444309" y="31631"/>
                </a:lnTo>
                <a:lnTo>
                  <a:pt x="395900" y="14555"/>
                </a:lnTo>
                <a:lnTo>
                  <a:pt x="342411" y="3763"/>
                </a:lnTo>
                <a:lnTo>
                  <a:pt x="284988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B4ACD229-B5D8-4374-AA94-388A1C8C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461" y="3320987"/>
            <a:ext cx="496783" cy="278130"/>
          </a:xfrm>
          <a:custGeom xmlns:a="http://schemas.openxmlformats.org/drawingml/2006/main">
            <a:rect l="l" t="t" r="r" b="b"/>
            <a:pathLst>
              <a:path w="570229" h="370839">
                <a:moveTo>
                  <a:pt x="0" y="185165"/>
                </a:moveTo>
                <a:lnTo>
                  <a:pt x="22401" y="113103"/>
                </a:lnTo>
                <a:lnTo>
                  <a:pt x="48682" y="81650"/>
                </a:lnTo>
                <a:lnTo>
                  <a:pt x="83486" y="54244"/>
                </a:lnTo>
                <a:lnTo>
                  <a:pt x="125666" y="31631"/>
                </a:lnTo>
                <a:lnTo>
                  <a:pt x="174075" y="14555"/>
                </a:lnTo>
                <a:lnTo>
                  <a:pt x="227564" y="3763"/>
                </a:lnTo>
                <a:lnTo>
                  <a:pt x="284988" y="0"/>
                </a:lnTo>
                <a:lnTo>
                  <a:pt x="342411" y="3763"/>
                </a:lnTo>
                <a:lnTo>
                  <a:pt x="395900" y="14555"/>
                </a:lnTo>
                <a:lnTo>
                  <a:pt x="444309" y="31631"/>
                </a:lnTo>
                <a:lnTo>
                  <a:pt x="486489" y="54244"/>
                </a:lnTo>
                <a:lnTo>
                  <a:pt x="521293" y="81650"/>
                </a:lnTo>
                <a:lnTo>
                  <a:pt x="547574" y="113103"/>
                </a:lnTo>
                <a:lnTo>
                  <a:pt x="564184" y="147857"/>
                </a:lnTo>
                <a:lnTo>
                  <a:pt x="569976" y="185165"/>
                </a:lnTo>
                <a:lnTo>
                  <a:pt x="564184" y="222474"/>
                </a:lnTo>
                <a:lnTo>
                  <a:pt x="547574" y="257228"/>
                </a:lnTo>
                <a:lnTo>
                  <a:pt x="521293" y="288681"/>
                </a:lnTo>
                <a:lnTo>
                  <a:pt x="486489" y="316087"/>
                </a:lnTo>
                <a:lnTo>
                  <a:pt x="444309" y="338700"/>
                </a:lnTo>
                <a:lnTo>
                  <a:pt x="395900" y="355776"/>
                </a:lnTo>
                <a:lnTo>
                  <a:pt x="342411" y="366568"/>
                </a:lnTo>
                <a:lnTo>
                  <a:pt x="284988" y="370331"/>
                </a:lnTo>
                <a:lnTo>
                  <a:pt x="227564" y="366568"/>
                </a:lnTo>
                <a:lnTo>
                  <a:pt x="174075" y="355776"/>
                </a:lnTo>
                <a:lnTo>
                  <a:pt x="125666" y="338700"/>
                </a:lnTo>
                <a:lnTo>
                  <a:pt x="83486" y="316087"/>
                </a:lnTo>
                <a:lnTo>
                  <a:pt x="48682" y="288681"/>
                </a:lnTo>
                <a:lnTo>
                  <a:pt x="22401" y="257228"/>
                </a:lnTo>
                <a:lnTo>
                  <a:pt x="5791" y="222474"/>
                </a:lnTo>
                <a:lnTo>
                  <a:pt x="0" y="185165"/>
                </a:lnTo>
                <a:close/>
              </a:path>
            </a:pathLst>
          </a:custGeom>
          <a:ln xmlns:a="http://schemas.openxmlformats.org/drawingml/2006/main" w="38100">
            <a:solidFill>
              <a:srgbClr val="006FC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FA5C15A0-A14C-4714-A9C3-D65E8551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374" y="3385281"/>
            <a:ext cx="335756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6DFD760E-025B-4E38-B835-5C535C0F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018" y="3324415"/>
            <a:ext cx="457200" cy="278130"/>
          </a:xfrm>
          <a:custGeom xmlns:a="http://schemas.openxmlformats.org/drawingml/2006/main">
            <a:rect l="l" t="t" r="r" b="b"/>
            <a:pathLst>
              <a:path w="609600" h="370839">
                <a:moveTo>
                  <a:pt x="304800" y="0"/>
                </a:moveTo>
                <a:lnTo>
                  <a:pt x="243389" y="3763"/>
                </a:lnTo>
                <a:lnTo>
                  <a:pt x="186183" y="14555"/>
                </a:lnTo>
                <a:lnTo>
                  <a:pt x="134410" y="31631"/>
                </a:lnTo>
                <a:lnTo>
                  <a:pt x="89296" y="54244"/>
                </a:lnTo>
                <a:lnTo>
                  <a:pt x="52071" y="81650"/>
                </a:lnTo>
                <a:lnTo>
                  <a:pt x="23961" y="113103"/>
                </a:lnTo>
                <a:lnTo>
                  <a:pt x="6194" y="147857"/>
                </a:lnTo>
                <a:lnTo>
                  <a:pt x="0" y="185166"/>
                </a:lnTo>
                <a:lnTo>
                  <a:pt x="6194" y="222474"/>
                </a:lnTo>
                <a:lnTo>
                  <a:pt x="23961" y="257228"/>
                </a:lnTo>
                <a:lnTo>
                  <a:pt x="52071" y="288681"/>
                </a:lnTo>
                <a:lnTo>
                  <a:pt x="89296" y="316087"/>
                </a:lnTo>
                <a:lnTo>
                  <a:pt x="134410" y="338700"/>
                </a:lnTo>
                <a:lnTo>
                  <a:pt x="186183" y="355776"/>
                </a:lnTo>
                <a:lnTo>
                  <a:pt x="243389" y="366568"/>
                </a:lnTo>
                <a:lnTo>
                  <a:pt x="304800" y="370332"/>
                </a:lnTo>
                <a:lnTo>
                  <a:pt x="366210" y="366568"/>
                </a:lnTo>
                <a:lnTo>
                  <a:pt x="423416" y="355776"/>
                </a:lnTo>
                <a:lnTo>
                  <a:pt x="475189" y="338700"/>
                </a:lnTo>
                <a:lnTo>
                  <a:pt x="520303" y="316087"/>
                </a:lnTo>
                <a:lnTo>
                  <a:pt x="557528" y="288681"/>
                </a:lnTo>
                <a:lnTo>
                  <a:pt x="585638" y="257228"/>
                </a:lnTo>
                <a:lnTo>
                  <a:pt x="603405" y="222474"/>
                </a:lnTo>
                <a:lnTo>
                  <a:pt x="609600" y="185166"/>
                </a:lnTo>
                <a:lnTo>
                  <a:pt x="603405" y="147857"/>
                </a:lnTo>
                <a:lnTo>
                  <a:pt x="585638" y="113103"/>
                </a:lnTo>
                <a:lnTo>
                  <a:pt x="557528" y="81650"/>
                </a:lnTo>
                <a:lnTo>
                  <a:pt x="520303" y="54244"/>
                </a:lnTo>
                <a:lnTo>
                  <a:pt x="475189" y="31631"/>
                </a:lnTo>
                <a:lnTo>
                  <a:pt x="423416" y="14555"/>
                </a:lnTo>
                <a:lnTo>
                  <a:pt x="366210" y="3763"/>
                </a:lnTo>
                <a:lnTo>
                  <a:pt x="304800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17A4C64D-C812-41C0-AF0F-B50929BF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018" y="3324415"/>
            <a:ext cx="457200" cy="278130"/>
          </a:xfrm>
          <a:custGeom xmlns:a="http://schemas.openxmlformats.org/drawingml/2006/main">
            <a:rect l="l" t="t" r="r" b="b"/>
            <a:pathLst>
              <a:path w="609600" h="370839">
                <a:moveTo>
                  <a:pt x="0" y="185166"/>
                </a:moveTo>
                <a:lnTo>
                  <a:pt x="23961" y="113103"/>
                </a:lnTo>
                <a:lnTo>
                  <a:pt x="52071" y="81650"/>
                </a:lnTo>
                <a:lnTo>
                  <a:pt x="89296" y="54244"/>
                </a:lnTo>
                <a:lnTo>
                  <a:pt x="134410" y="31631"/>
                </a:lnTo>
                <a:lnTo>
                  <a:pt x="186183" y="14555"/>
                </a:lnTo>
                <a:lnTo>
                  <a:pt x="243389" y="3763"/>
                </a:lnTo>
                <a:lnTo>
                  <a:pt x="304800" y="0"/>
                </a:lnTo>
                <a:lnTo>
                  <a:pt x="366210" y="3763"/>
                </a:lnTo>
                <a:lnTo>
                  <a:pt x="423416" y="14555"/>
                </a:lnTo>
                <a:lnTo>
                  <a:pt x="475189" y="31631"/>
                </a:lnTo>
                <a:lnTo>
                  <a:pt x="520303" y="54244"/>
                </a:lnTo>
                <a:lnTo>
                  <a:pt x="557528" y="81650"/>
                </a:lnTo>
                <a:lnTo>
                  <a:pt x="585638" y="113103"/>
                </a:lnTo>
                <a:lnTo>
                  <a:pt x="603405" y="147857"/>
                </a:lnTo>
                <a:lnTo>
                  <a:pt x="609600" y="185166"/>
                </a:lnTo>
                <a:lnTo>
                  <a:pt x="603405" y="222474"/>
                </a:lnTo>
                <a:lnTo>
                  <a:pt x="585638" y="257228"/>
                </a:lnTo>
                <a:lnTo>
                  <a:pt x="557528" y="288681"/>
                </a:lnTo>
                <a:lnTo>
                  <a:pt x="520303" y="316087"/>
                </a:lnTo>
                <a:lnTo>
                  <a:pt x="475189" y="338700"/>
                </a:lnTo>
                <a:lnTo>
                  <a:pt x="423416" y="355776"/>
                </a:lnTo>
                <a:lnTo>
                  <a:pt x="366210" y="366568"/>
                </a:lnTo>
                <a:lnTo>
                  <a:pt x="304800" y="370332"/>
                </a:lnTo>
                <a:lnTo>
                  <a:pt x="243389" y="366568"/>
                </a:lnTo>
                <a:lnTo>
                  <a:pt x="186183" y="355776"/>
                </a:lnTo>
                <a:lnTo>
                  <a:pt x="134410" y="338700"/>
                </a:lnTo>
                <a:lnTo>
                  <a:pt x="89296" y="316087"/>
                </a:lnTo>
                <a:lnTo>
                  <a:pt x="52071" y="288681"/>
                </a:lnTo>
                <a:lnTo>
                  <a:pt x="23961" y="257228"/>
                </a:lnTo>
                <a:lnTo>
                  <a:pt x="6194" y="222474"/>
                </a:lnTo>
                <a:lnTo>
                  <a:pt x="0" y="185166"/>
                </a:lnTo>
                <a:close/>
              </a:path>
            </a:pathLst>
          </a:custGeom>
          <a:ln xmlns:a="http://schemas.openxmlformats.org/drawingml/2006/main" w="38100">
            <a:solidFill>
              <a:srgbClr val="006FC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4F181E83-11DD-409A-BF9D-53AD0557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788" y="3388900"/>
            <a:ext cx="388907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2006</a:t>
            </a:r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56F519AA-B6B8-47B5-BEA6-80894E2C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" y="1995202"/>
            <a:ext cx="955358" cy="820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70961">
              <a:buNone/>
            </a:pPr>
            <a:r>
              <a:rPr sz="1350" b="1">
                <a:latin typeface="Microsoft YaHei"/>
                <a:ea typeface="Microsoft YaHei"/>
                <a:cs typeface="Microsoft YaHei"/>
              </a:rPr>
              <a:t>AI的诞生</a:t>
            </a:r>
          </a:p>
          <a:p xmlns:a="http://schemas.openxmlformats.org/drawingml/2006/main">
            <a:pPr marL="9525">
              <a:spcBef>
                <a:spcPts val="1043"/>
              </a:spcBef>
              <a:buNone/>
            </a:pP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1956达特矛斯  会议，“人工智  能”正式诞生</a:t>
            </a: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56B6B880-002C-4E7E-9C5E-A86098A8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38" y="4027265"/>
            <a:ext cx="947261" cy="1479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latin typeface="Microsoft YaHei"/>
                <a:ea typeface="Microsoft YaHei"/>
                <a:cs typeface="Microsoft YaHei"/>
              </a:rPr>
              <a:t>孕育期</a:t>
            </a:r>
          </a:p>
          <a:p xmlns:a="http://schemas.openxmlformats.org/drawingml/2006/main">
            <a:pPr marL="9525" indent="-953" algn="ctr">
              <a:lnSpc>
                <a:spcPct val="135700"/>
              </a:lnSpc>
              <a:spcBef>
                <a:spcPts val="416"/>
              </a:spcBef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电子计算机</a:t>
            </a:r>
            <a:r>
              <a:rPr sz="1050" b="1">
                <a:latin typeface="Microsoft YaHei"/>
                <a:ea typeface="Microsoft YaHei"/>
                <a:cs typeface="Microsoft YaHei"/>
              </a:rPr>
              <a:t>  </a:t>
            </a:r>
          </a:p>
          <a:p xmlns:a="http://schemas.openxmlformats.org/drawingml/2006/main">
            <a:pPr marL="9525" indent="-953" algn="ctr">
              <a:lnSpc>
                <a:spcPct val="135700"/>
              </a:lnSpc>
              <a:spcBef>
                <a:spcPts val="416"/>
              </a:spcBef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机器翻译与NLP</a:t>
            </a:r>
            <a:r>
              <a:rPr sz="1050" b="1">
                <a:latin typeface="Microsoft YaHei"/>
                <a:ea typeface="Microsoft YaHei"/>
                <a:cs typeface="Microsoft YaHei"/>
              </a:rPr>
              <a:t>  </a:t>
            </a:r>
            <a:r>
              <a:rPr sz="1050" b="1">
                <a:latin typeface="Microsoft YaHei"/>
                <a:ea typeface="Microsoft YaHei"/>
                <a:cs typeface="Microsoft YaHei"/>
              </a:rPr>
              <a:t>图灵测试</a:t>
            </a:r>
            <a:r>
              <a:rPr sz="1050" b="1">
                <a:latin typeface="Microsoft YaHei"/>
                <a:ea typeface="Microsoft YaHei"/>
                <a:cs typeface="Microsoft YaHei"/>
              </a:rPr>
              <a:t>  </a:t>
            </a:r>
          </a:p>
          <a:p xmlns:a="http://schemas.openxmlformats.org/drawingml/2006/main">
            <a:pPr marL="9525" indent="-953" algn="ctr">
              <a:lnSpc>
                <a:spcPct val="135700"/>
              </a:lnSpc>
              <a:spcBef>
                <a:spcPts val="416"/>
              </a:spcBef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计算机下棋</a:t>
            </a:r>
            <a:r>
              <a:rPr sz="1050" b="1">
                <a:latin typeface="Microsoft YaHei"/>
                <a:ea typeface="Microsoft YaHei"/>
                <a:cs typeface="Microsoft YaHei"/>
              </a:rPr>
              <a:t>  </a:t>
            </a:r>
          </a:p>
          <a:p xmlns:a="http://schemas.openxmlformats.org/drawingml/2006/main">
            <a:pPr marL="9525" indent="-953" algn="ctr">
              <a:lnSpc>
                <a:spcPct val="135700"/>
              </a:lnSpc>
              <a:spcBef>
                <a:spcPts val="416"/>
              </a:spcBef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早期神经网络</a:t>
            </a: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AE85C849-77E0-454C-9172-AC2B6A41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027110"/>
            <a:ext cx="687705" cy="438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搜索式推理</a:t>
            </a:r>
          </a:p>
          <a:p xmlns:a="http://schemas.openxmlformats.org/drawingml/2006/main">
            <a:pPr marL="9525">
              <a:spcBef>
                <a:spcPts val="900"/>
              </a:spcBef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聊天机器人</a:t>
            </a: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602A69DC-BD74-4898-AEF0-F46629F4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374" y="2576037"/>
            <a:ext cx="554355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乐观思潮</a:t>
            </a:r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C626ECE6-1F4C-4158-B796-F860A586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843" y="4120230"/>
            <a:ext cx="954405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 indent="3619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所有的AI程序  都只是</a:t>
            </a:r>
            <a:r>
              <a:rPr sz="1050" b="1">
                <a:latin typeface="Microsoft YaHei"/>
                <a:ea typeface="Microsoft YaHei"/>
                <a:cs typeface="Microsoft YaHei"/>
              </a:rPr>
              <a:t>“</a:t>
            </a:r>
            <a:r>
              <a:rPr sz="1050" b="1">
                <a:latin typeface="Microsoft YaHei"/>
                <a:ea typeface="Microsoft YaHei"/>
                <a:cs typeface="Microsoft YaHei"/>
              </a:rPr>
              <a:t>玩具”</a:t>
            </a: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49919311-B8BE-4BDB-9F99-8402BEAE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006" y="4554760"/>
            <a:ext cx="554355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运算能力</a:t>
            </a:r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2635841A-9369-4504-A8A7-90CFECFD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829080"/>
            <a:ext cx="687705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计算复杂性</a:t>
            </a: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18BABFC1-7D0E-49A6-8D8C-2F822D30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5103419"/>
            <a:ext cx="687705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常识与推理</a:t>
            </a: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D29EECD9-05E7-471A-BCDE-ACDED0D1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552" y="1891094"/>
            <a:ext cx="554355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专家系统</a:t>
            </a: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9FCC9B47-1E1D-4065-BDA5-6091E95D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552" y="2165413"/>
            <a:ext cx="554355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知识工程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2F9A57F4-CDF9-4E5C-B80E-5F7F3B67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988" y="2440020"/>
            <a:ext cx="420529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五代机</a:t>
            </a: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9FA172F8-7C86-4D33-8858-A6FBEAAB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821" y="2714340"/>
            <a:ext cx="821531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神经网络重生</a:t>
            </a: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2E0C49BE-D0FF-44BF-85CC-7D6119CC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923" y="4035693"/>
            <a:ext cx="554355" cy="5155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lnSpc>
                <a:spcPct val="171400"/>
              </a:lnSpc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未达预期  削减投入</a:t>
            </a: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350ABD88-36FF-4C43-8642-E87C3F72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882" y="2008156"/>
            <a:ext cx="554355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摩尔定律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6A81941F-69BF-4278-9958-07A5BDF3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151" y="2282476"/>
            <a:ext cx="821531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统计机器学习</a:t>
            </a: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CA0B8521-AA7F-40B6-B6AE-A232E77D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589" y="2557081"/>
            <a:ext cx="686752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AI</a:t>
            </a:r>
            <a:r>
              <a:rPr sz="1050" b="1">
                <a:latin typeface="Microsoft YaHei"/>
                <a:ea typeface="Microsoft YaHei"/>
                <a:cs typeface="Microsoft YaHei"/>
              </a:rPr>
              <a:t>广泛应用</a:t>
            </a:r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A9115612-EDF4-4847-BBA8-D65C258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269" y="4172331"/>
            <a:ext cx="420529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大数据</a:t>
            </a:r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9280CE10-5AAF-4BA4-A3AF-E9BB03EB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974" y="4446651"/>
            <a:ext cx="554355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计算能力</a:t>
            </a:r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7EC5F348-5B3B-40BA-9BE4-22116534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974" y="4766881"/>
            <a:ext cx="554355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应用增多</a:t>
            </a: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2CCB6DEB-6566-4F1E-804B-F3CA4B05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844" y="2308288"/>
            <a:ext cx="554355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深度学习</a:t>
            </a: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4B564F14-6A87-4DFA-9D55-564301AE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2" y="3057525"/>
            <a:ext cx="702945" cy="44691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9249d86dcf44b05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5" name="object 55">
            <a:extLst xmlns:a="http://schemas.openxmlformats.org/drawingml/2006/main">
              <a:ext uri="{FF2B5EF4-FFF2-40B4-BE49-F238E27FC236}">
                <a16:creationId xmlns:a16="http://schemas.microsoft.com/office/drawing/2014/main" id="{DE95EC2F-4E3B-41A0-9AAF-DE17DAA2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" y="3501866"/>
            <a:ext cx="782955" cy="230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500" b="1">
                <a:solidFill>
                  <a:srgbClr val="006FC0"/>
                </a:solidFill>
                <a:latin typeface="Microsoft YaHei"/>
                <a:ea typeface="Microsoft YaHei"/>
                <a:cs typeface="Microsoft YaHei"/>
              </a:rPr>
              <a:t>人工智能</a:t>
            </a:r>
          </a:p>
        </p:txBody>
      </p:sp>
      <p:sp>
        <p:nvSpPr>
          <p:cNvPr id="56" name="object 56">
            <a:extLst xmlns:a="http://schemas.openxmlformats.org/drawingml/2006/main">
              <a:ext uri="{FF2B5EF4-FFF2-40B4-BE49-F238E27FC236}">
                <a16:creationId xmlns:a16="http://schemas.microsoft.com/office/drawing/2014/main" id="{BE32E0F1-19CD-4162-BAE2-48758649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64" y="3315271"/>
            <a:ext cx="458629" cy="279083"/>
          </a:xfrm>
          <a:custGeom xmlns:a="http://schemas.openxmlformats.org/drawingml/2006/main">
            <a:rect l="l" t="t" r="r" b="b"/>
            <a:pathLst>
              <a:path w="611504" h="372110">
                <a:moveTo>
                  <a:pt x="305561" y="0"/>
                </a:moveTo>
                <a:lnTo>
                  <a:pt x="243973" y="3775"/>
                </a:lnTo>
                <a:lnTo>
                  <a:pt x="186612" y="14603"/>
                </a:lnTo>
                <a:lnTo>
                  <a:pt x="134708" y="31738"/>
                </a:lnTo>
                <a:lnTo>
                  <a:pt x="89487" y="54435"/>
                </a:lnTo>
                <a:lnTo>
                  <a:pt x="52178" y="81948"/>
                </a:lnTo>
                <a:lnTo>
                  <a:pt x="24008" y="113532"/>
                </a:lnTo>
                <a:lnTo>
                  <a:pt x="6206" y="148440"/>
                </a:lnTo>
                <a:lnTo>
                  <a:pt x="0" y="185927"/>
                </a:lnTo>
                <a:lnTo>
                  <a:pt x="6206" y="223415"/>
                </a:lnTo>
                <a:lnTo>
                  <a:pt x="24008" y="258323"/>
                </a:lnTo>
                <a:lnTo>
                  <a:pt x="52178" y="289907"/>
                </a:lnTo>
                <a:lnTo>
                  <a:pt x="89487" y="317420"/>
                </a:lnTo>
                <a:lnTo>
                  <a:pt x="134708" y="340117"/>
                </a:lnTo>
                <a:lnTo>
                  <a:pt x="186612" y="357252"/>
                </a:lnTo>
                <a:lnTo>
                  <a:pt x="243973" y="368080"/>
                </a:lnTo>
                <a:lnTo>
                  <a:pt x="305561" y="371856"/>
                </a:lnTo>
                <a:lnTo>
                  <a:pt x="367150" y="368080"/>
                </a:lnTo>
                <a:lnTo>
                  <a:pt x="424511" y="357252"/>
                </a:lnTo>
                <a:lnTo>
                  <a:pt x="476415" y="340117"/>
                </a:lnTo>
                <a:lnTo>
                  <a:pt x="521636" y="317420"/>
                </a:lnTo>
                <a:lnTo>
                  <a:pt x="558945" y="289907"/>
                </a:lnTo>
                <a:lnTo>
                  <a:pt x="587115" y="258323"/>
                </a:lnTo>
                <a:lnTo>
                  <a:pt x="604917" y="223415"/>
                </a:lnTo>
                <a:lnTo>
                  <a:pt x="611124" y="185927"/>
                </a:lnTo>
                <a:lnTo>
                  <a:pt x="604917" y="148440"/>
                </a:lnTo>
                <a:lnTo>
                  <a:pt x="587115" y="113532"/>
                </a:lnTo>
                <a:lnTo>
                  <a:pt x="558945" y="81948"/>
                </a:lnTo>
                <a:lnTo>
                  <a:pt x="521636" y="54435"/>
                </a:lnTo>
                <a:lnTo>
                  <a:pt x="476415" y="31738"/>
                </a:lnTo>
                <a:lnTo>
                  <a:pt x="424511" y="14603"/>
                </a:lnTo>
                <a:lnTo>
                  <a:pt x="367150" y="3775"/>
                </a:lnTo>
                <a:lnTo>
                  <a:pt x="305561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8EA4E282-9A94-4EA8-B94C-C4C98726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64" y="3315271"/>
            <a:ext cx="458629" cy="279083"/>
          </a:xfrm>
          <a:custGeom xmlns:a="http://schemas.openxmlformats.org/drawingml/2006/main">
            <a:rect l="l" t="t" r="r" b="b"/>
            <a:pathLst>
              <a:path w="611504" h="372110">
                <a:moveTo>
                  <a:pt x="0" y="185927"/>
                </a:moveTo>
                <a:lnTo>
                  <a:pt x="24008" y="113532"/>
                </a:lnTo>
                <a:lnTo>
                  <a:pt x="52178" y="81948"/>
                </a:lnTo>
                <a:lnTo>
                  <a:pt x="89487" y="54435"/>
                </a:lnTo>
                <a:lnTo>
                  <a:pt x="134708" y="31738"/>
                </a:lnTo>
                <a:lnTo>
                  <a:pt x="186612" y="14603"/>
                </a:lnTo>
                <a:lnTo>
                  <a:pt x="243973" y="3775"/>
                </a:lnTo>
                <a:lnTo>
                  <a:pt x="305561" y="0"/>
                </a:lnTo>
                <a:lnTo>
                  <a:pt x="367150" y="3775"/>
                </a:lnTo>
                <a:lnTo>
                  <a:pt x="424511" y="14603"/>
                </a:lnTo>
                <a:lnTo>
                  <a:pt x="476415" y="31738"/>
                </a:lnTo>
                <a:lnTo>
                  <a:pt x="521636" y="54435"/>
                </a:lnTo>
                <a:lnTo>
                  <a:pt x="558945" y="81948"/>
                </a:lnTo>
                <a:lnTo>
                  <a:pt x="587115" y="113532"/>
                </a:lnTo>
                <a:lnTo>
                  <a:pt x="604917" y="148440"/>
                </a:lnTo>
                <a:lnTo>
                  <a:pt x="611124" y="185927"/>
                </a:lnTo>
                <a:lnTo>
                  <a:pt x="604917" y="223415"/>
                </a:lnTo>
                <a:lnTo>
                  <a:pt x="587115" y="258323"/>
                </a:lnTo>
                <a:lnTo>
                  <a:pt x="558945" y="289907"/>
                </a:lnTo>
                <a:lnTo>
                  <a:pt x="521636" y="317420"/>
                </a:lnTo>
                <a:lnTo>
                  <a:pt x="476415" y="340117"/>
                </a:lnTo>
                <a:lnTo>
                  <a:pt x="424511" y="357252"/>
                </a:lnTo>
                <a:lnTo>
                  <a:pt x="367150" y="368080"/>
                </a:lnTo>
                <a:lnTo>
                  <a:pt x="305561" y="371856"/>
                </a:lnTo>
                <a:lnTo>
                  <a:pt x="243973" y="368080"/>
                </a:lnTo>
                <a:lnTo>
                  <a:pt x="186612" y="357252"/>
                </a:lnTo>
                <a:lnTo>
                  <a:pt x="134708" y="340117"/>
                </a:lnTo>
                <a:lnTo>
                  <a:pt x="89487" y="317420"/>
                </a:lnTo>
                <a:lnTo>
                  <a:pt x="52178" y="289907"/>
                </a:lnTo>
                <a:lnTo>
                  <a:pt x="24008" y="258323"/>
                </a:lnTo>
                <a:lnTo>
                  <a:pt x="6206" y="223415"/>
                </a:lnTo>
                <a:lnTo>
                  <a:pt x="0" y="185927"/>
                </a:lnTo>
                <a:close/>
              </a:path>
            </a:pathLst>
          </a:custGeom>
          <a:ln xmlns:a="http://schemas.openxmlformats.org/drawingml/2006/main" w="38100">
            <a:solidFill>
              <a:srgbClr val="006FC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73538A91-1AAE-4E91-B58B-EE878464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585" y="3380233"/>
            <a:ext cx="388907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201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60" name="标题 59">
            <a:extLst xmlns:a="http://schemas.openxmlformats.org/drawingml/2006/main">
              <a:ext uri="{FF2B5EF4-FFF2-40B4-BE49-F238E27FC236}">
                <a16:creationId xmlns:a16="http://schemas.microsoft.com/office/drawing/2014/main" id="{4E7D3735-D02D-42E0-B3DD-5C076AF78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人工智能发展历程</a:t>
            </a:r>
          </a:p>
        </p:txBody>
      </p:sp>
    </p:spTree>
    <p:extLst>
      <p:ext uri="{BB962C8B-B14F-4D97-AF65-F5344CB8AC3E}">
        <p14:creationId xmlns:p14="http://schemas.microsoft.com/office/powerpoint/2010/main" val="33602165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9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1FB526FE-E0F4-4266-8FE3-991618B5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872537" y="5743575"/>
            <a:ext cx="204788" cy="20478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5AA5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None/>
            </a:pPr>
          </a:p>
        </p:txBody>
      </p:sp>
      <p:pic>
        <p:nvPicPr>
          <p:cNvPr id="819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9986fc2f148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869" y="1444229"/>
            <a:ext cx="6973491" cy="443507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79A4DD9-AACF-4F36-8E3A-DBB55AE5A1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手机中的</a:t>
            </a:r>
            <a:r>
              <a:rPr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pic>
        <p:nvPicPr>
          <p:cNvPr id="820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40e7208434f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5299075"/>
            <a:ext cx="876300" cy="88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856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7211b174a45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1600" y="1212056"/>
            <a:ext cx="6400800" cy="33262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E875DF7-7000-46BB-957E-17AB4BE4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10" y="4815085"/>
            <a:ext cx="8565356" cy="1494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2000">
                <a:latin typeface="Microsoft YaHei"/>
                <a:ea typeface="Microsoft YaHei"/>
                <a:cs typeface="Microsoft YaHei"/>
              </a:rPr>
              <a:t>人工智能相关技术：刚刚越过曲线高峰</a:t>
            </a:r>
            <a:r>
              <a:rPr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（狂热期）</a:t>
            </a:r>
          </a:p>
          <a:p xmlns:a="http://schemas.openxmlformats.org/drawingml/2006/main">
            <a:pPr>
              <a:buNone/>
            </a:pPr>
            <a:r>
              <a:rPr sz="2000">
                <a:latin typeface="Microsoft YaHei"/>
                <a:ea typeface="Microsoft YaHei"/>
                <a:cs typeface="Microsoft YaHei"/>
              </a:rPr>
              <a:t>透明化身临其境体验技术（</a:t>
            </a:r>
            <a:r>
              <a:rPr sz="2000">
                <a:latin typeface="Microsoft YaHei"/>
                <a:ea typeface="Microsoft YaHei"/>
                <a:cs typeface="Microsoft YaHei"/>
              </a:rPr>
              <a:t>AR, VR</a:t>
            </a:r>
            <a:r>
              <a:rPr sz="2000">
                <a:latin typeface="Microsoft YaHei"/>
                <a:ea typeface="Microsoft YaHei"/>
                <a:cs typeface="Microsoft YaHei"/>
              </a:rPr>
              <a:t>）：</a:t>
            </a:r>
            <a:r>
              <a:rPr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幻灭期</a:t>
            </a:r>
          </a:p>
          <a:p xmlns:a="http://schemas.openxmlformats.org/drawingml/2006/main">
            <a:pPr>
              <a:buNone/>
            </a:pPr>
            <a:r>
              <a:rPr sz="2000">
                <a:latin typeface="Microsoft YaHei"/>
                <a:ea typeface="Microsoft YaHei"/>
                <a:cs typeface="Microsoft YaHei"/>
              </a:rPr>
              <a:t>数字平台技术（量子计算）：</a:t>
            </a:r>
            <a:r>
              <a:rPr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快速上升期</a:t>
            </a: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AD4F41-BC94-4C06-A08B-004BD245F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AI</a:t>
            </a:r>
            <a:r>
              <a:rPr>
                <a:latin typeface="Microsoft YaHei"/>
                <a:ea typeface="Microsoft YaHei"/>
                <a:cs typeface="Microsoft YaHei"/>
              </a:rPr>
              <a:t>处于什么阶段？</a:t>
            </a:r>
          </a:p>
        </p:txBody>
      </p:sp>
    </p:spTree>
    <p:extLst>
      <p:ext uri="{BB962C8B-B14F-4D97-AF65-F5344CB8AC3E}">
        <p14:creationId xmlns:p14="http://schemas.microsoft.com/office/powerpoint/2010/main" val="2131241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43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B88E18AA-991D-4DF5-8C48-02588E5E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872537" y="5743575"/>
            <a:ext cx="204788" cy="20478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5AA5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None/>
            </a:pPr>
          </a:p>
        </p:txBody>
      </p:sp>
      <p:pic>
        <p:nvPicPr>
          <p:cNvPr id="10246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b4eb8667094819"/>
          <a:srcRect xmlns:a="http://schemas.openxmlformats.org/drawingml/2006/main" l="5122" t="4297" r="0" b="0"/>
          <a:stretch xmlns:a="http://schemas.openxmlformats.org/drawingml/2006/main"/>
        </p:blipFill>
        <p:spPr>
          <a:xfrm xmlns:a="http://schemas.openxmlformats.org/drawingml/2006/main">
            <a:off x="0" y="1339090"/>
            <a:ext cx="9144000" cy="5518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45AA26-F84D-42F9-884E-2DB177C7E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AI Roadmap</a:t>
            </a:r>
          </a:p>
        </p:txBody>
      </p:sp>
    </p:spTree>
    <p:extLst>
      <p:ext uri="{BB962C8B-B14F-4D97-AF65-F5344CB8AC3E}">
        <p14:creationId xmlns:p14="http://schemas.microsoft.com/office/powerpoint/2010/main" val="37048434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3C169DE-9AAA-479C-98A1-B504B387EF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AI</a:t>
            </a:r>
            <a:r>
              <a:rPr>
                <a:latin typeface="Microsoft YaHei"/>
                <a:ea typeface="Microsoft YaHei"/>
                <a:cs typeface="Microsoft YaHei"/>
              </a:rPr>
              <a:t>学科结构</a:t>
            </a:r>
          </a:p>
        </p:txBody>
      </p:sp>
    </p:spTree>
    <p:extLst>
      <p:ext uri="{BB962C8B-B14F-4D97-AF65-F5344CB8AC3E}">
        <p14:creationId xmlns:p14="http://schemas.microsoft.com/office/powerpoint/2010/main" val="30208470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43E5A178-4A25-4287-8063-622920B7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71" y="2294032"/>
            <a:ext cx="7943800" cy="12489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D2AF"/>
          </a:solidFill>
          <a:ln xmlns:a="http://schemas.openxmlformats.org/drawingml/2006/main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EDDC20B-3EA7-4643-B1C2-6AE4A8E1A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AI</a:t>
            </a:r>
            <a:r>
              <a:rPr>
                <a:latin typeface="Microsoft YaHei"/>
                <a:ea typeface="Microsoft YaHei"/>
                <a:cs typeface="Microsoft YaHei"/>
              </a:rPr>
              <a:t>的几大门派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C8BA5A9-4BEC-4608-A127-404EB404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383" y="2362612"/>
            <a:ext cx="1368152" cy="324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符号学派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D9A41E-E364-4F1D-9FB1-D1B5114F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705" y="2771562"/>
            <a:ext cx="1368152" cy="34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联结学派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24E5D74-BEA1-4EF2-B65B-7D1D02F5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705" y="3185333"/>
            <a:ext cx="1368152" cy="3462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行为学派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719166-947E-41F4-8B82-22B825B2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738" y="2737272"/>
            <a:ext cx="1489084" cy="388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神经网络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BAC731C-AA50-4C30-A5C2-DB5CDD89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654" y="2305462"/>
            <a:ext cx="1512168" cy="3926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知识表示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376EDD4-9B1F-4EBA-975F-A42A0CEA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937" y="3162472"/>
            <a:ext cx="1471885" cy="380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机器人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956B68-7194-42D5-B484-3AB86847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91" y="2372957"/>
            <a:ext cx="230425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模拟人的心智</a:t>
            </a:r>
          </a:p>
          <a:p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DF280DC-8553-4DF6-A39C-BD14F765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61" y="2779925"/>
            <a:ext cx="2304256" cy="577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模拟脑的结构</a:t>
            </a:r>
          </a:p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25931A6-F68E-4062-89CF-A24285F5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90" y="3194848"/>
            <a:ext cx="2808312" cy="577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模拟人的行为</a:t>
            </a:r>
          </a:p>
          <a:p xmlns:a="http://schemas.openxmlformats.org/drawingml/2006/main"/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9B716E4F-02FA-4CEA-B54A-C6C330D3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757" y="2431192"/>
            <a:ext cx="720080" cy="21602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199C4951-38E9-4328-BB85-4B34FF06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128" y="2810221"/>
            <a:ext cx="720080" cy="21602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97D74015-3031-4625-B0F2-8FD55B46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558" y="3230410"/>
            <a:ext cx="720080" cy="21602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右箭头 14">
            <a:extLst xmlns:a="http://schemas.openxmlformats.org/drawingml/2006/main">
              <a:ext uri="{FF2B5EF4-FFF2-40B4-BE49-F238E27FC236}">
                <a16:creationId xmlns:a16="http://schemas.microsoft.com/office/drawing/2014/main" id="{D08C2D99-CDC9-4271-8C5A-34398DB7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147" y="2817282"/>
            <a:ext cx="720080" cy="21602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0360FC76-9B2F-4236-9743-E305A0A6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287" y="3243246"/>
            <a:ext cx="720080" cy="21602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右箭头 16">
            <a:extLst xmlns:a="http://schemas.openxmlformats.org/drawingml/2006/main">
              <a:ext uri="{FF2B5EF4-FFF2-40B4-BE49-F238E27FC236}">
                <a16:creationId xmlns:a16="http://schemas.microsoft.com/office/drawing/2014/main" id="{E9D97827-1A45-423A-927E-02D5C2E4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558" y="2408332"/>
            <a:ext cx="720080" cy="21602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6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1fd91710145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968" y="4310509"/>
            <a:ext cx="1121569" cy="1278731"/>
          </a:xfrm>
          <a:prstGeom xmlns:a="http://schemas.openxmlformats.org/drawingml/2006/main" prst="rect">
            <a:avLst/>
          </a:prstGeom>
        </p:spPr>
      </p:pic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30B71487-57D5-4321-B312-7BFC99B2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71" y="4909392"/>
            <a:ext cx="4345781" cy="270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bg2">
                <a:lumMod val="50000"/>
              </a:schemeClr>
            </a:solidFill>
            <a:prstDash val="dash"/>
          </a:ln>
        </p:spPr>
        <p:style>
          <a:lnRef xmlns:a="http://schemas.openxmlformats.org/drawingml/2006/main" idx="3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2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3320B1A-538B-42FF-AB02-997296BC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5498"/>
            <a:ext cx="1290738" cy="415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10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聪明的</a:t>
            </a:r>
            <a:r>
              <a:rPr sz="210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21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DA96A52-6972-4A0A-AB7C-889DB7F5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5172282"/>
            <a:ext cx="1560042" cy="415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10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有学识的</a:t>
            </a:r>
            <a:r>
              <a:rPr sz="210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pic>
        <p:nvPicPr>
          <p:cNvPr id="60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9aa8e871e4c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757987" y="3685430"/>
            <a:ext cx="1949768" cy="1193006"/>
          </a:xfrm>
          <a:prstGeom xmlns:a="http://schemas.openxmlformats.org/drawingml/2006/main" prst="rect">
            <a:avLst/>
          </a:prstGeom>
        </p:spPr>
      </p:pic>
      <p:sp>
        <p:nvSpPr>
          <p:cNvPr id="24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5C99211-3F5D-4CE6-902D-3B2F605F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0440" y="3765440"/>
            <a:ext cx="905827" cy="300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CA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深度学习</a:t>
            </a:r>
          </a:p>
        </p:txBody>
      </p:sp>
      <p:pic>
        <p:nvPicPr>
          <p:cNvPr id="62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57e79e72044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762751" y="4975114"/>
            <a:ext cx="1945567" cy="1260121"/>
          </a:xfrm>
          <a:prstGeom xmlns:a="http://schemas.openxmlformats.org/drawingml/2006/main" prst="rect">
            <a:avLst/>
          </a:prstGeom>
        </p:spPr>
      </p:pic>
      <p:sp>
        <p:nvSpPr>
          <p:cNvPr id="27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5E3490A-29C8-4787-8CA7-4648A574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837" y="5067039"/>
            <a:ext cx="1067956" cy="299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CA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知识图谱</a:t>
            </a:r>
          </a:p>
        </p:txBody>
      </p:sp>
      <p:sp>
        <p:nvSpPr>
          <p:cNvPr id="28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7C24CF8-A810-41E9-A12A-11EB9C64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586" y="3861048"/>
            <a:ext cx="598241" cy="9446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250"/>
              </a:lnSpc>
              <a:buNone/>
            </a:pPr>
            <a:r>
              <a:rPr sz="16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  <a:p xmlns:a="http://schemas.openxmlformats.org/drawingml/2006/main">
            <a:pPr>
              <a:lnSpc>
                <a:spcPts val="2250"/>
              </a:lnSpc>
              <a:buNone/>
            </a:pPr>
            <a:r>
              <a:rPr sz="16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识别</a:t>
            </a:r>
          </a:p>
          <a:p xmlns:a="http://schemas.openxmlformats.org/drawingml/2006/main">
            <a:pPr>
              <a:lnSpc>
                <a:spcPts val="2250"/>
              </a:lnSpc>
              <a:buNone/>
            </a:pPr>
            <a:r>
              <a:rPr sz="16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9" name="右箭头 28">
            <a:extLst xmlns:a="http://schemas.openxmlformats.org/drawingml/2006/main">
              <a:ext uri="{FF2B5EF4-FFF2-40B4-BE49-F238E27FC236}">
                <a16:creationId xmlns:a16="http://schemas.microsoft.com/office/drawing/2014/main" id="{9437806D-1914-4D42-8E14-E7098532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82" y="4136439"/>
            <a:ext cx="848678" cy="473869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右箭头 29">
            <a:extLst xmlns:a="http://schemas.openxmlformats.org/drawingml/2006/main">
              <a:ext uri="{FF2B5EF4-FFF2-40B4-BE49-F238E27FC236}">
                <a16:creationId xmlns:a16="http://schemas.microsoft.com/office/drawing/2014/main" id="{097D5962-481F-4537-8FB5-AB902819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82" y="5214669"/>
            <a:ext cx="848678" cy="473869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14CD9A3-FE67-4AC4-A523-395593F2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446" y="5041672"/>
            <a:ext cx="598241" cy="9446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250"/>
              </a:lnSpc>
              <a:buNone/>
            </a:pPr>
            <a:r>
              <a:rPr sz="16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思考</a:t>
            </a:r>
          </a:p>
          <a:p xmlns:a="http://schemas.openxmlformats.org/drawingml/2006/main">
            <a:pPr>
              <a:lnSpc>
                <a:spcPts val="2250"/>
              </a:lnSpc>
              <a:buNone/>
            </a:pPr>
            <a:r>
              <a:rPr sz="16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语言</a:t>
            </a:r>
          </a:p>
          <a:p xmlns:a="http://schemas.openxmlformats.org/drawingml/2006/main">
            <a:pPr>
              <a:lnSpc>
                <a:spcPts val="2250"/>
              </a:lnSpc>
              <a:buNone/>
            </a:pPr>
            <a:r>
              <a:rPr sz="16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62C6F47F-C7EF-44B0-BBF4-6574B029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383" y="1928272"/>
            <a:ext cx="1368152" cy="324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贝叶斯学派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B4461A5-819B-480D-9A65-868DF8D9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243" y="1196752"/>
            <a:ext cx="1368152" cy="324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进化学派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073155F5-9C38-4E2B-A42E-90B3066C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243" y="1562512"/>
            <a:ext cx="1368152" cy="324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类推学派</a:t>
            </a:r>
          </a:p>
        </p:txBody>
      </p:sp>
    </p:spTree>
    <p:extLst>
      <p:ext uri="{BB962C8B-B14F-4D97-AF65-F5344CB8AC3E}">
        <p14:creationId xmlns:p14="http://schemas.microsoft.com/office/powerpoint/2010/main" val="18048158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7">
            <a:extLst xmlns:a="http://schemas.openxmlformats.org/drawingml/2006/main">
              <a:ext uri="{FF2B5EF4-FFF2-40B4-BE49-F238E27FC236}">
                <a16:creationId xmlns:a16="http://schemas.microsoft.com/office/drawing/2014/main" id="{3D2E1702-68C7-4B43-B819-178AD15D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073" y="1773795"/>
            <a:ext cx="4030662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38" tIns="45719" rIns="91438" bIns="45719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2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人工智能产业生态的三层基本架构</a:t>
            </a:r>
          </a:p>
        </p:txBody>
      </p:sp>
      <p:sp>
        <p:nvSpPr>
          <p:cNvPr id="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9E7099-9948-4CA3-AADE-61714AD0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00" y="2659000"/>
            <a:ext cx="2552700" cy="253603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chemeClr val="dk1">
              <a:lumOff val="0"/>
              <a:alpha val="0"/>
            </a:schemeClr>
          </a:lnRef>
          <a:fillRef xmlns:a="http://schemas.openxmlformats.org/drawingml/2006/main" idx="0">
            <a:schemeClr val="lt1">
              <a:lumOff val="0"/>
              <a:alpha val="0"/>
            </a:schemeClr>
          </a:fillRef>
          <a:effectRef xmlns:a="http://schemas.openxmlformats.org/drawingml/2006/main" idx="0">
            <a:schemeClr val="lt1">
              <a:lumOff val="0"/>
              <a:alpha val="0"/>
            </a:schemeClr>
          </a:effectRef>
          <a:fontRef xmlns:a="http://schemas.openxmlformats.org/drawingml/2006/main" idx="minor">
            <a:schemeClr val="tx1">
              <a:lumOff val="0"/>
            </a:schemeClr>
          </a:fontRef>
        </p:style>
      </p:sp>
      <p:sp>
        <p:nvSpPr>
          <p:cNvPr id="8" name="矩形 27">
            <a:extLst xmlns:a="http://schemas.openxmlformats.org/drawingml/2006/main">
              <a:ext uri="{FF2B5EF4-FFF2-40B4-BE49-F238E27FC236}">
                <a16:creationId xmlns:a16="http://schemas.microsoft.com/office/drawing/2014/main" id="{AD1472A7-2DBC-42B0-B6BD-86A3C9C6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1426" y="2769728"/>
            <a:ext cx="2352038" cy="253603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>
              <a:lumOff val="0"/>
            </a:schemeClr>
          </a:fontRef>
        </p:style>
        <p:txBody>
          <a:bodyPr xmlns:a="http://schemas.openxmlformats.org/drawingml/2006/main" lIns="45720" tIns="45720" rIns="45720" bIns="45720" anchor="ctr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</a:p>
          <a:p xmlns:a="http://schemas.openxmlformats.org/drawingml/2006/main">
            <a:pPr>
              <a:lnSpc>
                <a:spcPct val="90000"/>
              </a:lnSpc>
              <a:buChar char="u"/>
            </a:pP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基础资源层</a:t>
            </a:r>
            <a:r>
              <a:rPr sz="165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：主要是</a:t>
            </a: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r>
              <a:rPr sz="165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数据中心</a:t>
            </a:r>
            <a:r>
              <a:rPr sz="165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，属于计算智能；</a:t>
            </a:r>
          </a:p>
          <a:p xmlns:a="http://schemas.openxmlformats.org/drawingml/2006/main">
            <a:pPr>
              <a:lnSpc>
                <a:spcPct val="90000"/>
              </a:lnSpc>
              <a:buChar char="u"/>
            </a:pPr>
          </a:p>
          <a:p xmlns:a="http://schemas.openxmlformats.org/drawingml/2006/main">
            <a:pPr>
              <a:lnSpc>
                <a:spcPct val="90000"/>
              </a:lnSpc>
              <a:buChar char="u"/>
            </a:pP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技术层</a:t>
            </a:r>
            <a:r>
              <a:rPr sz="165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：通过机器学习建模，开发面向不同领域的</a:t>
            </a: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算法</a:t>
            </a:r>
            <a:r>
              <a:rPr sz="165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技术</a:t>
            </a:r>
            <a:r>
              <a:rPr sz="165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，包含</a:t>
            </a: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感知智能</a:t>
            </a:r>
            <a:r>
              <a:rPr sz="165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认知智能</a:t>
            </a:r>
            <a:r>
              <a:rPr sz="165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 xmlns:a="http://schemas.openxmlformats.org/drawingml/2006/main">
            <a:pPr>
              <a:lnSpc>
                <a:spcPct val="90000"/>
              </a:lnSpc>
              <a:buChar char="u"/>
            </a:pPr>
          </a:p>
          <a:p xmlns:a="http://schemas.openxmlformats.org/drawingml/2006/main">
            <a:pPr>
              <a:lnSpc>
                <a:spcPct val="90000"/>
              </a:lnSpc>
              <a:buChar char="u"/>
            </a:pPr>
            <a:r>
              <a:rPr sz="1650" b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应用层</a:t>
            </a:r>
            <a:r>
              <a:rPr sz="165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：主要实现人工智能在不同场景下的应用。</a:t>
            </a:r>
          </a:p>
          <a:p xmlns:a="http://schemas.openxmlformats.org/drawingml/2006/main">
            <a:pPr>
              <a:lnSpc>
                <a:spcPct val="90000"/>
              </a:lnSpc>
              <a:buChar char="u"/>
            </a:pPr>
          </a:p>
          <a:p xmlns:a="http://schemas.openxmlformats.org/drawingml/2006/main">
            <a:pPr>
              <a:lnSpc>
                <a:spcPct val="90000"/>
              </a:lnSpc>
              <a:buNone/>
            </a:pPr>
          </a:p>
        </p:txBody>
      </p:sp>
      <p:pic>
        <p:nvPicPr>
          <p:cNvPr id="16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625fa85554d4b"/>
          <a:srcRect xmlns:a="http://schemas.openxmlformats.org/drawingml/2006/main" l="1401" t="2846" r="1801" b="2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6706" y="2424113"/>
            <a:ext cx="5862638" cy="3177779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chemeClr val="tx2"/>
            </a:solidFill>
            <a:miter/>
          </a:ln>
          <a:effectLst xmlns:a="http://schemas.openxmlformats.org/drawingml/2006/main">
            <a:outerShdw blurRad="292100" dist="139700" dir="2700000" algn="tl" rotWithShape="0">
              <a:srgbClr val="333333">
                <a:alpha val="64999"/>
              </a:srgbClr>
            </a:outerShdw>
          </a:effectLst>
        </p:spPr>
      </p:pic>
      <p:sp>
        <p:nvSpPr>
          <p:cNvPr id="11" name="椭圆 1">
            <a:extLst xmlns:a="http://schemas.openxmlformats.org/drawingml/2006/main">
              <a:ext uri="{FF2B5EF4-FFF2-40B4-BE49-F238E27FC236}">
                <a16:creationId xmlns:a16="http://schemas.microsoft.com/office/drawing/2014/main" id="{21F6D5AF-F62E-49AF-BF3D-F990EF0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169" y="2415779"/>
            <a:ext cx="1223962" cy="531018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xmlns:a="http://schemas.openxmlformats.org/drawingml/2006/main" w="9525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latin typeface="Microsoft YaHei"/>
                <a:ea typeface="Microsoft YaHei"/>
                <a:cs typeface="Microsoft YaHei"/>
              </a:rPr>
              <a:t>基础资源支撑</a:t>
            </a: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60EA638-4970-4EB2-A7B3-FB80452523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8312" y="260352"/>
            <a:ext cx="8456587" cy="5762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AI</a:t>
            </a:r>
            <a:r>
              <a:rPr>
                <a:latin typeface="Microsoft YaHei"/>
                <a:ea typeface="Microsoft YaHei"/>
                <a:cs typeface="Microsoft YaHei"/>
              </a:rPr>
              <a:t>生态逐步形成：基础资源</a:t>
            </a:r>
            <a:r>
              <a:rPr>
                <a:latin typeface="Microsoft YaHei"/>
                <a:ea typeface="Microsoft YaHei"/>
                <a:cs typeface="Microsoft YaHei"/>
              </a:rPr>
              <a:t>+</a:t>
            </a:r>
            <a:r>
              <a:rPr>
                <a:latin typeface="Microsoft YaHei"/>
                <a:ea typeface="Microsoft YaHei"/>
                <a:cs typeface="Microsoft YaHei"/>
              </a:rPr>
              <a:t>技术</a:t>
            </a:r>
            <a:r>
              <a:rPr>
                <a:latin typeface="Microsoft YaHei"/>
                <a:ea typeface="Microsoft YaHei"/>
                <a:cs typeface="Microsoft YaHei"/>
              </a:rPr>
              <a:t>+</a:t>
            </a:r>
            <a:r>
              <a:rPr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</p:spTree>
    <p:extLst>
      <p:ext uri="{BB962C8B-B14F-4D97-AF65-F5344CB8AC3E}">
        <p14:creationId xmlns:p14="http://schemas.microsoft.com/office/powerpoint/2010/main" val="245268119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D1E5A50-8E1F-48CF-9943-51B2FDBB4E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人工智能系统的技术架构</a:t>
            </a:r>
          </a:p>
        </p:txBody>
      </p:sp>
      <p:pic>
        <p:nvPicPr>
          <p:cNvPr id="2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2a55763e14e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887" y="1590913"/>
            <a:ext cx="7122866" cy="44098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6e262a42c46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0220" y="2331937"/>
            <a:ext cx="1525190" cy="84488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F387E1F-3D79-4F36-8483-190A0946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1709801"/>
            <a:ext cx="1383030" cy="434522"/>
          </a:xfrm>
          <a:prstGeom xmlns:a="http://schemas.openxmlformats.org/drawingml/2006/main" prst="roundRect">
            <a:avLst>
              <a:gd name="adj" fmla="val 17509"/>
            </a:avLst>
          </a:prstGeom>
          <a:gradFill xmlns:a="http://schemas.openxmlformats.org/drawingml/2006/main" rotWithShape="1">
            <a:gsLst>
              <a:gs pos="0">
                <a:schemeClr val="accent2"/>
              </a:gs>
              <a:gs pos="50000">
                <a:schemeClr val="accent2">
                  <a:shade val="92157"/>
                </a:schemeClr>
              </a:gs>
              <a:gs pos="100000">
                <a:schemeClr val="accent2"/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9D1BA90-00F0-4D6F-B117-87315DD3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7988" y="2021209"/>
            <a:ext cx="1376881" cy="10410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tint val="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406D70C-720E-4E60-9818-A3C91A9B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7988" y="1723380"/>
            <a:ext cx="1376881" cy="10410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chemeClr val="accent2">
                  <a:tint val="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1A38BE1B-BFA9-4E5B-8359-72584D2B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094" y="3312742"/>
            <a:ext cx="1381697" cy="859208"/>
          </a:xfrm>
          <a:prstGeom xmlns:a="http://schemas.openxmlformats.org/drawingml/2006/main" prst="roundRect">
            <a:avLst>
              <a:gd name="adj" fmla="val 17509"/>
            </a:avLst>
          </a:prstGeom>
          <a:gradFill xmlns:a="http://schemas.openxmlformats.org/drawingml/2006/main" rotWithShape="1">
            <a:gsLst>
              <a:gs pos="0">
                <a:schemeClr val="folHlink"/>
              </a:gs>
              <a:gs pos="50000">
                <a:schemeClr val="folHlink">
                  <a:shade val="92157"/>
                </a:schemeClr>
              </a:gs>
              <a:gs pos="100000">
                <a:schemeClr val="folHlink"/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3F900C04-DACB-41D2-A607-54D20367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5279" y="3930297"/>
            <a:ext cx="1375554" cy="207641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chemeClr val="folHlink">
                  <a:alpha val="0"/>
                </a:schemeClr>
              </a:gs>
              <a:gs pos="100000">
                <a:schemeClr val="folHlink">
                  <a:tint val="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B9461468-721C-40F1-B042-9346407C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5279" y="3339592"/>
            <a:ext cx="1375554" cy="205851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chemeClr val="folHlink">
                  <a:tint val="0"/>
                </a:schemeClr>
              </a:gs>
              <a:gs pos="100000">
                <a:schemeClr val="folHlink">
                  <a:alpha val="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Text Box 18">
            <a:extLst xmlns:a="http://schemas.openxmlformats.org/drawingml/2006/main">
              <a:ext uri="{FF2B5EF4-FFF2-40B4-BE49-F238E27FC236}">
                <a16:creationId xmlns:a16="http://schemas.microsoft.com/office/drawing/2014/main" id="{DCE25C65-386C-47D3-AD9B-0FF12F20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1" y="1769100"/>
            <a:ext cx="1152379" cy="300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35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智能终端</a:t>
            </a:r>
          </a:p>
        </p:txBody>
      </p:sp>
      <p:sp>
        <p:nvSpPr>
          <p:cNvPr id="16" name="Text Box 18">
            <a:extLst xmlns:a="http://schemas.openxmlformats.org/drawingml/2006/main">
              <a:ext uri="{FF2B5EF4-FFF2-40B4-BE49-F238E27FC236}">
                <a16:creationId xmlns:a16="http://schemas.microsoft.com/office/drawing/2014/main" id="{630C31E7-C1E6-47BF-B5F0-79F97B1C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1" y="3552180"/>
            <a:ext cx="1534751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智能云平台</a:t>
            </a:r>
          </a:p>
        </p:txBody>
      </p:sp>
    </p:spTree>
    <p:extLst>
      <p:ext uri="{BB962C8B-B14F-4D97-AF65-F5344CB8AC3E}">
        <p14:creationId xmlns:p14="http://schemas.microsoft.com/office/powerpoint/2010/main" val="188375244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11B9323F-9509-4B04-8FEE-3498986B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4026" y="5770552"/>
            <a:ext cx="6432994" cy="29825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1914b85890f48d7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4E770F89-3AFF-4D8A-A9F5-0BC1EDD4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7737" y="5851517"/>
            <a:ext cx="482600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推理期</a:t>
            </a: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F123462F-4E83-4151-B204-08496DD6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880" y="5851517"/>
            <a:ext cx="482600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知识期</a:t>
            </a: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E108019-BD5D-4EA8-ABE7-9614B88E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5255" y="5851517"/>
            <a:ext cx="787400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机器学习期</a:t>
            </a: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6AC69B3-392A-4139-A27E-01F27331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849" y="5901436"/>
            <a:ext cx="1701800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人工智能的三个研究阶段</a:t>
            </a: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91D24B9-623D-45C2-8482-ADF662A3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70" y="6051258"/>
            <a:ext cx="8434043" cy="58502"/>
          </a:xfrm>
          <a:custGeom xmlns:a="http://schemas.openxmlformats.org/drawingml/2006/main">
            <a:rect l="l" t="t" r="r" b="b"/>
            <a:pathLst>
              <a:path w="8239125" h="76200">
                <a:moveTo>
                  <a:pt x="0" y="28573"/>
                </a:moveTo>
                <a:lnTo>
                  <a:pt x="0" y="47623"/>
                </a:lnTo>
                <a:lnTo>
                  <a:pt x="8162350" y="47625"/>
                </a:lnTo>
                <a:lnTo>
                  <a:pt x="8162350" y="76200"/>
                </a:lnTo>
                <a:lnTo>
                  <a:pt x="8238550" y="38100"/>
                </a:lnTo>
                <a:lnTo>
                  <a:pt x="8219500" y="28575"/>
                </a:lnTo>
                <a:lnTo>
                  <a:pt x="0" y="28573"/>
                </a:lnTo>
                <a:close/>
              </a:path>
              <a:path w="8239125" h="76200">
                <a:moveTo>
                  <a:pt x="8162350" y="0"/>
                </a:moveTo>
                <a:lnTo>
                  <a:pt x="8162350" y="28575"/>
                </a:lnTo>
                <a:lnTo>
                  <a:pt x="8219500" y="28575"/>
                </a:lnTo>
                <a:lnTo>
                  <a:pt x="81623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829FE853-90DA-456F-9AE3-2A0C15D8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2290" y="6123485"/>
            <a:ext cx="451484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1950s</a:t>
            </a: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17387692-A453-4CED-821D-F65B0F26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781" y="6123485"/>
            <a:ext cx="451484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1970s</a:t>
            </a: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87D143B-C434-485D-AED1-E08D8AAB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2891" y="6123485"/>
            <a:ext cx="451484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1980s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7A994C6-59EC-4890-8AD7-8152C983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9880" y="4985617"/>
            <a:ext cx="1041400" cy="3000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975">
                <a:solidFill>
                  <a:srgbClr val="65AF45"/>
                </a:solidFill>
                <a:latin typeface="Microsoft YaHei"/>
                <a:ea typeface="Microsoft YaHei"/>
                <a:cs typeface="Microsoft YaHei"/>
              </a:rPr>
              <a:t>符号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知识表示  通过演绎推理技术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DBB2D41-288B-4F00-AE50-C2B30AD4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5019" y="5366751"/>
            <a:ext cx="85725" cy="436245"/>
          </a:xfrm>
          <a:custGeom xmlns:a="http://schemas.openxmlformats.org/drawingml/2006/main">
            <a:rect l="l" t="t" r="r" b="b"/>
            <a:pathLst>
              <a:path w="85725" h="581660">
                <a:moveTo>
                  <a:pt x="57150" y="457202"/>
                </a:moveTo>
                <a:lnTo>
                  <a:pt x="28575" y="457202"/>
                </a:lnTo>
                <a:lnTo>
                  <a:pt x="28575" y="498424"/>
                </a:lnTo>
                <a:lnTo>
                  <a:pt x="26174" y="498908"/>
                </a:lnTo>
                <a:lnTo>
                  <a:pt x="15596" y="505327"/>
                </a:lnTo>
                <a:lnTo>
                  <a:pt x="7319" y="514436"/>
                </a:lnTo>
                <a:lnTo>
                  <a:pt x="1927" y="525655"/>
                </a:lnTo>
                <a:lnTo>
                  <a:pt x="0" y="538401"/>
                </a:lnTo>
                <a:lnTo>
                  <a:pt x="3368" y="555085"/>
                </a:lnTo>
                <a:lnTo>
                  <a:pt x="12553" y="568709"/>
                </a:lnTo>
                <a:lnTo>
                  <a:pt x="26178" y="577895"/>
                </a:lnTo>
                <a:lnTo>
                  <a:pt x="42862" y="581263"/>
                </a:lnTo>
                <a:lnTo>
                  <a:pt x="59546" y="577895"/>
                </a:lnTo>
                <a:lnTo>
                  <a:pt x="73171" y="568709"/>
                </a:lnTo>
                <a:lnTo>
                  <a:pt x="82356" y="555085"/>
                </a:lnTo>
                <a:lnTo>
                  <a:pt x="85725" y="538401"/>
                </a:lnTo>
                <a:lnTo>
                  <a:pt x="83797" y="525655"/>
                </a:lnTo>
                <a:lnTo>
                  <a:pt x="78403" y="514436"/>
                </a:lnTo>
                <a:lnTo>
                  <a:pt x="70123" y="505327"/>
                </a:lnTo>
                <a:lnTo>
                  <a:pt x="59537" y="498908"/>
                </a:lnTo>
                <a:lnTo>
                  <a:pt x="57150" y="498424"/>
                </a:lnTo>
                <a:lnTo>
                  <a:pt x="57150" y="457202"/>
                </a:lnTo>
                <a:close/>
              </a:path>
              <a:path w="85725" h="581660">
                <a:moveTo>
                  <a:pt x="57150" y="342899"/>
                </a:moveTo>
                <a:lnTo>
                  <a:pt x="28575" y="342899"/>
                </a:lnTo>
                <a:lnTo>
                  <a:pt x="28575" y="428627"/>
                </a:lnTo>
                <a:lnTo>
                  <a:pt x="57150" y="428627"/>
                </a:lnTo>
                <a:lnTo>
                  <a:pt x="57150" y="342899"/>
                </a:lnTo>
                <a:close/>
              </a:path>
              <a:path w="85725" h="581660">
                <a:moveTo>
                  <a:pt x="57150" y="228599"/>
                </a:moveTo>
                <a:lnTo>
                  <a:pt x="28575" y="228599"/>
                </a:lnTo>
                <a:lnTo>
                  <a:pt x="28575" y="314324"/>
                </a:lnTo>
                <a:lnTo>
                  <a:pt x="57150" y="314324"/>
                </a:lnTo>
                <a:lnTo>
                  <a:pt x="57150" y="228599"/>
                </a:lnTo>
                <a:close/>
              </a:path>
              <a:path w="85725" h="581660">
                <a:moveTo>
                  <a:pt x="57150" y="114299"/>
                </a:moveTo>
                <a:lnTo>
                  <a:pt x="28575" y="114299"/>
                </a:lnTo>
                <a:lnTo>
                  <a:pt x="28575" y="200024"/>
                </a:lnTo>
                <a:lnTo>
                  <a:pt x="57150" y="200024"/>
                </a:lnTo>
                <a:lnTo>
                  <a:pt x="57150" y="114299"/>
                </a:lnTo>
                <a:close/>
              </a:path>
              <a:path w="85725" h="581660">
                <a:moveTo>
                  <a:pt x="57150" y="0"/>
                </a:moveTo>
                <a:lnTo>
                  <a:pt x="28575" y="0"/>
                </a:lnTo>
                <a:lnTo>
                  <a:pt x="28575" y="85724"/>
                </a:lnTo>
                <a:lnTo>
                  <a:pt x="57150" y="85724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65AF4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9F307F8A-9836-4BD7-A173-3B1284F8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5507" y="4904559"/>
            <a:ext cx="1422400" cy="4501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 algn="ctr">
              <a:buNone/>
            </a:pP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975">
                <a:solidFill>
                  <a:srgbClr val="65AF45"/>
                </a:solidFill>
                <a:latin typeface="Microsoft YaHei"/>
                <a:ea typeface="Microsoft YaHei"/>
                <a:cs typeface="Microsoft YaHei"/>
              </a:rPr>
              <a:t>符号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知识表示  通过获取和利用领域知识  建立专家系统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29341EB5-7377-43ED-914C-4FFEA68A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8924" y="5361198"/>
            <a:ext cx="86360" cy="441960"/>
          </a:xfrm>
          <a:custGeom xmlns:a="http://schemas.openxmlformats.org/drawingml/2006/main">
            <a:rect l="l" t="t" r="r" b="b"/>
            <a:pathLst>
              <a:path w="86360" h="589279">
                <a:moveTo>
                  <a:pt x="57150" y="457203"/>
                </a:moveTo>
                <a:lnTo>
                  <a:pt x="28587" y="457203"/>
                </a:lnTo>
                <a:lnTo>
                  <a:pt x="28587" y="505827"/>
                </a:lnTo>
                <a:lnTo>
                  <a:pt x="26187" y="506312"/>
                </a:lnTo>
                <a:lnTo>
                  <a:pt x="15607" y="512731"/>
                </a:lnTo>
                <a:lnTo>
                  <a:pt x="7326" y="521841"/>
                </a:lnTo>
                <a:lnTo>
                  <a:pt x="1929" y="533059"/>
                </a:lnTo>
                <a:lnTo>
                  <a:pt x="0" y="545805"/>
                </a:lnTo>
                <a:lnTo>
                  <a:pt x="3370" y="562489"/>
                </a:lnTo>
                <a:lnTo>
                  <a:pt x="12560" y="576113"/>
                </a:lnTo>
                <a:lnTo>
                  <a:pt x="26188" y="585299"/>
                </a:lnTo>
                <a:lnTo>
                  <a:pt x="42875" y="588667"/>
                </a:lnTo>
                <a:lnTo>
                  <a:pt x="59554" y="585299"/>
                </a:lnTo>
                <a:lnTo>
                  <a:pt x="73178" y="576113"/>
                </a:lnTo>
                <a:lnTo>
                  <a:pt x="82367" y="562489"/>
                </a:lnTo>
                <a:lnTo>
                  <a:pt x="85737" y="545805"/>
                </a:lnTo>
                <a:lnTo>
                  <a:pt x="83810" y="533059"/>
                </a:lnTo>
                <a:lnTo>
                  <a:pt x="78416" y="521840"/>
                </a:lnTo>
                <a:lnTo>
                  <a:pt x="70135" y="512730"/>
                </a:lnTo>
                <a:lnTo>
                  <a:pt x="59550" y="506310"/>
                </a:lnTo>
                <a:lnTo>
                  <a:pt x="57150" y="505827"/>
                </a:lnTo>
                <a:lnTo>
                  <a:pt x="57150" y="457203"/>
                </a:lnTo>
                <a:close/>
              </a:path>
              <a:path w="86360" h="589279">
                <a:moveTo>
                  <a:pt x="57150" y="342900"/>
                </a:moveTo>
                <a:lnTo>
                  <a:pt x="28587" y="342900"/>
                </a:lnTo>
                <a:lnTo>
                  <a:pt x="28587" y="428625"/>
                </a:lnTo>
                <a:lnTo>
                  <a:pt x="57150" y="428625"/>
                </a:lnTo>
                <a:lnTo>
                  <a:pt x="57150" y="342900"/>
                </a:lnTo>
                <a:close/>
              </a:path>
              <a:path w="86360" h="589279">
                <a:moveTo>
                  <a:pt x="57150" y="228600"/>
                </a:moveTo>
                <a:lnTo>
                  <a:pt x="28587" y="228600"/>
                </a:lnTo>
                <a:lnTo>
                  <a:pt x="28587" y="314325"/>
                </a:lnTo>
                <a:lnTo>
                  <a:pt x="57150" y="314325"/>
                </a:lnTo>
                <a:lnTo>
                  <a:pt x="57150" y="228600"/>
                </a:lnTo>
                <a:close/>
              </a:path>
              <a:path w="86360" h="589279">
                <a:moveTo>
                  <a:pt x="57150" y="114300"/>
                </a:moveTo>
                <a:lnTo>
                  <a:pt x="28587" y="114300"/>
                </a:lnTo>
                <a:lnTo>
                  <a:pt x="28587" y="200025"/>
                </a:lnTo>
                <a:lnTo>
                  <a:pt x="57150" y="200025"/>
                </a:lnTo>
                <a:lnTo>
                  <a:pt x="57150" y="114300"/>
                </a:lnTo>
                <a:close/>
              </a:path>
              <a:path w="86360" h="589279">
                <a:moveTo>
                  <a:pt x="57150" y="0"/>
                </a:moveTo>
                <a:lnTo>
                  <a:pt x="28575" y="0"/>
                </a:lnTo>
                <a:lnTo>
                  <a:pt x="28575" y="85725"/>
                </a:lnTo>
                <a:lnTo>
                  <a:pt x="57150" y="857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65AF4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543C1DB7-47DD-4D2F-AFE0-2FC2934F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0701" y="4933555"/>
            <a:ext cx="85725" cy="869156"/>
          </a:xfrm>
          <a:custGeom xmlns:a="http://schemas.openxmlformats.org/drawingml/2006/main">
            <a:rect l="l" t="t" r="r" b="b"/>
            <a:pathLst>
              <a:path w="85725" h="1158875">
                <a:moveTo>
                  <a:pt x="57150" y="1028697"/>
                </a:moveTo>
                <a:lnTo>
                  <a:pt x="28562" y="1028697"/>
                </a:lnTo>
                <a:lnTo>
                  <a:pt x="28562" y="1076018"/>
                </a:lnTo>
                <a:lnTo>
                  <a:pt x="26174" y="1076502"/>
                </a:lnTo>
                <a:lnTo>
                  <a:pt x="15591" y="1082922"/>
                </a:lnTo>
                <a:lnTo>
                  <a:pt x="7315" y="1092032"/>
                </a:lnTo>
                <a:lnTo>
                  <a:pt x="1925" y="1103251"/>
                </a:lnTo>
                <a:lnTo>
                  <a:pt x="0" y="1115997"/>
                </a:lnTo>
                <a:lnTo>
                  <a:pt x="3368" y="1132681"/>
                </a:lnTo>
                <a:lnTo>
                  <a:pt x="12552" y="1146305"/>
                </a:lnTo>
                <a:lnTo>
                  <a:pt x="26172" y="1155491"/>
                </a:lnTo>
                <a:lnTo>
                  <a:pt x="42849" y="1158859"/>
                </a:lnTo>
                <a:lnTo>
                  <a:pt x="59534" y="1155491"/>
                </a:lnTo>
                <a:lnTo>
                  <a:pt x="73158" y="1146305"/>
                </a:lnTo>
                <a:lnTo>
                  <a:pt x="82344" y="1132681"/>
                </a:lnTo>
                <a:lnTo>
                  <a:pt x="85712" y="1115997"/>
                </a:lnTo>
                <a:lnTo>
                  <a:pt x="83787" y="1103251"/>
                </a:lnTo>
                <a:lnTo>
                  <a:pt x="78397" y="1092032"/>
                </a:lnTo>
                <a:lnTo>
                  <a:pt x="70121" y="1082922"/>
                </a:lnTo>
                <a:lnTo>
                  <a:pt x="59537" y="1076502"/>
                </a:lnTo>
                <a:lnTo>
                  <a:pt x="57150" y="1076018"/>
                </a:lnTo>
                <a:lnTo>
                  <a:pt x="57150" y="1028697"/>
                </a:lnTo>
                <a:close/>
              </a:path>
              <a:path w="85725" h="1158875">
                <a:moveTo>
                  <a:pt x="57150" y="914399"/>
                </a:moveTo>
                <a:lnTo>
                  <a:pt x="28562" y="914399"/>
                </a:lnTo>
                <a:lnTo>
                  <a:pt x="28562" y="1000124"/>
                </a:lnTo>
                <a:lnTo>
                  <a:pt x="57150" y="1000124"/>
                </a:lnTo>
                <a:lnTo>
                  <a:pt x="57150" y="914399"/>
                </a:lnTo>
                <a:close/>
              </a:path>
              <a:path w="85725" h="1158875">
                <a:moveTo>
                  <a:pt x="57150" y="800099"/>
                </a:moveTo>
                <a:lnTo>
                  <a:pt x="28562" y="800099"/>
                </a:lnTo>
                <a:lnTo>
                  <a:pt x="28562" y="885824"/>
                </a:lnTo>
                <a:lnTo>
                  <a:pt x="57150" y="885824"/>
                </a:lnTo>
                <a:lnTo>
                  <a:pt x="57150" y="800099"/>
                </a:lnTo>
                <a:close/>
              </a:path>
              <a:path w="85725" h="1158875">
                <a:moveTo>
                  <a:pt x="57150" y="685799"/>
                </a:moveTo>
                <a:lnTo>
                  <a:pt x="28562" y="685799"/>
                </a:lnTo>
                <a:lnTo>
                  <a:pt x="28562" y="771524"/>
                </a:lnTo>
                <a:lnTo>
                  <a:pt x="57150" y="771524"/>
                </a:lnTo>
                <a:lnTo>
                  <a:pt x="57150" y="685799"/>
                </a:lnTo>
                <a:close/>
              </a:path>
              <a:path w="85725" h="1158875">
                <a:moveTo>
                  <a:pt x="57150" y="571500"/>
                </a:moveTo>
                <a:lnTo>
                  <a:pt x="28562" y="571500"/>
                </a:lnTo>
                <a:lnTo>
                  <a:pt x="28562" y="657224"/>
                </a:lnTo>
                <a:lnTo>
                  <a:pt x="57150" y="657224"/>
                </a:lnTo>
                <a:lnTo>
                  <a:pt x="57150" y="571500"/>
                </a:lnTo>
                <a:close/>
              </a:path>
              <a:path w="85725" h="1158875">
                <a:moveTo>
                  <a:pt x="57150" y="457200"/>
                </a:moveTo>
                <a:lnTo>
                  <a:pt x="28562" y="457200"/>
                </a:lnTo>
                <a:lnTo>
                  <a:pt x="28562" y="542925"/>
                </a:lnTo>
                <a:lnTo>
                  <a:pt x="57150" y="542925"/>
                </a:lnTo>
                <a:lnTo>
                  <a:pt x="57150" y="457200"/>
                </a:lnTo>
                <a:close/>
              </a:path>
              <a:path w="85725" h="1158875">
                <a:moveTo>
                  <a:pt x="57150" y="342900"/>
                </a:moveTo>
                <a:lnTo>
                  <a:pt x="28562" y="342900"/>
                </a:lnTo>
                <a:lnTo>
                  <a:pt x="28562" y="428625"/>
                </a:lnTo>
                <a:lnTo>
                  <a:pt x="57150" y="428625"/>
                </a:lnTo>
                <a:lnTo>
                  <a:pt x="57150" y="342900"/>
                </a:lnTo>
                <a:close/>
              </a:path>
              <a:path w="85725" h="1158875">
                <a:moveTo>
                  <a:pt x="57150" y="228600"/>
                </a:moveTo>
                <a:lnTo>
                  <a:pt x="28562" y="228600"/>
                </a:lnTo>
                <a:lnTo>
                  <a:pt x="28562" y="314325"/>
                </a:lnTo>
                <a:lnTo>
                  <a:pt x="57150" y="314325"/>
                </a:lnTo>
                <a:lnTo>
                  <a:pt x="57150" y="228600"/>
                </a:lnTo>
                <a:close/>
              </a:path>
              <a:path w="85725" h="1158875">
                <a:moveTo>
                  <a:pt x="57150" y="114300"/>
                </a:moveTo>
                <a:lnTo>
                  <a:pt x="28562" y="114300"/>
                </a:lnTo>
                <a:lnTo>
                  <a:pt x="28562" y="200025"/>
                </a:lnTo>
                <a:lnTo>
                  <a:pt x="57150" y="200025"/>
                </a:lnTo>
                <a:lnTo>
                  <a:pt x="57150" y="114300"/>
                </a:lnTo>
                <a:close/>
              </a:path>
              <a:path w="85725" h="1158875">
                <a:moveTo>
                  <a:pt x="57150" y="0"/>
                </a:moveTo>
                <a:lnTo>
                  <a:pt x="28562" y="0"/>
                </a:lnTo>
                <a:lnTo>
                  <a:pt x="28562" y="85725"/>
                </a:lnTo>
                <a:lnTo>
                  <a:pt x="57150" y="857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1EC8F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CD801A6C-7AE9-48DE-AE7A-A8F42ECD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5058" y="4183908"/>
            <a:ext cx="1329055" cy="750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 indent="-476" algn="ctr">
              <a:buNone/>
            </a:pP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神经网络第二个高潮  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N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P(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n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o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n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de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e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r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m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ini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c  p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o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lyn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om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l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-t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m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e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)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难题  中获重大进展  助力大量现实问题</a:t>
            </a:r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D50FF30C-3896-4906-A96F-47AA8798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2361" y="4333726"/>
            <a:ext cx="787400" cy="3000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神经网络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第一个高潮期</a:t>
            </a: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DA2EA86E-6E66-44F4-9214-F9EB260D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4958" y="4933555"/>
            <a:ext cx="85725" cy="869156"/>
          </a:xfrm>
          <a:custGeom xmlns:a="http://schemas.openxmlformats.org/drawingml/2006/main">
            <a:rect l="l" t="t" r="r" b="b"/>
            <a:pathLst>
              <a:path w="85725" h="1158875">
                <a:moveTo>
                  <a:pt x="57150" y="1028697"/>
                </a:moveTo>
                <a:lnTo>
                  <a:pt x="28575" y="1028697"/>
                </a:lnTo>
                <a:lnTo>
                  <a:pt x="28575" y="1076018"/>
                </a:lnTo>
                <a:lnTo>
                  <a:pt x="26187" y="1076502"/>
                </a:lnTo>
                <a:lnTo>
                  <a:pt x="15601" y="1082922"/>
                </a:lnTo>
                <a:lnTo>
                  <a:pt x="7321" y="1092032"/>
                </a:lnTo>
                <a:lnTo>
                  <a:pt x="1927" y="1103251"/>
                </a:lnTo>
                <a:lnTo>
                  <a:pt x="0" y="1115997"/>
                </a:lnTo>
                <a:lnTo>
                  <a:pt x="3368" y="1132681"/>
                </a:lnTo>
                <a:lnTo>
                  <a:pt x="12553" y="1146305"/>
                </a:lnTo>
                <a:lnTo>
                  <a:pt x="26178" y="1155491"/>
                </a:lnTo>
                <a:lnTo>
                  <a:pt x="42862" y="1158859"/>
                </a:lnTo>
                <a:lnTo>
                  <a:pt x="59546" y="1155491"/>
                </a:lnTo>
                <a:lnTo>
                  <a:pt x="73171" y="1146305"/>
                </a:lnTo>
                <a:lnTo>
                  <a:pt x="82356" y="1132681"/>
                </a:lnTo>
                <a:lnTo>
                  <a:pt x="85725" y="1115997"/>
                </a:lnTo>
                <a:lnTo>
                  <a:pt x="83797" y="1103251"/>
                </a:lnTo>
                <a:lnTo>
                  <a:pt x="78405" y="1092032"/>
                </a:lnTo>
                <a:lnTo>
                  <a:pt x="70128" y="1082922"/>
                </a:lnTo>
                <a:lnTo>
                  <a:pt x="59550" y="1076502"/>
                </a:lnTo>
                <a:lnTo>
                  <a:pt x="57150" y="1076018"/>
                </a:lnTo>
                <a:lnTo>
                  <a:pt x="57150" y="1028697"/>
                </a:lnTo>
                <a:close/>
              </a:path>
              <a:path w="85725" h="1158875">
                <a:moveTo>
                  <a:pt x="57150" y="914399"/>
                </a:moveTo>
                <a:lnTo>
                  <a:pt x="28575" y="914399"/>
                </a:lnTo>
                <a:lnTo>
                  <a:pt x="28575" y="1000124"/>
                </a:lnTo>
                <a:lnTo>
                  <a:pt x="57150" y="1000124"/>
                </a:lnTo>
                <a:lnTo>
                  <a:pt x="57150" y="914399"/>
                </a:lnTo>
                <a:close/>
              </a:path>
              <a:path w="85725" h="1158875">
                <a:moveTo>
                  <a:pt x="57150" y="800099"/>
                </a:moveTo>
                <a:lnTo>
                  <a:pt x="28575" y="800099"/>
                </a:lnTo>
                <a:lnTo>
                  <a:pt x="28575" y="885824"/>
                </a:lnTo>
                <a:lnTo>
                  <a:pt x="57150" y="885824"/>
                </a:lnTo>
                <a:lnTo>
                  <a:pt x="57150" y="800099"/>
                </a:lnTo>
                <a:close/>
              </a:path>
              <a:path w="85725" h="1158875">
                <a:moveTo>
                  <a:pt x="57150" y="685799"/>
                </a:moveTo>
                <a:lnTo>
                  <a:pt x="28575" y="685799"/>
                </a:lnTo>
                <a:lnTo>
                  <a:pt x="28575" y="771524"/>
                </a:lnTo>
                <a:lnTo>
                  <a:pt x="57150" y="771524"/>
                </a:lnTo>
                <a:lnTo>
                  <a:pt x="57150" y="685799"/>
                </a:lnTo>
                <a:close/>
              </a:path>
              <a:path w="85725" h="1158875">
                <a:moveTo>
                  <a:pt x="57150" y="571500"/>
                </a:moveTo>
                <a:lnTo>
                  <a:pt x="28575" y="571500"/>
                </a:lnTo>
                <a:lnTo>
                  <a:pt x="28575" y="657224"/>
                </a:lnTo>
                <a:lnTo>
                  <a:pt x="57150" y="657224"/>
                </a:lnTo>
                <a:lnTo>
                  <a:pt x="57150" y="571500"/>
                </a:lnTo>
                <a:close/>
              </a:path>
              <a:path w="85725" h="1158875">
                <a:moveTo>
                  <a:pt x="57150" y="457200"/>
                </a:moveTo>
                <a:lnTo>
                  <a:pt x="28575" y="457200"/>
                </a:lnTo>
                <a:lnTo>
                  <a:pt x="28575" y="542925"/>
                </a:lnTo>
                <a:lnTo>
                  <a:pt x="57150" y="542925"/>
                </a:lnTo>
                <a:lnTo>
                  <a:pt x="57150" y="457200"/>
                </a:lnTo>
                <a:close/>
              </a:path>
              <a:path w="85725" h="1158875">
                <a:moveTo>
                  <a:pt x="57150" y="342900"/>
                </a:moveTo>
                <a:lnTo>
                  <a:pt x="28575" y="342900"/>
                </a:lnTo>
                <a:lnTo>
                  <a:pt x="28575" y="428625"/>
                </a:lnTo>
                <a:lnTo>
                  <a:pt x="57150" y="428625"/>
                </a:lnTo>
                <a:lnTo>
                  <a:pt x="57150" y="342900"/>
                </a:lnTo>
                <a:close/>
              </a:path>
              <a:path w="85725" h="1158875">
                <a:moveTo>
                  <a:pt x="57150" y="228600"/>
                </a:moveTo>
                <a:lnTo>
                  <a:pt x="28575" y="228600"/>
                </a:lnTo>
                <a:lnTo>
                  <a:pt x="28575" y="314325"/>
                </a:lnTo>
                <a:lnTo>
                  <a:pt x="57150" y="314325"/>
                </a:lnTo>
                <a:lnTo>
                  <a:pt x="57150" y="228600"/>
                </a:lnTo>
                <a:close/>
              </a:path>
              <a:path w="85725" h="1158875">
                <a:moveTo>
                  <a:pt x="57150" y="114300"/>
                </a:moveTo>
                <a:lnTo>
                  <a:pt x="28575" y="114300"/>
                </a:lnTo>
                <a:lnTo>
                  <a:pt x="28575" y="200025"/>
                </a:lnTo>
                <a:lnTo>
                  <a:pt x="57150" y="200025"/>
                </a:lnTo>
                <a:lnTo>
                  <a:pt x="57150" y="114300"/>
                </a:lnTo>
                <a:close/>
              </a:path>
              <a:path w="85725" h="1158875">
                <a:moveTo>
                  <a:pt x="57150" y="0"/>
                </a:moveTo>
                <a:lnTo>
                  <a:pt x="28575" y="0"/>
                </a:lnTo>
                <a:lnTo>
                  <a:pt x="28575" y="85725"/>
                </a:lnTo>
                <a:lnTo>
                  <a:pt x="57150" y="857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096D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D61CA6B7-7D20-4FBC-87CD-5DCF750F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5699" y="4262099"/>
            <a:ext cx="1041400" cy="600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 algn="ctr">
              <a:buNone/>
            </a:pP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神经网络以深度学  习之名再次崛起  大幅提升感知智能  准确率</a:t>
            </a: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0D815780-78FB-4D03-9693-ACDE82F2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2767" y="6123485"/>
            <a:ext cx="381000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201</a:t>
            </a:r>
            <a:r>
              <a:rPr sz="105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66E7C5C2-1E95-415E-9912-B6F40AAB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477" y="4254774"/>
            <a:ext cx="85725" cy="1541145"/>
          </a:xfrm>
          <a:custGeom xmlns:a="http://schemas.openxmlformats.org/drawingml/2006/main">
            <a:rect l="l" t="t" r="r" b="b"/>
            <a:pathLst>
              <a:path w="85725" h="2054860">
                <a:moveTo>
                  <a:pt x="57150" y="1943097"/>
                </a:moveTo>
                <a:lnTo>
                  <a:pt x="28575" y="1943097"/>
                </a:lnTo>
                <a:lnTo>
                  <a:pt x="28575" y="1971699"/>
                </a:lnTo>
                <a:lnTo>
                  <a:pt x="26174" y="1972183"/>
                </a:lnTo>
                <a:lnTo>
                  <a:pt x="15596" y="1978602"/>
                </a:lnTo>
                <a:lnTo>
                  <a:pt x="7319" y="1987712"/>
                </a:lnTo>
                <a:lnTo>
                  <a:pt x="1927" y="1998931"/>
                </a:lnTo>
                <a:lnTo>
                  <a:pt x="0" y="2011677"/>
                </a:lnTo>
                <a:lnTo>
                  <a:pt x="3368" y="2028361"/>
                </a:lnTo>
                <a:lnTo>
                  <a:pt x="12553" y="2041986"/>
                </a:lnTo>
                <a:lnTo>
                  <a:pt x="26178" y="2051171"/>
                </a:lnTo>
                <a:lnTo>
                  <a:pt x="42862" y="2054539"/>
                </a:lnTo>
                <a:lnTo>
                  <a:pt x="59546" y="2051171"/>
                </a:lnTo>
                <a:lnTo>
                  <a:pt x="73171" y="2041986"/>
                </a:lnTo>
                <a:lnTo>
                  <a:pt x="82356" y="2028361"/>
                </a:lnTo>
                <a:lnTo>
                  <a:pt x="85725" y="2011677"/>
                </a:lnTo>
                <a:lnTo>
                  <a:pt x="83797" y="1998931"/>
                </a:lnTo>
                <a:lnTo>
                  <a:pt x="78405" y="1987712"/>
                </a:lnTo>
                <a:lnTo>
                  <a:pt x="70128" y="1978602"/>
                </a:lnTo>
                <a:lnTo>
                  <a:pt x="59550" y="1972183"/>
                </a:lnTo>
                <a:lnTo>
                  <a:pt x="57150" y="1971699"/>
                </a:lnTo>
                <a:lnTo>
                  <a:pt x="57150" y="1943097"/>
                </a:lnTo>
                <a:close/>
              </a:path>
              <a:path w="85725" h="2054860">
                <a:moveTo>
                  <a:pt x="57150" y="1828800"/>
                </a:moveTo>
                <a:lnTo>
                  <a:pt x="28575" y="1828800"/>
                </a:lnTo>
                <a:lnTo>
                  <a:pt x="28575" y="1914522"/>
                </a:lnTo>
                <a:lnTo>
                  <a:pt x="57150" y="1914522"/>
                </a:lnTo>
                <a:lnTo>
                  <a:pt x="57150" y="1828800"/>
                </a:lnTo>
                <a:close/>
              </a:path>
              <a:path w="85725" h="2054860">
                <a:moveTo>
                  <a:pt x="57150" y="1714500"/>
                </a:moveTo>
                <a:lnTo>
                  <a:pt x="28575" y="1714500"/>
                </a:lnTo>
                <a:lnTo>
                  <a:pt x="28575" y="1800225"/>
                </a:lnTo>
                <a:lnTo>
                  <a:pt x="57150" y="1800225"/>
                </a:lnTo>
                <a:lnTo>
                  <a:pt x="57150" y="1714500"/>
                </a:lnTo>
                <a:close/>
              </a:path>
              <a:path w="85725" h="2054860">
                <a:moveTo>
                  <a:pt x="57150" y="1600200"/>
                </a:moveTo>
                <a:lnTo>
                  <a:pt x="28575" y="1600200"/>
                </a:lnTo>
                <a:lnTo>
                  <a:pt x="28575" y="1685925"/>
                </a:lnTo>
                <a:lnTo>
                  <a:pt x="57150" y="1685925"/>
                </a:lnTo>
                <a:lnTo>
                  <a:pt x="57150" y="1600200"/>
                </a:lnTo>
                <a:close/>
              </a:path>
              <a:path w="85725" h="2054860">
                <a:moveTo>
                  <a:pt x="57150" y="1485900"/>
                </a:moveTo>
                <a:lnTo>
                  <a:pt x="28575" y="1485900"/>
                </a:lnTo>
                <a:lnTo>
                  <a:pt x="28575" y="1571625"/>
                </a:lnTo>
                <a:lnTo>
                  <a:pt x="57150" y="1571625"/>
                </a:lnTo>
                <a:lnTo>
                  <a:pt x="57150" y="1485900"/>
                </a:lnTo>
                <a:close/>
              </a:path>
              <a:path w="85725" h="2054860">
                <a:moveTo>
                  <a:pt x="57150" y="1371600"/>
                </a:moveTo>
                <a:lnTo>
                  <a:pt x="28575" y="1371600"/>
                </a:lnTo>
                <a:lnTo>
                  <a:pt x="28575" y="1457325"/>
                </a:lnTo>
                <a:lnTo>
                  <a:pt x="57150" y="1457325"/>
                </a:lnTo>
                <a:lnTo>
                  <a:pt x="57150" y="1371600"/>
                </a:lnTo>
                <a:close/>
              </a:path>
              <a:path w="85725" h="2054860">
                <a:moveTo>
                  <a:pt x="57150" y="1257300"/>
                </a:moveTo>
                <a:lnTo>
                  <a:pt x="28575" y="1257300"/>
                </a:lnTo>
                <a:lnTo>
                  <a:pt x="28575" y="1343025"/>
                </a:lnTo>
                <a:lnTo>
                  <a:pt x="57150" y="1343025"/>
                </a:lnTo>
                <a:lnTo>
                  <a:pt x="57150" y="1257300"/>
                </a:lnTo>
                <a:close/>
              </a:path>
              <a:path w="85725" h="2054860">
                <a:moveTo>
                  <a:pt x="57150" y="1143000"/>
                </a:moveTo>
                <a:lnTo>
                  <a:pt x="28575" y="1143000"/>
                </a:lnTo>
                <a:lnTo>
                  <a:pt x="28575" y="1228725"/>
                </a:lnTo>
                <a:lnTo>
                  <a:pt x="57150" y="1228725"/>
                </a:lnTo>
                <a:lnTo>
                  <a:pt x="57150" y="1143000"/>
                </a:lnTo>
                <a:close/>
              </a:path>
              <a:path w="85725" h="2054860">
                <a:moveTo>
                  <a:pt x="57150" y="1028700"/>
                </a:moveTo>
                <a:lnTo>
                  <a:pt x="28575" y="1028700"/>
                </a:lnTo>
                <a:lnTo>
                  <a:pt x="28575" y="1114425"/>
                </a:lnTo>
                <a:lnTo>
                  <a:pt x="57150" y="1114425"/>
                </a:lnTo>
                <a:lnTo>
                  <a:pt x="57150" y="1028700"/>
                </a:lnTo>
                <a:close/>
              </a:path>
              <a:path w="85725" h="2054860">
                <a:moveTo>
                  <a:pt x="57150" y="914400"/>
                </a:moveTo>
                <a:lnTo>
                  <a:pt x="28575" y="914400"/>
                </a:lnTo>
                <a:lnTo>
                  <a:pt x="28575" y="1000125"/>
                </a:lnTo>
                <a:lnTo>
                  <a:pt x="57150" y="1000125"/>
                </a:lnTo>
                <a:lnTo>
                  <a:pt x="57150" y="914400"/>
                </a:lnTo>
                <a:close/>
              </a:path>
              <a:path w="85725" h="2054860">
                <a:moveTo>
                  <a:pt x="57150" y="800100"/>
                </a:moveTo>
                <a:lnTo>
                  <a:pt x="28575" y="800100"/>
                </a:lnTo>
                <a:lnTo>
                  <a:pt x="28575" y="885825"/>
                </a:lnTo>
                <a:lnTo>
                  <a:pt x="57150" y="885825"/>
                </a:lnTo>
                <a:lnTo>
                  <a:pt x="57150" y="800100"/>
                </a:lnTo>
                <a:close/>
              </a:path>
              <a:path w="85725" h="2054860">
                <a:moveTo>
                  <a:pt x="57150" y="685800"/>
                </a:moveTo>
                <a:lnTo>
                  <a:pt x="28575" y="685800"/>
                </a:lnTo>
                <a:lnTo>
                  <a:pt x="28575" y="771525"/>
                </a:lnTo>
                <a:lnTo>
                  <a:pt x="57150" y="771525"/>
                </a:lnTo>
                <a:lnTo>
                  <a:pt x="57150" y="685800"/>
                </a:lnTo>
                <a:close/>
              </a:path>
              <a:path w="85725" h="2054860">
                <a:moveTo>
                  <a:pt x="57150" y="571500"/>
                </a:moveTo>
                <a:lnTo>
                  <a:pt x="28575" y="571500"/>
                </a:lnTo>
                <a:lnTo>
                  <a:pt x="28575" y="657225"/>
                </a:lnTo>
                <a:lnTo>
                  <a:pt x="57150" y="657225"/>
                </a:lnTo>
                <a:lnTo>
                  <a:pt x="57150" y="571500"/>
                </a:lnTo>
                <a:close/>
              </a:path>
              <a:path w="85725" h="2054860">
                <a:moveTo>
                  <a:pt x="57150" y="457200"/>
                </a:moveTo>
                <a:lnTo>
                  <a:pt x="28575" y="457200"/>
                </a:lnTo>
                <a:lnTo>
                  <a:pt x="28575" y="542925"/>
                </a:lnTo>
                <a:lnTo>
                  <a:pt x="57150" y="542925"/>
                </a:lnTo>
                <a:lnTo>
                  <a:pt x="57150" y="457200"/>
                </a:lnTo>
                <a:close/>
              </a:path>
              <a:path w="85725" h="2054860">
                <a:moveTo>
                  <a:pt x="57150" y="342900"/>
                </a:moveTo>
                <a:lnTo>
                  <a:pt x="28575" y="342900"/>
                </a:lnTo>
                <a:lnTo>
                  <a:pt x="28575" y="428625"/>
                </a:lnTo>
                <a:lnTo>
                  <a:pt x="57150" y="428625"/>
                </a:lnTo>
                <a:lnTo>
                  <a:pt x="57150" y="342900"/>
                </a:lnTo>
                <a:close/>
              </a:path>
              <a:path w="85725" h="2054860">
                <a:moveTo>
                  <a:pt x="57150" y="228600"/>
                </a:moveTo>
                <a:lnTo>
                  <a:pt x="28575" y="228600"/>
                </a:lnTo>
                <a:lnTo>
                  <a:pt x="28575" y="314325"/>
                </a:lnTo>
                <a:lnTo>
                  <a:pt x="57150" y="314325"/>
                </a:lnTo>
                <a:lnTo>
                  <a:pt x="57150" y="228600"/>
                </a:lnTo>
                <a:close/>
              </a:path>
              <a:path w="85725" h="2054860">
                <a:moveTo>
                  <a:pt x="57150" y="114300"/>
                </a:moveTo>
                <a:lnTo>
                  <a:pt x="28575" y="114300"/>
                </a:lnTo>
                <a:lnTo>
                  <a:pt x="28575" y="200025"/>
                </a:lnTo>
                <a:lnTo>
                  <a:pt x="57150" y="200025"/>
                </a:lnTo>
                <a:lnTo>
                  <a:pt x="57150" y="114300"/>
                </a:lnTo>
                <a:close/>
              </a:path>
              <a:path w="85725" h="2054860">
                <a:moveTo>
                  <a:pt x="57150" y="0"/>
                </a:moveTo>
                <a:lnTo>
                  <a:pt x="28575" y="0"/>
                </a:lnTo>
                <a:lnTo>
                  <a:pt x="28575" y="85725"/>
                </a:lnTo>
                <a:lnTo>
                  <a:pt x="57150" y="857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0B0F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A8DAEE6-7020-4C2B-ACDB-CC8B675F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8136" y="6123485"/>
            <a:ext cx="577850" cy="16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105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90</a:t>
            </a:r>
            <a:r>
              <a:rPr sz="105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05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F4C905C5-27D0-480F-A344-95420061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0633" y="3759512"/>
            <a:ext cx="1930400" cy="3000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 indent="190500">
              <a:buNone/>
            </a:pP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统计学习登场并占据主流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支持向量机、核方法为代表性技术</a:t>
            </a: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96F5FD6F-0B16-4900-B5A6-E07C01C2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054" y="4255555"/>
            <a:ext cx="85725" cy="1541145"/>
          </a:xfrm>
          <a:custGeom xmlns:a="http://schemas.openxmlformats.org/drawingml/2006/main">
            <a:rect l="l" t="t" r="r" b="b"/>
            <a:pathLst>
              <a:path w="85725" h="2054860">
                <a:moveTo>
                  <a:pt x="57150" y="1943096"/>
                </a:moveTo>
                <a:lnTo>
                  <a:pt x="28575" y="1943096"/>
                </a:lnTo>
                <a:lnTo>
                  <a:pt x="28575" y="1971697"/>
                </a:lnTo>
                <a:lnTo>
                  <a:pt x="26174" y="1972181"/>
                </a:lnTo>
                <a:lnTo>
                  <a:pt x="15596" y="1978601"/>
                </a:lnTo>
                <a:lnTo>
                  <a:pt x="7319" y="1987711"/>
                </a:lnTo>
                <a:lnTo>
                  <a:pt x="1927" y="1998930"/>
                </a:lnTo>
                <a:lnTo>
                  <a:pt x="0" y="2011676"/>
                </a:lnTo>
                <a:lnTo>
                  <a:pt x="3368" y="2028360"/>
                </a:lnTo>
                <a:lnTo>
                  <a:pt x="12553" y="2041984"/>
                </a:lnTo>
                <a:lnTo>
                  <a:pt x="26178" y="2051170"/>
                </a:lnTo>
                <a:lnTo>
                  <a:pt x="42862" y="2054538"/>
                </a:lnTo>
                <a:lnTo>
                  <a:pt x="59546" y="2051170"/>
                </a:lnTo>
                <a:lnTo>
                  <a:pt x="73171" y="2041984"/>
                </a:lnTo>
                <a:lnTo>
                  <a:pt x="82356" y="2028360"/>
                </a:lnTo>
                <a:lnTo>
                  <a:pt x="85725" y="2011676"/>
                </a:lnTo>
                <a:lnTo>
                  <a:pt x="83797" y="1998930"/>
                </a:lnTo>
                <a:lnTo>
                  <a:pt x="78405" y="1987711"/>
                </a:lnTo>
                <a:lnTo>
                  <a:pt x="70128" y="1978601"/>
                </a:lnTo>
                <a:lnTo>
                  <a:pt x="59550" y="1972181"/>
                </a:lnTo>
                <a:lnTo>
                  <a:pt x="57150" y="1971697"/>
                </a:lnTo>
                <a:lnTo>
                  <a:pt x="57150" y="1943096"/>
                </a:lnTo>
                <a:close/>
              </a:path>
              <a:path w="85725" h="2054860">
                <a:moveTo>
                  <a:pt x="57150" y="1828800"/>
                </a:moveTo>
                <a:lnTo>
                  <a:pt x="28575" y="1828800"/>
                </a:lnTo>
                <a:lnTo>
                  <a:pt x="28575" y="1914521"/>
                </a:lnTo>
                <a:lnTo>
                  <a:pt x="57150" y="1914521"/>
                </a:lnTo>
                <a:lnTo>
                  <a:pt x="57150" y="1828800"/>
                </a:lnTo>
                <a:close/>
              </a:path>
              <a:path w="85725" h="2054860">
                <a:moveTo>
                  <a:pt x="57150" y="1714500"/>
                </a:moveTo>
                <a:lnTo>
                  <a:pt x="28575" y="1714500"/>
                </a:lnTo>
                <a:lnTo>
                  <a:pt x="28575" y="1800225"/>
                </a:lnTo>
                <a:lnTo>
                  <a:pt x="57150" y="1800225"/>
                </a:lnTo>
                <a:lnTo>
                  <a:pt x="57150" y="1714500"/>
                </a:lnTo>
                <a:close/>
              </a:path>
              <a:path w="85725" h="2054860">
                <a:moveTo>
                  <a:pt x="57150" y="1600200"/>
                </a:moveTo>
                <a:lnTo>
                  <a:pt x="28575" y="1600200"/>
                </a:lnTo>
                <a:lnTo>
                  <a:pt x="28575" y="1685925"/>
                </a:lnTo>
                <a:lnTo>
                  <a:pt x="57150" y="1685925"/>
                </a:lnTo>
                <a:lnTo>
                  <a:pt x="57150" y="1600200"/>
                </a:lnTo>
                <a:close/>
              </a:path>
              <a:path w="85725" h="2054860">
                <a:moveTo>
                  <a:pt x="57150" y="1485900"/>
                </a:moveTo>
                <a:lnTo>
                  <a:pt x="28575" y="1485900"/>
                </a:lnTo>
                <a:lnTo>
                  <a:pt x="28575" y="1571625"/>
                </a:lnTo>
                <a:lnTo>
                  <a:pt x="57150" y="1571625"/>
                </a:lnTo>
                <a:lnTo>
                  <a:pt x="57150" y="1485900"/>
                </a:lnTo>
                <a:close/>
              </a:path>
              <a:path w="85725" h="2054860">
                <a:moveTo>
                  <a:pt x="57150" y="1371600"/>
                </a:moveTo>
                <a:lnTo>
                  <a:pt x="28575" y="1371600"/>
                </a:lnTo>
                <a:lnTo>
                  <a:pt x="28575" y="1457325"/>
                </a:lnTo>
                <a:lnTo>
                  <a:pt x="57150" y="1457325"/>
                </a:lnTo>
                <a:lnTo>
                  <a:pt x="57150" y="1371600"/>
                </a:lnTo>
                <a:close/>
              </a:path>
              <a:path w="85725" h="2054860">
                <a:moveTo>
                  <a:pt x="57150" y="1257300"/>
                </a:moveTo>
                <a:lnTo>
                  <a:pt x="28575" y="1257300"/>
                </a:lnTo>
                <a:lnTo>
                  <a:pt x="28575" y="1343025"/>
                </a:lnTo>
                <a:lnTo>
                  <a:pt x="57150" y="1343025"/>
                </a:lnTo>
                <a:lnTo>
                  <a:pt x="57150" y="1257300"/>
                </a:lnTo>
                <a:close/>
              </a:path>
              <a:path w="85725" h="2054860">
                <a:moveTo>
                  <a:pt x="57150" y="1143000"/>
                </a:moveTo>
                <a:lnTo>
                  <a:pt x="28575" y="1143000"/>
                </a:lnTo>
                <a:lnTo>
                  <a:pt x="28575" y="1228725"/>
                </a:lnTo>
                <a:lnTo>
                  <a:pt x="57150" y="1228725"/>
                </a:lnTo>
                <a:lnTo>
                  <a:pt x="57150" y="1143000"/>
                </a:lnTo>
                <a:close/>
              </a:path>
              <a:path w="85725" h="2054860">
                <a:moveTo>
                  <a:pt x="57150" y="1028700"/>
                </a:moveTo>
                <a:lnTo>
                  <a:pt x="28575" y="1028700"/>
                </a:lnTo>
                <a:lnTo>
                  <a:pt x="28575" y="1114425"/>
                </a:lnTo>
                <a:lnTo>
                  <a:pt x="57150" y="1114425"/>
                </a:lnTo>
                <a:lnTo>
                  <a:pt x="57150" y="1028700"/>
                </a:lnTo>
                <a:close/>
              </a:path>
              <a:path w="85725" h="2054860">
                <a:moveTo>
                  <a:pt x="57150" y="914400"/>
                </a:moveTo>
                <a:lnTo>
                  <a:pt x="28575" y="914400"/>
                </a:lnTo>
                <a:lnTo>
                  <a:pt x="28575" y="1000125"/>
                </a:lnTo>
                <a:lnTo>
                  <a:pt x="57150" y="1000125"/>
                </a:lnTo>
                <a:lnTo>
                  <a:pt x="57150" y="914400"/>
                </a:lnTo>
                <a:close/>
              </a:path>
              <a:path w="85725" h="2054860">
                <a:moveTo>
                  <a:pt x="57150" y="800100"/>
                </a:moveTo>
                <a:lnTo>
                  <a:pt x="28575" y="800100"/>
                </a:lnTo>
                <a:lnTo>
                  <a:pt x="28575" y="885825"/>
                </a:lnTo>
                <a:lnTo>
                  <a:pt x="57150" y="885825"/>
                </a:lnTo>
                <a:lnTo>
                  <a:pt x="57150" y="800100"/>
                </a:lnTo>
                <a:close/>
              </a:path>
              <a:path w="85725" h="2054860">
                <a:moveTo>
                  <a:pt x="57150" y="685800"/>
                </a:moveTo>
                <a:lnTo>
                  <a:pt x="28575" y="685800"/>
                </a:lnTo>
                <a:lnTo>
                  <a:pt x="28575" y="771525"/>
                </a:lnTo>
                <a:lnTo>
                  <a:pt x="57150" y="771525"/>
                </a:lnTo>
                <a:lnTo>
                  <a:pt x="57150" y="685800"/>
                </a:lnTo>
                <a:close/>
              </a:path>
              <a:path w="85725" h="2054860">
                <a:moveTo>
                  <a:pt x="57150" y="571500"/>
                </a:moveTo>
                <a:lnTo>
                  <a:pt x="28575" y="571500"/>
                </a:lnTo>
                <a:lnTo>
                  <a:pt x="28575" y="657225"/>
                </a:lnTo>
                <a:lnTo>
                  <a:pt x="57150" y="657225"/>
                </a:lnTo>
                <a:lnTo>
                  <a:pt x="57150" y="571500"/>
                </a:lnTo>
                <a:close/>
              </a:path>
              <a:path w="85725" h="2054860">
                <a:moveTo>
                  <a:pt x="57150" y="457200"/>
                </a:moveTo>
                <a:lnTo>
                  <a:pt x="28575" y="457200"/>
                </a:lnTo>
                <a:lnTo>
                  <a:pt x="28575" y="542925"/>
                </a:lnTo>
                <a:lnTo>
                  <a:pt x="57150" y="542925"/>
                </a:lnTo>
                <a:lnTo>
                  <a:pt x="57150" y="457200"/>
                </a:lnTo>
                <a:close/>
              </a:path>
              <a:path w="85725" h="2054860">
                <a:moveTo>
                  <a:pt x="57150" y="342900"/>
                </a:moveTo>
                <a:lnTo>
                  <a:pt x="28575" y="342900"/>
                </a:lnTo>
                <a:lnTo>
                  <a:pt x="28575" y="428625"/>
                </a:lnTo>
                <a:lnTo>
                  <a:pt x="57150" y="428625"/>
                </a:lnTo>
                <a:lnTo>
                  <a:pt x="57150" y="342900"/>
                </a:lnTo>
                <a:close/>
              </a:path>
              <a:path w="85725" h="2054860">
                <a:moveTo>
                  <a:pt x="57150" y="228600"/>
                </a:moveTo>
                <a:lnTo>
                  <a:pt x="28575" y="228600"/>
                </a:lnTo>
                <a:lnTo>
                  <a:pt x="28575" y="314325"/>
                </a:lnTo>
                <a:lnTo>
                  <a:pt x="57150" y="314325"/>
                </a:lnTo>
                <a:lnTo>
                  <a:pt x="57150" y="228600"/>
                </a:lnTo>
                <a:close/>
              </a:path>
              <a:path w="85725" h="2054860">
                <a:moveTo>
                  <a:pt x="57150" y="114300"/>
                </a:moveTo>
                <a:lnTo>
                  <a:pt x="28575" y="114300"/>
                </a:lnTo>
                <a:lnTo>
                  <a:pt x="28575" y="200025"/>
                </a:lnTo>
                <a:lnTo>
                  <a:pt x="57150" y="200025"/>
                </a:lnTo>
                <a:lnTo>
                  <a:pt x="57150" y="114300"/>
                </a:lnTo>
                <a:close/>
              </a:path>
              <a:path w="85725" h="2054860">
                <a:moveTo>
                  <a:pt x="57150" y="0"/>
                </a:moveTo>
                <a:lnTo>
                  <a:pt x="28575" y="0"/>
                </a:lnTo>
                <a:lnTo>
                  <a:pt x="28575" y="85725"/>
                </a:lnTo>
                <a:lnTo>
                  <a:pt x="57150" y="857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8BC53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1921D5D1-53F5-49AA-AC57-44964F9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8032" y="3942059"/>
            <a:ext cx="1593850" cy="150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>
              <a:buNone/>
            </a:pP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提出支持向量、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V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C维等概念</a:t>
            </a: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1F3AA6FA-4DA4-4513-8A6C-67E8DD9A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8224" y="3986150"/>
            <a:ext cx="1920239" cy="57150"/>
          </a:xfrm>
          <a:custGeom xmlns:a="http://schemas.openxmlformats.org/drawingml/2006/main">
            <a:rect l="l" t="t" r="r" b="b"/>
            <a:pathLst>
              <a:path w="1920239" h="76200">
                <a:moveTo>
                  <a:pt x="1844039" y="0"/>
                </a:moveTo>
                <a:lnTo>
                  <a:pt x="1844039" y="28575"/>
                </a:lnTo>
                <a:lnTo>
                  <a:pt x="0" y="28575"/>
                </a:lnTo>
                <a:lnTo>
                  <a:pt x="0" y="47625"/>
                </a:lnTo>
                <a:lnTo>
                  <a:pt x="1844039" y="47625"/>
                </a:lnTo>
                <a:lnTo>
                  <a:pt x="1844039" y="76200"/>
                </a:lnTo>
                <a:lnTo>
                  <a:pt x="1920239" y="38100"/>
                </a:lnTo>
                <a:lnTo>
                  <a:pt x="1844039" y="0"/>
                </a:lnTo>
                <a:close/>
              </a:path>
            </a:pathLst>
          </a:custGeom>
          <a:solidFill xmlns:a="http://schemas.openxmlformats.org/drawingml/2006/main">
            <a:srgbClr val="8BC53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6EFE1A1B-5D6E-4046-B334-2213FC1B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1882" y="3717032"/>
            <a:ext cx="1773009" cy="297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0" indent="-85725">
              <a:lnSpc>
                <a:spcPts val="1200"/>
              </a:lnSpc>
              <a:buNone/>
            </a:pP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统计学的研究成果经由机器学习  研究，形成有效的学习算法</a:t>
            </a: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8F4579B1-77E8-44FC-A56C-2F3AFA4A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850" y="4693958"/>
            <a:ext cx="1908765" cy="679043"/>
          </a:xfrm>
          <a:custGeom xmlns:a="http://schemas.openxmlformats.org/drawingml/2006/main">
            <a:rect l="l" t="t" r="r" b="b"/>
            <a:pathLst>
              <a:path w="1871345" h="727075">
                <a:moveTo>
                  <a:pt x="1866577" y="0"/>
                </a:moveTo>
                <a:lnTo>
                  <a:pt x="4264" y="0"/>
                </a:lnTo>
                <a:lnTo>
                  <a:pt x="0" y="4267"/>
                </a:lnTo>
                <a:lnTo>
                  <a:pt x="0" y="722668"/>
                </a:lnTo>
                <a:lnTo>
                  <a:pt x="4264" y="726935"/>
                </a:lnTo>
                <a:lnTo>
                  <a:pt x="1866577" y="726935"/>
                </a:lnTo>
                <a:lnTo>
                  <a:pt x="1870844" y="722668"/>
                </a:lnTo>
                <a:lnTo>
                  <a:pt x="1870844" y="715505"/>
                </a:lnTo>
                <a:lnTo>
                  <a:pt x="11429" y="715505"/>
                </a:lnTo>
                <a:lnTo>
                  <a:pt x="11429" y="11430"/>
                </a:lnTo>
                <a:lnTo>
                  <a:pt x="1870844" y="11430"/>
                </a:lnTo>
                <a:lnTo>
                  <a:pt x="1870844" y="4267"/>
                </a:lnTo>
                <a:lnTo>
                  <a:pt x="1866577" y="0"/>
                </a:lnTo>
                <a:close/>
              </a:path>
              <a:path w="1871345" h="727075">
                <a:moveTo>
                  <a:pt x="1870844" y="11430"/>
                </a:moveTo>
                <a:lnTo>
                  <a:pt x="1859414" y="11430"/>
                </a:lnTo>
                <a:lnTo>
                  <a:pt x="1859414" y="715505"/>
                </a:lnTo>
                <a:lnTo>
                  <a:pt x="1870844" y="715505"/>
                </a:lnTo>
                <a:lnTo>
                  <a:pt x="1870844" y="11430"/>
                </a:lnTo>
                <a:close/>
              </a:path>
              <a:path w="1871345" h="727075">
                <a:moveTo>
                  <a:pt x="1855604" y="15240"/>
                </a:moveTo>
                <a:lnTo>
                  <a:pt x="15240" y="15240"/>
                </a:lnTo>
                <a:lnTo>
                  <a:pt x="15240" y="711695"/>
                </a:lnTo>
                <a:lnTo>
                  <a:pt x="1855604" y="711695"/>
                </a:lnTo>
                <a:lnTo>
                  <a:pt x="1855604" y="707885"/>
                </a:lnTo>
                <a:lnTo>
                  <a:pt x="19050" y="707885"/>
                </a:lnTo>
                <a:lnTo>
                  <a:pt x="19050" y="19050"/>
                </a:lnTo>
                <a:lnTo>
                  <a:pt x="1855604" y="19050"/>
                </a:lnTo>
                <a:lnTo>
                  <a:pt x="1855604" y="15240"/>
                </a:lnTo>
                <a:close/>
              </a:path>
              <a:path w="1871345" h="727075">
                <a:moveTo>
                  <a:pt x="1855604" y="19050"/>
                </a:moveTo>
                <a:lnTo>
                  <a:pt x="1851794" y="19050"/>
                </a:lnTo>
                <a:lnTo>
                  <a:pt x="1851794" y="707885"/>
                </a:lnTo>
                <a:lnTo>
                  <a:pt x="1855604" y="707885"/>
                </a:lnTo>
                <a:lnTo>
                  <a:pt x="1855604" y="19050"/>
                </a:lnTo>
                <a:close/>
              </a:path>
            </a:pathLst>
          </a:custGeom>
          <a:solidFill xmlns:a="http://schemas.openxmlformats.org/drawingml/2006/main">
            <a:srgbClr val="B2D234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CF0DAD5B-9700-4A2D-8D7E-5067E247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628" y="4742778"/>
            <a:ext cx="1676400" cy="600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049" algn="ctr">
              <a:buNone/>
            </a:pPr>
            <a:r>
              <a:rPr sz="975">
                <a:solidFill>
                  <a:srgbClr val="B2D234"/>
                </a:solidFill>
                <a:latin typeface="Microsoft YaHei"/>
                <a:ea typeface="Microsoft YaHei"/>
                <a:cs typeface="Microsoft YaHei"/>
              </a:rPr>
              <a:t>联结学派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对大脑进行逆向分析  灵感来自于神经科学和物理学  产生的是“黑箱”模型  神经网络可归置此类</a:t>
            </a: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C524D1D4-11FB-47D8-B89A-6CDC2A8F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3359" y="4262099"/>
            <a:ext cx="2290445" cy="599342"/>
          </a:xfrm>
          <a:custGeom xmlns:a="http://schemas.openxmlformats.org/drawingml/2006/main">
            <a:rect l="l" t="t" r="r" b="b"/>
            <a:pathLst>
              <a:path w="2290445" h="573404">
                <a:moveTo>
                  <a:pt x="2285733" y="0"/>
                </a:moveTo>
                <a:lnTo>
                  <a:pt x="4267" y="0"/>
                </a:lnTo>
                <a:lnTo>
                  <a:pt x="0" y="4267"/>
                </a:lnTo>
                <a:lnTo>
                  <a:pt x="0" y="568794"/>
                </a:lnTo>
                <a:lnTo>
                  <a:pt x="4267" y="573049"/>
                </a:lnTo>
                <a:lnTo>
                  <a:pt x="2285733" y="573049"/>
                </a:lnTo>
                <a:lnTo>
                  <a:pt x="2290000" y="568794"/>
                </a:lnTo>
                <a:lnTo>
                  <a:pt x="2290000" y="561619"/>
                </a:lnTo>
                <a:lnTo>
                  <a:pt x="11429" y="561619"/>
                </a:lnTo>
                <a:lnTo>
                  <a:pt x="11429" y="11430"/>
                </a:lnTo>
                <a:lnTo>
                  <a:pt x="2290000" y="11430"/>
                </a:lnTo>
                <a:lnTo>
                  <a:pt x="2290000" y="4267"/>
                </a:lnTo>
                <a:lnTo>
                  <a:pt x="2285733" y="0"/>
                </a:lnTo>
                <a:close/>
              </a:path>
              <a:path w="2290445" h="573404">
                <a:moveTo>
                  <a:pt x="2290000" y="11430"/>
                </a:moveTo>
                <a:lnTo>
                  <a:pt x="2278570" y="11430"/>
                </a:lnTo>
                <a:lnTo>
                  <a:pt x="2278570" y="561619"/>
                </a:lnTo>
                <a:lnTo>
                  <a:pt x="2290000" y="561619"/>
                </a:lnTo>
                <a:lnTo>
                  <a:pt x="2290000" y="11430"/>
                </a:lnTo>
                <a:close/>
              </a:path>
              <a:path w="2290445" h="573404">
                <a:moveTo>
                  <a:pt x="2274760" y="15239"/>
                </a:moveTo>
                <a:lnTo>
                  <a:pt x="15239" y="15239"/>
                </a:lnTo>
                <a:lnTo>
                  <a:pt x="15239" y="557809"/>
                </a:lnTo>
                <a:lnTo>
                  <a:pt x="2274760" y="557809"/>
                </a:lnTo>
                <a:lnTo>
                  <a:pt x="2274760" y="553999"/>
                </a:lnTo>
                <a:lnTo>
                  <a:pt x="19050" y="553999"/>
                </a:lnTo>
                <a:lnTo>
                  <a:pt x="19050" y="19050"/>
                </a:lnTo>
                <a:lnTo>
                  <a:pt x="2274760" y="19050"/>
                </a:lnTo>
                <a:lnTo>
                  <a:pt x="2274760" y="15239"/>
                </a:lnTo>
                <a:close/>
              </a:path>
              <a:path w="2290445" h="573404">
                <a:moveTo>
                  <a:pt x="2274760" y="19050"/>
                </a:moveTo>
                <a:lnTo>
                  <a:pt x="2270950" y="19050"/>
                </a:lnTo>
                <a:lnTo>
                  <a:pt x="2270950" y="553999"/>
                </a:lnTo>
                <a:lnTo>
                  <a:pt x="2274760" y="553999"/>
                </a:lnTo>
                <a:lnTo>
                  <a:pt x="2274760" y="19050"/>
                </a:lnTo>
                <a:close/>
              </a:path>
            </a:pathLst>
          </a:custGeom>
          <a:solidFill xmlns:a="http://schemas.openxmlformats.org/drawingml/2006/main">
            <a:srgbClr val="65AF4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A5965C31-54C1-44D0-AFF7-FE3B7C0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3198" y="4822626"/>
            <a:ext cx="85725" cy="980123"/>
          </a:xfrm>
          <a:custGeom xmlns:a="http://schemas.openxmlformats.org/drawingml/2006/main">
            <a:rect l="l" t="t" r="r" b="b"/>
            <a:pathLst>
              <a:path w="85725" h="1306829">
                <a:moveTo>
                  <a:pt x="57150" y="1143000"/>
                </a:moveTo>
                <a:lnTo>
                  <a:pt x="28575" y="1143000"/>
                </a:lnTo>
                <a:lnTo>
                  <a:pt x="28575" y="1223923"/>
                </a:lnTo>
                <a:lnTo>
                  <a:pt x="26174" y="1224408"/>
                </a:lnTo>
                <a:lnTo>
                  <a:pt x="15596" y="1230827"/>
                </a:lnTo>
                <a:lnTo>
                  <a:pt x="7319" y="1239937"/>
                </a:lnTo>
                <a:lnTo>
                  <a:pt x="1927" y="1251155"/>
                </a:lnTo>
                <a:lnTo>
                  <a:pt x="0" y="1263901"/>
                </a:lnTo>
                <a:lnTo>
                  <a:pt x="3368" y="1280585"/>
                </a:lnTo>
                <a:lnTo>
                  <a:pt x="12553" y="1294210"/>
                </a:lnTo>
                <a:lnTo>
                  <a:pt x="26178" y="1303395"/>
                </a:lnTo>
                <a:lnTo>
                  <a:pt x="42862" y="1306763"/>
                </a:lnTo>
                <a:lnTo>
                  <a:pt x="59546" y="1303395"/>
                </a:lnTo>
                <a:lnTo>
                  <a:pt x="73171" y="1294210"/>
                </a:lnTo>
                <a:lnTo>
                  <a:pt x="82356" y="1280585"/>
                </a:lnTo>
                <a:lnTo>
                  <a:pt x="85725" y="1263901"/>
                </a:lnTo>
                <a:lnTo>
                  <a:pt x="83797" y="1251155"/>
                </a:lnTo>
                <a:lnTo>
                  <a:pt x="78405" y="1239937"/>
                </a:lnTo>
                <a:lnTo>
                  <a:pt x="70128" y="1230827"/>
                </a:lnTo>
                <a:lnTo>
                  <a:pt x="59550" y="1224408"/>
                </a:lnTo>
                <a:lnTo>
                  <a:pt x="57150" y="1223923"/>
                </a:lnTo>
                <a:lnTo>
                  <a:pt x="57150" y="1143000"/>
                </a:lnTo>
                <a:close/>
              </a:path>
              <a:path w="85725" h="1306829">
                <a:moveTo>
                  <a:pt x="57150" y="1028700"/>
                </a:moveTo>
                <a:lnTo>
                  <a:pt x="28575" y="1028700"/>
                </a:lnTo>
                <a:lnTo>
                  <a:pt x="28575" y="1114425"/>
                </a:lnTo>
                <a:lnTo>
                  <a:pt x="57150" y="1114425"/>
                </a:lnTo>
                <a:lnTo>
                  <a:pt x="57150" y="1028700"/>
                </a:lnTo>
                <a:close/>
              </a:path>
              <a:path w="85725" h="1306829">
                <a:moveTo>
                  <a:pt x="57150" y="914400"/>
                </a:moveTo>
                <a:lnTo>
                  <a:pt x="28575" y="914400"/>
                </a:lnTo>
                <a:lnTo>
                  <a:pt x="28575" y="1000125"/>
                </a:lnTo>
                <a:lnTo>
                  <a:pt x="57150" y="1000125"/>
                </a:lnTo>
                <a:lnTo>
                  <a:pt x="57150" y="914400"/>
                </a:lnTo>
                <a:close/>
              </a:path>
              <a:path w="85725" h="1306829">
                <a:moveTo>
                  <a:pt x="57150" y="800100"/>
                </a:moveTo>
                <a:lnTo>
                  <a:pt x="28575" y="800100"/>
                </a:lnTo>
                <a:lnTo>
                  <a:pt x="28575" y="885825"/>
                </a:lnTo>
                <a:lnTo>
                  <a:pt x="57150" y="885825"/>
                </a:lnTo>
                <a:lnTo>
                  <a:pt x="57150" y="800100"/>
                </a:lnTo>
                <a:close/>
              </a:path>
              <a:path w="85725" h="1306829">
                <a:moveTo>
                  <a:pt x="57150" y="685800"/>
                </a:moveTo>
                <a:lnTo>
                  <a:pt x="28575" y="685800"/>
                </a:lnTo>
                <a:lnTo>
                  <a:pt x="28575" y="771525"/>
                </a:lnTo>
                <a:lnTo>
                  <a:pt x="57150" y="771525"/>
                </a:lnTo>
                <a:lnTo>
                  <a:pt x="57150" y="685800"/>
                </a:lnTo>
                <a:close/>
              </a:path>
              <a:path w="85725" h="1306829">
                <a:moveTo>
                  <a:pt x="57150" y="571500"/>
                </a:moveTo>
                <a:lnTo>
                  <a:pt x="28575" y="571500"/>
                </a:lnTo>
                <a:lnTo>
                  <a:pt x="28575" y="657225"/>
                </a:lnTo>
                <a:lnTo>
                  <a:pt x="57150" y="657225"/>
                </a:lnTo>
                <a:lnTo>
                  <a:pt x="57150" y="571500"/>
                </a:lnTo>
                <a:close/>
              </a:path>
              <a:path w="85725" h="1306829">
                <a:moveTo>
                  <a:pt x="57150" y="457200"/>
                </a:moveTo>
                <a:lnTo>
                  <a:pt x="28575" y="457200"/>
                </a:lnTo>
                <a:lnTo>
                  <a:pt x="28575" y="542925"/>
                </a:lnTo>
                <a:lnTo>
                  <a:pt x="57150" y="542925"/>
                </a:lnTo>
                <a:lnTo>
                  <a:pt x="57150" y="457200"/>
                </a:lnTo>
                <a:close/>
              </a:path>
              <a:path w="85725" h="1306829">
                <a:moveTo>
                  <a:pt x="57150" y="342900"/>
                </a:moveTo>
                <a:lnTo>
                  <a:pt x="28575" y="342900"/>
                </a:lnTo>
                <a:lnTo>
                  <a:pt x="28575" y="428625"/>
                </a:lnTo>
                <a:lnTo>
                  <a:pt x="57150" y="428625"/>
                </a:lnTo>
                <a:lnTo>
                  <a:pt x="57150" y="342900"/>
                </a:lnTo>
                <a:close/>
              </a:path>
              <a:path w="85725" h="1306829">
                <a:moveTo>
                  <a:pt x="57150" y="228600"/>
                </a:moveTo>
                <a:lnTo>
                  <a:pt x="28575" y="228600"/>
                </a:lnTo>
                <a:lnTo>
                  <a:pt x="28575" y="314325"/>
                </a:lnTo>
                <a:lnTo>
                  <a:pt x="57150" y="314325"/>
                </a:lnTo>
                <a:lnTo>
                  <a:pt x="57150" y="228600"/>
                </a:lnTo>
                <a:close/>
              </a:path>
              <a:path w="85725" h="1306829">
                <a:moveTo>
                  <a:pt x="57150" y="114300"/>
                </a:moveTo>
                <a:lnTo>
                  <a:pt x="28575" y="114300"/>
                </a:lnTo>
                <a:lnTo>
                  <a:pt x="28575" y="200025"/>
                </a:lnTo>
                <a:lnTo>
                  <a:pt x="57150" y="200025"/>
                </a:lnTo>
                <a:lnTo>
                  <a:pt x="57150" y="114300"/>
                </a:lnTo>
                <a:close/>
              </a:path>
              <a:path w="85725" h="1306829">
                <a:moveTo>
                  <a:pt x="57150" y="0"/>
                </a:moveTo>
                <a:lnTo>
                  <a:pt x="28575" y="0"/>
                </a:lnTo>
                <a:lnTo>
                  <a:pt x="28575" y="85725"/>
                </a:lnTo>
                <a:lnTo>
                  <a:pt x="57150" y="857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B2D234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433B4D30-10BD-4208-A605-6673E91F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6166" y="4331736"/>
            <a:ext cx="2184400" cy="4501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9525" algn="ctr">
              <a:buNone/>
            </a:pPr>
            <a:r>
              <a:rPr sz="975">
                <a:solidFill>
                  <a:srgbClr val="65AF45"/>
                </a:solidFill>
                <a:latin typeface="Microsoft YaHei"/>
                <a:ea typeface="Microsoft YaHei"/>
                <a:cs typeface="Microsoft YaHei"/>
              </a:rPr>
              <a:t>符号学派</a:t>
            </a:r>
            <a:r>
              <a:rPr sz="975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将学习看作逆向演绎  并从哲学、心理学、逻辑学中寻求洞见  代表包括决策树和基于逻辑的学习</a:t>
            </a:r>
          </a:p>
        </p:txBody>
      </p:sp>
      <p:sp>
        <p:nvSpPr>
          <p:cNvPr id="36" name="标题 35">
            <a:extLst xmlns:a="http://schemas.openxmlformats.org/drawingml/2006/main">
              <a:ext uri="{FF2B5EF4-FFF2-40B4-BE49-F238E27FC236}">
                <a16:creationId xmlns:a16="http://schemas.microsoft.com/office/drawing/2014/main" id="{E475BE99-3EE5-4085-B258-617DD9936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机器学习与深度学习</a:t>
            </a:r>
          </a:p>
        </p:txBody>
      </p:sp>
      <p:pic>
        <p:nvPicPr>
          <p:cNvPr id="7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a5b289abc4f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3211" y="1166233"/>
            <a:ext cx="5010789" cy="227362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A5F6380-1CAB-4F45-9E71-AF2287AC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97" y="1349800"/>
            <a:ext cx="3988355" cy="1647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从以“推理”为重点到以“知识”为重点，再到以“学习”为重点</a:t>
            </a:r>
          </a:p>
          <a:p xmlns:a="http://schemas.openxmlformats.org/drawingml/2006/main">
            <a:pPr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机器可以自动“学习”的算法，即从数据中自动分析获得规律，并利用规律对未知数据进行预测的算法。</a:t>
            </a:r>
          </a:p>
          <a:p xmlns:a="http://schemas.openxmlformats.org/drawingml/2006/main">
            <a:pPr>
              <a:buNone/>
            </a:pPr>
            <a:r>
              <a:rPr sz="1600">
                <a:solidFill>
                  <a:srgbClr val="CC0000"/>
                </a:solidFill>
                <a:latin typeface="Microsoft YaHei"/>
                <a:ea typeface="Microsoft YaHei"/>
                <a:cs typeface="Microsoft YaHei"/>
              </a:rPr>
              <a:t>人工智能 </a:t>
            </a:r>
            <a:r>
              <a:rPr sz="1600">
                <a:solidFill>
                  <a:srgbClr val="CC0000"/>
                </a:solidFill>
                <a:latin typeface="Microsoft YaHei"/>
                <a:ea typeface="Microsoft YaHei"/>
                <a:cs typeface="Microsoft YaHei"/>
              </a:rPr>
              <a:t>&gt; </a:t>
            </a:r>
            <a:r>
              <a:rPr sz="1600">
                <a:solidFill>
                  <a:srgbClr val="CC0000"/>
                </a:solidFill>
                <a:latin typeface="Microsoft YaHei"/>
                <a:ea typeface="Microsoft YaHei"/>
                <a:cs typeface="Microsoft YaHei"/>
              </a:rPr>
              <a:t>机器学习 </a:t>
            </a:r>
            <a:r>
              <a:rPr sz="1600">
                <a:solidFill>
                  <a:srgbClr val="CC0000"/>
                </a:solidFill>
                <a:latin typeface="Microsoft YaHei"/>
                <a:ea typeface="Microsoft YaHei"/>
                <a:cs typeface="Microsoft YaHei"/>
              </a:rPr>
              <a:t>&gt; </a:t>
            </a:r>
            <a:r>
              <a:rPr sz="1600">
                <a:solidFill>
                  <a:srgbClr val="CC0000"/>
                </a:solidFill>
                <a:latin typeface="Microsoft YaHei"/>
                <a:ea typeface="Microsoft YaHei"/>
                <a:cs typeface="Microsoft YaHei"/>
              </a:rPr>
              <a:t>深度学习</a:t>
            </a:r>
          </a:p>
        </p:txBody>
      </p:sp>
    </p:spTree>
    <p:extLst>
      <p:ext uri="{BB962C8B-B14F-4D97-AF65-F5344CB8AC3E}">
        <p14:creationId xmlns:p14="http://schemas.microsoft.com/office/powerpoint/2010/main" val="28459604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159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72BD8FA7-47E9-4324-A2B3-B94F7042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2738" y="3341131"/>
            <a:ext cx="1652507" cy="128350"/>
          </a:xfrm>
          <a:custGeom xmlns:a="http://schemas.openxmlformats.org/drawingml/2006/main">
            <a:rect l="T15" t="T16" r="T17" b="T18"/>
            <a:pathLst>
              <a:path w="1307927" h="101600">
                <a:moveTo>
                  <a:pt x="0" y="0"/>
                </a:moveTo>
                <a:lnTo>
                  <a:pt x="1223454" y="0"/>
                </a:lnTo>
                <a:lnTo>
                  <a:pt x="1307927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AA5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9160" name="任意多边形 126">
            <a:extLst xmlns:a="http://schemas.openxmlformats.org/drawingml/2006/main">
              <a:ext uri="{FF2B5EF4-FFF2-40B4-BE49-F238E27FC236}">
                <a16:creationId xmlns:a16="http://schemas.microsoft.com/office/drawing/2014/main" id="{12EE4F82-3949-40EB-A388-54257A03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4882" y="3341131"/>
            <a:ext cx="3653174" cy="128350"/>
          </a:xfrm>
          <a:custGeom xmlns:a="http://schemas.openxmlformats.org/drawingml/2006/main">
            <a:rect l="T15" t="T16" r="T17" b="T18"/>
            <a:pathLst>
              <a:path w="2891416" h="101600">
                <a:moveTo>
                  <a:pt x="0" y="0"/>
                </a:moveTo>
                <a:lnTo>
                  <a:pt x="2891416" y="0"/>
                </a:lnTo>
                <a:lnTo>
                  <a:pt x="2891416" y="101600"/>
                </a:lnTo>
                <a:lnTo>
                  <a:pt x="84473" y="101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76A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9161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5D3571C2-F43C-46CE-945C-14CDB14E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6951" y="2733676"/>
            <a:ext cx="3245510" cy="553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3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人工智能</a:t>
            </a:r>
            <a:r>
              <a:rPr sz="3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2.0</a:t>
            </a:r>
          </a:p>
        </p:txBody>
      </p:sp>
      <p:sp>
        <p:nvSpPr>
          <p:cNvPr id="49162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79550784-D62F-41B5-9CBC-1EC4493D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5944" y="2746867"/>
            <a:ext cx="1679301" cy="600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3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3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二</a:t>
            </a:r>
            <a:r>
              <a:rPr sz="3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节</a:t>
            </a:r>
          </a:p>
        </p:txBody>
      </p:sp>
    </p:spTree>
    <p:extLst>
      <p:ext uri="{BB962C8B-B14F-4D97-AF65-F5344CB8AC3E}">
        <p14:creationId xmlns:p14="http://schemas.microsoft.com/office/powerpoint/2010/main" val="261052840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0756ecf484a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065" y="1577341"/>
            <a:ext cx="5201841" cy="4299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EE72C05-E74E-4E54-97B2-F99AD8F6B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Q1</a:t>
            </a:r>
            <a:r>
              <a:t>：什么领域</a:t>
            </a:r>
            <a:r>
              <a:t>AI</a:t>
            </a:r>
            <a:r>
              <a:t>能够超过人？</a:t>
            </a:r>
          </a:p>
        </p:txBody>
      </p:sp>
      <p:sp>
        <p:nvSpPr>
          <p:cNvPr id="6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DDC8A44-3396-466C-87FA-E00119C0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0" y="1630323"/>
            <a:ext cx="3940497" cy="4193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725">
                <a:latin typeface="Microsoft YaHei"/>
                <a:ea typeface="Microsoft YaHei"/>
                <a:cs typeface="Microsoft YaHei"/>
              </a:rPr>
              <a:t>（完全信息博弈）充分的数据：需要有超级大的数据量，它不能举一反三，它要举多反三</a:t>
            </a:r>
          </a:p>
          <a:p xmlns:a="http://schemas.openxmlformats.org/drawingml/2006/main">
            <a:pPr>
              <a:buNone/>
            </a:pPr>
            <a:r>
              <a:rPr sz="1725">
                <a:latin typeface="Microsoft YaHei"/>
                <a:ea typeface="Microsoft YaHei"/>
                <a:cs typeface="Microsoft YaHei"/>
              </a:rPr>
              <a:t>（完全信息博弈）信息具有确定性：数据是要有标注的，不是到网上弄一堆数据</a:t>
            </a:r>
          </a:p>
          <a:p xmlns:a="http://schemas.openxmlformats.org/drawingml/2006/main">
            <a:pPr>
              <a:buNone/>
            </a:pPr>
            <a:r>
              <a:rPr sz="1725">
                <a:latin typeface="Microsoft YaHei"/>
                <a:ea typeface="Microsoft YaHei"/>
                <a:cs typeface="Microsoft YaHei"/>
              </a:rPr>
              <a:t>（完全信息博弈）完全信息：应用一定是单一领域，这个领域越垂直、越细越好。一个人工智能客服的应用不可以用来做导游，应用单一、一定要非常清晰不跨领域</a:t>
            </a:r>
          </a:p>
          <a:p xmlns:a="http://schemas.openxmlformats.org/drawingml/2006/main">
            <a:pPr>
              <a:buNone/>
            </a:pPr>
            <a:r>
              <a:rPr sz="1725">
                <a:latin typeface="Microsoft YaHei"/>
                <a:ea typeface="Microsoft YaHei"/>
                <a:cs typeface="Microsoft YaHei"/>
              </a:rPr>
              <a:t>有懂行的专家去选择有效的神经网络模型，调整各种网络参数</a:t>
            </a:r>
          </a:p>
          <a:p xmlns:a="http://schemas.openxmlformats.org/drawingml/2006/main">
            <a:pPr>
              <a:buNone/>
            </a:pPr>
            <a:r>
              <a:rPr sz="1725">
                <a:latin typeface="Microsoft YaHei"/>
                <a:ea typeface="Microsoft YaHei"/>
                <a:cs typeface="Microsoft YaHei"/>
              </a:rPr>
              <a:t>需要超大计算量，机器容易甩开人类</a:t>
            </a:r>
          </a:p>
        </p:txBody>
      </p:sp>
    </p:spTree>
    <p:extLst>
      <p:ext uri="{BB962C8B-B14F-4D97-AF65-F5344CB8AC3E}">
        <p14:creationId xmlns:p14="http://schemas.microsoft.com/office/powerpoint/2010/main" val="3081000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E47F0A-CBEF-4E05-B71B-6739DBE38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一只乌鸦的启示</a:t>
            </a:r>
          </a:p>
        </p:txBody>
      </p:sp>
      <p:pic>
        <p:nvPicPr>
          <p:cNvPr id="1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c9f82ad1247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3653" y="2015728"/>
            <a:ext cx="3110347" cy="1699414"/>
          </a:xfrm>
          <a:prstGeom xmlns:a="http://schemas.openxmlformats.org/drawingml/2006/main" prst="rect">
            <a:avLst/>
          </a:prstGeom>
        </p:spPr>
      </p:pic>
      <p:sp>
        <p:nvSpPr>
          <p:cNvPr id="4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1A30D6B-EE56-46FB-8788-F0150675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84" y="2015728"/>
            <a:ext cx="5930206" cy="22128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latin typeface="Microsoft YaHei"/>
                <a:ea typeface="Microsoft YaHei"/>
                <a:cs typeface="Microsoft YaHei"/>
              </a:rPr>
              <a:t>图</a:t>
            </a:r>
            <a:r>
              <a:rPr sz="1800">
                <a:latin typeface="Microsoft YaHei"/>
                <a:ea typeface="Microsoft YaHei"/>
                <a:cs typeface="Microsoft YaHei"/>
              </a:rPr>
              <a:t>b</a:t>
            </a:r>
            <a:r>
              <a:rPr sz="1800">
                <a:latin typeface="Microsoft YaHei"/>
                <a:ea typeface="Microsoft YaHei"/>
                <a:cs typeface="Microsoft YaHei"/>
              </a:rPr>
              <a:t>：找到了坚果，砸不开。它就发现一个诀窍，把果子放到路上让车轧过去</a:t>
            </a:r>
          </a:p>
          <a:p xmlns:a="http://schemas.openxmlformats.org/drawingml/2006/main">
            <a:r>
              <a:rPr sz="1800">
                <a:latin typeface="Microsoft YaHei"/>
                <a:ea typeface="Microsoft YaHei"/>
                <a:cs typeface="Microsoft YaHei"/>
              </a:rPr>
              <a:t>图</a:t>
            </a:r>
            <a:r>
              <a:rPr sz="1800">
                <a:latin typeface="Microsoft YaHei"/>
                <a:ea typeface="Microsoft YaHei"/>
                <a:cs typeface="Microsoft YaHei"/>
              </a:rPr>
              <a:t>c</a:t>
            </a:r>
            <a:r>
              <a:rPr sz="1800">
                <a:latin typeface="Microsoft YaHei"/>
                <a:ea typeface="Microsoft YaHei"/>
                <a:cs typeface="Microsoft YaHei"/>
              </a:rPr>
              <a:t>：靠近红绿路灯的路口，车子和人有时候停下了</a:t>
            </a:r>
          </a:p>
          <a:p xmlns:a="http://schemas.openxmlformats.org/drawingml/2006/main">
            <a:r>
              <a:rPr sz="1800">
                <a:latin typeface="Microsoft YaHei"/>
                <a:ea typeface="Microsoft YaHei"/>
                <a:cs typeface="Microsoft YaHei"/>
              </a:rPr>
              <a:t>图</a:t>
            </a:r>
            <a:r>
              <a:rPr sz="1800">
                <a:latin typeface="Microsoft YaHei"/>
                <a:ea typeface="Microsoft YaHei"/>
                <a:cs typeface="Microsoft YaHei"/>
              </a:rPr>
              <a:t>d</a:t>
            </a:r>
            <a:r>
              <a:rPr sz="1800">
                <a:latin typeface="Microsoft YaHei"/>
                <a:ea typeface="Microsoft YaHei"/>
                <a:cs typeface="Microsoft YaHei"/>
              </a:rPr>
              <a:t>：选择了一根正好在斑马线上方的一根电线蹲下来</a:t>
            </a:r>
          </a:p>
          <a:p xmlns:a="http://schemas.openxmlformats.org/drawingml/2006/main">
            <a:r>
              <a:rPr sz="1800">
                <a:latin typeface="Microsoft YaHei"/>
                <a:ea typeface="Microsoft YaHei"/>
                <a:cs typeface="Microsoft YaHei"/>
              </a:rPr>
              <a:t>图</a:t>
            </a:r>
            <a:r>
              <a:rPr sz="1800">
                <a:latin typeface="Microsoft YaHei"/>
                <a:ea typeface="Microsoft YaHei"/>
                <a:cs typeface="Microsoft YaHei"/>
              </a:rPr>
              <a:t>e</a:t>
            </a:r>
            <a:r>
              <a:rPr sz="1800">
                <a:latin typeface="Microsoft YaHei"/>
                <a:ea typeface="Microsoft YaHei"/>
                <a:cs typeface="Microsoft YaHei"/>
              </a:rPr>
              <a:t>：把坚果抛到斑马线上，等车子轧过去，然后等到行人灯亮了</a:t>
            </a:r>
          </a:p>
        </p:txBody>
      </p:sp>
      <p:sp>
        <p:nvSpPr>
          <p:cNvPr id="5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3AD3C694-E654-4A33-9959-4ED194E6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12" y="1620441"/>
            <a:ext cx="3449240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日本新喀乌鸦</a:t>
            </a:r>
          </a:p>
        </p:txBody>
      </p:sp>
      <p:sp>
        <p:nvSpPr>
          <p:cNvPr id="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0463DEA-1C02-4B2F-8EFF-DAF0F6C7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25" y="4812848"/>
            <a:ext cx="8121253" cy="1424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感知、认知、推理、学习、和执行</a:t>
            </a:r>
            <a:r>
              <a:rPr sz="1800">
                <a:latin typeface="Microsoft YaHei"/>
                <a:ea typeface="Microsoft YaHei"/>
                <a:cs typeface="Microsoft YaHei"/>
              </a:rPr>
              <a:t>。远远超过任何机器人，乌鸦向我们证明了，这个解存在</a:t>
            </a:r>
          </a:p>
          <a:p xmlns:a="http://schemas.openxmlformats.org/drawingml/2006/main">
            <a:pPr>
              <a:buNone/>
            </a:pPr>
            <a:r>
              <a:rPr sz="18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无大数据学习</a:t>
            </a:r>
            <a:r>
              <a:rPr sz="1800">
                <a:latin typeface="Microsoft YaHei"/>
                <a:ea typeface="Microsoft YaHei"/>
                <a:cs typeface="Microsoft YaHei"/>
              </a:rPr>
              <a:t>，无人工标注好的训练数据，没人教它</a:t>
            </a:r>
          </a:p>
          <a:p xmlns:a="http://schemas.openxmlformats.org/drawingml/2006/main">
            <a:pPr>
              <a:buNone/>
            </a:pPr>
            <a:r>
              <a:rPr sz="1800">
                <a:latin typeface="Microsoft YaHei"/>
                <a:ea typeface="Microsoft YaHei"/>
                <a:cs typeface="Microsoft YaHei"/>
              </a:rPr>
              <a:t>乌鸦头不到人脑的</a:t>
            </a:r>
            <a:r>
              <a:rPr sz="1800">
                <a:latin typeface="Microsoft YaHei"/>
                <a:ea typeface="Microsoft YaHei"/>
                <a:cs typeface="Microsoft YaHei"/>
              </a:rPr>
              <a:t>1%</a:t>
            </a:r>
            <a:r>
              <a:rPr sz="1800">
                <a:latin typeface="Microsoft YaHei"/>
                <a:ea typeface="Microsoft YaHei"/>
                <a:cs typeface="Microsoft YaHei"/>
              </a:rPr>
              <a:t>大小。人脑功耗大约是</a:t>
            </a:r>
            <a:r>
              <a:rPr sz="1800">
                <a:latin typeface="Microsoft YaHei"/>
                <a:ea typeface="Microsoft YaHei"/>
                <a:cs typeface="Microsoft YaHei"/>
              </a:rPr>
              <a:t>10-25</a:t>
            </a:r>
            <a:r>
              <a:rPr sz="1800">
                <a:latin typeface="Microsoft YaHei"/>
                <a:ea typeface="Microsoft YaHei"/>
                <a:cs typeface="Microsoft YaHei"/>
              </a:rPr>
              <a:t>瓦，</a:t>
            </a:r>
            <a:r>
              <a:rPr sz="18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它就只有</a:t>
            </a:r>
            <a:r>
              <a:rPr sz="18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0.1-0.2</a:t>
            </a:r>
            <a:r>
              <a:rPr sz="18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瓦</a:t>
            </a:r>
          </a:p>
        </p:txBody>
      </p:sp>
      <p:sp>
        <p:nvSpPr>
          <p:cNvPr id="9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AE654A9B-22E4-480F-94F6-66AFFA6C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83" y="4408035"/>
            <a:ext cx="3449241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启示：</a:t>
            </a:r>
            <a:r>
              <a:rPr sz="1800">
                <a:latin typeface="Microsoft YaHei"/>
                <a:ea typeface="Microsoft YaHei"/>
                <a:cs typeface="Microsoft YaHei"/>
              </a:rPr>
              <a:t>一个完全自主的智能</a:t>
            </a:r>
          </a:p>
        </p:txBody>
      </p:sp>
    </p:spTree>
    <p:extLst>
      <p:ext uri="{BB962C8B-B14F-4D97-AF65-F5344CB8AC3E}">
        <p14:creationId xmlns:p14="http://schemas.microsoft.com/office/powerpoint/2010/main" val="202444245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68" name="AutoShape 156">
            <a:extLst xmlns:a="http://schemas.openxmlformats.org/drawingml/2006/main">
              <a:ext uri="{FF2B5EF4-FFF2-40B4-BE49-F238E27FC236}">
                <a16:creationId xmlns:a16="http://schemas.microsoft.com/office/drawing/2014/main" id="{5EB03118-38AC-4197-9D06-E16256A2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7" y="4254550"/>
            <a:ext cx="1745303" cy="453629"/>
          </a:xfrm>
          <a:prstGeom xmlns:a="http://schemas.openxmlformats.org/drawingml/2006/main" prst="accentCallout2">
            <a:avLst>
              <a:gd name="adj1" fmla="val 18898"/>
              <a:gd name="adj2" fmla="val 104676"/>
              <a:gd name="adj3" fmla="val 18898"/>
              <a:gd name="adj4" fmla="val 104676"/>
              <a:gd name="adj5" fmla="val -4218"/>
              <a:gd name="adj6" fmla="val 12249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  <a:tailEnd type="diamond" w="med" len="med"/>
          </a:ln>
        </p:spPr>
        <p:txBody>
          <a:bodyPr xmlns:a="http://schemas.openxmlformats.org/drawingml/2006/main" lIns="91438" tIns="45719" rIns="91438" b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1E94D8"/>
                </a:solidFill>
                <a:latin typeface="Microsoft YaHei"/>
                <a:ea typeface="Microsoft YaHei"/>
                <a:cs typeface="Microsoft YaHei"/>
              </a:rPr>
              <a:t>应用场景相对封闭可控</a:t>
            </a:r>
          </a:p>
        </p:txBody>
      </p:sp>
      <p:sp>
        <p:nvSpPr>
          <p:cNvPr id="39067" name="AutoShape 155">
            <a:extLst xmlns:a="http://schemas.openxmlformats.org/drawingml/2006/main">
              <a:ext uri="{FF2B5EF4-FFF2-40B4-BE49-F238E27FC236}">
                <a16:creationId xmlns:a16="http://schemas.microsoft.com/office/drawing/2014/main" id="{71B3A4CF-036D-4B3B-BAB8-509CFA25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19" y="2439022"/>
            <a:ext cx="2009231" cy="379809"/>
          </a:xfrm>
          <a:prstGeom xmlns:a="http://schemas.openxmlformats.org/drawingml/2006/main" prst="accentCallout2">
            <a:avLst>
              <a:gd name="adj1" fmla="val 22569"/>
              <a:gd name="adj2" fmla="val 105046"/>
              <a:gd name="adj3" fmla="val 22569"/>
              <a:gd name="adj4" fmla="val 127236"/>
              <a:gd name="adj5" fmla="val 74921"/>
              <a:gd name="adj6" fmla="val 152326"/>
            </a:avLst>
          </a:prstGeom>
          <a:noFill xmlns:a="http://schemas.openxmlformats.org/drawingml/2006/main"/>
          <a:ln xmlns:a="http://schemas.openxmlformats.org/drawingml/2006/main" w="9525">
            <a:solidFill>
              <a:schemeClr val="folHlink"/>
            </a:solidFill>
            <a:tailEnd type="diamond" w="med" len="med"/>
          </a:ln>
        </p:spPr>
        <p:txBody>
          <a:bodyPr xmlns:a="http://schemas.openxmlformats.org/drawingml/2006/main" lIns="91438" tIns="45719" rIns="91438" b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1E94D8"/>
                </a:solidFill>
                <a:latin typeface="Microsoft YaHei"/>
                <a:ea typeface="Microsoft YaHei"/>
                <a:cs typeface="Microsoft YaHei"/>
              </a:rPr>
              <a:t>数据比较便宜，且容易获取</a:t>
            </a:r>
          </a:p>
        </p:txBody>
      </p:sp>
      <p:sp>
        <p:nvSpPr>
          <p:cNvPr id="39069" name="AutoShape 157">
            <a:extLst xmlns:a="http://schemas.openxmlformats.org/drawingml/2006/main">
              <a:ext uri="{FF2B5EF4-FFF2-40B4-BE49-F238E27FC236}">
                <a16:creationId xmlns:a16="http://schemas.microsoft.com/office/drawing/2014/main" id="{F10BCEED-363D-425B-ACF6-E13950BA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665" y="1844825"/>
            <a:ext cx="2524248" cy="760113"/>
          </a:xfrm>
          <a:prstGeom xmlns:a="http://schemas.openxmlformats.org/drawingml/2006/main" prst="accentCallout2">
            <a:avLst>
              <a:gd name="adj1" fmla="val 19944"/>
              <a:gd name="adj2" fmla="val -4620"/>
              <a:gd name="adj3" fmla="val 19944"/>
              <a:gd name="adj4" fmla="val -18933"/>
              <a:gd name="adj5" fmla="val 74905"/>
              <a:gd name="adj6" fmla="val -25303"/>
            </a:avLst>
          </a:prstGeom>
          <a:noFill xmlns:a="http://schemas.openxmlformats.org/drawingml/2006/main"/>
          <a:ln xmlns:a="http://schemas.openxmlformats.org/drawingml/2006/main" w="9525">
            <a:solidFill>
              <a:schemeClr val="hlink"/>
            </a:solidFill>
            <a:tailEnd type="diamond" w="med" len="med"/>
          </a:ln>
        </p:spPr>
        <p:txBody>
          <a:bodyPr xmlns:a="http://schemas.openxmlformats.org/drawingml/2006/main" lIns="91438" tIns="45719" rIns="91438" b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1E94D8"/>
                </a:solidFill>
                <a:latin typeface="Microsoft YaHei"/>
                <a:ea typeface="Microsoft YaHei"/>
                <a:cs typeface="Microsoft YaHei"/>
              </a:rPr>
              <a:t>犯错误的影响不太大的场景</a:t>
            </a:r>
          </a:p>
        </p:txBody>
      </p:sp>
      <p:sp>
        <p:nvSpPr>
          <p:cNvPr id="39070" name="AutoShape 158">
            <a:extLst xmlns:a="http://schemas.openxmlformats.org/drawingml/2006/main">
              <a:ext uri="{FF2B5EF4-FFF2-40B4-BE49-F238E27FC236}">
                <a16:creationId xmlns:a16="http://schemas.microsoft.com/office/drawing/2014/main" id="{9B9D55D1-7399-4483-B21A-B4F1FD85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923" y="3597152"/>
            <a:ext cx="1976045" cy="267891"/>
          </a:xfrm>
          <a:prstGeom xmlns:a="http://schemas.openxmlformats.org/drawingml/2006/main" prst="accentCallout2">
            <a:avLst>
              <a:gd name="adj1" fmla="val 32000"/>
              <a:gd name="adj2" fmla="val -4463"/>
              <a:gd name="adj3" fmla="val 32000"/>
              <a:gd name="adj4" fmla="val -12639"/>
              <a:gd name="adj5" fmla="val -18607"/>
              <a:gd name="adj6" fmla="val -17961"/>
            </a:avLst>
          </a:prstGeom>
          <a:noFill xmlns:a="http://schemas.openxmlformats.org/drawingml/2006/main"/>
          <a:ln xmlns:a="http://schemas.openxmlformats.org/drawingml/2006/main" w="9525">
            <a:solidFill>
              <a:schemeClr val="accent2"/>
            </a:solidFill>
            <a:tailEnd type="diamond" w="med" len="med"/>
          </a:ln>
        </p:spPr>
        <p:txBody>
          <a:bodyPr xmlns:a="http://schemas.openxmlformats.org/drawingml/2006/main" lIns="91438" tIns="45719" rIns="91438" b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1E94D8"/>
                </a:solidFill>
                <a:latin typeface="Microsoft YaHei"/>
                <a:ea typeface="Microsoft YaHei"/>
                <a:cs typeface="Microsoft YaHei"/>
              </a:rPr>
              <a:t>辅助人类完成重复性的具体工作，真正能够提高社会生产力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15366" name="Oval 4">
            <a:extLst xmlns:a="http://schemas.openxmlformats.org/drawingml/2006/main">
              <a:ext uri="{FF2B5EF4-FFF2-40B4-BE49-F238E27FC236}">
                <a16:creationId xmlns:a16="http://schemas.microsoft.com/office/drawing/2014/main" id="{DE49C881-571C-4667-915A-2E18061B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811588" y="3086101"/>
            <a:ext cx="1325562" cy="993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195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91438" tIns="45719" rIns="91438" bIns="45719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367" name="Line 5">
            <a:extLst xmlns:a="http://schemas.openxmlformats.org/drawingml/2006/main">
              <a:ext uri="{FF2B5EF4-FFF2-40B4-BE49-F238E27FC236}">
                <a16:creationId xmlns:a16="http://schemas.microsoft.com/office/drawing/2014/main" id="{24D83101-DA4B-451F-9C07-46E75DEF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38663" y="3671888"/>
            <a:ext cx="122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txBody>
          <a:bodyPr xmlns:a="http://schemas.openxmlformats.org/drawingml/2006/main" wrap="none" lIns="91438" tIns="45719" rIns="91438" bIns="45719" anchor="ctr"/>
          <a:lstStyle xmlns:a="http://schemas.openxmlformats.org/drawingml/2006/main"/>
          <a:p xmlns:a="http://schemas.openxmlformats.org/drawingml/2006/main"/>
        </p:txBody>
      </p:sp>
      <p:sp>
        <p:nvSpPr>
          <p:cNvPr id="15368" name="Line 6">
            <a:extLst xmlns:a="http://schemas.openxmlformats.org/drawingml/2006/main">
              <a:ext uri="{FF2B5EF4-FFF2-40B4-BE49-F238E27FC236}">
                <a16:creationId xmlns:a16="http://schemas.microsoft.com/office/drawing/2014/main" id="{C1F7D975-5248-4909-B009-8A632C8A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351339" y="2924176"/>
            <a:ext cx="749300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txBody>
          <a:bodyPr xmlns:a="http://schemas.openxmlformats.org/drawingml/2006/main" wrap="none" lIns="91438" tIns="45719" rIns="91438" bIns="45719" anchor="ctr"/>
          <a:lstStyle xmlns:a="http://schemas.openxmlformats.org/drawingml/2006/main"/>
          <a:p xmlns:a="http://schemas.openxmlformats.org/drawingml/2006/main"/>
        </p:txBody>
      </p:sp>
      <p:sp>
        <p:nvSpPr>
          <p:cNvPr id="15369" name="Line 7">
            <a:extLst xmlns:a="http://schemas.openxmlformats.org/drawingml/2006/main">
              <a:ext uri="{FF2B5EF4-FFF2-40B4-BE49-F238E27FC236}">
                <a16:creationId xmlns:a16="http://schemas.microsoft.com/office/drawing/2014/main" id="{13995ECC-ACCB-4CEF-87F3-0C447305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864" y="3871914"/>
            <a:ext cx="730250" cy="7000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txBody>
          <a:bodyPr xmlns:a="http://schemas.openxmlformats.org/drawingml/2006/main" wrap="none" lIns="91438" tIns="45719" rIns="91438" bIns="45719" anchor="ctr"/>
          <a:lstStyle xmlns:a="http://schemas.openxmlformats.org/drawingml/2006/main"/>
          <a:p xmlns:a="http://schemas.openxmlformats.org/drawingml/2006/main"/>
        </p:txBody>
      </p:sp>
      <p:sp>
        <p:nvSpPr>
          <p:cNvPr id="15370" name="Line 8">
            <a:extLst xmlns:a="http://schemas.openxmlformats.org/drawingml/2006/main">
              <a:ext uri="{FF2B5EF4-FFF2-40B4-BE49-F238E27FC236}">
                <a16:creationId xmlns:a16="http://schemas.microsoft.com/office/drawing/2014/main" id="{968A696E-B735-4E81-86AA-1E1D7B61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487738" y="3813176"/>
            <a:ext cx="552450" cy="28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txBody>
          <a:bodyPr xmlns:a="http://schemas.openxmlformats.org/drawingml/2006/main" wrap="none" lIns="91438" tIns="45719" rIns="91438" bIns="45719" anchor="ctr"/>
          <a:lstStyle xmlns:a="http://schemas.openxmlformats.org/drawingml/2006/main"/>
          <a:p xmlns:a="http://schemas.openxmlformats.org/drawingml/2006/main"/>
        </p:txBody>
      </p:sp>
      <p:sp>
        <p:nvSpPr>
          <p:cNvPr id="15371" name="Line 9">
            <a:extLst xmlns:a="http://schemas.openxmlformats.org/drawingml/2006/main">
              <a:ext uri="{FF2B5EF4-FFF2-40B4-BE49-F238E27FC236}">
                <a16:creationId xmlns:a16="http://schemas.microsoft.com/office/drawing/2014/main" id="{ED17C07C-49A2-44B2-87FA-BFF7FDE1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03626" y="3017838"/>
            <a:ext cx="436563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txBody>
          <a:bodyPr xmlns:a="http://schemas.openxmlformats.org/drawingml/2006/main" wrap="none" lIns="91438" tIns="45719" rIns="91438" bIns="45719" anchor="ctr"/>
          <a:lstStyle xmlns:a="http://schemas.openxmlformats.org/drawingml/2006/main"/>
          <a:p xmlns:a="http://schemas.openxmlformats.org/drawingml/2006/main"/>
        </p:txBody>
      </p:sp>
      <p:sp>
        <p:nvSpPr>
          <p:cNvPr id="15509" name="Oval 11">
            <a:extLst xmlns:a="http://schemas.openxmlformats.org/drawingml/2006/main">
              <a:ext uri="{FF2B5EF4-FFF2-40B4-BE49-F238E27FC236}">
                <a16:creationId xmlns:a16="http://schemas.microsoft.com/office/drawing/2014/main" id="{9D2B6BE1-206C-459B-8224-B2F0AA90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449422" y="2316163"/>
            <a:ext cx="937376" cy="7080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EA">
              <a:alpha val="50195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3909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920bab4974d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478414" y="2339445"/>
            <a:ext cx="877157" cy="664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24" name="Oval 14">
            <a:extLst xmlns:a="http://schemas.openxmlformats.org/drawingml/2006/main">
              <a:ext uri="{FF2B5EF4-FFF2-40B4-BE49-F238E27FC236}">
                <a16:creationId xmlns:a16="http://schemas.microsoft.com/office/drawing/2014/main" id="{413B5AF7-E196-4FBF-A786-75DAF44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478414" y="2339445"/>
            <a:ext cx="882847" cy="66622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hlink">
              <a:alpha val="50195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39100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e07804493450a"/>
          <a:srcRect xmlns:a="http://schemas.openxmlformats.org/drawingml/2006/main" l="0" t="14285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486949" y="2367175"/>
            <a:ext cx="646725" cy="4159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33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405D642-A00D-4B51-A3AF-29F4B176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3834822" y="1713284"/>
            <a:ext cx="131362" cy="309646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34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3B8CB208-EA05-42A1-A16D-BDECBB0D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3913524" y="1713284"/>
            <a:ext cx="131362" cy="309646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35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7E6D7889-51BB-4FCC-83E7-B3F5A87D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3957505" y="1704936"/>
            <a:ext cx="131362" cy="309646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36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6CC82738-BE45-41B5-BA19-9B8B6216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4009587" y="1693551"/>
            <a:ext cx="131362" cy="309646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29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E89DF4CD-2DBF-407C-8114-787B3667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3965436" y="1680005"/>
            <a:ext cx="131362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30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598EB7D4-7A2F-4869-87C4-A39AA0A3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4044138" y="1680005"/>
            <a:ext cx="131362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31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265F1F7E-E554-4EFA-8C10-DCA8F3A0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4088119" y="1671612"/>
            <a:ext cx="131362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32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F15036AA-8C75-4F97-A507-B6E58108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4140201" y="1660166"/>
            <a:ext cx="131362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1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5E53E8E9-4A09-488D-A725-C3CEFA70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3193093" y="1834198"/>
            <a:ext cx="115586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2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C80E1C00-12FC-483C-8D43-263D2DB9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3262343" y="1834198"/>
            <a:ext cx="115586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2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A7ED1930-0CC0-43F6-8902-EEA25BA3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3301042" y="1826805"/>
            <a:ext cx="115586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2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A6C0D89F-D49E-4E72-87C0-B1714F7B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3346870" y="1816724"/>
            <a:ext cx="115586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15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05D99993-05AB-4DA0-8ED7-F436609D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3308021" y="1804728"/>
            <a:ext cx="115586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16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48E2B001-04D7-488A-844D-63D808F4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3377271" y="1804728"/>
            <a:ext cx="115586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17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2E3231E6-35AC-4ABA-AD9B-A94F3C4E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3415970" y="1797295"/>
            <a:ext cx="115586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18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E3ACA639-3006-4E9F-852E-EC8FC09F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3461798" y="1787159"/>
            <a:ext cx="115586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12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4BAD823-006B-4E36-B6DC-DA90049A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625992" y="2490506"/>
            <a:ext cx="588132" cy="335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5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容错</a:t>
            </a:r>
          </a:p>
        </p:txBody>
      </p:sp>
      <p:sp>
        <p:nvSpPr>
          <p:cNvPr id="15481" name="Oval 40">
            <a:extLst xmlns:a="http://schemas.openxmlformats.org/drawingml/2006/main">
              <a:ext uri="{FF2B5EF4-FFF2-40B4-BE49-F238E27FC236}">
                <a16:creationId xmlns:a16="http://schemas.microsoft.com/office/drawing/2014/main" id="{AF1B555B-8CBF-4334-A6C2-F9A0A4BC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355584" y="3244851"/>
            <a:ext cx="938212" cy="708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EA">
              <a:alpha val="50195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39119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7912816f941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329117" y="3268510"/>
            <a:ext cx="877346" cy="6654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496" name="Oval 43">
            <a:extLst xmlns:a="http://schemas.openxmlformats.org/drawingml/2006/main">
              <a:ext uri="{FF2B5EF4-FFF2-40B4-BE49-F238E27FC236}">
                <a16:creationId xmlns:a16="http://schemas.microsoft.com/office/drawing/2014/main" id="{487DDE52-AD2B-4A66-9BC2-0E062AA4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327220" y="3267799"/>
            <a:ext cx="883037" cy="666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195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39121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b05c458494eb4"/>
          <a:srcRect xmlns:a="http://schemas.openxmlformats.org/drawingml/2006/main" l="0" t="14285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320581" y="3296269"/>
            <a:ext cx="646864" cy="4163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05" name="AutoShape 47">
            <a:extLst xmlns:a="http://schemas.openxmlformats.org/drawingml/2006/main">
              <a:ext uri="{FF2B5EF4-FFF2-40B4-BE49-F238E27FC236}">
                <a16:creationId xmlns:a16="http://schemas.microsoft.com/office/drawing/2014/main" id="{A64DD275-ECBE-42CD-ABFF-9B2A0902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4643281" y="2641697"/>
            <a:ext cx="131390" cy="309968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06" name="AutoShape 48">
            <a:extLst xmlns:a="http://schemas.openxmlformats.org/drawingml/2006/main">
              <a:ext uri="{FF2B5EF4-FFF2-40B4-BE49-F238E27FC236}">
                <a16:creationId xmlns:a16="http://schemas.microsoft.com/office/drawing/2014/main" id="{E9BD42C0-07E9-47E5-ACA9-B8C01B66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4721999" y="2641697"/>
            <a:ext cx="131390" cy="309968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07" name="AutoShape 49">
            <a:extLst xmlns:a="http://schemas.openxmlformats.org/drawingml/2006/main">
              <a:ext uri="{FF2B5EF4-FFF2-40B4-BE49-F238E27FC236}">
                <a16:creationId xmlns:a16="http://schemas.microsoft.com/office/drawing/2014/main" id="{1DB39EF6-4A27-4F78-8F73-098EC487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4765989" y="2633340"/>
            <a:ext cx="131390" cy="309968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08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7973B64C-4297-4299-A650-8549152F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4818082" y="2621944"/>
            <a:ext cx="131390" cy="309968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01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3CE00303-4BFA-44D4-AB61-BCC86D45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4773923" y="2608384"/>
            <a:ext cx="131390" cy="31164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02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A053D677-9C22-4A6F-A391-B8FE9EA8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4852641" y="2608384"/>
            <a:ext cx="131390" cy="31164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03" name="AutoShape 54">
            <a:extLst xmlns:a="http://schemas.openxmlformats.org/drawingml/2006/main">
              <a:ext uri="{FF2B5EF4-FFF2-40B4-BE49-F238E27FC236}">
                <a16:creationId xmlns:a16="http://schemas.microsoft.com/office/drawing/2014/main" id="{38D3D8A4-AA29-4F2F-B5FD-E11C86DD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4896631" y="2599982"/>
            <a:ext cx="131390" cy="31164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504" name="AutoShape 55">
            <a:extLst xmlns:a="http://schemas.openxmlformats.org/drawingml/2006/main">
              <a:ext uri="{FF2B5EF4-FFF2-40B4-BE49-F238E27FC236}">
                <a16:creationId xmlns:a16="http://schemas.microsoft.com/office/drawing/2014/main" id="{910CED03-FEA1-4FFC-9669-B79538AF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4948724" y="2588524"/>
            <a:ext cx="131390" cy="31164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91" name="AutoShape 58">
            <a:extLst xmlns:a="http://schemas.openxmlformats.org/drawingml/2006/main">
              <a:ext uri="{FF2B5EF4-FFF2-40B4-BE49-F238E27FC236}">
                <a16:creationId xmlns:a16="http://schemas.microsoft.com/office/drawing/2014/main" id="{BA5FC8E9-793F-49C6-A8D4-EF608F6C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4001348" y="2762537"/>
            <a:ext cx="115689" cy="274408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92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9917D061-4207-4FBA-BF02-93C6AFF9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4070660" y="2762537"/>
            <a:ext cx="115689" cy="274408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93" name="AutoShape 60">
            <a:extLst xmlns:a="http://schemas.openxmlformats.org/drawingml/2006/main">
              <a:ext uri="{FF2B5EF4-FFF2-40B4-BE49-F238E27FC236}">
                <a16:creationId xmlns:a16="http://schemas.microsoft.com/office/drawing/2014/main" id="{411F121D-115D-4A22-8A78-F1EEA662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4109394" y="2755139"/>
            <a:ext cx="115689" cy="274408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94" name="AutoShape 61">
            <a:extLst xmlns:a="http://schemas.openxmlformats.org/drawingml/2006/main">
              <a:ext uri="{FF2B5EF4-FFF2-40B4-BE49-F238E27FC236}">
                <a16:creationId xmlns:a16="http://schemas.microsoft.com/office/drawing/2014/main" id="{DCF3FEF2-E6FB-4BDC-B045-710DCCB2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4155262" y="2745050"/>
            <a:ext cx="115689" cy="274408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87" name="AutoShape 63">
            <a:extLst xmlns:a="http://schemas.openxmlformats.org/drawingml/2006/main">
              <a:ext uri="{FF2B5EF4-FFF2-40B4-BE49-F238E27FC236}">
                <a16:creationId xmlns:a16="http://schemas.microsoft.com/office/drawing/2014/main" id="{D5C19BEE-6FFF-4E02-977D-843FD8C0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4116379" y="2733046"/>
            <a:ext cx="115689" cy="275891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88" name="AutoShape 64">
            <a:extLst xmlns:a="http://schemas.openxmlformats.org/drawingml/2006/main">
              <a:ext uri="{FF2B5EF4-FFF2-40B4-BE49-F238E27FC236}">
                <a16:creationId xmlns:a16="http://schemas.microsoft.com/office/drawing/2014/main" id="{0E33FCEB-A3FB-4ECF-BDA3-6AB2F44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4185691" y="2733046"/>
            <a:ext cx="115689" cy="275891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89" name="AutoShape 65">
            <a:extLst xmlns:a="http://schemas.openxmlformats.org/drawingml/2006/main">
              <a:ext uri="{FF2B5EF4-FFF2-40B4-BE49-F238E27FC236}">
                <a16:creationId xmlns:a16="http://schemas.microsoft.com/office/drawing/2014/main" id="{4E3678CC-C5EA-4CCA-B170-D16159FC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4224425" y="2725608"/>
            <a:ext cx="115689" cy="275891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90" name="AutoShape 66">
            <a:extLst xmlns:a="http://schemas.openxmlformats.org/drawingml/2006/main">
              <a:ext uri="{FF2B5EF4-FFF2-40B4-BE49-F238E27FC236}">
                <a16:creationId xmlns:a16="http://schemas.microsoft.com/office/drawing/2014/main" id="{157ABD16-BAE9-465D-B6DF-897BCEC3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4270293" y="2715465"/>
            <a:ext cx="115689" cy="275891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84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9479473A-A18C-48CD-83B2-5AFA4C2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280215" y="3429066"/>
            <a:ext cx="790073" cy="334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5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生产力</a:t>
            </a:r>
          </a:p>
        </p:txBody>
      </p:sp>
      <p:sp>
        <p:nvSpPr>
          <p:cNvPr id="15453" name="Oval 69">
            <a:extLst xmlns:a="http://schemas.openxmlformats.org/drawingml/2006/main">
              <a:ext uri="{FF2B5EF4-FFF2-40B4-BE49-F238E27FC236}">
                <a16:creationId xmlns:a16="http://schemas.microsoft.com/office/drawing/2014/main" id="{2C88C5B6-DB06-4359-A5F3-01CB1BD5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414359" y="4343401"/>
            <a:ext cx="938213" cy="708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EA">
              <a:alpha val="50195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39140" name="Picture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7912816f941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443376" y="4366684"/>
            <a:ext cx="877940" cy="664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468" name="Oval 72">
            <a:extLst xmlns:a="http://schemas.openxmlformats.org/drawingml/2006/main">
              <a:ext uri="{FF2B5EF4-FFF2-40B4-BE49-F238E27FC236}">
                <a16:creationId xmlns:a16="http://schemas.microsoft.com/office/drawing/2014/main" id="{372FEFE2-BE3F-4314-8243-8CF9F3AF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443376" y="4366684"/>
            <a:ext cx="883635" cy="66622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>
              <a:alpha val="50195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39142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ce39583ab414a"/>
          <a:srcRect xmlns:a="http://schemas.openxmlformats.org/drawingml/2006/main" l="0" t="14285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451918" y="4394413"/>
            <a:ext cx="647303" cy="4159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477" name="AutoShape 76">
            <a:extLst xmlns:a="http://schemas.openxmlformats.org/drawingml/2006/main">
              <a:ext uri="{FF2B5EF4-FFF2-40B4-BE49-F238E27FC236}">
                <a16:creationId xmlns:a16="http://schemas.microsoft.com/office/drawing/2014/main" id="{5FB30F3B-3F77-4419-BE7D-1E74CA03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3873712" y="3740521"/>
            <a:ext cx="131479" cy="309647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78" name="AutoShape 77">
            <a:extLst xmlns:a="http://schemas.openxmlformats.org/drawingml/2006/main">
              <a:ext uri="{FF2B5EF4-FFF2-40B4-BE49-F238E27FC236}">
                <a16:creationId xmlns:a16="http://schemas.microsoft.com/office/drawing/2014/main" id="{5B4CEA60-F5A5-438E-A86B-6EAE77BE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3952484" y="3740521"/>
            <a:ext cx="131479" cy="309647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79" name="AutoShape 78">
            <a:extLst xmlns:a="http://schemas.openxmlformats.org/drawingml/2006/main">
              <a:ext uri="{FF2B5EF4-FFF2-40B4-BE49-F238E27FC236}">
                <a16:creationId xmlns:a16="http://schemas.microsoft.com/office/drawing/2014/main" id="{184BC586-E276-409C-814B-2B285B85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3996504" y="3732173"/>
            <a:ext cx="131479" cy="309647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80" name="AutoShape 79">
            <a:extLst xmlns:a="http://schemas.openxmlformats.org/drawingml/2006/main">
              <a:ext uri="{FF2B5EF4-FFF2-40B4-BE49-F238E27FC236}">
                <a16:creationId xmlns:a16="http://schemas.microsoft.com/office/drawing/2014/main" id="{E56AB2FA-B123-4078-943F-106365AE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4048632" y="3720788"/>
            <a:ext cx="131479" cy="309647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73" name="AutoShape 81">
            <a:extLst xmlns:a="http://schemas.openxmlformats.org/drawingml/2006/main">
              <a:ext uri="{FF2B5EF4-FFF2-40B4-BE49-F238E27FC236}">
                <a16:creationId xmlns:a16="http://schemas.microsoft.com/office/drawing/2014/main" id="{788CF090-6C32-4B04-A219-579A0133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4004442" y="3707242"/>
            <a:ext cx="131479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74" name="AutoShape 82">
            <a:extLst xmlns:a="http://schemas.openxmlformats.org/drawingml/2006/main">
              <a:ext uri="{FF2B5EF4-FFF2-40B4-BE49-F238E27FC236}">
                <a16:creationId xmlns:a16="http://schemas.microsoft.com/office/drawing/2014/main" id="{28363B9B-19AE-4D9D-8B38-C89458FF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4083214" y="3707242"/>
            <a:ext cx="131479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75" name="AutoShape 83">
            <a:extLst xmlns:a="http://schemas.openxmlformats.org/drawingml/2006/main">
              <a:ext uri="{FF2B5EF4-FFF2-40B4-BE49-F238E27FC236}">
                <a16:creationId xmlns:a16="http://schemas.microsoft.com/office/drawing/2014/main" id="{EEC66CC8-AC57-47B7-A1D3-523E4A31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4127234" y="3698849"/>
            <a:ext cx="131479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76" name="AutoShape 84">
            <a:extLst xmlns:a="http://schemas.openxmlformats.org/drawingml/2006/main">
              <a:ext uri="{FF2B5EF4-FFF2-40B4-BE49-F238E27FC236}">
                <a16:creationId xmlns:a16="http://schemas.microsoft.com/office/drawing/2014/main" id="{239659D8-F92A-4B2A-B173-4858A401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4179362" y="3687403"/>
            <a:ext cx="131479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63" name="AutoShape 87">
            <a:extLst xmlns:a="http://schemas.openxmlformats.org/drawingml/2006/main">
              <a:ext uri="{FF2B5EF4-FFF2-40B4-BE49-F238E27FC236}">
                <a16:creationId xmlns:a16="http://schemas.microsoft.com/office/drawing/2014/main" id="{088D7605-75C9-493B-8886-E3FD4F39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3231409" y="3861435"/>
            <a:ext cx="115690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64" name="AutoShape 88">
            <a:extLst xmlns:a="http://schemas.openxmlformats.org/drawingml/2006/main">
              <a:ext uri="{FF2B5EF4-FFF2-40B4-BE49-F238E27FC236}">
                <a16:creationId xmlns:a16="http://schemas.microsoft.com/office/drawing/2014/main" id="{48A0A58D-E391-4910-8271-67723714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3300721" y="3861435"/>
            <a:ext cx="115690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65" name="AutoShape 89">
            <a:extLst xmlns:a="http://schemas.openxmlformats.org/drawingml/2006/main">
              <a:ext uri="{FF2B5EF4-FFF2-40B4-BE49-F238E27FC236}">
                <a16:creationId xmlns:a16="http://schemas.microsoft.com/office/drawing/2014/main" id="{834A679E-54AD-4686-A4FE-599B628F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3339455" y="3854042"/>
            <a:ext cx="115690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66" name="AutoShape 90">
            <a:extLst xmlns:a="http://schemas.openxmlformats.org/drawingml/2006/main">
              <a:ext uri="{FF2B5EF4-FFF2-40B4-BE49-F238E27FC236}">
                <a16:creationId xmlns:a16="http://schemas.microsoft.com/office/drawing/2014/main" id="{95867D28-B28C-4705-84FA-01EBA6B5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3385323" y="3843961"/>
            <a:ext cx="115690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59" name="AutoShape 92">
            <a:extLst xmlns:a="http://schemas.openxmlformats.org/drawingml/2006/main">
              <a:ext uri="{FF2B5EF4-FFF2-40B4-BE49-F238E27FC236}">
                <a16:creationId xmlns:a16="http://schemas.microsoft.com/office/drawing/2014/main" id="{7404F0D5-FFAC-482B-9D16-F0A08F07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3346440" y="3831965"/>
            <a:ext cx="115690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60" name="AutoShape 93">
            <a:extLst xmlns:a="http://schemas.openxmlformats.org/drawingml/2006/main">
              <a:ext uri="{FF2B5EF4-FFF2-40B4-BE49-F238E27FC236}">
                <a16:creationId xmlns:a16="http://schemas.microsoft.com/office/drawing/2014/main" id="{CD7D2AC1-AD5C-4DF3-B56A-34BE85D5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3415752" y="3831965"/>
            <a:ext cx="115690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61" name="AutoShape 94">
            <a:extLst xmlns:a="http://schemas.openxmlformats.org/drawingml/2006/main">
              <a:ext uri="{FF2B5EF4-FFF2-40B4-BE49-F238E27FC236}">
                <a16:creationId xmlns:a16="http://schemas.microsoft.com/office/drawing/2014/main" id="{84F54146-F0BB-4E1B-BCB7-B750066B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3454486" y="3824532"/>
            <a:ext cx="115690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62" name="AutoShape 95">
            <a:extLst xmlns:a="http://schemas.openxmlformats.org/drawingml/2006/main">
              <a:ext uri="{FF2B5EF4-FFF2-40B4-BE49-F238E27FC236}">
                <a16:creationId xmlns:a16="http://schemas.microsoft.com/office/drawing/2014/main" id="{7C30130F-ACCA-4A1A-8271-D78482E2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3500354" y="3814397"/>
            <a:ext cx="115690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56" name="Rectangle 96">
            <a:extLst xmlns:a="http://schemas.openxmlformats.org/drawingml/2006/main">
              <a:ext uri="{FF2B5EF4-FFF2-40B4-BE49-F238E27FC236}">
                <a16:creationId xmlns:a16="http://schemas.microsoft.com/office/drawing/2014/main" id="{CD1A2977-FB01-4BF7-8568-D46DC998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592386" y="4539172"/>
            <a:ext cx="588657" cy="33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5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成熟</a:t>
            </a:r>
          </a:p>
        </p:txBody>
      </p:sp>
      <p:sp>
        <p:nvSpPr>
          <p:cNvPr id="15425" name="Oval 98">
            <a:extLst xmlns:a="http://schemas.openxmlformats.org/drawingml/2006/main">
              <a:ext uri="{FF2B5EF4-FFF2-40B4-BE49-F238E27FC236}">
                <a16:creationId xmlns:a16="http://schemas.microsoft.com/office/drawing/2014/main" id="{E91674AB-3953-4A23-90A8-03938E1F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3840539" y="3878263"/>
            <a:ext cx="1103929" cy="7080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EA">
              <a:alpha val="50195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39161" name="Picture 1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7912816f941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3875191" y="3901545"/>
            <a:ext cx="1033129" cy="664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440" name="Oval 101">
            <a:extLst xmlns:a="http://schemas.openxmlformats.org/drawingml/2006/main">
              <a:ext uri="{FF2B5EF4-FFF2-40B4-BE49-F238E27FC236}">
                <a16:creationId xmlns:a16="http://schemas.microsoft.com/office/drawing/2014/main" id="{F013449D-6D25-47E4-9818-6BBC3ACF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3864022" y="3911500"/>
            <a:ext cx="1039830" cy="66622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alpha val="50195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39163" name="Picture 1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ce39583ab414a"/>
          <a:srcRect xmlns:a="http://schemas.openxmlformats.org/drawingml/2006/main" l="0" t="14285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4067297" y="3937807"/>
            <a:ext cx="761723" cy="4159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449" name="AutoShape 105">
            <a:extLst xmlns:a="http://schemas.openxmlformats.org/drawingml/2006/main">
              <a:ext uri="{FF2B5EF4-FFF2-40B4-BE49-F238E27FC236}">
                <a16:creationId xmlns:a16="http://schemas.microsoft.com/office/drawing/2014/main" id="{D698A148-4EAE-4AEE-AF68-5141C160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1205005" y="3275384"/>
            <a:ext cx="154720" cy="309646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50" name="AutoShape 106">
            <a:extLst xmlns:a="http://schemas.openxmlformats.org/drawingml/2006/main">
              <a:ext uri="{FF2B5EF4-FFF2-40B4-BE49-F238E27FC236}">
                <a16:creationId xmlns:a16="http://schemas.microsoft.com/office/drawing/2014/main" id="{9A225E66-2DA1-49CB-AEC0-E26E91AB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1297701" y="3275384"/>
            <a:ext cx="154720" cy="309646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51" name="AutoShape 107">
            <a:extLst xmlns:a="http://schemas.openxmlformats.org/drawingml/2006/main">
              <a:ext uri="{FF2B5EF4-FFF2-40B4-BE49-F238E27FC236}">
                <a16:creationId xmlns:a16="http://schemas.microsoft.com/office/drawing/2014/main" id="{A7E474AE-E714-4D54-B58B-B37B9E75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1349502" y="3267036"/>
            <a:ext cx="154720" cy="309646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52" name="AutoShape 108">
            <a:extLst xmlns:a="http://schemas.openxmlformats.org/drawingml/2006/main">
              <a:ext uri="{FF2B5EF4-FFF2-40B4-BE49-F238E27FC236}">
                <a16:creationId xmlns:a16="http://schemas.microsoft.com/office/drawing/2014/main" id="{F1477FC7-5D6D-4805-B726-39B85B70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1410845" y="3255651"/>
            <a:ext cx="154720" cy="309646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45" name="AutoShape 110">
            <a:extLst xmlns:a="http://schemas.openxmlformats.org/drawingml/2006/main">
              <a:ext uri="{FF2B5EF4-FFF2-40B4-BE49-F238E27FC236}">
                <a16:creationId xmlns:a16="http://schemas.microsoft.com/office/drawing/2014/main" id="{68184F44-A453-4A0C-A2A4-97569E57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1358844" y="3242105"/>
            <a:ext cx="154720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46" name="AutoShape 111">
            <a:extLst xmlns:a="http://schemas.openxmlformats.org/drawingml/2006/main">
              <a:ext uri="{FF2B5EF4-FFF2-40B4-BE49-F238E27FC236}">
                <a16:creationId xmlns:a16="http://schemas.microsoft.com/office/drawing/2014/main" id="{E71ECB1B-2E29-4C9B-A2FD-3EF5D078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1451540" y="3242105"/>
            <a:ext cx="154720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47" name="AutoShape 112">
            <a:extLst xmlns:a="http://schemas.openxmlformats.org/drawingml/2006/main">
              <a:ext uri="{FF2B5EF4-FFF2-40B4-BE49-F238E27FC236}">
                <a16:creationId xmlns:a16="http://schemas.microsoft.com/office/drawing/2014/main" id="{2C27439E-65FC-458E-AD3D-E4CC508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1503341" y="3233712"/>
            <a:ext cx="154720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48" name="AutoShape 113">
            <a:extLst xmlns:a="http://schemas.openxmlformats.org/drawingml/2006/main">
              <a:ext uri="{FF2B5EF4-FFF2-40B4-BE49-F238E27FC236}">
                <a16:creationId xmlns:a16="http://schemas.microsoft.com/office/drawing/2014/main" id="{3DC9516D-DBB5-4475-BAA1-E329931D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1564684" y="3222266"/>
            <a:ext cx="154720" cy="31132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35" name="AutoShape 116">
            <a:extLst xmlns:a="http://schemas.openxmlformats.org/drawingml/2006/main">
              <a:ext uri="{FF2B5EF4-FFF2-40B4-BE49-F238E27FC236}">
                <a16:creationId xmlns:a16="http://schemas.microsoft.com/office/drawing/2014/main" id="{B18401B1-4FB6-4455-A135-39AB227B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449179" y="3396298"/>
            <a:ext cx="136124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36" name="AutoShape 117">
            <a:extLst xmlns:a="http://schemas.openxmlformats.org/drawingml/2006/main">
              <a:ext uri="{FF2B5EF4-FFF2-40B4-BE49-F238E27FC236}">
                <a16:creationId xmlns:a16="http://schemas.microsoft.com/office/drawing/2014/main" id="{62CA148F-F1D4-4465-AABA-E9E38840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530734" y="3396298"/>
            <a:ext cx="136124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37" name="AutoShape 118">
            <a:extLst xmlns:a="http://schemas.openxmlformats.org/drawingml/2006/main">
              <a:ext uri="{FF2B5EF4-FFF2-40B4-BE49-F238E27FC236}">
                <a16:creationId xmlns:a16="http://schemas.microsoft.com/office/drawing/2014/main" id="{101D5C65-02D4-43FA-99FD-1AA588CB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576309" y="3388905"/>
            <a:ext cx="136124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38" name="AutoShape 119">
            <a:extLst xmlns:a="http://schemas.openxmlformats.org/drawingml/2006/main">
              <a:ext uri="{FF2B5EF4-FFF2-40B4-BE49-F238E27FC236}">
                <a16:creationId xmlns:a16="http://schemas.microsoft.com/office/drawing/2014/main" id="{9EF6CBAF-8FB7-411C-B846-546418DD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630279" y="3378824"/>
            <a:ext cx="136124" cy="274210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31" name="AutoShape 121">
            <a:extLst xmlns:a="http://schemas.openxmlformats.org/drawingml/2006/main">
              <a:ext uri="{FF2B5EF4-FFF2-40B4-BE49-F238E27FC236}">
                <a16:creationId xmlns:a16="http://schemas.microsoft.com/office/drawing/2014/main" id="{388CA6EB-B8F7-4F3A-834D-CF0ADA53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584528" y="3366828"/>
            <a:ext cx="136124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32" name="AutoShape 122">
            <a:extLst xmlns:a="http://schemas.openxmlformats.org/drawingml/2006/main">
              <a:ext uri="{FF2B5EF4-FFF2-40B4-BE49-F238E27FC236}">
                <a16:creationId xmlns:a16="http://schemas.microsoft.com/office/drawing/2014/main" id="{D25E2B28-E99B-43BA-85E2-A98A00D2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666083" y="3366828"/>
            <a:ext cx="136124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33" name="AutoShape 123">
            <a:extLst xmlns:a="http://schemas.openxmlformats.org/drawingml/2006/main">
              <a:ext uri="{FF2B5EF4-FFF2-40B4-BE49-F238E27FC236}">
                <a16:creationId xmlns:a16="http://schemas.microsoft.com/office/drawing/2014/main" id="{64DAE7E9-8ADC-4C39-B96B-C866BB8F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711658" y="3359395"/>
            <a:ext cx="136124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34" name="AutoShape 124">
            <a:extLst xmlns:a="http://schemas.openxmlformats.org/drawingml/2006/main">
              <a:ext uri="{FF2B5EF4-FFF2-40B4-BE49-F238E27FC236}">
                <a16:creationId xmlns:a16="http://schemas.microsoft.com/office/drawing/2014/main" id="{BEA671A5-03B6-4E60-BFD5-EC2C0116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765628" y="3349259"/>
            <a:ext cx="136124" cy="27569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28" name="Rectangle 125">
            <a:extLst xmlns:a="http://schemas.openxmlformats.org/drawingml/2006/main">
              <a:ext uri="{FF2B5EF4-FFF2-40B4-BE49-F238E27FC236}">
                <a16:creationId xmlns:a16="http://schemas.microsoft.com/office/drawing/2014/main" id="{374271B0-5845-400B-B209-7FF17DC9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3910872" y="4082799"/>
            <a:ext cx="992312" cy="335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5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封闭可控</a:t>
            </a:r>
          </a:p>
        </p:txBody>
      </p:sp>
      <p:sp>
        <p:nvSpPr>
          <p:cNvPr id="15397" name="Oval 127">
            <a:extLst xmlns:a="http://schemas.openxmlformats.org/drawingml/2006/main">
              <a:ext uri="{FF2B5EF4-FFF2-40B4-BE49-F238E27FC236}">
                <a16:creationId xmlns:a16="http://schemas.microsoft.com/office/drawing/2014/main" id="{60CC3FAA-FF32-4B6F-944A-CFE7EB40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2861498" y="2390775"/>
            <a:ext cx="1021282" cy="7094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EA">
              <a:alpha val="50195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39182" name="Picture 1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7912816f941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2895854" y="2414100"/>
            <a:ext cx="956317" cy="66604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412" name="Oval 130">
            <a:extLst xmlns:a="http://schemas.openxmlformats.org/drawingml/2006/main">
              <a:ext uri="{FF2B5EF4-FFF2-40B4-BE49-F238E27FC236}">
                <a16:creationId xmlns:a16="http://schemas.microsoft.com/office/drawing/2014/main" id="{F3414C34-439A-4C65-B0D3-32C75D29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2895854" y="2414100"/>
            <a:ext cx="962520" cy="66746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folHlink">
              <a:alpha val="50195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39184" name="Picture 1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ce39583ab414a"/>
          <a:srcRect xmlns:a="http://schemas.openxmlformats.org/drawingml/2006/main" l="0" t="14285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2871041" y="2441169"/>
            <a:ext cx="705090" cy="4167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421" name="AutoShape 134">
            <a:extLst xmlns:a="http://schemas.openxmlformats.org/drawingml/2006/main">
              <a:ext uri="{FF2B5EF4-FFF2-40B4-BE49-F238E27FC236}">
                <a16:creationId xmlns:a16="http://schemas.microsoft.com/office/drawing/2014/main" id="{37DEACE4-CBF1-4291-B5C1-9ECE406E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1806637" y="1786767"/>
            <a:ext cx="143217" cy="310225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22" name="AutoShape 135">
            <a:extLst xmlns:a="http://schemas.openxmlformats.org/drawingml/2006/main">
              <a:ext uri="{FF2B5EF4-FFF2-40B4-BE49-F238E27FC236}">
                <a16:creationId xmlns:a16="http://schemas.microsoft.com/office/drawing/2014/main" id="{6FAEF7E4-EDD0-4036-9518-23837462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1892441" y="1786767"/>
            <a:ext cx="143217" cy="310225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23" name="AutoShape 136">
            <a:extLst xmlns:a="http://schemas.openxmlformats.org/drawingml/2006/main">
              <a:ext uri="{FF2B5EF4-FFF2-40B4-BE49-F238E27FC236}">
                <a16:creationId xmlns:a16="http://schemas.microsoft.com/office/drawing/2014/main" id="{F11070B3-D20D-4487-BBF0-0C3BA78B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1940391" y="1778404"/>
            <a:ext cx="143217" cy="310225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24" name="AutoShape 137">
            <a:extLst xmlns:a="http://schemas.openxmlformats.org/drawingml/2006/main">
              <a:ext uri="{FF2B5EF4-FFF2-40B4-BE49-F238E27FC236}">
                <a16:creationId xmlns:a16="http://schemas.microsoft.com/office/drawing/2014/main" id="{DCE1855D-E5D1-4657-B712-5A8692C8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1997173" y="1766998"/>
            <a:ext cx="143217" cy="310225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17" name="AutoShape 139">
            <a:extLst xmlns:a="http://schemas.openxmlformats.org/drawingml/2006/main">
              <a:ext uri="{FF2B5EF4-FFF2-40B4-BE49-F238E27FC236}">
                <a16:creationId xmlns:a16="http://schemas.microsoft.com/office/drawing/2014/main" id="{1DDC3EBF-7204-4D60-BAAD-5F89173B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1949038" y="1753426"/>
            <a:ext cx="143217" cy="31190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18" name="AutoShape 140">
            <a:extLst xmlns:a="http://schemas.openxmlformats.org/drawingml/2006/main">
              <a:ext uri="{FF2B5EF4-FFF2-40B4-BE49-F238E27FC236}">
                <a16:creationId xmlns:a16="http://schemas.microsoft.com/office/drawing/2014/main" id="{7708FBE3-65B2-4A39-8495-28F170AB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2034842" y="1753426"/>
            <a:ext cx="143217" cy="31190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19" name="AutoShape 141">
            <a:extLst xmlns:a="http://schemas.openxmlformats.org/drawingml/2006/main">
              <a:ext uri="{FF2B5EF4-FFF2-40B4-BE49-F238E27FC236}">
                <a16:creationId xmlns:a16="http://schemas.microsoft.com/office/drawing/2014/main" id="{957FB534-F231-4886-BB87-C201969E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2082792" y="1745017"/>
            <a:ext cx="143217" cy="31190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20" name="AutoShape 142">
            <a:extLst xmlns:a="http://schemas.openxmlformats.org/drawingml/2006/main">
              <a:ext uri="{FF2B5EF4-FFF2-40B4-BE49-F238E27FC236}">
                <a16:creationId xmlns:a16="http://schemas.microsoft.com/office/drawing/2014/main" id="{1B0FE7FE-CF4B-43EC-815B-D78102C0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2139574" y="1733550"/>
            <a:ext cx="143217" cy="31190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07" name="AutoShape 145">
            <a:extLst xmlns:a="http://schemas.openxmlformats.org/drawingml/2006/main">
              <a:ext uri="{FF2B5EF4-FFF2-40B4-BE49-F238E27FC236}">
                <a16:creationId xmlns:a16="http://schemas.microsoft.com/office/drawing/2014/main" id="{B1DA8E7B-40FA-4357-A654-ACD3022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1107066" y="1907908"/>
            <a:ext cx="125933" cy="27472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08" name="AutoShape 146">
            <a:extLst xmlns:a="http://schemas.openxmlformats.org/drawingml/2006/main">
              <a:ext uri="{FF2B5EF4-FFF2-40B4-BE49-F238E27FC236}">
                <a16:creationId xmlns:a16="http://schemas.microsoft.com/office/drawing/2014/main" id="{8A9323A7-03B2-478D-ADF8-C6164A06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1182515" y="1907908"/>
            <a:ext cx="125933" cy="27472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09" name="AutoShape 147">
            <a:extLst xmlns:a="http://schemas.openxmlformats.org/drawingml/2006/main">
              <a:ext uri="{FF2B5EF4-FFF2-40B4-BE49-F238E27FC236}">
                <a16:creationId xmlns:a16="http://schemas.microsoft.com/office/drawing/2014/main" id="{7D2C1323-67BB-4764-9BD4-882D4A39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1224678" y="1900501"/>
            <a:ext cx="125933" cy="27472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10" name="AutoShape 148">
            <a:extLst xmlns:a="http://schemas.openxmlformats.org/drawingml/2006/main">
              <a:ext uri="{FF2B5EF4-FFF2-40B4-BE49-F238E27FC236}">
                <a16:creationId xmlns:a16="http://schemas.microsoft.com/office/drawing/2014/main" id="{516B9F11-6196-4E15-9F2D-40C1D2D8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1274607" y="1890401"/>
            <a:ext cx="125933" cy="274722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03" name="AutoShape 150">
            <a:extLst xmlns:a="http://schemas.openxmlformats.org/drawingml/2006/main">
              <a:ext uri="{FF2B5EF4-FFF2-40B4-BE49-F238E27FC236}">
                <a16:creationId xmlns:a16="http://schemas.microsoft.com/office/drawing/2014/main" id="{312F245C-F3BC-4B9B-A4E1-CBA88E1C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1232281" y="1878383"/>
            <a:ext cx="125933" cy="276207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04" name="AutoShape 151">
            <a:extLst xmlns:a="http://schemas.openxmlformats.org/drawingml/2006/main">
              <a:ext uri="{FF2B5EF4-FFF2-40B4-BE49-F238E27FC236}">
                <a16:creationId xmlns:a16="http://schemas.microsoft.com/office/drawing/2014/main" id="{957A013E-BBD2-4E87-B596-BF655EFF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1307730" y="1878383"/>
            <a:ext cx="125933" cy="276207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05" name="AutoShape 152">
            <a:extLst xmlns:a="http://schemas.openxmlformats.org/drawingml/2006/main">
              <a:ext uri="{FF2B5EF4-FFF2-40B4-BE49-F238E27FC236}">
                <a16:creationId xmlns:a16="http://schemas.microsoft.com/office/drawing/2014/main" id="{D79B99BD-071F-432B-9408-60384477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1349893" y="1870936"/>
            <a:ext cx="125933" cy="276207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06" name="AutoShape 153">
            <a:extLst xmlns:a="http://schemas.openxmlformats.org/drawingml/2006/main">
              <a:ext uri="{FF2B5EF4-FFF2-40B4-BE49-F238E27FC236}">
                <a16:creationId xmlns:a16="http://schemas.microsoft.com/office/drawing/2014/main" id="{2E65D09E-FDF9-4CBE-9456-088D3D38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1399822" y="1860781"/>
            <a:ext cx="125933" cy="276207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400" name="Rectangle 154">
            <a:extLst xmlns:a="http://schemas.openxmlformats.org/drawingml/2006/main">
              <a:ext uri="{FF2B5EF4-FFF2-40B4-BE49-F238E27FC236}">
                <a16:creationId xmlns:a16="http://schemas.microsoft.com/office/drawing/2014/main" id="{E28B2F45-EA1E-4ACF-80A0-39C534D4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3107624" y="2580080"/>
            <a:ext cx="588439" cy="33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5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39071" name="AutoShape 159">
            <a:extLst xmlns:a="http://schemas.openxmlformats.org/drawingml/2006/main">
              <a:ext uri="{FF2B5EF4-FFF2-40B4-BE49-F238E27FC236}">
                <a16:creationId xmlns:a16="http://schemas.microsoft.com/office/drawing/2014/main" id="{D585BBC3-962E-4230-9DAC-A61A3B79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206" y="4811166"/>
            <a:ext cx="2127218" cy="240506"/>
          </a:xfrm>
          <a:prstGeom xmlns:a="http://schemas.openxmlformats.org/drawingml/2006/main" prst="accentCallout2">
            <a:avLst>
              <a:gd name="adj1" fmla="val 35644"/>
              <a:gd name="adj2" fmla="val -4088"/>
              <a:gd name="adj3" fmla="val 35644"/>
              <a:gd name="adj4" fmla="val -4088"/>
              <a:gd name="adj5" fmla="val 10833"/>
              <a:gd name="adj6" fmla="val -32320"/>
            </a:avLst>
          </a:prstGeom>
          <a:noFill xmlns:a="http://schemas.openxmlformats.org/drawingml/2006/main"/>
          <a:ln xmlns:a="http://schemas.openxmlformats.org/drawingml/2006/main" w="9525">
            <a:solidFill>
              <a:schemeClr val="accent1"/>
            </a:solidFill>
            <a:tailEnd type="diamond" w="med" len="med"/>
          </a:ln>
        </p:spPr>
        <p:txBody>
          <a:bodyPr xmlns:a="http://schemas.openxmlformats.org/drawingml/2006/main" lIns="91438" tIns="45719" rIns="91438" b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1E94D8"/>
                </a:solidFill>
                <a:latin typeface="Microsoft YaHei"/>
                <a:ea typeface="Microsoft YaHei"/>
                <a:cs typeface="Microsoft YaHei"/>
              </a:rPr>
              <a:t>相关技术成熟，具备可实现的切入点</a:t>
            </a:r>
          </a:p>
        </p:txBody>
      </p:sp>
      <p:pic>
        <p:nvPicPr>
          <p:cNvPr id="39203" name="Picture 1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57ea2bce140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4072998" y="3438769"/>
            <a:ext cx="352051" cy="4652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074" name="Oval 162">
            <a:extLst xmlns:a="http://schemas.openxmlformats.org/drawingml/2006/main">
              <a:ext uri="{FF2B5EF4-FFF2-40B4-BE49-F238E27FC236}">
                <a16:creationId xmlns:a16="http://schemas.microsoft.com/office/drawing/2014/main" id="{FBC1E216-4436-4AD4-89D6-64F67FBF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4075021" y="3438769"/>
            <a:ext cx="350028" cy="465299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bg2">
                  <a:shade val="46275"/>
                </a:schemeClr>
              </a:gs>
              <a:gs pos="50000">
                <a:schemeClr val="bg2">
                  <a:alpha val="50000"/>
                </a:schemeClr>
              </a:gs>
              <a:gs pos="100000">
                <a:schemeClr val="bg2">
                  <a:shade val="46275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93" name="AutoShape 165">
            <a:extLst xmlns:a="http://schemas.openxmlformats.org/drawingml/2006/main">
              <a:ext uri="{FF2B5EF4-FFF2-40B4-BE49-F238E27FC236}">
                <a16:creationId xmlns:a16="http://schemas.microsoft.com/office/drawing/2014/main" id="{9F08B9D9-A12E-4C20-884D-84D6A0B9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4160389" y="3025204"/>
            <a:ext cx="51612" cy="22015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394" name="AutoShape 166">
            <a:extLst xmlns:a="http://schemas.openxmlformats.org/drawingml/2006/main">
              <a:ext uri="{FF2B5EF4-FFF2-40B4-BE49-F238E27FC236}">
                <a16:creationId xmlns:a16="http://schemas.microsoft.com/office/drawing/2014/main" id="{3B0FDA5A-CF65-4DAD-B904-D0BDD2DF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4191311" y="3025204"/>
            <a:ext cx="51612" cy="22015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395" name="AutoShape 167">
            <a:extLst xmlns:a="http://schemas.openxmlformats.org/drawingml/2006/main">
              <a:ext uri="{FF2B5EF4-FFF2-40B4-BE49-F238E27FC236}">
                <a16:creationId xmlns:a16="http://schemas.microsoft.com/office/drawing/2014/main" id="{32163F41-FF27-43FC-BFDB-DA59F06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4208591" y="3019269"/>
            <a:ext cx="51612" cy="22015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396" name="AutoShape 168">
            <a:extLst xmlns:a="http://schemas.openxmlformats.org/drawingml/2006/main">
              <a:ext uri="{FF2B5EF4-FFF2-40B4-BE49-F238E27FC236}">
                <a16:creationId xmlns:a16="http://schemas.microsoft.com/office/drawing/2014/main" id="{73F2D027-D851-4610-86B8-5FA9B6D7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4229054" y="3011175"/>
            <a:ext cx="51612" cy="22015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389" name="AutoShape 170">
            <a:extLst xmlns:a="http://schemas.openxmlformats.org/drawingml/2006/main">
              <a:ext uri="{FF2B5EF4-FFF2-40B4-BE49-F238E27FC236}">
                <a16:creationId xmlns:a16="http://schemas.microsoft.com/office/drawing/2014/main" id="{45E2EBBD-FB1F-4C65-9DF8-FB66CB0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3130" flipV="1">
            <a:off x="4211708" y="3001544"/>
            <a:ext cx="51612" cy="22134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390" name="AutoShape 171">
            <a:extLst xmlns:a="http://schemas.openxmlformats.org/drawingml/2006/main">
              <a:ext uri="{FF2B5EF4-FFF2-40B4-BE49-F238E27FC236}">
                <a16:creationId xmlns:a16="http://schemas.microsoft.com/office/drawing/2014/main" id="{04184F82-2C53-4E11-AA1E-129EA114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281" flipV="1">
            <a:off x="4242630" y="3001544"/>
            <a:ext cx="51612" cy="22134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391" name="AutoShape 172">
            <a:extLst xmlns:a="http://schemas.openxmlformats.org/drawingml/2006/main">
              <a:ext uri="{FF2B5EF4-FFF2-40B4-BE49-F238E27FC236}">
                <a16:creationId xmlns:a16="http://schemas.microsoft.com/office/drawing/2014/main" id="{BE862763-7D06-4462-9A80-287301A5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3927" flipV="1">
            <a:off x="4259910" y="2995577"/>
            <a:ext cx="51612" cy="22134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392" name="AutoShape 173">
            <a:extLst xmlns:a="http://schemas.openxmlformats.org/drawingml/2006/main">
              <a:ext uri="{FF2B5EF4-FFF2-40B4-BE49-F238E27FC236}">
                <a16:creationId xmlns:a16="http://schemas.microsoft.com/office/drawing/2014/main" id="{6F59243A-0273-4351-A0D6-85097D6C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312" flipV="1">
            <a:off x="4280373" y="2987439"/>
            <a:ext cx="51612" cy="221344"/>
          </a:xfrm>
          <a:prstGeom xmlns:a="http://schemas.openxmlformats.org/drawingml/2006/main" prst="moon">
            <a:avLst>
              <a:gd name="adj" fmla="val 49773"/>
            </a:avLst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385" name="Arc 174">
            <a:extLst xmlns:a="http://schemas.openxmlformats.org/drawingml/2006/main">
              <a:ext uri="{FF2B5EF4-FFF2-40B4-BE49-F238E27FC236}">
                <a16:creationId xmlns:a16="http://schemas.microsoft.com/office/drawing/2014/main" id="{C4242D35-B467-4A41-808E-BF280545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847716">
            <a:off x="4046695" y="3392780"/>
            <a:ext cx="396563" cy="551866"/>
          </a:xfrm>
          <a:custGeom xmlns:a="http://schemas.openxmlformats.org/drawingml/2006/main">
            <a:rect l="0" t="0" r="r" b="b"/>
            <a:pathLst>
              <a:path w="43200" h="43155">
                <a:moveTo>
                  <a:pt x="3603" y="33544"/>
                </a:moveTo>
                <a:cubicBezTo>
                  <a:pt x="1253" y="30004"/>
                  <a:pt x="0" y="2584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2987"/>
                  <a:pt x="34359" y="42418"/>
                  <a:pt x="22995" y="43154"/>
                </a:cubicBezTo>
              </a:path>
              <a:path w="43200" h="43155">
                <a:moveTo>
                  <a:pt x="3603" y="33544"/>
                </a:moveTo>
                <a:cubicBezTo>
                  <a:pt x="1253" y="30004"/>
                  <a:pt x="0" y="2584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2987"/>
                  <a:pt x="34359" y="42418"/>
                  <a:pt x="22995" y="43154"/>
                </a:cubicBezTo>
                <a:lnTo>
                  <a:pt x="21600" y="21600"/>
                </a:lnTo>
                <a:lnTo>
                  <a:pt x="3603" y="335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ysDot"/>
            <a:tailEnd type="triangle" w="sm" len="sm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/>
        </p:txBody>
      </p:sp>
      <p:pic>
        <p:nvPicPr>
          <p:cNvPr id="39214" name="Picture 1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5f17c3a0f404c"/>
          <a:srcRect xmlns:a="http://schemas.openxmlformats.org/drawingml/2006/main" l="0" t="2374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569845" flipH="1" flipV="0">
            <a:off x="4182255" y="3479347"/>
            <a:ext cx="261003" cy="2272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CB16E1D8-3BA9-40C1-8DB2-1471CEC26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Q3</a:t>
            </a:r>
            <a:r>
              <a:t>：什么</a:t>
            </a:r>
            <a:r>
              <a:t>AI</a:t>
            </a:r>
            <a:r>
              <a:t>项目容易成功？</a:t>
            </a:r>
          </a:p>
        </p:txBody>
      </p:sp>
    </p:spTree>
    <p:extLst>
      <p:ext uri="{BB962C8B-B14F-4D97-AF65-F5344CB8AC3E}">
        <p14:creationId xmlns:p14="http://schemas.microsoft.com/office/powerpoint/2010/main" val="272809571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184" name="标题 10">
            <a:extLst xmlns:a="http://schemas.openxmlformats.org/drawingml/2006/main">
              <a:ext uri="{FF2B5EF4-FFF2-40B4-BE49-F238E27FC236}">
                <a16:creationId xmlns:a16="http://schemas.microsoft.com/office/drawing/2014/main" id="{BC108165-6081-458D-8857-46FD5975C2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新特征</a:t>
            </a:r>
            <a:r>
              <a:t>1</a:t>
            </a:r>
            <a:r>
              <a:t>：深度学习</a:t>
            </a:r>
            <a:r>
              <a:t>+</a:t>
            </a:r>
            <a:r>
              <a:t>自我博弈进化技术</a:t>
            </a:r>
          </a:p>
        </p:txBody>
      </p:sp>
      <p:sp>
        <p:nvSpPr>
          <p:cNvPr id="50180" name="TextBox 3">
            <a:extLst xmlns:a="http://schemas.openxmlformats.org/drawingml/2006/main">
              <a:ext uri="{FF2B5EF4-FFF2-40B4-BE49-F238E27FC236}">
                <a16:creationId xmlns:a16="http://schemas.microsoft.com/office/drawing/2014/main" id="{57B2FC99-502B-422B-936B-FA77DC84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6441"/>
            <a:ext cx="8077200" cy="2250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spcBef>
                <a:spcPts val="0"/>
              </a:spcBef>
              <a:buChar char="p"/>
            </a:pPr>
            <a:r>
              <a:rPr sz="1650">
                <a:latin typeface="微软雅黑"/>
                <a:ea typeface="微软雅黑"/>
                <a:cs typeface="微软雅黑"/>
              </a:rPr>
              <a:t> 与传统博弈人工知识不同，</a:t>
            </a:r>
            <a:r>
              <a:rPr sz="1650">
                <a:latin typeface="微软雅黑"/>
                <a:ea typeface="微软雅黑"/>
                <a:cs typeface="微软雅黑"/>
              </a:rPr>
              <a:t>AlphaGo</a:t>
            </a:r>
            <a:r>
              <a:rPr sz="1650">
                <a:latin typeface="微软雅黑"/>
                <a:ea typeface="微软雅黑"/>
                <a:cs typeface="微软雅黑"/>
              </a:rPr>
              <a:t>深度强化学习初步具备了“直觉感知（下一步在哪）”，“棋局推理（全局获胜机会如何）”，和“新颖落子（想人所不敢想）”等能力。</a:t>
            </a:r>
          </a:p>
          <a:p xmlns:a="http://schemas.openxmlformats.org/drawingml/2006/main">
            <a:pPr>
              <a:lnSpc>
                <a:spcPct val="130000"/>
              </a:lnSpc>
              <a:spcBef>
                <a:spcPts val="0"/>
              </a:spcBef>
              <a:buChar char="p"/>
            </a:pPr>
          </a:p>
          <a:p xmlns:a="http://schemas.openxmlformats.org/drawingml/2006/main">
            <a:pPr>
              <a:lnSpc>
                <a:spcPct val="130000"/>
              </a:lnSpc>
              <a:spcBef>
                <a:spcPts val="0"/>
              </a:spcBef>
              <a:buChar char="p"/>
            </a:pPr>
            <a:r>
              <a:rPr sz="1650">
                <a:latin typeface="微软雅黑"/>
                <a:ea typeface="微软雅黑"/>
                <a:cs typeface="微软雅黑"/>
              </a:rPr>
              <a:t> 将记忆人类棋局和自我博弈积累棋局结合起来。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</a:p>
        </p:txBody>
      </p:sp>
      <p:pic>
        <p:nvPicPr>
          <p:cNvPr id="5018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b878674d64c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098132"/>
            <a:ext cx="7961710" cy="11549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78013218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226" name="TextBox 2">
            <a:extLst xmlns:a="http://schemas.openxmlformats.org/drawingml/2006/main">
              <a:ext uri="{FF2B5EF4-FFF2-40B4-BE49-F238E27FC236}">
                <a16:creationId xmlns:a16="http://schemas.microsoft.com/office/drawing/2014/main" id="{7B1B46D8-FEDF-4518-84A8-1668F7C9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1570457"/>
            <a:ext cx="4472940" cy="3346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spcBef>
                <a:spcPts val="0"/>
              </a:spcBef>
              <a:buChar char="p"/>
            </a:pPr>
            <a:r>
              <a:rPr sz="1650">
                <a:latin typeface="Microsoft YaHei"/>
                <a:ea typeface="Microsoft YaHei"/>
                <a:cs typeface="Microsoft YaHei"/>
              </a:rPr>
              <a:t> 《Science》2016</a:t>
            </a:r>
            <a:r>
              <a:rPr sz="1650">
                <a:latin typeface="Microsoft YaHei"/>
                <a:ea typeface="Microsoft YaHei"/>
                <a:cs typeface="Microsoft YaHei"/>
              </a:rPr>
              <a:t>年</a:t>
            </a:r>
            <a:r>
              <a:rPr sz="1650">
                <a:latin typeface="Microsoft YaHei"/>
                <a:ea typeface="Microsoft YaHei"/>
                <a:cs typeface="Microsoft YaHei"/>
              </a:rPr>
              <a:t>1</a:t>
            </a:r>
            <a:r>
              <a:rPr sz="1650">
                <a:latin typeface="Microsoft YaHei"/>
                <a:ea typeface="Microsoft YaHei"/>
                <a:cs typeface="Microsoft YaHei"/>
              </a:rPr>
              <a:t>月</a:t>
            </a:r>
            <a:r>
              <a:rPr sz="1650">
                <a:latin typeface="Microsoft YaHei"/>
                <a:ea typeface="Microsoft YaHei"/>
                <a:cs typeface="Microsoft YaHei"/>
              </a:rPr>
              <a:t>1</a:t>
            </a:r>
            <a:r>
              <a:rPr sz="1650">
                <a:latin typeface="Microsoft YaHei"/>
                <a:ea typeface="Microsoft YaHei"/>
                <a:cs typeface="Microsoft YaHei"/>
              </a:rPr>
              <a:t>日发表  “群智之力量（</a:t>
            </a:r>
            <a:r>
              <a:rPr sz="1650">
                <a:latin typeface="Microsoft YaHei"/>
                <a:ea typeface="Microsoft YaHei"/>
                <a:cs typeface="Microsoft YaHei"/>
              </a:rPr>
              <a:t>The Power  of Crowds,Vol.351,issues  6268</a:t>
            </a:r>
            <a:r>
              <a:rPr sz="1650">
                <a:latin typeface="Microsoft YaHei"/>
                <a:ea typeface="Microsoft YaHei"/>
                <a:cs typeface="Microsoft YaHei"/>
              </a:rPr>
              <a:t>）”的论文认为：结合群体智慧与机器性能来解决快速增长难题。</a:t>
            </a:r>
          </a:p>
          <a:p xmlns:a="http://schemas.openxmlformats.org/drawingml/2006/main">
            <a:pPr>
              <a:lnSpc>
                <a:spcPct val="130000"/>
              </a:lnSpc>
              <a:spcBef>
                <a:spcPts val="0"/>
              </a:spcBef>
              <a:buChar char="p"/>
            </a:pPr>
            <a:r>
              <a:rPr sz="1650">
                <a:latin typeface="Microsoft YaHei"/>
                <a:ea typeface="Microsoft YaHei"/>
                <a:cs typeface="Microsoft YaHei"/>
              </a:rPr>
              <a:t>  其将群智计算按难易程度分为三种类型：实现任务分配的</a:t>
            </a:r>
            <a:r>
              <a:rPr sz="16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众包模式（</a:t>
            </a:r>
            <a:r>
              <a:rPr sz="165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Crowdsourcing</a:t>
            </a:r>
            <a:r>
              <a:rPr sz="165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6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650">
                <a:latin typeface="Microsoft YaHei"/>
                <a:ea typeface="Microsoft YaHei"/>
                <a:cs typeface="Microsoft YaHei"/>
              </a:rPr>
              <a:t>较复杂支持</a:t>
            </a:r>
            <a:r>
              <a:rPr sz="165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工作流模式的群（</a:t>
            </a:r>
            <a:r>
              <a:rPr sz="165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Complex workflows</a:t>
            </a:r>
            <a:r>
              <a:rPr sz="165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650">
                <a:latin typeface="Microsoft YaHei"/>
                <a:ea typeface="Microsoft YaHei"/>
                <a:cs typeface="Microsoft YaHei"/>
              </a:rPr>
              <a:t>以及最复杂的</a:t>
            </a:r>
            <a:r>
              <a:rPr sz="165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协同求解问题的生态系统模式（</a:t>
            </a:r>
            <a:r>
              <a:rPr sz="165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Problem solving  ecosystem </a:t>
            </a:r>
            <a:r>
              <a:rPr sz="165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pic>
        <p:nvPicPr>
          <p:cNvPr id="522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856eff0ba47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76056" y="1779941"/>
            <a:ext cx="3796904" cy="3257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50732D5D-63EE-48CD-949C-178F38383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新特征</a:t>
            </a:r>
            <a:r>
              <a:t>2</a:t>
            </a:r>
            <a:r>
              <a:t>：基于网络的群体智能已经萌芽</a:t>
            </a:r>
          </a:p>
        </p:txBody>
      </p:sp>
    </p:spTree>
    <p:extLst>
      <p:ext uri="{BB962C8B-B14F-4D97-AF65-F5344CB8AC3E}">
        <p14:creationId xmlns:p14="http://schemas.microsoft.com/office/powerpoint/2010/main" val="275515228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50" name="TextBox 3">
            <a:extLst xmlns:a="http://schemas.openxmlformats.org/drawingml/2006/main">
              <a:ext uri="{FF2B5EF4-FFF2-40B4-BE49-F238E27FC236}">
                <a16:creationId xmlns:a16="http://schemas.microsoft.com/office/drawing/2014/main" id="{D10570C1-A437-4C86-8E01-D77ED996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2106"/>
            <a:ext cx="4058986" cy="1050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spcBef>
                <a:spcPts val="0"/>
              </a:spcBef>
              <a:buChar char="p"/>
            </a:pPr>
            <a:r>
              <a:rPr sz="1650">
                <a:latin typeface="Microsoft YaHei"/>
                <a:ea typeface="Microsoft YaHei"/>
                <a:cs typeface="Microsoft YaHei"/>
              </a:rPr>
              <a:t>  大规模个体通过互联网构架的参与，</a:t>
            </a:r>
          </a:p>
          <a:p xmlns:a="http://schemas.openxmlformats.org/drawingml/2006/main"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sz="1650">
                <a:latin typeface="Microsoft YaHei"/>
                <a:ea typeface="Microsoft YaHei"/>
                <a:cs typeface="Microsoft YaHei"/>
              </a:rPr>
              <a:t>可以表现出超乎寻常的智慧能力，是解决开放复杂问题的新途径</a:t>
            </a:r>
          </a:p>
        </p:txBody>
      </p:sp>
      <p:sp>
        <p:nvSpPr>
          <p:cNvPr id="53251" name="TextBox 4">
            <a:extLst xmlns:a="http://schemas.openxmlformats.org/drawingml/2006/main">
              <a:ext uri="{FF2B5EF4-FFF2-40B4-BE49-F238E27FC236}">
                <a16:creationId xmlns:a16="http://schemas.microsoft.com/office/drawing/2014/main" id="{7B726BDD-8755-4D2E-9424-DA37A7E0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53" y="2667715"/>
            <a:ext cx="4341257" cy="2356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spcBef>
                <a:spcPts val="0"/>
              </a:spcBef>
              <a:buChar char="p"/>
            </a:pPr>
            <a:r>
              <a:rPr sz="1650">
                <a:latin typeface="Microsoft YaHei"/>
                <a:ea typeface="Microsoft YaHei"/>
                <a:cs typeface="Microsoft YaHei"/>
              </a:rPr>
              <a:t>  </a:t>
            </a:r>
            <a:r>
              <a:rPr sz="1650">
                <a:latin typeface="Microsoft YaHei"/>
                <a:ea typeface="Microsoft YaHei"/>
                <a:cs typeface="Microsoft YaHei"/>
              </a:rPr>
              <a:t>美国普林斯顿大学</a:t>
            </a:r>
            <a:r>
              <a:rPr sz="1650">
                <a:latin typeface="Microsoft YaHei"/>
                <a:ea typeface="Microsoft YaHei"/>
                <a:cs typeface="Microsoft YaHei"/>
              </a:rPr>
              <a:t>Connetome</a:t>
            </a:r>
            <a:r>
              <a:rPr sz="1650">
                <a:latin typeface="Microsoft YaHei"/>
                <a:ea typeface="Microsoft YaHei"/>
                <a:cs typeface="Microsoft YaHei"/>
              </a:rPr>
              <a:t>项目开发了</a:t>
            </a:r>
            <a:r>
              <a:rPr sz="1650">
                <a:latin typeface="Microsoft YaHei"/>
                <a:ea typeface="Microsoft YaHei"/>
                <a:cs typeface="Microsoft YaHei"/>
              </a:rPr>
              <a:t>EyeWire</a:t>
            </a:r>
            <a:r>
              <a:rPr sz="1650">
                <a:latin typeface="Microsoft YaHei"/>
                <a:ea typeface="Microsoft YaHei"/>
                <a:cs typeface="Microsoft YaHei"/>
              </a:rPr>
              <a:t>游戏，玩家对显微图像中单个细胞及其神经元连接按功能进行涂色。第一次提供了哺乳动物视网膜的神经元结构和组织如何产生</a:t>
            </a:r>
          </a:p>
          <a:p xmlns:a="http://schemas.openxmlformats.org/drawingml/2006/main"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sz="1650">
                <a:latin typeface="Microsoft YaHei"/>
                <a:ea typeface="Microsoft YaHei"/>
                <a:cs typeface="Microsoft YaHei"/>
              </a:rPr>
              <a:t>检测运动的功能。</a:t>
            </a:r>
            <a:r>
              <a:rPr sz="1650">
                <a:latin typeface="Microsoft YaHei"/>
                <a:ea typeface="Microsoft YaHei"/>
                <a:cs typeface="Microsoft YaHei"/>
              </a:rPr>
              <a:t>145</a:t>
            </a:r>
            <a:r>
              <a:rPr sz="1650">
                <a:latin typeface="Microsoft YaHei"/>
                <a:ea typeface="Microsoft YaHei"/>
                <a:cs typeface="Microsoft YaHei"/>
              </a:rPr>
              <a:t>个国家的</a:t>
            </a:r>
            <a:r>
              <a:rPr sz="1650">
                <a:latin typeface="Microsoft YaHei"/>
                <a:ea typeface="Microsoft YaHei"/>
                <a:cs typeface="Microsoft YaHei"/>
              </a:rPr>
              <a:t>165000</a:t>
            </a:r>
            <a:r>
              <a:rPr sz="1650">
                <a:latin typeface="Microsoft YaHei"/>
                <a:ea typeface="Microsoft YaHei"/>
                <a:cs typeface="Microsoft YaHei"/>
              </a:rPr>
              <a:t>多名科学家（玩家）参与</a:t>
            </a:r>
          </a:p>
        </p:txBody>
      </p:sp>
      <p:sp>
        <p:nvSpPr>
          <p:cNvPr id="53252" name="TextBox 6">
            <a:extLst xmlns:a="http://schemas.openxmlformats.org/drawingml/2006/main">
              <a:ext uri="{FF2B5EF4-FFF2-40B4-BE49-F238E27FC236}">
                <a16:creationId xmlns:a16="http://schemas.microsoft.com/office/drawing/2014/main" id="{083DD2E3-747C-42DF-BD00-69A40383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53" y="5008844"/>
            <a:ext cx="4341257" cy="717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spcBef>
                <a:spcPts val="0"/>
              </a:spcBef>
              <a:buChar char="p"/>
            </a:pPr>
            <a:r>
              <a:rPr sz="1650">
                <a:latin typeface="Microsoft YaHei"/>
                <a:ea typeface="Microsoft YaHei"/>
                <a:cs typeface="Microsoft YaHei"/>
              </a:rPr>
              <a:t>  成功的还有：苹果</a:t>
            </a:r>
            <a:r>
              <a:rPr sz="1650">
                <a:latin typeface="Microsoft YaHei"/>
                <a:ea typeface="Microsoft YaHei"/>
                <a:cs typeface="Microsoft YaHei"/>
              </a:rPr>
              <a:t>AppStore</a:t>
            </a:r>
            <a:r>
              <a:rPr sz="1650">
                <a:latin typeface="Microsoft YaHei"/>
                <a:ea typeface="Microsoft YaHei"/>
                <a:cs typeface="Microsoft YaHei"/>
              </a:rPr>
              <a:t>（</a:t>
            </a:r>
            <a:r>
              <a:rPr sz="1650">
                <a:latin typeface="Microsoft YaHei"/>
                <a:ea typeface="Microsoft YaHei"/>
                <a:cs typeface="Microsoft YaHei"/>
              </a:rPr>
              <a:t>130</a:t>
            </a:r>
            <a:r>
              <a:rPr sz="1650">
                <a:latin typeface="Microsoft YaHei"/>
                <a:ea typeface="Microsoft YaHei"/>
                <a:cs typeface="Microsoft YaHei"/>
              </a:rPr>
              <a:t>万个应用程序）、</a:t>
            </a:r>
            <a:r>
              <a:rPr sz="1650">
                <a:latin typeface="Microsoft YaHei"/>
                <a:ea typeface="Microsoft YaHei"/>
                <a:cs typeface="Microsoft YaHei"/>
              </a:rPr>
              <a:t>Wiki</a:t>
            </a:r>
            <a:r>
              <a:rPr sz="1650">
                <a:latin typeface="Microsoft YaHei"/>
                <a:ea typeface="Microsoft YaHei"/>
                <a:cs typeface="Microsoft YaHei"/>
              </a:rPr>
              <a:t>百科（</a:t>
            </a:r>
            <a:r>
              <a:rPr sz="1650">
                <a:latin typeface="Microsoft YaHei"/>
                <a:ea typeface="Microsoft YaHei"/>
                <a:cs typeface="Microsoft YaHei"/>
              </a:rPr>
              <a:t>4000</a:t>
            </a:r>
            <a:r>
              <a:rPr sz="1650">
                <a:latin typeface="Microsoft YaHei"/>
                <a:ea typeface="Microsoft YaHei"/>
                <a:cs typeface="Microsoft YaHei"/>
              </a:rPr>
              <a:t>万词条）等等</a:t>
            </a:r>
          </a:p>
        </p:txBody>
      </p:sp>
      <p:pic>
        <p:nvPicPr>
          <p:cNvPr id="5325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98760258941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8263" y="1646635"/>
            <a:ext cx="3598069" cy="23764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3254" name="TextBox 8">
            <a:extLst xmlns:a="http://schemas.openxmlformats.org/drawingml/2006/main">
              <a:ext uri="{FF2B5EF4-FFF2-40B4-BE49-F238E27FC236}">
                <a16:creationId xmlns:a16="http://schemas.microsoft.com/office/drawing/2014/main" id="{98720CF1-0230-4529-9EDF-B9A7EB1D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558" y="4131469"/>
            <a:ext cx="2967480" cy="842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sz="1275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美国普林斯顿大学</a:t>
            </a:r>
            <a:r>
              <a:rPr sz="1275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Connetome</a:t>
            </a:r>
            <a:r>
              <a:rPr sz="1275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项目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sz="1275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通过群体参与来探讨大脑结构和功能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sz="1275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之间映射的神经通路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sz="105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http://www.humanconnectomeproject.org/</a:t>
            </a: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CD245D-E81F-4C66-A43C-6BF85DEBB7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新特征</a:t>
            </a:r>
            <a:r>
              <a:t>2</a:t>
            </a:r>
            <a:r>
              <a:t>：基于网络的群体智能已经萌芽</a:t>
            </a:r>
          </a:p>
        </p:txBody>
      </p:sp>
    </p:spTree>
    <p:extLst>
      <p:ext uri="{BB962C8B-B14F-4D97-AF65-F5344CB8AC3E}">
        <p14:creationId xmlns:p14="http://schemas.microsoft.com/office/powerpoint/2010/main" val="287545415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274" name="TextBox 2">
            <a:extLst xmlns:a="http://schemas.openxmlformats.org/drawingml/2006/main">
              <a:ext uri="{FF2B5EF4-FFF2-40B4-BE49-F238E27FC236}">
                <a16:creationId xmlns:a16="http://schemas.microsoft.com/office/drawing/2014/main" id="{7D5D7424-B142-429E-BCB9-A045786F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85" y="2064783"/>
            <a:ext cx="7139225" cy="874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spcBef>
                <a:spcPts val="0"/>
              </a:spcBef>
              <a:buChar char="p"/>
            </a:pPr>
            <a:r>
              <a:rPr sz="1800">
                <a:latin typeface="Microsoft YaHei"/>
                <a:ea typeface="Microsoft YaHei"/>
                <a:cs typeface="Microsoft YaHei"/>
              </a:rPr>
              <a:t> 各种穿戴设备、人</a:t>
            </a:r>
            <a:r>
              <a:rPr sz="1800">
                <a:latin typeface="Microsoft YaHei"/>
                <a:ea typeface="Microsoft YaHei"/>
                <a:cs typeface="Microsoft YaHei"/>
              </a:rPr>
              <a:t>—</a:t>
            </a:r>
            <a:r>
              <a:rPr sz="1800">
                <a:latin typeface="Microsoft YaHei"/>
                <a:ea typeface="Microsoft YaHei"/>
                <a:cs typeface="Microsoft YaHei"/>
              </a:rPr>
              <a:t>车共驾、脑控或肌控外骨骼机器人、人机协同手术等实现生物智能系统与机器智能系统的紧密耦合。</a:t>
            </a:r>
          </a:p>
        </p:txBody>
      </p:sp>
      <p:pic>
        <p:nvPicPr>
          <p:cNvPr id="5427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43e88426c45a0"/>
          <a:srcRect xmlns:a="http://schemas.openxmlformats.org/drawingml/2006/main" l="4317" t="45059" r="49576" b="29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0113" y="3117057"/>
            <a:ext cx="3373041" cy="21407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427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43e88426c45a0"/>
          <a:srcRect xmlns:a="http://schemas.openxmlformats.org/drawingml/2006/main" l="51385" t="45834" r="3467" b="29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7935" y="3117057"/>
            <a:ext cx="3384947" cy="21407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A945D5A-B265-4D35-84F7-6C3977996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新特征</a:t>
            </a:r>
            <a:r>
              <a:t>3</a:t>
            </a:r>
            <a:r>
              <a:t>：人机一体化技术导向混合智能</a:t>
            </a:r>
          </a:p>
        </p:txBody>
      </p:sp>
    </p:spTree>
    <p:extLst>
      <p:ext uri="{BB962C8B-B14F-4D97-AF65-F5344CB8AC3E}">
        <p14:creationId xmlns:p14="http://schemas.microsoft.com/office/powerpoint/2010/main" val="4005943418"/>
      </p:ext>
    </p:extLst>
  </p:cSld>
</p:sld>
</file>

<file path=ppt/theme/theme1.xml><?xml version="1.0" encoding="utf-8"?>
<a:theme xmlns:a="http://schemas.openxmlformats.org/drawingml/2006/main" name="红白模板">
  <a:themeElements>
    <a:clrScheme name="Custom 6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00539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2026-07-16T03:36:51.7950000Z</dcterms:created>
  <dcterms:modified xsi:type="dcterms:W3CDTF">2026-07-16T03:36:51.7950000Z</dcterms:modified>
</coreProperties>
</file>