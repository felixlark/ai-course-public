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36bebfa6d44359" /><Relationship Type="http://schemas.openxmlformats.org/officeDocument/2006/relationships/extended-properties" Target="/docProps/app.xml" Id="R8552168b5d5142b1" /><Relationship Type="http://schemas.openxmlformats.org/officeDocument/2006/relationships/officeDocument" Target="/ppt/presentation.xml" Id="Rb0e0f32370804b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ee68b1b6c64084"/>
  </p:sldMasterIdLst>
  <p:notesMasterIdLst>
    <p:notesMasterId xmlns:r="http://schemas.openxmlformats.org/officeDocument/2006/relationships" r:id="R266e496180cd4dc5"/>
  </p:notesMasterIdLst>
  <p:sldIdLst>
    <p:sldId xmlns:r="http://schemas.openxmlformats.org/officeDocument/2006/relationships" id="256" r:id="Re07fed604ea041bd"/>
    <p:sldId xmlns:r="http://schemas.openxmlformats.org/officeDocument/2006/relationships" id="257" r:id="R2d8e3ffe5632478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66a6e8b1ba4003" /><Relationship Type="http://schemas.openxmlformats.org/officeDocument/2006/relationships/slideMaster" Target="/ppt/slideMasters/slideMaster1.xml" Id="R55ee68b1b6c64084" /><Relationship Type="http://schemas.openxmlformats.org/officeDocument/2006/relationships/notesMaster" Target="/ppt/notesMasters/notesMaster1.xml" Id="R266e496180cd4dc5" /><Relationship Type="http://schemas.openxmlformats.org/officeDocument/2006/relationships/presProps" Target="/ppt/presProps.xml" Id="R263eda52aafa4b26" /><Relationship Type="http://schemas.openxmlformats.org/officeDocument/2006/relationships/viewProps" Target="/ppt/viewProps.xml" Id="R794a4f3800374fce" /><Relationship Type="http://schemas.openxmlformats.org/officeDocument/2006/relationships/tableStyles" Target="/ppt/tableStyles.xml" Id="R4ad056fc24b4458f" /><Relationship Type="http://schemas.openxmlformats.org/officeDocument/2006/relationships/slide" Target="/ppt/slides/slide1.xml" Id="Re07fed604ea041bd" /><Relationship Type="http://schemas.openxmlformats.org/officeDocument/2006/relationships/slide" Target="/ppt/slides/slide2.xml" Id="R2d8e3ffe563247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04f0b581a447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5bf337b63a4727" /><Relationship Type="http://schemas.openxmlformats.org/officeDocument/2006/relationships/notesMaster" Target="/ppt/notesMasters/notesMaster1.xml" Id="Rb0db5b2f7d3f45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932770c77a4f72" /><Relationship Type="http://schemas.openxmlformats.org/officeDocument/2006/relationships/notesMaster" Target="/ppt/notesMasters/notesMaster1.xml" Id="R94843a33fc2343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24a747278d43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6891a1516e4421" /><Relationship Type="http://schemas.openxmlformats.org/officeDocument/2006/relationships/image" Target="/ppt/media/image.png" Id="R0508c910eb3144e6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2D9DBA5-0A16-4147-95C4-6B26C8D1B0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2026/1/7</a:t>
            </a:fld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21C06F46-5EFB-4CA7-8F17-45BA05AC2B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8c910eb3144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09250" y="34925"/>
            <a:ext cx="1617345" cy="499745"/>
          </a:xfrm>
          <a:prstGeom xmlns:a="http://schemas.openxmlformats.org/drawingml/2006/main" prst="rect">
            <a:avLst/>
          </a:prstGeom>
        </p:spPr>
      </p:pic>
      <p:sp>
        <p:nvSpPr>
          <p:cNvPr id="6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A6AB9A2-B2A1-4CFB-9A01-E68DD11CA7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96300" y="6492240"/>
            <a:ext cx="3657600" cy="27432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 b="1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C8BB1146-E542-4D4E-B8E9-6919A11DDD48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35919dbe3a40ad" /><Relationship Type="http://schemas.openxmlformats.org/officeDocument/2006/relationships/slideLayout" Target="/ppt/slideLayouts/slideLayout1.xml" Id="R93b97b370218487a" /><Relationship Type="http://schemas.openxmlformats.org/officeDocument/2006/relationships/slideLayout" Target="/ppt/slideLayouts/slideLayout2.xml" Id="R921db28099f547b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b97b370218487a"/>
    <p:sldLayoutId xmlns:r="http://schemas.openxmlformats.org/officeDocument/2006/relationships" id="2147483650" r:id="R921db28099f547be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6fcf1f590c47d8" /><Relationship Type="http://schemas.openxmlformats.org/officeDocument/2006/relationships/notesSlide" Target="/ppt/notesSlides/notesSlide1.xml" Id="Rb2e5bd02c19746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bc8221b8f64635" /><Relationship Type="http://schemas.openxmlformats.org/officeDocument/2006/relationships/notesSlide" Target="/ppt/notesSlides/notesSlide2.xml" Id="Rea204e501d34414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E4ADD848-1E6C-9B92-6B82-627FD501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801" y="1629169"/>
            <a:ext cx="5386596" cy="426720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376FFF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252095" tIns="0" rIns="252095" bIns="0" anchor="ctr">
            <a:noAutofit/>
          </a:bodyPr>
          <a:lstStyle xmlns:a="http://schemas.openxmlformats.org/drawingml/2006/main"/>
          <a:p xmlns:a="http://schemas.openxmlformats.org/drawingml/2006/main">
            <a: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b="1">
                <a:ln>
                  <a:noFill/>
                </a:ln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指令要</a:t>
            </a:r>
            <a:r>
              <a:rPr b="1">
                <a:ln>
                  <a:noFill/>
                </a:ln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精准</a:t>
            </a:r>
            <a:r>
              <a:rPr b="1">
                <a:ln>
                  <a:noFill/>
                </a:ln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，别废话</a:t>
            </a: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</a:pPr>
            <a:r>
              <a:rPr b="1">
                <a:ln>
                  <a:noFill/>
                </a:ln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结构保持</a:t>
            </a:r>
            <a:r>
              <a:rPr b="1">
                <a:ln>
                  <a:noFill/>
                </a:ln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一致</a:t>
            </a: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</a:pPr>
            <a:r>
              <a:rPr b="1">
                <a:ln>
                  <a:noFill/>
                </a:ln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有图要点名“</a:t>
            </a:r>
            <a:r>
              <a:rPr b="1">
                <a:ln>
                  <a:noFill/>
                </a:ln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先看图</a:t>
            </a:r>
            <a:r>
              <a:rPr b="1">
                <a:ln>
                  <a:noFill/>
                </a:ln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”</a:t>
            </a: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</a:pPr>
            <a:r>
              <a:rPr b="1">
                <a:ln>
                  <a:noFill/>
                </a:ln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约束放</a:t>
            </a:r>
            <a:r>
              <a:rPr b="1">
                <a:ln>
                  <a:noFill/>
                </a:ln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最前面</a:t>
            </a: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</a:pPr>
            <a:r>
              <a:rPr b="1">
                <a:ln>
                  <a:noFill/>
                </a:ln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长内容必须加一句：“</a:t>
            </a:r>
            <a:r>
              <a:rPr b="1">
                <a:ln>
                  <a:noFill/>
                </a:ln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基于以上全部内容</a:t>
            </a:r>
            <a:r>
              <a:rPr b="1">
                <a:ln>
                  <a:noFill/>
                </a:ln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，再回答问题”</a:t>
            </a:r>
          </a:p>
        </p:txBody>
      </p:sp>
      <p:sp>
        <p:nvSpPr>
          <p:cNvPr id="6" name="标题">
            <a:extLst xmlns:a="http://schemas.openxmlformats.org/drawingml/2006/main">
              <a:ext uri="{FF2B5EF4-FFF2-40B4-BE49-F238E27FC236}">
                <a16:creationId xmlns:a16="http://schemas.microsoft.com/office/drawing/2014/main" id="{B447573B-DE83-FAFB-785D-8738DAE1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72" y="1255789"/>
            <a:ext cx="3048654" cy="581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6FFF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lvl1pPr marL="0" algn="l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457200" algn="l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914400" algn="l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1371600" algn="l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1828800" algn="l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2286000" algn="l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2743200" algn="l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L="3200400" algn="l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L="3657600" algn="l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</a:t>
            </a: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条铁律</a:t>
            </a:r>
          </a:p>
        </p:txBody>
      </p:sp>
      <p:sp>
        <p:nvSpPr>
          <p:cNvPr id="26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26226E17-7BB2-520F-D7BF-47BB759D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4600" y="1629169"/>
            <a:ext cx="5622586" cy="426720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39D7D2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252095" tIns="0" rIns="252095" bIns="0" anchor="ctr">
            <a:noAutofit/>
          </a:bodyPr>
          <a:lstStyle xmlns:a="http://schemas.openxmlformats.org/drawingml/2006/main"/>
          <a:p xmlns:a="http://schemas.openxmlformats.org/drawingml/2006/main">
            <a:pPr mar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" name="标题">
            <a:extLst xmlns:a="http://schemas.openxmlformats.org/drawingml/2006/main">
              <a:ext uri="{FF2B5EF4-FFF2-40B4-BE49-F238E27FC236}">
                <a16:creationId xmlns:a16="http://schemas.microsoft.com/office/drawing/2014/main" id="{B12F1A30-1520-BDDD-698F-2B2AF68E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1566" y="1255789"/>
            <a:ext cx="3048654" cy="581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D7D2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lvl1pPr marL="0" algn="l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457200" algn="l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914400" algn="l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1371600" algn="l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1828800" algn="l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2286000" algn="l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2743200" algn="l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L="3200400" algn="l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L="3657600" algn="l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</a:t>
            </a: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套固定玩法</a:t>
            </a:r>
          </a:p>
        </p:txBody>
      </p:sp>
      <p:sp>
        <p:nvSpPr>
          <p:cNvPr id="10" name="任意多边形: 形状 9">
            <a:extLst xmlns:a="http://schemas.openxmlformats.org/drawingml/2006/main">
              <a:ext uri="{FF2B5EF4-FFF2-40B4-BE49-F238E27FC236}">
                <a16:creationId xmlns:a16="http://schemas.microsoft.com/office/drawing/2014/main" id="{52D24F2B-7384-B68D-41B1-663CB76D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5284"/>
            <a:ext cx="11748656" cy="99567"/>
          </a:xfrm>
          <a:custGeom xmlns:a="http://schemas.openxmlformats.org/drawingml/2006/main">
            <a:rect l="l" t="t" r="r" b="b"/>
            <a:pathLst>
              <a:path w="12541541" h="134224">
                <a:moveTo>
                  <a:pt x="0" y="134224"/>
                </a:moveTo>
                <a:lnTo>
                  <a:pt x="9068499" y="134224"/>
                </a:lnTo>
                <a:lnTo>
                  <a:pt x="9236279" y="0"/>
                </a:lnTo>
                <a:lnTo>
                  <a:pt x="125415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gradFill rotWithShape="1">
              <a:gsLst>
                <a:gs pos="83000">
                  <a:srgbClr val="123875"/>
                </a:gs>
                <a:gs pos="0">
                  <a:schemeClr val="accent1">
                    <a:lumMod val="45000"/>
                    <a:lumOff val="55000"/>
                  </a:schemeClr>
                </a:gs>
                <a:gs pos="100000">
                  <a:srgbClr val="6485B1">
                    <a:alpha val="100000"/>
                  </a:srgbClr>
                </a:gs>
                <a:gs pos="0">
                  <a:schemeClr val="bg1">
                    <a:alpha val="37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072BAC0-A284-0176-354C-C4F51F4D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948" y="163521"/>
            <a:ext cx="4320000" cy="481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35" b="1">
                <a:solidFill>
                  <a:srgbClr val="04448C"/>
                </a:solidFill>
                <a:latin typeface="微软雅黑"/>
                <a:ea typeface="微软雅黑"/>
                <a:cs typeface="微软雅黑"/>
              </a:rPr>
              <a:t>提示词撰写技巧</a:t>
            </a:r>
          </a:p>
        </p:txBody>
      </p:sp>
      <p:sp>
        <p:nvSpPr>
          <p:cNvPr id="1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53CF2E29-CDC0-2831-AABA-94DDE328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5284"/>
            <a:ext cx="11748656" cy="99567"/>
          </a:xfrm>
          <a:custGeom xmlns:a="http://schemas.openxmlformats.org/drawingml/2006/main">
            <a:rect l="l" t="t" r="r" b="b"/>
            <a:pathLst>
              <a:path w="12541541" h="134224">
                <a:moveTo>
                  <a:pt x="0" y="134224"/>
                </a:moveTo>
                <a:lnTo>
                  <a:pt x="9068499" y="134224"/>
                </a:lnTo>
                <a:lnTo>
                  <a:pt x="9236279" y="0"/>
                </a:lnTo>
                <a:lnTo>
                  <a:pt x="125415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gradFill rotWithShape="1">
              <a:gsLst>
                <a:gs pos="83000">
                  <a:srgbClr val="123875"/>
                </a:gs>
                <a:gs pos="0">
                  <a:schemeClr val="accent1">
                    <a:lumMod val="45000"/>
                    <a:lumOff val="55000"/>
                  </a:schemeClr>
                </a:gs>
                <a:gs pos="100000">
                  <a:srgbClr val="6485B1">
                    <a:alpha val="100000"/>
                  </a:srgbClr>
                </a:gs>
                <a:gs pos="0">
                  <a:schemeClr val="bg1">
                    <a:alpha val="37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Shape 12">
            <a:extLst xmlns:a="http://schemas.openxmlformats.org/drawingml/2006/main">
              <a:ext uri="{FF2B5EF4-FFF2-40B4-BE49-F238E27FC236}">
                <a16:creationId xmlns:a16="http://schemas.microsoft.com/office/drawing/2014/main" id="{24AA9BDC-71C4-8A52-6AA5-ABA91D7D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140953"/>
            <a:ext cx="114300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>
              <a:alpha val="15000"/>
            </a:srgbClr>
          </a:solidFill>
          <a:ln xmlns:a="http://schemas.openxmlformats.org/drawingml/2006/main"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14">
            <a:extLst xmlns:a="http://schemas.openxmlformats.org/drawingml/2006/main">
              <a:ext uri="{FF2B5EF4-FFF2-40B4-BE49-F238E27FC236}">
                <a16:creationId xmlns:a16="http://schemas.microsoft.com/office/drawing/2014/main" id="{D40C86F4-F490-466A-5D05-7965DC24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01952"/>
            <a:ext cx="3429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先思考，再回答</a:t>
            </a:r>
          </a:p>
        </p:txBody>
      </p:sp>
      <p:sp>
        <p:nvSpPr>
          <p:cNvPr id="51" name="Text 15">
            <a:extLst xmlns:a="http://schemas.openxmlformats.org/drawingml/2006/main">
              <a:ext uri="{FF2B5EF4-FFF2-40B4-BE49-F238E27FC236}">
                <a16:creationId xmlns:a16="http://schemas.microsoft.com/office/drawing/2014/main" id="{8EA63586-0DAE-4246-49F1-718304DD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40280"/>
            <a:ext cx="3747656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→ 让它先拆任务，再给结论</a:t>
            </a:r>
          </a:p>
        </p:txBody>
      </p:sp>
      <p:sp>
        <p:nvSpPr>
          <p:cNvPr id="53" name="Text 18">
            <a:extLst xmlns:a="http://schemas.openxmlformats.org/drawingml/2006/main">
              <a:ext uri="{FF2B5EF4-FFF2-40B4-BE49-F238E27FC236}">
                <a16:creationId xmlns:a16="http://schemas.microsoft.com/office/drawing/2014/main" id="{894CAF5C-A058-9428-DB6C-E89AFA37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91840"/>
            <a:ext cx="3429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结构化提示</a:t>
            </a:r>
          </a:p>
        </p:txBody>
      </p:sp>
      <p:sp>
        <p:nvSpPr>
          <p:cNvPr id="54" name="Text 19">
            <a:extLst xmlns:a="http://schemas.openxmlformats.org/drawingml/2006/main">
              <a:ext uri="{FF2B5EF4-FFF2-40B4-BE49-F238E27FC236}">
                <a16:creationId xmlns:a16="http://schemas.microsoft.com/office/drawing/2014/main" id="{45FE98D6-BECE-77C0-4FDB-9B4893FB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30168"/>
            <a:ext cx="3429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→ 把“身份 / 规则 / 背景 / 任务”分开写</a:t>
            </a:r>
          </a:p>
        </p:txBody>
      </p:sp>
      <p:sp>
        <p:nvSpPr>
          <p:cNvPr id="56" name="Text 22">
            <a:extLst xmlns:a="http://schemas.openxmlformats.org/drawingml/2006/main">
              <a:ext uri="{FF2B5EF4-FFF2-40B4-BE49-F238E27FC236}">
                <a16:creationId xmlns:a16="http://schemas.microsoft.com/office/drawing/2014/main" id="{A4B760FD-AD9C-3A83-5232-AC2B28BF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81728"/>
            <a:ext cx="3429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作为 Agent 时给它韧性</a:t>
            </a:r>
          </a:p>
        </p:txBody>
      </p:sp>
      <p:sp>
        <p:nvSpPr>
          <p:cNvPr id="57" name="Text 23">
            <a:extLst xmlns:a="http://schemas.openxmlformats.org/drawingml/2006/main">
              <a:ext uri="{FF2B5EF4-FFF2-40B4-BE49-F238E27FC236}">
                <a16:creationId xmlns:a16="http://schemas.microsoft.com/office/drawing/2014/main" id="{7DD73CEC-12DB-3B39-EF24-C0F2B364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20056"/>
            <a:ext cx="3429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→ 明确要求：失败要重试，直到解决问题</a:t>
            </a:r>
          </a:p>
        </p:txBody>
      </p:sp>
      <p:sp>
        <p:nvSpPr>
          <p:cNvPr id="58" name="Text 13">
            <a:extLst xmlns:a="http://schemas.openxmlformats.org/drawingml/2006/main">
              <a:ext uri="{FF2B5EF4-FFF2-40B4-BE49-F238E27FC236}">
                <a16:creationId xmlns:a16="http://schemas.microsoft.com/office/drawing/2014/main" id="{A3110B47-25EB-7019-20DF-3DAEFB2C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186673"/>
            <a:ext cx="1143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rPr>
              <a:t>玩法 1</a:t>
            </a:r>
          </a:p>
        </p:txBody>
      </p:sp>
      <p:sp>
        <p:nvSpPr>
          <p:cNvPr id="59" name="Text 17">
            <a:extLst xmlns:a="http://schemas.openxmlformats.org/drawingml/2006/main">
              <a:ext uri="{FF2B5EF4-FFF2-40B4-BE49-F238E27FC236}">
                <a16:creationId xmlns:a16="http://schemas.microsoft.com/office/drawing/2014/main" id="{E5A6032C-39F3-0937-F45D-ECE02817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576561"/>
            <a:ext cx="1143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rPr>
              <a:t>玩法 2</a:t>
            </a:r>
          </a:p>
        </p:txBody>
      </p:sp>
      <p:sp>
        <p:nvSpPr>
          <p:cNvPr id="60" name="Text 21">
            <a:extLst xmlns:a="http://schemas.openxmlformats.org/drawingml/2006/main">
              <a:ext uri="{FF2B5EF4-FFF2-40B4-BE49-F238E27FC236}">
                <a16:creationId xmlns:a16="http://schemas.microsoft.com/office/drawing/2014/main" id="{C7310AA2-1E30-6DF4-9035-AD431EF8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966449"/>
            <a:ext cx="1143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rPr>
              <a:t>玩法 3</a:t>
            </a:r>
          </a:p>
        </p:txBody>
      </p:sp>
      <p:sp>
        <p:nvSpPr>
          <p:cNvPr id="61" name="Shape 12">
            <a:extLst xmlns:a="http://schemas.openxmlformats.org/drawingml/2006/main">
              <a:ext uri="{FF2B5EF4-FFF2-40B4-BE49-F238E27FC236}">
                <a16:creationId xmlns:a16="http://schemas.microsoft.com/office/drawing/2014/main" id="{D12FB8DD-7A12-8B8C-3A01-793546E7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530841"/>
            <a:ext cx="114300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>
              <a:alpha val="15000"/>
            </a:srgbClr>
          </a:solidFill>
          <a:ln xmlns:a="http://schemas.openxmlformats.org/drawingml/2006/main"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Shape 12">
            <a:extLst xmlns:a="http://schemas.openxmlformats.org/drawingml/2006/main">
              <a:ext uri="{FF2B5EF4-FFF2-40B4-BE49-F238E27FC236}">
                <a16:creationId xmlns:a16="http://schemas.microsoft.com/office/drawing/2014/main" id="{F512F538-306C-ACBC-31D0-12910953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920729"/>
            <a:ext cx="114300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>
              <a:alpha val="15000"/>
            </a:srgbClr>
          </a:solidFill>
          <a:ln xmlns:a="http://schemas.openxmlformats.org/drawingml/2006/main"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任意多边形: 形状 40">
            <a:extLst xmlns:a="http://schemas.openxmlformats.org/drawingml/2006/main">
              <a:ext uri="{FF2B5EF4-FFF2-40B4-BE49-F238E27FC236}">
                <a16:creationId xmlns:a16="http://schemas.microsoft.com/office/drawing/2014/main" id="{CFA86E03-5903-FE57-65AD-74F69494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85905"/>
            <a:ext cx="12192000" cy="1672096"/>
          </a:xfrm>
          <a:custGeom xmlns:a="http://schemas.openxmlformats.org/drawingml/2006/main">
            <a:rect l="l" t="t" r="r" b="b"/>
            <a:pathLst>
              <a:path w="12192000" h="5022013">
                <a:moveTo>
                  <a:pt x="0" y="0"/>
                </a:moveTo>
                <a:lnTo>
                  <a:pt x="12192000" y="0"/>
                </a:lnTo>
                <a:lnTo>
                  <a:pt x="12192000" y="5022013"/>
                </a:lnTo>
                <a:lnTo>
                  <a:pt x="0" y="5022013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2000">
                <a:schemeClr val="accent1">
                  <a:alpha val="20000"/>
                </a:schemeClr>
              </a:gs>
              <a:gs pos="15000">
                <a:schemeClr val="accent1">
                  <a:alpha val="13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2006364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任意多边形: 形状 9">
            <a:extLst xmlns:a="http://schemas.openxmlformats.org/drawingml/2006/main">
              <a:ext uri="{FF2B5EF4-FFF2-40B4-BE49-F238E27FC236}">
                <a16:creationId xmlns:a16="http://schemas.microsoft.com/office/drawing/2014/main" id="{BAB4891D-9E2A-9799-95CE-4391262B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5284"/>
            <a:ext cx="11748656" cy="99567"/>
          </a:xfrm>
          <a:custGeom xmlns:a="http://schemas.openxmlformats.org/drawingml/2006/main">
            <a:rect l="l" t="t" r="r" b="b"/>
            <a:pathLst>
              <a:path w="12541541" h="134224">
                <a:moveTo>
                  <a:pt x="0" y="134224"/>
                </a:moveTo>
                <a:lnTo>
                  <a:pt x="9068499" y="134224"/>
                </a:lnTo>
                <a:lnTo>
                  <a:pt x="9236279" y="0"/>
                </a:lnTo>
                <a:lnTo>
                  <a:pt x="125415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gradFill rotWithShape="1">
              <a:gsLst>
                <a:gs pos="83000">
                  <a:srgbClr val="123875"/>
                </a:gs>
                <a:gs pos="0">
                  <a:schemeClr val="accent1">
                    <a:lumMod val="45000"/>
                    <a:lumOff val="55000"/>
                  </a:schemeClr>
                </a:gs>
                <a:gs pos="100000">
                  <a:srgbClr val="6485B1">
                    <a:alpha val="100000"/>
                  </a:srgbClr>
                </a:gs>
                <a:gs pos="0">
                  <a:schemeClr val="bg1">
                    <a:alpha val="37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9BE4E2E-FFBE-88EA-CD7F-CB6589AF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948" y="163521"/>
            <a:ext cx="4320000" cy="482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35" b="1">
                <a:solidFill>
                  <a:srgbClr val="04448C"/>
                </a:solidFill>
                <a:latin typeface="微软雅黑"/>
                <a:ea typeface="微软雅黑"/>
                <a:cs typeface="微软雅黑"/>
              </a:rPr>
              <a:t>真实场景示例</a:t>
            </a:r>
          </a:p>
        </p:txBody>
      </p:sp>
      <p:sp>
        <p:nvSpPr>
          <p:cNvPr id="1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309FA217-545D-2179-4D71-156E7F58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5284"/>
            <a:ext cx="11748656" cy="99567"/>
          </a:xfrm>
          <a:custGeom xmlns:a="http://schemas.openxmlformats.org/drawingml/2006/main">
            <a:rect l="l" t="t" r="r" b="b"/>
            <a:pathLst>
              <a:path w="12541541" h="134224">
                <a:moveTo>
                  <a:pt x="0" y="134224"/>
                </a:moveTo>
                <a:lnTo>
                  <a:pt x="9068499" y="134224"/>
                </a:lnTo>
                <a:lnTo>
                  <a:pt x="9236279" y="0"/>
                </a:lnTo>
                <a:lnTo>
                  <a:pt x="125415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gradFill rotWithShape="1">
              <a:gsLst>
                <a:gs pos="83000">
                  <a:srgbClr val="123875"/>
                </a:gs>
                <a:gs pos="0">
                  <a:schemeClr val="accent1">
                    <a:lumMod val="45000"/>
                    <a:lumOff val="55000"/>
                  </a:schemeClr>
                </a:gs>
                <a:gs pos="100000">
                  <a:srgbClr val="6485B1">
                    <a:alpha val="100000"/>
                  </a:srgbClr>
                </a:gs>
                <a:gs pos="0">
                  <a:schemeClr val="bg1">
                    <a:alpha val="37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Shape 3">
            <a:extLst xmlns:a="http://schemas.openxmlformats.org/drawingml/2006/main">
              <a:ext uri="{FF2B5EF4-FFF2-40B4-BE49-F238E27FC236}">
                <a16:creationId xmlns:a16="http://schemas.microsoft.com/office/drawing/2014/main" id="{6911A5AB-9387-FE61-B3B4-C941EDB2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43000"/>
            <a:ext cx="3423818" cy="4983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5E7EB"/>
            </a:solidFill>
            <a:prstDash val="solid"/>
          </a:ln>
          <a:effectLst xmlns:a="http://schemas.openxmlformats.org/drawingml/2006/main">
            <a:outerShdw blurRad="50800" dist="25400" dir="2700000" algn="bl" rotWithShape="0">
              <a:srgbClr val="000000">
                <a:alpha val="1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4">
            <a:extLst xmlns:a="http://schemas.openxmlformats.org/drawingml/2006/main">
              <a:ext uri="{FF2B5EF4-FFF2-40B4-BE49-F238E27FC236}">
                <a16:creationId xmlns:a16="http://schemas.microsoft.com/office/drawing/2014/main" id="{7D5E38B4-DC44-CC49-B101-2A4899A9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43000"/>
            <a:ext cx="342381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2700">
            <a:solidFill>
              <a:srgbClr val="3B82F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5">
            <a:extLst xmlns:a="http://schemas.openxmlformats.org/drawingml/2006/main">
              <a:ext uri="{FF2B5EF4-FFF2-40B4-BE49-F238E27FC236}">
                <a16:creationId xmlns:a16="http://schemas.microsoft.com/office/drawing/2014/main" id="{C39E2E89-AC86-56E4-786D-D0C8E596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1732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>
              <a:alpha val="90000"/>
            </a:srgbClr>
          </a:solidFill>
          <a:ln xmlns:a="http://schemas.openxmlformats.org/drawingml/2006/main" w="12700">
            <a:solidFill>
              <a:srgbClr val="3B82F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6">
            <a:extLst xmlns:a="http://schemas.openxmlformats.org/drawingml/2006/main">
              <a:ext uri="{FF2B5EF4-FFF2-40B4-BE49-F238E27FC236}">
                <a16:creationId xmlns:a16="http://schemas.microsoft.com/office/drawing/2014/main" id="{DDB53D8D-AF4D-6EE9-7437-E30FF644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1328"/>
            <a:ext cx="502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32" name="Text 7">
            <a:extLst xmlns:a="http://schemas.openxmlformats.org/drawingml/2006/main">
              <a:ext uri="{FF2B5EF4-FFF2-40B4-BE49-F238E27FC236}">
                <a16:creationId xmlns:a16="http://schemas.microsoft.com/office/drawing/2014/main" id="{4ACDAE22-39BC-6264-1E18-2DD95AC0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444752"/>
            <a:ext cx="228081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研究分析</a:t>
            </a:r>
          </a:p>
        </p:txBody>
      </p:sp>
      <p:sp>
        <p:nvSpPr>
          <p:cNvPr id="33" name="Text 8">
            <a:extLst xmlns:a="http://schemas.openxmlformats.org/drawingml/2006/main">
              <a:ext uri="{FF2B5EF4-FFF2-40B4-BE49-F238E27FC236}">
                <a16:creationId xmlns:a16="http://schemas.microsoft.com/office/drawing/2014/main" id="{2B74C102-2343-225F-DEC1-AB124062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194560"/>
            <a:ext cx="2600858" cy="3246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228600" indent="-228600">
              <a:lnSpc>
                <a:spcPct val="110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先拆问题</a:t>
            </a:r>
          </a:p>
          <a:p xmlns:a="http://schemas.openxmlformats.org/drawingml/2006/main">
            <a:pPr marL="228600" indent="-228600">
              <a:lnSpc>
                <a:spcPct val="110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分步查资料</a:t>
            </a:r>
          </a:p>
          <a:p xmlns:a="http://schemas.openxmlformats.org/drawingml/2006/main">
            <a:pPr marL="228600" indent="-228600">
              <a:lnSpc>
                <a:spcPct val="110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总结必须给来源</a:t>
            </a:r>
          </a:p>
        </p:txBody>
      </p:sp>
      <p:sp>
        <p:nvSpPr>
          <p:cNvPr id="34" name="Shape 9">
            <a:extLst xmlns:a="http://schemas.openxmlformats.org/drawingml/2006/main">
              <a:ext uri="{FF2B5EF4-FFF2-40B4-BE49-F238E27FC236}">
                <a16:creationId xmlns:a16="http://schemas.microsoft.com/office/drawing/2014/main" id="{F9AEA653-428D-D165-4B30-B6D119E2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938" y="1143000"/>
            <a:ext cx="3423818" cy="4983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5E7EB"/>
            </a:solidFill>
            <a:prstDash val="solid"/>
          </a:ln>
          <a:effectLst xmlns:a="http://schemas.openxmlformats.org/drawingml/2006/main">
            <a:outerShdw blurRad="50800" dist="25400" dir="2700000" algn="bl" rotWithShape="0">
              <a:srgbClr val="000000">
                <a:alpha val="1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10">
            <a:extLst xmlns:a="http://schemas.openxmlformats.org/drawingml/2006/main">
              <a:ext uri="{FF2B5EF4-FFF2-40B4-BE49-F238E27FC236}">
                <a16:creationId xmlns:a16="http://schemas.microsoft.com/office/drawing/2014/main" id="{5D5F434F-1E9F-9F85-D347-F71ACA8F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938" y="1143000"/>
            <a:ext cx="342381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11">
            <a:extLst xmlns:a="http://schemas.openxmlformats.org/drawingml/2006/main">
              <a:ext uri="{FF2B5EF4-FFF2-40B4-BE49-F238E27FC236}">
                <a16:creationId xmlns:a16="http://schemas.microsoft.com/office/drawing/2014/main" id="{42BBED84-FE37-4773-9500-154058CF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8258" y="141732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90000"/>
            </a:srgbClr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12">
            <a:extLst xmlns:a="http://schemas.openxmlformats.org/drawingml/2006/main">
              <a:ext uri="{FF2B5EF4-FFF2-40B4-BE49-F238E27FC236}">
                <a16:creationId xmlns:a16="http://schemas.microsoft.com/office/drawing/2014/main" id="{9208D97D-6DB4-BC37-0323-A6938C9E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8258" y="1481328"/>
            <a:ext cx="502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38" name="Text 13">
            <a:extLst xmlns:a="http://schemas.openxmlformats.org/drawingml/2006/main">
              <a:ext uri="{FF2B5EF4-FFF2-40B4-BE49-F238E27FC236}">
                <a16:creationId xmlns:a16="http://schemas.microsoft.com/office/drawing/2014/main" id="{4B961DC2-EBBB-31F1-97B5-E56461DA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2618" y="1444752"/>
            <a:ext cx="228081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创意写作</a:t>
            </a:r>
          </a:p>
        </p:txBody>
      </p:sp>
      <p:sp>
        <p:nvSpPr>
          <p:cNvPr id="39" name="Text 14">
            <a:extLst xmlns:a="http://schemas.openxmlformats.org/drawingml/2006/main">
              <a:ext uri="{FF2B5EF4-FFF2-40B4-BE49-F238E27FC236}">
                <a16:creationId xmlns:a16="http://schemas.microsoft.com/office/drawing/2014/main" id="{32BE7993-141D-2C16-6ADF-E14B28B0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5418" y="2194560"/>
            <a:ext cx="2600858" cy="3246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228600" indent="-228600">
              <a:lnSpc>
                <a:spcPct val="110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告诉它平台、读者、语气</a:t>
            </a:r>
          </a:p>
          <a:p xmlns:a="http://schemas.openxmlformats.org/drawingml/2006/main">
            <a:pPr marL="228600" indent="-228600">
              <a:lnSpc>
                <a:spcPct val="110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并写明：禁止企业黑话</a:t>
            </a:r>
          </a:p>
        </p:txBody>
      </p:sp>
      <p:sp>
        <p:nvSpPr>
          <p:cNvPr id="40" name="Shape 15">
            <a:extLst xmlns:a="http://schemas.openxmlformats.org/drawingml/2006/main">
              <a:ext uri="{FF2B5EF4-FFF2-40B4-BE49-F238E27FC236}">
                <a16:creationId xmlns:a16="http://schemas.microsoft.com/office/drawing/2014/main" id="{1D8B9150-2711-6116-3625-47713915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797" y="1143000"/>
            <a:ext cx="3423818" cy="4983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5E7EB"/>
            </a:solidFill>
            <a:prstDash val="solid"/>
          </a:ln>
          <a:effectLst xmlns:a="http://schemas.openxmlformats.org/drawingml/2006/main">
            <a:outerShdw blurRad="50800" dist="25400" dir="2700000" algn="bl" rotWithShape="0">
              <a:srgbClr val="000000">
                <a:alpha val="1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16">
            <a:extLst xmlns:a="http://schemas.openxmlformats.org/drawingml/2006/main">
              <a:ext uri="{FF2B5EF4-FFF2-40B4-BE49-F238E27FC236}">
                <a16:creationId xmlns:a16="http://schemas.microsoft.com/office/drawing/2014/main" id="{A7DA64CA-81DD-8456-29D8-0371F611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797" y="1143000"/>
            <a:ext cx="342381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Shape 17">
            <a:extLst xmlns:a="http://schemas.openxmlformats.org/drawingml/2006/main">
              <a:ext uri="{FF2B5EF4-FFF2-40B4-BE49-F238E27FC236}">
                <a16:creationId xmlns:a16="http://schemas.microsoft.com/office/drawing/2014/main" id="{836F6487-397C-B773-B260-19262FA9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117" y="141732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>
              <a:alpha val="90000"/>
            </a:srgbClr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18">
            <a:extLst xmlns:a="http://schemas.openxmlformats.org/drawingml/2006/main">
              <a:ext uri="{FF2B5EF4-FFF2-40B4-BE49-F238E27FC236}">
                <a16:creationId xmlns:a16="http://schemas.microsoft.com/office/drawing/2014/main" id="{AF58C02E-83CA-56CC-90F6-DBC7E562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117" y="1481328"/>
            <a:ext cx="502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44" name="Text 19">
            <a:extLst xmlns:a="http://schemas.openxmlformats.org/drawingml/2006/main">
              <a:ext uri="{FF2B5EF4-FFF2-40B4-BE49-F238E27FC236}">
                <a16:creationId xmlns:a16="http://schemas.microsoft.com/office/drawing/2014/main" id="{70DA69C4-47B5-72BA-E9EB-73548B6B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477" y="1444752"/>
            <a:ext cx="228081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解决问题 / 找方案</a:t>
            </a:r>
          </a:p>
        </p:txBody>
      </p:sp>
      <p:sp>
        <p:nvSpPr>
          <p:cNvPr id="45" name="Text 20">
            <a:extLst xmlns:a="http://schemas.openxmlformats.org/drawingml/2006/main">
              <a:ext uri="{FF2B5EF4-FFF2-40B4-BE49-F238E27FC236}">
                <a16:creationId xmlns:a16="http://schemas.microsoft.com/office/drawing/2014/main" id="{56EDA15C-9F71-9356-91DF-EE5FCF63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9277" y="2194560"/>
            <a:ext cx="2600858" cy="3246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228600" indent="-228600">
              <a:lnSpc>
                <a:spcPct val="110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要求：一个标准方案</a:t>
            </a:r>
          </a:p>
          <a:p xmlns:a="http://schemas.openxmlformats.org/drawingml/2006/main">
            <a:pPr marL="228600" indent="-228600">
              <a:lnSpc>
                <a:spcPct val="110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一个“高手方案”</a:t>
            </a:r>
          </a:p>
          <a:p xmlns:a="http://schemas.openxmlformats.org/drawingml/2006/main">
            <a:pPr marL="228600" indent="-228600">
              <a:lnSpc>
                <a:spcPct val="110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可叠加：失败要重试，直到解决</a:t>
            </a:r>
          </a:p>
        </p:txBody>
      </p:sp>
      <p:sp>
        <p:nvSpPr>
          <p:cNvPr id="46" name="Shape 21">
            <a:extLst xmlns:a="http://schemas.openxmlformats.org/drawingml/2006/main">
              <a:ext uri="{FF2B5EF4-FFF2-40B4-BE49-F238E27FC236}">
                <a16:creationId xmlns:a16="http://schemas.microsoft.com/office/drawing/2014/main" id="{73F223E1-67CE-0B4A-70A9-0BF61D9A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09360"/>
            <a:ext cx="1090879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12700">
            <a:solidFill>
              <a:srgbClr val="A5F3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22">
            <a:extLst xmlns:a="http://schemas.openxmlformats.org/drawingml/2006/main">
              <a:ext uri="{FF2B5EF4-FFF2-40B4-BE49-F238E27FC236}">
                <a16:creationId xmlns:a16="http://schemas.microsoft.com/office/drawing/2014/main" id="{B713FFF4-85DE-49CB-EE63-84A7467D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391656"/>
            <a:ext cx="8961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结构化提示四件套：身份｜规则（约束）｜背景｜任务（输出要求）</a:t>
            </a:r>
          </a:p>
        </p:txBody>
      </p:sp>
      <p:sp>
        <p:nvSpPr>
          <p:cNvPr id="48" name="Text 23">
            <a:extLst xmlns:a="http://schemas.openxmlformats.org/drawingml/2006/main">
              <a:ext uri="{FF2B5EF4-FFF2-40B4-BE49-F238E27FC236}">
                <a16:creationId xmlns:a16="http://schemas.microsoft.com/office/drawing/2014/main" id="{749EB59D-6FD4-F0C2-FAE1-2D15EBD7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391656"/>
            <a:ext cx="171907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2788975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2026-07-16T03:35:40.7260000Z</dcterms:created>
  <dcterms:modified xsi:type="dcterms:W3CDTF">2026-07-16T03:35:40.7260000Z</dcterms:modified>
</coreProperties>
</file>